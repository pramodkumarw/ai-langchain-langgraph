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447" r:id="rId2"/>
    <p:sldId id="422" r:id="rId3"/>
    <p:sldId id="439" r:id="rId4"/>
    <p:sldId id="440" r:id="rId5"/>
    <p:sldId id="441" r:id="rId6"/>
    <p:sldId id="442" r:id="rId7"/>
    <p:sldId id="443" r:id="rId8"/>
    <p:sldId id="446" r:id="rId9"/>
    <p:sldId id="444" r:id="rId10"/>
    <p:sldId id="44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6AD96EF0-A050-476C-A760-CA4586567F17}">
          <p14:sldIdLst>
            <p14:sldId id="447"/>
          </p14:sldIdLst>
        </p14:section>
        <p14:section name="Structured Output - Basics" id="{835526F1-28FB-4EB3-917F-D355533B4070}">
          <p14:sldIdLst>
            <p14:sldId id="422"/>
            <p14:sldId id="439"/>
            <p14:sldId id="440"/>
          </p14:sldIdLst>
        </p14:section>
        <p14:section name="Untitled Section" id="{4D2E139C-E507-4866-8ADE-A400953B2784}">
          <p14:sldIdLst>
            <p14:sldId id="441"/>
            <p14:sldId id="442"/>
            <p14:sldId id="443"/>
            <p14:sldId id="446"/>
            <p14:sldId id="444"/>
            <p14:sldId id="445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0066"/>
    <a:srgbClr val="D7C055"/>
    <a:srgbClr val="F2DB5B"/>
    <a:srgbClr val="00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3" autoAdjust="0"/>
    <p:restoredTop sz="86073" autoAdjust="0"/>
  </p:normalViewPr>
  <p:slideViewPr>
    <p:cSldViewPr snapToGrid="0">
      <p:cViewPr>
        <p:scale>
          <a:sx n="69" d="100"/>
          <a:sy n="69" d="100"/>
        </p:scale>
        <p:origin x="-696" y="-2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4662A70-DFBD-127F-D5CC-9B0F1A56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F420B84-9022-B7D2-9C67-0FDA0433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AC76129-7A35-2EDC-3B76-87ED8A841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BF5D66A-BD02-F7EA-3FAB-C98B27E37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004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141493" y="1535723"/>
            <a:ext cx="13648" cy="532227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26638" y="1038851"/>
            <a:ext cx="109364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143;p1">
            <a:extLst>
              <a:ext uri="{FF2B5EF4-FFF2-40B4-BE49-F238E27FC236}">
                <a16:creationId xmlns:a16="http://schemas.microsoft.com/office/drawing/2014/main" xmlns="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1218079" y="1"/>
            <a:ext cx="3911146" cy="76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600" b="1" dirty="0" smtClean="0">
                <a:latin typeface="Bahnschrift" pitchFamily="34" charset="0"/>
              </a:rPr>
              <a:t>Structured Output</a:t>
            </a:r>
            <a:endParaRPr lang="it-IT" sz="3200" b="1" dirty="0">
              <a:solidFill>
                <a:schemeClr val="tx1"/>
              </a:solidFill>
              <a:latin typeface="Bahnschrift" pitchFamily="34" charset="0"/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1" y="1"/>
            <a:ext cx="1407439" cy="116638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480" y="68926"/>
            <a:ext cx="2422566" cy="93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506797" y="1542342"/>
            <a:ext cx="2474729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Basic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36287" y="1862223"/>
            <a:ext cx="2474729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TypeDictionary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36288" y="2155920"/>
            <a:ext cx="2474729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Pydantic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11165" y="677208"/>
            <a:ext cx="120417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1600" b="1" dirty="0">
                <a:latin typeface="Segoe UI Black" pitchFamily="34" charset="0"/>
                <a:ea typeface="Segoe UI Black" pitchFamily="34" charset="0"/>
              </a:rPr>
              <a:t>Langchain</a:t>
            </a:r>
            <a:endParaRPr lang="en-IN" sz="1600" dirty="0">
              <a:latin typeface="Arial Rounded MT Bold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506796" y="2599126"/>
            <a:ext cx="2474730" cy="925166"/>
            <a:chOff x="1522475" y="1942475"/>
            <a:chExt cx="2474730" cy="925166"/>
          </a:xfrm>
        </p:grpSpPr>
        <p:sp>
          <p:nvSpPr>
            <p:cNvPr id="17" name="TextBox 16"/>
            <p:cNvSpPr txBox="1"/>
            <p:nvPr/>
          </p:nvSpPr>
          <p:spPr>
            <a:xfrm>
              <a:off x="1522476" y="1942475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Bahnschrift SemiLight" pitchFamily="34" charset="0"/>
                </a:rPr>
                <a:t>JsonOutputParser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22475" y="2262356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Bahnschrift SemiLight" pitchFamily="34" charset="0"/>
                </a:rPr>
                <a:t>StructuredoutputParser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522476" y="2590642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Bahnschrift SemiLight" pitchFamily="34" charset="0"/>
                </a:rPr>
                <a:t>Pydanticoutparser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3678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5CE01EE-9B82-1A8D-6A71-28923D9F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>
            <a:extLst>
              <a:ext uri="{FF2B5EF4-FFF2-40B4-BE49-F238E27FC236}">
                <a16:creationId xmlns="" xmlns:a16="http://schemas.microsoft.com/office/drawing/2014/main" id="{8E4945F9-351B-FE06-B4C4-5E27ED97FD2B}"/>
              </a:ext>
            </a:extLst>
          </p:cNvPr>
          <p:cNvSpPr txBox="1">
            <a:spLocks/>
          </p:cNvSpPr>
          <p:nvPr/>
        </p:nvSpPr>
        <p:spPr>
          <a:xfrm>
            <a:off x="574714" y="310608"/>
            <a:ext cx="9782801" cy="5193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 smtClean="0">
                <a:latin typeface="Bahnschrift" pitchFamily="34" charset="0"/>
              </a:rPr>
              <a:t>Langchain – output parser</a:t>
            </a:r>
            <a:r>
              <a:rPr lang="en-IN" sz="3600" dirty="0" smtClean="0">
                <a:latin typeface="Bahnschrift" pitchFamily="34" charset="0"/>
              </a:rPr>
              <a:t>?</a:t>
            </a:r>
            <a:endParaRPr lang="en-IN" sz="3600" dirty="0">
              <a:latin typeface="Bahnschrift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9491" y="1193999"/>
            <a:ext cx="114715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  <a:latin typeface="Bahnschrift" pitchFamily="34" charset="0"/>
              </a:rPr>
              <a:t>Output parser </a:t>
            </a:r>
            <a:r>
              <a:rPr lang="en-US" sz="1600" dirty="0"/>
              <a:t>parse  the LLM response into  </a:t>
            </a:r>
            <a:r>
              <a:rPr lang="en-US" sz="1600" dirty="0">
                <a:solidFill>
                  <a:schemeClr val="accent2"/>
                </a:solidFill>
                <a:latin typeface="Bahnschrift" pitchFamily="34" charset="0"/>
              </a:rPr>
              <a:t>structure data </a:t>
            </a:r>
            <a:r>
              <a:rPr lang="en-US" sz="1600" dirty="0"/>
              <a:t>like json, csv ,pydantic model ,</a:t>
            </a:r>
            <a:r>
              <a:rPr lang="en-IN" sz="1600" dirty="0"/>
              <a:t> Python objects  </a:t>
            </a:r>
            <a:r>
              <a:rPr lang="en-US" sz="1600" dirty="0"/>
              <a:t>and more . This </a:t>
            </a:r>
            <a:r>
              <a:rPr lang="en-US" sz="1600" dirty="0" smtClean="0"/>
              <a:t>ensures data </a:t>
            </a:r>
            <a:r>
              <a:rPr lang="en-US" sz="1600" dirty="0"/>
              <a:t>extraction, validation and further processing seamless and consistent.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03678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p2">
            <a:extLst>
              <a:ext uri="{FF2B5EF4-FFF2-40B4-BE49-F238E27FC236}">
                <a16:creationId xmlns="" xmlns:a16="http://schemas.microsoft.com/office/drawing/2014/main" id="{038532CF-66C3-65D3-7D34-1709FB126FDA}"/>
              </a:ext>
            </a:extLst>
          </p:cNvPr>
          <p:cNvSpPr txBox="1">
            <a:spLocks noGrp="1"/>
          </p:cNvSpPr>
          <p:nvPr/>
        </p:nvSpPr>
        <p:spPr>
          <a:xfrm>
            <a:off x="721936" y="247001"/>
            <a:ext cx="9782801" cy="752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1800"/>
              <a:buFont typeface="Arial"/>
              <a:buNone/>
              <a:defRPr sz="36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600"/>
            </a:pPr>
            <a:r>
              <a:rPr lang="en-IN" sz="4000" b="1" dirty="0">
                <a:solidFill>
                  <a:srgbClr val="7030A0"/>
                </a:solidFill>
                <a:latin typeface="Bahnschrift" pitchFamily="34" charset="0"/>
                <a:ea typeface="+mj-ea"/>
                <a:cs typeface="+mj-cs"/>
              </a:rPr>
              <a:t>TypedDict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179656" y="1484822"/>
            <a:ext cx="8822508" cy="1821903"/>
            <a:chOff x="2193510" y="1692640"/>
            <a:chExt cx="8822508" cy="1821903"/>
          </a:xfrm>
        </p:grpSpPr>
        <p:sp>
          <p:nvSpPr>
            <p:cNvPr id="5" name="Rectangle 4"/>
            <p:cNvSpPr/>
            <p:nvPr/>
          </p:nvSpPr>
          <p:spPr>
            <a:xfrm>
              <a:off x="2207364" y="1692640"/>
              <a:ext cx="8808654" cy="36933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from</a:t>
              </a:r>
              <a:r>
                <a:rPr lang="en-IN" dirty="0">
                  <a:solidFill>
                    <a:srgbClr val="7030A0"/>
                  </a:solidFill>
                </a:rPr>
                <a:t> </a:t>
              </a:r>
              <a:r>
                <a:rPr lang="en-IN" dirty="0">
                  <a:solidFill>
                    <a:schemeClr val="accent5"/>
                  </a:solidFill>
                </a:rPr>
                <a:t>typing </a:t>
              </a:r>
              <a:r>
                <a:rPr lang="en-IN" dirty="0">
                  <a:solidFill>
                    <a:schemeClr val="bg1"/>
                  </a:solidFill>
                </a:rPr>
                <a:t>import </a:t>
              </a:r>
              <a:r>
                <a:rPr lang="en-IN" dirty="0" smtClean="0">
                  <a:solidFill>
                    <a:schemeClr val="bg1"/>
                  </a:solidFill>
                </a:rPr>
                <a:t> </a:t>
              </a:r>
              <a:r>
                <a:rPr lang="en-IN" dirty="0" smtClean="0">
                  <a:solidFill>
                    <a:schemeClr val="accent5"/>
                  </a:solidFill>
                </a:rPr>
                <a:t>TypedDict , Annotated , Literal</a:t>
              </a:r>
              <a:endParaRPr lang="en-IN" dirty="0">
                <a:solidFill>
                  <a:schemeClr val="accent5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193510" y="2314214"/>
              <a:ext cx="8808654" cy="120032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class</a:t>
              </a:r>
              <a:r>
                <a:rPr lang="en-US" dirty="0"/>
                <a:t> </a:t>
              </a:r>
              <a:r>
                <a:rPr lang="en-US" dirty="0">
                  <a:solidFill>
                    <a:srgbClr val="0070C0"/>
                  </a:solidFill>
                </a:rPr>
                <a:t>review</a:t>
              </a:r>
              <a:r>
                <a:rPr lang="en-US" dirty="0">
                  <a:solidFill>
                    <a:schemeClr val="accent2"/>
                  </a:solidFill>
                </a:rPr>
                <a:t>(</a:t>
              </a:r>
              <a:r>
                <a:rPr lang="en-US" dirty="0">
                  <a:solidFill>
                    <a:srgbClr val="0070C0"/>
                  </a:solidFill>
                </a:rPr>
                <a:t>TypedDict</a:t>
              </a:r>
              <a:r>
                <a:rPr lang="en-US" dirty="0">
                  <a:solidFill>
                    <a:schemeClr val="accent2"/>
                  </a:solidFill>
                </a:rPr>
                <a:t>):</a:t>
              </a:r>
            </a:p>
            <a:p>
              <a:r>
                <a:rPr lang="en-US" dirty="0"/>
                <a:t>    </a:t>
              </a:r>
              <a:r>
                <a:rPr lang="en-US" dirty="0">
                  <a:solidFill>
                    <a:srgbClr val="00B0F0"/>
                  </a:solidFill>
                </a:rPr>
                <a:t>summary</a:t>
              </a:r>
              <a:r>
                <a:rPr lang="en-US" dirty="0" smtClean="0">
                  <a:solidFill>
                    <a:schemeClr val="bg1"/>
                  </a:solidFill>
                </a:rPr>
                <a:t>: </a:t>
              </a:r>
              <a:r>
                <a:rPr lang="en-US" dirty="0" smtClean="0">
                  <a:solidFill>
                    <a:srgbClr val="0070C0"/>
                  </a:solidFill>
                </a:rPr>
                <a:t>str</a:t>
              </a:r>
              <a:endParaRPr lang="en-US" dirty="0">
                <a:solidFill>
                  <a:srgbClr val="0070C0"/>
                </a:solidFill>
              </a:endParaRPr>
            </a:p>
            <a:p>
              <a:r>
                <a:rPr lang="en-US" dirty="0"/>
                <a:t>    </a:t>
              </a:r>
              <a:r>
                <a:rPr lang="en-US" dirty="0">
                  <a:solidFill>
                    <a:srgbClr val="00B0F0"/>
                  </a:solidFill>
                </a:rPr>
                <a:t>sentiment</a:t>
              </a:r>
              <a:r>
                <a:rPr lang="en-US" dirty="0" smtClean="0">
                  <a:solidFill>
                    <a:schemeClr val="bg1"/>
                  </a:solidFill>
                </a:rPr>
                <a:t>:</a:t>
              </a:r>
              <a:r>
                <a:rPr lang="en-US" dirty="0" smtClean="0"/>
                <a:t> </a:t>
              </a:r>
              <a:r>
                <a:rPr lang="en-US" dirty="0" smtClean="0">
                  <a:solidFill>
                    <a:srgbClr val="0070C0"/>
                  </a:solidFill>
                </a:rPr>
                <a:t>str</a:t>
              </a:r>
              <a:endParaRPr lang="en-US" dirty="0">
                <a:solidFill>
                  <a:srgbClr val="0070C0"/>
                </a:solidFill>
              </a:endParaRPr>
            </a:p>
            <a:p>
              <a:r>
                <a:rPr lang="en-US" dirty="0"/>
                <a:t>    </a:t>
              </a:r>
              <a:r>
                <a:rPr lang="en-US" dirty="0">
                  <a:solidFill>
                    <a:srgbClr val="00B0F0"/>
                  </a:solidFill>
                </a:rPr>
                <a:t>IsokorNot</a:t>
              </a:r>
              <a:r>
                <a:rPr lang="en-US" dirty="0">
                  <a:solidFill>
                    <a:schemeClr val="bg1"/>
                  </a:solidFill>
                </a:rPr>
                <a:t>:</a:t>
              </a:r>
              <a:r>
                <a:rPr lang="en-US" dirty="0"/>
                <a:t> </a:t>
              </a:r>
              <a:r>
                <a:rPr lang="en-US" dirty="0">
                  <a:solidFill>
                    <a:srgbClr val="0070C0"/>
                  </a:solidFill>
                </a:rPr>
                <a:t>Annotated</a:t>
              </a:r>
              <a:r>
                <a:rPr lang="en-US" dirty="0">
                  <a:solidFill>
                    <a:schemeClr val="accent2"/>
                  </a:solidFill>
                </a:rPr>
                <a:t>[</a:t>
              </a:r>
              <a:r>
                <a:rPr lang="en-US" dirty="0">
                  <a:solidFill>
                    <a:srgbClr val="0070C0"/>
                  </a:solidFill>
                </a:rPr>
                <a:t>Literal</a:t>
              </a:r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["yes","no"],"Provide sentiment in either Yes or No "]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89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p2">
            <a:extLst>
              <a:ext uri="{FF2B5EF4-FFF2-40B4-BE49-F238E27FC236}">
                <a16:creationId xmlns="" xmlns:a16="http://schemas.microsoft.com/office/drawing/2014/main" id="{038532CF-66C3-65D3-7D34-1709FB126FDA}"/>
              </a:ext>
            </a:extLst>
          </p:cNvPr>
          <p:cNvSpPr txBox="1">
            <a:spLocks noGrp="1"/>
          </p:cNvSpPr>
          <p:nvPr/>
        </p:nvSpPr>
        <p:spPr>
          <a:xfrm>
            <a:off x="747399" y="261861"/>
            <a:ext cx="9782801" cy="77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1800"/>
              <a:buFont typeface="Arial"/>
              <a:buNone/>
              <a:defRPr sz="36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600"/>
            </a:pPr>
            <a:r>
              <a:rPr lang="en-IN" sz="4000" b="1" dirty="0" smtClean="0">
                <a:solidFill>
                  <a:srgbClr val="0070C0"/>
                </a:solidFill>
                <a:latin typeface="Bahnschrift" pitchFamily="34" charset="0"/>
              </a:rPr>
              <a:t>Pydantic</a:t>
            </a:r>
            <a:endParaRPr lang="en-IN" sz="40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26328" y="1376363"/>
            <a:ext cx="6096000" cy="646331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66"/>
                </a:solidFill>
              </a:rPr>
              <a:t>from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7030A0"/>
                </a:solidFill>
              </a:rPr>
              <a:t>pydantic</a:t>
            </a:r>
            <a:r>
              <a:rPr lang="en-US" dirty="0" smtClean="0"/>
              <a:t>   </a:t>
            </a:r>
            <a:r>
              <a:rPr lang="en-US" dirty="0" smtClean="0">
                <a:solidFill>
                  <a:srgbClr val="FF0066"/>
                </a:solidFill>
              </a:rPr>
              <a:t>import  </a:t>
            </a:r>
            <a:r>
              <a:rPr lang="en-US" dirty="0">
                <a:solidFill>
                  <a:srgbClr val="0070C0"/>
                </a:solidFill>
              </a:rPr>
              <a:t>BaseModel,Field</a:t>
            </a:r>
          </a:p>
          <a:p>
            <a:r>
              <a:rPr lang="en-US" dirty="0">
                <a:solidFill>
                  <a:srgbClr val="FF0066"/>
                </a:solidFill>
              </a:rPr>
              <a:t>from </a:t>
            </a:r>
            <a:r>
              <a:rPr lang="en-US" dirty="0" smtClean="0">
                <a:solidFill>
                  <a:srgbClr val="FF0066"/>
                </a:solidFill>
              </a:rPr>
              <a:t> </a:t>
            </a:r>
            <a:r>
              <a:rPr lang="en-US" dirty="0" smtClean="0">
                <a:solidFill>
                  <a:srgbClr val="7030A0"/>
                </a:solidFill>
              </a:rPr>
              <a:t>typing</a:t>
            </a:r>
            <a:r>
              <a:rPr lang="en-US" dirty="0" smtClean="0"/>
              <a:t>  </a:t>
            </a:r>
            <a:r>
              <a:rPr lang="en-US" dirty="0">
                <a:solidFill>
                  <a:srgbClr val="FF0066"/>
                </a:solidFill>
              </a:rPr>
              <a:t>import </a:t>
            </a:r>
            <a:r>
              <a:rPr lang="en-US" dirty="0" smtClean="0">
                <a:solidFill>
                  <a:srgbClr val="FF0066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Optional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826328" y="2136339"/>
            <a:ext cx="6096000" cy="2585323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txBody>
          <a:bodyPr>
            <a:sp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class </a:t>
            </a:r>
            <a:r>
              <a:rPr lang="en-IN" dirty="0">
                <a:solidFill>
                  <a:srgbClr val="00B0F0"/>
                </a:solidFill>
              </a:rPr>
              <a:t>User</a:t>
            </a:r>
            <a:r>
              <a:rPr lang="en-IN" dirty="0" smtClean="0"/>
              <a:t>( </a:t>
            </a:r>
            <a:r>
              <a:rPr lang="en-IN" dirty="0" smtClean="0">
                <a:solidFill>
                  <a:srgbClr val="0070C0"/>
                </a:solidFill>
              </a:rPr>
              <a:t>BaseModel</a:t>
            </a:r>
            <a:r>
              <a:rPr lang="en-IN" dirty="0"/>
              <a:t>):   </a:t>
            </a:r>
          </a:p>
          <a:p>
            <a:r>
              <a:rPr lang="en-IN" dirty="0"/>
              <a:t>    name: </a:t>
            </a:r>
            <a:r>
              <a:rPr lang="en-IN" dirty="0">
                <a:solidFill>
                  <a:srgbClr val="0070C0"/>
                </a:solidFill>
              </a:rPr>
              <a:t>str</a:t>
            </a:r>
          </a:p>
          <a:p>
            <a:r>
              <a:rPr lang="en-IN" dirty="0"/>
              <a:t>    mobile: Optional[int] = None</a:t>
            </a:r>
          </a:p>
          <a:p>
            <a:r>
              <a:rPr lang="en-IN" dirty="0"/>
              <a:t>    email: </a:t>
            </a:r>
            <a:r>
              <a:rPr lang="en-IN" dirty="0">
                <a:solidFill>
                  <a:srgbClr val="0070C0"/>
                </a:solidFill>
              </a:rPr>
              <a:t>str</a:t>
            </a:r>
            <a:r>
              <a:rPr lang="en-IN" dirty="0"/>
              <a:t> = </a:t>
            </a:r>
            <a:r>
              <a:rPr lang="en-IN" dirty="0">
                <a:solidFill>
                  <a:srgbClr val="CC3300"/>
                </a:solidFill>
              </a:rPr>
              <a:t>"ram@gmail.com"</a:t>
            </a:r>
          </a:p>
          <a:p>
            <a:r>
              <a:rPr lang="en-IN" dirty="0"/>
              <a:t>    cgpa: </a:t>
            </a:r>
            <a:r>
              <a:rPr lang="en-IN" dirty="0">
                <a:solidFill>
                  <a:srgbClr val="0070C0"/>
                </a:solidFill>
              </a:rPr>
              <a:t>float</a:t>
            </a:r>
            <a:r>
              <a:rPr lang="en-IN" dirty="0"/>
              <a:t> = Field(gt=0, le=10)</a:t>
            </a:r>
          </a:p>
          <a:p>
            <a:r>
              <a:rPr lang="en-IN" dirty="0"/>
              <a:t>    </a:t>
            </a:r>
          </a:p>
          <a:p>
            <a:r>
              <a:rPr lang="en-IN" dirty="0"/>
              <a:t>data1 = </a:t>
            </a:r>
            <a:r>
              <a:rPr lang="en-IN" dirty="0" smtClean="0"/>
              <a:t>{  </a:t>
            </a:r>
            <a:r>
              <a:rPr lang="en-IN" dirty="0" smtClean="0">
                <a:solidFill>
                  <a:srgbClr val="CC3300"/>
                </a:solidFill>
              </a:rPr>
              <a:t>"name“ :  "</a:t>
            </a:r>
            <a:r>
              <a:rPr lang="en-IN" dirty="0">
                <a:solidFill>
                  <a:srgbClr val="CC3300"/>
                </a:solidFill>
              </a:rPr>
              <a:t>ram</a:t>
            </a:r>
            <a:r>
              <a:rPr lang="en-IN" dirty="0" smtClean="0">
                <a:solidFill>
                  <a:srgbClr val="CC3300"/>
                </a:solidFill>
              </a:rPr>
              <a:t>", "cgpa“ : 5</a:t>
            </a:r>
            <a:r>
              <a:rPr lang="en-IN" dirty="0" smtClean="0"/>
              <a:t>  }</a:t>
            </a:r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Example usage</a:t>
            </a:r>
          </a:p>
          <a:p>
            <a:r>
              <a:rPr lang="en-IN" dirty="0"/>
              <a:t>user = </a:t>
            </a:r>
            <a:r>
              <a:rPr lang="en-IN" dirty="0">
                <a:solidFill>
                  <a:srgbClr val="0070C0"/>
                </a:solidFill>
              </a:rPr>
              <a:t>User</a:t>
            </a:r>
            <a:r>
              <a:rPr lang="en-IN" dirty="0"/>
              <a:t>(**data1)</a:t>
            </a:r>
          </a:p>
        </p:txBody>
      </p:sp>
    </p:spTree>
    <p:extLst>
      <p:ext uri="{BB962C8B-B14F-4D97-AF65-F5344CB8AC3E}">
        <p14:creationId xmlns:p14="http://schemas.microsoft.com/office/powerpoint/2010/main" val="166040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61954" y="1152344"/>
            <a:ext cx="99083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rgbClr val="0070C0"/>
                </a:solidFill>
              </a:rPr>
              <a:t>JsonOutputParser</a:t>
            </a:r>
            <a:r>
              <a:rPr lang="en-IN" dirty="0" smtClean="0"/>
              <a:t> is </a:t>
            </a:r>
            <a:r>
              <a:rPr lang="en-IN" dirty="0"/>
              <a:t>an outparser in langhchain that helps to extract structured arbitrary json data from llm model.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510145" y="274925"/>
            <a:ext cx="10557164" cy="724985"/>
            <a:chOff x="1510145" y="274925"/>
            <a:chExt cx="10557164" cy="724985"/>
          </a:xfrm>
        </p:grpSpPr>
        <p:sp>
          <p:nvSpPr>
            <p:cNvPr id="9" name="Rectangle 8"/>
            <p:cNvSpPr/>
            <p:nvPr/>
          </p:nvSpPr>
          <p:spPr>
            <a:xfrm>
              <a:off x="1623103" y="274925"/>
              <a:ext cx="3486852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3200" dirty="0" smtClean="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JsonOutputParser</a:t>
              </a:r>
              <a:endParaRPr lang="en-IN" sz="32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1510145" y="984391"/>
              <a:ext cx="10557164" cy="155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62616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6643" y="750603"/>
            <a:ext cx="8498521" cy="49244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dotenv </a:t>
            </a:r>
            <a:r>
              <a:rPr lang="en-IN" sz="1600" dirty="0"/>
              <a:t>import </a:t>
            </a:r>
            <a:r>
              <a:rPr lang="en-IN" sz="1600" dirty="0">
                <a:solidFill>
                  <a:schemeClr val="accent6"/>
                </a:solidFill>
              </a:rPr>
              <a:t>load_dotenv</a:t>
            </a:r>
          </a:p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langchain_google_genai </a:t>
            </a:r>
            <a:r>
              <a:rPr lang="en-IN" sz="1600" dirty="0"/>
              <a:t>import </a:t>
            </a:r>
            <a:r>
              <a:rPr lang="en-IN" sz="1600" dirty="0">
                <a:solidFill>
                  <a:schemeClr val="accent6"/>
                </a:solidFill>
              </a:rPr>
              <a:t>ChatGoogleGenerativeAI   </a:t>
            </a:r>
          </a:p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langchain_core.prompts </a:t>
            </a:r>
            <a:r>
              <a:rPr lang="en-IN" sz="1600" dirty="0"/>
              <a:t>import </a:t>
            </a:r>
            <a:r>
              <a:rPr lang="en-IN" sz="1600" dirty="0">
                <a:solidFill>
                  <a:schemeClr val="accent6"/>
                </a:solidFill>
              </a:rPr>
              <a:t>PromptTemplate</a:t>
            </a:r>
          </a:p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typing</a:t>
            </a:r>
            <a:r>
              <a:rPr lang="en-IN" sz="1600" dirty="0"/>
              <a:t> import </a:t>
            </a:r>
            <a:r>
              <a:rPr lang="en-IN" sz="1600" dirty="0">
                <a:solidFill>
                  <a:schemeClr val="accent6"/>
                </a:solidFill>
              </a:rPr>
              <a:t>TypedDict,Annotated,Literal</a:t>
            </a:r>
          </a:p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langchain_core.output_parsers </a:t>
            </a:r>
            <a:r>
              <a:rPr lang="en-IN" sz="1600" dirty="0"/>
              <a:t>import </a:t>
            </a:r>
            <a:r>
              <a:rPr lang="en-IN" sz="1600" dirty="0">
                <a:solidFill>
                  <a:schemeClr val="accent6"/>
                </a:solidFill>
              </a:rPr>
              <a:t>JsonOutputParser</a:t>
            </a:r>
          </a:p>
          <a:p>
            <a:endParaRPr lang="en-IN" sz="1600" dirty="0"/>
          </a:p>
          <a:p>
            <a:r>
              <a:rPr lang="en-IN" sz="1600" dirty="0">
                <a:solidFill>
                  <a:schemeClr val="accent4">
                    <a:lumMod val="75000"/>
                  </a:schemeClr>
                </a:solidFill>
              </a:rPr>
              <a:t>load_dotenv</a:t>
            </a:r>
            <a:r>
              <a:rPr lang="en-IN" sz="1600" dirty="0"/>
              <a:t>()</a:t>
            </a:r>
          </a:p>
          <a:p>
            <a:r>
              <a:rPr lang="en-IN" sz="1600" dirty="0"/>
              <a:t>model=</a:t>
            </a:r>
            <a:r>
              <a:rPr lang="en-IN" sz="1600" dirty="0">
                <a:solidFill>
                  <a:schemeClr val="accent6"/>
                </a:solidFill>
              </a:rPr>
              <a:t>ChatGoogleGenerativeAI</a:t>
            </a:r>
            <a:r>
              <a:rPr lang="en-IN" sz="1600" dirty="0"/>
              <a:t>(model="gemini-2.0-flash", temperature=0)</a:t>
            </a:r>
          </a:p>
          <a:p>
            <a:endParaRPr lang="en-IN" sz="1600" dirty="0"/>
          </a:p>
          <a:p>
            <a:r>
              <a:rPr lang="en-IN" sz="1600" dirty="0"/>
              <a:t>parser=</a:t>
            </a:r>
            <a:r>
              <a:rPr lang="en-IN" sz="1600" dirty="0">
                <a:solidFill>
                  <a:schemeClr val="accent6"/>
                </a:solidFill>
              </a:rPr>
              <a:t>JsonOutputParser</a:t>
            </a:r>
            <a:r>
              <a:rPr lang="en-IN" sz="1600" dirty="0"/>
              <a:t>()</a:t>
            </a:r>
          </a:p>
          <a:p>
            <a:endParaRPr lang="en-IN" sz="1600" dirty="0"/>
          </a:p>
          <a:p>
            <a:r>
              <a:rPr lang="en-IN" sz="1600" dirty="0"/>
              <a:t>temp=</a:t>
            </a:r>
            <a:r>
              <a:rPr lang="en-IN" sz="1600" dirty="0">
                <a:solidFill>
                  <a:schemeClr val="accent6"/>
                </a:solidFill>
              </a:rPr>
              <a:t>PromptTemplate</a:t>
            </a:r>
            <a:r>
              <a:rPr lang="en-IN" sz="1600" dirty="0" smtClean="0"/>
              <a:t>(</a:t>
            </a:r>
          </a:p>
          <a:p>
            <a:r>
              <a:rPr lang="en-IN" sz="1600" dirty="0" smtClean="0"/>
              <a:t>    template="</a:t>
            </a:r>
            <a:r>
              <a:rPr lang="en-IN" sz="1600" dirty="0" smtClean="0">
                <a:solidFill>
                  <a:srgbClr val="CC3300"/>
                </a:solidFill>
              </a:rPr>
              <a:t>give me a name ,age,mobile number for a fictional person </a:t>
            </a:r>
            <a:r>
              <a:rPr lang="en-IN" sz="1600" dirty="0" smtClean="0"/>
              <a:t>\n {</a:t>
            </a:r>
            <a:r>
              <a:rPr lang="en-IN" sz="1600" dirty="0" smtClean="0">
                <a:solidFill>
                  <a:srgbClr val="0070C0"/>
                </a:solidFill>
              </a:rPr>
              <a:t>format_instructions}",</a:t>
            </a:r>
          </a:p>
          <a:p>
            <a:r>
              <a:rPr lang="en-IN" sz="1600" dirty="0" smtClean="0"/>
              <a:t>    </a:t>
            </a:r>
            <a:r>
              <a:rPr lang="en-IN" sz="1600" dirty="0"/>
              <a:t>partial_variables={"</a:t>
            </a:r>
            <a:r>
              <a:rPr lang="en-IN" sz="1600" dirty="0">
                <a:solidFill>
                  <a:srgbClr val="CC3300"/>
                </a:solidFill>
              </a:rPr>
              <a:t>format_instructions</a:t>
            </a:r>
            <a:r>
              <a:rPr lang="en-IN" sz="1600" dirty="0"/>
              <a:t>":</a:t>
            </a:r>
            <a:r>
              <a:rPr lang="en-IN" sz="1600" dirty="0">
                <a:solidFill>
                  <a:srgbClr val="0070C0"/>
                </a:solidFill>
              </a:rPr>
              <a:t>parser.</a:t>
            </a:r>
            <a:r>
              <a:rPr lang="en-IN" sz="1600" dirty="0">
                <a:solidFill>
                  <a:schemeClr val="accent4">
                    <a:lumMod val="75000"/>
                  </a:schemeClr>
                </a:solidFill>
              </a:rPr>
              <a:t>get_format_instructions</a:t>
            </a:r>
            <a:r>
              <a:rPr lang="en-IN" sz="1600" dirty="0" smtClean="0">
                <a:solidFill>
                  <a:schemeClr val="accent4">
                    <a:lumMod val="75000"/>
                  </a:schemeClr>
                </a:solidFill>
              </a:rPr>
              <a:t>()},</a:t>
            </a:r>
            <a:r>
              <a:rPr lang="en-IN" sz="1600" dirty="0" smtClean="0"/>
              <a:t>    </a:t>
            </a:r>
          </a:p>
          <a:p>
            <a:r>
              <a:rPr lang="en-IN" sz="1600" dirty="0" smtClean="0"/>
              <a:t>input_variables=[ ])</a:t>
            </a:r>
            <a:endParaRPr lang="en-IN" sz="1600" dirty="0"/>
          </a:p>
          <a:p>
            <a:endParaRPr lang="en-IN" sz="1600" dirty="0"/>
          </a:p>
          <a:p>
            <a:r>
              <a:rPr lang="en-IN" sz="1600" dirty="0" smtClean="0">
                <a:solidFill>
                  <a:srgbClr val="0070C0"/>
                </a:solidFill>
              </a:rPr>
              <a:t>chain</a:t>
            </a:r>
            <a:r>
              <a:rPr lang="en-IN" sz="1600" dirty="0" smtClean="0"/>
              <a:t>=</a:t>
            </a:r>
            <a:r>
              <a:rPr lang="en-IN" sz="1600" dirty="0" smtClean="0">
                <a:solidFill>
                  <a:srgbClr val="0070C0"/>
                </a:solidFill>
              </a:rPr>
              <a:t>temp </a:t>
            </a:r>
            <a:r>
              <a:rPr lang="en-IN" sz="1600" dirty="0" smtClean="0"/>
              <a:t>| </a:t>
            </a:r>
            <a:r>
              <a:rPr lang="en-IN" sz="1600" dirty="0" smtClean="0">
                <a:solidFill>
                  <a:srgbClr val="0070C0"/>
                </a:solidFill>
              </a:rPr>
              <a:t>model </a:t>
            </a:r>
            <a:r>
              <a:rPr lang="en-IN" sz="1600" dirty="0" smtClean="0"/>
              <a:t>| </a:t>
            </a:r>
            <a:r>
              <a:rPr lang="en-IN" sz="1600" dirty="0" smtClean="0">
                <a:solidFill>
                  <a:srgbClr val="0070C0"/>
                </a:solidFill>
              </a:rPr>
              <a:t>parser</a:t>
            </a:r>
            <a:endParaRPr lang="en-IN" sz="1600" dirty="0">
              <a:solidFill>
                <a:srgbClr val="0070C0"/>
              </a:solidFill>
            </a:endParaRPr>
          </a:p>
          <a:p>
            <a:r>
              <a:rPr lang="en-IN" sz="1600" dirty="0">
                <a:solidFill>
                  <a:srgbClr val="0070C0"/>
                </a:solidFill>
              </a:rPr>
              <a:t>r</a:t>
            </a:r>
            <a:r>
              <a:rPr lang="en-IN" sz="1600" dirty="0" smtClean="0">
                <a:solidFill>
                  <a:srgbClr val="0070C0"/>
                </a:solidFill>
              </a:rPr>
              <a:t>es </a:t>
            </a:r>
            <a:r>
              <a:rPr lang="en-IN" sz="1600" dirty="0" smtClean="0"/>
              <a:t>= </a:t>
            </a:r>
            <a:r>
              <a:rPr lang="en-IN" sz="1600" dirty="0" smtClean="0">
                <a:solidFill>
                  <a:srgbClr val="0070C0"/>
                </a:solidFill>
              </a:rPr>
              <a:t>chain</a:t>
            </a:r>
            <a:r>
              <a:rPr lang="en-IN" sz="1600" dirty="0" smtClean="0"/>
              <a:t>.</a:t>
            </a:r>
            <a:r>
              <a:rPr lang="en-IN" sz="1600" dirty="0" smtClean="0">
                <a:solidFill>
                  <a:schemeClr val="accent4">
                    <a:lumMod val="50000"/>
                  </a:schemeClr>
                </a:solidFill>
              </a:rPr>
              <a:t>invoke</a:t>
            </a:r>
            <a:r>
              <a:rPr lang="en-IN" sz="1600" dirty="0" smtClean="0"/>
              <a:t>({ })</a:t>
            </a:r>
            <a:endParaRPr lang="en-IN" sz="1600" dirty="0"/>
          </a:p>
          <a:p>
            <a:r>
              <a:rPr lang="en-IN" sz="1600" dirty="0">
                <a:solidFill>
                  <a:schemeClr val="accent4">
                    <a:lumMod val="50000"/>
                  </a:schemeClr>
                </a:solidFill>
              </a:rPr>
              <a:t>print</a:t>
            </a:r>
            <a:r>
              <a:rPr lang="en-IN" sz="1600" dirty="0"/>
              <a:t>(</a:t>
            </a:r>
            <a:r>
              <a:rPr lang="en-IN" sz="1600" dirty="0">
                <a:solidFill>
                  <a:srgbClr val="0070C0"/>
                </a:solidFill>
              </a:rPr>
              <a:t>res</a:t>
            </a:r>
            <a:r>
              <a:rPr lang="en-I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7601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842654" y="1249371"/>
            <a:ext cx="96083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StructuredOutputParser is an outparser in langhchain that helps to extract structured json data from llm model based on predefined field schema</a:t>
            </a:r>
            <a:endParaRPr lang="en-IN" dirty="0"/>
          </a:p>
        </p:txBody>
      </p:sp>
      <p:grpSp>
        <p:nvGrpSpPr>
          <p:cNvPr id="11" name="Group 10"/>
          <p:cNvGrpSpPr/>
          <p:nvPr/>
        </p:nvGrpSpPr>
        <p:grpSpPr>
          <a:xfrm>
            <a:off x="1510145" y="288892"/>
            <a:ext cx="10557164" cy="711018"/>
            <a:chOff x="1510145" y="288892"/>
            <a:chExt cx="10557164" cy="711018"/>
          </a:xfrm>
        </p:grpSpPr>
        <p:sp>
          <p:nvSpPr>
            <p:cNvPr id="3" name="Rectangle 2"/>
            <p:cNvSpPr/>
            <p:nvPr/>
          </p:nvSpPr>
          <p:spPr>
            <a:xfrm>
              <a:off x="1510145" y="288892"/>
              <a:ext cx="4624984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dirty="0">
                  <a:solidFill>
                    <a:srgbClr val="0070C0"/>
                  </a:solidFill>
                  <a:latin typeface="Arial"/>
                  <a:ea typeface="Arial"/>
                  <a:cs typeface="Arial"/>
                </a:rPr>
                <a:t>StructuredOutputParser </a:t>
              </a:r>
              <a:endParaRPr lang="en-IN" sz="3200" dirty="0">
                <a:solidFill>
                  <a:srgbClr val="0070C0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1510145" y="984391"/>
              <a:ext cx="10557164" cy="155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/>
          <p:cNvSpPr/>
          <p:nvPr/>
        </p:nvSpPr>
        <p:spPr>
          <a:xfrm>
            <a:off x="2369128" y="2060322"/>
            <a:ext cx="94421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 works by defining a list of fields(</a:t>
            </a:r>
            <a:r>
              <a:rPr lang="en-US" dirty="0">
                <a:solidFill>
                  <a:srgbClr val="00B0F0"/>
                </a:solidFill>
              </a:rPr>
              <a:t>responseSchema</a:t>
            </a:r>
            <a:r>
              <a:rPr lang="en-US" dirty="0"/>
              <a:t>) that the model should return,ensuring the output follows a structured format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283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6643" y="598203"/>
            <a:ext cx="8027466" cy="5940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dotenv </a:t>
            </a:r>
            <a:r>
              <a:rPr lang="en-IN" sz="1600" dirty="0"/>
              <a:t>import </a:t>
            </a:r>
            <a:r>
              <a:rPr lang="en-IN" sz="1600" dirty="0">
                <a:solidFill>
                  <a:schemeClr val="accent6"/>
                </a:solidFill>
              </a:rPr>
              <a:t>load_dotenv</a:t>
            </a:r>
          </a:p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langchain_google_genai </a:t>
            </a:r>
            <a:r>
              <a:rPr lang="en-IN" sz="1600" dirty="0"/>
              <a:t>import </a:t>
            </a:r>
            <a:r>
              <a:rPr lang="en-IN" sz="1600" dirty="0">
                <a:solidFill>
                  <a:schemeClr val="accent6"/>
                </a:solidFill>
              </a:rPr>
              <a:t>ChatGoogleGenerativeAI   </a:t>
            </a:r>
          </a:p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langchain_core.prompts </a:t>
            </a:r>
            <a:r>
              <a:rPr lang="en-IN" sz="1600" dirty="0"/>
              <a:t>import </a:t>
            </a:r>
            <a:r>
              <a:rPr lang="en-IN" sz="1600" dirty="0">
                <a:solidFill>
                  <a:schemeClr val="accent6"/>
                </a:solidFill>
              </a:rPr>
              <a:t>PromptTemplate</a:t>
            </a:r>
          </a:p>
          <a:p>
            <a:r>
              <a:rPr lang="en-IN" sz="1600" dirty="0" smtClean="0"/>
              <a:t>from </a:t>
            </a:r>
            <a:r>
              <a:rPr lang="en-IN" sz="1600" dirty="0" smtClean="0">
                <a:solidFill>
                  <a:schemeClr val="accent6"/>
                </a:solidFill>
              </a:rPr>
              <a:t>langchain_core.output_parsers </a:t>
            </a:r>
            <a:r>
              <a:rPr lang="en-IN" sz="1600" dirty="0"/>
              <a:t>import </a:t>
            </a:r>
            <a:r>
              <a:rPr lang="en-IN" sz="1600" dirty="0" smtClean="0">
                <a:solidFill>
                  <a:schemeClr val="accent6"/>
                </a:solidFill>
              </a:rPr>
              <a:t>JsonOutputParser</a:t>
            </a:r>
          </a:p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langchain.output_parsers</a:t>
            </a:r>
            <a:r>
              <a:rPr lang="en-IN" sz="1600" dirty="0"/>
              <a:t> import </a:t>
            </a:r>
            <a:r>
              <a:rPr lang="en-IN" sz="1600" dirty="0">
                <a:solidFill>
                  <a:schemeClr val="accent6"/>
                </a:solidFill>
              </a:rPr>
              <a:t>StructuredOutputParser,ResponseSchema</a:t>
            </a:r>
          </a:p>
          <a:p>
            <a:endParaRPr lang="en-IN" sz="1600" dirty="0"/>
          </a:p>
          <a:p>
            <a:r>
              <a:rPr lang="en-IN" sz="1600" dirty="0">
                <a:solidFill>
                  <a:schemeClr val="accent4">
                    <a:lumMod val="75000"/>
                  </a:schemeClr>
                </a:solidFill>
              </a:rPr>
              <a:t>load_dotenv</a:t>
            </a:r>
            <a:r>
              <a:rPr lang="en-IN" sz="1600" dirty="0"/>
              <a:t>()</a:t>
            </a:r>
          </a:p>
          <a:p>
            <a:r>
              <a:rPr lang="en-IN" sz="1600" dirty="0"/>
              <a:t>model=</a:t>
            </a:r>
            <a:r>
              <a:rPr lang="en-IN" sz="1600" dirty="0">
                <a:solidFill>
                  <a:schemeClr val="accent6"/>
                </a:solidFill>
              </a:rPr>
              <a:t>ChatGoogleGenerativeAI</a:t>
            </a:r>
            <a:r>
              <a:rPr lang="en-IN" sz="1600" dirty="0"/>
              <a:t>(model="gemini-2.0-flash", temperature=0)</a:t>
            </a:r>
          </a:p>
          <a:p>
            <a:endParaRPr lang="en-IN" sz="1600" dirty="0"/>
          </a:p>
          <a:p>
            <a:r>
              <a:rPr lang="en-US" sz="1600" dirty="0"/>
              <a:t>schema=[</a:t>
            </a:r>
          </a:p>
          <a:p>
            <a:r>
              <a:rPr lang="en-US" sz="1600" dirty="0"/>
              <a:t>    </a:t>
            </a:r>
            <a:r>
              <a:rPr lang="en-US" sz="1600" dirty="0">
                <a:solidFill>
                  <a:srgbClr val="00B0F0"/>
                </a:solidFill>
              </a:rPr>
              <a:t>ResponseSchema</a:t>
            </a:r>
            <a:r>
              <a:rPr lang="en-US" sz="1600" dirty="0"/>
              <a:t>(        name="</a:t>
            </a:r>
            <a:r>
              <a:rPr lang="en-US" sz="1600" dirty="0">
                <a:solidFill>
                  <a:srgbClr val="CC3300"/>
                </a:solidFill>
              </a:rPr>
              <a:t>fact_1</a:t>
            </a:r>
            <a:r>
              <a:rPr lang="en-US" sz="1600" dirty="0"/>
              <a:t>",        description="</a:t>
            </a:r>
            <a:r>
              <a:rPr lang="en-US" sz="1600" dirty="0">
                <a:solidFill>
                  <a:srgbClr val="CC3300"/>
                </a:solidFill>
              </a:rPr>
              <a:t>fact 1 about the </a:t>
            </a:r>
            <a:r>
              <a:rPr lang="en-US" sz="1600" dirty="0" smtClean="0">
                <a:solidFill>
                  <a:srgbClr val="CC3300"/>
                </a:solidFill>
              </a:rPr>
              <a:t>summary</a:t>
            </a:r>
            <a:r>
              <a:rPr lang="en-US" sz="1600" dirty="0" smtClean="0"/>
              <a:t>" </a:t>
            </a:r>
            <a:r>
              <a:rPr lang="en-US" sz="1600" dirty="0"/>
              <a:t>   ),</a:t>
            </a:r>
          </a:p>
          <a:p>
            <a:r>
              <a:rPr lang="en-US" sz="1600" dirty="0"/>
              <a:t>     </a:t>
            </a:r>
            <a:r>
              <a:rPr lang="en-US" sz="1600" dirty="0">
                <a:solidFill>
                  <a:srgbClr val="00B0F0"/>
                </a:solidFill>
              </a:rPr>
              <a:t>ResponseSchema</a:t>
            </a:r>
            <a:r>
              <a:rPr lang="en-US" sz="1600" dirty="0"/>
              <a:t>(        name="</a:t>
            </a:r>
            <a:r>
              <a:rPr lang="en-US" sz="1600" dirty="0">
                <a:solidFill>
                  <a:srgbClr val="CC3300"/>
                </a:solidFill>
              </a:rPr>
              <a:t>fact_2</a:t>
            </a:r>
            <a:r>
              <a:rPr lang="en-US" sz="1600" dirty="0"/>
              <a:t>",        description="</a:t>
            </a:r>
            <a:r>
              <a:rPr lang="en-US" sz="1600" dirty="0">
                <a:solidFill>
                  <a:srgbClr val="CC3300"/>
                </a:solidFill>
              </a:rPr>
              <a:t>fact 2 about the </a:t>
            </a:r>
            <a:r>
              <a:rPr lang="en-US" sz="1600" dirty="0" smtClean="0">
                <a:solidFill>
                  <a:srgbClr val="CC3300"/>
                </a:solidFill>
              </a:rPr>
              <a:t>summary</a:t>
            </a:r>
            <a:r>
              <a:rPr lang="en-US" sz="1600" dirty="0" smtClean="0"/>
              <a:t>" </a:t>
            </a:r>
            <a:r>
              <a:rPr lang="en-US" sz="1600" dirty="0"/>
              <a:t>   ),</a:t>
            </a:r>
          </a:p>
          <a:p>
            <a:r>
              <a:rPr lang="en-US" sz="1600" dirty="0"/>
              <a:t>]</a:t>
            </a:r>
          </a:p>
          <a:p>
            <a:r>
              <a:rPr lang="en-US" sz="1600" dirty="0" smtClean="0"/>
              <a:t>parser= </a:t>
            </a:r>
            <a:r>
              <a:rPr lang="en-US" sz="1600" dirty="0" smtClean="0">
                <a:solidFill>
                  <a:srgbClr val="0070C0"/>
                </a:solidFill>
              </a:rPr>
              <a:t>StructuredOutputParser.</a:t>
            </a:r>
            <a:r>
              <a:rPr lang="en-US" sz="1600" dirty="0" smtClean="0">
                <a:solidFill>
                  <a:schemeClr val="accent6"/>
                </a:solidFill>
              </a:rPr>
              <a:t>from_response_schemas</a:t>
            </a:r>
            <a:r>
              <a:rPr lang="en-US" sz="1600" dirty="0" smtClean="0"/>
              <a:t>(schema</a:t>
            </a:r>
            <a:r>
              <a:rPr lang="en-US" sz="1600" dirty="0"/>
              <a:t>)</a:t>
            </a:r>
          </a:p>
          <a:p>
            <a:endParaRPr lang="en-IN" sz="1600" dirty="0"/>
          </a:p>
          <a:p>
            <a:r>
              <a:rPr lang="en-IN" sz="1600" dirty="0"/>
              <a:t>temp=</a:t>
            </a:r>
            <a:r>
              <a:rPr lang="en-IN" sz="1600" dirty="0">
                <a:solidFill>
                  <a:schemeClr val="accent6"/>
                </a:solidFill>
              </a:rPr>
              <a:t>PromptTemplate</a:t>
            </a:r>
            <a:r>
              <a:rPr lang="en-IN" sz="1600" dirty="0" smtClean="0"/>
              <a:t>(</a:t>
            </a:r>
          </a:p>
          <a:p>
            <a:r>
              <a:rPr lang="en-IN" sz="1600" dirty="0" smtClean="0"/>
              <a:t>    template="</a:t>
            </a:r>
            <a:r>
              <a:rPr lang="en-IN" sz="1600" dirty="0" smtClean="0">
                <a:solidFill>
                  <a:srgbClr val="CC3300"/>
                </a:solidFill>
              </a:rPr>
              <a:t>give me 2 fact about {</a:t>
            </a:r>
            <a:r>
              <a:rPr lang="en-IN" sz="1600" dirty="0">
                <a:solidFill>
                  <a:srgbClr val="0070C0"/>
                </a:solidFill>
              </a:rPr>
              <a:t>topic</a:t>
            </a:r>
            <a:r>
              <a:rPr lang="en-IN" sz="1600" dirty="0" smtClean="0">
                <a:solidFill>
                  <a:srgbClr val="CC3300"/>
                </a:solidFill>
              </a:rPr>
              <a:t>}  </a:t>
            </a:r>
            <a:r>
              <a:rPr lang="en-IN" sz="1600" dirty="0" smtClean="0"/>
              <a:t>\n {</a:t>
            </a:r>
            <a:r>
              <a:rPr lang="en-IN" sz="1600" dirty="0" smtClean="0">
                <a:solidFill>
                  <a:srgbClr val="0070C0"/>
                </a:solidFill>
              </a:rPr>
              <a:t>format_instructions}",</a:t>
            </a:r>
          </a:p>
          <a:p>
            <a:r>
              <a:rPr lang="en-IN" sz="1600" dirty="0" smtClean="0"/>
              <a:t>    </a:t>
            </a:r>
            <a:r>
              <a:rPr lang="en-IN" sz="1600" dirty="0"/>
              <a:t>partial_variables={"</a:t>
            </a:r>
            <a:r>
              <a:rPr lang="en-IN" sz="1600" dirty="0">
                <a:solidFill>
                  <a:srgbClr val="CC3300"/>
                </a:solidFill>
              </a:rPr>
              <a:t>format_instructions</a:t>
            </a:r>
            <a:r>
              <a:rPr lang="en-IN" sz="1600" dirty="0"/>
              <a:t>":</a:t>
            </a:r>
            <a:r>
              <a:rPr lang="en-IN" sz="1600" dirty="0">
                <a:solidFill>
                  <a:srgbClr val="0070C0"/>
                </a:solidFill>
              </a:rPr>
              <a:t>parser.</a:t>
            </a:r>
            <a:r>
              <a:rPr lang="en-IN" sz="1600" dirty="0">
                <a:solidFill>
                  <a:schemeClr val="accent4">
                    <a:lumMod val="75000"/>
                  </a:schemeClr>
                </a:solidFill>
              </a:rPr>
              <a:t>get_format_instructions</a:t>
            </a:r>
            <a:r>
              <a:rPr lang="en-IN" sz="1600" dirty="0" smtClean="0">
                <a:solidFill>
                  <a:schemeClr val="accent4">
                    <a:lumMod val="75000"/>
                  </a:schemeClr>
                </a:solidFill>
              </a:rPr>
              <a:t>()},</a:t>
            </a:r>
            <a:r>
              <a:rPr lang="en-IN" sz="1600" dirty="0" smtClean="0"/>
              <a:t>    </a:t>
            </a:r>
          </a:p>
          <a:p>
            <a:r>
              <a:rPr lang="en-IN" sz="1600" dirty="0" smtClean="0"/>
              <a:t>input_variables=[“topic” ])</a:t>
            </a:r>
            <a:endParaRPr lang="en-IN" sz="1600" dirty="0"/>
          </a:p>
          <a:p>
            <a:endParaRPr lang="en-IN" sz="1600" dirty="0"/>
          </a:p>
          <a:p>
            <a:r>
              <a:rPr lang="en-IN" sz="1600" dirty="0" smtClean="0">
                <a:solidFill>
                  <a:srgbClr val="0070C0"/>
                </a:solidFill>
              </a:rPr>
              <a:t>chain</a:t>
            </a:r>
            <a:r>
              <a:rPr lang="en-IN" sz="1600" dirty="0" smtClean="0"/>
              <a:t>=</a:t>
            </a:r>
            <a:r>
              <a:rPr lang="en-IN" sz="1600" dirty="0" smtClean="0">
                <a:solidFill>
                  <a:srgbClr val="0070C0"/>
                </a:solidFill>
              </a:rPr>
              <a:t>temp </a:t>
            </a:r>
            <a:r>
              <a:rPr lang="en-IN" sz="1600" dirty="0" smtClean="0"/>
              <a:t>| </a:t>
            </a:r>
            <a:r>
              <a:rPr lang="en-IN" sz="1600" dirty="0" smtClean="0">
                <a:solidFill>
                  <a:srgbClr val="0070C0"/>
                </a:solidFill>
              </a:rPr>
              <a:t>model </a:t>
            </a:r>
            <a:r>
              <a:rPr lang="en-IN" sz="1600" dirty="0" smtClean="0"/>
              <a:t>| </a:t>
            </a:r>
            <a:r>
              <a:rPr lang="en-IN" sz="1600" dirty="0" smtClean="0">
                <a:solidFill>
                  <a:srgbClr val="0070C0"/>
                </a:solidFill>
              </a:rPr>
              <a:t>parser</a:t>
            </a:r>
            <a:endParaRPr lang="en-IN" sz="1600" dirty="0">
              <a:solidFill>
                <a:srgbClr val="0070C0"/>
              </a:solidFill>
            </a:endParaRPr>
          </a:p>
          <a:p>
            <a:r>
              <a:rPr lang="en-IN" sz="1600" dirty="0">
                <a:solidFill>
                  <a:srgbClr val="0070C0"/>
                </a:solidFill>
              </a:rPr>
              <a:t>r</a:t>
            </a:r>
            <a:r>
              <a:rPr lang="en-IN" sz="1600" dirty="0" smtClean="0">
                <a:solidFill>
                  <a:srgbClr val="0070C0"/>
                </a:solidFill>
              </a:rPr>
              <a:t>es </a:t>
            </a:r>
            <a:r>
              <a:rPr lang="en-IN" sz="1600" dirty="0" smtClean="0"/>
              <a:t>= </a:t>
            </a:r>
            <a:r>
              <a:rPr lang="en-IN" sz="1600" dirty="0" smtClean="0">
                <a:solidFill>
                  <a:srgbClr val="0070C0"/>
                </a:solidFill>
              </a:rPr>
              <a:t>chain</a:t>
            </a:r>
            <a:r>
              <a:rPr lang="en-IN" sz="1600" dirty="0" smtClean="0"/>
              <a:t>.</a:t>
            </a:r>
            <a:r>
              <a:rPr lang="en-IN" sz="1600" dirty="0" smtClean="0">
                <a:solidFill>
                  <a:schemeClr val="accent4">
                    <a:lumMod val="50000"/>
                  </a:schemeClr>
                </a:solidFill>
              </a:rPr>
              <a:t>invoke</a:t>
            </a:r>
            <a:r>
              <a:rPr lang="en-IN" sz="1600" dirty="0" smtClean="0"/>
              <a:t>({ “</a:t>
            </a:r>
            <a:r>
              <a:rPr lang="en-IN" sz="1600" dirty="0" smtClean="0">
                <a:solidFill>
                  <a:srgbClr val="CC3300"/>
                </a:solidFill>
              </a:rPr>
              <a:t>topic</a:t>
            </a:r>
            <a:r>
              <a:rPr lang="en-IN" sz="1600" dirty="0" smtClean="0"/>
              <a:t>”:”</a:t>
            </a:r>
            <a:r>
              <a:rPr lang="en-IN" sz="1600" dirty="0" smtClean="0">
                <a:solidFill>
                  <a:srgbClr val="CC3300"/>
                </a:solidFill>
              </a:rPr>
              <a:t>black hole</a:t>
            </a:r>
            <a:r>
              <a:rPr lang="en-IN" sz="1600" dirty="0" smtClean="0"/>
              <a:t>”  })</a:t>
            </a:r>
            <a:endParaRPr lang="en-IN" sz="1600" dirty="0"/>
          </a:p>
          <a:p>
            <a:r>
              <a:rPr lang="en-IN" sz="1600" dirty="0">
                <a:solidFill>
                  <a:schemeClr val="accent4">
                    <a:lumMod val="50000"/>
                  </a:schemeClr>
                </a:solidFill>
              </a:rPr>
              <a:t>print</a:t>
            </a:r>
            <a:r>
              <a:rPr lang="en-IN" sz="1600" dirty="0"/>
              <a:t>(</a:t>
            </a:r>
            <a:r>
              <a:rPr lang="en-IN" sz="1600" dirty="0">
                <a:solidFill>
                  <a:srgbClr val="0070C0"/>
                </a:solidFill>
              </a:rPr>
              <a:t>res</a:t>
            </a:r>
            <a:r>
              <a:rPr lang="en-I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0471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537855" y="413471"/>
            <a:ext cx="9664787" cy="586439"/>
            <a:chOff x="1537855" y="413471"/>
            <a:chExt cx="9664787" cy="586439"/>
          </a:xfrm>
        </p:grpSpPr>
        <p:sp>
          <p:nvSpPr>
            <p:cNvPr id="2" name="Rectangle 1"/>
            <p:cNvSpPr/>
            <p:nvPr/>
          </p:nvSpPr>
          <p:spPr>
            <a:xfrm>
              <a:off x="1690786" y="413471"/>
              <a:ext cx="370165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2800" dirty="0">
                  <a:solidFill>
                    <a:srgbClr val="0070C0"/>
                  </a:solidFill>
                  <a:latin typeface="Arial"/>
                  <a:ea typeface="Arial"/>
                  <a:cs typeface="Arial"/>
                </a:rPr>
                <a:t>PydanticOutputParser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 flipV="1">
              <a:off x="1537855" y="998246"/>
              <a:ext cx="9664787" cy="16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/>
          <p:cNvSpPr/>
          <p:nvPr/>
        </p:nvSpPr>
        <p:spPr>
          <a:xfrm>
            <a:off x="1814945" y="1263226"/>
            <a:ext cx="9753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PydanticOutputParser</a:t>
            </a:r>
            <a:r>
              <a:rPr lang="en-IN" dirty="0"/>
              <a:t> is structured output parser in </a:t>
            </a:r>
            <a:r>
              <a:rPr lang="en-IN" dirty="0" smtClean="0"/>
              <a:t>Langchain </a:t>
            </a:r>
            <a:r>
              <a:rPr lang="en-IN" dirty="0"/>
              <a:t>that uses pydantic models to enforce schema </a:t>
            </a:r>
            <a:r>
              <a:rPr lang="en-IN" dirty="0" smtClean="0"/>
              <a:t>validation </a:t>
            </a:r>
            <a:r>
              <a:rPr lang="en-IN" dirty="0"/>
              <a:t>when processing llm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9916" y="2914195"/>
            <a:ext cx="4319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0070C0"/>
                </a:solidFill>
                <a:latin typeface="Arial Black" pitchFamily="34" charset="0"/>
                <a:ea typeface="Arial"/>
                <a:cs typeface="Arial"/>
              </a:rPr>
              <a:t>Why use PydanticOutputParser 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4544" y="3468193"/>
            <a:ext cx="9143999" cy="1200329"/>
          </a:xfrm>
          <a:prstGeom prst="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dirty="0" smtClean="0">
                <a:solidFill>
                  <a:srgbClr val="00B0F0"/>
                </a:solidFill>
              </a:rPr>
              <a:t>Strict Schema </a:t>
            </a:r>
            <a:r>
              <a:rPr lang="en-US" dirty="0">
                <a:solidFill>
                  <a:srgbClr val="00B0F0"/>
                </a:solidFill>
              </a:rPr>
              <a:t>Enforcement </a:t>
            </a:r>
            <a:r>
              <a:rPr lang="en-US" dirty="0"/>
              <a:t>-Ensure that llm response follow a well defined structure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>
                <a:solidFill>
                  <a:srgbClr val="00B0F0"/>
                </a:solidFill>
              </a:rPr>
              <a:t>Type Safety </a:t>
            </a:r>
            <a:r>
              <a:rPr lang="en-US" dirty="0"/>
              <a:t>- Automatically convert llm outputs into python objects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>
                <a:solidFill>
                  <a:srgbClr val="00B0F0"/>
                </a:solidFill>
              </a:rPr>
              <a:t>Easy Validation- </a:t>
            </a:r>
            <a:r>
              <a:rPr lang="en-US" dirty="0"/>
              <a:t>uses pydantic built-in validation to catch incorrect or missin data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>
                <a:solidFill>
                  <a:srgbClr val="00B0F0"/>
                </a:solidFill>
              </a:rPr>
              <a:t>seamless integration </a:t>
            </a:r>
            <a:r>
              <a:rPr lang="en-US" dirty="0"/>
              <a:t>-works well with other </a:t>
            </a:r>
            <a:r>
              <a:rPr lang="en-US" dirty="0" smtClean="0"/>
              <a:t>Langchain </a:t>
            </a:r>
            <a:r>
              <a:rPr lang="en-US" dirty="0"/>
              <a:t>component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9092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357511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20152</TotalTime>
  <Words>385</Words>
  <Application>Microsoft Office PowerPoint</Application>
  <PresentationFormat>Custom</PresentationFormat>
  <Paragraphs>115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936</cp:revision>
  <dcterms:created xsi:type="dcterms:W3CDTF">2024-01-26T15:11:46Z</dcterms:created>
  <dcterms:modified xsi:type="dcterms:W3CDTF">2026-02-24T17:38:26Z</dcterms:modified>
</cp:coreProperties>
</file>