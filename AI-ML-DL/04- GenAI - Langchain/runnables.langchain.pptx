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9" r:id="rId2"/>
    <p:sldId id="323" r:id="rId3"/>
    <p:sldId id="427" r:id="rId4"/>
    <p:sldId id="256" r:id="rId5"/>
    <p:sldId id="422" r:id="rId6"/>
    <p:sldId id="439" r:id="rId7"/>
    <p:sldId id="440" r:id="rId8"/>
    <p:sldId id="442" r:id="rId9"/>
    <p:sldId id="443" r:id="rId10"/>
    <p:sldId id="444" r:id="rId11"/>
    <p:sldId id="441" r:id="rId12"/>
    <p:sldId id="445" r:id="rId13"/>
    <p:sldId id="447" r:id="rId14"/>
    <p:sldId id="446" r:id="rId15"/>
    <p:sldId id="451" r:id="rId16"/>
    <p:sldId id="450" r:id="rId17"/>
    <p:sldId id="449" r:id="rId18"/>
    <p:sldId id="448" r:id="rId19"/>
    <p:sldId id="41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F7019FAC-E7A5-43E9-B9F1-CAF1DA55EE0C}">
          <p14:sldIdLst>
            <p14:sldId id="259"/>
            <p14:sldId id="323"/>
            <p14:sldId id="427"/>
            <p14:sldId id="256"/>
          </p14:sldIdLst>
        </p14:section>
        <p14:section name="Basics" id="{FEB3B35D-C60A-4223-8E10-10DFC2E07C67}">
          <p14:sldIdLst>
            <p14:sldId id="422"/>
            <p14:sldId id="439"/>
            <p14:sldId id="440"/>
          </p14:sldIdLst>
        </p14:section>
        <p14:section name="RunnableSequence" id="{04A46BC3-0350-4D5E-80AC-2810B3FA2E93}">
          <p14:sldIdLst>
            <p14:sldId id="442"/>
            <p14:sldId id="443"/>
          </p14:sldIdLst>
        </p14:section>
        <p14:section name="RunnableParallel" id="{C2B0810C-595A-4E65-B677-01F5DF21875D}">
          <p14:sldIdLst>
            <p14:sldId id="444"/>
            <p14:sldId id="441"/>
          </p14:sldIdLst>
        </p14:section>
        <p14:section name="RunnablePassthrough" id="{482BDFEE-8D2B-4649-A6C9-28545E6915CE}">
          <p14:sldIdLst>
            <p14:sldId id="445"/>
            <p14:sldId id="447"/>
          </p14:sldIdLst>
        </p14:section>
        <p14:section name="RunnableLambda" id="{E42543C5-3BAC-4E47-842E-846393F0A44F}">
          <p14:sldIdLst>
            <p14:sldId id="446"/>
            <p14:sldId id="451"/>
          </p14:sldIdLst>
        </p14:section>
        <p14:section name="Untitled Section" id="{FEDD310B-9535-480D-9E8F-C236A2251CD2}">
          <p14:sldIdLst>
            <p14:sldId id="450"/>
            <p14:sldId id="449"/>
            <p14:sldId id="448"/>
          </p14:sldIdLst>
        </p14:section>
        <p14:section name="Q&amp;A" id="{1564124F-F372-4CB6-8FA8-28282C184CBB}">
          <p14:sldIdLst>
            <p14:sldId id="416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00D05E"/>
    <a:srgbClr val="FF0066"/>
    <a:srgbClr val="D7C055"/>
    <a:srgbClr val="F2DB5B"/>
    <a:srgbClr val="000000"/>
    <a:srgbClr val="6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3" autoAdjust="0"/>
    <p:restoredTop sz="86073" autoAdjust="0"/>
  </p:normalViewPr>
  <p:slideViewPr>
    <p:cSldViewPr snapToGrid="0">
      <p:cViewPr>
        <p:scale>
          <a:sx n="69" d="100"/>
          <a:sy n="69" d="100"/>
        </p:scale>
        <p:origin x="-696" y="-20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21-05-2025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8098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4662A70-DFBD-127F-D5CC-9B0F1A562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F420B84-9022-B7D2-9C67-0FDA0433D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AC76129-7A35-2EDC-3B76-87ED8A841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BF5D66A-BD02-F7EA-3FAB-C98B27E37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226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4662A70-DFBD-127F-D5CC-9B0F1A562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F420B84-9022-B7D2-9C67-0FDA0433D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AC76129-7A35-2EDC-3B76-87ED8A841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BF5D66A-BD02-F7EA-3FAB-C98B27E37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004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5/21/2025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5/21/2025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5/21/2025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5/21/2025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5/21/2025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5/21/2025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5/21/2025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5/21/2025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5/21/2025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5/21/2025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5/21/2025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5/21/2025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5EAF964-8046-4986-333A-413E3F587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9881708-A124-2C3C-5ED7-415072930F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7" name="Picture 6" descr="A logo with lines and text&#10;&#10;Description automatically generated">
            <a:extLst>
              <a:ext uri="{FF2B5EF4-FFF2-40B4-BE49-F238E27FC236}">
                <a16:creationId xmlns:a16="http://schemas.microsoft.com/office/drawing/2014/main" xmlns="" id="{9352C078-243C-067B-2F8E-B5A5E2775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599" y="1472832"/>
            <a:ext cx="4604800" cy="4604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3693E6C-33AD-1342-B4F1-1F64E23B9BA9}"/>
              </a:ext>
            </a:extLst>
          </p:cNvPr>
          <p:cNvSpPr txBox="1"/>
          <p:nvPr/>
        </p:nvSpPr>
        <p:spPr>
          <a:xfrm>
            <a:off x="475421" y="506772"/>
            <a:ext cx="11241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2DB5B"/>
                </a:solidFill>
              </a:rPr>
              <a:t>The Generative AI Revolution: A Month-Long AI Exploration</a:t>
            </a:r>
            <a:endParaRPr lang="en-IN" sz="3600" dirty="0">
              <a:solidFill>
                <a:srgbClr val="F2DB5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3BA25B9-E76F-48BF-33E7-28E630649DB8}"/>
              </a:ext>
            </a:extLst>
          </p:cNvPr>
          <p:cNvSpPr txBox="1"/>
          <p:nvPr/>
        </p:nvSpPr>
        <p:spPr>
          <a:xfrm>
            <a:off x="7187648" y="6397361"/>
            <a:ext cx="495300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2400" dirty="0">
                <a:solidFill>
                  <a:srgbClr val="F2DB5B"/>
                </a:solidFill>
              </a:rPr>
              <a:t>Level 2 | Apr 2024 | Week 1 Day 1 </a:t>
            </a:r>
            <a:endParaRPr lang="en-US" sz="24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93922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5D93965-B794-0D3F-19B2-6E5CEF590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29A6F4B-4B22-0928-2DBA-1E63C9DE5B47}"/>
              </a:ext>
            </a:extLst>
          </p:cNvPr>
          <p:cNvSpPr/>
          <p:nvPr/>
        </p:nvSpPr>
        <p:spPr>
          <a:xfrm>
            <a:off x="0" y="1"/>
            <a:ext cx="1948169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745C555-155A-8408-E6E3-22A172F35158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2462335E-6BA0-9E39-D941-3E40EF2A0890}"/>
              </a:ext>
            </a:extLst>
          </p:cNvPr>
          <p:cNvSpPr/>
          <p:nvPr/>
        </p:nvSpPr>
        <p:spPr>
          <a:xfrm>
            <a:off x="0" y="5572125"/>
            <a:ext cx="12187542" cy="1285876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352634E-F25A-906D-E090-61E107EA9685}"/>
              </a:ext>
            </a:extLst>
          </p:cNvPr>
          <p:cNvSpPr/>
          <p:nvPr/>
        </p:nvSpPr>
        <p:spPr>
          <a:xfrm>
            <a:off x="-260" y="5572124"/>
            <a:ext cx="12193758" cy="58340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78D711A-98A9-0CA9-87DC-706B4F2660DA}"/>
              </a:ext>
            </a:extLst>
          </p:cNvPr>
          <p:cNvSpPr/>
          <p:nvPr/>
        </p:nvSpPr>
        <p:spPr>
          <a:xfrm>
            <a:off x="1291568" y="-1"/>
            <a:ext cx="656603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3863E5A6-EF6F-E241-ED54-B76BF0108961}"/>
              </a:ext>
            </a:extLst>
          </p:cNvPr>
          <p:cNvSpPr txBox="1"/>
          <p:nvPr/>
        </p:nvSpPr>
        <p:spPr>
          <a:xfrm>
            <a:off x="1396344" y="5505306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15" name="Google Shape;143;p1">
            <a:extLst>
              <a:ext uri="{FF2B5EF4-FFF2-40B4-BE49-F238E27FC236}">
                <a16:creationId xmlns:a16="http://schemas.microsoft.com/office/drawing/2014/main" xmlns="" id="{E4949A97-DC03-56A5-2E5A-3DD3913AA0EF}"/>
              </a:ext>
            </a:extLst>
          </p:cNvPr>
          <p:cNvSpPr txBox="1">
            <a:spLocks noGrp="1"/>
          </p:cNvSpPr>
          <p:nvPr/>
        </p:nvSpPr>
        <p:spPr>
          <a:xfrm>
            <a:off x="2187369" y="1600200"/>
            <a:ext cx="9903831" cy="268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b="1" dirty="0"/>
              <a:t>Runnables 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May </a:t>
            </a:r>
            <a:r>
              <a:rPr lang="en-US" b="1" dirty="0" smtClean="0">
                <a:solidFill>
                  <a:schemeClr val="tx1"/>
                </a:solidFill>
              </a:rPr>
              <a:t>2024</a:t>
            </a: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4" name="Picture 3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B769A9BB-68EA-F9F6-0ECB-37D6968A9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2642" y="-205416"/>
            <a:ext cx="1217233" cy="120532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D627D9A-CDBE-20A9-3FA1-63D5E507D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</p:spTree>
    <p:extLst>
      <p:ext uri="{BB962C8B-B14F-4D97-AF65-F5344CB8AC3E}">
        <p14:creationId xmlns:p14="http://schemas.microsoft.com/office/powerpoint/2010/main" val="4161876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5CE01EE-9B82-1A8D-6A71-28923D9F4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B3BB1EE-8F0D-D402-9B66-38C94EBDCD27}"/>
              </a:ext>
            </a:extLst>
          </p:cNvPr>
          <p:cNvSpPr/>
          <p:nvPr/>
        </p:nvSpPr>
        <p:spPr>
          <a:xfrm>
            <a:off x="0" y="1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B92D285-0982-C7FC-2CCB-555CC4555729}"/>
              </a:ext>
            </a:extLst>
          </p:cNvPr>
          <p:cNvSpPr/>
          <p:nvPr/>
        </p:nvSpPr>
        <p:spPr>
          <a:xfrm>
            <a:off x="565288" y="0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5A501CB-25F7-430E-26A9-AC8C6F18EA43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F6D8D221-4B29-D734-A328-58D818C34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6"/>
            <a:ext cx="1217233" cy="1205327"/>
          </a:xfrm>
          <a:prstGeom prst="rect">
            <a:avLst/>
          </a:prstGeom>
        </p:spPr>
      </p:pic>
      <p:sp>
        <p:nvSpPr>
          <p:cNvPr id="33" name="Footer Placeholder 32">
            <a:extLst>
              <a:ext uri="{FF2B5EF4-FFF2-40B4-BE49-F238E27FC236}">
                <a16:creationId xmlns:a16="http://schemas.microsoft.com/office/drawing/2014/main" xmlns="" id="{9EFE9F1A-54D1-5FC8-F649-AA5659503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xmlns="" id="{8E4945F9-351B-FE06-B4C4-5E27ED97FD2B}"/>
              </a:ext>
            </a:extLst>
          </p:cNvPr>
          <p:cNvSpPr txBox="1">
            <a:spLocks/>
          </p:cNvSpPr>
          <p:nvPr/>
        </p:nvSpPr>
        <p:spPr>
          <a:xfrm>
            <a:off x="1593436" y="286921"/>
            <a:ext cx="9782801" cy="10387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/>
              <a:t>Tools We will cover?</a:t>
            </a:r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xmlns="" id="{8E4B4487-5609-54AF-1FCA-AB3F6B737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1638300"/>
            <a:ext cx="92456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5253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626D0CFA-48B8-3E4B-1A49-D1519B523717}"/>
              </a:ext>
            </a:extLst>
          </p:cNvPr>
          <p:cNvSpPr/>
          <p:nvPr/>
        </p:nvSpPr>
        <p:spPr>
          <a:xfrm>
            <a:off x="0" y="1"/>
            <a:ext cx="1948169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4FF0842-65B7-CA57-2F5A-D61967EF9A86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086E1CFB-A153-D93E-36A4-626934EA70A2}"/>
              </a:ext>
            </a:extLst>
          </p:cNvPr>
          <p:cNvSpPr/>
          <p:nvPr/>
        </p:nvSpPr>
        <p:spPr>
          <a:xfrm>
            <a:off x="0" y="5572125"/>
            <a:ext cx="12187542" cy="1285876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FD0E1369-B664-5A34-37EB-F2E23636CCE2}"/>
              </a:ext>
            </a:extLst>
          </p:cNvPr>
          <p:cNvSpPr/>
          <p:nvPr/>
        </p:nvSpPr>
        <p:spPr>
          <a:xfrm>
            <a:off x="-260" y="5572124"/>
            <a:ext cx="12193758" cy="58340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1416A07B-D1C1-CCF8-D7C5-0E48127EB26A}"/>
              </a:ext>
            </a:extLst>
          </p:cNvPr>
          <p:cNvSpPr/>
          <p:nvPr/>
        </p:nvSpPr>
        <p:spPr>
          <a:xfrm>
            <a:off x="1291568" y="-1"/>
            <a:ext cx="656603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5C46304-707F-3EF8-C7C9-2F0B0A921B41}"/>
              </a:ext>
            </a:extLst>
          </p:cNvPr>
          <p:cNvSpPr txBox="1"/>
          <p:nvPr/>
        </p:nvSpPr>
        <p:spPr>
          <a:xfrm>
            <a:off x="1396344" y="5505306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15" name="Google Shape;143;p1">
            <a:extLst>
              <a:ext uri="{FF2B5EF4-FFF2-40B4-BE49-F238E27FC236}">
                <a16:creationId xmlns:a16="http://schemas.microsoft.com/office/drawing/2014/main" xmlns="" id="{C9764481-C48B-F71F-0C2D-6C544B78BD03}"/>
              </a:ext>
            </a:extLst>
          </p:cNvPr>
          <p:cNvSpPr txBox="1">
            <a:spLocks noGrp="1"/>
          </p:cNvSpPr>
          <p:nvPr/>
        </p:nvSpPr>
        <p:spPr>
          <a:xfrm>
            <a:off x="2289667" y="999911"/>
            <a:ext cx="9903831" cy="101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4600" b="1" dirty="0" smtClean="0">
                <a:solidFill>
                  <a:schemeClr val="tx1"/>
                </a:solidFill>
              </a:rPr>
              <a:t>Runnables</a:t>
            </a:r>
            <a:r>
              <a:rPr lang="en-US" sz="4600" b="1" dirty="0">
                <a:solidFill>
                  <a:schemeClr val="tx1"/>
                </a:solidFill>
              </a:rPr>
              <a:t> </a:t>
            </a:r>
            <a:endParaRPr sz="4600" b="1" dirty="0">
              <a:solidFill>
                <a:schemeClr val="tx1"/>
              </a:solidFill>
            </a:endParaRPr>
          </a:p>
        </p:txBody>
      </p:sp>
      <p:sp>
        <p:nvSpPr>
          <p:cNvPr id="16" name="Google Shape;144;p1">
            <a:extLst>
              <a:ext uri="{FF2B5EF4-FFF2-40B4-BE49-F238E27FC236}">
                <a16:creationId xmlns:a16="http://schemas.microsoft.com/office/drawing/2014/main" xmlns="" id="{BBED11E4-2954-95E1-DDA9-5E0CD86221C7}"/>
              </a:ext>
            </a:extLst>
          </p:cNvPr>
          <p:cNvSpPr txBox="1">
            <a:spLocks noGrp="1"/>
          </p:cNvSpPr>
          <p:nvPr/>
        </p:nvSpPr>
        <p:spPr>
          <a:xfrm>
            <a:off x="2427515" y="2380180"/>
            <a:ext cx="7718487" cy="2924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 SemiLight" pitchFamily="34" charset="0"/>
              </a:rPr>
              <a:t>Basics </a:t>
            </a:r>
            <a:r>
              <a:rPr lang="en-US" sz="2000" dirty="0" smtClean="0">
                <a:latin typeface="Bahnschrift SemiLight" pitchFamily="34" charset="0"/>
              </a:rPr>
              <a:t>?</a:t>
            </a:r>
            <a:endParaRPr lang="en-US" sz="2000" dirty="0">
              <a:latin typeface="Bahnschrift SemiLight" pitchFamily="34" charset="0"/>
            </a:endParaRPr>
          </a:p>
          <a:p>
            <a:pPr lvl="1" indent="-457200" algn="l">
              <a:lnSpc>
                <a:spcPct val="10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Bahnschrift SemiLight" pitchFamily="34" charset="0"/>
              </a:rPr>
              <a:t>typeDictionary</a:t>
            </a:r>
          </a:p>
          <a:p>
            <a:pPr lvl="1" indent="-457200" algn="l">
              <a:lnSpc>
                <a:spcPct val="100000"/>
              </a:lnSpc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dk1"/>
                </a:solidFill>
                <a:latin typeface="Bahnschrift SemiLight" pitchFamily="34" charset="0"/>
              </a:rPr>
              <a:t>Pydantic</a:t>
            </a:r>
            <a:endParaRPr lang="en-US" sz="2000" dirty="0">
              <a:latin typeface="Bahnschrift SemiLight" pitchFamily="34" charset="0"/>
            </a:endParaRP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Bahnschrift SemiLight" pitchFamily="34" charset="0"/>
              </a:rPr>
              <a:t>JsonOutputParser</a:t>
            </a:r>
            <a:endParaRPr lang="en-US" sz="2000" dirty="0">
              <a:latin typeface="Bahnschrift SemiLight" pitchFamily="34" charset="0"/>
            </a:endParaRP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Bahnschrift SemiLight" pitchFamily="34" charset="0"/>
              </a:rPr>
              <a:t>StructuredoutputParser</a:t>
            </a:r>
            <a:endParaRPr lang="en-US" sz="2000" dirty="0">
              <a:latin typeface="Bahnschrift SemiLight" pitchFamily="34" charset="0"/>
            </a:endParaRP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Bahnschrift SemiLight" pitchFamily="34" charset="0"/>
              </a:rPr>
              <a:t>Pydanticoutparser</a:t>
            </a:r>
            <a:endParaRPr lang="en-US" sz="2000" dirty="0">
              <a:latin typeface="Bahnschrift SemiLight" pitchFamily="34" charset="0"/>
            </a:endParaRPr>
          </a:p>
          <a:p>
            <a:pPr indent="-457200">
              <a:buFont typeface="Arial" panose="020B0604020202020204" pitchFamily="34" charset="0"/>
              <a:buChar char="•"/>
            </a:pPr>
            <a:endParaRPr lang="en-US" sz="2000" dirty="0">
              <a:latin typeface="Bahnschrift SemiLight" pitchFamily="34" charset="0"/>
            </a:endParaRPr>
          </a:p>
        </p:txBody>
      </p:sp>
      <p:pic>
        <p:nvPicPr>
          <p:cNvPr id="4" name="Picture 3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D2D9B059-AD2D-F678-3DA7-C8E036931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2642" y="-205416"/>
            <a:ext cx="1217233" cy="120532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E035956-D152-CBA4-26F1-D6ED7ADD0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</p:spTree>
    <p:extLst>
      <p:ext uri="{BB962C8B-B14F-4D97-AF65-F5344CB8AC3E}">
        <p14:creationId xmlns:p14="http://schemas.microsoft.com/office/powerpoint/2010/main" val="2724362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5CE01EE-9B82-1A8D-6A71-28923D9F4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B3BB1EE-8F0D-D402-9B66-38C94EBDCD27}"/>
              </a:ext>
            </a:extLst>
          </p:cNvPr>
          <p:cNvSpPr/>
          <p:nvPr/>
        </p:nvSpPr>
        <p:spPr>
          <a:xfrm>
            <a:off x="0" y="1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B92D285-0982-C7FC-2CCB-555CC4555729}"/>
              </a:ext>
            </a:extLst>
          </p:cNvPr>
          <p:cNvSpPr/>
          <p:nvPr/>
        </p:nvSpPr>
        <p:spPr>
          <a:xfrm>
            <a:off x="565288" y="0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5A501CB-25F7-430E-26A9-AC8C6F18EA43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F6D8D221-4B29-D734-A328-58D818C34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6"/>
            <a:ext cx="1217233" cy="1205327"/>
          </a:xfrm>
          <a:prstGeom prst="rect">
            <a:avLst/>
          </a:prstGeom>
        </p:spPr>
      </p:pic>
      <p:sp>
        <p:nvSpPr>
          <p:cNvPr id="33" name="Footer Placeholder 32">
            <a:extLst>
              <a:ext uri="{FF2B5EF4-FFF2-40B4-BE49-F238E27FC236}">
                <a16:creationId xmlns:a16="http://schemas.microsoft.com/office/drawing/2014/main" xmlns="" id="{9EFE9F1A-54D1-5FC8-F649-AA5659503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xmlns="" id="{8E4945F9-351B-FE06-B4C4-5E27ED97FD2B}"/>
              </a:ext>
            </a:extLst>
          </p:cNvPr>
          <p:cNvSpPr txBox="1">
            <a:spLocks/>
          </p:cNvSpPr>
          <p:nvPr/>
        </p:nvSpPr>
        <p:spPr>
          <a:xfrm>
            <a:off x="1593436" y="286921"/>
            <a:ext cx="9782801" cy="10387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 smtClean="0"/>
              <a:t>Runnable</a:t>
            </a:r>
            <a:endParaRPr lang="en-IN" sz="4000" b="1" dirty="0"/>
          </a:p>
        </p:txBody>
      </p:sp>
      <p:sp>
        <p:nvSpPr>
          <p:cNvPr id="3" name="Rectangle 2"/>
          <p:cNvSpPr/>
          <p:nvPr/>
        </p:nvSpPr>
        <p:spPr>
          <a:xfrm>
            <a:off x="2175164" y="1845163"/>
            <a:ext cx="902747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Langchian         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3678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2" name="Google Shape;149;p2">
            <a:extLst>
              <a:ext uri="{FF2B5EF4-FFF2-40B4-BE49-F238E27FC236}">
                <a16:creationId xmlns:a16="http://schemas.microsoft.com/office/drawing/2014/main" xmlns="" id="{038532CF-66C3-65D3-7D34-1709FB126FDA}"/>
              </a:ext>
            </a:extLst>
          </p:cNvPr>
          <p:cNvSpPr txBox="1">
            <a:spLocks noGrp="1"/>
          </p:cNvSpPr>
          <p:nvPr/>
        </p:nvSpPr>
        <p:spPr>
          <a:xfrm>
            <a:off x="4308928" y="756444"/>
            <a:ext cx="2327400" cy="619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1800"/>
              <a:buFont typeface="Arial"/>
              <a:buNone/>
              <a:defRPr sz="36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600"/>
            </a:pPr>
            <a:r>
              <a:rPr lang="en-IN" sz="4000" b="1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Runnables type</a:t>
            </a:r>
            <a:endParaRPr lang="en-IN" sz="40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2582" y="3131127"/>
            <a:ext cx="2316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Task specfic Runnables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7661564" y="3315793"/>
            <a:ext cx="2117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Runnables premitive</a:t>
            </a:r>
            <a:endParaRPr lang="en-IN" dirty="0"/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5070764" y="1524000"/>
            <a:ext cx="942109" cy="14408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6012873" y="1524000"/>
            <a:ext cx="2327563" cy="16071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96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148886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123" y="261505"/>
            <a:ext cx="5753100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9088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9" name="Rectangle 8"/>
          <p:cNvSpPr/>
          <p:nvPr/>
        </p:nvSpPr>
        <p:spPr>
          <a:xfrm>
            <a:off x="1296643" y="750603"/>
            <a:ext cx="8498521" cy="5062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IN" sz="1700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dotenv 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load_dotenv</a:t>
            </a:r>
          </a:p>
          <a:p>
            <a:r>
              <a:rPr lang="en-IN" sz="1700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langchain_google_genai 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ChatGoogleGenerativeAI   </a:t>
            </a:r>
          </a:p>
          <a:p>
            <a:r>
              <a:rPr lang="en-IN" sz="1700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langchain_core.prompts 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PromptTemplate</a:t>
            </a:r>
          </a:p>
          <a:p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langchain_core.runnables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 import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RunnableSequence</a:t>
            </a:r>
          </a:p>
          <a:p>
            <a:r>
              <a:rPr lang="en-IN" sz="1700" dirty="0">
                <a:latin typeface="Calibri Light" pitchFamily="34" charset="0"/>
                <a:cs typeface="Calibri Light" pitchFamily="34" charset="0"/>
              </a:rPr>
              <a:t>from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 langchain_core.output_parsers 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StrOutputParser</a:t>
            </a:r>
          </a:p>
          <a:p>
            <a:endParaRPr lang="en-IN" sz="1700" dirty="0">
              <a:solidFill>
                <a:schemeClr val="accent6"/>
              </a:solidFill>
              <a:latin typeface="Calibri Light" pitchFamily="34" charset="0"/>
              <a:cs typeface="Calibri Light" pitchFamily="34" charset="0"/>
            </a:endParaRPr>
          </a:p>
          <a:p>
            <a:endParaRPr lang="en-IN" sz="1700" dirty="0">
              <a:latin typeface="Calibri Light" pitchFamily="34" charset="0"/>
              <a:cs typeface="Calibri Light" pitchFamily="34" charset="0"/>
            </a:endParaRPr>
          </a:p>
          <a:p>
            <a:r>
              <a:rPr lang="en-IN" sz="1700" dirty="0">
                <a:solidFill>
                  <a:schemeClr val="accent4">
                    <a:lumMod val="75000"/>
                  </a:schemeClr>
                </a:solidFill>
                <a:latin typeface="Calibri Light" pitchFamily="34" charset="0"/>
                <a:cs typeface="Calibri Light" pitchFamily="34" charset="0"/>
              </a:rPr>
              <a:t>load_dotenv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()</a:t>
            </a:r>
          </a:p>
          <a:p>
            <a:r>
              <a:rPr lang="en-IN" sz="1700" dirty="0">
                <a:latin typeface="Calibri Light" pitchFamily="34" charset="0"/>
                <a:cs typeface="Calibri Light" pitchFamily="34" charset="0"/>
              </a:rPr>
              <a:t>model=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ChatGoogleGenerativeAI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(model="gemini-2.0-flash", temperature=0)</a:t>
            </a:r>
          </a:p>
          <a:p>
            <a:endParaRPr lang="en-IN" sz="1700" dirty="0">
              <a:latin typeface="Calibri Light" pitchFamily="34" charset="0"/>
              <a:cs typeface="Calibri Light" pitchFamily="34" charset="0"/>
            </a:endParaRPr>
          </a:p>
          <a:p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parser=</a:t>
            </a:r>
            <a:r>
              <a:rPr lang="en-IN" sz="1700" dirty="0" smtClean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StrOutputParser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()</a:t>
            </a:r>
            <a:endParaRPr lang="en-IN" sz="1700" dirty="0">
              <a:latin typeface="Calibri Light" pitchFamily="34" charset="0"/>
              <a:cs typeface="Calibri Light" pitchFamily="34" charset="0"/>
            </a:endParaRPr>
          </a:p>
          <a:p>
            <a:endParaRPr lang="en-IN" sz="1700" dirty="0">
              <a:latin typeface="Calibri Light" pitchFamily="34" charset="0"/>
              <a:cs typeface="Calibri Light" pitchFamily="34" charset="0"/>
            </a:endParaRPr>
          </a:p>
          <a:p>
            <a:r>
              <a:rPr lang="en-IN" sz="1700" dirty="0">
                <a:latin typeface="Calibri Light" pitchFamily="34" charset="0"/>
                <a:cs typeface="Calibri Light" pitchFamily="34" charset="0"/>
              </a:rPr>
              <a:t>temp=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PromptTemplate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(</a:t>
            </a:r>
          </a:p>
          <a:p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    template="</a:t>
            </a:r>
            <a:r>
              <a:rPr lang="en-IN" sz="1700" dirty="0" smtClean="0">
                <a:solidFill>
                  <a:srgbClr val="CC3300"/>
                </a:solidFill>
                <a:latin typeface="Calibri Light" pitchFamily="34" charset="0"/>
                <a:cs typeface="Calibri Light" pitchFamily="34" charset="0"/>
              </a:rPr>
              <a:t>generate a joke about </a:t>
            </a:r>
            <a:r>
              <a:rPr lang="en-IN" sz="1700" dirty="0" smtClean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{topic}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"</a:t>
            </a:r>
            <a:r>
              <a:rPr lang="en-IN" sz="1700" dirty="0" smtClean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,</a:t>
            </a:r>
            <a:endParaRPr lang="en-IN" sz="1700" dirty="0" smtClean="0">
              <a:solidFill>
                <a:srgbClr val="0070C0"/>
              </a:solidFill>
              <a:latin typeface="Calibri Light" pitchFamily="34" charset="0"/>
              <a:cs typeface="Calibri Light" pitchFamily="34" charset="0"/>
            </a:endParaRPr>
          </a:p>
          <a:p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    input_variables=[“</a:t>
            </a:r>
            <a:r>
              <a:rPr lang="en-IN" sz="1700" dirty="0">
                <a:solidFill>
                  <a:srgbClr val="CC3300"/>
                </a:solidFill>
                <a:latin typeface="Calibri Light" pitchFamily="34" charset="0"/>
                <a:cs typeface="Calibri Light" pitchFamily="34" charset="0"/>
              </a:rPr>
              <a:t>topic” 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])</a:t>
            </a:r>
            <a:endParaRPr lang="en-IN" sz="1700" dirty="0">
              <a:latin typeface="Calibri Light" pitchFamily="34" charset="0"/>
              <a:cs typeface="Calibri Light" pitchFamily="34" charset="0"/>
            </a:endParaRPr>
          </a:p>
          <a:p>
            <a:endParaRPr lang="en-IN" sz="1700" dirty="0">
              <a:latin typeface="Calibri Light" pitchFamily="34" charset="0"/>
              <a:cs typeface="Calibri Light" pitchFamily="34" charset="0"/>
            </a:endParaRPr>
          </a:p>
          <a:p>
            <a:r>
              <a:rPr lang="en-IN" sz="1700" dirty="0" smtClean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chain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=</a:t>
            </a:r>
            <a:r>
              <a:rPr lang="en-IN" sz="1700" dirty="0" smtClean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temp 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| </a:t>
            </a:r>
            <a:r>
              <a:rPr lang="en-IN" sz="1700" dirty="0" smtClean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model 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| </a:t>
            </a:r>
            <a:r>
              <a:rPr lang="en-IN" sz="1700" dirty="0" smtClean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parser</a:t>
            </a:r>
            <a:endParaRPr lang="en-IN" sz="1700" dirty="0">
              <a:solidFill>
                <a:srgbClr val="0070C0"/>
              </a:solidFill>
              <a:latin typeface="Calibri Light" pitchFamily="34" charset="0"/>
              <a:cs typeface="Calibri Light" pitchFamily="34" charset="0"/>
            </a:endParaRPr>
          </a:p>
          <a:p>
            <a:r>
              <a:rPr lang="en-IN" sz="1700" dirty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r</a:t>
            </a:r>
            <a:r>
              <a:rPr lang="en-IN" sz="1700" dirty="0" smtClean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es 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= </a:t>
            </a:r>
            <a:r>
              <a:rPr lang="en-IN" sz="1700" dirty="0" smtClean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chain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.</a:t>
            </a:r>
            <a:r>
              <a:rPr lang="en-IN" sz="1700" dirty="0" smtClean="0">
                <a:solidFill>
                  <a:schemeClr val="accent4">
                    <a:lumMod val="50000"/>
                  </a:schemeClr>
                </a:solidFill>
                <a:latin typeface="Calibri Light" pitchFamily="34" charset="0"/>
                <a:cs typeface="Calibri Light" pitchFamily="34" charset="0"/>
              </a:rPr>
              <a:t>invoke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({ </a:t>
            </a:r>
            <a:r>
              <a:rPr lang="en-IN" sz="1700" dirty="0" smtClean="0">
                <a:solidFill>
                  <a:srgbClr val="CC3300"/>
                </a:solidFill>
                <a:latin typeface="Calibri Light" pitchFamily="34" charset="0"/>
                <a:cs typeface="Calibri Light" pitchFamily="34" charset="0"/>
              </a:rPr>
              <a:t>“topic”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: </a:t>
            </a:r>
            <a:r>
              <a:rPr lang="en-IN" sz="1700" dirty="0">
                <a:solidFill>
                  <a:srgbClr val="CC3300"/>
                </a:solidFill>
                <a:latin typeface="Calibri Light" pitchFamily="34" charset="0"/>
                <a:cs typeface="Calibri Light" pitchFamily="34" charset="0"/>
              </a:rPr>
              <a:t>“monkey”})</a:t>
            </a:r>
            <a:endParaRPr lang="en-IN" sz="1700" dirty="0">
              <a:solidFill>
                <a:srgbClr val="CC3300"/>
              </a:solidFill>
              <a:latin typeface="Calibri Light" pitchFamily="34" charset="0"/>
              <a:cs typeface="Calibri Light" pitchFamily="34" charset="0"/>
            </a:endParaRPr>
          </a:p>
          <a:p>
            <a:r>
              <a:rPr lang="en-IN" sz="1700" dirty="0">
                <a:solidFill>
                  <a:schemeClr val="accent4">
                    <a:lumMod val="50000"/>
                  </a:schemeClr>
                </a:solidFill>
                <a:latin typeface="Calibri Light" pitchFamily="34" charset="0"/>
                <a:cs typeface="Calibri Light" pitchFamily="34" charset="0"/>
              </a:rPr>
              <a:t>print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(</a:t>
            </a:r>
            <a:r>
              <a:rPr lang="en-IN" sz="1700" dirty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res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41262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074" y="1085849"/>
            <a:ext cx="3971925" cy="468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835314" y="381271"/>
            <a:ext cx="30373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>
                <a:latin typeface="Arial Black" pitchFamily="34" charset="0"/>
              </a:rPr>
              <a:t>RunnableParallel</a:t>
            </a:r>
          </a:p>
        </p:txBody>
      </p:sp>
    </p:spTree>
    <p:extLst>
      <p:ext uri="{BB962C8B-B14F-4D97-AF65-F5344CB8AC3E}">
        <p14:creationId xmlns:p14="http://schemas.microsoft.com/office/powerpoint/2010/main" val="3247159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9" name="Rectangle 8"/>
          <p:cNvSpPr/>
          <p:nvPr/>
        </p:nvSpPr>
        <p:spPr>
          <a:xfrm>
            <a:off x="1296642" y="175750"/>
            <a:ext cx="10064084" cy="54938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IN" sz="1700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dotenv 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load_dotenv</a:t>
            </a:r>
          </a:p>
          <a:p>
            <a:r>
              <a:rPr lang="en-IN" sz="1700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langchain_google_genai 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ChatGoogleGenerativeAI   </a:t>
            </a:r>
          </a:p>
          <a:p>
            <a:r>
              <a:rPr lang="en-IN" sz="1700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langchain_core.prompts 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PromptTemplate</a:t>
            </a:r>
          </a:p>
          <a:p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langchain_core.runnables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 import </a:t>
            </a:r>
            <a:r>
              <a:rPr lang="en-IN" sz="1700" dirty="0" smtClean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RunnableSequence, RunnableParallel</a:t>
            </a:r>
            <a:endParaRPr lang="en-IN" sz="1700" dirty="0">
              <a:solidFill>
                <a:schemeClr val="accent6"/>
              </a:solidFill>
              <a:latin typeface="Calibri Light" pitchFamily="34" charset="0"/>
              <a:cs typeface="Calibri Light" pitchFamily="34" charset="0"/>
            </a:endParaRPr>
          </a:p>
          <a:p>
            <a:r>
              <a:rPr lang="en-IN" sz="1700" dirty="0">
                <a:latin typeface="Calibri Light" pitchFamily="34" charset="0"/>
                <a:cs typeface="Calibri Light" pitchFamily="34" charset="0"/>
              </a:rPr>
              <a:t>from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 langchain_core.output_parsers 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StrOutputParser</a:t>
            </a:r>
          </a:p>
          <a:p>
            <a:endParaRPr lang="en-IN" sz="1700" dirty="0">
              <a:latin typeface="Calibri Light" pitchFamily="34" charset="0"/>
              <a:cs typeface="Calibri Light" pitchFamily="34" charset="0"/>
            </a:endParaRPr>
          </a:p>
          <a:p>
            <a:r>
              <a:rPr lang="en-IN" sz="1700" dirty="0">
                <a:solidFill>
                  <a:schemeClr val="accent4">
                    <a:lumMod val="75000"/>
                  </a:schemeClr>
                </a:solidFill>
                <a:latin typeface="Calibri Light" pitchFamily="34" charset="0"/>
                <a:cs typeface="Calibri Light" pitchFamily="34" charset="0"/>
              </a:rPr>
              <a:t>load_dotenv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()</a:t>
            </a:r>
          </a:p>
          <a:p>
            <a:r>
              <a:rPr lang="en-IN" sz="1700" dirty="0">
                <a:latin typeface="Calibri Light" pitchFamily="34" charset="0"/>
                <a:cs typeface="Calibri Light" pitchFamily="34" charset="0"/>
              </a:rPr>
              <a:t>model=</a:t>
            </a:r>
            <a:r>
              <a:rPr lang="en-IN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ChatGoogleGenerativeAI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(model="gemini-2.0-flash", temperature=0)</a:t>
            </a:r>
          </a:p>
          <a:p>
            <a:endParaRPr lang="en-IN" sz="1700" dirty="0">
              <a:latin typeface="Calibri Light" pitchFamily="34" charset="0"/>
              <a:cs typeface="Calibri Light" pitchFamily="34" charset="0"/>
            </a:endParaRPr>
          </a:p>
          <a:p>
            <a:r>
              <a:rPr lang="en-IN" sz="1700" dirty="0" smtClean="0">
                <a:solidFill>
                  <a:srgbClr val="00B0F0"/>
                </a:solidFill>
                <a:latin typeface="Calibri Light" pitchFamily="34" charset="0"/>
                <a:cs typeface="Calibri Light" pitchFamily="34" charset="0"/>
              </a:rPr>
              <a:t>parser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=</a:t>
            </a:r>
            <a:r>
              <a:rPr lang="en-IN" sz="1700" dirty="0" smtClean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StrOutputParser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()</a:t>
            </a:r>
            <a:endParaRPr lang="en-IN" sz="1700" dirty="0">
              <a:latin typeface="Calibri Light" pitchFamily="34" charset="0"/>
              <a:cs typeface="Calibri Light" pitchFamily="34" charset="0"/>
            </a:endParaRPr>
          </a:p>
          <a:p>
            <a:endParaRPr lang="en-IN" sz="1700" dirty="0">
              <a:latin typeface="Calibri Light" pitchFamily="34" charset="0"/>
              <a:cs typeface="Calibri Light" pitchFamily="34" charset="0"/>
            </a:endParaRPr>
          </a:p>
          <a:p>
            <a:r>
              <a:rPr lang="en-IN" sz="1700" dirty="0" smtClean="0">
                <a:solidFill>
                  <a:srgbClr val="00B0F0"/>
                </a:solidFill>
                <a:latin typeface="Calibri Light" pitchFamily="34" charset="0"/>
                <a:cs typeface="Calibri Light" pitchFamily="34" charset="0"/>
              </a:rPr>
              <a:t>promp1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=</a:t>
            </a:r>
            <a:r>
              <a:rPr lang="en-IN" sz="1700" dirty="0" smtClean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PromptTemplate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(    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template="</a:t>
            </a:r>
            <a:r>
              <a:rPr lang="en-IN" sz="1700" dirty="0" smtClean="0">
                <a:solidFill>
                  <a:srgbClr val="CC3300"/>
                </a:solidFill>
                <a:latin typeface="Calibri Light" pitchFamily="34" charset="0"/>
                <a:cs typeface="Calibri Light" pitchFamily="34" charset="0"/>
              </a:rPr>
              <a:t>generate a joke about </a:t>
            </a:r>
            <a:r>
              <a:rPr lang="en-IN" sz="1700" dirty="0" smtClean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{topic}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"</a:t>
            </a:r>
            <a:r>
              <a:rPr lang="en-IN" sz="1700" dirty="0" smtClean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,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    input_variables=[“</a:t>
            </a:r>
            <a:r>
              <a:rPr lang="en-IN" sz="1700" dirty="0">
                <a:solidFill>
                  <a:srgbClr val="CC3300"/>
                </a:solidFill>
                <a:latin typeface="Calibri Light" pitchFamily="34" charset="0"/>
                <a:cs typeface="Calibri Light" pitchFamily="34" charset="0"/>
              </a:rPr>
              <a:t>topic” 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])</a:t>
            </a:r>
          </a:p>
          <a:p>
            <a:endParaRPr lang="en-US" sz="1700" dirty="0">
              <a:latin typeface="Calibri Light" pitchFamily="34" charset="0"/>
              <a:cs typeface="Calibri Light" pitchFamily="34" charset="0"/>
            </a:endParaRPr>
          </a:p>
          <a:p>
            <a:r>
              <a:rPr lang="en-IN" sz="1700" dirty="0" smtClean="0">
                <a:solidFill>
                  <a:srgbClr val="00B0F0"/>
                </a:solidFill>
                <a:latin typeface="Calibri Light" pitchFamily="34" charset="0"/>
                <a:cs typeface="Calibri Light" pitchFamily="34" charset="0"/>
              </a:rPr>
              <a:t>prompt2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=</a:t>
            </a:r>
            <a:r>
              <a:rPr lang="en-IN" sz="1700" dirty="0" smtClean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PromptTemplate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(    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template="</a:t>
            </a:r>
            <a:r>
              <a:rPr lang="en-IN" sz="1700" dirty="0">
                <a:solidFill>
                  <a:srgbClr val="CC3300"/>
                </a:solidFill>
                <a:latin typeface="Calibri Light" pitchFamily="34" charset="0"/>
                <a:cs typeface="Calibri Light" pitchFamily="34" charset="0"/>
              </a:rPr>
              <a:t>generate a joke about </a:t>
            </a:r>
            <a:r>
              <a:rPr lang="en-IN" sz="1700" dirty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{topic</a:t>
            </a:r>
            <a:r>
              <a:rPr lang="en-IN" sz="1700" dirty="0" smtClean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}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"</a:t>
            </a:r>
            <a:r>
              <a:rPr lang="en-IN" sz="1700" dirty="0" smtClean="0">
                <a:solidFill>
                  <a:srgbClr val="0070C0"/>
                </a:solidFill>
                <a:latin typeface="Calibri Light" pitchFamily="34" charset="0"/>
                <a:cs typeface="Calibri Light" pitchFamily="34" charset="0"/>
              </a:rPr>
              <a:t>,</a:t>
            </a:r>
            <a:r>
              <a:rPr lang="en-IN" sz="1700" dirty="0" smtClean="0">
                <a:latin typeface="Calibri Light" pitchFamily="34" charset="0"/>
                <a:cs typeface="Calibri Light" pitchFamily="34" charset="0"/>
              </a:rPr>
              <a:t>    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input_variables=[“</a:t>
            </a:r>
            <a:r>
              <a:rPr lang="en-IN" sz="1700" dirty="0">
                <a:solidFill>
                  <a:srgbClr val="CC3300"/>
                </a:solidFill>
                <a:latin typeface="Calibri Light" pitchFamily="34" charset="0"/>
                <a:cs typeface="Calibri Light" pitchFamily="34" charset="0"/>
              </a:rPr>
              <a:t>topic” </a:t>
            </a:r>
            <a:r>
              <a:rPr lang="en-IN" sz="1700" dirty="0">
                <a:latin typeface="Calibri Light" pitchFamily="34" charset="0"/>
                <a:cs typeface="Calibri Light" pitchFamily="34" charset="0"/>
              </a:rPr>
              <a:t>])</a:t>
            </a:r>
          </a:p>
          <a:p>
            <a:endParaRPr lang="en-IN" sz="1700" dirty="0">
              <a:latin typeface="Calibri Light" pitchFamily="34" charset="0"/>
              <a:cs typeface="Calibri Light" pitchFamily="34" charset="0"/>
            </a:endParaRPr>
          </a:p>
          <a:p>
            <a:r>
              <a:rPr lang="en-US" sz="1600" dirty="0">
                <a:solidFill>
                  <a:srgbClr val="00B0F0"/>
                </a:solidFill>
              </a:rPr>
              <a:t>parallel_chain</a:t>
            </a:r>
            <a:r>
              <a:rPr lang="en-US" sz="1600" dirty="0"/>
              <a:t>=</a:t>
            </a:r>
            <a:r>
              <a:rPr lang="en-US" sz="1600" dirty="0">
                <a:solidFill>
                  <a:srgbClr val="00D05E"/>
                </a:solidFill>
              </a:rPr>
              <a:t>RunnableParallel</a:t>
            </a:r>
            <a:r>
              <a:rPr lang="en-US" sz="1600" dirty="0"/>
              <a:t>({</a:t>
            </a:r>
          </a:p>
          <a:p>
            <a:r>
              <a:rPr lang="en-US" sz="1600" dirty="0"/>
              <a:t>    "</a:t>
            </a:r>
            <a:r>
              <a:rPr lang="en-US" sz="1600" dirty="0" smtClean="0">
                <a:solidFill>
                  <a:srgbClr val="CC3300"/>
                </a:solidFill>
              </a:rPr>
              <a:t>tweet</a:t>
            </a:r>
            <a:r>
              <a:rPr lang="en-US" sz="1600" dirty="0" smtClean="0"/>
              <a:t>“ : </a:t>
            </a:r>
            <a:r>
              <a:rPr lang="en-US" sz="1600" dirty="0">
                <a:solidFill>
                  <a:srgbClr val="00D05E"/>
                </a:solidFill>
              </a:rPr>
              <a:t>RunnableSequence</a:t>
            </a:r>
            <a:r>
              <a:rPr lang="en-US" sz="1600" dirty="0"/>
              <a:t>(</a:t>
            </a:r>
            <a:r>
              <a:rPr lang="en-US" sz="1600" dirty="0">
                <a:solidFill>
                  <a:srgbClr val="00B0F0"/>
                </a:solidFill>
              </a:rPr>
              <a:t>prompt1</a:t>
            </a:r>
            <a:r>
              <a:rPr lang="en-US" sz="1600" dirty="0"/>
              <a:t>,</a:t>
            </a:r>
            <a:r>
              <a:rPr lang="en-US" sz="1600" dirty="0">
                <a:solidFill>
                  <a:srgbClr val="00B0F0"/>
                </a:solidFill>
              </a:rPr>
              <a:t>model,parser</a:t>
            </a:r>
            <a:r>
              <a:rPr lang="en-US" sz="1600" dirty="0"/>
              <a:t>),</a:t>
            </a:r>
          </a:p>
          <a:p>
            <a:r>
              <a:rPr lang="en-US" sz="1600" dirty="0"/>
              <a:t>    </a:t>
            </a:r>
            <a:r>
              <a:rPr lang="en-US" sz="1600" dirty="0" smtClean="0"/>
              <a:t>"</a:t>
            </a:r>
            <a:r>
              <a:rPr lang="en-US" sz="1600" dirty="0" smtClean="0">
                <a:solidFill>
                  <a:srgbClr val="CC3300"/>
                </a:solidFill>
              </a:rPr>
              <a:t>LinkedIn</a:t>
            </a:r>
            <a:r>
              <a:rPr lang="en-US" sz="1600" dirty="0" smtClean="0"/>
              <a:t>": </a:t>
            </a:r>
            <a:r>
              <a:rPr lang="en-US" sz="1600" dirty="0" smtClean="0">
                <a:solidFill>
                  <a:srgbClr val="00D05E"/>
                </a:solidFill>
              </a:rPr>
              <a:t>RunnableSequence(</a:t>
            </a:r>
            <a:r>
              <a:rPr lang="en-US" sz="1600" dirty="0" smtClean="0">
                <a:solidFill>
                  <a:srgbClr val="00B0F0"/>
                </a:solidFill>
              </a:rPr>
              <a:t>prompt1</a:t>
            </a:r>
            <a:r>
              <a:rPr lang="en-US" sz="1600" dirty="0" smtClean="0"/>
              <a:t>,</a:t>
            </a:r>
            <a:r>
              <a:rPr lang="en-US" sz="1600" dirty="0" smtClean="0">
                <a:solidFill>
                  <a:srgbClr val="00B0F0"/>
                </a:solidFill>
              </a:rPr>
              <a:t>model</a:t>
            </a:r>
            <a:r>
              <a:rPr lang="en-US" sz="1600" dirty="0" smtClean="0"/>
              <a:t>,</a:t>
            </a:r>
            <a:r>
              <a:rPr lang="en-US" sz="1600" dirty="0" smtClean="0">
                <a:solidFill>
                  <a:srgbClr val="00B0F0"/>
                </a:solidFill>
              </a:rPr>
              <a:t>parser</a:t>
            </a:r>
            <a:r>
              <a:rPr lang="en-US" sz="1600" dirty="0"/>
              <a:t>)</a:t>
            </a:r>
          </a:p>
          <a:p>
            <a:r>
              <a:rPr lang="en-US" sz="1600" dirty="0"/>
              <a:t>})</a:t>
            </a:r>
          </a:p>
          <a:p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print(</a:t>
            </a:r>
            <a:r>
              <a:rPr lang="en-US" sz="1600" dirty="0">
                <a:solidFill>
                  <a:srgbClr val="00B0F0"/>
                </a:solidFill>
              </a:rPr>
              <a:t>parallel_chain</a:t>
            </a:r>
            <a:r>
              <a:rPr lang="en-US" sz="1600" dirty="0"/>
              <a:t>.</a:t>
            </a:r>
            <a:r>
              <a:rPr lang="en-US" sz="1600" dirty="0">
                <a:solidFill>
                  <a:srgbClr val="92D050"/>
                </a:solidFill>
              </a:rPr>
              <a:t>invo</a:t>
            </a:r>
            <a:r>
              <a:rPr lang="en-US" sz="1700" dirty="0">
                <a:solidFill>
                  <a:srgbClr val="92D050"/>
                </a:solidFill>
                <a:latin typeface="Calibri Light" pitchFamily="34" charset="0"/>
                <a:cs typeface="Calibri Light" pitchFamily="34" charset="0"/>
              </a:rPr>
              <a:t>ke</a:t>
            </a:r>
            <a:r>
              <a:rPr lang="en-US" sz="1700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(</a:t>
            </a:r>
            <a:r>
              <a:rPr lang="en-US" sz="1600" dirty="0"/>
              <a:t>{"</a:t>
            </a:r>
            <a:r>
              <a:rPr lang="en-US" sz="1600" dirty="0">
                <a:solidFill>
                  <a:srgbClr val="CC3300"/>
                </a:solidFill>
              </a:rPr>
              <a:t>topic</a:t>
            </a:r>
            <a:r>
              <a:rPr lang="en-US" sz="1600" dirty="0"/>
              <a:t>":"</a:t>
            </a:r>
            <a:r>
              <a:rPr lang="en-US" sz="1600" dirty="0">
                <a:solidFill>
                  <a:srgbClr val="CC3300"/>
                </a:solidFill>
              </a:rPr>
              <a:t>AI</a:t>
            </a:r>
            <a:r>
              <a:rPr lang="en-US" sz="1600" dirty="0" smtClean="0"/>
              <a:t>"}))</a:t>
            </a:r>
            <a:endParaRPr lang="en-IN" sz="1700" dirty="0">
              <a:latin typeface="Calibri Light" pitchFamily="34" charset="0"/>
              <a:cs typeface="Calibri Light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96642" y="5814583"/>
            <a:ext cx="10514615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latin typeface="Calibri Light" pitchFamily="34" charset="0"/>
                <a:cs typeface="Calibri Light" pitchFamily="34" charset="0"/>
              </a:rPr>
              <a:t>{</a:t>
            </a:r>
          </a:p>
          <a:p>
            <a:r>
              <a:rPr lang="en-US" sz="1200" dirty="0">
                <a:latin typeface="Calibri Light" pitchFamily="34" charset="0"/>
                <a:cs typeface="Calibri Light" pitchFamily="34" charset="0"/>
              </a:rPr>
              <a:t>'tweet': 'AI is rapidly evolving, and the possibilities are endless! ', </a:t>
            </a:r>
          </a:p>
          <a:p>
            <a:r>
              <a:rPr lang="en-US" sz="1200" dirty="0">
                <a:latin typeface="Calibri Light" pitchFamily="34" charset="0"/>
                <a:cs typeface="Calibri Light" pitchFamily="34" charset="0"/>
              </a:rPr>
              <a:t>'linkkedin': 'AI is rapidly evolving, and the possibilities are endless!'</a:t>
            </a:r>
          </a:p>
          <a:p>
            <a:r>
              <a:rPr lang="en-US" sz="1200" dirty="0">
                <a:latin typeface="Calibri Light" pitchFamily="34" charset="0"/>
                <a:cs typeface="Calibri Light" pitchFamily="34" charset="0"/>
              </a:rPr>
              <a:t>}</a:t>
            </a:r>
            <a:endParaRPr lang="en-IN" sz="1200" dirty="0">
              <a:latin typeface="Calibri Light" pitchFamily="34" charset="0"/>
              <a:cs typeface="Calibri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145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8588" y="2257425"/>
            <a:ext cx="4314825" cy="234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962263" y="399616"/>
            <a:ext cx="29043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/>
              <a:t>RunnablePassthrough</a:t>
            </a:r>
          </a:p>
        </p:txBody>
      </p:sp>
    </p:spTree>
    <p:extLst>
      <p:ext uri="{BB962C8B-B14F-4D97-AF65-F5344CB8AC3E}">
        <p14:creationId xmlns:p14="http://schemas.microsoft.com/office/powerpoint/2010/main" val="1280191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2" name="Rectangle 1"/>
          <p:cNvSpPr/>
          <p:nvPr/>
        </p:nvSpPr>
        <p:spPr>
          <a:xfrm>
            <a:off x="1634835" y="988517"/>
            <a:ext cx="8548255" cy="3693319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IN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dotenv 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load_dotenv</a:t>
            </a:r>
          </a:p>
          <a:p>
            <a:r>
              <a:rPr lang="en-IN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langchain_google_genai 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ChatGoogleGenerativeAI   </a:t>
            </a:r>
          </a:p>
          <a:p>
            <a:r>
              <a:rPr lang="en-IN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langchain_core.prompts 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PromptTemplate</a:t>
            </a:r>
          </a:p>
          <a:p>
            <a:r>
              <a:rPr lang="en-IN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langchain_core.runnables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 import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RunnableSequence, RunnableParallel</a:t>
            </a:r>
          </a:p>
          <a:p>
            <a:r>
              <a:rPr lang="en-IN" dirty="0">
                <a:latin typeface="Calibri Light" pitchFamily="34" charset="0"/>
                <a:cs typeface="Calibri Light" pitchFamily="34" charset="0"/>
              </a:rPr>
              <a:t>from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 langchain_core.output_parsers 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StrOutputParser</a:t>
            </a:r>
          </a:p>
          <a:p>
            <a:endParaRPr lang="en-IN" dirty="0">
              <a:latin typeface="Calibri Light" pitchFamily="34" charset="0"/>
              <a:cs typeface="Calibri Light" pitchFamily="34" charset="0"/>
            </a:endParaRPr>
          </a:p>
          <a:p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Calibri Light" pitchFamily="34" charset="0"/>
                <a:cs typeface="Calibri Light" pitchFamily="34" charset="0"/>
              </a:rPr>
              <a:t>load_dotenv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()</a:t>
            </a:r>
          </a:p>
          <a:p>
            <a:r>
              <a:rPr lang="en-IN" dirty="0">
                <a:latin typeface="Calibri Light" pitchFamily="34" charset="0"/>
                <a:cs typeface="Calibri Light" pitchFamily="34" charset="0"/>
              </a:rPr>
              <a:t>model=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ChatGoogleGenerativeAI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(model="gemini-2.0-flash", temperature=0)</a:t>
            </a:r>
          </a:p>
          <a:p>
            <a:endParaRPr lang="en-IN" dirty="0" smtClean="0"/>
          </a:p>
          <a:p>
            <a:endParaRPr lang="en-IN" dirty="0" smtClean="0"/>
          </a:p>
          <a:p>
            <a:r>
              <a:rPr lang="en-IN" dirty="0" smtClean="0">
                <a:solidFill>
                  <a:srgbClr val="00B0F0"/>
                </a:solidFill>
              </a:rPr>
              <a:t>chain</a:t>
            </a:r>
            <a:r>
              <a:rPr lang="en-IN" dirty="0" smtClean="0"/>
              <a:t>=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RunnablePassthrough</a:t>
            </a:r>
            <a:r>
              <a:rPr lang="en-IN" dirty="0"/>
              <a:t>()</a:t>
            </a:r>
          </a:p>
          <a:p>
            <a:r>
              <a:rPr lang="en-IN" dirty="0">
                <a:solidFill>
                  <a:srgbClr val="00B0F0"/>
                </a:solidFill>
              </a:rPr>
              <a:t>res</a:t>
            </a:r>
            <a:r>
              <a:rPr lang="en-IN" dirty="0"/>
              <a:t>=</a:t>
            </a:r>
            <a:r>
              <a:rPr lang="en-IN" dirty="0">
                <a:solidFill>
                  <a:srgbClr val="00B0F0"/>
                </a:solidFill>
              </a:rPr>
              <a:t>chain.</a:t>
            </a:r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Calibri Light" pitchFamily="34" charset="0"/>
                <a:cs typeface="Calibri Light" pitchFamily="34" charset="0"/>
              </a:rPr>
              <a:t>invoke(</a:t>
            </a:r>
            <a:r>
              <a:rPr lang="en-IN" dirty="0"/>
              <a:t>777)</a:t>
            </a:r>
          </a:p>
          <a:p>
            <a:r>
              <a:rPr lang="en-IN" dirty="0"/>
              <a:t>print(</a:t>
            </a:r>
            <a:r>
              <a:rPr lang="en-IN" dirty="0">
                <a:solidFill>
                  <a:srgbClr val="00B0F0"/>
                </a:solidFill>
              </a:rPr>
              <a:t>res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6633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277" y="750603"/>
            <a:ext cx="9174154" cy="3641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62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2" name="Rectangle 1"/>
          <p:cNvSpPr/>
          <p:nvPr/>
        </p:nvSpPr>
        <p:spPr>
          <a:xfrm>
            <a:off x="1634835" y="988517"/>
            <a:ext cx="8548255" cy="4247317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IN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dotenv 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load_dotenv</a:t>
            </a:r>
          </a:p>
          <a:p>
            <a:r>
              <a:rPr lang="en-IN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langchain_google_genai 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ChatGoogleGenerativeAI   </a:t>
            </a:r>
          </a:p>
          <a:p>
            <a:r>
              <a:rPr lang="en-IN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langchain_core.prompts 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PromptTemplate</a:t>
            </a:r>
          </a:p>
          <a:p>
            <a:r>
              <a:rPr lang="en-IN" dirty="0">
                <a:latin typeface="Calibri Light" pitchFamily="34" charset="0"/>
                <a:cs typeface="Calibri Light" pitchFamily="34" charset="0"/>
              </a:rPr>
              <a:t>from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langchain_core.runnables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 import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RunnableLambda</a:t>
            </a:r>
          </a:p>
          <a:p>
            <a:r>
              <a:rPr lang="en-IN" dirty="0" smtClean="0">
                <a:latin typeface="Calibri Light" pitchFamily="34" charset="0"/>
                <a:cs typeface="Calibri Light" pitchFamily="34" charset="0"/>
              </a:rPr>
              <a:t>from</a:t>
            </a:r>
            <a:r>
              <a:rPr lang="en-IN" dirty="0" smtClean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langchain_core.output_parsers 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import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StrOutputParser</a:t>
            </a:r>
          </a:p>
          <a:p>
            <a:endParaRPr lang="en-IN" dirty="0">
              <a:latin typeface="Calibri Light" pitchFamily="34" charset="0"/>
              <a:cs typeface="Calibri Light" pitchFamily="34" charset="0"/>
            </a:endParaRPr>
          </a:p>
          <a:p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Calibri Light" pitchFamily="34" charset="0"/>
                <a:cs typeface="Calibri Light" pitchFamily="34" charset="0"/>
              </a:rPr>
              <a:t>load_dotenv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()</a:t>
            </a:r>
          </a:p>
          <a:p>
            <a:r>
              <a:rPr lang="en-IN" dirty="0">
                <a:latin typeface="Calibri Light" pitchFamily="34" charset="0"/>
                <a:cs typeface="Calibri Light" pitchFamily="34" charset="0"/>
              </a:rPr>
              <a:t>model=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ChatGoogleGenerativeAI</a:t>
            </a:r>
            <a:r>
              <a:rPr lang="en-IN" dirty="0">
                <a:latin typeface="Calibri Light" pitchFamily="34" charset="0"/>
                <a:cs typeface="Calibri Light" pitchFamily="34" charset="0"/>
              </a:rPr>
              <a:t>(model="gemini-2.0-flash", temperature=0)</a:t>
            </a:r>
          </a:p>
          <a:p>
            <a:endParaRPr lang="en-IN" dirty="0" smtClean="0"/>
          </a:p>
          <a:p>
            <a:r>
              <a:rPr lang="en-IN" dirty="0"/>
              <a:t>def 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toUpperCase</a:t>
            </a:r>
            <a:r>
              <a:rPr lang="en-IN" dirty="0"/>
              <a:t>(x:str):</a:t>
            </a:r>
          </a:p>
          <a:p>
            <a:r>
              <a:rPr lang="en-IN" dirty="0"/>
              <a:t>    return x.</a:t>
            </a:r>
            <a:r>
              <a:rPr lang="en-IN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upper</a:t>
            </a:r>
            <a:r>
              <a:rPr lang="en-IN" dirty="0"/>
              <a:t>()</a:t>
            </a:r>
          </a:p>
          <a:p>
            <a:endParaRPr lang="en-IN" dirty="0" smtClean="0"/>
          </a:p>
          <a:p>
            <a:r>
              <a:rPr lang="en-US" dirty="0">
                <a:solidFill>
                  <a:srgbClr val="00B0F0"/>
                </a:solidFill>
              </a:rPr>
              <a:t>chain</a:t>
            </a:r>
            <a:r>
              <a:rPr lang="en-US" dirty="0"/>
              <a:t>=</a:t>
            </a:r>
            <a:r>
              <a:rPr lang="en-US" dirty="0">
                <a:solidFill>
                  <a:srgbClr val="0070C0"/>
                </a:solidFill>
              </a:rPr>
              <a:t>RunnableLambda</a:t>
            </a:r>
            <a:r>
              <a:rPr lang="en-US" dirty="0"/>
              <a:t>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toUpperCase</a:t>
            </a:r>
            <a:r>
              <a:rPr lang="en-US" dirty="0"/>
              <a:t>)</a:t>
            </a:r>
          </a:p>
          <a:p>
            <a:r>
              <a:rPr lang="en-US" dirty="0">
                <a:solidFill>
                  <a:srgbClr val="00B0F0"/>
                </a:solidFill>
              </a:rPr>
              <a:t>res</a:t>
            </a:r>
            <a:r>
              <a:rPr lang="en-US" dirty="0"/>
              <a:t>=</a:t>
            </a:r>
            <a:r>
              <a:rPr lang="en-US" dirty="0">
                <a:solidFill>
                  <a:srgbClr val="00B0F0"/>
                </a:solidFill>
              </a:rPr>
              <a:t>chain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  <a:latin typeface="Calibri Light" pitchFamily="34" charset="0"/>
                <a:cs typeface="Calibri Light" pitchFamily="34" charset="0"/>
              </a:rPr>
              <a:t>invoke(</a:t>
            </a:r>
            <a:r>
              <a:rPr lang="en-US" dirty="0">
                <a:solidFill>
                  <a:srgbClr val="CC3300"/>
                </a:solidFill>
                <a:latin typeface="Calibri Light" pitchFamily="34" charset="0"/>
                <a:cs typeface="Calibri Light" pitchFamily="34" charset="0"/>
              </a:rPr>
              <a:t>"</a:t>
            </a:r>
            <a:r>
              <a:rPr lang="en-US" dirty="0">
                <a:solidFill>
                  <a:srgbClr val="CC3300"/>
                </a:solidFill>
              </a:rPr>
              <a:t>hello world")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print(</a:t>
            </a:r>
            <a:r>
              <a:rPr lang="en-US" dirty="0">
                <a:solidFill>
                  <a:srgbClr val="00B0F0"/>
                </a:solidFill>
              </a:rPr>
              <a:t>res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51357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3628934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5865" y="1247774"/>
            <a:ext cx="6512935" cy="3725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9926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3945189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EA71D7A-4199-9593-FD85-54477FAC3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51A5A6E-8DE1-A78F-3109-B3761C234677}"/>
              </a:ext>
            </a:extLst>
          </p:cNvPr>
          <p:cNvSpPr/>
          <p:nvPr/>
        </p:nvSpPr>
        <p:spPr>
          <a:xfrm>
            <a:off x="0" y="1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0DA8959A-E255-AE1F-0F9F-C2E9C266E36C}"/>
              </a:ext>
            </a:extLst>
          </p:cNvPr>
          <p:cNvSpPr/>
          <p:nvPr/>
        </p:nvSpPr>
        <p:spPr>
          <a:xfrm>
            <a:off x="565288" y="0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73BC4F8-EC58-D42C-1EF3-1F4EF61CAC3A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6122EB64-047D-D5A5-455B-C998BAAF3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pic>
        <p:nvPicPr>
          <p:cNvPr id="5" name="Picture 4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79550B0D-F382-8A19-8040-0525CFEE4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8135" y="-83878"/>
            <a:ext cx="1219200" cy="1209675"/>
          </a:xfrm>
          <a:prstGeom prst="rect">
            <a:avLst/>
          </a:prstGeom>
        </p:spPr>
      </p:pic>
      <p:pic>
        <p:nvPicPr>
          <p:cNvPr id="9" name="Picture 8" descr="A group of people sitting at desks in a classroom with computers&#10;&#10;Description automatically generated">
            <a:extLst>
              <a:ext uri="{FF2B5EF4-FFF2-40B4-BE49-F238E27FC236}">
                <a16:creationId xmlns:a16="http://schemas.microsoft.com/office/drawing/2014/main" xmlns="" id="{E8BDAAE7-2946-663A-E1B7-103303202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6266"/>
            <a:ext cx="4113245" cy="4105469"/>
          </a:xfrm>
          <a:prstGeom prst="rect">
            <a:avLst/>
          </a:prstGeom>
        </p:spPr>
      </p:pic>
      <p:sp>
        <p:nvSpPr>
          <p:cNvPr id="12" name="Google Shape;232;g2b25827427c_0_1215">
            <a:extLst>
              <a:ext uri="{FF2B5EF4-FFF2-40B4-BE49-F238E27FC236}">
                <a16:creationId xmlns:a16="http://schemas.microsoft.com/office/drawing/2014/main" xmlns="" id="{76539FC0-FE01-2A0D-C752-8C9F4AF1D331}"/>
              </a:ext>
            </a:extLst>
          </p:cNvPr>
          <p:cNvSpPr txBox="1">
            <a:spLocks noGrp="1"/>
          </p:cNvSpPr>
          <p:nvPr/>
        </p:nvSpPr>
        <p:spPr>
          <a:xfrm>
            <a:off x="1550879" y="2158440"/>
            <a:ext cx="4966047" cy="1616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400" b="1" dirty="0">
                <a:solidFill>
                  <a:schemeClr val="tx1"/>
                </a:solidFill>
              </a:rPr>
              <a:t>Q &amp; A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727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20383</TotalTime>
  <Words>483</Words>
  <Application>Microsoft Office PowerPoint</Application>
  <PresentationFormat>Custom</PresentationFormat>
  <Paragraphs>158</Paragraphs>
  <Slides>19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944</cp:revision>
  <dcterms:created xsi:type="dcterms:W3CDTF">2024-01-26T15:11:46Z</dcterms:created>
  <dcterms:modified xsi:type="dcterms:W3CDTF">2025-05-21T06:44:08Z</dcterms:modified>
</cp:coreProperties>
</file>