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462" r:id="rId2"/>
    <p:sldId id="422" r:id="rId3"/>
    <p:sldId id="439" r:id="rId4"/>
    <p:sldId id="461" r:id="rId5"/>
    <p:sldId id="460" r:id="rId6"/>
    <p:sldId id="463" r:id="rId7"/>
    <p:sldId id="464" r:id="rId8"/>
    <p:sldId id="468" r:id="rId9"/>
    <p:sldId id="466" r:id="rId10"/>
    <p:sldId id="472" r:id="rId11"/>
    <p:sldId id="477" r:id="rId12"/>
    <p:sldId id="475" r:id="rId13"/>
    <p:sldId id="479" r:id="rId14"/>
    <p:sldId id="473" r:id="rId15"/>
    <p:sldId id="480" r:id="rId16"/>
    <p:sldId id="481" r:id="rId17"/>
    <p:sldId id="482" r:id="rId18"/>
    <p:sldId id="483" r:id="rId19"/>
    <p:sldId id="484" r:id="rId20"/>
    <p:sldId id="485" r:id="rId21"/>
    <p:sldId id="489" r:id="rId22"/>
    <p:sldId id="488" r:id="rId23"/>
    <p:sldId id="486" r:id="rId24"/>
    <p:sldId id="492" r:id="rId25"/>
    <p:sldId id="487" r:id="rId26"/>
    <p:sldId id="474" r:id="rId27"/>
    <p:sldId id="465" r:id="rId28"/>
    <p:sldId id="467" r:id="rId29"/>
    <p:sldId id="476" r:id="rId30"/>
    <p:sldId id="495" r:id="rId31"/>
    <p:sldId id="470" r:id="rId32"/>
    <p:sldId id="441" r:id="rId33"/>
    <p:sldId id="443" r:id="rId34"/>
    <p:sldId id="444" r:id="rId35"/>
    <p:sldId id="445" r:id="rId36"/>
    <p:sldId id="442" r:id="rId37"/>
    <p:sldId id="446" r:id="rId38"/>
    <p:sldId id="448" r:id="rId39"/>
    <p:sldId id="449" r:id="rId40"/>
    <p:sldId id="450" r:id="rId41"/>
    <p:sldId id="451" r:id="rId42"/>
    <p:sldId id="452" r:id="rId43"/>
    <p:sldId id="45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F7019FAC-E7A5-43E9-B9F1-CAF1DA55EE0C}">
          <p14:sldIdLst>
            <p14:sldId id="462"/>
          </p14:sldIdLst>
        </p14:section>
        <p14:section name="Embeddings Basics" id="{FEB3B35D-C60A-4223-8E10-10DFC2E07C67}">
          <p14:sldIdLst>
            <p14:sldId id="422"/>
            <p14:sldId id="439"/>
            <p14:sldId id="461"/>
            <p14:sldId id="460"/>
            <p14:sldId id="463"/>
            <p14:sldId id="464"/>
          </p14:sldIdLst>
        </p14:section>
        <p14:section name="Vector | Data Point" id="{723D4B90-3281-4920-8DC9-4A5DEC2177CD}">
          <p14:sldIdLst>
            <p14:sldId id="468"/>
            <p14:sldId id="466"/>
            <p14:sldId id="472"/>
            <p14:sldId id="477"/>
            <p14:sldId id="475"/>
            <p14:sldId id="479"/>
            <p14:sldId id="473"/>
            <p14:sldId id="480"/>
            <p14:sldId id="481"/>
            <p14:sldId id="482"/>
            <p14:sldId id="483"/>
            <p14:sldId id="484"/>
            <p14:sldId id="485"/>
          </p14:sldIdLst>
        </p14:section>
        <p14:section name="Embedding Models" id="{CE5A3F87-E32B-41F8-B7E9-C81366112972}">
          <p14:sldIdLst>
            <p14:sldId id="489"/>
            <p14:sldId id="488"/>
            <p14:sldId id="486"/>
            <p14:sldId id="492"/>
            <p14:sldId id="487"/>
          </p14:sldIdLst>
        </p14:section>
        <p14:section name="Vector DB - Pinecone" id="{70589473-1CB4-4C7E-9694-32824A60FABF}">
          <p14:sldIdLst>
            <p14:sldId id="474"/>
            <p14:sldId id="465"/>
            <p14:sldId id="467"/>
            <p14:sldId id="476"/>
            <p14:sldId id="495"/>
          </p14:sldIdLst>
        </p14:section>
        <p14:section name="Vectors vs Traditional DB" id="{614D0769-203A-4B76-9F00-6EE037813DB1}">
          <p14:sldIdLst>
            <p14:sldId id="470"/>
          </p14:sldIdLst>
        </p14:section>
        <p14:section name="Chroma DB" id="{B3618B6C-1999-4AEA-AAF8-94B73DD917B9}">
          <p14:sldIdLst>
            <p14:sldId id="441"/>
            <p14:sldId id="443"/>
          </p14:sldIdLst>
        </p14:section>
        <p14:section name="Retriever" id="{E7733290-A82E-48FD-B00F-1DC03D7F580D}">
          <p14:sldIdLst>
            <p14:sldId id="444"/>
            <p14:sldId id="445"/>
            <p14:sldId id="442"/>
            <p14:sldId id="446"/>
          </p14:sldIdLst>
        </p14:section>
        <p14:section name="Vector Store Retriever" id="{DFEA993C-63D0-446E-B795-0209269C80F6}">
          <p14:sldIdLst>
            <p14:sldId id="448"/>
            <p14:sldId id="449"/>
          </p14:sldIdLst>
        </p14:section>
        <p14:section name="MMR(Maximum Marginal Relevance)" id="{8C639AA2-2BAB-480D-A596-D655EE04F7B8}">
          <p14:sldIdLst>
            <p14:sldId id="450"/>
            <p14:sldId id="451"/>
            <p14:sldId id="452"/>
            <p14:sldId id="453"/>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CC3300"/>
    <a:srgbClr val="009900"/>
    <a:srgbClr val="006600"/>
    <a:srgbClr val="33CC33"/>
    <a:srgbClr val="FF0066"/>
    <a:srgbClr val="00D05E"/>
    <a:srgbClr val="D7C055"/>
    <a:srgbClr val="00CC99"/>
    <a:srgbClr val="6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33" autoAdjust="0"/>
    <p:restoredTop sz="86073" autoAdjust="0"/>
  </p:normalViewPr>
  <p:slideViewPr>
    <p:cSldViewPr snapToGrid="0">
      <p:cViewPr>
        <p:scale>
          <a:sx n="69" d="100"/>
          <a:sy n="69" d="100"/>
        </p:scale>
        <p:origin x="-696" y="-20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24-02-2026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2</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33</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34</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35</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36</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37</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38</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39</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40</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43</a:t>
            </a:fld>
            <a:endParaRPr lang="en-IN" dirty="0"/>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AB8C62A8-5E14-FA7C-D2D9-A91C5617AEE2}"/>
              </a:ext>
            </a:extLst>
          </p:cNvPr>
          <p:cNvSpPr>
            <a:spLocks noGrp="1"/>
          </p:cNvSpPr>
          <p:nvPr>
            <p:ph type="dt" sz="half" idx="10"/>
          </p:nvPr>
        </p:nvSpPr>
        <p:spPr/>
        <p:txBody>
          <a:bodyPr/>
          <a:lstStyle/>
          <a:p>
            <a:fld id="{617C7221-54BD-4A63-8AE7-749436A8A0E0}" type="datetime1">
              <a:rPr lang="en-US" smtClean="0"/>
              <a:t>2/24/2026</a:t>
            </a:fld>
            <a:endParaRPr lang="en-US" dirty="0"/>
          </a:p>
        </p:txBody>
      </p:sp>
      <p:sp>
        <p:nvSpPr>
          <p:cNvPr id="5" name="Footer Placeholder 4">
            <a:extLst>
              <a:ext uri="{FF2B5EF4-FFF2-40B4-BE49-F238E27FC236}">
                <a16:creationId xmlns="" xmlns:a16="http://schemas.microsoft.com/office/drawing/2014/main"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34537FB2-C318-A7C1-BABA-0AC6FA5B35AC}"/>
              </a:ext>
            </a:extLst>
          </p:cNvPr>
          <p:cNvSpPr>
            <a:spLocks noGrp="1"/>
          </p:cNvSpPr>
          <p:nvPr>
            <p:ph type="dt" sz="half" idx="10"/>
          </p:nvPr>
        </p:nvSpPr>
        <p:spPr/>
        <p:txBody>
          <a:bodyPr/>
          <a:lstStyle/>
          <a:p>
            <a:fld id="{15296570-B1EA-4487-BE32-F708B8E167B2}" type="datetime1">
              <a:rPr lang="en-US" smtClean="0"/>
              <a:t>2/24/2026</a:t>
            </a:fld>
            <a:endParaRPr lang="en-US" dirty="0"/>
          </a:p>
        </p:txBody>
      </p:sp>
      <p:sp>
        <p:nvSpPr>
          <p:cNvPr id="5" name="Footer Placeholder 4">
            <a:extLst>
              <a:ext uri="{FF2B5EF4-FFF2-40B4-BE49-F238E27FC236}">
                <a16:creationId xmlns="" xmlns:a16="http://schemas.microsoft.com/office/drawing/2014/main"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88B15D29-75FB-CFE9-A973-A208274B95BA}"/>
              </a:ext>
            </a:extLst>
          </p:cNvPr>
          <p:cNvSpPr>
            <a:spLocks noGrp="1"/>
          </p:cNvSpPr>
          <p:nvPr>
            <p:ph type="dt" sz="half" idx="10"/>
          </p:nvPr>
        </p:nvSpPr>
        <p:spPr/>
        <p:txBody>
          <a:bodyPr/>
          <a:lstStyle/>
          <a:p>
            <a:fld id="{4F9442CB-DE38-41A3-9AEC-FC7F477AE398}" type="datetime1">
              <a:rPr lang="en-US" smtClean="0"/>
              <a:t>2/24/2026</a:t>
            </a:fld>
            <a:endParaRPr lang="en-US" dirty="0"/>
          </a:p>
        </p:txBody>
      </p:sp>
      <p:sp>
        <p:nvSpPr>
          <p:cNvPr id="5" name="Footer Placeholder 4">
            <a:extLst>
              <a:ext uri="{FF2B5EF4-FFF2-40B4-BE49-F238E27FC236}">
                <a16:creationId xmlns="" xmlns:a16="http://schemas.microsoft.com/office/drawing/2014/main"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D29CEC8B-FF84-E5F1-CD4B-B7DEE25F0DBA}"/>
              </a:ext>
            </a:extLst>
          </p:cNvPr>
          <p:cNvSpPr>
            <a:spLocks noGrp="1"/>
          </p:cNvSpPr>
          <p:nvPr>
            <p:ph type="dt" sz="half" idx="10"/>
          </p:nvPr>
        </p:nvSpPr>
        <p:spPr/>
        <p:txBody>
          <a:bodyPr/>
          <a:lstStyle/>
          <a:p>
            <a:fld id="{4259B145-4D2C-4B0D-B0F3-3793104D85F9}" type="datetime1">
              <a:rPr lang="en-US" smtClean="0"/>
              <a:t>2/24/2026</a:t>
            </a:fld>
            <a:endParaRPr lang="en-US" dirty="0"/>
          </a:p>
        </p:txBody>
      </p:sp>
      <p:sp>
        <p:nvSpPr>
          <p:cNvPr id="6" name="Footer Placeholder 5">
            <a:extLst>
              <a:ext uri="{FF2B5EF4-FFF2-40B4-BE49-F238E27FC236}">
                <a16:creationId xmlns="" xmlns:a16="http://schemas.microsoft.com/office/drawing/2014/main"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12806B38-A61F-CFF2-455E-2A0DB1CBD281}"/>
              </a:ext>
            </a:extLst>
          </p:cNvPr>
          <p:cNvSpPr>
            <a:spLocks noGrp="1"/>
          </p:cNvSpPr>
          <p:nvPr>
            <p:ph type="dt" sz="half" idx="10"/>
          </p:nvPr>
        </p:nvSpPr>
        <p:spPr/>
        <p:txBody>
          <a:bodyPr/>
          <a:lstStyle/>
          <a:p>
            <a:fld id="{041CBCE3-C8C5-4329-ADE4-5F8D67D78882}" type="datetime1">
              <a:rPr lang="en-US" smtClean="0"/>
              <a:t>2/24/2026</a:t>
            </a:fld>
            <a:endParaRPr lang="en-US" dirty="0"/>
          </a:p>
        </p:txBody>
      </p:sp>
      <p:sp>
        <p:nvSpPr>
          <p:cNvPr id="8" name="Footer Placeholder 7">
            <a:extLst>
              <a:ext uri="{FF2B5EF4-FFF2-40B4-BE49-F238E27FC236}">
                <a16:creationId xmlns="" xmlns:a16="http://schemas.microsoft.com/office/drawing/2014/main"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 xmlns:a16="http://schemas.microsoft.com/office/drawing/2014/main"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1B459199-60FE-8A27-4D17-58FA57F038D5}"/>
              </a:ext>
            </a:extLst>
          </p:cNvPr>
          <p:cNvSpPr>
            <a:spLocks noGrp="1"/>
          </p:cNvSpPr>
          <p:nvPr>
            <p:ph type="dt" sz="half" idx="10"/>
          </p:nvPr>
        </p:nvSpPr>
        <p:spPr/>
        <p:txBody>
          <a:bodyPr/>
          <a:lstStyle/>
          <a:p>
            <a:fld id="{EA95BDD6-391D-4D68-9A24-8E7CE46A4DC4}" type="datetime1">
              <a:rPr lang="en-US" smtClean="0"/>
              <a:t>2/24/2026</a:t>
            </a:fld>
            <a:endParaRPr lang="en-US" dirty="0"/>
          </a:p>
        </p:txBody>
      </p:sp>
      <p:sp>
        <p:nvSpPr>
          <p:cNvPr id="4" name="Footer Placeholder 3">
            <a:extLst>
              <a:ext uri="{FF2B5EF4-FFF2-40B4-BE49-F238E27FC236}">
                <a16:creationId xmlns="" xmlns:a16="http://schemas.microsoft.com/office/drawing/2014/main"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 xmlns:a16="http://schemas.microsoft.com/office/drawing/2014/main"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71F3F0-F2B3-F675-7BAB-1AD2134ACD0F}"/>
              </a:ext>
            </a:extLst>
          </p:cNvPr>
          <p:cNvSpPr>
            <a:spLocks noGrp="1"/>
          </p:cNvSpPr>
          <p:nvPr>
            <p:ph type="dt" sz="half" idx="10"/>
          </p:nvPr>
        </p:nvSpPr>
        <p:spPr/>
        <p:txBody>
          <a:bodyPr/>
          <a:lstStyle/>
          <a:p>
            <a:fld id="{1B3E1E7A-3F60-43E8-97A9-E03FDFF3291A}" type="datetime1">
              <a:rPr lang="en-US" smtClean="0"/>
              <a:t>2/24/2026</a:t>
            </a:fld>
            <a:endParaRPr lang="en-US" dirty="0"/>
          </a:p>
        </p:txBody>
      </p:sp>
      <p:sp>
        <p:nvSpPr>
          <p:cNvPr id="3" name="Footer Placeholder 2">
            <a:extLst>
              <a:ext uri="{FF2B5EF4-FFF2-40B4-BE49-F238E27FC236}">
                <a16:creationId xmlns="" xmlns:a16="http://schemas.microsoft.com/office/drawing/2014/main"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 xmlns:a16="http://schemas.microsoft.com/office/drawing/2014/main"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215BCDEF-8A4D-1FA5-888F-D5A3A2CEE9D4}"/>
              </a:ext>
            </a:extLst>
          </p:cNvPr>
          <p:cNvSpPr>
            <a:spLocks noGrp="1"/>
          </p:cNvSpPr>
          <p:nvPr>
            <p:ph type="dt" sz="half" idx="10"/>
          </p:nvPr>
        </p:nvSpPr>
        <p:spPr/>
        <p:txBody>
          <a:bodyPr/>
          <a:lstStyle/>
          <a:p>
            <a:fld id="{041F2EE0-C06F-41F5-AFE0-7056E3A01EDC}" type="datetime1">
              <a:rPr lang="en-US" smtClean="0"/>
              <a:t>2/24/2026</a:t>
            </a:fld>
            <a:endParaRPr lang="en-US" dirty="0"/>
          </a:p>
        </p:txBody>
      </p:sp>
      <p:sp>
        <p:nvSpPr>
          <p:cNvPr id="6" name="Footer Placeholder 5">
            <a:extLst>
              <a:ext uri="{FF2B5EF4-FFF2-40B4-BE49-F238E27FC236}">
                <a16:creationId xmlns="" xmlns:a16="http://schemas.microsoft.com/office/drawing/2014/main"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 xmlns:a16="http://schemas.microsoft.com/office/drawing/2014/main"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996AEC32-A02D-AF36-A64E-290A392B42FC}"/>
              </a:ext>
            </a:extLst>
          </p:cNvPr>
          <p:cNvSpPr>
            <a:spLocks noGrp="1"/>
          </p:cNvSpPr>
          <p:nvPr>
            <p:ph type="dt" sz="half" idx="10"/>
          </p:nvPr>
        </p:nvSpPr>
        <p:spPr/>
        <p:txBody>
          <a:bodyPr/>
          <a:lstStyle/>
          <a:p>
            <a:fld id="{93A105E1-88D0-4311-A599-0C8A6973053A}" type="datetime1">
              <a:rPr lang="en-US" smtClean="0"/>
              <a:t>2/24/2026</a:t>
            </a:fld>
            <a:endParaRPr lang="en-US" dirty="0"/>
          </a:p>
        </p:txBody>
      </p:sp>
      <p:sp>
        <p:nvSpPr>
          <p:cNvPr id="6" name="Footer Placeholder 5">
            <a:extLst>
              <a:ext uri="{FF2B5EF4-FFF2-40B4-BE49-F238E27FC236}">
                <a16:creationId xmlns="" xmlns:a16="http://schemas.microsoft.com/office/drawing/2014/main"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 xmlns:a16="http://schemas.microsoft.com/office/drawing/2014/main"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1DDBB31-5065-A920-BCE3-A6379F318E85}"/>
              </a:ext>
            </a:extLst>
          </p:cNvPr>
          <p:cNvSpPr>
            <a:spLocks noGrp="1"/>
          </p:cNvSpPr>
          <p:nvPr>
            <p:ph type="dt" sz="half" idx="10"/>
          </p:nvPr>
        </p:nvSpPr>
        <p:spPr/>
        <p:txBody>
          <a:bodyPr/>
          <a:lstStyle/>
          <a:p>
            <a:fld id="{159EA562-091E-45D6-BEDF-3C68FB2023F1}" type="datetime1">
              <a:rPr lang="en-US" smtClean="0"/>
              <a:t>2/24/2026</a:t>
            </a:fld>
            <a:endParaRPr lang="en-US" dirty="0"/>
          </a:p>
        </p:txBody>
      </p:sp>
      <p:sp>
        <p:nvSpPr>
          <p:cNvPr id="5" name="Footer Placeholder 4">
            <a:extLst>
              <a:ext uri="{FF2B5EF4-FFF2-40B4-BE49-F238E27FC236}">
                <a16:creationId xmlns="" xmlns:a16="http://schemas.microsoft.com/office/drawing/2014/main"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DA404C4-6EA5-D815-E9B2-7CDBB94E9D0D}"/>
              </a:ext>
            </a:extLst>
          </p:cNvPr>
          <p:cNvSpPr>
            <a:spLocks noGrp="1"/>
          </p:cNvSpPr>
          <p:nvPr>
            <p:ph type="dt" sz="half" idx="10"/>
          </p:nvPr>
        </p:nvSpPr>
        <p:spPr/>
        <p:txBody>
          <a:bodyPr/>
          <a:lstStyle/>
          <a:p>
            <a:fld id="{DDF14D94-52B8-43E9-A8F3-BD9E24437DA3}" type="datetime1">
              <a:rPr lang="en-US" smtClean="0"/>
              <a:t>2/24/2026</a:t>
            </a:fld>
            <a:endParaRPr lang="en-US" dirty="0"/>
          </a:p>
        </p:txBody>
      </p:sp>
      <p:sp>
        <p:nvSpPr>
          <p:cNvPr id="5" name="Footer Placeholder 4">
            <a:extLst>
              <a:ext uri="{FF2B5EF4-FFF2-40B4-BE49-F238E27FC236}">
                <a16:creationId xmlns="" xmlns:a16="http://schemas.microsoft.com/office/drawing/2014/main"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 xmlns:a16="http://schemas.microsoft.com/office/drawing/2014/main"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2/24/2026</a:t>
            </a:fld>
            <a:endParaRPr lang="en-US" dirty="0"/>
          </a:p>
        </p:txBody>
      </p:sp>
      <p:sp>
        <p:nvSpPr>
          <p:cNvPr id="5" name="Footer Placeholder 4">
            <a:extLst>
              <a:ext uri="{FF2B5EF4-FFF2-40B4-BE49-F238E27FC236}">
                <a16:creationId xmlns="" xmlns:a16="http://schemas.microsoft.com/office/drawing/2014/main"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 xmlns:a16="http://schemas.microsoft.com/office/drawing/2014/main"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cxnSp>
        <p:nvCxnSpPr>
          <p:cNvPr id="3" name="Straight Connector 2"/>
          <p:cNvCxnSpPr/>
          <p:nvPr/>
        </p:nvCxnSpPr>
        <p:spPr>
          <a:xfrm>
            <a:off x="5767420" y="1369759"/>
            <a:ext cx="13648" cy="532227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126638" y="1038851"/>
            <a:ext cx="1093640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3" name="Google Shape;143;p1">
            <a:extLst>
              <a:ext uri="{FF2B5EF4-FFF2-40B4-BE49-F238E27FC236}">
                <a16:creationId xmlns="" xmlns:a16="http://schemas.microsoft.com/office/drawing/2014/main" id="{E4949A97-DC03-56A5-2E5A-3DD3913AA0EF}"/>
              </a:ext>
            </a:extLst>
          </p:cNvPr>
          <p:cNvSpPr txBox="1">
            <a:spLocks noGrp="1"/>
          </p:cNvSpPr>
          <p:nvPr/>
        </p:nvSpPr>
        <p:spPr>
          <a:xfrm>
            <a:off x="1203226" y="446456"/>
            <a:ext cx="4951915" cy="894195"/>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sz="4400" b="1" dirty="0" smtClean="0">
                <a:solidFill>
                  <a:schemeClr val="tx1"/>
                </a:solidFill>
                <a:latin typeface="Segoe UI Black" pitchFamily="34" charset="0"/>
                <a:ea typeface="Segoe UI Black" pitchFamily="34" charset="0"/>
              </a:rPr>
              <a:t>Vector Database</a:t>
            </a:r>
          </a:p>
          <a:p>
            <a:endParaRPr lang="it-IT" sz="4000" b="1" dirty="0">
              <a:solidFill>
                <a:schemeClr val="tx1"/>
              </a:solidFill>
            </a:endParaRPr>
          </a:p>
        </p:txBody>
      </p:sp>
      <p:pic>
        <p:nvPicPr>
          <p:cNvPr id="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1" y="1"/>
            <a:ext cx="1407439" cy="1166386"/>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24">
            <a:extLst>
              <a:ext uri="{FF2B5EF4-FFF2-40B4-BE49-F238E27FC236}">
                <a16:creationId xmlns="" xmlns:a16="http://schemas.microsoft.com/office/drawing/2014/main" id="{8E4B4487-5609-54AF-1FCA-AB3F6B737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13818" y="68927"/>
            <a:ext cx="1949228" cy="755058"/>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7"/>
          <p:cNvSpPr/>
          <p:nvPr/>
        </p:nvSpPr>
        <p:spPr>
          <a:xfrm>
            <a:off x="6239257" y="1609122"/>
            <a:ext cx="1290117" cy="307777"/>
          </a:xfrm>
          <a:prstGeom prst="rect">
            <a:avLst/>
          </a:prstGeom>
          <a:solidFill>
            <a:srgbClr val="FF6743"/>
          </a:solidFill>
          <a:ln>
            <a:solidFill>
              <a:srgbClr val="FF6743"/>
            </a:solidFill>
          </a:ln>
        </p:spPr>
        <p:txBody>
          <a:bodyPr wrap="square" rtlCol="0">
            <a:spAutoFit/>
          </a:bodyPr>
          <a:lstStyle/>
          <a:p>
            <a:r>
              <a:rPr lang="en-US" sz="1400" dirty="0" smtClean="0">
                <a:solidFill>
                  <a:schemeClr val="bg1"/>
                </a:solidFill>
                <a:latin typeface="Arial Rounded MT Bold" pitchFamily="34" charset="0"/>
              </a:rPr>
              <a:t>Embedding</a:t>
            </a:r>
            <a:endParaRPr lang="en-IN" sz="1400" dirty="0">
              <a:solidFill>
                <a:schemeClr val="bg1"/>
              </a:solidFill>
              <a:latin typeface="Arial Rounded MT Bold" pitchFamily="34" charset="0"/>
            </a:endParaRPr>
          </a:p>
        </p:txBody>
      </p:sp>
      <p:sp>
        <p:nvSpPr>
          <p:cNvPr id="29" name="Rectangle 28"/>
          <p:cNvSpPr/>
          <p:nvPr/>
        </p:nvSpPr>
        <p:spPr>
          <a:xfrm>
            <a:off x="6244022" y="1978077"/>
            <a:ext cx="1285352" cy="307777"/>
          </a:xfrm>
          <a:prstGeom prst="rect">
            <a:avLst/>
          </a:prstGeom>
          <a:solidFill>
            <a:schemeClr val="accent2">
              <a:lumMod val="20000"/>
              <a:lumOff val="80000"/>
            </a:schemeClr>
          </a:solidFill>
          <a:ln>
            <a:solidFill>
              <a:schemeClr val="bg1">
                <a:lumMod val="75000"/>
              </a:schemeClr>
            </a:solidFill>
          </a:ln>
        </p:spPr>
        <p:txBody>
          <a:bodyPr wrap="none">
            <a:spAutoFit/>
          </a:bodyPr>
          <a:lstStyle/>
          <a:p>
            <a:r>
              <a:rPr lang="en-IN" sz="1400" dirty="0" smtClean="0">
                <a:latin typeface="Arial Rounded MT Bold" pitchFamily="34" charset="0"/>
              </a:rPr>
              <a:t>Vector Store</a:t>
            </a:r>
            <a:endParaRPr lang="en-IN" sz="1400" dirty="0">
              <a:latin typeface="Arial Rounded MT Bold" pitchFamily="34" charset="0"/>
            </a:endParaRPr>
          </a:p>
        </p:txBody>
      </p:sp>
      <p:sp>
        <p:nvSpPr>
          <p:cNvPr id="5" name="TextBox 4"/>
          <p:cNvSpPr txBox="1"/>
          <p:nvPr/>
        </p:nvSpPr>
        <p:spPr>
          <a:xfrm>
            <a:off x="5390666" y="700297"/>
            <a:ext cx="1204176" cy="338554"/>
          </a:xfrm>
          <a:prstGeom prst="rect">
            <a:avLst/>
          </a:prstGeom>
          <a:solidFill>
            <a:schemeClr val="bg1"/>
          </a:solidFill>
        </p:spPr>
        <p:txBody>
          <a:bodyPr wrap="none" rtlCol="0">
            <a:spAutoFit/>
          </a:bodyPr>
          <a:lstStyle/>
          <a:p>
            <a:r>
              <a:rPr lang="it-IT" sz="1600" b="1" dirty="0">
                <a:latin typeface="Segoe UI Black" pitchFamily="34" charset="0"/>
                <a:ea typeface="Segoe UI Black" pitchFamily="34" charset="0"/>
              </a:rPr>
              <a:t>Langchain</a:t>
            </a:r>
            <a:endParaRPr lang="en-IN" sz="1600" dirty="0">
              <a:latin typeface="Arial Rounded MT Bold" pitchFamily="34" charset="0"/>
            </a:endParaRPr>
          </a:p>
        </p:txBody>
      </p:sp>
      <p:sp>
        <p:nvSpPr>
          <p:cNvPr id="44" name="Rectangle 43"/>
          <p:cNvSpPr/>
          <p:nvPr/>
        </p:nvSpPr>
        <p:spPr>
          <a:xfrm>
            <a:off x="6239257" y="2372318"/>
            <a:ext cx="1290117" cy="307777"/>
          </a:xfrm>
          <a:prstGeom prst="rect">
            <a:avLst/>
          </a:prstGeom>
          <a:solidFill>
            <a:schemeClr val="accent2">
              <a:lumMod val="60000"/>
              <a:lumOff val="40000"/>
            </a:schemeClr>
          </a:solidFill>
          <a:ln>
            <a:solidFill>
              <a:schemeClr val="tx1">
                <a:lumMod val="50000"/>
                <a:lumOff val="50000"/>
              </a:schemeClr>
            </a:solidFill>
          </a:ln>
        </p:spPr>
        <p:txBody>
          <a:bodyPr wrap="square">
            <a:spAutoFit/>
          </a:bodyPr>
          <a:lstStyle/>
          <a:p>
            <a:r>
              <a:rPr lang="en-IN" sz="1400" dirty="0">
                <a:latin typeface="Arial Rounded MT Bold" pitchFamily="34" charset="0"/>
              </a:rPr>
              <a:t>Vector DB</a:t>
            </a:r>
          </a:p>
        </p:txBody>
      </p:sp>
      <p:grpSp>
        <p:nvGrpSpPr>
          <p:cNvPr id="2" name="Group 1"/>
          <p:cNvGrpSpPr/>
          <p:nvPr/>
        </p:nvGrpSpPr>
        <p:grpSpPr>
          <a:xfrm>
            <a:off x="1506798" y="1524606"/>
            <a:ext cx="3433152" cy="2058281"/>
            <a:chOff x="1506798" y="1524606"/>
            <a:chExt cx="3433152" cy="2058281"/>
          </a:xfrm>
        </p:grpSpPr>
        <p:sp>
          <p:nvSpPr>
            <p:cNvPr id="26" name="TextBox 25"/>
            <p:cNvSpPr txBox="1"/>
            <p:nvPr/>
          </p:nvSpPr>
          <p:spPr>
            <a:xfrm>
              <a:off x="1514528" y="1524606"/>
              <a:ext cx="3425422"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400" dirty="0" smtClean="0">
                  <a:latin typeface="Bahnschrift Light" pitchFamily="34" charset="0"/>
                  <a:ea typeface="Arial Unicode MS" pitchFamily="34" charset="-128"/>
                  <a:cs typeface="Arial Unicode MS" pitchFamily="34" charset="-128"/>
                </a:rPr>
                <a:t>Embedding Basics</a:t>
              </a:r>
              <a:endParaRPr lang="en-IN" sz="1400" dirty="0">
                <a:latin typeface="Bahnschrift Light" pitchFamily="34" charset="0"/>
                <a:ea typeface="Arial Unicode MS" pitchFamily="34" charset="-128"/>
                <a:cs typeface="Arial Unicode MS" pitchFamily="34" charset="-128"/>
              </a:endParaRPr>
            </a:p>
          </p:txBody>
        </p:sp>
        <p:sp>
          <p:nvSpPr>
            <p:cNvPr id="31" name="TextBox 30"/>
            <p:cNvSpPr txBox="1"/>
            <p:nvPr/>
          </p:nvSpPr>
          <p:spPr>
            <a:xfrm>
              <a:off x="1514528" y="1864593"/>
              <a:ext cx="3425421" cy="319881"/>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400" dirty="0" smtClean="0">
                  <a:latin typeface="Bahnschrift Light" pitchFamily="34" charset="0"/>
                  <a:ea typeface="Arial Unicode MS" pitchFamily="34" charset="-128"/>
                  <a:cs typeface="Arial Unicode MS" pitchFamily="34" charset="-128"/>
                </a:rPr>
                <a:t>Vector | Data Point</a:t>
              </a:r>
              <a:endParaRPr lang="en-IN" sz="1400" dirty="0">
                <a:latin typeface="Bahnschrift Light" pitchFamily="34" charset="0"/>
                <a:ea typeface="Arial Unicode MS" pitchFamily="34" charset="-128"/>
                <a:cs typeface="Arial Unicode MS" pitchFamily="34" charset="-128"/>
              </a:endParaRPr>
            </a:p>
          </p:txBody>
        </p:sp>
        <p:sp>
          <p:nvSpPr>
            <p:cNvPr id="32" name="TextBox 31"/>
            <p:cNvSpPr txBox="1"/>
            <p:nvPr/>
          </p:nvSpPr>
          <p:spPr>
            <a:xfrm>
              <a:off x="1506798" y="2218429"/>
              <a:ext cx="3425422"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400" dirty="0" smtClean="0">
                  <a:latin typeface="Bahnschrift Light" pitchFamily="34" charset="0"/>
                  <a:ea typeface="Arial Unicode MS" pitchFamily="34" charset="-128"/>
                  <a:cs typeface="Arial Unicode MS" pitchFamily="34" charset="-128"/>
                </a:rPr>
                <a:t>Embedding Models</a:t>
              </a:r>
              <a:endParaRPr lang="en-IN" sz="1400" dirty="0">
                <a:latin typeface="Bahnschrift Light" pitchFamily="34" charset="0"/>
                <a:ea typeface="Arial Unicode MS" pitchFamily="34" charset="-128"/>
                <a:cs typeface="Arial Unicode MS" pitchFamily="34" charset="-128"/>
              </a:endParaRPr>
            </a:p>
          </p:txBody>
        </p:sp>
        <p:sp>
          <p:nvSpPr>
            <p:cNvPr id="36" name="TextBox 35"/>
            <p:cNvSpPr txBox="1"/>
            <p:nvPr/>
          </p:nvSpPr>
          <p:spPr>
            <a:xfrm>
              <a:off x="1514527" y="2561505"/>
              <a:ext cx="3425422"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400" dirty="0" smtClean="0">
                  <a:latin typeface="Bahnschrift Light" pitchFamily="34" charset="0"/>
                  <a:ea typeface="Arial Unicode MS" pitchFamily="34" charset="-128"/>
                  <a:cs typeface="Arial Unicode MS" pitchFamily="34" charset="-128"/>
                </a:rPr>
                <a:t>Vector DB - Pinecone</a:t>
              </a:r>
              <a:endParaRPr lang="en-IN" sz="1400" dirty="0">
                <a:latin typeface="Bahnschrift Light" pitchFamily="34" charset="0"/>
                <a:ea typeface="Arial Unicode MS" pitchFamily="34" charset="-128"/>
                <a:cs typeface="Arial Unicode MS" pitchFamily="34" charset="-128"/>
              </a:endParaRPr>
            </a:p>
          </p:txBody>
        </p:sp>
        <p:sp>
          <p:nvSpPr>
            <p:cNvPr id="19" name="TextBox 18"/>
            <p:cNvSpPr txBox="1"/>
            <p:nvPr/>
          </p:nvSpPr>
          <p:spPr>
            <a:xfrm>
              <a:off x="1514527" y="2903223"/>
              <a:ext cx="3425422"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400" dirty="0" smtClean="0">
                  <a:latin typeface="Bahnschrift Light" pitchFamily="34" charset="0"/>
                  <a:ea typeface="Arial Unicode MS" pitchFamily="34" charset="-128"/>
                  <a:cs typeface="Arial Unicode MS" pitchFamily="34" charset="-128"/>
                </a:rPr>
                <a:t>Vector vs. Traditional db</a:t>
              </a:r>
              <a:endParaRPr lang="en-IN" sz="1400" dirty="0">
                <a:latin typeface="Bahnschrift Light" pitchFamily="34" charset="0"/>
                <a:ea typeface="Arial Unicode MS" pitchFamily="34" charset="-128"/>
                <a:cs typeface="Arial Unicode MS" pitchFamily="34" charset="-128"/>
              </a:endParaRPr>
            </a:p>
          </p:txBody>
        </p:sp>
        <p:sp>
          <p:nvSpPr>
            <p:cNvPr id="20" name="TextBox 19"/>
            <p:cNvSpPr txBox="1"/>
            <p:nvPr/>
          </p:nvSpPr>
          <p:spPr>
            <a:xfrm>
              <a:off x="1514528" y="3275110"/>
              <a:ext cx="3425422"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400" dirty="0">
                <a:latin typeface="Bahnschrift Light" pitchFamily="34" charset="0"/>
                <a:ea typeface="Arial Unicode MS" pitchFamily="34" charset="-128"/>
                <a:cs typeface="Arial Unicode MS" pitchFamily="34" charset="-128"/>
              </a:endParaRPr>
            </a:p>
          </p:txBody>
        </p:sp>
      </p:grpSp>
    </p:spTree>
    <p:extLst>
      <p:ext uri="{BB962C8B-B14F-4D97-AF65-F5344CB8AC3E}">
        <p14:creationId xmlns:p14="http://schemas.microsoft.com/office/powerpoint/2010/main" val="36390024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grpSp>
        <p:nvGrpSpPr>
          <p:cNvPr id="9" name="Group 8"/>
          <p:cNvGrpSpPr/>
          <p:nvPr/>
        </p:nvGrpSpPr>
        <p:grpSpPr>
          <a:xfrm>
            <a:off x="148603" y="172195"/>
            <a:ext cx="2074398" cy="338450"/>
            <a:chOff x="248673" y="195940"/>
            <a:chExt cx="2074398" cy="338450"/>
          </a:xfrm>
        </p:grpSpPr>
        <p:cxnSp>
          <p:nvCxnSpPr>
            <p:cNvPr id="10" name="Straight Connector 9"/>
            <p:cNvCxnSpPr/>
            <p:nvPr/>
          </p:nvCxnSpPr>
          <p:spPr>
            <a:xfrm flipV="1">
              <a:off x="248673" y="528455"/>
              <a:ext cx="2074398" cy="5935"/>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391176" y="195940"/>
              <a:ext cx="1274458" cy="3384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smtClean="0">
                  <a:latin typeface="Bahnschrift" pitchFamily="34" charset="0"/>
                </a:rPr>
                <a:t>Embedding</a:t>
              </a:r>
              <a:endParaRPr lang="en-IN" sz="1600" dirty="0">
                <a:latin typeface="Bahnschrift" pitchFamily="34" charset="0"/>
              </a:endParaRPr>
            </a:p>
          </p:txBody>
        </p:sp>
      </p:grpSp>
      <p:sp>
        <p:nvSpPr>
          <p:cNvPr id="3" name="Rectangle 2"/>
          <p:cNvSpPr/>
          <p:nvPr/>
        </p:nvSpPr>
        <p:spPr>
          <a:xfrm>
            <a:off x="687689" y="667389"/>
            <a:ext cx="4619021" cy="338554"/>
          </a:xfrm>
          <a:prstGeom prst="rect">
            <a:avLst/>
          </a:prstGeom>
        </p:spPr>
        <p:txBody>
          <a:bodyPr wrap="none">
            <a:spAutoFit/>
          </a:bodyPr>
          <a:lstStyle/>
          <a:p>
            <a:r>
              <a:rPr lang="en-US" sz="1600" dirty="0"/>
              <a:t>Embedding are the core of building LLM Applications.</a:t>
            </a:r>
            <a:endParaRPr lang="en-IN" sz="1600" dirty="0"/>
          </a:p>
        </p:txBody>
      </p:sp>
      <p:sp>
        <p:nvSpPr>
          <p:cNvPr id="4" name="Rectangle 3"/>
          <p:cNvSpPr/>
          <p:nvPr/>
        </p:nvSpPr>
        <p:spPr>
          <a:xfrm>
            <a:off x="1238575" y="1356509"/>
            <a:ext cx="6852517" cy="338554"/>
          </a:xfrm>
          <a:prstGeom prst="rect">
            <a:avLst/>
          </a:prstGeom>
        </p:spPr>
        <p:txBody>
          <a:bodyPr wrap="none">
            <a:spAutoFit/>
          </a:bodyPr>
          <a:lstStyle/>
          <a:p>
            <a:r>
              <a:rPr lang="en-US" sz="1600" dirty="0"/>
              <a:t>Text Embedding are numeric representation of text and used in NLP and ML task</a:t>
            </a:r>
            <a:endParaRPr lang="en-IN" sz="1600" dirty="0"/>
          </a:p>
        </p:txBody>
      </p:sp>
      <p:grpSp>
        <p:nvGrpSpPr>
          <p:cNvPr id="26" name="Group 25"/>
          <p:cNvGrpSpPr/>
          <p:nvPr/>
        </p:nvGrpSpPr>
        <p:grpSpPr>
          <a:xfrm>
            <a:off x="2328325" y="2050473"/>
            <a:ext cx="7356002" cy="3089563"/>
            <a:chOff x="2328325" y="2050473"/>
            <a:chExt cx="7356002" cy="3089563"/>
          </a:xfrm>
        </p:grpSpPr>
        <p:grpSp>
          <p:nvGrpSpPr>
            <p:cNvPr id="23" name="Group 22"/>
            <p:cNvGrpSpPr/>
            <p:nvPr/>
          </p:nvGrpSpPr>
          <p:grpSpPr>
            <a:xfrm>
              <a:off x="2328325" y="2239695"/>
              <a:ext cx="7179982" cy="2523051"/>
              <a:chOff x="2328325" y="2890859"/>
              <a:chExt cx="7179982" cy="2523051"/>
            </a:xfrm>
          </p:grpSpPr>
          <p:grpSp>
            <p:nvGrpSpPr>
              <p:cNvPr id="21" name="Group 20"/>
              <p:cNvGrpSpPr/>
              <p:nvPr/>
            </p:nvGrpSpPr>
            <p:grpSpPr>
              <a:xfrm>
                <a:off x="2328325" y="2890859"/>
                <a:ext cx="7179982" cy="2523051"/>
                <a:chOff x="2328325" y="2890859"/>
                <a:chExt cx="7179982" cy="2523051"/>
              </a:xfrm>
            </p:grpSpPr>
            <p:sp>
              <p:nvSpPr>
                <p:cNvPr id="5" name="Trapezoid 4"/>
                <p:cNvSpPr/>
                <p:nvPr/>
              </p:nvSpPr>
              <p:spPr>
                <a:xfrm rot="5400000">
                  <a:off x="4081448" y="3410300"/>
                  <a:ext cx="2523051" cy="1484169"/>
                </a:xfrm>
                <a:prstGeom prst="trapezoid">
                  <a:avLst/>
                </a:prstGeom>
                <a:solidFill>
                  <a:srgbClr val="0070C0"/>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12" name="TextBox 11"/>
                <p:cNvSpPr txBox="1"/>
                <p:nvPr/>
              </p:nvSpPr>
              <p:spPr>
                <a:xfrm>
                  <a:off x="2328325" y="3886600"/>
                  <a:ext cx="1565685" cy="338554"/>
                </a:xfrm>
                <a:prstGeom prst="rect">
                  <a:avLst/>
                </a:prstGeom>
                <a:noFill/>
              </p:spPr>
              <p:txBody>
                <a:bodyPr wrap="none" rtlCol="0">
                  <a:spAutoFit/>
                </a:bodyPr>
                <a:lstStyle/>
                <a:p>
                  <a:r>
                    <a:rPr lang="en-US" sz="1600" dirty="0" smtClean="0"/>
                    <a:t>Text or Sentence</a:t>
                  </a:r>
                  <a:endParaRPr lang="en-IN" sz="1600" dirty="0"/>
                </a:p>
              </p:txBody>
            </p:sp>
            <p:sp>
              <p:nvSpPr>
                <p:cNvPr id="13" name="TextBox 12"/>
                <p:cNvSpPr txBox="1"/>
                <p:nvPr/>
              </p:nvSpPr>
              <p:spPr>
                <a:xfrm>
                  <a:off x="6673877" y="3886600"/>
                  <a:ext cx="2834430" cy="338554"/>
                </a:xfrm>
                <a:prstGeom prst="rect">
                  <a:avLst/>
                </a:prstGeom>
                <a:noFill/>
              </p:spPr>
              <p:txBody>
                <a:bodyPr wrap="none" rtlCol="0">
                  <a:spAutoFit/>
                </a:bodyPr>
                <a:lstStyle/>
                <a:p>
                  <a:r>
                    <a:rPr lang="en-US" sz="1600" dirty="0" smtClean="0"/>
                    <a:t>-0.027,-0.001,-0.020    …. -0.023</a:t>
                  </a:r>
                  <a:endParaRPr lang="en-IN" sz="1600" dirty="0"/>
                </a:p>
              </p:txBody>
            </p:sp>
            <p:cxnSp>
              <p:nvCxnSpPr>
                <p:cNvPr id="18" name="Straight Arrow Connector 17"/>
                <p:cNvCxnSpPr/>
                <p:nvPr/>
              </p:nvCxnSpPr>
              <p:spPr>
                <a:xfrm>
                  <a:off x="6085059" y="4055877"/>
                  <a:ext cx="588818" cy="0"/>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3894010" y="4055877"/>
                  <a:ext cx="588818" cy="0"/>
                </a:xfrm>
                <a:prstGeom prst="straightConnector1">
                  <a:avLst/>
                </a:prstGeom>
                <a:ln>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22" name="TextBox 21"/>
              <p:cNvSpPr txBox="1"/>
              <p:nvPr/>
            </p:nvSpPr>
            <p:spPr>
              <a:xfrm>
                <a:off x="4544322" y="3881606"/>
                <a:ext cx="1524776" cy="307777"/>
              </a:xfrm>
              <a:prstGeom prst="rect">
                <a:avLst/>
              </a:prstGeom>
              <a:noFill/>
            </p:spPr>
            <p:txBody>
              <a:bodyPr wrap="none" rtlCol="0">
                <a:spAutoFit/>
              </a:bodyPr>
              <a:lstStyle/>
              <a:p>
                <a:r>
                  <a:rPr lang="en-US" sz="1400" dirty="0" smtClean="0">
                    <a:solidFill>
                      <a:schemeClr val="bg1"/>
                    </a:solidFill>
                  </a:rPr>
                  <a:t>Embedding Model</a:t>
                </a:r>
                <a:endParaRPr lang="en-IN" sz="1400" dirty="0">
                  <a:solidFill>
                    <a:schemeClr val="bg1"/>
                  </a:solidFill>
                </a:endParaRPr>
              </a:p>
            </p:txBody>
          </p:sp>
        </p:grpSp>
        <p:sp>
          <p:nvSpPr>
            <p:cNvPr id="25" name="Rectangle 24"/>
            <p:cNvSpPr/>
            <p:nvPr/>
          </p:nvSpPr>
          <p:spPr>
            <a:xfrm>
              <a:off x="2328325" y="2050473"/>
              <a:ext cx="7356002" cy="3089563"/>
            </a:xfrm>
            <a:prstGeom prst="rect">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7" name="Rectangle 26"/>
          <p:cNvSpPr/>
          <p:nvPr/>
        </p:nvSpPr>
        <p:spPr>
          <a:xfrm>
            <a:off x="1238575" y="5447528"/>
            <a:ext cx="10828734" cy="1107996"/>
          </a:xfrm>
          <a:prstGeom prst="rect">
            <a:avLst/>
          </a:prstGeom>
        </p:spPr>
        <p:txBody>
          <a:bodyPr wrap="square">
            <a:spAutoFit/>
          </a:bodyPr>
          <a:lstStyle/>
          <a:p>
            <a:r>
              <a:rPr lang="en-US" sz="1600" dirty="0"/>
              <a:t>Text embedding are </a:t>
            </a:r>
            <a:r>
              <a:rPr lang="en-US" sz="1600" b="1" dirty="0"/>
              <a:t>numeric representations of text </a:t>
            </a:r>
            <a:r>
              <a:rPr lang="en-US" sz="1600" dirty="0"/>
              <a:t>and are used in natural language processing and machine learning tasks.</a:t>
            </a:r>
          </a:p>
          <a:p>
            <a:endParaRPr lang="en-US" sz="1600" dirty="0"/>
          </a:p>
          <a:p>
            <a:r>
              <a:rPr lang="en-US" sz="1600" dirty="0"/>
              <a:t>Text embedding's can be used to measure the relatedness and similarity between two pieces of text.</a:t>
            </a:r>
          </a:p>
          <a:p>
            <a:r>
              <a:rPr lang="en-US" sz="1600" dirty="0"/>
              <a:t>Relatedness is a measure of how closely two pieces of text are related in meaning.</a:t>
            </a:r>
          </a:p>
        </p:txBody>
      </p:sp>
    </p:spTree>
    <p:extLst>
      <p:ext uri="{BB962C8B-B14F-4D97-AF65-F5344CB8AC3E}">
        <p14:creationId xmlns:p14="http://schemas.microsoft.com/office/powerpoint/2010/main" val="4103678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138544" y="197990"/>
            <a:ext cx="12053455" cy="584775"/>
          </a:xfrm>
          <a:prstGeom prst="rect">
            <a:avLst/>
          </a:prstGeom>
        </p:spPr>
        <p:txBody>
          <a:bodyPr wrap="square">
            <a:spAutoFit/>
          </a:bodyPr>
          <a:lstStyle/>
          <a:p>
            <a:r>
              <a:rPr lang="en-US" sz="1600" dirty="0" smtClean="0"/>
              <a:t>the </a:t>
            </a:r>
            <a:r>
              <a:rPr lang="en-US" sz="1600" dirty="0"/>
              <a:t>distance between two </a:t>
            </a:r>
            <a:r>
              <a:rPr lang="en-US" sz="1600" dirty="0" smtClean="0"/>
              <a:t>embedding </a:t>
            </a:r>
            <a:r>
              <a:rPr lang="en-US" sz="1600" dirty="0"/>
              <a:t>or two vectors measures their relatedness, </a:t>
            </a:r>
            <a:r>
              <a:rPr lang="en-US" sz="1600" dirty="0" smtClean="0"/>
              <a:t>which translates </a:t>
            </a:r>
            <a:r>
              <a:rPr lang="en-US" sz="1600" dirty="0"/>
              <a:t>to the relatedness between the text concepts they represent</a:t>
            </a:r>
            <a:r>
              <a:rPr lang="en-US" sz="1600" dirty="0" smtClean="0"/>
              <a:t>.</a:t>
            </a:r>
            <a:endParaRPr lang="en-US" sz="1600" dirty="0"/>
          </a:p>
        </p:txBody>
      </p:sp>
      <p:sp>
        <p:nvSpPr>
          <p:cNvPr id="3" name="Rectangle 2"/>
          <p:cNvSpPr/>
          <p:nvPr/>
        </p:nvSpPr>
        <p:spPr>
          <a:xfrm>
            <a:off x="218267" y="1812015"/>
            <a:ext cx="10668000" cy="338554"/>
          </a:xfrm>
          <a:prstGeom prst="rect">
            <a:avLst/>
          </a:prstGeom>
        </p:spPr>
        <p:txBody>
          <a:bodyPr wrap="square">
            <a:spAutoFit/>
          </a:bodyPr>
          <a:lstStyle/>
          <a:p>
            <a:r>
              <a:rPr lang="en-US" sz="1600" dirty="0"/>
              <a:t>There are two common approaches to measuring relatedness and similarity between text embedding</a:t>
            </a:r>
            <a:r>
              <a:rPr lang="en-US" sz="1600" dirty="0" smtClean="0"/>
              <a:t>.</a:t>
            </a:r>
            <a:endParaRPr lang="en-US" sz="1600" dirty="0"/>
          </a:p>
        </p:txBody>
      </p:sp>
      <p:sp>
        <p:nvSpPr>
          <p:cNvPr id="5" name="Rectangle 4"/>
          <p:cNvSpPr/>
          <p:nvPr/>
        </p:nvSpPr>
        <p:spPr>
          <a:xfrm>
            <a:off x="2642813" y="2306037"/>
            <a:ext cx="1778051" cy="584775"/>
          </a:xfrm>
          <a:prstGeom prst="rect">
            <a:avLst/>
          </a:prstGeom>
          <a:solidFill>
            <a:schemeClr val="accent5">
              <a:lumMod val="20000"/>
              <a:lumOff val="80000"/>
            </a:schemeClr>
          </a:solidFill>
          <a:ln w="57150">
            <a:solidFill>
              <a:srgbClr val="FF5050"/>
            </a:solidFill>
          </a:ln>
        </p:spPr>
        <p:txBody>
          <a:bodyPr wrap="none">
            <a:spAutoFit/>
          </a:bodyPr>
          <a:lstStyle/>
          <a:p>
            <a:r>
              <a:rPr lang="en-US" sz="1600" dirty="0"/>
              <a:t>Cosine similarity </a:t>
            </a:r>
            <a:r>
              <a:rPr lang="en-US" sz="1600" dirty="0" smtClean="0"/>
              <a:t> </a:t>
            </a:r>
          </a:p>
          <a:p>
            <a:r>
              <a:rPr lang="en-US" sz="1600" dirty="0" smtClean="0"/>
              <a:t>Euclidean </a:t>
            </a:r>
            <a:r>
              <a:rPr lang="en-US" sz="1600" dirty="0"/>
              <a:t>distance.</a:t>
            </a:r>
          </a:p>
        </p:txBody>
      </p:sp>
      <p:cxnSp>
        <p:nvCxnSpPr>
          <p:cNvPr id="10" name="Straight Connector 9"/>
          <p:cNvCxnSpPr/>
          <p:nvPr/>
        </p:nvCxnSpPr>
        <p:spPr>
          <a:xfrm>
            <a:off x="180108" y="1565563"/>
            <a:ext cx="1205345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8965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6" name="Group 5"/>
          <p:cNvGrpSpPr/>
          <p:nvPr/>
        </p:nvGrpSpPr>
        <p:grpSpPr>
          <a:xfrm>
            <a:off x="517914" y="251752"/>
            <a:ext cx="3417923" cy="425449"/>
            <a:chOff x="517914" y="251752"/>
            <a:chExt cx="3417923" cy="425449"/>
          </a:xfrm>
        </p:grpSpPr>
        <p:sp>
          <p:nvSpPr>
            <p:cNvPr id="2" name="Rectangle 1"/>
            <p:cNvSpPr/>
            <p:nvPr/>
          </p:nvSpPr>
          <p:spPr>
            <a:xfrm>
              <a:off x="517914" y="251752"/>
              <a:ext cx="3417923" cy="400110"/>
            </a:xfrm>
            <a:prstGeom prst="rect">
              <a:avLst/>
            </a:prstGeom>
          </p:spPr>
          <p:txBody>
            <a:bodyPr wrap="none">
              <a:spAutoFit/>
            </a:bodyPr>
            <a:lstStyle/>
            <a:p>
              <a:r>
                <a:rPr lang="en-IN" sz="2000" dirty="0" smtClean="0">
                  <a:solidFill>
                    <a:srgbClr val="00CC99"/>
                  </a:solidFill>
                  <a:latin typeface="Arial Rounded MT Bold" pitchFamily="34" charset="0"/>
                </a:rPr>
                <a:t>Embedding's </a:t>
              </a:r>
              <a:r>
                <a:rPr lang="en-IN" sz="2000" dirty="0">
                  <a:solidFill>
                    <a:srgbClr val="00CC99"/>
                  </a:solidFill>
                  <a:latin typeface="Arial Rounded MT Bold" pitchFamily="34" charset="0"/>
                </a:rPr>
                <a:t>Applications</a:t>
              </a:r>
            </a:p>
          </p:txBody>
        </p:sp>
        <p:cxnSp>
          <p:nvCxnSpPr>
            <p:cNvPr id="5" name="Straight Connector 4"/>
            <p:cNvCxnSpPr/>
            <p:nvPr/>
          </p:nvCxnSpPr>
          <p:spPr>
            <a:xfrm>
              <a:off x="586805" y="677201"/>
              <a:ext cx="3096360" cy="0"/>
            </a:xfrm>
            <a:prstGeom prst="line">
              <a:avLst/>
            </a:prstGeom>
            <a:ln>
              <a:solidFill>
                <a:srgbClr val="00CC99"/>
              </a:solidFill>
            </a:ln>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1278339" y="1016774"/>
            <a:ext cx="7505443" cy="1729448"/>
            <a:chOff x="1278339" y="847497"/>
            <a:chExt cx="7505443" cy="1729448"/>
          </a:xfrm>
        </p:grpSpPr>
        <p:grpSp>
          <p:nvGrpSpPr>
            <p:cNvPr id="9" name="Group 8"/>
            <p:cNvGrpSpPr/>
            <p:nvPr/>
          </p:nvGrpSpPr>
          <p:grpSpPr>
            <a:xfrm>
              <a:off x="1278339" y="847497"/>
              <a:ext cx="5389720" cy="369332"/>
              <a:chOff x="1278339" y="847497"/>
              <a:chExt cx="5389720" cy="369332"/>
            </a:xfrm>
          </p:grpSpPr>
          <p:sp>
            <p:nvSpPr>
              <p:cNvPr id="7" name="Rectangle 6"/>
              <p:cNvSpPr/>
              <p:nvPr/>
            </p:nvSpPr>
            <p:spPr>
              <a:xfrm>
                <a:off x="1278339" y="847497"/>
                <a:ext cx="2404826" cy="369332"/>
              </a:xfrm>
              <a:prstGeom prst="rect">
                <a:avLst/>
              </a:prstGeom>
            </p:spPr>
            <p:txBody>
              <a:bodyPr wrap="none">
                <a:spAutoFit/>
              </a:bodyPr>
              <a:lstStyle/>
              <a:p>
                <a:pPr marL="285750" indent="-285750">
                  <a:buFont typeface="Wingdings" pitchFamily="2" charset="2"/>
                  <a:buChar char="§"/>
                </a:pPr>
                <a:r>
                  <a:rPr lang="en-IN" dirty="0">
                    <a:solidFill>
                      <a:srgbClr val="00CC99"/>
                    </a:solidFill>
                    <a:latin typeface="Bahnschrift Light" pitchFamily="34" charset="0"/>
                  </a:rPr>
                  <a:t>Text </a:t>
                </a:r>
                <a:r>
                  <a:rPr lang="en-IN" dirty="0" smtClean="0">
                    <a:solidFill>
                      <a:srgbClr val="00CC99"/>
                    </a:solidFill>
                    <a:latin typeface="Bahnschrift Light" pitchFamily="34" charset="0"/>
                  </a:rPr>
                  <a:t>Classification:</a:t>
                </a:r>
                <a:endParaRPr lang="en-IN" dirty="0">
                  <a:solidFill>
                    <a:srgbClr val="00CC99"/>
                  </a:solidFill>
                  <a:latin typeface="Bahnschrift Light" pitchFamily="34" charset="0"/>
                </a:endParaRPr>
              </a:p>
            </p:txBody>
          </p:sp>
          <p:sp>
            <p:nvSpPr>
              <p:cNvPr id="8" name="Rectangle 7"/>
              <p:cNvSpPr/>
              <p:nvPr/>
            </p:nvSpPr>
            <p:spPr>
              <a:xfrm>
                <a:off x="3614274" y="847497"/>
                <a:ext cx="3053785" cy="338554"/>
              </a:xfrm>
              <a:prstGeom prst="rect">
                <a:avLst/>
              </a:prstGeom>
            </p:spPr>
            <p:txBody>
              <a:bodyPr wrap="none">
                <a:spAutoFit/>
              </a:bodyPr>
              <a:lstStyle/>
              <a:p>
                <a:r>
                  <a:rPr lang="en-US" sz="1600" dirty="0"/>
                  <a:t>Assigning a label to a piece of text.</a:t>
                </a:r>
                <a:endParaRPr lang="en-IN" sz="1600" dirty="0"/>
              </a:p>
            </p:txBody>
          </p:sp>
        </p:grpSp>
        <p:grpSp>
          <p:nvGrpSpPr>
            <p:cNvPr id="18" name="Group 17"/>
            <p:cNvGrpSpPr/>
            <p:nvPr/>
          </p:nvGrpSpPr>
          <p:grpSpPr>
            <a:xfrm>
              <a:off x="1278339" y="1357045"/>
              <a:ext cx="7292893" cy="369332"/>
              <a:chOff x="1278339" y="1623352"/>
              <a:chExt cx="7292893" cy="369332"/>
            </a:xfrm>
          </p:grpSpPr>
          <p:grpSp>
            <p:nvGrpSpPr>
              <p:cNvPr id="11" name="Group 10"/>
              <p:cNvGrpSpPr/>
              <p:nvPr/>
            </p:nvGrpSpPr>
            <p:grpSpPr>
              <a:xfrm>
                <a:off x="1278339" y="1623352"/>
                <a:ext cx="2520666" cy="369332"/>
                <a:chOff x="1278339" y="847497"/>
                <a:chExt cx="2520666" cy="369332"/>
              </a:xfrm>
            </p:grpSpPr>
            <p:sp>
              <p:nvSpPr>
                <p:cNvPr id="12" name="Rectangle 11"/>
                <p:cNvSpPr/>
                <p:nvPr/>
              </p:nvSpPr>
              <p:spPr>
                <a:xfrm>
                  <a:off x="1278339" y="847497"/>
                  <a:ext cx="2082621" cy="369332"/>
                </a:xfrm>
                <a:prstGeom prst="rect">
                  <a:avLst/>
                </a:prstGeom>
              </p:spPr>
              <p:txBody>
                <a:bodyPr wrap="none">
                  <a:spAutoFit/>
                </a:bodyPr>
                <a:lstStyle/>
                <a:p>
                  <a:pPr marL="285750" indent="-285750">
                    <a:buFont typeface="Wingdings" pitchFamily="2" charset="2"/>
                    <a:buChar char="§"/>
                  </a:pPr>
                  <a:r>
                    <a:rPr lang="en-IN" dirty="0">
                      <a:solidFill>
                        <a:srgbClr val="00CC99"/>
                      </a:solidFill>
                      <a:latin typeface="Bahnschrift Light" pitchFamily="34" charset="0"/>
                    </a:rPr>
                    <a:t>Text </a:t>
                  </a:r>
                  <a:r>
                    <a:rPr lang="en-IN" dirty="0" smtClean="0">
                      <a:solidFill>
                        <a:srgbClr val="00CC99"/>
                      </a:solidFill>
                      <a:latin typeface="Bahnschrift Light" pitchFamily="34" charset="0"/>
                    </a:rPr>
                    <a:t>Clustering</a:t>
                  </a:r>
                  <a:r>
                    <a:rPr lang="en-IN" dirty="0" smtClean="0">
                      <a:latin typeface="Bahnschrift Light" pitchFamily="34" charset="0"/>
                    </a:rPr>
                    <a:t>:</a:t>
                  </a:r>
                  <a:endParaRPr lang="en-IN" dirty="0">
                    <a:latin typeface="Bahnschrift Light" pitchFamily="34" charset="0"/>
                  </a:endParaRPr>
                </a:p>
              </p:txBody>
            </p:sp>
            <p:sp>
              <p:nvSpPr>
                <p:cNvPr id="13" name="Rectangle 12"/>
                <p:cNvSpPr/>
                <p:nvPr/>
              </p:nvSpPr>
              <p:spPr>
                <a:xfrm>
                  <a:off x="3614274" y="847497"/>
                  <a:ext cx="184731" cy="338554"/>
                </a:xfrm>
                <a:prstGeom prst="rect">
                  <a:avLst/>
                </a:prstGeom>
              </p:spPr>
              <p:txBody>
                <a:bodyPr wrap="none">
                  <a:spAutoFit/>
                </a:bodyPr>
                <a:lstStyle/>
                <a:p>
                  <a:endParaRPr lang="en-IN" sz="1600" dirty="0"/>
                </a:p>
              </p:txBody>
            </p:sp>
          </p:grpSp>
          <p:sp>
            <p:nvSpPr>
              <p:cNvPr id="17" name="Rectangle 16"/>
              <p:cNvSpPr/>
              <p:nvPr/>
            </p:nvSpPr>
            <p:spPr>
              <a:xfrm>
                <a:off x="3360960" y="1623352"/>
                <a:ext cx="5210272" cy="338554"/>
              </a:xfrm>
              <a:prstGeom prst="rect">
                <a:avLst/>
              </a:prstGeom>
            </p:spPr>
            <p:txBody>
              <a:bodyPr wrap="none">
                <a:spAutoFit/>
              </a:bodyPr>
              <a:lstStyle/>
              <a:p>
                <a:r>
                  <a:rPr lang="en-US" sz="1600" dirty="0"/>
                  <a:t>Grouping together pieces of text that are similar in meaning.</a:t>
                </a:r>
                <a:endParaRPr lang="en-IN" sz="1600" dirty="0"/>
              </a:p>
            </p:txBody>
          </p:sp>
        </p:grpSp>
        <p:grpSp>
          <p:nvGrpSpPr>
            <p:cNvPr id="20" name="Group 19"/>
            <p:cNvGrpSpPr/>
            <p:nvPr/>
          </p:nvGrpSpPr>
          <p:grpSpPr>
            <a:xfrm>
              <a:off x="1278339" y="1882168"/>
              <a:ext cx="6628867" cy="400110"/>
              <a:chOff x="1278339" y="1882168"/>
              <a:chExt cx="6628867" cy="400110"/>
            </a:xfrm>
          </p:grpSpPr>
          <p:grpSp>
            <p:nvGrpSpPr>
              <p:cNvPr id="14" name="Group 13"/>
              <p:cNvGrpSpPr/>
              <p:nvPr/>
            </p:nvGrpSpPr>
            <p:grpSpPr>
              <a:xfrm>
                <a:off x="1278339" y="1912946"/>
                <a:ext cx="2520666" cy="369332"/>
                <a:chOff x="1278339" y="847497"/>
                <a:chExt cx="2520666" cy="369332"/>
              </a:xfrm>
            </p:grpSpPr>
            <p:sp>
              <p:nvSpPr>
                <p:cNvPr id="15" name="Rectangle 14"/>
                <p:cNvSpPr/>
                <p:nvPr/>
              </p:nvSpPr>
              <p:spPr>
                <a:xfrm>
                  <a:off x="1278339" y="847497"/>
                  <a:ext cx="2409634" cy="369332"/>
                </a:xfrm>
                <a:prstGeom prst="rect">
                  <a:avLst/>
                </a:prstGeom>
              </p:spPr>
              <p:txBody>
                <a:bodyPr wrap="none">
                  <a:spAutoFit/>
                </a:bodyPr>
                <a:lstStyle/>
                <a:p>
                  <a:pPr marL="285750" indent="-285750">
                    <a:buFont typeface="Wingdings" pitchFamily="2" charset="2"/>
                    <a:buChar char="§"/>
                  </a:pPr>
                  <a:r>
                    <a:rPr lang="en-IN" dirty="0">
                      <a:solidFill>
                        <a:srgbClr val="00CC99"/>
                      </a:solidFill>
                      <a:latin typeface="Bahnschrift Light" pitchFamily="34" charset="0"/>
                    </a:rPr>
                    <a:t>Text </a:t>
                  </a:r>
                  <a:r>
                    <a:rPr lang="en-IN" dirty="0" smtClean="0">
                      <a:solidFill>
                        <a:srgbClr val="00CC99"/>
                      </a:solidFill>
                      <a:latin typeface="Bahnschrift Light" pitchFamily="34" charset="0"/>
                    </a:rPr>
                    <a:t>Classification:</a:t>
                  </a:r>
                  <a:endParaRPr lang="en-IN" dirty="0">
                    <a:solidFill>
                      <a:srgbClr val="00CC99"/>
                    </a:solidFill>
                    <a:latin typeface="Bahnschrift Light" pitchFamily="34" charset="0"/>
                  </a:endParaRPr>
                </a:p>
              </p:txBody>
            </p:sp>
            <p:sp>
              <p:nvSpPr>
                <p:cNvPr id="16" name="Rectangle 15"/>
                <p:cNvSpPr/>
                <p:nvPr/>
              </p:nvSpPr>
              <p:spPr>
                <a:xfrm>
                  <a:off x="3614274" y="847497"/>
                  <a:ext cx="184731" cy="338554"/>
                </a:xfrm>
                <a:prstGeom prst="rect">
                  <a:avLst/>
                </a:prstGeom>
              </p:spPr>
              <p:txBody>
                <a:bodyPr wrap="none">
                  <a:spAutoFit/>
                </a:bodyPr>
                <a:lstStyle/>
                <a:p>
                  <a:endParaRPr lang="en-IN" sz="1600" dirty="0"/>
                </a:p>
              </p:txBody>
            </p:sp>
          </p:grpSp>
          <p:sp>
            <p:nvSpPr>
              <p:cNvPr id="19" name="Rectangle 18"/>
              <p:cNvSpPr/>
              <p:nvPr/>
            </p:nvSpPr>
            <p:spPr>
              <a:xfrm>
                <a:off x="3683165" y="1882168"/>
                <a:ext cx="4224041" cy="369332"/>
              </a:xfrm>
              <a:prstGeom prst="rect">
                <a:avLst/>
              </a:prstGeom>
            </p:spPr>
            <p:txBody>
              <a:bodyPr wrap="none">
                <a:spAutoFit/>
              </a:bodyPr>
              <a:lstStyle/>
              <a:p>
                <a:r>
                  <a:rPr lang="en-US" sz="1600" dirty="0"/>
                  <a:t>Answering a question posed in natural language</a:t>
                </a:r>
                <a:r>
                  <a:rPr lang="en-US" dirty="0"/>
                  <a:t>.</a:t>
                </a:r>
                <a:endParaRPr lang="en-IN" dirty="0"/>
              </a:p>
            </p:txBody>
          </p:sp>
        </p:grpSp>
        <p:sp>
          <p:nvSpPr>
            <p:cNvPr id="21" name="Rectangle 20"/>
            <p:cNvSpPr/>
            <p:nvPr/>
          </p:nvSpPr>
          <p:spPr>
            <a:xfrm>
              <a:off x="1278339" y="847497"/>
              <a:ext cx="7505443" cy="1729448"/>
            </a:xfrm>
            <a:prstGeom prst="rect">
              <a:avLst/>
            </a:prstGeom>
            <a:no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26209523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207819" y="446683"/>
            <a:ext cx="11790217" cy="4616648"/>
          </a:xfrm>
          <a:prstGeom prst="rect">
            <a:avLst/>
          </a:prstGeom>
        </p:spPr>
        <p:txBody>
          <a:bodyPr wrap="square">
            <a:spAutoFit/>
          </a:bodyPr>
          <a:lstStyle/>
          <a:p>
            <a:r>
              <a:rPr lang="en-US" sz="1600" dirty="0" smtClean="0">
                <a:latin typeface="Bahnschrift Light" pitchFamily="34" charset="0"/>
              </a:rPr>
              <a:t>AI </a:t>
            </a:r>
            <a:r>
              <a:rPr lang="en-US" sz="1600" dirty="0">
                <a:latin typeface="Bahnschrift Light" pitchFamily="34" charset="0"/>
              </a:rPr>
              <a:t>is being used in a variety of industries and has the potential to improve our lives in many </a:t>
            </a:r>
            <a:r>
              <a:rPr lang="en-US" sz="1600" dirty="0" smtClean="0">
                <a:latin typeface="Bahnschrift Light" pitchFamily="34" charset="0"/>
              </a:rPr>
              <a:t>ways, but </a:t>
            </a:r>
            <a:r>
              <a:rPr lang="en-US" sz="1600" dirty="0">
                <a:latin typeface="Bahnschrift Light" pitchFamily="34" charset="0"/>
              </a:rPr>
              <a:t>it also introduces new challenges.</a:t>
            </a:r>
          </a:p>
          <a:p>
            <a:endParaRPr lang="en-US" sz="1600" dirty="0" smtClean="0">
              <a:latin typeface="Bahnschrift Light" pitchFamily="34" charset="0"/>
            </a:endParaRPr>
          </a:p>
          <a:p>
            <a:r>
              <a:rPr lang="en-US" dirty="0" smtClean="0">
                <a:solidFill>
                  <a:srgbClr val="FF0066"/>
                </a:solidFill>
                <a:latin typeface="Bahnschrift Light" pitchFamily="34" charset="0"/>
              </a:rPr>
              <a:t>One </a:t>
            </a:r>
            <a:r>
              <a:rPr lang="en-US" dirty="0">
                <a:solidFill>
                  <a:srgbClr val="FF0066"/>
                </a:solidFill>
                <a:latin typeface="Bahnschrift Light" pitchFamily="34" charset="0"/>
              </a:rPr>
              <a:t>of the biggest challenges is efficient data processing</a:t>
            </a:r>
            <a:r>
              <a:rPr lang="en-US" dirty="0">
                <a:latin typeface="Bahnschrift Light" pitchFamily="34" charset="0"/>
              </a:rPr>
              <a:t>.</a:t>
            </a:r>
          </a:p>
          <a:p>
            <a:endParaRPr lang="en-US" sz="1600" dirty="0">
              <a:latin typeface="Bahnschrift Light" pitchFamily="34" charset="0"/>
            </a:endParaRPr>
          </a:p>
          <a:p>
            <a:r>
              <a:rPr lang="en-US" sz="1600" dirty="0">
                <a:latin typeface="Bahnschrift Light" pitchFamily="34" charset="0"/>
              </a:rPr>
              <a:t>AI applications such as </a:t>
            </a:r>
            <a:r>
              <a:rPr lang="en-US" sz="1600" dirty="0">
                <a:latin typeface="Bahnschrift Light" pitchFamily="34" charset="0"/>
              </a:rPr>
              <a:t>LLM, </a:t>
            </a:r>
            <a:r>
              <a:rPr lang="en-US" sz="1600" dirty="0">
                <a:latin typeface="Bahnschrift Light" pitchFamily="34" charset="0"/>
              </a:rPr>
              <a:t>Generative AI and semantic Search require large amounts of data to </a:t>
            </a:r>
            <a:r>
              <a:rPr lang="en-US" sz="1600" dirty="0">
                <a:latin typeface="Bahnschrift Light" pitchFamily="34" charset="0"/>
              </a:rPr>
              <a:t>train and </a:t>
            </a:r>
            <a:r>
              <a:rPr lang="en-US" sz="1600" dirty="0">
                <a:latin typeface="Bahnschrift Light" pitchFamily="34" charset="0"/>
              </a:rPr>
              <a:t>operate.</a:t>
            </a:r>
          </a:p>
          <a:p>
            <a:r>
              <a:rPr lang="en-US" sz="1600" dirty="0">
                <a:latin typeface="Bahnschrift Light" pitchFamily="34" charset="0"/>
              </a:rPr>
              <a:t>Efficient data processing is essential for making AI applications successful.</a:t>
            </a:r>
          </a:p>
          <a:p>
            <a:endParaRPr lang="en-US" sz="1600" dirty="0">
              <a:latin typeface="Bahnschrift Light" pitchFamily="34" charset="0"/>
            </a:endParaRPr>
          </a:p>
          <a:p>
            <a:endParaRPr lang="en-US" sz="1600" dirty="0">
              <a:latin typeface="Bahnschrift Light" pitchFamily="34" charset="0"/>
            </a:endParaRPr>
          </a:p>
          <a:p>
            <a:r>
              <a:rPr lang="en-US" sz="1600" dirty="0">
                <a:latin typeface="Bahnschrift Light" pitchFamily="34" charset="0"/>
              </a:rPr>
              <a:t>Many of the latest AI applications rely on vector </a:t>
            </a:r>
            <a:r>
              <a:rPr lang="en-US" sz="1600" dirty="0">
                <a:latin typeface="Bahnschrift Light" pitchFamily="34" charset="0"/>
              </a:rPr>
              <a:t>embedding.</a:t>
            </a:r>
            <a:endParaRPr lang="en-US" sz="1600" dirty="0">
              <a:latin typeface="Bahnschrift Light" pitchFamily="34" charset="0"/>
            </a:endParaRPr>
          </a:p>
          <a:p>
            <a:r>
              <a:rPr lang="en-US" sz="1600" dirty="0">
                <a:latin typeface="Bahnschrift Light" pitchFamily="34" charset="0"/>
              </a:rPr>
              <a:t>Chat bots, question answering systems and machine translation rely on vector </a:t>
            </a:r>
            <a:r>
              <a:rPr lang="en-US" sz="1600" dirty="0">
                <a:latin typeface="Bahnschrift Light" pitchFamily="34" charset="0"/>
              </a:rPr>
              <a:t>embedding , </a:t>
            </a:r>
            <a:r>
              <a:rPr lang="en-US" sz="1600" dirty="0">
                <a:latin typeface="Bahnschrift Light" pitchFamily="34" charset="0"/>
              </a:rPr>
              <a:t>means converting text to numbers that carry within themselves semantic information</a:t>
            </a:r>
            <a:r>
              <a:rPr lang="en-US" sz="1600" dirty="0">
                <a:latin typeface="Bahnschrift Light" pitchFamily="34" charset="0"/>
              </a:rPr>
              <a:t>.</a:t>
            </a:r>
          </a:p>
          <a:p>
            <a:endParaRPr lang="en-US" sz="1600" dirty="0">
              <a:latin typeface="Bahnschrift Light" pitchFamily="34" charset="0"/>
            </a:endParaRPr>
          </a:p>
          <a:p>
            <a:r>
              <a:rPr lang="en-US" dirty="0">
                <a:solidFill>
                  <a:srgbClr val="00B050"/>
                </a:solidFill>
                <a:latin typeface="Bahnschrift Light" pitchFamily="34" charset="0"/>
              </a:rPr>
              <a:t>Vector </a:t>
            </a:r>
            <a:r>
              <a:rPr lang="en-US" dirty="0" smtClean="0">
                <a:solidFill>
                  <a:srgbClr val="00B050"/>
                </a:solidFill>
                <a:latin typeface="Bahnschrift Light" pitchFamily="34" charset="0"/>
              </a:rPr>
              <a:t>embedding </a:t>
            </a:r>
            <a:r>
              <a:rPr lang="en-US" dirty="0">
                <a:solidFill>
                  <a:srgbClr val="00B050"/>
                </a:solidFill>
                <a:latin typeface="Bahnschrift Light" pitchFamily="34" charset="0"/>
              </a:rPr>
              <a:t>are a way of representing text as a set of numbers in a high dimensional space</a:t>
            </a:r>
            <a:r>
              <a:rPr lang="en-US" sz="1600" dirty="0">
                <a:latin typeface="Bahnschrift Light" pitchFamily="34" charset="0"/>
              </a:rPr>
              <a:t>, and</a:t>
            </a:r>
          </a:p>
          <a:p>
            <a:r>
              <a:rPr lang="en-US" sz="1600" dirty="0">
                <a:latin typeface="Bahnschrift Light" pitchFamily="34" charset="0"/>
              </a:rPr>
              <a:t>the numbers represent the meaning of the words in the text</a:t>
            </a:r>
            <a:r>
              <a:rPr lang="en-US" sz="1600" dirty="0" smtClean="0">
                <a:latin typeface="Bahnschrift Light" pitchFamily="34" charset="0"/>
              </a:rPr>
              <a:t>.</a:t>
            </a:r>
          </a:p>
          <a:p>
            <a:endParaRPr lang="en-US" sz="1600" dirty="0">
              <a:latin typeface="Bahnschrift Light" pitchFamily="34" charset="0"/>
            </a:endParaRPr>
          </a:p>
          <a:p>
            <a:r>
              <a:rPr lang="en-US" sz="1600" dirty="0">
                <a:latin typeface="Bahnschrift Light" pitchFamily="34" charset="0"/>
              </a:rPr>
              <a:t>This is critical for the AI to gain understanding and maintain long term memory.</a:t>
            </a:r>
          </a:p>
          <a:p>
            <a:endParaRPr lang="en-US" dirty="0"/>
          </a:p>
        </p:txBody>
      </p:sp>
    </p:spTree>
    <p:extLst>
      <p:ext uri="{BB962C8B-B14F-4D97-AF65-F5344CB8AC3E}">
        <p14:creationId xmlns:p14="http://schemas.microsoft.com/office/powerpoint/2010/main" val="37563367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152401" y="391034"/>
            <a:ext cx="11901054" cy="3231654"/>
          </a:xfrm>
          <a:prstGeom prst="rect">
            <a:avLst/>
          </a:prstGeom>
          <a:ln>
            <a:solidFill>
              <a:schemeClr val="accent3">
                <a:lumMod val="20000"/>
                <a:lumOff val="80000"/>
              </a:schemeClr>
            </a:solidFill>
          </a:ln>
        </p:spPr>
        <p:txBody>
          <a:bodyPr wrap="square">
            <a:spAutoFit/>
          </a:bodyPr>
          <a:lstStyle/>
          <a:p>
            <a:r>
              <a:rPr lang="en-US" sz="1600" dirty="0">
                <a:latin typeface="Bahnschrift Light" pitchFamily="34" charset="0"/>
              </a:rPr>
              <a:t>One application that we built in</a:t>
            </a:r>
            <a:r>
              <a:rPr lang="en-US" sz="1600" dirty="0">
                <a:latin typeface="Bahnschrift Light" pitchFamily="34" charset="0"/>
              </a:rPr>
              <a:t>. </a:t>
            </a:r>
            <a:r>
              <a:rPr lang="en-US" sz="1600" dirty="0">
                <a:latin typeface="Bahnschrift Light" pitchFamily="34" charset="0"/>
              </a:rPr>
              <a:t>The </a:t>
            </a:r>
            <a:r>
              <a:rPr lang="en-US" sz="1600" dirty="0">
                <a:latin typeface="Bahnschrift Light" pitchFamily="34" charset="0"/>
              </a:rPr>
              <a:t>first part of the course was a book recommendation system</a:t>
            </a:r>
            <a:r>
              <a:rPr lang="en-US" dirty="0" smtClean="0">
                <a:latin typeface="Bahnschrift Light" pitchFamily="34" charset="0"/>
              </a:rPr>
              <a:t>.</a:t>
            </a:r>
          </a:p>
          <a:p>
            <a:endParaRPr lang="en-US" dirty="0">
              <a:latin typeface="Bahnschrift Light" pitchFamily="34" charset="0"/>
            </a:endParaRPr>
          </a:p>
          <a:p>
            <a:r>
              <a:rPr lang="en-US" sz="1600" dirty="0">
                <a:latin typeface="Bahnschrift Light" pitchFamily="34" charset="0"/>
              </a:rPr>
              <a:t>This utilized a dataset from </a:t>
            </a:r>
            <a:r>
              <a:rPr lang="en-US" b="1" dirty="0">
                <a:solidFill>
                  <a:srgbClr val="00B050"/>
                </a:solidFill>
                <a:latin typeface="Bahnschrift Light" pitchFamily="34" charset="0"/>
              </a:rPr>
              <a:t>Kaggle</a:t>
            </a:r>
            <a:r>
              <a:rPr lang="en-US" dirty="0">
                <a:solidFill>
                  <a:srgbClr val="00B050"/>
                </a:solidFill>
                <a:latin typeface="Bahnschrift Light" pitchFamily="34" charset="0"/>
              </a:rPr>
              <a:t> </a:t>
            </a:r>
            <a:r>
              <a:rPr lang="en-US" sz="1600" dirty="0">
                <a:latin typeface="Bahnschrift Light" pitchFamily="34" charset="0"/>
              </a:rPr>
              <a:t>which contained information about thousands of books</a:t>
            </a:r>
            <a:r>
              <a:rPr lang="en-US" sz="1600" dirty="0">
                <a:latin typeface="Bahnschrift Light" pitchFamily="34" charset="0"/>
              </a:rPr>
              <a:t>. </a:t>
            </a:r>
            <a:r>
              <a:rPr lang="en-US" sz="1600" dirty="0">
                <a:latin typeface="Bahnschrift Light" pitchFamily="34" charset="0"/>
              </a:rPr>
              <a:t>We </a:t>
            </a:r>
            <a:r>
              <a:rPr lang="en-US" sz="1600" dirty="0">
                <a:latin typeface="Bahnschrift Light" pitchFamily="34" charset="0"/>
              </a:rPr>
              <a:t>transformed the book description into vectors using an AI model and stored both the description and its corresponding embedding in a CSV file.</a:t>
            </a:r>
          </a:p>
          <a:p>
            <a:r>
              <a:rPr lang="en-US" sz="1600" dirty="0">
                <a:latin typeface="Bahnschrift Light" pitchFamily="34" charset="0"/>
              </a:rPr>
              <a:t>These are the </a:t>
            </a:r>
            <a:r>
              <a:rPr lang="en-US" sz="1600" dirty="0">
                <a:latin typeface="Bahnschrift Light" pitchFamily="34" charset="0"/>
              </a:rPr>
              <a:t>embedding.</a:t>
            </a:r>
          </a:p>
          <a:p>
            <a:endParaRPr lang="en-US" sz="1600" dirty="0">
              <a:latin typeface="Bahnschrift Light" pitchFamily="34" charset="0"/>
            </a:endParaRPr>
          </a:p>
          <a:p>
            <a:r>
              <a:rPr lang="en-US" sz="1600" dirty="0">
                <a:latin typeface="Bahnschrift Light" pitchFamily="34" charset="0"/>
              </a:rPr>
              <a:t>Whenever a user inputs a book title that is found in the dataset, the application retrieves the corresponding</a:t>
            </a:r>
          </a:p>
          <a:p>
            <a:r>
              <a:rPr lang="en-US" sz="1600" dirty="0">
                <a:latin typeface="Bahnschrift Light" pitchFamily="34" charset="0"/>
              </a:rPr>
              <a:t>description, embedding and calculates the closest </a:t>
            </a:r>
            <a:r>
              <a:rPr lang="en-US" sz="1600" dirty="0">
                <a:latin typeface="Bahnschrift Light" pitchFamily="34" charset="0"/>
              </a:rPr>
              <a:t>embedding. Similar </a:t>
            </a:r>
            <a:r>
              <a:rPr lang="en-US" sz="1600" dirty="0">
                <a:latin typeface="Bahnschrift Light" pitchFamily="34" charset="0"/>
              </a:rPr>
              <a:t>embeddings suggest comparable text descriptions</a:t>
            </a:r>
            <a:r>
              <a:rPr lang="en-US" sz="1600" dirty="0">
                <a:latin typeface="Bahnschrift Light" pitchFamily="34" charset="0"/>
              </a:rPr>
              <a:t>. The </a:t>
            </a:r>
            <a:r>
              <a:rPr lang="en-US" sz="1600" dirty="0">
                <a:latin typeface="Bahnschrift Light" pitchFamily="34" charset="0"/>
              </a:rPr>
              <a:t>application operated satisfactory, but storing extensive data in a CSV file proved to be highly</a:t>
            </a:r>
          </a:p>
          <a:p>
            <a:r>
              <a:rPr lang="en-US" sz="1600" dirty="0">
                <a:latin typeface="Bahnschrift Light" pitchFamily="34" charset="0"/>
              </a:rPr>
              <a:t>inefficient</a:t>
            </a:r>
            <a:r>
              <a:rPr lang="en-US" dirty="0" smtClean="0">
                <a:latin typeface="Bahnschrift Light" pitchFamily="34" charset="0"/>
              </a:rPr>
              <a:t>.</a:t>
            </a:r>
          </a:p>
          <a:p>
            <a:endParaRPr lang="en-US" dirty="0">
              <a:latin typeface="Bahnschrift Light" pitchFamily="34" charset="0"/>
            </a:endParaRPr>
          </a:p>
          <a:p>
            <a:r>
              <a:rPr lang="en-US" u="sng" dirty="0">
                <a:latin typeface="Bahnschrift Light" pitchFamily="34" charset="0"/>
              </a:rPr>
              <a:t>The CSV files increased dramatically.</a:t>
            </a:r>
          </a:p>
        </p:txBody>
      </p:sp>
    </p:spTree>
    <p:extLst>
      <p:ext uri="{BB962C8B-B14F-4D97-AF65-F5344CB8AC3E}">
        <p14:creationId xmlns:p14="http://schemas.microsoft.com/office/powerpoint/2010/main" val="17610506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180109" y="501594"/>
            <a:ext cx="11873346" cy="1354217"/>
          </a:xfrm>
          <a:prstGeom prst="rect">
            <a:avLst/>
          </a:prstGeom>
        </p:spPr>
        <p:txBody>
          <a:bodyPr wrap="square">
            <a:spAutoFit/>
          </a:bodyPr>
          <a:lstStyle/>
          <a:p>
            <a:r>
              <a:rPr lang="en-US" sz="1600" dirty="0">
                <a:latin typeface="Bahnschrift Light" pitchFamily="34" charset="0"/>
              </a:rPr>
              <a:t>For instance, for this application, the file with 5000 embeddings is over 200MB.</a:t>
            </a:r>
          </a:p>
          <a:p>
            <a:r>
              <a:rPr lang="en-US" sz="1600" dirty="0">
                <a:latin typeface="Bahnschrift Light" pitchFamily="34" charset="0"/>
              </a:rPr>
              <a:t>Imagine the size it would reach if we were to embed millions or even billions of text records.</a:t>
            </a:r>
          </a:p>
          <a:p>
            <a:r>
              <a:rPr lang="en-US" sz="1600" dirty="0">
                <a:latin typeface="Bahnschrift Light" pitchFamily="34" charset="0"/>
              </a:rPr>
              <a:t>Consequently, we need a specialized database or data store specifically designed to manage such large</a:t>
            </a:r>
          </a:p>
          <a:p>
            <a:r>
              <a:rPr lang="en-US" sz="1600" dirty="0">
                <a:latin typeface="Bahnschrift Light" pitchFamily="34" charset="0"/>
              </a:rPr>
              <a:t>quantities of data in a numeric representation.</a:t>
            </a:r>
          </a:p>
          <a:p>
            <a:r>
              <a:rPr lang="en-US" sz="1600" dirty="0">
                <a:latin typeface="Bahnschrift Light" pitchFamily="34" charset="0"/>
              </a:rPr>
              <a:t>There are many vector databases available, both free and </a:t>
            </a:r>
            <a:r>
              <a:rPr lang="en-US" sz="1600" dirty="0">
                <a:latin typeface="Bahnschrift Light" pitchFamily="34" charset="0"/>
              </a:rPr>
              <a:t>commercial. </a:t>
            </a:r>
            <a:r>
              <a:rPr lang="en-US" dirty="0" smtClean="0">
                <a:solidFill>
                  <a:srgbClr val="FF0066"/>
                </a:solidFill>
                <a:latin typeface="Bahnschrift" pitchFamily="34" charset="0"/>
              </a:rPr>
              <a:t>Pinecone</a:t>
            </a:r>
            <a:r>
              <a:rPr lang="en-US" dirty="0" smtClean="0">
                <a:solidFill>
                  <a:srgbClr val="FF0066"/>
                </a:solidFill>
                <a:latin typeface="Bahnschrift Light" pitchFamily="34" charset="0"/>
              </a:rPr>
              <a:t> ,</a:t>
            </a:r>
            <a:r>
              <a:rPr lang="en-US" dirty="0" smtClean="0">
                <a:solidFill>
                  <a:srgbClr val="FF0066"/>
                </a:solidFill>
                <a:latin typeface="Bahnschrift" pitchFamily="34" charset="0"/>
              </a:rPr>
              <a:t>Chroma</a:t>
            </a:r>
            <a:r>
              <a:rPr lang="en-US" dirty="0">
                <a:latin typeface="Bahnschrift Light" pitchFamily="34" charset="0"/>
              </a:rPr>
              <a:t>.</a:t>
            </a:r>
          </a:p>
        </p:txBody>
      </p:sp>
      <p:sp>
        <p:nvSpPr>
          <p:cNvPr id="3" name="Rectangle 2"/>
          <p:cNvSpPr/>
          <p:nvPr/>
        </p:nvSpPr>
        <p:spPr>
          <a:xfrm>
            <a:off x="180109" y="2524726"/>
            <a:ext cx="11762509" cy="3662541"/>
          </a:xfrm>
          <a:prstGeom prst="rect">
            <a:avLst/>
          </a:prstGeom>
        </p:spPr>
        <p:txBody>
          <a:bodyPr wrap="square">
            <a:spAutoFit/>
          </a:bodyPr>
          <a:lstStyle/>
          <a:p>
            <a:r>
              <a:rPr lang="en-US" b="1" dirty="0">
                <a:solidFill>
                  <a:srgbClr val="00B050"/>
                </a:solidFill>
                <a:latin typeface="Bahnschrift Light" pitchFamily="34" charset="0"/>
              </a:rPr>
              <a:t>Pinecone</a:t>
            </a:r>
            <a:r>
              <a:rPr lang="en-US" dirty="0">
                <a:solidFill>
                  <a:srgbClr val="FF0066"/>
                </a:solidFill>
                <a:latin typeface="Bahnschrift Light" pitchFamily="34" charset="0"/>
              </a:rPr>
              <a:t> </a:t>
            </a:r>
            <a:r>
              <a:rPr lang="en-US" sz="1600" dirty="0">
                <a:latin typeface="Bahnschrift Light" pitchFamily="34" charset="0"/>
              </a:rPr>
              <a:t>is a vector database designed for storing and querying high dimensional vectors.</a:t>
            </a:r>
          </a:p>
          <a:p>
            <a:r>
              <a:rPr lang="en-US" sz="1600" dirty="0">
                <a:latin typeface="Bahnschrift Light" pitchFamily="34" charset="0"/>
              </a:rPr>
              <a:t>It provides fast and efficient semantic search over these vector embeddings by integrating </a:t>
            </a:r>
            <a:r>
              <a:rPr lang="en-US" sz="1600" dirty="0">
                <a:latin typeface="Bahnschrift Light" pitchFamily="34" charset="0"/>
              </a:rPr>
              <a:t>OpenAI LLM </a:t>
            </a:r>
            <a:r>
              <a:rPr lang="en-US" sz="1600" dirty="0">
                <a:latin typeface="Bahnschrift Light" pitchFamily="34" charset="0"/>
              </a:rPr>
              <a:t>with Pinecone.</a:t>
            </a:r>
          </a:p>
          <a:p>
            <a:r>
              <a:rPr lang="en-US" sz="1600" dirty="0">
                <a:latin typeface="Bahnschrift Light" pitchFamily="34" charset="0"/>
              </a:rPr>
              <a:t>We combine deep learning capabilities for embedding generation with efficient vector storage and retrieval</a:t>
            </a:r>
            <a:r>
              <a:rPr lang="en-US" sz="1600" dirty="0" smtClean="0">
                <a:latin typeface="Bahnschrift Light" pitchFamily="34" charset="0"/>
              </a:rPr>
              <a:t>.</a:t>
            </a:r>
          </a:p>
          <a:p>
            <a:endParaRPr lang="en-US" sz="1600" dirty="0">
              <a:latin typeface="Bahnschrift Light" pitchFamily="34" charset="0"/>
            </a:endParaRPr>
          </a:p>
          <a:p>
            <a:r>
              <a:rPr lang="en-US" dirty="0">
                <a:solidFill>
                  <a:srgbClr val="FF5050"/>
                </a:solidFill>
                <a:latin typeface="Bahnschrift" pitchFamily="34" charset="0"/>
                <a:ea typeface="Arial Unicode MS" pitchFamily="34" charset="-128"/>
                <a:cs typeface="Arial Unicode MS" pitchFamily="34" charset="-128"/>
              </a:rPr>
              <a:t>Vector databases </a:t>
            </a:r>
            <a:r>
              <a:rPr lang="en-US" dirty="0">
                <a:solidFill>
                  <a:srgbClr val="FF5050"/>
                </a:solidFill>
                <a:latin typeface="Arial Unicode MS" pitchFamily="34" charset="-128"/>
                <a:ea typeface="Arial Unicode MS" pitchFamily="34" charset="-128"/>
                <a:cs typeface="Arial Unicode MS" pitchFamily="34" charset="-128"/>
              </a:rPr>
              <a:t>are a new type of database designed to store and query unstructured data</a:t>
            </a:r>
            <a:r>
              <a:rPr lang="en-US" dirty="0" smtClean="0">
                <a:solidFill>
                  <a:srgbClr val="FF5050"/>
                </a:solidFill>
                <a:latin typeface="Arial Unicode MS" pitchFamily="34" charset="-128"/>
                <a:ea typeface="Arial Unicode MS" pitchFamily="34" charset="-128"/>
                <a:cs typeface="Arial Unicode MS" pitchFamily="34" charset="-128"/>
              </a:rPr>
              <a:t>.</a:t>
            </a:r>
          </a:p>
          <a:p>
            <a:endParaRPr lang="en-US" sz="1600" dirty="0">
              <a:latin typeface="Bahnschrift Light" pitchFamily="34" charset="0"/>
            </a:endParaRPr>
          </a:p>
          <a:p>
            <a:r>
              <a:rPr lang="en-US" sz="2000" dirty="0">
                <a:solidFill>
                  <a:srgbClr val="7030A0"/>
                </a:solidFill>
                <a:latin typeface="Britannic Bold" pitchFamily="34" charset="0"/>
              </a:rPr>
              <a:t>Unstructured data </a:t>
            </a:r>
            <a:r>
              <a:rPr lang="en-US" sz="1600" dirty="0">
                <a:latin typeface="Bahnschrift Light" pitchFamily="34" charset="0"/>
              </a:rPr>
              <a:t>is data that does not have a fixed schema, such as text images and audio</a:t>
            </a:r>
            <a:r>
              <a:rPr lang="en-US" sz="1600" dirty="0">
                <a:latin typeface="Bahnschrift Light" pitchFamily="34" charset="0"/>
              </a:rPr>
              <a:t>.</a:t>
            </a:r>
          </a:p>
          <a:p>
            <a:endParaRPr lang="en-US" sz="1600" dirty="0">
              <a:latin typeface="Bahnschrift Light" pitchFamily="34" charset="0"/>
            </a:endParaRPr>
          </a:p>
          <a:p>
            <a:r>
              <a:rPr lang="en-US" sz="1600" dirty="0">
                <a:latin typeface="Bahnschrift Light" pitchFamily="34" charset="0"/>
              </a:rPr>
              <a:t>SQL databases, </a:t>
            </a:r>
            <a:endParaRPr lang="en-US" sz="1600" dirty="0">
              <a:latin typeface="Bahnschrift Light" pitchFamily="34" charset="0"/>
            </a:endParaRPr>
          </a:p>
          <a:p>
            <a:r>
              <a:rPr lang="en-US" sz="1600" dirty="0">
                <a:latin typeface="Bahnschrift Light" pitchFamily="34" charset="0"/>
              </a:rPr>
              <a:t>on </a:t>
            </a:r>
            <a:r>
              <a:rPr lang="en-US" sz="1600" dirty="0">
                <a:latin typeface="Bahnschrift Light" pitchFamily="34" charset="0"/>
              </a:rPr>
              <a:t>the other hand, are designed to store and query structured data, which has a </a:t>
            </a:r>
            <a:r>
              <a:rPr lang="en-US" sz="1600" dirty="0">
                <a:latin typeface="Bahnschrift Light" pitchFamily="34" charset="0"/>
              </a:rPr>
              <a:t>fixed schema</a:t>
            </a:r>
            <a:r>
              <a:rPr lang="en-US" sz="1600" dirty="0">
                <a:latin typeface="Bahnschrift Light" pitchFamily="34" charset="0"/>
              </a:rPr>
              <a:t>.</a:t>
            </a:r>
          </a:p>
          <a:p>
            <a:r>
              <a:rPr lang="en-US" sz="1600" dirty="0">
                <a:latin typeface="Bahnschrift Light" pitchFamily="34" charset="0"/>
              </a:rPr>
              <a:t>In a traditional SQL database, we usually query for rows where the values match specific criteria.</a:t>
            </a:r>
          </a:p>
          <a:p>
            <a:r>
              <a:rPr lang="en-US" sz="1600" dirty="0">
                <a:latin typeface="Bahnschrift Light" pitchFamily="34" charset="0"/>
              </a:rPr>
              <a:t>Think of the SQL Select statement in vector databases</a:t>
            </a:r>
            <a:r>
              <a:rPr lang="en-US" sz="1600" dirty="0" smtClean="0">
                <a:latin typeface="Bahnschrift Light" pitchFamily="34" charset="0"/>
              </a:rPr>
              <a:t>.</a:t>
            </a:r>
          </a:p>
          <a:p>
            <a:endParaRPr lang="en-US" sz="1600" dirty="0">
              <a:latin typeface="Bahnschrift Light" pitchFamily="34" charset="0"/>
            </a:endParaRPr>
          </a:p>
          <a:p>
            <a:r>
              <a:rPr lang="en-US" u="sng" dirty="0">
                <a:solidFill>
                  <a:srgbClr val="0070C0"/>
                </a:solidFill>
                <a:latin typeface="Bahnschrift Light" pitchFamily="34" charset="0"/>
              </a:rPr>
              <a:t>We apply a similarity metric to find a vector that is the most similar to our query.</a:t>
            </a:r>
          </a:p>
        </p:txBody>
      </p:sp>
    </p:spTree>
    <p:extLst>
      <p:ext uri="{BB962C8B-B14F-4D97-AF65-F5344CB8AC3E}">
        <p14:creationId xmlns:p14="http://schemas.microsoft.com/office/powerpoint/2010/main" val="17610506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4" name="Group 3"/>
          <p:cNvGrpSpPr/>
          <p:nvPr/>
        </p:nvGrpSpPr>
        <p:grpSpPr>
          <a:xfrm>
            <a:off x="148603" y="172195"/>
            <a:ext cx="2074398" cy="338450"/>
            <a:chOff x="248673" y="195940"/>
            <a:chExt cx="2074398" cy="338450"/>
          </a:xfrm>
        </p:grpSpPr>
        <p:cxnSp>
          <p:nvCxnSpPr>
            <p:cNvPr id="5" name="Straight Connector 4"/>
            <p:cNvCxnSpPr/>
            <p:nvPr/>
          </p:nvCxnSpPr>
          <p:spPr>
            <a:xfrm flipV="1">
              <a:off x="248673" y="528455"/>
              <a:ext cx="2074398" cy="5935"/>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91176" y="195940"/>
              <a:ext cx="1274458" cy="3384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smtClean="0">
                  <a:latin typeface="Bahnschrift" pitchFamily="34" charset="0"/>
                </a:rPr>
                <a:t>Vector</a:t>
              </a:r>
              <a:endParaRPr lang="en-IN" sz="1600" dirty="0">
                <a:latin typeface="Bahnschrift" pitchFamily="34" charset="0"/>
              </a:endParaRPr>
            </a:p>
          </p:txBody>
        </p:sp>
      </p:grpSp>
      <p:sp>
        <p:nvSpPr>
          <p:cNvPr id="3" name="Rectangle 2"/>
          <p:cNvSpPr/>
          <p:nvPr/>
        </p:nvSpPr>
        <p:spPr>
          <a:xfrm>
            <a:off x="344460" y="3527640"/>
            <a:ext cx="11511884" cy="1077218"/>
          </a:xfrm>
          <a:prstGeom prst="rect">
            <a:avLst/>
          </a:prstGeom>
        </p:spPr>
        <p:txBody>
          <a:bodyPr wrap="square">
            <a:spAutoFit/>
          </a:bodyPr>
          <a:lstStyle/>
          <a:p>
            <a:r>
              <a:rPr lang="en-US" sz="1600" dirty="0">
                <a:latin typeface="Bahnschrift Light" pitchFamily="34" charset="0"/>
                <a:ea typeface="Arial Unicode MS" pitchFamily="34" charset="-128"/>
                <a:cs typeface="Arial Unicode MS" pitchFamily="34" charset="-128"/>
              </a:rPr>
              <a:t>A </a:t>
            </a:r>
            <a:r>
              <a:rPr lang="en-US" sz="1600" b="1" dirty="0">
                <a:solidFill>
                  <a:srgbClr val="FF5050"/>
                </a:solidFill>
                <a:latin typeface="Bahnschrift Light" pitchFamily="34" charset="0"/>
                <a:ea typeface="Arial Unicode MS" pitchFamily="34" charset="-128"/>
                <a:cs typeface="Arial Unicode MS" pitchFamily="34" charset="-128"/>
              </a:rPr>
              <a:t>vector</a:t>
            </a:r>
            <a:r>
              <a:rPr lang="en-US" sz="1600" dirty="0">
                <a:latin typeface="Bahnschrift Light" pitchFamily="34" charset="0"/>
                <a:ea typeface="Arial Unicode MS" pitchFamily="34" charset="-128"/>
                <a:cs typeface="Arial Unicode MS" pitchFamily="34" charset="-128"/>
              </a:rPr>
              <a:t> </a:t>
            </a:r>
            <a:r>
              <a:rPr lang="en-US" sz="1600" dirty="0"/>
              <a:t>is a mathematical object characterized by both magnitude and direction</a:t>
            </a:r>
            <a:r>
              <a:rPr lang="en-US" sz="1600" dirty="0"/>
              <a:t>.</a:t>
            </a:r>
          </a:p>
          <a:p>
            <a:endParaRPr lang="en-US" sz="1600" dirty="0">
              <a:latin typeface="Bahnschrift Light" pitchFamily="34" charset="0"/>
              <a:ea typeface="Arial Unicode MS" pitchFamily="34" charset="-128"/>
              <a:cs typeface="Arial Unicode MS" pitchFamily="34" charset="-128"/>
            </a:endParaRPr>
          </a:p>
          <a:p>
            <a:r>
              <a:rPr lang="en-US" sz="1600" dirty="0"/>
              <a:t>It </a:t>
            </a:r>
            <a:r>
              <a:rPr lang="en-US" sz="1600" dirty="0"/>
              <a:t>is </a:t>
            </a:r>
            <a:r>
              <a:rPr lang="en-US" sz="1600" dirty="0"/>
              <a:t>represented </a:t>
            </a:r>
            <a:r>
              <a:rPr lang="en-US" sz="1600" dirty="0"/>
              <a:t>as an arrow pointing from one point to another in </a:t>
            </a:r>
            <a:r>
              <a:rPr lang="en-US" sz="1600" dirty="0"/>
              <a:t>space. The </a:t>
            </a:r>
            <a:r>
              <a:rPr lang="en-US" sz="1600" dirty="0"/>
              <a:t>arrow has a starting point and an end point.</a:t>
            </a:r>
          </a:p>
          <a:p>
            <a:r>
              <a:rPr lang="en-US" sz="1600" dirty="0"/>
              <a:t>The </a:t>
            </a:r>
            <a:r>
              <a:rPr lang="en-US" sz="1600" dirty="0"/>
              <a:t>length of the arrow corresponds to the magnitude of the vector, while its orientation in </a:t>
            </a:r>
            <a:r>
              <a:rPr lang="en-US" sz="1600" dirty="0"/>
              <a:t>space indicates </a:t>
            </a:r>
            <a:r>
              <a:rPr lang="en-US" sz="1600" dirty="0"/>
              <a:t>the direction</a:t>
            </a:r>
            <a:r>
              <a:rPr lang="en-US" sz="1600" dirty="0">
                <a:latin typeface="Bahnschrift Light" pitchFamily="34" charset="0"/>
                <a:ea typeface="Arial Unicode MS" pitchFamily="34" charset="-128"/>
                <a:cs typeface="Arial Unicode MS" pitchFamily="34" charset="-128"/>
              </a:rPr>
              <a:t>.</a:t>
            </a:r>
            <a:endParaRPr lang="en-IN" sz="1600" dirty="0">
              <a:latin typeface="Bahnschrift Light" pitchFamily="34" charset="0"/>
              <a:ea typeface="Arial Unicode MS" pitchFamily="34" charset="-128"/>
              <a:cs typeface="Arial Unicode MS" pitchFamily="34" charset="-128"/>
            </a:endParaRPr>
          </a:p>
        </p:txBody>
      </p:sp>
      <p:grpSp>
        <p:nvGrpSpPr>
          <p:cNvPr id="31" name="Group 30"/>
          <p:cNvGrpSpPr/>
          <p:nvPr/>
        </p:nvGrpSpPr>
        <p:grpSpPr>
          <a:xfrm>
            <a:off x="2527208" y="561919"/>
            <a:ext cx="6182125" cy="2278713"/>
            <a:chOff x="2855316" y="4109536"/>
            <a:chExt cx="6182125" cy="2278713"/>
          </a:xfrm>
        </p:grpSpPr>
        <p:grpSp>
          <p:nvGrpSpPr>
            <p:cNvPr id="27" name="Group 26"/>
            <p:cNvGrpSpPr/>
            <p:nvPr/>
          </p:nvGrpSpPr>
          <p:grpSpPr>
            <a:xfrm>
              <a:off x="2855316" y="4109536"/>
              <a:ext cx="6182125" cy="2278713"/>
              <a:chOff x="2855316" y="4109536"/>
              <a:chExt cx="6182125" cy="2278713"/>
            </a:xfrm>
          </p:grpSpPr>
          <p:grpSp>
            <p:nvGrpSpPr>
              <p:cNvPr id="12" name="Group 11"/>
              <p:cNvGrpSpPr/>
              <p:nvPr/>
            </p:nvGrpSpPr>
            <p:grpSpPr>
              <a:xfrm>
                <a:off x="3810001" y="5209125"/>
                <a:ext cx="3910715" cy="1085615"/>
                <a:chOff x="3810001" y="4767010"/>
                <a:chExt cx="3910715" cy="1085615"/>
              </a:xfrm>
            </p:grpSpPr>
            <p:sp>
              <p:nvSpPr>
                <p:cNvPr id="7" name="Right Arrow 6"/>
                <p:cNvSpPr/>
                <p:nvPr/>
              </p:nvSpPr>
              <p:spPr>
                <a:xfrm rot="20381002">
                  <a:off x="4102528" y="4767010"/>
                  <a:ext cx="3618188" cy="378088"/>
                </a:xfrm>
                <a:prstGeom prst="rightArrow">
                  <a:avLst/>
                </a:prstGeom>
                <a:solidFill>
                  <a:srgbClr val="00D05E"/>
                </a:solidFill>
                <a:ln>
                  <a:solidFill>
                    <a:srgbClr val="00D0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dirty="0"/>
                </a:p>
              </p:txBody>
            </p:sp>
            <p:sp>
              <p:nvSpPr>
                <p:cNvPr id="9" name="Flowchart: Connector 8"/>
                <p:cNvSpPr/>
                <p:nvPr/>
              </p:nvSpPr>
              <p:spPr>
                <a:xfrm>
                  <a:off x="3810001" y="5395425"/>
                  <a:ext cx="457200" cy="457200"/>
                </a:xfrm>
                <a:prstGeom prst="flowChartConnector">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dirty="0"/>
                </a:p>
              </p:txBody>
            </p:sp>
          </p:grpSp>
          <p:cxnSp>
            <p:nvCxnSpPr>
              <p:cNvPr id="10" name="Straight Connector 9"/>
              <p:cNvCxnSpPr>
                <a:endCxn id="9" idx="7"/>
              </p:cNvCxnSpPr>
              <p:nvPr/>
            </p:nvCxnSpPr>
            <p:spPr>
              <a:xfrm>
                <a:off x="4005123" y="5292436"/>
                <a:ext cx="195123" cy="61205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160445" y="4109536"/>
                <a:ext cx="195123" cy="62520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4102684" y="4422136"/>
                <a:ext cx="3155322" cy="1176329"/>
              </a:xfrm>
              <a:prstGeom prst="straightConnector1">
                <a:avLst/>
              </a:prstGeom>
              <a:ln>
                <a:prstDash val="sysDash"/>
                <a:headEnd type="arrow"/>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rot="20449472">
                <a:off x="4630150" y="4753856"/>
                <a:ext cx="1524969" cy="338554"/>
              </a:xfrm>
              <a:prstGeom prst="rect">
                <a:avLst/>
              </a:prstGeom>
              <a:noFill/>
            </p:spPr>
            <p:txBody>
              <a:bodyPr wrap="none" rtlCol="0">
                <a:spAutoFit/>
              </a:bodyPr>
              <a:lstStyle/>
              <a:p>
                <a:r>
                  <a:rPr lang="en-US" sz="1600" dirty="0" smtClean="0"/>
                  <a:t>Magnitude(size)</a:t>
                </a:r>
                <a:endParaRPr lang="en-IN" sz="1600" dirty="0"/>
              </a:p>
            </p:txBody>
          </p:sp>
          <p:sp>
            <p:nvSpPr>
              <p:cNvPr id="22" name="TextBox 21"/>
              <p:cNvSpPr txBox="1"/>
              <p:nvPr/>
            </p:nvSpPr>
            <p:spPr>
              <a:xfrm rot="20449472">
                <a:off x="5437518" y="5598196"/>
                <a:ext cx="948208" cy="338554"/>
              </a:xfrm>
              <a:prstGeom prst="rect">
                <a:avLst/>
              </a:prstGeom>
              <a:noFill/>
            </p:spPr>
            <p:txBody>
              <a:bodyPr wrap="none" rtlCol="0">
                <a:spAutoFit/>
              </a:bodyPr>
              <a:lstStyle/>
              <a:p>
                <a:r>
                  <a:rPr lang="en-US" sz="1600" dirty="0" smtClean="0"/>
                  <a:t>Direction</a:t>
                </a:r>
                <a:endParaRPr lang="en-IN" sz="1600" dirty="0"/>
              </a:p>
            </p:txBody>
          </p:sp>
          <p:cxnSp>
            <p:nvCxnSpPr>
              <p:cNvPr id="23" name="Straight Arrow Connector 22"/>
              <p:cNvCxnSpPr>
                <a:stCxn id="22" idx="3"/>
              </p:cNvCxnSpPr>
              <p:nvPr/>
            </p:nvCxnSpPr>
            <p:spPr>
              <a:xfrm flipV="1">
                <a:off x="6359421" y="5292439"/>
                <a:ext cx="711487" cy="319309"/>
              </a:xfrm>
              <a:prstGeom prst="straightConnector1">
                <a:avLst/>
              </a:prstGeom>
              <a:ln w="38100">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6" name="Flowchart: Connector 25"/>
              <p:cNvSpPr/>
              <p:nvPr/>
            </p:nvSpPr>
            <p:spPr>
              <a:xfrm>
                <a:off x="7595997" y="4422136"/>
                <a:ext cx="457200" cy="457200"/>
              </a:xfrm>
              <a:prstGeom prst="flowChartConnector">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dirty="0"/>
              </a:p>
            </p:txBody>
          </p:sp>
          <p:sp>
            <p:nvSpPr>
              <p:cNvPr id="25" name="TextBox 24"/>
              <p:cNvSpPr txBox="1"/>
              <p:nvPr/>
            </p:nvSpPr>
            <p:spPr>
              <a:xfrm>
                <a:off x="2855316" y="6049695"/>
                <a:ext cx="1062599" cy="338554"/>
              </a:xfrm>
              <a:prstGeom prst="rect">
                <a:avLst/>
              </a:prstGeom>
              <a:noFill/>
            </p:spPr>
            <p:txBody>
              <a:bodyPr wrap="none" rtlCol="0">
                <a:spAutoFit/>
              </a:bodyPr>
              <a:lstStyle/>
              <a:p>
                <a:r>
                  <a:rPr lang="en-US" sz="1600" dirty="0"/>
                  <a:t>Start Point</a:t>
                </a:r>
                <a:endParaRPr lang="en-IN" sz="1600" dirty="0"/>
              </a:p>
            </p:txBody>
          </p:sp>
          <p:sp>
            <p:nvSpPr>
              <p:cNvPr id="28" name="TextBox 27"/>
              <p:cNvSpPr txBox="1"/>
              <p:nvPr/>
            </p:nvSpPr>
            <p:spPr>
              <a:xfrm>
                <a:off x="8053197" y="4426959"/>
                <a:ext cx="984244" cy="338554"/>
              </a:xfrm>
              <a:prstGeom prst="rect">
                <a:avLst/>
              </a:prstGeom>
              <a:noFill/>
            </p:spPr>
            <p:txBody>
              <a:bodyPr wrap="none" rtlCol="0">
                <a:spAutoFit/>
              </a:bodyPr>
              <a:lstStyle/>
              <a:p>
                <a:r>
                  <a:rPr lang="en-US" sz="1600" dirty="0" smtClean="0"/>
                  <a:t>End point</a:t>
                </a:r>
                <a:endParaRPr lang="en-IN" sz="1600" dirty="0"/>
              </a:p>
            </p:txBody>
          </p:sp>
        </p:grpSp>
        <p:cxnSp>
          <p:nvCxnSpPr>
            <p:cNvPr id="30" name="Straight Connector 29"/>
            <p:cNvCxnSpPr/>
            <p:nvPr/>
          </p:nvCxnSpPr>
          <p:spPr>
            <a:xfrm>
              <a:off x="4267201" y="6203583"/>
              <a:ext cx="4100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622712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124690" y="1095287"/>
            <a:ext cx="11901052" cy="584775"/>
          </a:xfrm>
          <a:prstGeom prst="rect">
            <a:avLst/>
          </a:prstGeom>
          <a:ln>
            <a:noFill/>
          </a:ln>
        </p:spPr>
        <p:txBody>
          <a:bodyPr wrap="square">
            <a:spAutoFit/>
          </a:bodyPr>
          <a:lstStyle/>
          <a:p>
            <a:r>
              <a:rPr lang="en-US" sz="1600" dirty="0" smtClean="0">
                <a:latin typeface="+mj-lt"/>
                <a:ea typeface="Cambria Math" pitchFamily="18" charset="0"/>
              </a:rPr>
              <a:t>For instance, </a:t>
            </a:r>
            <a:r>
              <a:rPr lang="en-US" sz="1600" dirty="0">
                <a:latin typeface="+mj-lt"/>
                <a:ea typeface="Cambria Math" pitchFamily="18" charset="0"/>
              </a:rPr>
              <a:t>if the x component has a value of eight and the y component has a value of 12, the vector can be written as a list of </a:t>
            </a:r>
            <a:r>
              <a:rPr lang="en-US" sz="1600" dirty="0" smtClean="0">
                <a:latin typeface="+mj-lt"/>
                <a:ea typeface="Cambria Math" pitchFamily="18" charset="0"/>
              </a:rPr>
              <a:t>numbers </a:t>
            </a:r>
            <a:r>
              <a:rPr lang="en-US" sz="1600" dirty="0">
                <a:latin typeface="+mj-lt"/>
                <a:ea typeface="Cambria Math" pitchFamily="18" charset="0"/>
              </a:rPr>
              <a:t>eight and </a:t>
            </a:r>
            <a:r>
              <a:rPr lang="en-US" sz="1600" dirty="0" smtClean="0">
                <a:latin typeface="+mj-lt"/>
                <a:ea typeface="Cambria Math" pitchFamily="18" charset="0"/>
              </a:rPr>
              <a:t>12.The </a:t>
            </a:r>
            <a:r>
              <a:rPr lang="en-US" sz="1600" dirty="0">
                <a:latin typeface="+mj-lt"/>
                <a:ea typeface="Cambria Math" pitchFamily="18" charset="0"/>
              </a:rPr>
              <a:t>first number corresponds to the first dimension and the second number correspond to the second dimension.</a:t>
            </a:r>
          </a:p>
        </p:txBody>
      </p:sp>
      <p:sp>
        <p:nvSpPr>
          <p:cNvPr id="3" name="Rectangle 2"/>
          <p:cNvSpPr/>
          <p:nvPr/>
        </p:nvSpPr>
        <p:spPr>
          <a:xfrm>
            <a:off x="124688" y="5103674"/>
            <a:ext cx="11901054" cy="1754326"/>
          </a:xfrm>
          <a:prstGeom prst="rect">
            <a:avLst/>
          </a:prstGeom>
        </p:spPr>
        <p:txBody>
          <a:bodyPr wrap="square">
            <a:spAutoFit/>
          </a:bodyPr>
          <a:lstStyle/>
          <a:p>
            <a:r>
              <a:rPr lang="en-US" sz="1600" dirty="0">
                <a:latin typeface="+mj-lt"/>
                <a:ea typeface="Cambria Math" pitchFamily="18" charset="0"/>
              </a:rPr>
              <a:t>This approach works well for two dimensional vectors, but what happens when we have vectors with more</a:t>
            </a:r>
          </a:p>
          <a:p>
            <a:endParaRPr lang="en-US" sz="1400" dirty="0">
              <a:latin typeface="+mj-lt"/>
              <a:ea typeface="Cambria Math" pitchFamily="18" charset="0"/>
            </a:endParaRPr>
          </a:p>
          <a:p>
            <a:r>
              <a:rPr lang="en-US" sz="1600" dirty="0">
                <a:latin typeface="+mj-lt"/>
                <a:ea typeface="Cambria Math" pitchFamily="18" charset="0"/>
              </a:rPr>
              <a:t>dimensions like 7 or 700?</a:t>
            </a:r>
          </a:p>
          <a:p>
            <a:r>
              <a:rPr lang="en-US" sz="1600" dirty="0">
                <a:latin typeface="+mj-lt"/>
                <a:ea typeface="Cambria Math" pitchFamily="18" charset="0"/>
              </a:rPr>
              <a:t>We can't easily draw or visualize such vectors in </a:t>
            </a:r>
            <a:r>
              <a:rPr lang="en-US" sz="1600" dirty="0" smtClean="0">
                <a:latin typeface="+mj-lt"/>
                <a:ea typeface="Cambria Math" pitchFamily="18" charset="0"/>
              </a:rPr>
              <a:t>space.Still</a:t>
            </a:r>
            <a:r>
              <a:rPr lang="en-US" sz="1600" dirty="0">
                <a:latin typeface="+mj-lt"/>
                <a:ea typeface="Cambria Math" pitchFamily="18" charset="0"/>
              </a:rPr>
              <a:t>, it is a vector and it has a magnitude and direction.</a:t>
            </a:r>
          </a:p>
          <a:p>
            <a:r>
              <a:rPr lang="en-US" sz="1600" dirty="0" smtClean="0">
                <a:latin typeface="+mj-lt"/>
                <a:ea typeface="Cambria Math" pitchFamily="18" charset="0"/>
              </a:rPr>
              <a:t>The </a:t>
            </a:r>
            <a:r>
              <a:rPr lang="en-US" sz="1600" dirty="0">
                <a:latin typeface="+mj-lt"/>
                <a:ea typeface="Cambria Math" pitchFamily="18" charset="0"/>
              </a:rPr>
              <a:t>vector is represented as a list of dimensional components such as d1, d2, d2, d3, d4 until d7</a:t>
            </a:r>
          </a:p>
          <a:p>
            <a:endParaRPr lang="en-US" sz="1400" dirty="0">
              <a:latin typeface="+mj-lt"/>
              <a:ea typeface="Cambria Math" pitchFamily="18" charset="0"/>
            </a:endParaRPr>
          </a:p>
          <a:p>
            <a:r>
              <a:rPr lang="en-US" sz="1600" dirty="0">
                <a:latin typeface="+mj-lt"/>
                <a:ea typeface="Cambria Math" pitchFamily="18" charset="0"/>
              </a:rPr>
              <a:t>For a seven dimensional vector, the number of dimensions defines the dimensional space of a specific vector</a:t>
            </a:r>
            <a:r>
              <a:rPr lang="en-US" sz="1400" dirty="0">
                <a:latin typeface="Bahnschrift Light" pitchFamily="34" charset="0"/>
                <a:ea typeface="Cambria Math" pitchFamily="18" charset="0"/>
              </a:rPr>
              <a:t>.</a:t>
            </a:r>
            <a:endParaRPr lang="en-IN" sz="1400" dirty="0">
              <a:latin typeface="Bahnschrift Light" pitchFamily="34" charset="0"/>
              <a:ea typeface="Cambria Math" pitchFamily="18" charset="0"/>
            </a:endParaRPr>
          </a:p>
        </p:txBody>
      </p:sp>
      <p:sp>
        <p:nvSpPr>
          <p:cNvPr id="4" name="Rectangle 3"/>
          <p:cNvSpPr/>
          <p:nvPr/>
        </p:nvSpPr>
        <p:spPr>
          <a:xfrm>
            <a:off x="124689" y="220117"/>
            <a:ext cx="11901053" cy="830997"/>
          </a:xfrm>
          <a:prstGeom prst="rect">
            <a:avLst/>
          </a:prstGeom>
        </p:spPr>
        <p:txBody>
          <a:bodyPr wrap="square">
            <a:spAutoFit/>
          </a:bodyPr>
          <a:lstStyle/>
          <a:p>
            <a:r>
              <a:rPr lang="en-US" sz="1600" dirty="0">
                <a:latin typeface="Bahnschrift Light" pitchFamily="34" charset="0"/>
                <a:ea typeface="Cambria Math" pitchFamily="18" charset="0"/>
              </a:rPr>
              <a:t>A vector consists of an x component, which is sitting on the horizontal axis, and a y component sitting in the on the vertical axis.</a:t>
            </a:r>
          </a:p>
          <a:p>
            <a:r>
              <a:rPr lang="en-US" sz="1600" dirty="0">
                <a:latin typeface="Bahnschrift Light" pitchFamily="34" charset="0"/>
                <a:ea typeface="Cambria Math" pitchFamily="18" charset="0"/>
              </a:rPr>
              <a:t>So instead of visualizing a vector as a line in space, we can represent it mathematically by writing down its components as numbers</a:t>
            </a:r>
            <a:endParaRPr lang="en-IN" sz="1600" dirty="0"/>
          </a:p>
        </p:txBody>
      </p:sp>
      <p:grpSp>
        <p:nvGrpSpPr>
          <p:cNvPr id="40" name="Group 39"/>
          <p:cNvGrpSpPr/>
          <p:nvPr/>
        </p:nvGrpSpPr>
        <p:grpSpPr>
          <a:xfrm>
            <a:off x="1814279" y="1926284"/>
            <a:ext cx="5614367" cy="2942211"/>
            <a:chOff x="1814279" y="1926284"/>
            <a:chExt cx="5614367" cy="2942211"/>
          </a:xfrm>
        </p:grpSpPr>
        <p:grpSp>
          <p:nvGrpSpPr>
            <p:cNvPr id="29" name="Group 28"/>
            <p:cNvGrpSpPr/>
            <p:nvPr/>
          </p:nvGrpSpPr>
          <p:grpSpPr>
            <a:xfrm>
              <a:off x="1814279" y="1926284"/>
              <a:ext cx="4457732" cy="2942211"/>
              <a:chOff x="1814279" y="1926284"/>
              <a:chExt cx="4457732" cy="2942211"/>
            </a:xfrm>
          </p:grpSpPr>
          <p:grpSp>
            <p:nvGrpSpPr>
              <p:cNvPr id="17" name="Group 16"/>
              <p:cNvGrpSpPr/>
              <p:nvPr/>
            </p:nvGrpSpPr>
            <p:grpSpPr>
              <a:xfrm>
                <a:off x="1814279" y="1926284"/>
                <a:ext cx="4457732" cy="2891303"/>
                <a:chOff x="1814279" y="1926284"/>
                <a:chExt cx="4457732" cy="2891303"/>
              </a:xfrm>
            </p:grpSpPr>
            <p:grpSp>
              <p:nvGrpSpPr>
                <p:cNvPr id="14" name="Group 13"/>
                <p:cNvGrpSpPr/>
                <p:nvPr/>
              </p:nvGrpSpPr>
              <p:grpSpPr>
                <a:xfrm>
                  <a:off x="2074929" y="1926284"/>
                  <a:ext cx="4197082" cy="2876042"/>
                  <a:chOff x="1919277" y="1649869"/>
                  <a:chExt cx="4197082" cy="2876042"/>
                </a:xfrm>
              </p:grpSpPr>
              <p:grpSp>
                <p:nvGrpSpPr>
                  <p:cNvPr id="13" name="Group 12"/>
                  <p:cNvGrpSpPr/>
                  <p:nvPr/>
                </p:nvGrpSpPr>
                <p:grpSpPr>
                  <a:xfrm>
                    <a:off x="2064327" y="1926284"/>
                    <a:ext cx="4052032" cy="2599627"/>
                    <a:chOff x="2064327" y="1810885"/>
                    <a:chExt cx="4052032" cy="2599627"/>
                  </a:xfrm>
                </p:grpSpPr>
                <p:grpSp>
                  <p:nvGrpSpPr>
                    <p:cNvPr id="10" name="Group 9"/>
                    <p:cNvGrpSpPr/>
                    <p:nvPr/>
                  </p:nvGrpSpPr>
                  <p:grpSpPr>
                    <a:xfrm>
                      <a:off x="2064327" y="1810885"/>
                      <a:ext cx="3740728" cy="2345479"/>
                      <a:chOff x="2064327" y="1810885"/>
                      <a:chExt cx="3740728" cy="2345479"/>
                    </a:xfrm>
                  </p:grpSpPr>
                  <p:cxnSp>
                    <p:nvCxnSpPr>
                      <p:cNvPr id="6" name="Straight Connector 5"/>
                      <p:cNvCxnSpPr/>
                      <p:nvPr/>
                    </p:nvCxnSpPr>
                    <p:spPr>
                      <a:xfrm>
                        <a:off x="2064327" y="1810885"/>
                        <a:ext cx="0" cy="2345479"/>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064327" y="4156364"/>
                        <a:ext cx="3740728"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5805055" y="4041180"/>
                      <a:ext cx="311304" cy="369332"/>
                    </a:xfrm>
                    <a:prstGeom prst="rect">
                      <a:avLst/>
                    </a:prstGeom>
                    <a:solidFill>
                      <a:srgbClr val="00D05E"/>
                    </a:solidFill>
                  </p:spPr>
                  <p:txBody>
                    <a:bodyPr wrap="none" rtlCol="0">
                      <a:spAutoFit/>
                    </a:bodyPr>
                    <a:lstStyle/>
                    <a:p>
                      <a:r>
                        <a:rPr lang="en-US" b="1" dirty="0" smtClean="0">
                          <a:solidFill>
                            <a:schemeClr val="bg1"/>
                          </a:solidFill>
                        </a:rPr>
                        <a:t>X</a:t>
                      </a:r>
                      <a:endParaRPr lang="en-IN" b="1" dirty="0">
                        <a:solidFill>
                          <a:schemeClr val="bg1"/>
                        </a:solidFill>
                      </a:endParaRPr>
                    </a:p>
                  </p:txBody>
                </p:sp>
              </p:grpSp>
              <p:sp>
                <p:nvSpPr>
                  <p:cNvPr id="15" name="TextBox 14"/>
                  <p:cNvSpPr txBox="1"/>
                  <p:nvPr/>
                </p:nvSpPr>
                <p:spPr>
                  <a:xfrm>
                    <a:off x="1919277" y="1649869"/>
                    <a:ext cx="311304" cy="369332"/>
                  </a:xfrm>
                  <a:prstGeom prst="rect">
                    <a:avLst/>
                  </a:prstGeom>
                  <a:solidFill>
                    <a:srgbClr val="00D05E"/>
                  </a:solidFill>
                </p:spPr>
                <p:txBody>
                  <a:bodyPr wrap="none" rtlCol="0">
                    <a:spAutoFit/>
                  </a:bodyPr>
                  <a:lstStyle/>
                  <a:p>
                    <a:r>
                      <a:rPr lang="en-US" b="1" dirty="0" smtClean="0">
                        <a:solidFill>
                          <a:schemeClr val="bg1"/>
                        </a:solidFill>
                      </a:rPr>
                      <a:t>Y</a:t>
                    </a:r>
                    <a:endParaRPr lang="en-IN" b="1" dirty="0">
                      <a:solidFill>
                        <a:schemeClr val="bg1"/>
                      </a:solidFill>
                    </a:endParaRPr>
                  </a:p>
                </p:txBody>
              </p:sp>
            </p:grpSp>
            <p:sp>
              <p:nvSpPr>
                <p:cNvPr id="16" name="TextBox 15"/>
                <p:cNvSpPr txBox="1"/>
                <p:nvPr/>
              </p:nvSpPr>
              <p:spPr>
                <a:xfrm>
                  <a:off x="1814279" y="4509810"/>
                  <a:ext cx="521297" cy="307777"/>
                </a:xfrm>
                <a:prstGeom prst="rect">
                  <a:avLst/>
                </a:prstGeom>
                <a:noFill/>
              </p:spPr>
              <p:txBody>
                <a:bodyPr wrap="none" rtlCol="0">
                  <a:spAutoFit/>
                </a:bodyPr>
                <a:lstStyle/>
                <a:p>
                  <a:r>
                    <a:rPr lang="en-US" sz="1400" dirty="0" smtClean="0"/>
                    <a:t>(0,0)</a:t>
                  </a:r>
                  <a:endParaRPr lang="en-IN" sz="1400" dirty="0"/>
                </a:p>
              </p:txBody>
            </p:sp>
          </p:grpSp>
          <p:cxnSp>
            <p:nvCxnSpPr>
              <p:cNvPr id="19" name="Straight Arrow Connector 18"/>
              <p:cNvCxnSpPr/>
              <p:nvPr/>
            </p:nvCxnSpPr>
            <p:spPr>
              <a:xfrm flipV="1">
                <a:off x="2219979" y="3401654"/>
                <a:ext cx="2421294" cy="1146524"/>
              </a:xfrm>
              <a:prstGeom prst="straightConnector1">
                <a:avLst/>
              </a:prstGeom>
              <a:ln w="571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641273" y="3401654"/>
                <a:ext cx="0" cy="1108156"/>
              </a:xfrm>
              <a:prstGeom prst="line">
                <a:avLst/>
              </a:prstGeom>
              <a:ln>
                <a:solidFill>
                  <a:srgbClr val="00B0F0"/>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230581" y="3401654"/>
                <a:ext cx="2410692" cy="0"/>
              </a:xfrm>
              <a:prstGeom prst="line">
                <a:avLst/>
              </a:prstGeom>
              <a:ln>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463981" y="4560718"/>
                <a:ext cx="369012" cy="307777"/>
              </a:xfrm>
              <a:prstGeom prst="rect">
                <a:avLst/>
              </a:prstGeom>
              <a:noFill/>
            </p:spPr>
            <p:txBody>
              <a:bodyPr wrap="none" rtlCol="0">
                <a:spAutoFit/>
              </a:bodyPr>
              <a:lstStyle/>
              <a:p>
                <a:r>
                  <a:rPr lang="en-US" sz="1400" dirty="0" smtClean="0"/>
                  <a:t>X1</a:t>
                </a:r>
                <a:endParaRPr lang="en-IN" sz="1400" dirty="0"/>
              </a:p>
            </p:txBody>
          </p:sp>
          <p:sp>
            <p:nvSpPr>
              <p:cNvPr id="30" name="TextBox 29"/>
              <p:cNvSpPr txBox="1"/>
              <p:nvPr/>
            </p:nvSpPr>
            <p:spPr>
              <a:xfrm>
                <a:off x="1865395" y="3247765"/>
                <a:ext cx="364202" cy="307777"/>
              </a:xfrm>
              <a:prstGeom prst="rect">
                <a:avLst/>
              </a:prstGeom>
              <a:noFill/>
            </p:spPr>
            <p:txBody>
              <a:bodyPr wrap="none" rtlCol="0">
                <a:spAutoFit/>
              </a:bodyPr>
              <a:lstStyle/>
              <a:p>
                <a:r>
                  <a:rPr lang="en-US" sz="1400" dirty="0" smtClean="0"/>
                  <a:t>Y1</a:t>
                </a:r>
                <a:endParaRPr lang="en-IN" sz="1400" dirty="0"/>
              </a:p>
            </p:txBody>
          </p:sp>
        </p:grpSp>
        <p:sp>
          <p:nvSpPr>
            <p:cNvPr id="33" name="TextBox 32"/>
            <p:cNvSpPr txBox="1"/>
            <p:nvPr/>
          </p:nvSpPr>
          <p:spPr>
            <a:xfrm>
              <a:off x="4572344" y="3114814"/>
              <a:ext cx="689548" cy="307777"/>
            </a:xfrm>
            <a:prstGeom prst="rect">
              <a:avLst/>
            </a:prstGeom>
            <a:noFill/>
          </p:spPr>
          <p:txBody>
            <a:bodyPr wrap="none" rtlCol="0">
              <a:spAutoFit/>
            </a:bodyPr>
            <a:lstStyle/>
            <a:p>
              <a:r>
                <a:rPr lang="en-US" sz="1400" dirty="0" smtClean="0"/>
                <a:t>(X1,Y1)</a:t>
              </a:r>
              <a:endParaRPr lang="en-IN" sz="1400" dirty="0"/>
            </a:p>
          </p:txBody>
        </p:sp>
        <p:sp>
          <p:nvSpPr>
            <p:cNvPr id="32" name="TextBox 31"/>
            <p:cNvSpPr txBox="1"/>
            <p:nvPr/>
          </p:nvSpPr>
          <p:spPr>
            <a:xfrm>
              <a:off x="2560366" y="3767940"/>
              <a:ext cx="875561" cy="307777"/>
            </a:xfrm>
            <a:prstGeom prst="rect">
              <a:avLst/>
            </a:prstGeom>
            <a:noFill/>
          </p:spPr>
          <p:txBody>
            <a:bodyPr wrap="none" rtlCol="0">
              <a:spAutoFit/>
            </a:bodyPr>
            <a:lstStyle/>
            <a:p>
              <a:r>
                <a:rPr lang="en-US" sz="1400" dirty="0" smtClean="0">
                  <a:latin typeface="Bahnschrift SemiLight" pitchFamily="34" charset="0"/>
                </a:rPr>
                <a:t>Vector A</a:t>
              </a:r>
              <a:endParaRPr lang="en-IN" sz="1400" dirty="0">
                <a:latin typeface="Bahnschrift SemiLight" pitchFamily="34" charset="0"/>
              </a:endParaRPr>
            </a:p>
          </p:txBody>
        </p:sp>
        <p:grpSp>
          <p:nvGrpSpPr>
            <p:cNvPr id="39" name="Group 38"/>
            <p:cNvGrpSpPr/>
            <p:nvPr/>
          </p:nvGrpSpPr>
          <p:grpSpPr>
            <a:xfrm>
              <a:off x="6594763" y="2521527"/>
              <a:ext cx="833883" cy="1007799"/>
              <a:chOff x="6594763" y="2521527"/>
              <a:chExt cx="833883" cy="1007799"/>
            </a:xfrm>
          </p:grpSpPr>
          <p:sp>
            <p:nvSpPr>
              <p:cNvPr id="34" name="TextBox 33"/>
              <p:cNvSpPr txBox="1"/>
              <p:nvPr/>
            </p:nvSpPr>
            <p:spPr>
              <a:xfrm>
                <a:off x="6594763" y="2521527"/>
                <a:ext cx="833883" cy="307777"/>
              </a:xfrm>
              <a:prstGeom prst="rect">
                <a:avLst/>
              </a:prstGeom>
              <a:noFill/>
            </p:spPr>
            <p:txBody>
              <a:bodyPr wrap="none" rtlCol="0">
                <a:spAutoFit/>
              </a:bodyPr>
              <a:lstStyle/>
              <a:p>
                <a:r>
                  <a:rPr lang="en-US" sz="1400" dirty="0" smtClean="0"/>
                  <a:t>[</a:t>
                </a:r>
                <a:r>
                  <a:rPr lang="en-US" sz="1400" b="1" dirty="0" smtClean="0">
                    <a:solidFill>
                      <a:srgbClr val="7030A0"/>
                    </a:solidFill>
                  </a:rPr>
                  <a:t>X1</a:t>
                </a:r>
                <a:r>
                  <a:rPr lang="en-US" sz="1400" dirty="0" smtClean="0"/>
                  <a:t> , </a:t>
                </a:r>
                <a:r>
                  <a:rPr lang="en-US" sz="1400" b="1" dirty="0" smtClean="0">
                    <a:solidFill>
                      <a:srgbClr val="FFC000"/>
                    </a:solidFill>
                  </a:rPr>
                  <a:t>Y1</a:t>
                </a:r>
                <a:r>
                  <a:rPr lang="en-US" sz="1400" dirty="0" smtClean="0"/>
                  <a:t> ]</a:t>
                </a:r>
                <a:endParaRPr lang="en-IN" sz="1400" dirty="0"/>
              </a:p>
            </p:txBody>
          </p:sp>
          <p:sp>
            <p:nvSpPr>
              <p:cNvPr id="36" name="TextBox 35"/>
              <p:cNvSpPr txBox="1"/>
              <p:nvPr/>
            </p:nvSpPr>
            <p:spPr>
              <a:xfrm>
                <a:off x="6659729" y="3221549"/>
                <a:ext cx="732893" cy="307777"/>
              </a:xfrm>
              <a:prstGeom prst="rect">
                <a:avLst/>
              </a:prstGeom>
              <a:noFill/>
            </p:spPr>
            <p:txBody>
              <a:bodyPr wrap="none" rtlCol="0">
                <a:spAutoFit/>
              </a:bodyPr>
              <a:lstStyle/>
              <a:p>
                <a:r>
                  <a:rPr lang="en-US" sz="1400" dirty="0" smtClean="0"/>
                  <a:t>[</a:t>
                </a:r>
                <a:r>
                  <a:rPr lang="en-US" sz="1400" b="1" dirty="0" smtClean="0">
                    <a:solidFill>
                      <a:srgbClr val="7030A0"/>
                    </a:solidFill>
                  </a:rPr>
                  <a:t>8</a:t>
                </a:r>
                <a:r>
                  <a:rPr lang="en-US" sz="1400" dirty="0" smtClean="0"/>
                  <a:t> , </a:t>
                </a:r>
                <a:r>
                  <a:rPr lang="en-US" sz="1400" b="1" dirty="0" smtClean="0">
                    <a:solidFill>
                      <a:srgbClr val="FFC000"/>
                    </a:solidFill>
                  </a:rPr>
                  <a:t>12</a:t>
                </a:r>
                <a:r>
                  <a:rPr lang="en-US" sz="1400" dirty="0" smtClean="0"/>
                  <a:t> ]</a:t>
                </a:r>
                <a:endParaRPr lang="en-IN" sz="1400" dirty="0"/>
              </a:p>
            </p:txBody>
          </p:sp>
          <p:sp>
            <p:nvSpPr>
              <p:cNvPr id="37" name="Down Arrow 36"/>
              <p:cNvSpPr/>
              <p:nvPr/>
            </p:nvSpPr>
            <p:spPr>
              <a:xfrm>
                <a:off x="6885709" y="2829304"/>
                <a:ext cx="140466" cy="392245"/>
              </a:xfrm>
              <a:prstGeom prst="downArrow">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8" name="TextBox 37"/>
            <p:cNvSpPr txBox="1"/>
            <p:nvPr/>
          </p:nvSpPr>
          <p:spPr>
            <a:xfrm>
              <a:off x="3267467" y="1926284"/>
              <a:ext cx="2494594" cy="338554"/>
            </a:xfrm>
            <a:prstGeom prst="rect">
              <a:avLst/>
            </a:prstGeom>
            <a:noFill/>
          </p:spPr>
          <p:txBody>
            <a:bodyPr wrap="none" rtlCol="0">
              <a:spAutoFit/>
            </a:bodyPr>
            <a:lstStyle/>
            <a:p>
              <a:r>
                <a:rPr lang="en-US" sz="1600" dirty="0" smtClean="0">
                  <a:solidFill>
                    <a:srgbClr val="00B0F0"/>
                  </a:solidFill>
                  <a:latin typeface="Bahnschrift SemiLight" pitchFamily="34" charset="0"/>
                </a:rPr>
                <a:t>Two </a:t>
              </a:r>
              <a:r>
                <a:rPr lang="en-US" sz="1600" dirty="0" smtClean="0">
                  <a:latin typeface="Bahnschrift SemiLight" pitchFamily="34" charset="0"/>
                </a:rPr>
                <a:t>- dimensional Space</a:t>
              </a:r>
              <a:endParaRPr lang="en-IN" sz="1600" dirty="0">
                <a:latin typeface="Bahnschrift SemiLight" pitchFamily="34" charset="0"/>
              </a:endParaRPr>
            </a:p>
          </p:txBody>
        </p:sp>
      </p:grpSp>
    </p:spTree>
    <p:extLst>
      <p:ext uri="{BB962C8B-B14F-4D97-AF65-F5344CB8AC3E}">
        <p14:creationId xmlns:p14="http://schemas.microsoft.com/office/powerpoint/2010/main" val="10586097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4" name="Rectangle 3"/>
          <p:cNvSpPr/>
          <p:nvPr/>
        </p:nvSpPr>
        <p:spPr>
          <a:xfrm>
            <a:off x="277090" y="3105835"/>
            <a:ext cx="8866909" cy="369332"/>
          </a:xfrm>
          <a:prstGeom prst="rect">
            <a:avLst/>
          </a:prstGeom>
        </p:spPr>
        <p:txBody>
          <a:bodyPr wrap="square">
            <a:spAutoFit/>
          </a:bodyPr>
          <a:lstStyle/>
          <a:p>
            <a:r>
              <a:rPr lang="en-US" sz="1600" dirty="0"/>
              <a:t>By presenting a vector as a list of numbers where each number is one dimension</a:t>
            </a:r>
            <a:r>
              <a:rPr lang="en-US" dirty="0">
                <a:latin typeface="Bahnschrift Light" pitchFamily="34" charset="0"/>
              </a:rPr>
              <a:t>.</a:t>
            </a:r>
          </a:p>
        </p:txBody>
      </p:sp>
      <p:sp>
        <p:nvSpPr>
          <p:cNvPr id="5" name="Rectangle 4"/>
          <p:cNvSpPr/>
          <p:nvPr/>
        </p:nvSpPr>
        <p:spPr>
          <a:xfrm>
            <a:off x="233531" y="3754583"/>
            <a:ext cx="11734801" cy="369332"/>
          </a:xfrm>
          <a:prstGeom prst="rect">
            <a:avLst/>
          </a:prstGeom>
        </p:spPr>
        <p:txBody>
          <a:bodyPr wrap="square">
            <a:spAutoFit/>
          </a:bodyPr>
          <a:lstStyle/>
          <a:p>
            <a:r>
              <a:rPr lang="en-US" sz="1600" dirty="0"/>
              <a:t>We can handle any vector size that's about a vector and how to present them using a list of numbers</a:t>
            </a:r>
            <a:r>
              <a:rPr lang="en-US" dirty="0">
                <a:latin typeface="Bahnschrift Light" pitchFamily="34" charset="0"/>
              </a:rPr>
              <a:t>.</a:t>
            </a:r>
          </a:p>
        </p:txBody>
      </p:sp>
      <p:sp>
        <p:nvSpPr>
          <p:cNvPr id="6" name="Rectangle 5"/>
          <p:cNvSpPr/>
          <p:nvPr/>
        </p:nvSpPr>
        <p:spPr>
          <a:xfrm>
            <a:off x="187033" y="4207500"/>
            <a:ext cx="11914911" cy="369332"/>
          </a:xfrm>
          <a:prstGeom prst="rect">
            <a:avLst/>
          </a:prstGeom>
        </p:spPr>
        <p:txBody>
          <a:bodyPr wrap="square">
            <a:spAutoFit/>
          </a:bodyPr>
          <a:lstStyle/>
          <a:p>
            <a:r>
              <a:rPr lang="en-US" sz="1600" dirty="0"/>
              <a:t>This basic understanding of vectors form the foundation of many concepts in data science and machine learning</a:t>
            </a:r>
            <a:r>
              <a:rPr lang="en-US" dirty="0">
                <a:latin typeface="Bahnschrift Light" pitchFamily="34" charset="0"/>
              </a:rPr>
              <a:t>.</a:t>
            </a:r>
            <a:endParaRPr lang="en-IN" dirty="0">
              <a:latin typeface="Bahnschrift Light" pitchFamily="34" charset="0"/>
            </a:endParaRPr>
          </a:p>
        </p:txBody>
      </p:sp>
      <p:grpSp>
        <p:nvGrpSpPr>
          <p:cNvPr id="27" name="Group 26"/>
          <p:cNvGrpSpPr/>
          <p:nvPr/>
        </p:nvGrpSpPr>
        <p:grpSpPr>
          <a:xfrm>
            <a:off x="1476977" y="220202"/>
            <a:ext cx="4667512" cy="2436105"/>
            <a:chOff x="1200262" y="431860"/>
            <a:chExt cx="4667512" cy="2436105"/>
          </a:xfrm>
        </p:grpSpPr>
        <p:sp>
          <p:nvSpPr>
            <p:cNvPr id="7" name="Rectangle 6"/>
            <p:cNvSpPr/>
            <p:nvPr/>
          </p:nvSpPr>
          <p:spPr>
            <a:xfrm>
              <a:off x="3174705" y="431860"/>
              <a:ext cx="2358338" cy="369332"/>
            </a:xfrm>
            <a:prstGeom prst="rect">
              <a:avLst/>
            </a:prstGeom>
          </p:spPr>
          <p:txBody>
            <a:bodyPr wrap="none">
              <a:spAutoFit/>
            </a:bodyPr>
            <a:lstStyle/>
            <a:p>
              <a:r>
                <a:rPr lang="en-IN" b="1" dirty="0">
                  <a:solidFill>
                    <a:srgbClr val="00D05E"/>
                  </a:solidFill>
                  <a:latin typeface="Bahnschrift Light" pitchFamily="34" charset="0"/>
                </a:rPr>
                <a:t>7</a:t>
              </a:r>
              <a:r>
                <a:rPr lang="en-IN" dirty="0">
                  <a:latin typeface="Bahnschrift Light" pitchFamily="34" charset="0"/>
                </a:rPr>
                <a:t>-dimensional Space</a:t>
              </a:r>
            </a:p>
          </p:txBody>
        </p:sp>
        <p:grpSp>
          <p:nvGrpSpPr>
            <p:cNvPr id="25" name="Group 24"/>
            <p:cNvGrpSpPr/>
            <p:nvPr/>
          </p:nvGrpSpPr>
          <p:grpSpPr>
            <a:xfrm>
              <a:off x="1200262" y="959860"/>
              <a:ext cx="4667512" cy="1908105"/>
              <a:chOff x="1200262" y="959860"/>
              <a:chExt cx="4667512" cy="1908105"/>
            </a:xfrm>
          </p:grpSpPr>
          <p:grpSp>
            <p:nvGrpSpPr>
              <p:cNvPr id="23" name="Group 22"/>
              <p:cNvGrpSpPr/>
              <p:nvPr/>
            </p:nvGrpSpPr>
            <p:grpSpPr>
              <a:xfrm>
                <a:off x="1200262" y="959860"/>
                <a:ext cx="4623955" cy="846385"/>
                <a:chOff x="1200262" y="959860"/>
                <a:chExt cx="4623955" cy="846385"/>
              </a:xfrm>
            </p:grpSpPr>
            <p:sp>
              <p:nvSpPr>
                <p:cNvPr id="9" name="Rectangle 8"/>
                <p:cNvSpPr/>
                <p:nvPr/>
              </p:nvSpPr>
              <p:spPr>
                <a:xfrm>
                  <a:off x="1200262" y="1467691"/>
                  <a:ext cx="1479892" cy="338554"/>
                </a:xfrm>
                <a:prstGeom prst="rect">
                  <a:avLst/>
                </a:prstGeom>
              </p:spPr>
              <p:txBody>
                <a:bodyPr wrap="none">
                  <a:spAutoFit/>
                </a:bodyPr>
                <a:lstStyle/>
                <a:p>
                  <a:r>
                    <a:rPr lang="en-IN" sz="1600" dirty="0"/>
                    <a:t>Dimension → D</a:t>
                  </a:r>
                </a:p>
              </p:txBody>
            </p:sp>
            <p:grpSp>
              <p:nvGrpSpPr>
                <p:cNvPr id="11" name="Group 10"/>
                <p:cNvGrpSpPr/>
                <p:nvPr/>
              </p:nvGrpSpPr>
              <p:grpSpPr>
                <a:xfrm>
                  <a:off x="3188559" y="959860"/>
                  <a:ext cx="2635658" cy="646331"/>
                  <a:chOff x="3188559" y="959860"/>
                  <a:chExt cx="2635658" cy="646331"/>
                </a:xfrm>
              </p:grpSpPr>
              <p:sp>
                <p:nvSpPr>
                  <p:cNvPr id="8" name="Rectangle 7"/>
                  <p:cNvSpPr/>
                  <p:nvPr/>
                </p:nvSpPr>
                <p:spPr>
                  <a:xfrm>
                    <a:off x="3188559" y="959860"/>
                    <a:ext cx="2635658" cy="369332"/>
                  </a:xfrm>
                  <a:prstGeom prst="rect">
                    <a:avLst/>
                  </a:prstGeom>
                </p:spPr>
                <p:txBody>
                  <a:bodyPr wrap="none">
                    <a:spAutoFit/>
                  </a:bodyPr>
                  <a:lstStyle/>
                  <a:p>
                    <a:r>
                      <a:rPr lang="en-IN" dirty="0">
                        <a:latin typeface="Bahnschrift Light" pitchFamily="34" charset="0"/>
                      </a:rPr>
                      <a:t>[ D1,D2,D3,D4,D5,D6,D7 ]</a:t>
                    </a:r>
                  </a:p>
                </p:txBody>
              </p:sp>
              <p:sp>
                <p:nvSpPr>
                  <p:cNvPr id="10" name="Rectangle 9"/>
                  <p:cNvSpPr/>
                  <p:nvPr/>
                </p:nvSpPr>
                <p:spPr>
                  <a:xfrm>
                    <a:off x="3933731" y="1329192"/>
                    <a:ext cx="1145314" cy="276999"/>
                  </a:xfrm>
                  <a:prstGeom prst="rect">
                    <a:avLst/>
                  </a:prstGeom>
                </p:spPr>
                <p:txBody>
                  <a:bodyPr wrap="none">
                    <a:spAutoFit/>
                  </a:bodyPr>
                  <a:lstStyle/>
                  <a:p>
                    <a:r>
                      <a:rPr lang="en-IN" sz="1200" dirty="0"/>
                      <a:t>List of numbers</a:t>
                    </a:r>
                  </a:p>
                </p:txBody>
              </p:sp>
            </p:grpSp>
            <p:cxnSp>
              <p:nvCxnSpPr>
                <p:cNvPr id="13" name="Curved Connector 12"/>
                <p:cNvCxnSpPr/>
                <p:nvPr/>
              </p:nvCxnSpPr>
              <p:spPr>
                <a:xfrm flipV="1">
                  <a:off x="2680154" y="1257402"/>
                  <a:ext cx="741919" cy="361707"/>
                </a:xfrm>
                <a:prstGeom prst="curvedConnector3">
                  <a:avLst>
                    <a:gd name="adj1" fmla="val 98552"/>
                  </a:avLst>
                </a:prstGeom>
                <a:ln>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24" name="Rectangle 23"/>
              <p:cNvSpPr/>
              <p:nvPr/>
            </p:nvSpPr>
            <p:spPr>
              <a:xfrm>
                <a:off x="3325090" y="2080552"/>
                <a:ext cx="2154757" cy="369332"/>
              </a:xfrm>
              <a:prstGeom prst="rect">
                <a:avLst/>
              </a:prstGeom>
            </p:spPr>
            <p:txBody>
              <a:bodyPr wrap="none">
                <a:spAutoFit/>
              </a:bodyPr>
              <a:lstStyle/>
              <a:p>
                <a:r>
                  <a:rPr lang="en-IN" b="1" dirty="0">
                    <a:solidFill>
                      <a:srgbClr val="7030A0"/>
                    </a:solidFill>
                  </a:rPr>
                  <a:t>N</a:t>
                </a:r>
                <a:r>
                  <a:rPr lang="en-IN" dirty="0"/>
                  <a:t>-dimensional Space</a:t>
                </a:r>
              </a:p>
            </p:txBody>
          </p:sp>
          <p:sp>
            <p:nvSpPr>
              <p:cNvPr id="26" name="Rectangle 25"/>
              <p:cNvSpPr/>
              <p:nvPr/>
            </p:nvSpPr>
            <p:spPr>
              <a:xfrm>
                <a:off x="3325090" y="2498633"/>
                <a:ext cx="2542684" cy="369332"/>
              </a:xfrm>
              <a:prstGeom prst="rect">
                <a:avLst/>
              </a:prstGeom>
            </p:spPr>
            <p:txBody>
              <a:bodyPr wrap="none">
                <a:spAutoFit/>
              </a:bodyPr>
              <a:lstStyle/>
              <a:p>
                <a:r>
                  <a:rPr lang="en-IN" dirty="0">
                    <a:latin typeface="Bahnschrift Light" pitchFamily="34" charset="0"/>
                  </a:rPr>
                  <a:t>[ </a:t>
                </a:r>
                <a:r>
                  <a:rPr lang="en-IN" dirty="0" smtClean="0">
                    <a:latin typeface="Bahnschrift Light" pitchFamily="34" charset="0"/>
                  </a:rPr>
                  <a:t>D1,D2,………………………D</a:t>
                </a:r>
                <a:r>
                  <a:rPr lang="en-IN" dirty="0" smtClean="0">
                    <a:solidFill>
                      <a:srgbClr val="7030A0"/>
                    </a:solidFill>
                    <a:latin typeface="Bahnschrift Light" pitchFamily="34" charset="0"/>
                  </a:rPr>
                  <a:t>n</a:t>
                </a:r>
                <a:r>
                  <a:rPr lang="en-IN" dirty="0" smtClean="0">
                    <a:latin typeface="Bahnschrift Light" pitchFamily="34" charset="0"/>
                  </a:rPr>
                  <a:t> </a:t>
                </a:r>
                <a:r>
                  <a:rPr lang="en-IN" dirty="0">
                    <a:latin typeface="Bahnschrift Light" pitchFamily="34" charset="0"/>
                  </a:rPr>
                  <a:t>]</a:t>
                </a:r>
              </a:p>
            </p:txBody>
          </p:sp>
        </p:grpSp>
      </p:grpSp>
    </p:spTree>
    <p:extLst>
      <p:ext uri="{BB962C8B-B14F-4D97-AF65-F5344CB8AC3E}">
        <p14:creationId xmlns:p14="http://schemas.microsoft.com/office/powerpoint/2010/main" val="15780117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138545" y="3230526"/>
            <a:ext cx="11166763" cy="338554"/>
          </a:xfrm>
          <a:prstGeom prst="rect">
            <a:avLst/>
          </a:prstGeom>
        </p:spPr>
        <p:txBody>
          <a:bodyPr wrap="square">
            <a:spAutoFit/>
          </a:bodyPr>
          <a:lstStyle/>
          <a:p>
            <a:r>
              <a:rPr lang="en-US" sz="1600" dirty="0">
                <a:latin typeface="Arial Unicode MS" pitchFamily="34" charset="-128"/>
                <a:ea typeface="Arial Unicode MS" pitchFamily="34" charset="-128"/>
                <a:cs typeface="Arial Unicode MS" pitchFamily="34" charset="-128"/>
              </a:rPr>
              <a:t>The concept of data points is essential for </a:t>
            </a:r>
            <a:r>
              <a:rPr lang="en-US" sz="1600" dirty="0">
                <a:solidFill>
                  <a:schemeClr val="accent1"/>
                </a:solidFill>
                <a:latin typeface="Arial Unicode MS" pitchFamily="34" charset="-128"/>
                <a:ea typeface="Arial Unicode MS" pitchFamily="34" charset="-128"/>
                <a:cs typeface="Arial Unicode MS" pitchFamily="34" charset="-128"/>
              </a:rPr>
              <a:t>describing the properties of an object</a:t>
            </a:r>
            <a:r>
              <a:rPr lang="en-US" sz="1600" dirty="0">
                <a:latin typeface="Arial Unicode MS" pitchFamily="34" charset="-128"/>
                <a:ea typeface="Arial Unicode MS" pitchFamily="34" charset="-128"/>
                <a:cs typeface="Arial Unicode MS" pitchFamily="34" charset="-128"/>
              </a:rPr>
              <a:t>.</a:t>
            </a:r>
            <a:endParaRPr lang="en-IN" sz="1600" dirty="0">
              <a:latin typeface="Arial Unicode MS" pitchFamily="34" charset="-128"/>
              <a:ea typeface="Arial Unicode MS" pitchFamily="34" charset="-128"/>
              <a:cs typeface="Arial Unicode MS" pitchFamily="34" charset="-128"/>
            </a:endParaRPr>
          </a:p>
        </p:txBody>
      </p:sp>
      <p:sp>
        <p:nvSpPr>
          <p:cNvPr id="3" name="Rectangle 2"/>
          <p:cNvSpPr/>
          <p:nvPr/>
        </p:nvSpPr>
        <p:spPr>
          <a:xfrm>
            <a:off x="138545" y="3569080"/>
            <a:ext cx="11679382" cy="338554"/>
          </a:xfrm>
          <a:prstGeom prst="rect">
            <a:avLst/>
          </a:prstGeom>
        </p:spPr>
        <p:txBody>
          <a:bodyPr wrap="square">
            <a:spAutoFit/>
          </a:bodyPr>
          <a:lstStyle/>
          <a:p>
            <a:r>
              <a:rPr lang="en-US" sz="1600" dirty="0">
                <a:latin typeface="Arial Unicode MS" pitchFamily="34" charset="-128"/>
                <a:ea typeface="Arial Unicode MS" pitchFamily="34" charset="-128"/>
                <a:cs typeface="Arial Unicode MS" pitchFamily="34" charset="-128"/>
              </a:rPr>
              <a:t>A data point represents a single observation or instance about a specific object, and it is characterized by a set of features.</a:t>
            </a:r>
            <a:endParaRPr lang="en-IN" sz="1600" dirty="0">
              <a:latin typeface="Arial Unicode MS" pitchFamily="34" charset="-128"/>
              <a:ea typeface="Arial Unicode MS" pitchFamily="34" charset="-128"/>
              <a:cs typeface="Arial Unicode MS" pitchFamily="34" charset="-128"/>
            </a:endParaRPr>
          </a:p>
        </p:txBody>
      </p:sp>
      <p:sp>
        <p:nvSpPr>
          <p:cNvPr id="4" name="Rectangle 3"/>
          <p:cNvSpPr/>
          <p:nvPr/>
        </p:nvSpPr>
        <p:spPr>
          <a:xfrm>
            <a:off x="138545" y="4103681"/>
            <a:ext cx="11998036" cy="1400383"/>
          </a:xfrm>
          <a:prstGeom prst="rect">
            <a:avLst/>
          </a:prstGeom>
        </p:spPr>
        <p:txBody>
          <a:bodyPr wrap="square">
            <a:spAutoFit/>
          </a:bodyPr>
          <a:lstStyle/>
          <a:p>
            <a:r>
              <a:rPr lang="en-US" sz="1700" dirty="0"/>
              <a:t>Here we have some examples of objects and their corresponding data points</a:t>
            </a:r>
            <a:r>
              <a:rPr lang="en-US" sz="1700" dirty="0" smtClean="0"/>
              <a:t>. For </a:t>
            </a:r>
            <a:r>
              <a:rPr lang="en-US" sz="1700" dirty="0"/>
              <a:t>example an animal </a:t>
            </a:r>
            <a:r>
              <a:rPr lang="en-US" sz="1700" dirty="0" smtClean="0"/>
              <a:t>.</a:t>
            </a:r>
          </a:p>
          <a:p>
            <a:endParaRPr lang="en-US" sz="1700" dirty="0"/>
          </a:p>
          <a:p>
            <a:r>
              <a:rPr lang="en-US" sz="1700" dirty="0"/>
              <a:t>Each data point may includes features such as the weight height, number of legs, color, and maybe other features and sensor reading in an IoT device.</a:t>
            </a:r>
          </a:p>
          <a:p>
            <a:r>
              <a:rPr lang="en-US" sz="1700" dirty="0"/>
              <a:t>Features may include the timestamp when the device sends a specific sensor reading the temperature, humidity, pressure, and more.</a:t>
            </a:r>
          </a:p>
        </p:txBody>
      </p:sp>
      <p:sp>
        <p:nvSpPr>
          <p:cNvPr id="5" name="Rectangle 4"/>
          <p:cNvSpPr/>
          <p:nvPr/>
        </p:nvSpPr>
        <p:spPr>
          <a:xfrm>
            <a:off x="153632" y="5790731"/>
            <a:ext cx="11679382" cy="615553"/>
          </a:xfrm>
          <a:prstGeom prst="rect">
            <a:avLst/>
          </a:prstGeom>
          <a:ln>
            <a:noFill/>
          </a:ln>
        </p:spPr>
        <p:txBody>
          <a:bodyPr wrap="square">
            <a:spAutoFit/>
          </a:bodyPr>
          <a:lstStyle/>
          <a:p>
            <a:r>
              <a:rPr lang="en-US" sz="1700" dirty="0"/>
              <a:t>Each data point of an object is described by a </a:t>
            </a:r>
            <a:r>
              <a:rPr lang="en-US" sz="1700" dirty="0">
                <a:solidFill>
                  <a:srgbClr val="00B0F0"/>
                </a:solidFill>
                <a:latin typeface="Copperplate Gothic Bold" pitchFamily="34" charset="0"/>
              </a:rPr>
              <a:t>collection of features</a:t>
            </a:r>
            <a:r>
              <a:rPr lang="en-US" sz="1700" dirty="0"/>
              <a:t>.</a:t>
            </a:r>
          </a:p>
          <a:p>
            <a:r>
              <a:rPr lang="en-US" sz="1700" dirty="0"/>
              <a:t>These features are </a:t>
            </a:r>
            <a:r>
              <a:rPr lang="en-US" sz="1700" dirty="0" smtClean="0"/>
              <a:t>mostly manually </a:t>
            </a:r>
            <a:r>
              <a:rPr lang="en-US" sz="1700" dirty="0"/>
              <a:t>selected and engineered by data science practitioners based on use cases</a:t>
            </a:r>
            <a:r>
              <a:rPr lang="en-US" sz="1600" dirty="0"/>
              <a:t>.</a:t>
            </a:r>
            <a:endParaRPr lang="en-IN" sz="1600" dirty="0"/>
          </a:p>
        </p:txBody>
      </p:sp>
      <p:grpSp>
        <p:nvGrpSpPr>
          <p:cNvPr id="68" name="Group 67"/>
          <p:cNvGrpSpPr/>
          <p:nvPr/>
        </p:nvGrpSpPr>
        <p:grpSpPr>
          <a:xfrm>
            <a:off x="1357746" y="218209"/>
            <a:ext cx="8170102" cy="2622212"/>
            <a:chOff x="1357746" y="218209"/>
            <a:chExt cx="8170102" cy="2622212"/>
          </a:xfrm>
        </p:grpSpPr>
        <p:grpSp>
          <p:nvGrpSpPr>
            <p:cNvPr id="1044" name="Group 1043"/>
            <p:cNvGrpSpPr/>
            <p:nvPr/>
          </p:nvGrpSpPr>
          <p:grpSpPr>
            <a:xfrm>
              <a:off x="1593273" y="218209"/>
              <a:ext cx="7675418" cy="369332"/>
              <a:chOff x="1593273" y="218209"/>
              <a:chExt cx="7675418" cy="369332"/>
            </a:xfrm>
          </p:grpSpPr>
          <p:grpSp>
            <p:nvGrpSpPr>
              <p:cNvPr id="61" name="Group 60"/>
              <p:cNvGrpSpPr/>
              <p:nvPr/>
            </p:nvGrpSpPr>
            <p:grpSpPr>
              <a:xfrm>
                <a:off x="1911927" y="218209"/>
                <a:ext cx="6802813" cy="369332"/>
                <a:chOff x="1911927" y="218209"/>
                <a:chExt cx="6802813" cy="369332"/>
              </a:xfrm>
            </p:grpSpPr>
            <p:sp>
              <p:nvSpPr>
                <p:cNvPr id="6" name="TextBox 5"/>
                <p:cNvSpPr txBox="1"/>
                <p:nvPr/>
              </p:nvSpPr>
              <p:spPr>
                <a:xfrm>
                  <a:off x="1911927" y="218209"/>
                  <a:ext cx="1278940" cy="369332"/>
                </a:xfrm>
                <a:prstGeom prst="rect">
                  <a:avLst/>
                </a:prstGeom>
                <a:noFill/>
              </p:spPr>
              <p:txBody>
                <a:bodyPr wrap="none" rtlCol="0">
                  <a:spAutoFit/>
                </a:bodyPr>
                <a:lstStyle/>
                <a:p>
                  <a:r>
                    <a:rPr lang="en-US" b="1" dirty="0" smtClean="0">
                      <a:solidFill>
                        <a:srgbClr val="009900"/>
                      </a:solidFill>
                    </a:rPr>
                    <a:t>Data</a:t>
                  </a:r>
                  <a:r>
                    <a:rPr lang="en-US" b="1" dirty="0" smtClean="0"/>
                    <a:t> Points</a:t>
                  </a:r>
                  <a:endParaRPr lang="en-IN" b="1" dirty="0"/>
                </a:p>
              </p:txBody>
            </p:sp>
            <p:sp>
              <p:nvSpPr>
                <p:cNvPr id="7" name="TextBox 6"/>
                <p:cNvSpPr txBox="1"/>
                <p:nvPr/>
              </p:nvSpPr>
              <p:spPr>
                <a:xfrm>
                  <a:off x="4329545" y="218209"/>
                  <a:ext cx="2037737" cy="307777"/>
                </a:xfrm>
                <a:prstGeom prst="rect">
                  <a:avLst/>
                </a:prstGeom>
                <a:noFill/>
              </p:spPr>
              <p:txBody>
                <a:bodyPr wrap="none" rtlCol="0">
                  <a:spAutoFit/>
                </a:bodyPr>
                <a:lstStyle/>
                <a:p>
                  <a:r>
                    <a:rPr lang="en-US" sz="1400" dirty="0" smtClean="0">
                      <a:latin typeface="Bahnschrift" pitchFamily="34" charset="0"/>
                    </a:rPr>
                    <a:t>Properties of an </a:t>
                  </a:r>
                  <a:r>
                    <a:rPr lang="en-US" sz="1400" b="1" dirty="0" smtClean="0">
                      <a:solidFill>
                        <a:srgbClr val="00B0F0"/>
                      </a:solidFill>
                      <a:latin typeface="Bahnschrift" pitchFamily="34" charset="0"/>
                    </a:rPr>
                    <a:t>Objec</a:t>
                  </a:r>
                  <a:r>
                    <a:rPr lang="en-US" sz="1400" dirty="0" smtClean="0">
                      <a:solidFill>
                        <a:srgbClr val="33CC33"/>
                      </a:solidFill>
                      <a:latin typeface="Bahnschrift" pitchFamily="34" charset="0"/>
                    </a:rPr>
                    <a:t>t</a:t>
                  </a:r>
                  <a:endParaRPr lang="en-IN" sz="1400" dirty="0">
                    <a:solidFill>
                      <a:srgbClr val="33CC33"/>
                    </a:solidFill>
                    <a:latin typeface="Bahnschrift" pitchFamily="34" charset="0"/>
                  </a:endParaRPr>
                </a:p>
              </p:txBody>
            </p:sp>
            <p:sp>
              <p:nvSpPr>
                <p:cNvPr id="9" name="TextBox 8"/>
                <p:cNvSpPr txBox="1"/>
                <p:nvPr/>
              </p:nvSpPr>
              <p:spPr>
                <a:xfrm>
                  <a:off x="7286144" y="228600"/>
                  <a:ext cx="1428596" cy="307777"/>
                </a:xfrm>
                <a:prstGeom prst="rect">
                  <a:avLst/>
                </a:prstGeom>
                <a:noFill/>
              </p:spPr>
              <p:txBody>
                <a:bodyPr wrap="none" rtlCol="0">
                  <a:spAutoFit/>
                </a:bodyPr>
                <a:lstStyle/>
                <a:p>
                  <a:r>
                    <a:rPr lang="en-US" sz="1400" dirty="0" smtClean="0">
                      <a:latin typeface="Bahnschrift" pitchFamily="34" charset="0"/>
                    </a:rPr>
                    <a:t>A set of </a:t>
                  </a:r>
                  <a:r>
                    <a:rPr lang="en-US" sz="1400" dirty="0" smtClean="0">
                      <a:solidFill>
                        <a:srgbClr val="7030A0"/>
                      </a:solidFill>
                      <a:latin typeface="Bahnschrift" pitchFamily="34" charset="0"/>
                    </a:rPr>
                    <a:t>feature</a:t>
                  </a:r>
                  <a:endParaRPr lang="en-IN" sz="1400" dirty="0">
                    <a:solidFill>
                      <a:srgbClr val="7030A0"/>
                    </a:solidFill>
                    <a:latin typeface="Bahnschrift" pitchFamily="34" charset="0"/>
                  </a:endParaRPr>
                </a:p>
              </p:txBody>
            </p:sp>
            <p:cxnSp>
              <p:nvCxnSpPr>
                <p:cNvPr id="10" name="Straight Arrow Connector 9"/>
                <p:cNvCxnSpPr>
                  <a:endCxn id="7" idx="1"/>
                </p:cNvCxnSpPr>
                <p:nvPr/>
              </p:nvCxnSpPr>
              <p:spPr>
                <a:xfrm flipV="1">
                  <a:off x="3325091" y="372098"/>
                  <a:ext cx="936000" cy="0"/>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6367282" y="390114"/>
                  <a:ext cx="936000" cy="0"/>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grpSp>
          <p:sp>
            <p:nvSpPr>
              <p:cNvPr id="1043" name="Rectangle 1042"/>
              <p:cNvSpPr/>
              <p:nvPr/>
            </p:nvSpPr>
            <p:spPr>
              <a:xfrm>
                <a:off x="1593273" y="218209"/>
                <a:ext cx="7675418" cy="369332"/>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67" name="Group 66"/>
            <p:cNvGrpSpPr/>
            <p:nvPr/>
          </p:nvGrpSpPr>
          <p:grpSpPr>
            <a:xfrm>
              <a:off x="1357746" y="587541"/>
              <a:ext cx="8170102" cy="2252880"/>
              <a:chOff x="1357746" y="587541"/>
              <a:chExt cx="8170102" cy="2252880"/>
            </a:xfrm>
          </p:grpSpPr>
          <p:grpSp>
            <p:nvGrpSpPr>
              <p:cNvPr id="58" name="Group 57"/>
              <p:cNvGrpSpPr/>
              <p:nvPr/>
            </p:nvGrpSpPr>
            <p:grpSpPr>
              <a:xfrm>
                <a:off x="2696105" y="587541"/>
                <a:ext cx="3441458" cy="2252880"/>
                <a:chOff x="2582559" y="875418"/>
                <a:chExt cx="3441458" cy="2252880"/>
              </a:xfrm>
            </p:grpSpPr>
            <p:cxnSp>
              <p:nvCxnSpPr>
                <p:cNvPr id="16" name="Curved Connector 15"/>
                <p:cNvCxnSpPr/>
                <p:nvPr/>
              </p:nvCxnSpPr>
              <p:spPr>
                <a:xfrm rot="10800000" flipV="1">
                  <a:off x="4712022" y="875418"/>
                  <a:ext cx="1021055" cy="811767"/>
                </a:xfrm>
                <a:prstGeom prst="curvedConnector3">
                  <a:avLst>
                    <a:gd name="adj1" fmla="val 100205"/>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947068" y="1814946"/>
                  <a:ext cx="764953" cy="338554"/>
                </a:xfrm>
                <a:prstGeom prst="rect">
                  <a:avLst/>
                </a:prstGeom>
                <a:solidFill>
                  <a:srgbClr val="00B0F0"/>
                </a:solidFill>
              </p:spPr>
              <p:txBody>
                <a:bodyPr wrap="none" rtlCol="0">
                  <a:spAutoFit/>
                </a:bodyPr>
                <a:lstStyle/>
                <a:p>
                  <a:r>
                    <a:rPr lang="en-US" sz="1600" dirty="0" smtClean="0">
                      <a:solidFill>
                        <a:schemeClr val="bg1"/>
                      </a:solidFill>
                    </a:rPr>
                    <a:t>Animal</a:t>
                  </a:r>
                  <a:endParaRPr lang="en-IN" sz="1600" dirty="0">
                    <a:solidFill>
                      <a:schemeClr val="bg1"/>
                    </a:solidFill>
                  </a:endParaRPr>
                </a:p>
              </p:txBody>
            </p:sp>
            <p:grpSp>
              <p:nvGrpSpPr>
                <p:cNvPr id="57" name="Group 56"/>
                <p:cNvGrpSpPr/>
                <p:nvPr/>
              </p:nvGrpSpPr>
              <p:grpSpPr>
                <a:xfrm>
                  <a:off x="2582559" y="2153500"/>
                  <a:ext cx="3441458" cy="974798"/>
                  <a:chOff x="2582559" y="2153500"/>
                  <a:chExt cx="3441458" cy="974798"/>
                </a:xfrm>
              </p:grpSpPr>
              <p:grpSp>
                <p:nvGrpSpPr>
                  <p:cNvPr id="38" name="Group 37"/>
                  <p:cNvGrpSpPr/>
                  <p:nvPr/>
                </p:nvGrpSpPr>
                <p:grpSpPr>
                  <a:xfrm>
                    <a:off x="2582559" y="2153500"/>
                    <a:ext cx="1559950" cy="417276"/>
                    <a:chOff x="2582559" y="2153500"/>
                    <a:chExt cx="1559950" cy="417276"/>
                  </a:xfrm>
                </p:grpSpPr>
                <p:cxnSp>
                  <p:nvCxnSpPr>
                    <p:cNvPr id="36" name="Straight Arrow Connector 35"/>
                    <p:cNvCxnSpPr/>
                    <p:nvPr/>
                  </p:nvCxnSpPr>
                  <p:spPr>
                    <a:xfrm flipH="1">
                      <a:off x="3190867" y="2153500"/>
                      <a:ext cx="951642" cy="247999"/>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582559" y="2262999"/>
                      <a:ext cx="681533" cy="307777"/>
                    </a:xfrm>
                    <a:prstGeom prst="rect">
                      <a:avLst/>
                    </a:prstGeom>
                    <a:noFill/>
                  </p:spPr>
                  <p:txBody>
                    <a:bodyPr wrap="none" rtlCol="0">
                      <a:spAutoFit/>
                    </a:bodyPr>
                    <a:lstStyle/>
                    <a:p>
                      <a:r>
                        <a:rPr lang="en-US" sz="1400" dirty="0" smtClean="0"/>
                        <a:t>weight</a:t>
                      </a:r>
                      <a:endParaRPr lang="en-IN" sz="1200" dirty="0"/>
                    </a:p>
                  </p:txBody>
                </p:sp>
              </p:grpSp>
              <p:cxnSp>
                <p:nvCxnSpPr>
                  <p:cNvPr id="40" name="Straight Arrow Connector 39"/>
                  <p:cNvCxnSpPr>
                    <a:endCxn id="41" idx="0"/>
                  </p:cNvCxnSpPr>
                  <p:nvPr/>
                </p:nvCxnSpPr>
                <p:spPr>
                  <a:xfrm flipH="1">
                    <a:off x="3519630" y="2153500"/>
                    <a:ext cx="622879" cy="513133"/>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194893" y="2666633"/>
                    <a:ext cx="649473" cy="307777"/>
                  </a:xfrm>
                  <a:prstGeom prst="rect">
                    <a:avLst/>
                  </a:prstGeom>
                  <a:noFill/>
                </p:spPr>
                <p:txBody>
                  <a:bodyPr wrap="none" rtlCol="0">
                    <a:spAutoFit/>
                  </a:bodyPr>
                  <a:lstStyle/>
                  <a:p>
                    <a:r>
                      <a:rPr lang="en-US" sz="1400" dirty="0" smtClean="0"/>
                      <a:t>height</a:t>
                    </a:r>
                    <a:endParaRPr lang="en-IN" sz="1400" dirty="0"/>
                  </a:p>
                </p:txBody>
              </p:sp>
              <p:cxnSp>
                <p:nvCxnSpPr>
                  <p:cNvPr id="46" name="Straight Arrow Connector 45"/>
                  <p:cNvCxnSpPr/>
                  <p:nvPr/>
                </p:nvCxnSpPr>
                <p:spPr>
                  <a:xfrm>
                    <a:off x="4142509" y="2153500"/>
                    <a:ext cx="118582" cy="667021"/>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831069" y="2820521"/>
                    <a:ext cx="955711" cy="307777"/>
                  </a:xfrm>
                  <a:prstGeom prst="rect">
                    <a:avLst/>
                  </a:prstGeom>
                  <a:noFill/>
                </p:spPr>
                <p:txBody>
                  <a:bodyPr wrap="none" rtlCol="0">
                    <a:spAutoFit/>
                  </a:bodyPr>
                  <a:lstStyle/>
                  <a:p>
                    <a:r>
                      <a:rPr lang="en-US" sz="1400" dirty="0" smtClean="0"/>
                      <a:t>No. of legs</a:t>
                    </a:r>
                    <a:endParaRPr lang="en-IN" sz="1400" dirty="0"/>
                  </a:p>
                </p:txBody>
              </p:sp>
              <p:cxnSp>
                <p:nvCxnSpPr>
                  <p:cNvPr id="49" name="Straight Arrow Connector 48"/>
                  <p:cNvCxnSpPr/>
                  <p:nvPr/>
                </p:nvCxnSpPr>
                <p:spPr>
                  <a:xfrm>
                    <a:off x="4142509" y="2181213"/>
                    <a:ext cx="775855" cy="63930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4918364" y="2820521"/>
                    <a:ext cx="551882" cy="307777"/>
                  </a:xfrm>
                  <a:prstGeom prst="rect">
                    <a:avLst/>
                  </a:prstGeom>
                  <a:noFill/>
                </p:spPr>
                <p:txBody>
                  <a:bodyPr wrap="none" rtlCol="0">
                    <a:spAutoFit/>
                  </a:bodyPr>
                  <a:lstStyle/>
                  <a:p>
                    <a:r>
                      <a:rPr lang="en-US" sz="1400" dirty="0" smtClean="0"/>
                      <a:t>color</a:t>
                    </a:r>
                    <a:endParaRPr lang="en-IN" sz="1400" dirty="0"/>
                  </a:p>
                </p:txBody>
              </p:sp>
              <p:cxnSp>
                <p:nvCxnSpPr>
                  <p:cNvPr id="54" name="Straight Arrow Connector 53"/>
                  <p:cNvCxnSpPr/>
                  <p:nvPr/>
                </p:nvCxnSpPr>
                <p:spPr>
                  <a:xfrm>
                    <a:off x="4142509" y="2153500"/>
                    <a:ext cx="1205904" cy="333510"/>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5188532" y="2512744"/>
                    <a:ext cx="835485" cy="307777"/>
                  </a:xfrm>
                  <a:prstGeom prst="rect">
                    <a:avLst/>
                  </a:prstGeom>
                  <a:noFill/>
                </p:spPr>
                <p:txBody>
                  <a:bodyPr wrap="none" rtlCol="0">
                    <a:spAutoFit/>
                  </a:bodyPr>
                  <a:lstStyle/>
                  <a:p>
                    <a:r>
                      <a:rPr lang="en-US" sz="1400" dirty="0" smtClean="0"/>
                      <a:t>loudness</a:t>
                    </a:r>
                    <a:endParaRPr lang="en-IN" sz="1400" dirty="0"/>
                  </a:p>
                </p:txBody>
              </p:sp>
            </p:grpSp>
          </p:grpSp>
          <p:grpSp>
            <p:nvGrpSpPr>
              <p:cNvPr id="1042" name="Group 1041"/>
              <p:cNvGrpSpPr/>
              <p:nvPr/>
            </p:nvGrpSpPr>
            <p:grpSpPr>
              <a:xfrm>
                <a:off x="6075219" y="587543"/>
                <a:ext cx="3452629" cy="2003133"/>
                <a:chOff x="6075219" y="587543"/>
                <a:chExt cx="3452629" cy="2003133"/>
              </a:xfrm>
            </p:grpSpPr>
            <p:grpSp>
              <p:nvGrpSpPr>
                <p:cNvPr id="1035" name="Group 1034"/>
                <p:cNvGrpSpPr/>
                <p:nvPr/>
              </p:nvGrpSpPr>
              <p:grpSpPr>
                <a:xfrm>
                  <a:off x="6075219" y="587543"/>
                  <a:ext cx="1925223" cy="1248190"/>
                  <a:chOff x="6075219" y="587543"/>
                  <a:chExt cx="1925223" cy="1248190"/>
                </a:xfrm>
              </p:grpSpPr>
              <p:cxnSp>
                <p:nvCxnSpPr>
                  <p:cNvPr id="30" name="Curved Connector 29"/>
                  <p:cNvCxnSpPr/>
                  <p:nvPr/>
                </p:nvCxnSpPr>
                <p:spPr>
                  <a:xfrm rot="16200000" flipH="1">
                    <a:off x="6052267" y="610495"/>
                    <a:ext cx="939528" cy="893624"/>
                  </a:xfrm>
                  <a:prstGeom prst="curvedConnector3">
                    <a:avLst>
                      <a:gd name="adj1" fmla="val 50000"/>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7040820" y="1527956"/>
                    <a:ext cx="959622" cy="307777"/>
                  </a:xfrm>
                  <a:prstGeom prst="rect">
                    <a:avLst/>
                  </a:prstGeom>
                  <a:solidFill>
                    <a:srgbClr val="00B0F0"/>
                  </a:solidFill>
                </p:spPr>
                <p:txBody>
                  <a:bodyPr wrap="none" rtlCol="0">
                    <a:spAutoFit/>
                  </a:bodyPr>
                  <a:lstStyle/>
                  <a:p>
                    <a:r>
                      <a:rPr lang="en-US" sz="1400" dirty="0" smtClean="0">
                        <a:solidFill>
                          <a:schemeClr val="bg1"/>
                        </a:solidFill>
                      </a:rPr>
                      <a:t>IOT Device</a:t>
                    </a:r>
                    <a:endParaRPr lang="en-IN" sz="1400" dirty="0">
                      <a:solidFill>
                        <a:schemeClr val="bg1"/>
                      </a:solidFill>
                    </a:endParaRPr>
                  </a:p>
                </p:txBody>
              </p:sp>
            </p:grpSp>
            <p:sp>
              <p:nvSpPr>
                <p:cNvPr id="1036" name="TextBox 1035"/>
                <p:cNvSpPr txBox="1"/>
                <p:nvPr/>
              </p:nvSpPr>
              <p:spPr>
                <a:xfrm>
                  <a:off x="6835282" y="2282899"/>
                  <a:ext cx="978088" cy="307777"/>
                </a:xfrm>
                <a:prstGeom prst="rect">
                  <a:avLst/>
                </a:prstGeom>
                <a:noFill/>
              </p:spPr>
              <p:txBody>
                <a:bodyPr wrap="none" rtlCol="0">
                  <a:spAutoFit/>
                </a:bodyPr>
                <a:lstStyle/>
                <a:p>
                  <a:r>
                    <a:rPr lang="en-US" sz="1400" dirty="0" smtClean="0"/>
                    <a:t>Tempeture</a:t>
                  </a:r>
                  <a:endParaRPr lang="en-IN" sz="1400" dirty="0"/>
                </a:p>
              </p:txBody>
            </p:sp>
            <p:sp>
              <p:nvSpPr>
                <p:cNvPr id="77" name="TextBox 76"/>
                <p:cNvSpPr txBox="1"/>
                <p:nvPr/>
              </p:nvSpPr>
              <p:spPr>
                <a:xfrm>
                  <a:off x="8000442" y="2224867"/>
                  <a:ext cx="854721" cy="307777"/>
                </a:xfrm>
                <a:prstGeom prst="rect">
                  <a:avLst/>
                </a:prstGeom>
                <a:noFill/>
              </p:spPr>
              <p:txBody>
                <a:bodyPr wrap="none" rtlCol="0">
                  <a:spAutoFit/>
                </a:bodyPr>
                <a:lstStyle/>
                <a:p>
                  <a:r>
                    <a:rPr lang="en-US" sz="1400" dirty="0" smtClean="0"/>
                    <a:t>Humidity</a:t>
                  </a:r>
                  <a:endParaRPr lang="en-IN" sz="1400" dirty="0"/>
                </a:p>
              </p:txBody>
            </p:sp>
            <p:sp>
              <p:nvSpPr>
                <p:cNvPr id="78" name="TextBox 77"/>
                <p:cNvSpPr txBox="1"/>
                <p:nvPr/>
              </p:nvSpPr>
              <p:spPr>
                <a:xfrm>
                  <a:off x="8714740" y="1848099"/>
                  <a:ext cx="813108" cy="307777"/>
                </a:xfrm>
                <a:prstGeom prst="rect">
                  <a:avLst/>
                </a:prstGeom>
                <a:noFill/>
              </p:spPr>
              <p:txBody>
                <a:bodyPr wrap="none" rtlCol="0">
                  <a:spAutoFit/>
                </a:bodyPr>
                <a:lstStyle/>
                <a:p>
                  <a:r>
                    <a:rPr lang="en-US" sz="1400" dirty="0" smtClean="0"/>
                    <a:t>Pressure</a:t>
                  </a:r>
                  <a:endParaRPr lang="en-IN" sz="1400" dirty="0"/>
                </a:p>
              </p:txBody>
            </p:sp>
            <p:cxnSp>
              <p:nvCxnSpPr>
                <p:cNvPr id="1038" name="Straight Arrow Connector 1037"/>
                <p:cNvCxnSpPr>
                  <a:stCxn id="33" idx="2"/>
                  <a:endCxn id="1036" idx="0"/>
                </p:cNvCxnSpPr>
                <p:nvPr/>
              </p:nvCxnSpPr>
              <p:spPr>
                <a:xfrm flipH="1">
                  <a:off x="7324326" y="1835733"/>
                  <a:ext cx="196305" cy="447166"/>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a:off x="7588711" y="1848481"/>
                  <a:ext cx="724016" cy="376386"/>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7805885" y="1820419"/>
                  <a:ext cx="908855" cy="154703"/>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grpSp>
          <p:sp>
            <p:nvSpPr>
              <p:cNvPr id="1045" name="TextBox 1044"/>
              <p:cNvSpPr txBox="1"/>
              <p:nvPr/>
            </p:nvSpPr>
            <p:spPr>
              <a:xfrm>
                <a:off x="1357746" y="1245419"/>
                <a:ext cx="743858" cy="307777"/>
              </a:xfrm>
              <a:prstGeom prst="rect">
                <a:avLst/>
              </a:prstGeom>
              <a:solidFill>
                <a:srgbClr val="FF0066"/>
              </a:solidFill>
            </p:spPr>
            <p:txBody>
              <a:bodyPr wrap="none" rtlCol="0">
                <a:spAutoFit/>
              </a:bodyPr>
              <a:lstStyle/>
              <a:p>
                <a:r>
                  <a:rPr lang="en-US" sz="1400" dirty="0" smtClean="0">
                    <a:solidFill>
                      <a:schemeClr val="bg1"/>
                    </a:solidFill>
                  </a:rPr>
                  <a:t>Feature</a:t>
                </a:r>
                <a:endParaRPr lang="en-IN" sz="1400" dirty="0">
                  <a:solidFill>
                    <a:schemeClr val="bg1"/>
                  </a:solidFill>
                </a:endParaRPr>
              </a:p>
            </p:txBody>
          </p:sp>
          <p:grpSp>
            <p:nvGrpSpPr>
              <p:cNvPr id="64" name="Group 63"/>
              <p:cNvGrpSpPr/>
              <p:nvPr/>
            </p:nvGrpSpPr>
            <p:grpSpPr>
              <a:xfrm>
                <a:off x="1688111" y="1582880"/>
                <a:ext cx="960136" cy="616253"/>
                <a:chOff x="1688111" y="1582880"/>
                <a:chExt cx="960136" cy="616253"/>
              </a:xfrm>
            </p:grpSpPr>
            <p:sp>
              <p:nvSpPr>
                <p:cNvPr id="1048" name="Freeform 1047"/>
                <p:cNvSpPr/>
                <p:nvPr/>
              </p:nvSpPr>
              <p:spPr>
                <a:xfrm>
                  <a:off x="2507690" y="2016640"/>
                  <a:ext cx="45719" cy="182493"/>
                </a:xfrm>
                <a:custGeom>
                  <a:avLst/>
                  <a:gdLst>
                    <a:gd name="connsiteX0" fmla="*/ 96982 w 180109"/>
                    <a:gd name="connsiteY0" fmla="*/ 0 h 193964"/>
                    <a:gd name="connsiteX1" fmla="*/ 124691 w 180109"/>
                    <a:gd name="connsiteY1" fmla="*/ 69273 h 193964"/>
                    <a:gd name="connsiteX2" fmla="*/ 180109 w 180109"/>
                    <a:gd name="connsiteY2" fmla="*/ 152400 h 193964"/>
                    <a:gd name="connsiteX3" fmla="*/ 96982 w 180109"/>
                    <a:gd name="connsiteY3" fmla="*/ 180109 h 193964"/>
                    <a:gd name="connsiteX4" fmla="*/ 55418 w 180109"/>
                    <a:gd name="connsiteY4" fmla="*/ 193964 h 193964"/>
                    <a:gd name="connsiteX5" fmla="*/ 0 w 180109"/>
                    <a:gd name="connsiteY5" fmla="*/ 193964 h 193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109" h="193964">
                      <a:moveTo>
                        <a:pt x="96982" y="0"/>
                      </a:moveTo>
                      <a:cubicBezTo>
                        <a:pt x="106218" y="23091"/>
                        <a:pt x="112782" y="47440"/>
                        <a:pt x="124691" y="69273"/>
                      </a:cubicBezTo>
                      <a:cubicBezTo>
                        <a:pt x="140638" y="98509"/>
                        <a:pt x="180109" y="152400"/>
                        <a:pt x="180109" y="152400"/>
                      </a:cubicBezTo>
                      <a:lnTo>
                        <a:pt x="96982" y="180109"/>
                      </a:lnTo>
                      <a:cubicBezTo>
                        <a:pt x="83127" y="184727"/>
                        <a:pt x="70022" y="193964"/>
                        <a:pt x="55418" y="193964"/>
                      </a:cubicBezTo>
                      <a:lnTo>
                        <a:pt x="0" y="193964"/>
                      </a:lnTo>
                    </a:path>
                  </a:pathLst>
                </a:custGeom>
                <a:ln>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cxnSp>
              <p:nvCxnSpPr>
                <p:cNvPr id="1050" name="Curved Connector 1049"/>
                <p:cNvCxnSpPr/>
                <p:nvPr/>
              </p:nvCxnSpPr>
              <p:spPr>
                <a:xfrm>
                  <a:off x="1688111" y="1582880"/>
                  <a:ext cx="960136" cy="565486"/>
                </a:xfrm>
                <a:prstGeom prst="curvedConnector3">
                  <a:avLst>
                    <a:gd name="adj1" fmla="val -287"/>
                  </a:avLst>
                </a:prstGeom>
                <a:ln>
                  <a:prstDash val="sysDash"/>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5776648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5" name="Group 4"/>
          <p:cNvGrpSpPr/>
          <p:nvPr/>
        </p:nvGrpSpPr>
        <p:grpSpPr>
          <a:xfrm>
            <a:off x="1357746" y="1245419"/>
            <a:ext cx="4779817" cy="1595002"/>
            <a:chOff x="1357746" y="1245419"/>
            <a:chExt cx="4779817" cy="1595002"/>
          </a:xfrm>
        </p:grpSpPr>
        <p:grpSp>
          <p:nvGrpSpPr>
            <p:cNvPr id="6" name="Group 5"/>
            <p:cNvGrpSpPr/>
            <p:nvPr/>
          </p:nvGrpSpPr>
          <p:grpSpPr>
            <a:xfrm>
              <a:off x="2696105" y="1527069"/>
              <a:ext cx="3441458" cy="1313352"/>
              <a:chOff x="2582559" y="1814946"/>
              <a:chExt cx="3441458" cy="1313352"/>
            </a:xfrm>
          </p:grpSpPr>
          <p:sp>
            <p:nvSpPr>
              <p:cNvPr id="22" name="TextBox 21"/>
              <p:cNvSpPr txBox="1"/>
              <p:nvPr/>
            </p:nvSpPr>
            <p:spPr>
              <a:xfrm>
                <a:off x="3947068" y="1814946"/>
                <a:ext cx="764953" cy="338554"/>
              </a:xfrm>
              <a:prstGeom prst="rect">
                <a:avLst/>
              </a:prstGeom>
              <a:solidFill>
                <a:srgbClr val="00B0F0"/>
              </a:solidFill>
              <a:ln>
                <a:solidFill>
                  <a:srgbClr val="0070C0"/>
                </a:solidFill>
              </a:ln>
            </p:spPr>
            <p:txBody>
              <a:bodyPr wrap="none" rtlCol="0">
                <a:spAutoFit/>
              </a:bodyPr>
              <a:lstStyle/>
              <a:p>
                <a:r>
                  <a:rPr lang="en-US" sz="1600" dirty="0" smtClean="0">
                    <a:solidFill>
                      <a:schemeClr val="bg1"/>
                    </a:solidFill>
                  </a:rPr>
                  <a:t>Animal</a:t>
                </a:r>
                <a:endParaRPr lang="en-IN" sz="1600" dirty="0">
                  <a:solidFill>
                    <a:schemeClr val="bg1"/>
                  </a:solidFill>
                </a:endParaRPr>
              </a:p>
            </p:txBody>
          </p:sp>
          <p:grpSp>
            <p:nvGrpSpPr>
              <p:cNvPr id="23" name="Group 22"/>
              <p:cNvGrpSpPr/>
              <p:nvPr/>
            </p:nvGrpSpPr>
            <p:grpSpPr>
              <a:xfrm>
                <a:off x="2582559" y="2153500"/>
                <a:ext cx="3441458" cy="974798"/>
                <a:chOff x="2582559" y="2153500"/>
                <a:chExt cx="3441458" cy="974798"/>
              </a:xfrm>
            </p:grpSpPr>
            <p:grpSp>
              <p:nvGrpSpPr>
                <p:cNvPr id="24" name="Group 23"/>
                <p:cNvGrpSpPr/>
                <p:nvPr/>
              </p:nvGrpSpPr>
              <p:grpSpPr>
                <a:xfrm>
                  <a:off x="2582559" y="2153500"/>
                  <a:ext cx="1559950" cy="417276"/>
                  <a:chOff x="2582559" y="2153500"/>
                  <a:chExt cx="1559950" cy="417276"/>
                </a:xfrm>
              </p:grpSpPr>
              <p:cxnSp>
                <p:nvCxnSpPr>
                  <p:cNvPr id="33" name="Straight Arrow Connector 32"/>
                  <p:cNvCxnSpPr/>
                  <p:nvPr/>
                </p:nvCxnSpPr>
                <p:spPr>
                  <a:xfrm flipH="1">
                    <a:off x="3190867" y="2153500"/>
                    <a:ext cx="951642" cy="247999"/>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582559" y="2262999"/>
                    <a:ext cx="681533" cy="307777"/>
                  </a:xfrm>
                  <a:prstGeom prst="rect">
                    <a:avLst/>
                  </a:prstGeom>
                  <a:noFill/>
                </p:spPr>
                <p:txBody>
                  <a:bodyPr wrap="none" rtlCol="0">
                    <a:spAutoFit/>
                  </a:bodyPr>
                  <a:lstStyle/>
                  <a:p>
                    <a:r>
                      <a:rPr lang="en-US" sz="1400" dirty="0" smtClean="0"/>
                      <a:t>weight</a:t>
                    </a:r>
                    <a:endParaRPr lang="en-IN" sz="1200" dirty="0"/>
                  </a:p>
                </p:txBody>
              </p:sp>
            </p:grpSp>
            <p:cxnSp>
              <p:nvCxnSpPr>
                <p:cNvPr id="25" name="Straight Arrow Connector 24"/>
                <p:cNvCxnSpPr>
                  <a:endCxn id="26" idx="0"/>
                </p:cNvCxnSpPr>
                <p:nvPr/>
              </p:nvCxnSpPr>
              <p:spPr>
                <a:xfrm flipH="1">
                  <a:off x="3519630" y="2153500"/>
                  <a:ext cx="622879" cy="513133"/>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194893" y="2666633"/>
                  <a:ext cx="649473" cy="307777"/>
                </a:xfrm>
                <a:prstGeom prst="rect">
                  <a:avLst/>
                </a:prstGeom>
                <a:noFill/>
              </p:spPr>
              <p:txBody>
                <a:bodyPr wrap="none" rtlCol="0">
                  <a:spAutoFit/>
                </a:bodyPr>
                <a:lstStyle/>
                <a:p>
                  <a:r>
                    <a:rPr lang="en-US" sz="1400" dirty="0" smtClean="0"/>
                    <a:t>height</a:t>
                  </a:r>
                  <a:endParaRPr lang="en-IN" sz="1400" dirty="0"/>
                </a:p>
              </p:txBody>
            </p:sp>
            <p:cxnSp>
              <p:nvCxnSpPr>
                <p:cNvPr id="27" name="Straight Arrow Connector 26"/>
                <p:cNvCxnSpPr/>
                <p:nvPr/>
              </p:nvCxnSpPr>
              <p:spPr>
                <a:xfrm>
                  <a:off x="4142509" y="2153500"/>
                  <a:ext cx="118582" cy="667021"/>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831069" y="2820521"/>
                  <a:ext cx="955711" cy="307777"/>
                </a:xfrm>
                <a:prstGeom prst="rect">
                  <a:avLst/>
                </a:prstGeom>
                <a:noFill/>
              </p:spPr>
              <p:txBody>
                <a:bodyPr wrap="none" rtlCol="0">
                  <a:spAutoFit/>
                </a:bodyPr>
                <a:lstStyle/>
                <a:p>
                  <a:r>
                    <a:rPr lang="en-US" sz="1400" dirty="0" smtClean="0"/>
                    <a:t>No. of legs</a:t>
                  </a:r>
                  <a:endParaRPr lang="en-IN" sz="1400" dirty="0"/>
                </a:p>
              </p:txBody>
            </p:sp>
            <p:cxnSp>
              <p:nvCxnSpPr>
                <p:cNvPr id="29" name="Straight Arrow Connector 28"/>
                <p:cNvCxnSpPr/>
                <p:nvPr/>
              </p:nvCxnSpPr>
              <p:spPr>
                <a:xfrm>
                  <a:off x="4142509" y="2181213"/>
                  <a:ext cx="775855" cy="63930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918364" y="2820521"/>
                  <a:ext cx="551882" cy="307777"/>
                </a:xfrm>
                <a:prstGeom prst="rect">
                  <a:avLst/>
                </a:prstGeom>
                <a:noFill/>
              </p:spPr>
              <p:txBody>
                <a:bodyPr wrap="none" rtlCol="0">
                  <a:spAutoFit/>
                </a:bodyPr>
                <a:lstStyle/>
                <a:p>
                  <a:r>
                    <a:rPr lang="en-US" sz="1400" dirty="0" smtClean="0"/>
                    <a:t>color</a:t>
                  </a:r>
                  <a:endParaRPr lang="en-IN" sz="1400" dirty="0"/>
                </a:p>
              </p:txBody>
            </p:sp>
            <p:cxnSp>
              <p:nvCxnSpPr>
                <p:cNvPr id="31" name="Straight Arrow Connector 30"/>
                <p:cNvCxnSpPr/>
                <p:nvPr/>
              </p:nvCxnSpPr>
              <p:spPr>
                <a:xfrm>
                  <a:off x="4142509" y="2153500"/>
                  <a:ext cx="1205904" cy="333510"/>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188532" y="2512744"/>
                  <a:ext cx="835485" cy="307777"/>
                </a:xfrm>
                <a:prstGeom prst="rect">
                  <a:avLst/>
                </a:prstGeom>
                <a:noFill/>
              </p:spPr>
              <p:txBody>
                <a:bodyPr wrap="none" rtlCol="0">
                  <a:spAutoFit/>
                </a:bodyPr>
                <a:lstStyle/>
                <a:p>
                  <a:r>
                    <a:rPr lang="en-US" sz="1400" dirty="0" smtClean="0"/>
                    <a:t>loudness</a:t>
                  </a:r>
                  <a:endParaRPr lang="en-IN" sz="1400" dirty="0"/>
                </a:p>
              </p:txBody>
            </p:sp>
          </p:grpSp>
        </p:grpSp>
        <p:sp>
          <p:nvSpPr>
            <p:cNvPr id="8" name="TextBox 7"/>
            <p:cNvSpPr txBox="1"/>
            <p:nvPr/>
          </p:nvSpPr>
          <p:spPr>
            <a:xfrm>
              <a:off x="1357746" y="1245419"/>
              <a:ext cx="743858" cy="307777"/>
            </a:xfrm>
            <a:prstGeom prst="rect">
              <a:avLst/>
            </a:prstGeom>
            <a:solidFill>
              <a:srgbClr val="FF0066"/>
            </a:solidFill>
          </p:spPr>
          <p:txBody>
            <a:bodyPr wrap="none" rtlCol="0">
              <a:spAutoFit/>
            </a:bodyPr>
            <a:lstStyle/>
            <a:p>
              <a:r>
                <a:rPr lang="en-US" sz="1400" dirty="0" smtClean="0">
                  <a:solidFill>
                    <a:schemeClr val="bg1"/>
                  </a:solidFill>
                </a:rPr>
                <a:t>Feature</a:t>
              </a:r>
              <a:endParaRPr lang="en-IN" sz="1400" dirty="0">
                <a:solidFill>
                  <a:schemeClr val="bg1"/>
                </a:solidFill>
              </a:endParaRPr>
            </a:p>
          </p:txBody>
        </p:sp>
        <p:grpSp>
          <p:nvGrpSpPr>
            <p:cNvPr id="9" name="Group 8"/>
            <p:cNvGrpSpPr/>
            <p:nvPr/>
          </p:nvGrpSpPr>
          <p:grpSpPr>
            <a:xfrm>
              <a:off x="1688111" y="1582880"/>
              <a:ext cx="960136" cy="616253"/>
              <a:chOff x="1688111" y="1582880"/>
              <a:chExt cx="960136" cy="616253"/>
            </a:xfrm>
          </p:grpSpPr>
          <p:sp>
            <p:nvSpPr>
              <p:cNvPr id="10" name="Freeform 9"/>
              <p:cNvSpPr/>
              <p:nvPr/>
            </p:nvSpPr>
            <p:spPr>
              <a:xfrm>
                <a:off x="2507690" y="2016640"/>
                <a:ext cx="45719" cy="182493"/>
              </a:xfrm>
              <a:custGeom>
                <a:avLst/>
                <a:gdLst>
                  <a:gd name="connsiteX0" fmla="*/ 96982 w 180109"/>
                  <a:gd name="connsiteY0" fmla="*/ 0 h 193964"/>
                  <a:gd name="connsiteX1" fmla="*/ 124691 w 180109"/>
                  <a:gd name="connsiteY1" fmla="*/ 69273 h 193964"/>
                  <a:gd name="connsiteX2" fmla="*/ 180109 w 180109"/>
                  <a:gd name="connsiteY2" fmla="*/ 152400 h 193964"/>
                  <a:gd name="connsiteX3" fmla="*/ 96982 w 180109"/>
                  <a:gd name="connsiteY3" fmla="*/ 180109 h 193964"/>
                  <a:gd name="connsiteX4" fmla="*/ 55418 w 180109"/>
                  <a:gd name="connsiteY4" fmla="*/ 193964 h 193964"/>
                  <a:gd name="connsiteX5" fmla="*/ 0 w 180109"/>
                  <a:gd name="connsiteY5" fmla="*/ 193964 h 193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109" h="193964">
                    <a:moveTo>
                      <a:pt x="96982" y="0"/>
                    </a:moveTo>
                    <a:cubicBezTo>
                      <a:pt x="106218" y="23091"/>
                      <a:pt x="112782" y="47440"/>
                      <a:pt x="124691" y="69273"/>
                    </a:cubicBezTo>
                    <a:cubicBezTo>
                      <a:pt x="140638" y="98509"/>
                      <a:pt x="180109" y="152400"/>
                      <a:pt x="180109" y="152400"/>
                    </a:cubicBezTo>
                    <a:lnTo>
                      <a:pt x="96982" y="180109"/>
                    </a:lnTo>
                    <a:cubicBezTo>
                      <a:pt x="83127" y="184727"/>
                      <a:pt x="70022" y="193964"/>
                      <a:pt x="55418" y="193964"/>
                    </a:cubicBezTo>
                    <a:lnTo>
                      <a:pt x="0" y="193964"/>
                    </a:lnTo>
                  </a:path>
                </a:pathLst>
              </a:custGeom>
              <a:ln>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cxnSp>
            <p:nvCxnSpPr>
              <p:cNvPr id="11" name="Curved Connector 10"/>
              <p:cNvCxnSpPr/>
              <p:nvPr/>
            </p:nvCxnSpPr>
            <p:spPr>
              <a:xfrm>
                <a:off x="1688111" y="1582880"/>
                <a:ext cx="960136" cy="565486"/>
              </a:xfrm>
              <a:prstGeom prst="curvedConnector3">
                <a:avLst>
                  <a:gd name="adj1" fmla="val -287"/>
                </a:avLst>
              </a:prstGeom>
              <a:ln>
                <a:prstDash val="sysDash"/>
              </a:ln>
            </p:spPr>
            <p:style>
              <a:lnRef idx="1">
                <a:schemeClr val="accent1"/>
              </a:lnRef>
              <a:fillRef idx="0">
                <a:schemeClr val="accent1"/>
              </a:fillRef>
              <a:effectRef idx="0">
                <a:schemeClr val="accent1"/>
              </a:effectRef>
              <a:fontRef idx="minor">
                <a:schemeClr val="tx1"/>
              </a:fontRef>
            </p:style>
          </p:cxnSp>
        </p:grpSp>
      </p:grpSp>
      <p:sp>
        <p:nvSpPr>
          <p:cNvPr id="4" name="Rectangle 3"/>
          <p:cNvSpPr/>
          <p:nvPr/>
        </p:nvSpPr>
        <p:spPr>
          <a:xfrm>
            <a:off x="260438" y="185363"/>
            <a:ext cx="11668325" cy="615553"/>
          </a:xfrm>
          <a:prstGeom prst="rect">
            <a:avLst/>
          </a:prstGeom>
        </p:spPr>
        <p:txBody>
          <a:bodyPr wrap="square">
            <a:spAutoFit/>
          </a:bodyPr>
          <a:lstStyle/>
          <a:p>
            <a:r>
              <a:rPr lang="en-US" sz="1700" dirty="0"/>
              <a:t>For example, an engineer might decide that the temperature reading from an IoT device is significant</a:t>
            </a:r>
          </a:p>
          <a:p>
            <a:r>
              <a:rPr lang="en-US" sz="1700" dirty="0"/>
              <a:t>and should be included as a feature in each data point generated by that IoT device.</a:t>
            </a:r>
            <a:endParaRPr lang="en-IN" sz="1700" dirty="0"/>
          </a:p>
        </p:txBody>
      </p:sp>
      <p:sp>
        <p:nvSpPr>
          <p:cNvPr id="2048" name="Rectangle 2047"/>
          <p:cNvSpPr/>
          <p:nvPr/>
        </p:nvSpPr>
        <p:spPr>
          <a:xfrm>
            <a:off x="108241" y="4065134"/>
            <a:ext cx="11972715" cy="1923604"/>
          </a:xfrm>
          <a:prstGeom prst="rect">
            <a:avLst/>
          </a:prstGeom>
        </p:spPr>
        <p:txBody>
          <a:bodyPr wrap="square">
            <a:spAutoFit/>
          </a:bodyPr>
          <a:lstStyle/>
          <a:p>
            <a:r>
              <a:rPr lang="en-US" sz="1700" dirty="0"/>
              <a:t>Let's take the </a:t>
            </a:r>
            <a:r>
              <a:rPr lang="en-US" sz="1700" dirty="0" smtClean="0"/>
              <a:t>example of Animal object.</a:t>
            </a:r>
          </a:p>
          <a:p>
            <a:endParaRPr lang="en-US" sz="1700" dirty="0"/>
          </a:p>
          <a:p>
            <a:r>
              <a:rPr lang="en-US" sz="1700" dirty="0"/>
              <a:t>It has several features such as weight, height, number of legs, color.</a:t>
            </a:r>
          </a:p>
          <a:p>
            <a:r>
              <a:rPr lang="en-US" sz="1700" dirty="0"/>
              <a:t>There are many more features that can be used to describe an animal, but let's assume that </a:t>
            </a:r>
            <a:r>
              <a:rPr lang="en-US" sz="1700" dirty="0" smtClean="0"/>
              <a:t>someone selected </a:t>
            </a:r>
            <a:r>
              <a:rPr lang="en-US" sz="1700" dirty="0"/>
              <a:t>those specific features for some use case.</a:t>
            </a:r>
          </a:p>
          <a:p>
            <a:r>
              <a:rPr lang="en-US" sz="1700" dirty="0"/>
              <a:t>These features are fixed across all animals in that data set, meaning every data point is </a:t>
            </a:r>
            <a:r>
              <a:rPr lang="en-US" sz="1700" dirty="0" smtClean="0"/>
              <a:t>described using </a:t>
            </a:r>
            <a:r>
              <a:rPr lang="en-US" sz="1700" dirty="0"/>
              <a:t>the same set of features.</a:t>
            </a:r>
          </a:p>
          <a:p>
            <a:r>
              <a:rPr lang="en-US" sz="1700" dirty="0"/>
              <a:t>If we check and examine one data point for an animal, it may look like the weight is 20kg, </a:t>
            </a:r>
            <a:r>
              <a:rPr lang="en-US" sz="1700" dirty="0" smtClean="0"/>
              <a:t>number of </a:t>
            </a:r>
            <a:r>
              <a:rPr lang="en-US" sz="1700" dirty="0"/>
              <a:t>legs four, and so on.</a:t>
            </a:r>
          </a:p>
        </p:txBody>
      </p:sp>
    </p:spTree>
    <p:extLst>
      <p:ext uri="{BB962C8B-B14F-4D97-AF65-F5344CB8AC3E}">
        <p14:creationId xmlns:p14="http://schemas.microsoft.com/office/powerpoint/2010/main" val="10609671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7763" y="2402307"/>
            <a:ext cx="11956474" cy="1569660"/>
          </a:xfrm>
          <a:prstGeom prst="rect">
            <a:avLst/>
          </a:prstGeom>
        </p:spPr>
        <p:txBody>
          <a:bodyPr wrap="square">
            <a:spAutoFit/>
          </a:bodyPr>
          <a:lstStyle/>
          <a:p>
            <a:r>
              <a:rPr lang="en-US" sz="1600" dirty="0">
                <a:latin typeface="Cambria Math" pitchFamily="18" charset="0"/>
                <a:ea typeface="Cambria Math" pitchFamily="18" charset="0"/>
              </a:rPr>
              <a:t>One of the most effective ways to handle the values of these features for each data point is by using vectors.</a:t>
            </a:r>
          </a:p>
          <a:p>
            <a:endParaRPr lang="en-US" sz="1600" dirty="0">
              <a:latin typeface="Cambria Math" pitchFamily="18" charset="0"/>
              <a:ea typeface="Cambria Math" pitchFamily="18" charset="0"/>
            </a:endParaRPr>
          </a:p>
          <a:p>
            <a:r>
              <a:rPr lang="en-US" sz="1600" dirty="0">
                <a:latin typeface="Cambria Math" pitchFamily="18" charset="0"/>
                <a:ea typeface="Cambria Math" pitchFamily="18" charset="0"/>
              </a:rPr>
              <a:t>A vector is basically an ordered list of, or sequence of numbers that represent a single data point in a multi-dimensional space</a:t>
            </a:r>
            <a:r>
              <a:rPr lang="en-US" sz="1600" dirty="0" smtClean="0">
                <a:latin typeface="Cambria Math" pitchFamily="18" charset="0"/>
                <a:ea typeface="Cambria Math" pitchFamily="18" charset="0"/>
              </a:rPr>
              <a:t>.</a:t>
            </a:r>
            <a:endParaRPr lang="en-US" sz="1600" dirty="0">
              <a:latin typeface="Cambria Math" pitchFamily="18" charset="0"/>
              <a:ea typeface="Cambria Math" pitchFamily="18" charset="0"/>
            </a:endParaRPr>
          </a:p>
          <a:p>
            <a:r>
              <a:rPr lang="en-US" sz="1600" dirty="0">
                <a:latin typeface="Cambria Math" pitchFamily="18" charset="0"/>
                <a:ea typeface="Cambria Math" pitchFamily="18" charset="0"/>
              </a:rPr>
              <a:t>For example, the vector for the animal's features will be structured as follows.</a:t>
            </a:r>
          </a:p>
          <a:p>
            <a:endParaRPr lang="en-US" sz="1600" dirty="0">
              <a:latin typeface="Cambria Math" pitchFamily="18" charset="0"/>
              <a:ea typeface="Cambria Math" pitchFamily="18" charset="0"/>
            </a:endParaRPr>
          </a:p>
          <a:p>
            <a:r>
              <a:rPr lang="en-US" sz="1600" dirty="0">
                <a:latin typeface="Cambria Math" pitchFamily="18" charset="0"/>
                <a:ea typeface="Cambria Math" pitchFamily="18" charset="0"/>
              </a:rPr>
              <a:t>We have the weight, </a:t>
            </a:r>
            <a:r>
              <a:rPr lang="en-US" sz="1600" dirty="0" smtClean="0">
                <a:latin typeface="Cambria Math" pitchFamily="18" charset="0"/>
                <a:ea typeface="Cambria Math" pitchFamily="18" charset="0"/>
              </a:rPr>
              <a:t>height. Number </a:t>
            </a:r>
            <a:r>
              <a:rPr lang="en-US" sz="1600" dirty="0">
                <a:latin typeface="Cambria Math" pitchFamily="18" charset="0"/>
                <a:ea typeface="Cambria Math" pitchFamily="18" charset="0"/>
              </a:rPr>
              <a:t>of legs, color, and so on.</a:t>
            </a:r>
            <a:endParaRPr lang="en-IN" sz="1600" dirty="0">
              <a:latin typeface="Cambria Math" pitchFamily="18" charset="0"/>
              <a:ea typeface="Cambria Math" pitchFamily="18" charset="0"/>
            </a:endParaRPr>
          </a:p>
        </p:txBody>
      </p:sp>
      <p:sp>
        <p:nvSpPr>
          <p:cNvPr id="2" name="Rectangle 1"/>
          <p:cNvSpPr/>
          <p:nvPr/>
        </p:nvSpPr>
        <p:spPr>
          <a:xfrm>
            <a:off x="117763" y="4768610"/>
            <a:ext cx="11651672" cy="1077218"/>
          </a:xfrm>
          <a:prstGeom prst="rect">
            <a:avLst/>
          </a:prstGeom>
        </p:spPr>
        <p:txBody>
          <a:bodyPr wrap="square">
            <a:spAutoFit/>
          </a:bodyPr>
          <a:lstStyle/>
          <a:p>
            <a:r>
              <a:rPr lang="en-US" sz="1600" dirty="0">
                <a:latin typeface="Cambria Math" pitchFamily="18" charset="0"/>
                <a:ea typeface="Cambria Math" pitchFamily="18" charset="0"/>
              </a:rPr>
              <a:t>If there are more features in data science, this is referred as a feature vector because it is holds the features of a specific object.</a:t>
            </a:r>
          </a:p>
          <a:p>
            <a:r>
              <a:rPr lang="en-US" sz="1600" dirty="0">
                <a:latin typeface="Cambria Math" pitchFamily="18" charset="0"/>
                <a:ea typeface="Cambria Math" pitchFamily="18" charset="0"/>
              </a:rPr>
              <a:t>Each number in the vector correspond to a particular feature or an attribute</a:t>
            </a:r>
            <a:r>
              <a:rPr lang="en-US" sz="1600" dirty="0" smtClean="0">
                <a:latin typeface="Cambria Math" pitchFamily="18" charset="0"/>
                <a:ea typeface="Cambria Math" pitchFamily="18" charset="0"/>
              </a:rPr>
              <a:t>.</a:t>
            </a:r>
          </a:p>
          <a:p>
            <a:endParaRPr lang="en-US" sz="1600" dirty="0">
              <a:latin typeface="Cambria Math" pitchFamily="18" charset="0"/>
              <a:ea typeface="Cambria Math" pitchFamily="18" charset="0"/>
            </a:endParaRPr>
          </a:p>
          <a:p>
            <a:r>
              <a:rPr lang="en-US" sz="1600" dirty="0">
                <a:latin typeface="Cambria Math" pitchFamily="18" charset="0"/>
                <a:ea typeface="Cambria Math" pitchFamily="18" charset="0"/>
              </a:rPr>
              <a:t>The first number represents the weight, the second represents the height, and so on.</a:t>
            </a:r>
          </a:p>
        </p:txBody>
      </p:sp>
      <p:grpSp>
        <p:nvGrpSpPr>
          <p:cNvPr id="23" name="Group 22"/>
          <p:cNvGrpSpPr/>
          <p:nvPr/>
        </p:nvGrpSpPr>
        <p:grpSpPr>
          <a:xfrm>
            <a:off x="2121831" y="484955"/>
            <a:ext cx="7752996" cy="1274526"/>
            <a:chOff x="2121831" y="484955"/>
            <a:chExt cx="7752996" cy="1274526"/>
          </a:xfrm>
        </p:grpSpPr>
        <p:grpSp>
          <p:nvGrpSpPr>
            <p:cNvPr id="20" name="Group 19"/>
            <p:cNvGrpSpPr/>
            <p:nvPr/>
          </p:nvGrpSpPr>
          <p:grpSpPr>
            <a:xfrm>
              <a:off x="2121831" y="484955"/>
              <a:ext cx="2788201" cy="1274526"/>
              <a:chOff x="2121831" y="484955"/>
              <a:chExt cx="2788201" cy="1274526"/>
            </a:xfrm>
          </p:grpSpPr>
          <p:sp>
            <p:nvSpPr>
              <p:cNvPr id="3" name="TextBox 2"/>
              <p:cNvSpPr txBox="1"/>
              <p:nvPr/>
            </p:nvSpPr>
            <p:spPr>
              <a:xfrm>
                <a:off x="2121831" y="909659"/>
                <a:ext cx="870751" cy="338554"/>
              </a:xfrm>
              <a:prstGeom prst="rect">
                <a:avLst/>
              </a:prstGeom>
              <a:solidFill>
                <a:srgbClr val="33CC33"/>
              </a:solidFill>
            </p:spPr>
            <p:txBody>
              <a:bodyPr wrap="none" rtlCol="0">
                <a:spAutoFit/>
              </a:bodyPr>
              <a:lstStyle/>
              <a:p>
                <a:r>
                  <a:rPr lang="en-US" sz="1600" dirty="0" smtClean="0">
                    <a:solidFill>
                      <a:schemeClr val="bg1"/>
                    </a:solidFill>
                    <a:latin typeface="Arial Rounded MT Bold" pitchFamily="34" charset="0"/>
                  </a:rPr>
                  <a:t>Animal</a:t>
                </a:r>
                <a:endParaRPr lang="en-IN" sz="1600" dirty="0">
                  <a:solidFill>
                    <a:schemeClr val="bg1"/>
                  </a:solidFill>
                  <a:latin typeface="Arial Rounded MT Bold" pitchFamily="34" charset="0"/>
                </a:endParaRPr>
              </a:p>
            </p:txBody>
          </p:sp>
          <p:grpSp>
            <p:nvGrpSpPr>
              <p:cNvPr id="12" name="Group 11"/>
              <p:cNvGrpSpPr/>
              <p:nvPr/>
            </p:nvGrpSpPr>
            <p:grpSpPr>
              <a:xfrm>
                <a:off x="2992582" y="484955"/>
                <a:ext cx="1789777" cy="567990"/>
                <a:chOff x="2992582" y="484955"/>
                <a:chExt cx="1789777" cy="567990"/>
              </a:xfrm>
            </p:grpSpPr>
            <p:sp>
              <p:nvSpPr>
                <p:cNvPr id="10" name="Freeform 9"/>
                <p:cNvSpPr/>
                <p:nvPr/>
              </p:nvSpPr>
              <p:spPr>
                <a:xfrm>
                  <a:off x="2992582" y="623455"/>
                  <a:ext cx="748145" cy="429490"/>
                </a:xfrm>
                <a:custGeom>
                  <a:avLst/>
                  <a:gdLst>
                    <a:gd name="connsiteX0" fmla="*/ 748145 w 748145"/>
                    <a:gd name="connsiteY0" fmla="*/ 27709 h 429490"/>
                    <a:gd name="connsiteX1" fmla="*/ 581891 w 748145"/>
                    <a:gd name="connsiteY1" fmla="*/ 0 h 429490"/>
                    <a:gd name="connsiteX2" fmla="*/ 346363 w 748145"/>
                    <a:gd name="connsiteY2" fmla="*/ 13854 h 429490"/>
                    <a:gd name="connsiteX3" fmla="*/ 290945 w 748145"/>
                    <a:gd name="connsiteY3" fmla="*/ 83127 h 429490"/>
                    <a:gd name="connsiteX4" fmla="*/ 249382 w 748145"/>
                    <a:gd name="connsiteY4" fmla="*/ 124690 h 429490"/>
                    <a:gd name="connsiteX5" fmla="*/ 152400 w 748145"/>
                    <a:gd name="connsiteY5" fmla="*/ 249381 h 429490"/>
                    <a:gd name="connsiteX6" fmla="*/ 96982 w 748145"/>
                    <a:gd name="connsiteY6" fmla="*/ 332509 h 429490"/>
                    <a:gd name="connsiteX7" fmla="*/ 83127 w 748145"/>
                    <a:gd name="connsiteY7" fmla="*/ 374072 h 429490"/>
                    <a:gd name="connsiteX8" fmla="*/ 0 w 748145"/>
                    <a:gd name="connsiteY8" fmla="*/ 429490 h 42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8145" h="429490">
                      <a:moveTo>
                        <a:pt x="748145" y="27709"/>
                      </a:moveTo>
                      <a:cubicBezTo>
                        <a:pt x="708806" y="19841"/>
                        <a:pt x="616268" y="0"/>
                        <a:pt x="581891" y="0"/>
                      </a:cubicBezTo>
                      <a:cubicBezTo>
                        <a:pt x="503246" y="0"/>
                        <a:pt x="424872" y="9236"/>
                        <a:pt x="346363" y="13854"/>
                      </a:cubicBezTo>
                      <a:cubicBezTo>
                        <a:pt x="253410" y="75824"/>
                        <a:pt x="344481" y="2823"/>
                        <a:pt x="290945" y="83127"/>
                      </a:cubicBezTo>
                      <a:cubicBezTo>
                        <a:pt x="280077" y="99429"/>
                        <a:pt x="261411" y="109224"/>
                        <a:pt x="249382" y="124690"/>
                      </a:cubicBezTo>
                      <a:cubicBezTo>
                        <a:pt x="133381" y="273834"/>
                        <a:pt x="246760" y="155021"/>
                        <a:pt x="152400" y="249381"/>
                      </a:cubicBezTo>
                      <a:cubicBezTo>
                        <a:pt x="119457" y="348209"/>
                        <a:pt x="166168" y="228730"/>
                        <a:pt x="96982" y="332509"/>
                      </a:cubicBezTo>
                      <a:cubicBezTo>
                        <a:pt x="88881" y="344660"/>
                        <a:pt x="93454" y="363746"/>
                        <a:pt x="83127" y="374072"/>
                      </a:cubicBezTo>
                      <a:cubicBezTo>
                        <a:pt x="59579" y="397620"/>
                        <a:pt x="0" y="429490"/>
                        <a:pt x="0" y="429490"/>
                      </a:cubicBezTo>
                    </a:path>
                  </a:pathLst>
                </a:custGeom>
                <a:ln>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1" name="TextBox 10"/>
                <p:cNvSpPr txBox="1"/>
                <p:nvPr/>
              </p:nvSpPr>
              <p:spPr>
                <a:xfrm>
                  <a:off x="3740727" y="484955"/>
                  <a:ext cx="1041632" cy="276999"/>
                </a:xfrm>
                <a:prstGeom prst="rect">
                  <a:avLst/>
                </a:prstGeom>
                <a:noFill/>
              </p:spPr>
              <p:txBody>
                <a:bodyPr wrap="none" rtlCol="0">
                  <a:spAutoFit/>
                </a:bodyPr>
                <a:lstStyle/>
                <a:p>
                  <a:r>
                    <a:rPr lang="en-US" sz="1200" dirty="0" smtClean="0"/>
                    <a:t>Weight : 20kg</a:t>
                  </a:r>
                  <a:endParaRPr lang="en-IN" sz="1200" dirty="0"/>
                </a:p>
              </p:txBody>
            </p:sp>
          </p:grpSp>
          <p:sp>
            <p:nvSpPr>
              <p:cNvPr id="13" name="Freeform 12"/>
              <p:cNvSpPr/>
              <p:nvPr/>
            </p:nvSpPr>
            <p:spPr>
              <a:xfrm>
                <a:off x="3034145" y="886691"/>
                <a:ext cx="706582" cy="166254"/>
              </a:xfrm>
              <a:custGeom>
                <a:avLst/>
                <a:gdLst>
                  <a:gd name="connsiteX0" fmla="*/ 0 w 706582"/>
                  <a:gd name="connsiteY0" fmla="*/ 166254 h 166254"/>
                  <a:gd name="connsiteX1" fmla="*/ 69273 w 706582"/>
                  <a:gd name="connsiteY1" fmla="*/ 138545 h 166254"/>
                  <a:gd name="connsiteX2" fmla="*/ 152400 w 706582"/>
                  <a:gd name="connsiteY2" fmla="*/ 96982 h 166254"/>
                  <a:gd name="connsiteX3" fmla="*/ 180110 w 706582"/>
                  <a:gd name="connsiteY3" fmla="*/ 69273 h 166254"/>
                  <a:gd name="connsiteX4" fmla="*/ 263237 w 706582"/>
                  <a:gd name="connsiteY4" fmla="*/ 41564 h 166254"/>
                  <a:gd name="connsiteX5" fmla="*/ 304800 w 706582"/>
                  <a:gd name="connsiteY5" fmla="*/ 27709 h 166254"/>
                  <a:gd name="connsiteX6" fmla="*/ 346364 w 706582"/>
                  <a:gd name="connsiteY6" fmla="*/ 13854 h 166254"/>
                  <a:gd name="connsiteX7" fmla="*/ 387928 w 706582"/>
                  <a:gd name="connsiteY7" fmla="*/ 0 h 166254"/>
                  <a:gd name="connsiteX8" fmla="*/ 706582 w 706582"/>
                  <a:gd name="connsiteY8" fmla="*/ 13854 h 166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6582" h="166254">
                    <a:moveTo>
                      <a:pt x="0" y="166254"/>
                    </a:moveTo>
                    <a:cubicBezTo>
                      <a:pt x="23091" y="157018"/>
                      <a:pt x="47029" y="149667"/>
                      <a:pt x="69273" y="138545"/>
                    </a:cubicBezTo>
                    <a:cubicBezTo>
                      <a:pt x="176701" y="84832"/>
                      <a:pt x="47932" y="131804"/>
                      <a:pt x="152400" y="96982"/>
                    </a:cubicBezTo>
                    <a:cubicBezTo>
                      <a:pt x="161637" y="87746"/>
                      <a:pt x="168427" y="75115"/>
                      <a:pt x="180110" y="69273"/>
                    </a:cubicBezTo>
                    <a:cubicBezTo>
                      <a:pt x="206234" y="56211"/>
                      <a:pt x="235528" y="50800"/>
                      <a:pt x="263237" y="41564"/>
                    </a:cubicBezTo>
                    <a:lnTo>
                      <a:pt x="304800" y="27709"/>
                    </a:lnTo>
                    <a:lnTo>
                      <a:pt x="346364" y="13854"/>
                    </a:lnTo>
                    <a:lnTo>
                      <a:pt x="387928" y="0"/>
                    </a:lnTo>
                    <a:cubicBezTo>
                      <a:pt x="688099" y="14293"/>
                      <a:pt x="581781" y="13854"/>
                      <a:pt x="706582" y="13854"/>
                    </a:cubicBezTo>
                  </a:path>
                </a:pathLst>
              </a:custGeom>
              <a:ln>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4" name="TextBox 13"/>
              <p:cNvSpPr txBox="1"/>
              <p:nvPr/>
            </p:nvSpPr>
            <p:spPr>
              <a:xfrm>
                <a:off x="3763939" y="748191"/>
                <a:ext cx="1018420" cy="276999"/>
              </a:xfrm>
              <a:prstGeom prst="rect">
                <a:avLst/>
              </a:prstGeom>
              <a:noFill/>
            </p:spPr>
            <p:txBody>
              <a:bodyPr wrap="none" rtlCol="0">
                <a:spAutoFit/>
              </a:bodyPr>
              <a:lstStyle/>
              <a:p>
                <a:r>
                  <a:rPr lang="en-US" sz="1200" dirty="0" smtClean="0"/>
                  <a:t>Height: 40cm</a:t>
                </a:r>
                <a:endParaRPr lang="en-IN" sz="1200" dirty="0"/>
              </a:p>
            </p:txBody>
          </p:sp>
          <p:sp>
            <p:nvSpPr>
              <p:cNvPr id="16" name="Freeform 15"/>
              <p:cNvSpPr/>
              <p:nvPr/>
            </p:nvSpPr>
            <p:spPr>
              <a:xfrm>
                <a:off x="3020291" y="1108364"/>
                <a:ext cx="942109" cy="512618"/>
              </a:xfrm>
              <a:custGeom>
                <a:avLst/>
                <a:gdLst>
                  <a:gd name="connsiteX0" fmla="*/ 0 w 942109"/>
                  <a:gd name="connsiteY0" fmla="*/ 0 h 512618"/>
                  <a:gd name="connsiteX1" fmla="*/ 55418 w 942109"/>
                  <a:gd name="connsiteY1" fmla="*/ 69272 h 512618"/>
                  <a:gd name="connsiteX2" fmla="*/ 110836 w 942109"/>
                  <a:gd name="connsiteY2" fmla="*/ 152400 h 512618"/>
                  <a:gd name="connsiteX3" fmla="*/ 152400 w 942109"/>
                  <a:gd name="connsiteY3" fmla="*/ 193963 h 512618"/>
                  <a:gd name="connsiteX4" fmla="*/ 221673 w 942109"/>
                  <a:gd name="connsiteY4" fmla="*/ 318654 h 512618"/>
                  <a:gd name="connsiteX5" fmla="*/ 263236 w 942109"/>
                  <a:gd name="connsiteY5" fmla="*/ 360218 h 512618"/>
                  <a:gd name="connsiteX6" fmla="*/ 290945 w 942109"/>
                  <a:gd name="connsiteY6" fmla="*/ 401781 h 512618"/>
                  <a:gd name="connsiteX7" fmla="*/ 346364 w 942109"/>
                  <a:gd name="connsiteY7" fmla="*/ 457200 h 512618"/>
                  <a:gd name="connsiteX8" fmla="*/ 374073 w 942109"/>
                  <a:gd name="connsiteY8" fmla="*/ 498763 h 512618"/>
                  <a:gd name="connsiteX9" fmla="*/ 415636 w 942109"/>
                  <a:gd name="connsiteY9" fmla="*/ 512618 h 512618"/>
                  <a:gd name="connsiteX10" fmla="*/ 609600 w 942109"/>
                  <a:gd name="connsiteY10" fmla="*/ 484909 h 512618"/>
                  <a:gd name="connsiteX11" fmla="*/ 942109 w 942109"/>
                  <a:gd name="connsiteY11" fmla="*/ 484909 h 512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2109" h="512618">
                    <a:moveTo>
                      <a:pt x="0" y="0"/>
                    </a:moveTo>
                    <a:cubicBezTo>
                      <a:pt x="18473" y="23091"/>
                      <a:pt x="38025" y="45357"/>
                      <a:pt x="55418" y="69272"/>
                    </a:cubicBezTo>
                    <a:cubicBezTo>
                      <a:pt x="75005" y="96205"/>
                      <a:pt x="87287" y="128852"/>
                      <a:pt x="110836" y="152400"/>
                    </a:cubicBezTo>
                    <a:lnTo>
                      <a:pt x="152400" y="193963"/>
                    </a:lnTo>
                    <a:cubicBezTo>
                      <a:pt x="169822" y="246231"/>
                      <a:pt x="174030" y="271010"/>
                      <a:pt x="221673" y="318654"/>
                    </a:cubicBezTo>
                    <a:cubicBezTo>
                      <a:pt x="235527" y="332509"/>
                      <a:pt x="250693" y="345166"/>
                      <a:pt x="263236" y="360218"/>
                    </a:cubicBezTo>
                    <a:cubicBezTo>
                      <a:pt x="273896" y="373010"/>
                      <a:pt x="280109" y="389139"/>
                      <a:pt x="290945" y="401781"/>
                    </a:cubicBezTo>
                    <a:cubicBezTo>
                      <a:pt x="307947" y="421616"/>
                      <a:pt x="331872" y="435463"/>
                      <a:pt x="346364" y="457200"/>
                    </a:cubicBezTo>
                    <a:cubicBezTo>
                      <a:pt x="355600" y="471054"/>
                      <a:pt x="361071" y="488361"/>
                      <a:pt x="374073" y="498763"/>
                    </a:cubicBezTo>
                    <a:cubicBezTo>
                      <a:pt x="385477" y="507886"/>
                      <a:pt x="401782" y="508000"/>
                      <a:pt x="415636" y="512618"/>
                    </a:cubicBezTo>
                    <a:cubicBezTo>
                      <a:pt x="486209" y="498503"/>
                      <a:pt x="532021" y="487260"/>
                      <a:pt x="609600" y="484909"/>
                    </a:cubicBezTo>
                    <a:cubicBezTo>
                      <a:pt x="720385" y="481552"/>
                      <a:pt x="831273" y="484909"/>
                      <a:pt x="942109" y="484909"/>
                    </a:cubicBezTo>
                  </a:path>
                </a:pathLst>
              </a:custGeom>
              <a:ln>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nvGrpSpPr>
              <p:cNvPr id="19" name="Group 18"/>
              <p:cNvGrpSpPr/>
              <p:nvPr/>
            </p:nvGrpSpPr>
            <p:grpSpPr>
              <a:xfrm>
                <a:off x="3034145" y="1066800"/>
                <a:ext cx="1796602" cy="391204"/>
                <a:chOff x="3034145" y="1066800"/>
                <a:chExt cx="1796602" cy="391204"/>
              </a:xfrm>
            </p:grpSpPr>
            <p:sp>
              <p:nvSpPr>
                <p:cNvPr id="15" name="Freeform 14"/>
                <p:cNvSpPr/>
                <p:nvPr/>
              </p:nvSpPr>
              <p:spPr>
                <a:xfrm>
                  <a:off x="3034145" y="1066800"/>
                  <a:ext cx="831273" cy="252705"/>
                </a:xfrm>
                <a:custGeom>
                  <a:avLst/>
                  <a:gdLst>
                    <a:gd name="connsiteX0" fmla="*/ 0 w 831273"/>
                    <a:gd name="connsiteY0" fmla="*/ 0 h 252705"/>
                    <a:gd name="connsiteX1" fmla="*/ 166255 w 831273"/>
                    <a:gd name="connsiteY1" fmla="*/ 110836 h 252705"/>
                    <a:gd name="connsiteX2" fmla="*/ 207819 w 831273"/>
                    <a:gd name="connsiteY2" fmla="*/ 138545 h 252705"/>
                    <a:gd name="connsiteX3" fmla="*/ 235528 w 831273"/>
                    <a:gd name="connsiteY3" fmla="*/ 166255 h 252705"/>
                    <a:gd name="connsiteX4" fmla="*/ 415637 w 831273"/>
                    <a:gd name="connsiteY4" fmla="*/ 249382 h 252705"/>
                    <a:gd name="connsiteX5" fmla="*/ 831273 w 831273"/>
                    <a:gd name="connsiteY5" fmla="*/ 249382 h 25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1273" h="252705">
                      <a:moveTo>
                        <a:pt x="0" y="0"/>
                      </a:moveTo>
                      <a:lnTo>
                        <a:pt x="166255" y="110836"/>
                      </a:lnTo>
                      <a:cubicBezTo>
                        <a:pt x="180110" y="120072"/>
                        <a:pt x="196045" y="126771"/>
                        <a:pt x="207819" y="138545"/>
                      </a:cubicBezTo>
                      <a:cubicBezTo>
                        <a:pt x="217055" y="147782"/>
                        <a:pt x="225078" y="158418"/>
                        <a:pt x="235528" y="166255"/>
                      </a:cubicBezTo>
                      <a:cubicBezTo>
                        <a:pt x="290791" y="207703"/>
                        <a:pt x="343007" y="245456"/>
                        <a:pt x="415637" y="249382"/>
                      </a:cubicBezTo>
                      <a:cubicBezTo>
                        <a:pt x="553980" y="256860"/>
                        <a:pt x="692728" y="249382"/>
                        <a:pt x="831273" y="249382"/>
                      </a:cubicBezTo>
                    </a:path>
                  </a:pathLst>
                </a:custGeom>
                <a:ln>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7" name="TextBox 16"/>
                <p:cNvSpPr txBox="1"/>
                <p:nvPr/>
              </p:nvSpPr>
              <p:spPr>
                <a:xfrm>
                  <a:off x="3865418" y="1181005"/>
                  <a:ext cx="965329" cy="276999"/>
                </a:xfrm>
                <a:prstGeom prst="rect">
                  <a:avLst/>
                </a:prstGeom>
                <a:noFill/>
              </p:spPr>
              <p:txBody>
                <a:bodyPr wrap="none" rtlCol="0">
                  <a:spAutoFit/>
                </a:bodyPr>
                <a:lstStyle>
                  <a:defPPr>
                    <a:defRPr lang="en-US"/>
                  </a:defPPr>
                  <a:lvl1pPr>
                    <a:defRPr sz="1200"/>
                  </a:lvl1pPr>
                </a:lstStyle>
                <a:p>
                  <a:r>
                    <a:rPr lang="en-US" dirty="0"/>
                    <a:t>No of legs :4</a:t>
                  </a:r>
                  <a:endParaRPr lang="en-IN" dirty="0"/>
                </a:p>
              </p:txBody>
            </p:sp>
          </p:grpSp>
          <p:sp>
            <p:nvSpPr>
              <p:cNvPr id="18" name="TextBox 17"/>
              <p:cNvSpPr txBox="1"/>
              <p:nvPr/>
            </p:nvSpPr>
            <p:spPr>
              <a:xfrm>
                <a:off x="3962400" y="1482482"/>
                <a:ext cx="947632" cy="276999"/>
              </a:xfrm>
              <a:prstGeom prst="rect">
                <a:avLst/>
              </a:prstGeom>
              <a:noFill/>
            </p:spPr>
            <p:txBody>
              <a:bodyPr wrap="none" rtlCol="0">
                <a:spAutoFit/>
              </a:bodyPr>
              <a:lstStyle/>
              <a:p>
                <a:r>
                  <a:rPr lang="en-US" sz="1200" dirty="0" smtClean="0"/>
                  <a:t>Color: white</a:t>
                </a:r>
                <a:endParaRPr lang="en-IN" sz="1200" dirty="0"/>
              </a:p>
            </p:txBody>
          </p:sp>
        </p:grpSp>
        <p:sp>
          <p:nvSpPr>
            <p:cNvPr id="21" name="Right Arrow 20"/>
            <p:cNvSpPr/>
            <p:nvPr/>
          </p:nvSpPr>
          <p:spPr>
            <a:xfrm>
              <a:off x="5070764" y="831088"/>
              <a:ext cx="678872"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6400799" y="631264"/>
              <a:ext cx="3474028" cy="338554"/>
            </a:xfrm>
            <a:prstGeom prst="rect">
              <a:avLst/>
            </a:prstGeom>
            <a:noFill/>
          </p:spPr>
          <p:txBody>
            <a:bodyPr wrap="none" rtlCol="0">
              <a:spAutoFit/>
            </a:bodyPr>
            <a:lstStyle/>
            <a:p>
              <a:r>
                <a:rPr lang="en-US" sz="1600" dirty="0" smtClean="0">
                  <a:latin typeface="Bahnschrift Light" pitchFamily="34" charset="0"/>
                </a:rPr>
                <a:t>[ Weight, Height, No. of Legs ,Color ]</a:t>
              </a:r>
              <a:endParaRPr lang="en-IN" sz="1600" dirty="0">
                <a:latin typeface="Bahnschrift Light" pitchFamily="34" charset="0"/>
              </a:endParaRPr>
            </a:p>
          </p:txBody>
        </p:sp>
        <p:sp>
          <p:nvSpPr>
            <p:cNvPr id="24" name="TextBox 23"/>
            <p:cNvSpPr txBox="1"/>
            <p:nvPr/>
          </p:nvSpPr>
          <p:spPr>
            <a:xfrm>
              <a:off x="6526343" y="1097878"/>
              <a:ext cx="2220480" cy="338554"/>
            </a:xfrm>
            <a:prstGeom prst="rect">
              <a:avLst/>
            </a:prstGeom>
            <a:noFill/>
          </p:spPr>
          <p:txBody>
            <a:bodyPr wrap="none" rtlCol="0">
              <a:spAutoFit/>
            </a:bodyPr>
            <a:lstStyle>
              <a:defPPr>
                <a:defRPr lang="en-US"/>
              </a:defPPr>
              <a:lvl1pPr>
                <a:defRPr sz="1600">
                  <a:latin typeface="Bahnschrift Light" pitchFamily="34" charset="0"/>
                </a:defRPr>
              </a:lvl1pPr>
            </a:lstStyle>
            <a:p>
              <a:r>
                <a:rPr lang="en-US" dirty="0"/>
                <a:t>[ 20, 40, 4 , #FFFAGH ]</a:t>
              </a:r>
              <a:endParaRPr lang="en-IN" dirty="0"/>
            </a:p>
          </p:txBody>
        </p:sp>
      </p:grpSp>
    </p:spTree>
    <p:extLst>
      <p:ext uri="{BB962C8B-B14F-4D97-AF65-F5344CB8AC3E}">
        <p14:creationId xmlns:p14="http://schemas.microsoft.com/office/powerpoint/2010/main" val="357715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207818" y="1143000"/>
            <a:ext cx="11984182" cy="1107996"/>
          </a:xfrm>
          <a:prstGeom prst="rect">
            <a:avLst/>
          </a:prstGeom>
        </p:spPr>
        <p:txBody>
          <a:bodyPr wrap="square">
            <a:spAutoFit/>
          </a:bodyPr>
          <a:lstStyle/>
          <a:p>
            <a:r>
              <a:rPr lang="en-US" sz="1600" dirty="0"/>
              <a:t>Well</a:t>
            </a:r>
            <a:r>
              <a:rPr lang="en-US" sz="1600" dirty="0"/>
              <a:t>, computers are incredibly efficient at processing numbers</a:t>
            </a:r>
            <a:r>
              <a:rPr lang="en-US" sz="1600" dirty="0"/>
              <a:t>.</a:t>
            </a:r>
          </a:p>
          <a:p>
            <a:endParaRPr lang="en-US" sz="1600" dirty="0"/>
          </a:p>
          <a:p>
            <a:r>
              <a:rPr lang="en-US" sz="1600" dirty="0"/>
              <a:t>By organizing data as numerical values stored in vectors, we can leverage powerful mathematical techniques</a:t>
            </a:r>
          </a:p>
          <a:p>
            <a:r>
              <a:rPr lang="en-US" sz="1600" dirty="0"/>
              <a:t>to analyze and process the data efficiently</a:t>
            </a:r>
            <a:r>
              <a:rPr lang="en-US" dirty="0">
                <a:latin typeface="Bahnschrift SemiLight" pitchFamily="34" charset="0"/>
              </a:rPr>
              <a:t>.</a:t>
            </a:r>
          </a:p>
        </p:txBody>
      </p:sp>
      <p:grpSp>
        <p:nvGrpSpPr>
          <p:cNvPr id="7" name="Group 6"/>
          <p:cNvGrpSpPr/>
          <p:nvPr/>
        </p:nvGrpSpPr>
        <p:grpSpPr>
          <a:xfrm>
            <a:off x="207818" y="259783"/>
            <a:ext cx="4045527" cy="482117"/>
            <a:chOff x="207818" y="321338"/>
            <a:chExt cx="4045527" cy="482117"/>
          </a:xfrm>
        </p:grpSpPr>
        <p:sp>
          <p:nvSpPr>
            <p:cNvPr id="4" name="Rectangle 3"/>
            <p:cNvSpPr/>
            <p:nvPr/>
          </p:nvSpPr>
          <p:spPr>
            <a:xfrm>
              <a:off x="207818" y="321338"/>
              <a:ext cx="3507692" cy="461665"/>
            </a:xfrm>
            <a:prstGeom prst="rect">
              <a:avLst/>
            </a:prstGeom>
          </p:spPr>
          <p:txBody>
            <a:bodyPr wrap="none">
              <a:spAutoFit/>
            </a:bodyPr>
            <a:lstStyle/>
            <a:p>
              <a:r>
                <a:rPr lang="en-IN" sz="2400" b="1" dirty="0">
                  <a:solidFill>
                    <a:srgbClr val="7030A0"/>
                  </a:solidFill>
                  <a:latin typeface="Bahnschrift" pitchFamily="34" charset="0"/>
                </a:rPr>
                <a:t>Now why using vectors</a:t>
              </a:r>
              <a:r>
                <a:rPr lang="en-IN" sz="2000" b="1" dirty="0">
                  <a:solidFill>
                    <a:srgbClr val="7030A0"/>
                  </a:solidFill>
                  <a:latin typeface="Bahnschrift" pitchFamily="34" charset="0"/>
                </a:rPr>
                <a:t>?</a:t>
              </a:r>
            </a:p>
          </p:txBody>
        </p:sp>
        <p:cxnSp>
          <p:nvCxnSpPr>
            <p:cNvPr id="6" name="Straight Connector 5"/>
            <p:cNvCxnSpPr/>
            <p:nvPr/>
          </p:nvCxnSpPr>
          <p:spPr>
            <a:xfrm>
              <a:off x="207818" y="803455"/>
              <a:ext cx="4045527"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021090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3" name="Rectangle 2"/>
          <p:cNvSpPr/>
          <p:nvPr/>
        </p:nvSpPr>
        <p:spPr>
          <a:xfrm>
            <a:off x="152399" y="2621111"/>
            <a:ext cx="11873345" cy="1200329"/>
          </a:xfrm>
          <a:prstGeom prst="rect">
            <a:avLst/>
          </a:prstGeom>
        </p:spPr>
        <p:txBody>
          <a:bodyPr wrap="square">
            <a:spAutoFit/>
          </a:bodyPr>
          <a:lstStyle/>
          <a:p>
            <a:pPr marL="285750" indent="-285750">
              <a:buFont typeface="Wingdings" pitchFamily="2" charset="2"/>
              <a:buChar char="§"/>
            </a:pPr>
            <a:r>
              <a:rPr lang="en-US" dirty="0" smtClean="0">
                <a:latin typeface="Calibri Light" pitchFamily="34" charset="0"/>
                <a:ea typeface="Arial Unicode MS" pitchFamily="34" charset="-128"/>
                <a:cs typeface="Calibri Light" pitchFamily="34" charset="0"/>
              </a:rPr>
              <a:t>Feature </a:t>
            </a:r>
            <a:r>
              <a:rPr lang="en-US" dirty="0">
                <a:latin typeface="Calibri Light" pitchFamily="34" charset="0"/>
                <a:ea typeface="Arial Unicode MS" pitchFamily="34" charset="-128"/>
                <a:cs typeface="Calibri Light" pitchFamily="34" charset="0"/>
              </a:rPr>
              <a:t>vectors organize data in a simple, structured manner where each number represents a </a:t>
            </a:r>
            <a:r>
              <a:rPr lang="en-US" dirty="0" smtClean="0">
                <a:latin typeface="Calibri Light" pitchFamily="34" charset="0"/>
                <a:ea typeface="Arial Unicode MS" pitchFamily="34" charset="-128"/>
                <a:cs typeface="Calibri Light" pitchFamily="34" charset="0"/>
              </a:rPr>
              <a:t>measurable or </a:t>
            </a:r>
            <a:r>
              <a:rPr lang="en-US" dirty="0">
                <a:latin typeface="Calibri Light" pitchFamily="34" charset="0"/>
                <a:ea typeface="Arial Unicode MS" pitchFamily="34" charset="-128"/>
                <a:cs typeface="Calibri Light" pitchFamily="34" charset="0"/>
              </a:rPr>
              <a:t>categorical attributes such as weight, height, price, color, country, location</a:t>
            </a:r>
            <a:r>
              <a:rPr lang="en-US" dirty="0" smtClean="0">
                <a:latin typeface="Calibri Light" pitchFamily="34" charset="0"/>
                <a:ea typeface="Arial Unicode MS" pitchFamily="34" charset="-128"/>
                <a:cs typeface="Calibri Light" pitchFamily="34" charset="0"/>
              </a:rPr>
              <a:t>.</a:t>
            </a:r>
          </a:p>
          <a:p>
            <a:endParaRPr lang="en-US" dirty="0">
              <a:latin typeface="Calibri Light" pitchFamily="34" charset="0"/>
              <a:ea typeface="Arial Unicode MS" pitchFamily="34" charset="-128"/>
              <a:cs typeface="Calibri Light" pitchFamily="34" charset="0"/>
            </a:endParaRPr>
          </a:p>
          <a:p>
            <a:pPr marL="285750" indent="-285750">
              <a:buFont typeface="Wingdings" pitchFamily="2" charset="2"/>
              <a:buChar char="§"/>
            </a:pPr>
            <a:r>
              <a:rPr lang="en-US" dirty="0">
                <a:latin typeface="Calibri Light" pitchFamily="34" charset="0"/>
                <a:ea typeface="Arial Unicode MS" pitchFamily="34" charset="-128"/>
                <a:cs typeface="Calibri Light" pitchFamily="34" charset="0"/>
              </a:rPr>
              <a:t>Feature vectors are like the containers being used to carry input data into machine learning models.</a:t>
            </a:r>
          </a:p>
        </p:txBody>
      </p:sp>
      <p:grpSp>
        <p:nvGrpSpPr>
          <p:cNvPr id="4111" name="Group 4110"/>
          <p:cNvGrpSpPr/>
          <p:nvPr/>
        </p:nvGrpSpPr>
        <p:grpSpPr>
          <a:xfrm>
            <a:off x="2104688" y="283457"/>
            <a:ext cx="6374294" cy="2168798"/>
            <a:chOff x="2104688" y="283457"/>
            <a:chExt cx="6374294" cy="2168798"/>
          </a:xfrm>
        </p:grpSpPr>
        <p:sp>
          <p:nvSpPr>
            <p:cNvPr id="2" name="Rectangle 1"/>
            <p:cNvSpPr/>
            <p:nvPr/>
          </p:nvSpPr>
          <p:spPr>
            <a:xfrm>
              <a:off x="3268815" y="283457"/>
              <a:ext cx="3098541" cy="523220"/>
            </a:xfrm>
            <a:prstGeom prst="rect">
              <a:avLst/>
            </a:prstGeom>
          </p:spPr>
          <p:txBody>
            <a:bodyPr wrap="none">
              <a:spAutoFit/>
            </a:bodyPr>
            <a:lstStyle/>
            <a:p>
              <a:r>
                <a:rPr lang="en-IN" sz="2800" dirty="0">
                  <a:solidFill>
                    <a:srgbClr val="FFC000"/>
                  </a:solidFill>
                  <a:latin typeface="Arial Black" pitchFamily="34" charset="0"/>
                </a:rPr>
                <a:t>Feature</a:t>
              </a:r>
              <a:r>
                <a:rPr lang="en-IN" sz="2800" dirty="0">
                  <a:latin typeface="Arial Black" pitchFamily="34" charset="0"/>
                </a:rPr>
                <a:t> </a:t>
              </a:r>
              <a:r>
                <a:rPr lang="en-IN" sz="2800" dirty="0">
                  <a:solidFill>
                    <a:srgbClr val="00B0F0"/>
                  </a:solidFill>
                  <a:latin typeface="Arial Black" pitchFamily="34" charset="0"/>
                </a:rPr>
                <a:t>Vector</a:t>
              </a:r>
            </a:p>
          </p:txBody>
        </p:sp>
        <p:grpSp>
          <p:nvGrpSpPr>
            <p:cNvPr id="4106" name="Group 4105"/>
            <p:cNvGrpSpPr/>
            <p:nvPr/>
          </p:nvGrpSpPr>
          <p:grpSpPr>
            <a:xfrm>
              <a:off x="2546661" y="986043"/>
              <a:ext cx="4913140" cy="1194791"/>
              <a:chOff x="2546661" y="986043"/>
              <a:chExt cx="4913140" cy="1194791"/>
            </a:xfrm>
          </p:grpSpPr>
          <p:grpSp>
            <p:nvGrpSpPr>
              <p:cNvPr id="9" name="Group 8"/>
              <p:cNvGrpSpPr/>
              <p:nvPr/>
            </p:nvGrpSpPr>
            <p:grpSpPr>
              <a:xfrm>
                <a:off x="2546661" y="986043"/>
                <a:ext cx="4913140" cy="383187"/>
                <a:chOff x="2546661" y="986043"/>
                <a:chExt cx="4913140" cy="383187"/>
              </a:xfrm>
            </p:grpSpPr>
            <p:sp>
              <p:nvSpPr>
                <p:cNvPr id="4" name="Rectangle 3"/>
                <p:cNvSpPr/>
                <p:nvPr/>
              </p:nvSpPr>
              <p:spPr>
                <a:xfrm>
                  <a:off x="2546661" y="986043"/>
                  <a:ext cx="4913140" cy="369332"/>
                </a:xfrm>
                <a:prstGeom prst="rect">
                  <a:avLst/>
                </a:prstGeom>
              </p:spPr>
              <p:txBody>
                <a:bodyPr wrap="none">
                  <a:spAutoFit/>
                </a:bodyPr>
                <a:lstStyle/>
                <a:p>
                  <a:r>
                    <a:rPr lang="en-US" dirty="0" smtClean="0"/>
                    <a:t>[ Weight</a:t>
                  </a:r>
                  <a:r>
                    <a:rPr lang="en-US" dirty="0"/>
                    <a:t>, Height</a:t>
                  </a:r>
                  <a:r>
                    <a:rPr lang="en-US" dirty="0" smtClean="0"/>
                    <a:t>,  </a:t>
                  </a:r>
                  <a:r>
                    <a:rPr lang="en-US" dirty="0"/>
                    <a:t>Price, </a:t>
                  </a:r>
                  <a:r>
                    <a:rPr lang="en-US" dirty="0" smtClean="0"/>
                    <a:t> Color</a:t>
                  </a:r>
                  <a:r>
                    <a:rPr lang="en-US" dirty="0"/>
                    <a:t>, </a:t>
                  </a:r>
                  <a:r>
                    <a:rPr lang="en-US" dirty="0" smtClean="0"/>
                    <a:t> Gender</a:t>
                  </a:r>
                  <a:r>
                    <a:rPr lang="en-US" dirty="0"/>
                    <a:t>, </a:t>
                  </a:r>
                  <a:r>
                    <a:rPr lang="en-US" dirty="0" smtClean="0"/>
                    <a:t> Country ] </a:t>
                  </a:r>
                  <a:endParaRPr lang="en-IN" dirty="0"/>
                </a:p>
              </p:txBody>
            </p:sp>
            <p:cxnSp>
              <p:nvCxnSpPr>
                <p:cNvPr id="6" name="Straight Connector 5"/>
                <p:cNvCxnSpPr/>
                <p:nvPr/>
              </p:nvCxnSpPr>
              <p:spPr>
                <a:xfrm>
                  <a:off x="2811615" y="1369230"/>
                  <a:ext cx="457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559761" y="1369230"/>
                  <a:ext cx="457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360886" y="1369230"/>
                  <a:ext cx="457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003231" y="1369230"/>
                  <a:ext cx="457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631871" y="1355375"/>
                  <a:ext cx="4572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524633" y="1369230"/>
                  <a:ext cx="457200" cy="0"/>
                </a:xfrm>
                <a:prstGeom prst="line">
                  <a:avLst/>
                </a:prstGeom>
                <a:ln w="57150"/>
              </p:spPr>
              <p:style>
                <a:lnRef idx="1">
                  <a:schemeClr val="accent1"/>
                </a:lnRef>
                <a:fillRef idx="0">
                  <a:schemeClr val="accent1"/>
                </a:fillRef>
                <a:effectRef idx="0">
                  <a:schemeClr val="accent1"/>
                </a:effectRef>
                <a:fontRef idx="minor">
                  <a:schemeClr val="tx1"/>
                </a:fontRef>
              </p:style>
            </p:cxnSp>
          </p:grpSp>
          <p:sp>
            <p:nvSpPr>
              <p:cNvPr id="15" name="Rectangle 14"/>
              <p:cNvSpPr/>
              <p:nvPr/>
            </p:nvSpPr>
            <p:spPr>
              <a:xfrm>
                <a:off x="2948947" y="1780724"/>
                <a:ext cx="3405099" cy="400110"/>
              </a:xfrm>
              <a:prstGeom prst="rect">
                <a:avLst/>
              </a:prstGeom>
            </p:spPr>
            <p:txBody>
              <a:bodyPr wrap="none">
                <a:spAutoFit/>
              </a:bodyPr>
              <a:lstStyle/>
              <a:p>
                <a:r>
                  <a:rPr lang="en-IN" sz="2000" dirty="0" smtClean="0">
                    <a:latin typeface="Bahnschrift" pitchFamily="34" charset="0"/>
                  </a:rPr>
                  <a:t>[  0.1,  </a:t>
                </a:r>
                <a:r>
                  <a:rPr lang="en-IN" sz="2000" dirty="0">
                    <a:latin typeface="Bahnschrift" pitchFamily="34" charset="0"/>
                  </a:rPr>
                  <a:t>0.4, </a:t>
                </a:r>
                <a:r>
                  <a:rPr lang="en-IN" sz="2000" dirty="0" smtClean="0">
                    <a:latin typeface="Bahnschrift" pitchFamily="34" charset="0"/>
                  </a:rPr>
                  <a:t> 3.6,  </a:t>
                </a:r>
                <a:r>
                  <a:rPr lang="en-IN" sz="2000" dirty="0">
                    <a:latin typeface="Bahnschrift" pitchFamily="34" charset="0"/>
                  </a:rPr>
                  <a:t>2.2, </a:t>
                </a:r>
                <a:r>
                  <a:rPr lang="en-IN" sz="2000" dirty="0" smtClean="0">
                    <a:latin typeface="Bahnschrift" pitchFamily="34" charset="0"/>
                  </a:rPr>
                  <a:t> 2.0</a:t>
                </a:r>
                <a:r>
                  <a:rPr lang="en-IN" sz="2000" dirty="0">
                    <a:latin typeface="Bahnschrift" pitchFamily="34" charset="0"/>
                  </a:rPr>
                  <a:t>, </a:t>
                </a:r>
                <a:r>
                  <a:rPr lang="en-IN" sz="2000" dirty="0" smtClean="0">
                    <a:latin typeface="Bahnschrift" pitchFamily="34" charset="0"/>
                  </a:rPr>
                  <a:t>4.0 ]</a:t>
                </a:r>
                <a:endParaRPr lang="en-IN" sz="2000" dirty="0">
                  <a:latin typeface="Bahnschrift" pitchFamily="34" charset="0"/>
                </a:endParaRPr>
              </a:p>
            </p:txBody>
          </p:sp>
          <p:cxnSp>
            <p:nvCxnSpPr>
              <p:cNvPr id="17" name="Curved Connector 16"/>
              <p:cNvCxnSpPr/>
              <p:nvPr/>
            </p:nvCxnSpPr>
            <p:spPr>
              <a:xfrm rot="16200000" flipH="1">
                <a:off x="3571313" y="1495010"/>
                <a:ext cx="411494" cy="159934"/>
              </a:xfrm>
              <a:prstGeom prst="curvedConnector3">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9" name="Curved Connector 18"/>
              <p:cNvCxnSpPr/>
              <p:nvPr/>
            </p:nvCxnSpPr>
            <p:spPr>
              <a:xfrm rot="5400000">
                <a:off x="4875381" y="1497081"/>
                <a:ext cx="411494" cy="155793"/>
              </a:xfrm>
              <a:prstGeom prst="curvedConnector3">
                <a:avLst>
                  <a:gd name="adj1" fmla="val 50000"/>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2" name="Curved Connector 21"/>
              <p:cNvCxnSpPr/>
              <p:nvPr/>
            </p:nvCxnSpPr>
            <p:spPr>
              <a:xfrm rot="16200000" flipH="1">
                <a:off x="4235104" y="1574980"/>
                <a:ext cx="411498" cy="2"/>
              </a:xfrm>
              <a:prstGeom prst="curvedConnector3">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5" name="Curved Connector 24"/>
              <p:cNvCxnSpPr/>
              <p:nvPr/>
            </p:nvCxnSpPr>
            <p:spPr>
              <a:xfrm rot="16200000" flipH="1">
                <a:off x="2903134" y="1415043"/>
                <a:ext cx="411494" cy="319868"/>
              </a:xfrm>
              <a:prstGeom prst="curvedConnector3">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8" name="Curved Connector 27"/>
              <p:cNvCxnSpPr/>
              <p:nvPr/>
            </p:nvCxnSpPr>
            <p:spPr>
              <a:xfrm rot="5400000">
                <a:off x="5415569" y="1414094"/>
                <a:ext cx="411496" cy="321772"/>
              </a:xfrm>
              <a:prstGeom prst="curvedConnector3">
                <a:avLst/>
              </a:prstGeom>
              <a:ln>
                <a:prstDash val="sysDash"/>
                <a:tailEnd type="arrow"/>
              </a:ln>
            </p:spPr>
            <p:style>
              <a:lnRef idx="1">
                <a:schemeClr val="accent1"/>
              </a:lnRef>
              <a:fillRef idx="0">
                <a:schemeClr val="accent1"/>
              </a:fillRef>
              <a:effectRef idx="0">
                <a:schemeClr val="accent1"/>
              </a:effectRef>
              <a:fontRef idx="minor">
                <a:schemeClr val="tx1"/>
              </a:fontRef>
            </p:style>
          </p:cxnSp>
          <p:cxnSp>
            <p:nvCxnSpPr>
              <p:cNvPr id="30" name="Curved Connector 29"/>
              <p:cNvCxnSpPr/>
              <p:nvPr/>
            </p:nvCxnSpPr>
            <p:spPr>
              <a:xfrm rot="10800000" flipV="1">
                <a:off x="6089071" y="1501264"/>
                <a:ext cx="572894" cy="279462"/>
              </a:xfrm>
              <a:prstGeom prst="curvedConnector3">
                <a:avLst>
                  <a:gd name="adj1" fmla="val 50000"/>
                </a:avLst>
              </a:prstGeom>
              <a:ln>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4110" name="Round Same Side Corner Rectangle 4109"/>
            <p:cNvSpPr/>
            <p:nvPr/>
          </p:nvSpPr>
          <p:spPr>
            <a:xfrm>
              <a:off x="2104688" y="283457"/>
              <a:ext cx="6374294" cy="2168798"/>
            </a:xfrm>
            <a:prstGeom prst="round2SameRect">
              <a:avLst/>
            </a:prstGeom>
            <a:no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9447089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77425" y="222269"/>
            <a:ext cx="11873345" cy="615553"/>
          </a:xfrm>
          <a:prstGeom prst="rect">
            <a:avLst/>
          </a:prstGeom>
        </p:spPr>
        <p:txBody>
          <a:bodyPr wrap="square">
            <a:spAutoFit/>
          </a:bodyPr>
          <a:lstStyle/>
          <a:p>
            <a:r>
              <a:rPr lang="en-US" sz="1600" dirty="0"/>
              <a:t>However, in many real world scenarios, manually deciding which features are necessary to describe</a:t>
            </a:r>
          </a:p>
          <a:p>
            <a:r>
              <a:rPr lang="en-US" sz="1600" dirty="0"/>
              <a:t>patterns and attributes in data is becoming inefficient option</a:t>
            </a:r>
            <a:r>
              <a:rPr lang="en-US" dirty="0" smtClean="0"/>
              <a:t>.</a:t>
            </a:r>
          </a:p>
        </p:txBody>
      </p:sp>
      <p:grpSp>
        <p:nvGrpSpPr>
          <p:cNvPr id="25" name="Group 24"/>
          <p:cNvGrpSpPr/>
          <p:nvPr/>
        </p:nvGrpSpPr>
        <p:grpSpPr>
          <a:xfrm>
            <a:off x="4078833" y="3051320"/>
            <a:ext cx="4807527" cy="3020291"/>
            <a:chOff x="5583382" y="3643745"/>
            <a:chExt cx="4807527" cy="3020291"/>
          </a:xfrm>
        </p:grpSpPr>
        <p:grpSp>
          <p:nvGrpSpPr>
            <p:cNvPr id="6" name="Group 5"/>
            <p:cNvGrpSpPr/>
            <p:nvPr/>
          </p:nvGrpSpPr>
          <p:grpSpPr>
            <a:xfrm>
              <a:off x="6108256" y="4028633"/>
              <a:ext cx="3297188" cy="1648241"/>
              <a:chOff x="2582559" y="1510834"/>
              <a:chExt cx="3297188" cy="1648241"/>
            </a:xfrm>
          </p:grpSpPr>
          <p:sp>
            <p:nvSpPr>
              <p:cNvPr id="11" name="TextBox 10"/>
              <p:cNvSpPr txBox="1"/>
              <p:nvPr/>
            </p:nvSpPr>
            <p:spPr>
              <a:xfrm>
                <a:off x="3229547" y="1510834"/>
                <a:ext cx="1557799" cy="584775"/>
              </a:xfrm>
              <a:prstGeom prst="rect">
                <a:avLst/>
              </a:prstGeom>
              <a:noFill/>
              <a:ln>
                <a:noFill/>
              </a:ln>
            </p:spPr>
            <p:txBody>
              <a:bodyPr wrap="none" rtlCol="0">
                <a:spAutoFit/>
              </a:bodyPr>
              <a:lstStyle/>
              <a:p>
                <a:pPr algn="ctr"/>
                <a:r>
                  <a:rPr lang="en-US" sz="1600" dirty="0" smtClean="0">
                    <a:solidFill>
                      <a:srgbClr val="7030A0"/>
                    </a:solidFill>
                    <a:latin typeface="Arial Rounded MT Bold" pitchFamily="34" charset="0"/>
                  </a:rPr>
                  <a:t>Unstructured</a:t>
                </a:r>
                <a:r>
                  <a:rPr lang="en-US" sz="1600" dirty="0" smtClean="0">
                    <a:solidFill>
                      <a:schemeClr val="bg1"/>
                    </a:solidFill>
                    <a:latin typeface="Arial Rounded MT Bold" pitchFamily="34" charset="0"/>
                  </a:rPr>
                  <a:t> </a:t>
                </a:r>
              </a:p>
              <a:p>
                <a:pPr algn="ctr"/>
                <a:r>
                  <a:rPr lang="en-US" sz="1600" dirty="0" smtClean="0">
                    <a:latin typeface="Arial Rounded MT Bold" pitchFamily="34" charset="0"/>
                  </a:rPr>
                  <a:t>Data</a:t>
                </a:r>
                <a:endParaRPr lang="en-IN" sz="1600" dirty="0">
                  <a:latin typeface="Arial Rounded MT Bold" pitchFamily="34" charset="0"/>
                </a:endParaRPr>
              </a:p>
            </p:txBody>
          </p:sp>
          <p:grpSp>
            <p:nvGrpSpPr>
              <p:cNvPr id="12" name="Group 11"/>
              <p:cNvGrpSpPr/>
              <p:nvPr/>
            </p:nvGrpSpPr>
            <p:grpSpPr>
              <a:xfrm>
                <a:off x="2582559" y="2153500"/>
                <a:ext cx="3297188" cy="1005575"/>
                <a:chOff x="2582559" y="2153500"/>
                <a:chExt cx="3297188" cy="1005575"/>
              </a:xfrm>
            </p:grpSpPr>
            <p:grpSp>
              <p:nvGrpSpPr>
                <p:cNvPr id="13" name="Group 12"/>
                <p:cNvGrpSpPr/>
                <p:nvPr/>
              </p:nvGrpSpPr>
              <p:grpSpPr>
                <a:xfrm>
                  <a:off x="2582559" y="2153500"/>
                  <a:ext cx="1559950" cy="448053"/>
                  <a:chOff x="2582559" y="2153500"/>
                  <a:chExt cx="1559950" cy="448053"/>
                </a:xfrm>
              </p:grpSpPr>
              <p:cxnSp>
                <p:nvCxnSpPr>
                  <p:cNvPr id="22" name="Straight Arrow Connector 21"/>
                  <p:cNvCxnSpPr/>
                  <p:nvPr/>
                </p:nvCxnSpPr>
                <p:spPr>
                  <a:xfrm flipH="1">
                    <a:off x="3190867" y="2153500"/>
                    <a:ext cx="951642" cy="247999"/>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582559" y="2262999"/>
                    <a:ext cx="532390" cy="338554"/>
                  </a:xfrm>
                  <a:prstGeom prst="rect">
                    <a:avLst/>
                  </a:prstGeom>
                  <a:noFill/>
                </p:spPr>
                <p:txBody>
                  <a:bodyPr wrap="none" rtlCol="0">
                    <a:spAutoFit/>
                  </a:bodyPr>
                  <a:lstStyle/>
                  <a:p>
                    <a:r>
                      <a:rPr lang="en-US" sz="1600" b="1" dirty="0" smtClean="0"/>
                      <a:t>Text</a:t>
                    </a:r>
                    <a:endParaRPr lang="en-IN" sz="1200" b="1" dirty="0"/>
                  </a:p>
                </p:txBody>
              </p:sp>
            </p:grpSp>
            <p:cxnSp>
              <p:nvCxnSpPr>
                <p:cNvPr id="14" name="Straight Arrow Connector 13"/>
                <p:cNvCxnSpPr>
                  <a:endCxn id="15" idx="0"/>
                </p:cNvCxnSpPr>
                <p:nvPr/>
              </p:nvCxnSpPr>
              <p:spPr>
                <a:xfrm flipH="1">
                  <a:off x="3588302" y="2153500"/>
                  <a:ext cx="554214" cy="513133"/>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194893" y="2666633"/>
                  <a:ext cx="786818" cy="338554"/>
                </a:xfrm>
                <a:prstGeom prst="rect">
                  <a:avLst/>
                </a:prstGeom>
                <a:noFill/>
              </p:spPr>
              <p:txBody>
                <a:bodyPr wrap="none" rtlCol="0">
                  <a:spAutoFit/>
                </a:bodyPr>
                <a:lstStyle/>
                <a:p>
                  <a:r>
                    <a:rPr lang="en-US" sz="1600" b="1" dirty="0" smtClean="0"/>
                    <a:t>Images</a:t>
                  </a:r>
                  <a:endParaRPr lang="en-IN" sz="1600" b="1" dirty="0"/>
                </a:p>
              </p:txBody>
            </p:sp>
            <p:cxnSp>
              <p:nvCxnSpPr>
                <p:cNvPr id="18" name="Straight Arrow Connector 17"/>
                <p:cNvCxnSpPr/>
                <p:nvPr/>
              </p:nvCxnSpPr>
              <p:spPr>
                <a:xfrm>
                  <a:off x="4142509" y="2181213"/>
                  <a:ext cx="775855" cy="63930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918364" y="2820521"/>
                  <a:ext cx="679994" cy="338554"/>
                </a:xfrm>
                <a:prstGeom prst="rect">
                  <a:avLst/>
                </a:prstGeom>
                <a:noFill/>
              </p:spPr>
              <p:txBody>
                <a:bodyPr wrap="none" rtlCol="0">
                  <a:spAutoFit/>
                </a:bodyPr>
                <a:lstStyle/>
                <a:p>
                  <a:r>
                    <a:rPr lang="en-US" sz="1600" b="1" dirty="0" smtClean="0"/>
                    <a:t>Video</a:t>
                  </a:r>
                  <a:endParaRPr lang="en-IN" sz="1600" b="1" dirty="0"/>
                </a:p>
              </p:txBody>
            </p:sp>
            <p:cxnSp>
              <p:nvCxnSpPr>
                <p:cNvPr id="20" name="Straight Arrow Connector 19"/>
                <p:cNvCxnSpPr/>
                <p:nvPr/>
              </p:nvCxnSpPr>
              <p:spPr>
                <a:xfrm>
                  <a:off x="4142509" y="2153500"/>
                  <a:ext cx="1205904" cy="333510"/>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188532" y="2512744"/>
                  <a:ext cx="691215" cy="338554"/>
                </a:xfrm>
                <a:prstGeom prst="rect">
                  <a:avLst/>
                </a:prstGeom>
                <a:noFill/>
              </p:spPr>
              <p:txBody>
                <a:bodyPr wrap="none" rtlCol="0">
                  <a:spAutoFit/>
                </a:bodyPr>
                <a:lstStyle/>
                <a:p>
                  <a:r>
                    <a:rPr lang="en-US" sz="1600" b="1" dirty="0" smtClean="0"/>
                    <a:t>Audio</a:t>
                  </a:r>
                  <a:endParaRPr lang="en-IN" sz="1600" b="1" dirty="0"/>
                </a:p>
              </p:txBody>
            </p:sp>
          </p:grpSp>
        </p:grpSp>
        <p:sp>
          <p:nvSpPr>
            <p:cNvPr id="4" name="TextBox 3"/>
            <p:cNvSpPr txBox="1"/>
            <p:nvPr/>
          </p:nvSpPr>
          <p:spPr>
            <a:xfrm>
              <a:off x="6374451" y="6206836"/>
              <a:ext cx="3311676" cy="338554"/>
            </a:xfrm>
            <a:prstGeom prst="rect">
              <a:avLst/>
            </a:prstGeom>
            <a:noFill/>
          </p:spPr>
          <p:txBody>
            <a:bodyPr wrap="none" rtlCol="0">
              <a:spAutoFit/>
            </a:bodyPr>
            <a:lstStyle/>
            <a:p>
              <a:r>
                <a:rPr lang="en-US" sz="1600" dirty="0" smtClean="0">
                  <a:solidFill>
                    <a:srgbClr val="00B0F0"/>
                  </a:solidFill>
                  <a:latin typeface="Arial Black" pitchFamily="34" charset="0"/>
                </a:rPr>
                <a:t>Extract</a:t>
              </a:r>
              <a:r>
                <a:rPr lang="en-US" sz="1600" dirty="0" smtClean="0">
                  <a:latin typeface="Arial Black" pitchFamily="34" charset="0"/>
                </a:rPr>
                <a:t>  </a:t>
              </a:r>
              <a:r>
                <a:rPr lang="en-US" sz="1600" dirty="0" smtClean="0">
                  <a:solidFill>
                    <a:srgbClr val="002060"/>
                  </a:solidFill>
                  <a:latin typeface="Arial Black" pitchFamily="34" charset="0"/>
                </a:rPr>
                <a:t>Meaningful Feature</a:t>
              </a:r>
              <a:endParaRPr lang="en-IN" sz="1600" dirty="0">
                <a:solidFill>
                  <a:srgbClr val="002060"/>
                </a:solidFill>
                <a:latin typeface="Arial Black" pitchFamily="34" charset="0"/>
              </a:endParaRPr>
            </a:p>
          </p:txBody>
        </p:sp>
        <p:sp>
          <p:nvSpPr>
            <p:cNvPr id="24" name="Rounded Rectangle 23"/>
            <p:cNvSpPr/>
            <p:nvPr/>
          </p:nvSpPr>
          <p:spPr>
            <a:xfrm>
              <a:off x="5583382" y="3643745"/>
              <a:ext cx="4807527" cy="3020291"/>
            </a:xfrm>
            <a:prstGeom prst="roundRect">
              <a:avLst/>
            </a:prstGeom>
            <a:no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26" name="Rectangle 25"/>
          <p:cNvSpPr/>
          <p:nvPr/>
        </p:nvSpPr>
        <p:spPr>
          <a:xfrm>
            <a:off x="77425" y="1152344"/>
            <a:ext cx="9126993" cy="369332"/>
          </a:xfrm>
          <a:prstGeom prst="rect">
            <a:avLst/>
          </a:prstGeom>
          <a:solidFill>
            <a:schemeClr val="accent4">
              <a:lumMod val="20000"/>
              <a:lumOff val="80000"/>
            </a:schemeClr>
          </a:solidFill>
          <a:ln>
            <a:solidFill>
              <a:schemeClr val="bg1">
                <a:lumMod val="85000"/>
              </a:schemeClr>
            </a:solidFill>
          </a:ln>
        </p:spPr>
        <p:txBody>
          <a:bodyPr wrap="square">
            <a:spAutoFit/>
          </a:bodyPr>
          <a:lstStyle/>
          <a:p>
            <a:r>
              <a:rPr lang="en-US" dirty="0"/>
              <a:t>This challenge is especially amplified when dealing with unstructured data.</a:t>
            </a:r>
            <a:endParaRPr lang="en-IN" dirty="0"/>
          </a:p>
        </p:txBody>
      </p:sp>
      <p:sp>
        <p:nvSpPr>
          <p:cNvPr id="27" name="Rectangle 26"/>
          <p:cNvSpPr/>
          <p:nvPr/>
        </p:nvSpPr>
        <p:spPr>
          <a:xfrm>
            <a:off x="77425" y="1951672"/>
            <a:ext cx="11664168" cy="861774"/>
          </a:xfrm>
          <a:prstGeom prst="rect">
            <a:avLst/>
          </a:prstGeom>
        </p:spPr>
        <p:txBody>
          <a:bodyPr wrap="square">
            <a:spAutoFit/>
          </a:bodyPr>
          <a:lstStyle/>
          <a:p>
            <a:r>
              <a:rPr lang="en-US" sz="1600" dirty="0"/>
              <a:t>data that lacks a predefined format such as text, images, video, audio, logs.</a:t>
            </a:r>
          </a:p>
          <a:p>
            <a:r>
              <a:rPr lang="en-US" sz="1600" dirty="0"/>
              <a:t>These types of data require more advanced techniques to extract meaningful features that can </a:t>
            </a:r>
            <a:r>
              <a:rPr lang="en-US" sz="1600" dirty="0"/>
              <a:t>better represent the required </a:t>
            </a:r>
            <a:r>
              <a:rPr lang="en-US" sz="1600" dirty="0"/>
              <a:t>patterns in the data</a:t>
            </a:r>
            <a:r>
              <a:rPr lang="en-US" dirty="0"/>
              <a:t>.</a:t>
            </a:r>
            <a:endParaRPr lang="en-IN" dirty="0"/>
          </a:p>
        </p:txBody>
      </p:sp>
    </p:spTree>
    <p:extLst>
      <p:ext uri="{BB962C8B-B14F-4D97-AF65-F5344CB8AC3E}">
        <p14:creationId xmlns:p14="http://schemas.microsoft.com/office/powerpoint/2010/main" val="37975480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346361" y="2949287"/>
            <a:ext cx="10834258" cy="1477328"/>
          </a:xfrm>
          <a:prstGeom prst="rect">
            <a:avLst/>
          </a:prstGeom>
        </p:spPr>
        <p:txBody>
          <a:bodyPr wrap="square">
            <a:spAutoFit/>
          </a:bodyPr>
          <a:lstStyle/>
          <a:p>
            <a:r>
              <a:rPr lang="en-US" dirty="0"/>
              <a:t>Let's consider a group of pictures of dogs.</a:t>
            </a:r>
          </a:p>
          <a:p>
            <a:r>
              <a:rPr lang="en-US" dirty="0"/>
              <a:t>It is unstructured data with no predefined format or frameworks.</a:t>
            </a:r>
          </a:p>
          <a:p>
            <a:r>
              <a:rPr lang="en-US" dirty="0"/>
              <a:t>Each picture can vary widely in terms of colors, shapes, sizes, and other attributes</a:t>
            </a:r>
            <a:r>
              <a:rPr lang="en-US" dirty="0" smtClean="0"/>
              <a:t>.</a:t>
            </a:r>
          </a:p>
          <a:p>
            <a:endParaRPr lang="en-US" dirty="0"/>
          </a:p>
          <a:p>
            <a:r>
              <a:rPr lang="en-US" dirty="0"/>
              <a:t>It will be almost impossible to manually decide which features can be used to describe the content </a:t>
            </a:r>
            <a:r>
              <a:rPr lang="en-US" dirty="0" smtClean="0"/>
              <a:t>of the image.</a:t>
            </a:r>
            <a:endParaRPr lang="en-US" u="sng" dirty="0"/>
          </a:p>
        </p:txBody>
      </p:sp>
      <p:grpSp>
        <p:nvGrpSpPr>
          <p:cNvPr id="3" name="Group 2"/>
          <p:cNvGrpSpPr/>
          <p:nvPr/>
        </p:nvGrpSpPr>
        <p:grpSpPr>
          <a:xfrm>
            <a:off x="2402898" y="339004"/>
            <a:ext cx="5695950" cy="2240107"/>
            <a:chOff x="2402898" y="339004"/>
            <a:chExt cx="5695950" cy="2240107"/>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2898" y="1369436"/>
              <a:ext cx="5695950" cy="120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4941" y="339004"/>
              <a:ext cx="3914775"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3067469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6" name="Group 5"/>
          <p:cNvGrpSpPr/>
          <p:nvPr/>
        </p:nvGrpSpPr>
        <p:grpSpPr>
          <a:xfrm>
            <a:off x="1911927" y="336451"/>
            <a:ext cx="9753600" cy="1200329"/>
            <a:chOff x="1911927" y="336451"/>
            <a:chExt cx="9753600" cy="1200329"/>
          </a:xfrm>
        </p:grpSpPr>
        <p:sp>
          <p:nvSpPr>
            <p:cNvPr id="4" name="Rectangle 3"/>
            <p:cNvSpPr/>
            <p:nvPr/>
          </p:nvSpPr>
          <p:spPr>
            <a:xfrm>
              <a:off x="3699165" y="474951"/>
              <a:ext cx="7966362" cy="923330"/>
            </a:xfrm>
            <a:prstGeom prst="rect">
              <a:avLst/>
            </a:prstGeom>
          </p:spPr>
          <p:txBody>
            <a:bodyPr wrap="square">
              <a:spAutoFit/>
            </a:bodyPr>
            <a:lstStyle/>
            <a:p>
              <a:r>
                <a:rPr lang="en-US" dirty="0"/>
                <a:t>We need an automation tool that will help us to extract meaningful features from each picture.</a:t>
              </a:r>
            </a:p>
            <a:p>
              <a:r>
                <a:rPr lang="en-US" dirty="0"/>
                <a:t>Fortunately, AI models can perform this task.</a:t>
              </a:r>
            </a:p>
          </p:txBody>
        </p:sp>
        <p:sp>
          <p:nvSpPr>
            <p:cNvPr id="5" name="TextBox 4"/>
            <p:cNvSpPr txBox="1"/>
            <p:nvPr/>
          </p:nvSpPr>
          <p:spPr>
            <a:xfrm>
              <a:off x="1911927" y="336451"/>
              <a:ext cx="1620982" cy="1200329"/>
            </a:xfrm>
            <a:prstGeom prst="rect">
              <a:avLst/>
            </a:prstGeom>
            <a:noFill/>
            <a:ln>
              <a:solidFill>
                <a:schemeClr val="bg1">
                  <a:lumMod val="85000"/>
                </a:schemeClr>
              </a:solidFill>
            </a:ln>
          </p:spPr>
          <p:txBody>
            <a:bodyPr wrap="square" rtlCol="0">
              <a:spAutoFit/>
            </a:bodyPr>
            <a:lstStyle/>
            <a:p>
              <a:pPr algn="ctr"/>
              <a:endParaRPr lang="en-US" dirty="0" smtClean="0"/>
            </a:p>
            <a:p>
              <a:pPr algn="ctr"/>
              <a:r>
                <a:rPr lang="en-US" dirty="0" smtClean="0">
                  <a:solidFill>
                    <a:srgbClr val="00B050"/>
                  </a:solidFill>
                  <a:latin typeface="Arial Rounded MT Bold" pitchFamily="34" charset="0"/>
                </a:rPr>
                <a:t>AI </a:t>
              </a:r>
            </a:p>
            <a:p>
              <a:pPr algn="ctr"/>
              <a:r>
                <a:rPr lang="en-US" dirty="0" smtClean="0">
                  <a:latin typeface="Arial Rounded MT Bold" pitchFamily="34" charset="0"/>
                </a:rPr>
                <a:t>Models</a:t>
              </a:r>
            </a:p>
            <a:p>
              <a:pPr algn="ctr"/>
              <a:endParaRPr lang="en-IN" dirty="0"/>
            </a:p>
          </p:txBody>
        </p:sp>
      </p:grpSp>
      <p:grpSp>
        <p:nvGrpSpPr>
          <p:cNvPr id="8" name="Group 7"/>
          <p:cNvGrpSpPr/>
          <p:nvPr/>
        </p:nvGrpSpPr>
        <p:grpSpPr>
          <a:xfrm>
            <a:off x="1264939" y="2314006"/>
            <a:ext cx="8743672" cy="2181225"/>
            <a:chOff x="1264939" y="2314006"/>
            <a:chExt cx="8743672" cy="2181225"/>
          </a:xfrm>
        </p:grpSpPr>
        <p:sp>
          <p:nvSpPr>
            <p:cNvPr id="10" name="TextBox 9"/>
            <p:cNvSpPr txBox="1"/>
            <p:nvPr/>
          </p:nvSpPr>
          <p:spPr>
            <a:xfrm>
              <a:off x="1911927" y="2414586"/>
              <a:ext cx="1557799" cy="584775"/>
            </a:xfrm>
            <a:prstGeom prst="rect">
              <a:avLst/>
            </a:prstGeom>
            <a:noFill/>
            <a:ln>
              <a:noFill/>
            </a:ln>
          </p:spPr>
          <p:txBody>
            <a:bodyPr wrap="none" rtlCol="0">
              <a:spAutoFit/>
            </a:bodyPr>
            <a:lstStyle/>
            <a:p>
              <a:pPr algn="ctr"/>
              <a:r>
                <a:rPr lang="en-US" sz="1600" dirty="0" smtClean="0">
                  <a:solidFill>
                    <a:srgbClr val="7030A0"/>
                  </a:solidFill>
                  <a:latin typeface="Arial Rounded MT Bold" pitchFamily="34" charset="0"/>
                </a:rPr>
                <a:t>Unstructured</a:t>
              </a:r>
              <a:r>
                <a:rPr lang="en-US" sz="1600" dirty="0" smtClean="0">
                  <a:solidFill>
                    <a:schemeClr val="bg1"/>
                  </a:solidFill>
                  <a:latin typeface="Arial Rounded MT Bold" pitchFamily="34" charset="0"/>
                </a:rPr>
                <a:t> </a:t>
              </a:r>
            </a:p>
            <a:p>
              <a:pPr algn="ctr"/>
              <a:r>
                <a:rPr lang="en-US" sz="1600" dirty="0" smtClean="0">
                  <a:latin typeface="Arial Rounded MT Bold" pitchFamily="34" charset="0"/>
                </a:rPr>
                <a:t>Data</a:t>
              </a:r>
              <a:endParaRPr lang="en-IN" sz="1600" dirty="0">
                <a:latin typeface="Arial Rounded MT Bold" pitchFamily="34" charset="0"/>
              </a:endParaRPr>
            </a:p>
          </p:txBody>
        </p:sp>
        <p:cxnSp>
          <p:nvCxnSpPr>
            <p:cNvPr id="11" name="Straight Arrow Connector 10"/>
            <p:cNvCxnSpPr/>
            <p:nvPr/>
          </p:nvCxnSpPr>
          <p:spPr>
            <a:xfrm flipH="1">
              <a:off x="1873247" y="3057252"/>
              <a:ext cx="951642" cy="247999"/>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264939" y="3166751"/>
              <a:ext cx="532390" cy="338554"/>
            </a:xfrm>
            <a:prstGeom prst="rect">
              <a:avLst/>
            </a:prstGeom>
            <a:noFill/>
          </p:spPr>
          <p:txBody>
            <a:bodyPr wrap="none" rtlCol="0">
              <a:spAutoFit/>
            </a:bodyPr>
            <a:lstStyle/>
            <a:p>
              <a:r>
                <a:rPr lang="en-US" sz="1600" b="1" dirty="0" smtClean="0"/>
                <a:t>Text</a:t>
              </a:r>
              <a:endParaRPr lang="en-IN" sz="1200" b="1" dirty="0"/>
            </a:p>
          </p:txBody>
        </p:sp>
        <p:cxnSp>
          <p:nvCxnSpPr>
            <p:cNvPr id="13" name="Straight Arrow Connector 12"/>
            <p:cNvCxnSpPr>
              <a:endCxn id="14" idx="0"/>
            </p:cNvCxnSpPr>
            <p:nvPr/>
          </p:nvCxnSpPr>
          <p:spPr>
            <a:xfrm flipH="1">
              <a:off x="2270682" y="3057252"/>
              <a:ext cx="554214" cy="513133"/>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877273" y="3570385"/>
              <a:ext cx="786818" cy="338554"/>
            </a:xfrm>
            <a:prstGeom prst="rect">
              <a:avLst/>
            </a:prstGeom>
            <a:noFill/>
          </p:spPr>
          <p:txBody>
            <a:bodyPr wrap="none" rtlCol="0">
              <a:spAutoFit/>
            </a:bodyPr>
            <a:lstStyle/>
            <a:p>
              <a:r>
                <a:rPr lang="en-US" sz="1600" b="1" dirty="0" smtClean="0"/>
                <a:t>Images</a:t>
              </a:r>
              <a:endParaRPr lang="en-IN" sz="1600" b="1" dirty="0"/>
            </a:p>
          </p:txBody>
        </p:sp>
        <p:cxnSp>
          <p:nvCxnSpPr>
            <p:cNvPr id="15" name="Straight Arrow Connector 14"/>
            <p:cNvCxnSpPr/>
            <p:nvPr/>
          </p:nvCxnSpPr>
          <p:spPr>
            <a:xfrm>
              <a:off x="2824889" y="3084965"/>
              <a:ext cx="775855" cy="639308"/>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600744" y="3724273"/>
              <a:ext cx="679994" cy="338554"/>
            </a:xfrm>
            <a:prstGeom prst="rect">
              <a:avLst/>
            </a:prstGeom>
            <a:noFill/>
          </p:spPr>
          <p:txBody>
            <a:bodyPr wrap="none" rtlCol="0">
              <a:spAutoFit/>
            </a:bodyPr>
            <a:lstStyle/>
            <a:p>
              <a:r>
                <a:rPr lang="en-US" sz="1600" b="1" dirty="0" smtClean="0"/>
                <a:t>Video</a:t>
              </a:r>
              <a:endParaRPr lang="en-IN" sz="1600" b="1" dirty="0"/>
            </a:p>
          </p:txBody>
        </p:sp>
        <p:cxnSp>
          <p:nvCxnSpPr>
            <p:cNvPr id="17" name="Straight Arrow Connector 16"/>
            <p:cNvCxnSpPr/>
            <p:nvPr/>
          </p:nvCxnSpPr>
          <p:spPr>
            <a:xfrm>
              <a:off x="2824889" y="3057252"/>
              <a:ext cx="1205904" cy="333510"/>
            </a:xfrm>
            <a:prstGeom prst="straightConnector1">
              <a:avLst/>
            </a:prstGeom>
            <a:ln>
              <a:prstDash val="sysDash"/>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870912" y="3416496"/>
              <a:ext cx="691215" cy="338554"/>
            </a:xfrm>
            <a:prstGeom prst="rect">
              <a:avLst/>
            </a:prstGeom>
            <a:noFill/>
          </p:spPr>
          <p:txBody>
            <a:bodyPr wrap="none" rtlCol="0">
              <a:spAutoFit/>
            </a:bodyPr>
            <a:lstStyle/>
            <a:p>
              <a:r>
                <a:rPr lang="en-US" sz="1600" b="1" dirty="0" smtClean="0"/>
                <a:t>Audio</a:t>
              </a:r>
              <a:endParaRPr lang="en-IN" sz="1600" b="1" dirty="0"/>
            </a:p>
          </p:txBody>
        </p:sp>
        <p:sp>
          <p:nvSpPr>
            <p:cNvPr id="19" name="TextBox 18"/>
            <p:cNvSpPr txBox="1"/>
            <p:nvPr/>
          </p:nvSpPr>
          <p:spPr>
            <a:xfrm>
              <a:off x="5555672" y="2689619"/>
              <a:ext cx="1620982" cy="1200329"/>
            </a:xfrm>
            <a:prstGeom prst="rect">
              <a:avLst/>
            </a:prstGeom>
            <a:noFill/>
            <a:ln>
              <a:solidFill>
                <a:schemeClr val="bg1">
                  <a:lumMod val="85000"/>
                </a:schemeClr>
              </a:solidFill>
            </a:ln>
          </p:spPr>
          <p:txBody>
            <a:bodyPr wrap="square" rtlCol="0">
              <a:spAutoFit/>
            </a:bodyPr>
            <a:lstStyle/>
            <a:p>
              <a:pPr algn="ctr"/>
              <a:endParaRPr lang="en-US" dirty="0" smtClean="0"/>
            </a:p>
            <a:p>
              <a:pPr algn="ctr"/>
              <a:r>
                <a:rPr lang="en-US" dirty="0" smtClean="0">
                  <a:solidFill>
                    <a:srgbClr val="00B050"/>
                  </a:solidFill>
                  <a:latin typeface="Arial Rounded MT Bold" pitchFamily="34" charset="0"/>
                </a:rPr>
                <a:t>AI </a:t>
              </a:r>
            </a:p>
            <a:p>
              <a:pPr algn="ctr"/>
              <a:r>
                <a:rPr lang="en-US" dirty="0" smtClean="0">
                  <a:latin typeface="Arial Rounded MT Bold" pitchFamily="34" charset="0"/>
                </a:rPr>
                <a:t>Models</a:t>
              </a:r>
            </a:p>
            <a:p>
              <a:pPr algn="ctr"/>
              <a:endParaRPr lang="en-IN" dirty="0"/>
            </a:p>
          </p:txBody>
        </p:sp>
        <p:sp>
          <p:nvSpPr>
            <p:cNvPr id="7" name="Right Arrow 6"/>
            <p:cNvSpPr/>
            <p:nvPr/>
          </p:nvSpPr>
          <p:spPr>
            <a:xfrm>
              <a:off x="7349837" y="3190858"/>
              <a:ext cx="66501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Right Arrow 20"/>
            <p:cNvSpPr/>
            <p:nvPr/>
          </p:nvSpPr>
          <p:spPr>
            <a:xfrm>
              <a:off x="4797654" y="3238153"/>
              <a:ext cx="665018" cy="4846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3136" y="2314006"/>
              <a:ext cx="1895475"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8390562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4" name="Rectangle 3"/>
          <p:cNvSpPr/>
          <p:nvPr/>
        </p:nvSpPr>
        <p:spPr>
          <a:xfrm>
            <a:off x="193962" y="1623352"/>
            <a:ext cx="4600811" cy="369332"/>
          </a:xfrm>
          <a:prstGeom prst="rect">
            <a:avLst/>
          </a:prstGeom>
        </p:spPr>
        <p:txBody>
          <a:bodyPr wrap="none">
            <a:spAutoFit/>
          </a:bodyPr>
          <a:lstStyle/>
          <a:p>
            <a:r>
              <a:rPr lang="en-US" dirty="0"/>
              <a:t>Those AI models are called embedding models.</a:t>
            </a:r>
            <a:endParaRPr lang="en-IN" dirty="0"/>
          </a:p>
        </p:txBody>
      </p:sp>
      <p:sp>
        <p:nvSpPr>
          <p:cNvPr id="6" name="Rectangle 5"/>
          <p:cNvSpPr/>
          <p:nvPr/>
        </p:nvSpPr>
        <p:spPr>
          <a:xfrm>
            <a:off x="193962" y="2357874"/>
            <a:ext cx="11817928" cy="1015663"/>
          </a:xfrm>
          <a:prstGeom prst="rect">
            <a:avLst/>
          </a:prstGeom>
        </p:spPr>
        <p:txBody>
          <a:bodyPr wrap="square">
            <a:spAutoFit/>
          </a:bodyPr>
          <a:lstStyle/>
          <a:p>
            <a:r>
              <a:rPr lang="en-US" sz="2400" b="1" dirty="0">
                <a:latin typeface="Arial Black" pitchFamily="34" charset="0"/>
              </a:rPr>
              <a:t>Embeddings </a:t>
            </a:r>
            <a:r>
              <a:rPr lang="en-US" dirty="0"/>
              <a:t>play a pivotal role in the field of artificial intelligence because it is offering a </a:t>
            </a:r>
            <a:r>
              <a:rPr lang="en-US" dirty="0" smtClean="0"/>
              <a:t>powerful technique </a:t>
            </a:r>
            <a:r>
              <a:rPr lang="en-US" dirty="0"/>
              <a:t>to </a:t>
            </a:r>
            <a:r>
              <a:rPr lang="en-US" dirty="0" smtClean="0"/>
              <a:t>transform </a:t>
            </a:r>
            <a:r>
              <a:rPr lang="en-US" dirty="0"/>
              <a:t>unstructured data like quotes, images, video or user preference into more </a:t>
            </a:r>
            <a:r>
              <a:rPr lang="en-US" dirty="0" smtClean="0"/>
              <a:t>compact and </a:t>
            </a:r>
            <a:r>
              <a:rPr lang="en-US" dirty="0"/>
              <a:t>structured numerical representation inside vectors that machine can easily process.</a:t>
            </a:r>
          </a:p>
        </p:txBody>
      </p:sp>
      <p:sp>
        <p:nvSpPr>
          <p:cNvPr id="7" name="Rectangle 6"/>
          <p:cNvSpPr/>
          <p:nvPr/>
        </p:nvSpPr>
        <p:spPr>
          <a:xfrm>
            <a:off x="193962" y="4006748"/>
            <a:ext cx="11817928" cy="1200329"/>
          </a:xfrm>
          <a:prstGeom prst="rect">
            <a:avLst/>
          </a:prstGeom>
        </p:spPr>
        <p:txBody>
          <a:bodyPr wrap="square">
            <a:spAutoFit/>
          </a:bodyPr>
          <a:lstStyle/>
          <a:p>
            <a:r>
              <a:rPr lang="en-US" dirty="0">
                <a:latin typeface="Cambria Math" pitchFamily="18" charset="0"/>
                <a:ea typeface="Cambria Math" pitchFamily="18" charset="0"/>
              </a:rPr>
              <a:t>The number of features that a specific embedding model generate is fixed, meaning every vector produced</a:t>
            </a:r>
          </a:p>
          <a:p>
            <a:r>
              <a:rPr lang="en-US" dirty="0">
                <a:latin typeface="Cambria Math" pitchFamily="18" charset="0"/>
                <a:ea typeface="Cambria Math" pitchFamily="18" charset="0"/>
              </a:rPr>
              <a:t>by the model will be the same size, the same number of dimensions.</a:t>
            </a:r>
          </a:p>
          <a:p>
            <a:endParaRPr lang="en-US" dirty="0"/>
          </a:p>
          <a:p>
            <a:r>
              <a:rPr lang="en-US" dirty="0"/>
              <a:t>The numbers generated by vector embeddings represent patterns identified in the high dimensional </a:t>
            </a:r>
            <a:r>
              <a:rPr lang="en-US" dirty="0" smtClean="0"/>
              <a:t>space of </a:t>
            </a:r>
            <a:r>
              <a:rPr lang="en-US" dirty="0"/>
              <a:t>the raw data.</a:t>
            </a:r>
            <a:endParaRPr lang="en-IN" dirty="0"/>
          </a:p>
        </p:txBody>
      </p:sp>
      <p:sp>
        <p:nvSpPr>
          <p:cNvPr id="5" name="Rectangle 4"/>
          <p:cNvSpPr/>
          <p:nvPr/>
        </p:nvSpPr>
        <p:spPr>
          <a:xfrm>
            <a:off x="193962" y="268392"/>
            <a:ext cx="11998037" cy="738664"/>
          </a:xfrm>
          <a:prstGeom prst="rect">
            <a:avLst/>
          </a:prstGeom>
        </p:spPr>
        <p:txBody>
          <a:bodyPr wrap="square">
            <a:spAutoFit/>
          </a:bodyPr>
          <a:lstStyle/>
          <a:p>
            <a:r>
              <a:rPr lang="en-US" sz="2400" dirty="0">
                <a:latin typeface="Arial Black" pitchFamily="34" charset="0"/>
              </a:rPr>
              <a:t>Vector embeddings </a:t>
            </a:r>
            <a:r>
              <a:rPr lang="en-US" dirty="0"/>
              <a:t>leverage trained AI models to analyze complex patterns in high dimensional unstructured</a:t>
            </a:r>
          </a:p>
          <a:p>
            <a:r>
              <a:rPr lang="en-US" dirty="0"/>
              <a:t>data, and transform them into a compact, lower dimensional vector</a:t>
            </a:r>
            <a:endParaRPr lang="en-IN" dirty="0"/>
          </a:p>
        </p:txBody>
      </p:sp>
      <p:sp>
        <p:nvSpPr>
          <p:cNvPr id="8" name="Rectangle 7"/>
          <p:cNvSpPr/>
          <p:nvPr/>
        </p:nvSpPr>
        <p:spPr>
          <a:xfrm>
            <a:off x="193963" y="1096879"/>
            <a:ext cx="5297989" cy="369332"/>
          </a:xfrm>
          <a:prstGeom prst="rect">
            <a:avLst/>
          </a:prstGeom>
        </p:spPr>
        <p:txBody>
          <a:bodyPr wrap="none">
            <a:spAutoFit/>
          </a:bodyPr>
          <a:lstStyle/>
          <a:p>
            <a:r>
              <a:rPr lang="en-US" dirty="0"/>
              <a:t>The output is a feature vector, also called embeddings.</a:t>
            </a:r>
            <a:endParaRPr lang="en-IN" dirty="0"/>
          </a:p>
        </p:txBody>
      </p:sp>
    </p:spTree>
    <p:extLst>
      <p:ext uri="{BB962C8B-B14F-4D97-AF65-F5344CB8AC3E}">
        <p14:creationId xmlns:p14="http://schemas.microsoft.com/office/powerpoint/2010/main" val="38876902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13" name="Group 12"/>
          <p:cNvGrpSpPr/>
          <p:nvPr/>
        </p:nvGrpSpPr>
        <p:grpSpPr>
          <a:xfrm>
            <a:off x="554182" y="555763"/>
            <a:ext cx="10820400" cy="2229001"/>
            <a:chOff x="554182" y="555763"/>
            <a:chExt cx="10820400" cy="2229001"/>
          </a:xfrm>
        </p:grpSpPr>
        <p:grpSp>
          <p:nvGrpSpPr>
            <p:cNvPr id="11" name="Group 10"/>
            <p:cNvGrpSpPr/>
            <p:nvPr/>
          </p:nvGrpSpPr>
          <p:grpSpPr>
            <a:xfrm>
              <a:off x="741865" y="555763"/>
              <a:ext cx="9863428" cy="1502942"/>
              <a:chOff x="2168884" y="3312817"/>
              <a:chExt cx="9863428" cy="1502942"/>
            </a:xfrm>
          </p:grpSpPr>
          <p:sp>
            <p:nvSpPr>
              <p:cNvPr id="2" name="TextBox 1"/>
              <p:cNvSpPr txBox="1"/>
              <p:nvPr/>
            </p:nvSpPr>
            <p:spPr>
              <a:xfrm>
                <a:off x="2168884" y="3323648"/>
                <a:ext cx="1386919" cy="830997"/>
              </a:xfrm>
              <a:prstGeom prst="rect">
                <a:avLst/>
              </a:prstGeom>
              <a:noFill/>
            </p:spPr>
            <p:txBody>
              <a:bodyPr wrap="none" rtlCol="0">
                <a:spAutoFit/>
              </a:bodyPr>
              <a:lstStyle/>
              <a:p>
                <a:pPr algn="ctr"/>
                <a:r>
                  <a:rPr lang="en-US" sz="2400" b="1" dirty="0" smtClean="0">
                    <a:solidFill>
                      <a:srgbClr val="FFC000"/>
                    </a:solidFill>
                    <a:latin typeface="Bahnschrift" pitchFamily="34" charset="0"/>
                  </a:rPr>
                  <a:t>Complex</a:t>
                </a:r>
              </a:p>
              <a:p>
                <a:pPr algn="ctr"/>
                <a:r>
                  <a:rPr lang="en-US" sz="2400" b="1" dirty="0" smtClean="0">
                    <a:latin typeface="Bahnschrift" pitchFamily="34" charset="0"/>
                  </a:rPr>
                  <a:t>Data</a:t>
                </a:r>
                <a:endParaRPr lang="en-IN" sz="2400" b="1" dirty="0">
                  <a:latin typeface="Bahnschrift" pitchFamily="34"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957" y="4129959"/>
                <a:ext cx="8667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ight Arrow 2"/>
              <p:cNvSpPr/>
              <p:nvPr/>
            </p:nvSpPr>
            <p:spPr>
              <a:xfrm>
                <a:off x="3754582" y="4129959"/>
                <a:ext cx="734291" cy="484632"/>
              </a:xfrm>
              <a:prstGeom prs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p:cNvSpPr txBox="1"/>
              <p:nvPr/>
            </p:nvSpPr>
            <p:spPr>
              <a:xfrm>
                <a:off x="4973782" y="3800702"/>
                <a:ext cx="1665841" cy="707886"/>
              </a:xfrm>
              <a:prstGeom prst="rect">
                <a:avLst/>
              </a:prstGeom>
              <a:noFill/>
            </p:spPr>
            <p:txBody>
              <a:bodyPr wrap="none" rtlCol="0">
                <a:spAutoFit/>
              </a:bodyPr>
              <a:lstStyle/>
              <a:p>
                <a:pPr algn="ctr"/>
                <a:r>
                  <a:rPr lang="en-US" sz="2000" dirty="0" smtClean="0">
                    <a:latin typeface="Arial Rounded MT Bold" pitchFamily="34" charset="0"/>
                  </a:rPr>
                  <a:t>Embedding </a:t>
                </a:r>
              </a:p>
              <a:p>
                <a:pPr algn="ctr"/>
                <a:r>
                  <a:rPr lang="en-US" sz="2000" dirty="0" smtClean="0">
                    <a:latin typeface="Arial Rounded MT Bold" pitchFamily="34" charset="0"/>
                  </a:rPr>
                  <a:t>Models</a:t>
                </a:r>
                <a:endParaRPr lang="en-IN" sz="2000" dirty="0">
                  <a:latin typeface="Arial Rounded MT Bold" pitchFamily="34" charset="0"/>
                </a:endParaRPr>
              </a:p>
            </p:txBody>
          </p:sp>
          <p:sp>
            <p:nvSpPr>
              <p:cNvPr id="5" name="Rounded Rectangle 4"/>
              <p:cNvSpPr/>
              <p:nvPr/>
            </p:nvSpPr>
            <p:spPr>
              <a:xfrm>
                <a:off x="4627418" y="3532909"/>
                <a:ext cx="2313709" cy="1282850"/>
              </a:xfrm>
              <a:prstGeom prst="round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ight Arrow 7"/>
              <p:cNvSpPr/>
              <p:nvPr/>
            </p:nvSpPr>
            <p:spPr>
              <a:xfrm>
                <a:off x="7135091" y="3980233"/>
                <a:ext cx="734291" cy="484632"/>
              </a:xfrm>
              <a:prstGeom prst="rightArrow">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0" name="Group 9"/>
              <p:cNvGrpSpPr/>
              <p:nvPr/>
            </p:nvGrpSpPr>
            <p:grpSpPr>
              <a:xfrm>
                <a:off x="7981891" y="3312817"/>
                <a:ext cx="4050421" cy="1406264"/>
                <a:chOff x="7981891" y="3312817"/>
                <a:chExt cx="4050421" cy="1406264"/>
              </a:xfrm>
            </p:grpSpPr>
            <p:sp>
              <p:nvSpPr>
                <p:cNvPr id="9" name="TextBox 8"/>
                <p:cNvSpPr txBox="1"/>
                <p:nvPr/>
              </p:nvSpPr>
              <p:spPr>
                <a:xfrm>
                  <a:off x="8390721" y="3312817"/>
                  <a:ext cx="1135247" cy="830997"/>
                </a:xfrm>
                <a:prstGeom prst="rect">
                  <a:avLst/>
                </a:prstGeom>
                <a:noFill/>
              </p:spPr>
              <p:txBody>
                <a:bodyPr wrap="none" rtlCol="0">
                  <a:spAutoFit/>
                </a:bodyPr>
                <a:lstStyle/>
                <a:p>
                  <a:pPr algn="ctr"/>
                  <a:r>
                    <a:rPr lang="en-US" sz="2400" b="1" dirty="0">
                      <a:solidFill>
                        <a:srgbClr val="009900"/>
                      </a:solidFill>
                      <a:latin typeface="Bahnschrift" pitchFamily="34" charset="0"/>
                    </a:rPr>
                    <a:t>Simple</a:t>
                  </a:r>
                </a:p>
                <a:p>
                  <a:pPr algn="ctr"/>
                  <a:r>
                    <a:rPr lang="en-US" sz="2400" b="1" dirty="0">
                      <a:solidFill>
                        <a:srgbClr val="FFC000"/>
                      </a:solidFill>
                      <a:latin typeface="Bahnschrift" pitchFamily="34" charset="0"/>
                    </a:rPr>
                    <a:t>Data</a:t>
                  </a:r>
                  <a:endParaRPr lang="en-IN" sz="2400" b="1" dirty="0">
                    <a:solidFill>
                      <a:srgbClr val="FFC000"/>
                    </a:solidFill>
                    <a:latin typeface="Bahnschrift" pitchFamily="34" charset="0"/>
                  </a:endParaRPr>
                </a:p>
              </p:txBody>
            </p:sp>
            <p:sp>
              <p:nvSpPr>
                <p:cNvPr id="6" name="TextBox 5"/>
                <p:cNvSpPr txBox="1"/>
                <p:nvPr/>
              </p:nvSpPr>
              <p:spPr>
                <a:xfrm>
                  <a:off x="7981891" y="4103527"/>
                  <a:ext cx="2743059" cy="307777"/>
                </a:xfrm>
                <a:prstGeom prst="rect">
                  <a:avLst/>
                </a:prstGeom>
                <a:noFill/>
              </p:spPr>
              <p:txBody>
                <a:bodyPr wrap="none" rtlCol="0">
                  <a:spAutoFit/>
                </a:bodyPr>
                <a:lstStyle/>
                <a:p>
                  <a:r>
                    <a:rPr lang="en-US" sz="1400" dirty="0" smtClean="0">
                      <a:latin typeface="Arial" pitchFamily="34" charset="0"/>
                      <a:cs typeface="Arial" pitchFamily="34" charset="0"/>
                    </a:rPr>
                    <a:t>Comapact,Same Size ,Numbers</a:t>
                  </a:r>
                  <a:endParaRPr lang="en-IN" sz="1400" dirty="0">
                    <a:latin typeface="Arial" pitchFamily="34" charset="0"/>
                    <a:cs typeface="Arial" pitchFamily="34" charset="0"/>
                  </a:endParaRPr>
                </a:p>
              </p:txBody>
            </p:sp>
            <p:sp>
              <p:nvSpPr>
                <p:cNvPr id="7" name="TextBox 6"/>
                <p:cNvSpPr txBox="1"/>
                <p:nvPr/>
              </p:nvSpPr>
              <p:spPr>
                <a:xfrm>
                  <a:off x="8038911" y="4411304"/>
                  <a:ext cx="3993401" cy="307777"/>
                </a:xfrm>
                <a:prstGeom prst="rect">
                  <a:avLst/>
                </a:prstGeom>
                <a:noFill/>
              </p:spPr>
              <p:txBody>
                <a:bodyPr wrap="none" rtlCol="0">
                  <a:spAutoFit/>
                </a:bodyPr>
                <a:lstStyle/>
                <a:p>
                  <a:r>
                    <a:rPr lang="en-US" sz="1400" dirty="0" smtClean="0"/>
                    <a:t>[ 0.23, 0.78, -0.12, 0.56, 0.91,-0.34 , 0.45, 0.82, 0.67]</a:t>
                  </a:r>
                  <a:endParaRPr lang="en-IN" sz="1400" dirty="0"/>
                </a:p>
              </p:txBody>
            </p:sp>
          </p:grpSp>
        </p:grpSp>
        <p:sp>
          <p:nvSpPr>
            <p:cNvPr id="12" name="Rounded Rectangle 11"/>
            <p:cNvSpPr/>
            <p:nvPr/>
          </p:nvSpPr>
          <p:spPr>
            <a:xfrm>
              <a:off x="554182" y="555763"/>
              <a:ext cx="10820400" cy="2229001"/>
            </a:xfrm>
            <a:prstGeom prst="round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22492772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2" name="Group 1"/>
          <p:cNvGrpSpPr/>
          <p:nvPr/>
        </p:nvGrpSpPr>
        <p:grpSpPr>
          <a:xfrm>
            <a:off x="148603" y="172194"/>
            <a:ext cx="2359070" cy="338452"/>
            <a:chOff x="248673" y="195939"/>
            <a:chExt cx="2359070" cy="338452"/>
          </a:xfrm>
        </p:grpSpPr>
        <p:cxnSp>
          <p:nvCxnSpPr>
            <p:cNvPr id="3" name="Straight Connector 2"/>
            <p:cNvCxnSpPr/>
            <p:nvPr/>
          </p:nvCxnSpPr>
          <p:spPr>
            <a:xfrm flipV="1">
              <a:off x="248673" y="534390"/>
              <a:ext cx="2359070" cy="1"/>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391175" y="195939"/>
              <a:ext cx="2008750" cy="33845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smtClean="0">
                  <a:latin typeface="Bahnschrift" pitchFamily="34" charset="0"/>
                </a:rPr>
                <a:t>Embedding Models</a:t>
              </a:r>
              <a:endParaRPr lang="en-IN" sz="1600" dirty="0">
                <a:latin typeface="Bahnschrift" pitchFamily="34" charset="0"/>
              </a:endParaRPr>
            </a:p>
          </p:txBody>
        </p:sp>
      </p:grpSp>
      <p:sp>
        <p:nvSpPr>
          <p:cNvPr id="6" name="Rectangle 5"/>
          <p:cNvSpPr/>
          <p:nvPr/>
        </p:nvSpPr>
        <p:spPr>
          <a:xfrm>
            <a:off x="148603" y="4283517"/>
            <a:ext cx="11890997" cy="584775"/>
          </a:xfrm>
          <a:prstGeom prst="rect">
            <a:avLst/>
          </a:prstGeom>
        </p:spPr>
        <p:txBody>
          <a:bodyPr wrap="square">
            <a:spAutoFit/>
          </a:bodyPr>
          <a:lstStyle/>
          <a:p>
            <a:r>
              <a:rPr lang="en-US" sz="1600" dirty="0">
                <a:latin typeface="Bahnschrift SemiLight" pitchFamily="34" charset="0"/>
              </a:rPr>
              <a:t>The number of features that a specific embedding model generate is fixed, meaning every vector </a:t>
            </a:r>
            <a:r>
              <a:rPr lang="en-US" sz="1600" dirty="0" smtClean="0">
                <a:latin typeface="Bahnschrift SemiLight" pitchFamily="34" charset="0"/>
              </a:rPr>
              <a:t>produced by </a:t>
            </a:r>
            <a:r>
              <a:rPr lang="en-US" sz="1600" dirty="0">
                <a:latin typeface="Bahnschrift SemiLight" pitchFamily="34" charset="0"/>
              </a:rPr>
              <a:t>the same model will be the same size.</a:t>
            </a:r>
            <a:endParaRPr lang="en-IN" sz="1600" dirty="0">
              <a:latin typeface="Bahnschrift SemiLight" pitchFamily="34" charset="0"/>
            </a:endParaRPr>
          </a:p>
        </p:txBody>
      </p:sp>
      <p:grpSp>
        <p:nvGrpSpPr>
          <p:cNvPr id="30" name="Group 29"/>
          <p:cNvGrpSpPr/>
          <p:nvPr/>
        </p:nvGrpSpPr>
        <p:grpSpPr>
          <a:xfrm>
            <a:off x="1866567" y="720436"/>
            <a:ext cx="7859048" cy="3212350"/>
            <a:chOff x="1866567" y="720436"/>
            <a:chExt cx="7859048" cy="3212350"/>
          </a:xfrm>
        </p:grpSpPr>
        <p:grpSp>
          <p:nvGrpSpPr>
            <p:cNvPr id="23" name="Group 22"/>
            <p:cNvGrpSpPr/>
            <p:nvPr/>
          </p:nvGrpSpPr>
          <p:grpSpPr>
            <a:xfrm>
              <a:off x="1866567" y="720436"/>
              <a:ext cx="6490459" cy="2889185"/>
              <a:chOff x="1866567" y="720436"/>
              <a:chExt cx="6490459" cy="2889185"/>
            </a:xfrm>
          </p:grpSpPr>
          <p:sp>
            <p:nvSpPr>
              <p:cNvPr id="15" name="TextBox 14"/>
              <p:cNvSpPr txBox="1"/>
              <p:nvPr/>
            </p:nvSpPr>
            <p:spPr>
              <a:xfrm>
                <a:off x="4624598" y="3301844"/>
                <a:ext cx="1641796" cy="307777"/>
              </a:xfrm>
              <a:prstGeom prst="rect">
                <a:avLst/>
              </a:prstGeom>
              <a:noFill/>
            </p:spPr>
            <p:txBody>
              <a:bodyPr wrap="none" rtlCol="0">
                <a:spAutoFit/>
              </a:bodyPr>
              <a:lstStyle/>
              <a:p>
                <a:r>
                  <a:rPr lang="en-US" sz="1400" dirty="0" smtClean="0">
                    <a:latin typeface="Bahnschrift" pitchFamily="34" charset="0"/>
                  </a:rPr>
                  <a:t>More dimensions?</a:t>
                </a:r>
                <a:endParaRPr lang="en-IN" sz="1400" dirty="0">
                  <a:latin typeface="Bahnschrift" pitchFamily="34" charset="0"/>
                </a:endParaRPr>
              </a:p>
            </p:txBody>
          </p:sp>
          <p:grpSp>
            <p:nvGrpSpPr>
              <p:cNvPr id="21" name="Group 20"/>
              <p:cNvGrpSpPr/>
              <p:nvPr/>
            </p:nvGrpSpPr>
            <p:grpSpPr>
              <a:xfrm>
                <a:off x="1866567" y="720436"/>
                <a:ext cx="6490459" cy="2282564"/>
                <a:chOff x="1866567" y="720436"/>
                <a:chExt cx="6490459" cy="2282564"/>
              </a:xfrm>
            </p:grpSpPr>
            <p:sp>
              <p:nvSpPr>
                <p:cNvPr id="7" name="TextBox 6"/>
                <p:cNvSpPr txBox="1"/>
                <p:nvPr/>
              </p:nvSpPr>
              <p:spPr>
                <a:xfrm>
                  <a:off x="1866567" y="720436"/>
                  <a:ext cx="2566728" cy="461665"/>
                </a:xfrm>
                <a:prstGeom prst="rect">
                  <a:avLst/>
                </a:prstGeom>
                <a:noFill/>
              </p:spPr>
              <p:txBody>
                <a:bodyPr wrap="none" rtlCol="0">
                  <a:spAutoFit/>
                </a:bodyPr>
                <a:lstStyle/>
                <a:p>
                  <a:r>
                    <a:rPr lang="en-US" sz="2400" dirty="0" smtClean="0">
                      <a:solidFill>
                        <a:srgbClr val="002060"/>
                      </a:solidFill>
                      <a:latin typeface="Britannic Bold" pitchFamily="34" charset="0"/>
                    </a:rPr>
                    <a:t>Embedding</a:t>
                  </a:r>
                  <a:r>
                    <a:rPr lang="en-US" sz="2400" dirty="0" smtClean="0">
                      <a:latin typeface="Britannic Bold" pitchFamily="34" charset="0"/>
                    </a:rPr>
                    <a:t> </a:t>
                  </a:r>
                  <a:r>
                    <a:rPr lang="en-US" sz="2400" dirty="0" smtClean="0">
                      <a:solidFill>
                        <a:srgbClr val="7030A0"/>
                      </a:solidFill>
                      <a:latin typeface="Britannic Bold" pitchFamily="34" charset="0"/>
                    </a:rPr>
                    <a:t>Model</a:t>
                  </a:r>
                  <a:endParaRPr lang="en-IN" sz="2400" dirty="0">
                    <a:solidFill>
                      <a:srgbClr val="7030A0"/>
                    </a:solidFill>
                    <a:latin typeface="Britannic Bold" pitchFamily="34" charset="0"/>
                  </a:endParaRPr>
                </a:p>
              </p:txBody>
            </p:sp>
            <p:grpSp>
              <p:nvGrpSpPr>
                <p:cNvPr id="20" name="Group 19"/>
                <p:cNvGrpSpPr/>
                <p:nvPr/>
              </p:nvGrpSpPr>
              <p:grpSpPr>
                <a:xfrm>
                  <a:off x="2479964" y="1108364"/>
                  <a:ext cx="5877062" cy="1894636"/>
                  <a:chOff x="2479964" y="1108364"/>
                  <a:chExt cx="5877062" cy="1894636"/>
                </a:xfrm>
              </p:grpSpPr>
              <p:sp>
                <p:nvSpPr>
                  <p:cNvPr id="9" name="TextBox 8"/>
                  <p:cNvSpPr txBox="1"/>
                  <p:nvPr/>
                </p:nvSpPr>
                <p:spPr>
                  <a:xfrm>
                    <a:off x="4433295" y="1182101"/>
                    <a:ext cx="3183885" cy="307777"/>
                  </a:xfrm>
                  <a:prstGeom prst="rect">
                    <a:avLst/>
                  </a:prstGeom>
                  <a:noFill/>
                </p:spPr>
                <p:txBody>
                  <a:bodyPr wrap="none" rtlCol="0">
                    <a:spAutoFit/>
                  </a:bodyPr>
                  <a:lstStyle/>
                  <a:p>
                    <a:r>
                      <a:rPr lang="en-US" sz="1400" b="1" dirty="0" smtClean="0">
                        <a:solidFill>
                          <a:srgbClr val="009900"/>
                        </a:solidFill>
                        <a:latin typeface="Bahnschrift" pitchFamily="34" charset="0"/>
                      </a:rPr>
                      <a:t>ML</a:t>
                    </a:r>
                    <a:r>
                      <a:rPr lang="en-US" sz="1400" dirty="0" smtClean="0">
                        <a:solidFill>
                          <a:srgbClr val="009900"/>
                        </a:solidFill>
                        <a:latin typeface="Bahnschrift" pitchFamily="34" charset="0"/>
                      </a:rPr>
                      <a:t> </a:t>
                    </a:r>
                    <a:r>
                      <a:rPr lang="en-US" sz="1400" dirty="0" smtClean="0">
                        <a:latin typeface="Bahnschrift" pitchFamily="34" charset="0"/>
                      </a:rPr>
                      <a:t>Model designed to transform data</a:t>
                    </a:r>
                    <a:endParaRPr lang="en-IN" sz="1400" dirty="0">
                      <a:latin typeface="Bahnschrift" pitchFamily="34" charset="0"/>
                    </a:endParaRPr>
                  </a:p>
                </p:txBody>
              </p:sp>
              <p:sp>
                <p:nvSpPr>
                  <p:cNvPr id="11" name="TextBox 10"/>
                  <p:cNvSpPr txBox="1"/>
                  <p:nvPr/>
                </p:nvSpPr>
                <p:spPr>
                  <a:xfrm>
                    <a:off x="4502157" y="1671578"/>
                    <a:ext cx="3693640" cy="307777"/>
                  </a:xfrm>
                  <a:prstGeom prst="rect">
                    <a:avLst/>
                  </a:prstGeom>
                  <a:noFill/>
                </p:spPr>
                <p:txBody>
                  <a:bodyPr wrap="none" rtlCol="0">
                    <a:spAutoFit/>
                  </a:bodyPr>
                  <a:lstStyle/>
                  <a:p>
                    <a:r>
                      <a:rPr lang="en-US" sz="1400" dirty="0" smtClean="0">
                        <a:latin typeface="Bahnschrift" pitchFamily="34" charset="0"/>
                      </a:rPr>
                      <a:t>Trained using </a:t>
                    </a:r>
                    <a:r>
                      <a:rPr lang="en-US" sz="1400" b="1" dirty="0" smtClean="0">
                        <a:solidFill>
                          <a:srgbClr val="009900"/>
                        </a:solidFill>
                        <a:latin typeface="Bahnschrift" pitchFamily="34" charset="0"/>
                      </a:rPr>
                      <a:t>ML</a:t>
                    </a:r>
                    <a:r>
                      <a:rPr lang="en-US" sz="1400" dirty="0" smtClean="0">
                        <a:latin typeface="Bahnschrift" pitchFamily="34" charset="0"/>
                      </a:rPr>
                      <a:t> algorithms(deep learning)</a:t>
                    </a:r>
                    <a:endParaRPr lang="en-IN" sz="1400" dirty="0">
                      <a:latin typeface="Bahnschrift" pitchFamily="34" charset="0"/>
                    </a:endParaRPr>
                  </a:p>
                </p:txBody>
              </p:sp>
              <p:sp>
                <p:nvSpPr>
                  <p:cNvPr id="13" name="TextBox 12"/>
                  <p:cNvSpPr txBox="1"/>
                  <p:nvPr/>
                </p:nvSpPr>
                <p:spPr>
                  <a:xfrm>
                    <a:off x="4620106" y="2192561"/>
                    <a:ext cx="2581156" cy="307777"/>
                  </a:xfrm>
                  <a:prstGeom prst="rect">
                    <a:avLst/>
                  </a:prstGeom>
                  <a:noFill/>
                </p:spPr>
                <p:txBody>
                  <a:bodyPr wrap="none" rtlCol="0">
                    <a:spAutoFit/>
                  </a:bodyPr>
                  <a:lstStyle/>
                  <a:p>
                    <a:r>
                      <a:rPr lang="en-US" sz="1400" dirty="0" smtClean="0">
                        <a:latin typeface="Bahnschrift" pitchFamily="34" charset="0"/>
                      </a:rPr>
                      <a:t>Performing </a:t>
                    </a:r>
                    <a:r>
                      <a:rPr lang="en-US" sz="1400" b="1" dirty="0" smtClean="0">
                        <a:solidFill>
                          <a:srgbClr val="00B0F0"/>
                        </a:solidFill>
                        <a:latin typeface="Bahnschrift" pitchFamily="34" charset="0"/>
                      </a:rPr>
                      <a:t>vector</a:t>
                    </a:r>
                    <a:r>
                      <a:rPr lang="en-US" sz="1400" dirty="0" smtClean="0">
                        <a:solidFill>
                          <a:srgbClr val="00B0F0"/>
                        </a:solidFill>
                        <a:latin typeface="Bahnschrift" pitchFamily="34" charset="0"/>
                      </a:rPr>
                      <a:t> </a:t>
                    </a:r>
                    <a:r>
                      <a:rPr lang="en-US" sz="1400" b="1" dirty="0" smtClean="0">
                        <a:solidFill>
                          <a:srgbClr val="006600"/>
                        </a:solidFill>
                        <a:latin typeface="Bahnschrift" pitchFamily="34" charset="0"/>
                      </a:rPr>
                      <a:t>embedding</a:t>
                    </a:r>
                    <a:endParaRPr lang="en-IN" sz="1400" b="1" dirty="0">
                      <a:solidFill>
                        <a:srgbClr val="006600"/>
                      </a:solidFill>
                      <a:latin typeface="Bahnschrift" pitchFamily="34" charset="0"/>
                    </a:endParaRPr>
                  </a:p>
                </p:txBody>
              </p:sp>
              <p:sp>
                <p:nvSpPr>
                  <p:cNvPr id="14" name="TextBox 13"/>
                  <p:cNvSpPr txBox="1"/>
                  <p:nvPr/>
                </p:nvSpPr>
                <p:spPr>
                  <a:xfrm>
                    <a:off x="4620106" y="2695223"/>
                    <a:ext cx="3736920" cy="307777"/>
                  </a:xfrm>
                  <a:prstGeom prst="rect">
                    <a:avLst/>
                  </a:prstGeom>
                  <a:noFill/>
                </p:spPr>
                <p:txBody>
                  <a:bodyPr wrap="none" rtlCol="0">
                    <a:spAutoFit/>
                  </a:bodyPr>
                  <a:lstStyle/>
                  <a:p>
                    <a:r>
                      <a:rPr lang="en-US" sz="1400" dirty="0" smtClean="0">
                        <a:latin typeface="Bahnschrift" pitchFamily="34" charset="0"/>
                      </a:rPr>
                      <a:t>Each Model  </a:t>
                    </a:r>
                    <a:r>
                      <a:rPr lang="en-US" sz="1400" dirty="0" smtClean="0">
                        <a:latin typeface="Bahnschrift" pitchFamily="34" charset="0"/>
                        <a:sym typeface="Wingdings" pitchFamily="2" charset="2"/>
                      </a:rPr>
                      <a:t> fixed of feature (dimensions)</a:t>
                    </a:r>
                    <a:endParaRPr lang="en-IN" sz="1400" dirty="0">
                      <a:latin typeface="Bahnschrift" pitchFamily="34" charset="0"/>
                    </a:endParaRPr>
                  </a:p>
                </p:txBody>
              </p:sp>
              <p:grpSp>
                <p:nvGrpSpPr>
                  <p:cNvPr id="19" name="Group 18"/>
                  <p:cNvGrpSpPr/>
                  <p:nvPr/>
                </p:nvGrpSpPr>
                <p:grpSpPr>
                  <a:xfrm>
                    <a:off x="2479964" y="1108364"/>
                    <a:ext cx="2161309" cy="1704109"/>
                    <a:chOff x="2479964" y="1108364"/>
                    <a:chExt cx="2161309" cy="1704109"/>
                  </a:xfrm>
                </p:grpSpPr>
                <p:sp>
                  <p:nvSpPr>
                    <p:cNvPr id="10" name="Freeform 9"/>
                    <p:cNvSpPr/>
                    <p:nvPr/>
                  </p:nvSpPr>
                  <p:spPr>
                    <a:xfrm>
                      <a:off x="2479964" y="1108364"/>
                      <a:ext cx="2008909" cy="327106"/>
                    </a:xfrm>
                    <a:custGeom>
                      <a:avLst/>
                      <a:gdLst>
                        <a:gd name="connsiteX0" fmla="*/ 0 w 2008909"/>
                        <a:gd name="connsiteY0" fmla="*/ 0 h 327106"/>
                        <a:gd name="connsiteX1" fmla="*/ 69272 w 2008909"/>
                        <a:gd name="connsiteY1" fmla="*/ 41563 h 327106"/>
                        <a:gd name="connsiteX2" fmla="*/ 110836 w 2008909"/>
                        <a:gd name="connsiteY2" fmla="*/ 83127 h 327106"/>
                        <a:gd name="connsiteX3" fmla="*/ 180109 w 2008909"/>
                        <a:gd name="connsiteY3" fmla="*/ 96981 h 327106"/>
                        <a:gd name="connsiteX4" fmla="*/ 346363 w 2008909"/>
                        <a:gd name="connsiteY4" fmla="*/ 138545 h 327106"/>
                        <a:gd name="connsiteX5" fmla="*/ 401781 w 2008909"/>
                        <a:gd name="connsiteY5" fmla="*/ 152400 h 327106"/>
                        <a:gd name="connsiteX6" fmla="*/ 457200 w 2008909"/>
                        <a:gd name="connsiteY6" fmla="*/ 166254 h 327106"/>
                        <a:gd name="connsiteX7" fmla="*/ 581891 w 2008909"/>
                        <a:gd name="connsiteY7" fmla="*/ 207818 h 327106"/>
                        <a:gd name="connsiteX8" fmla="*/ 623454 w 2008909"/>
                        <a:gd name="connsiteY8" fmla="*/ 221672 h 327106"/>
                        <a:gd name="connsiteX9" fmla="*/ 734291 w 2008909"/>
                        <a:gd name="connsiteY9" fmla="*/ 249381 h 327106"/>
                        <a:gd name="connsiteX10" fmla="*/ 886691 w 2008909"/>
                        <a:gd name="connsiteY10" fmla="*/ 277091 h 327106"/>
                        <a:gd name="connsiteX11" fmla="*/ 997527 w 2008909"/>
                        <a:gd name="connsiteY11" fmla="*/ 290945 h 327106"/>
                        <a:gd name="connsiteX12" fmla="*/ 1717963 w 2008909"/>
                        <a:gd name="connsiteY12" fmla="*/ 304800 h 327106"/>
                        <a:gd name="connsiteX13" fmla="*/ 2008909 w 2008909"/>
                        <a:gd name="connsiteY13" fmla="*/ 318654 h 32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08909" h="327106">
                          <a:moveTo>
                            <a:pt x="0" y="0"/>
                          </a:moveTo>
                          <a:cubicBezTo>
                            <a:pt x="23091" y="13854"/>
                            <a:pt x="47730" y="25406"/>
                            <a:pt x="69272" y="41563"/>
                          </a:cubicBezTo>
                          <a:cubicBezTo>
                            <a:pt x="84947" y="53319"/>
                            <a:pt x="93311" y="74365"/>
                            <a:pt x="110836" y="83127"/>
                          </a:cubicBezTo>
                          <a:cubicBezTo>
                            <a:pt x="131898" y="93658"/>
                            <a:pt x="157164" y="91686"/>
                            <a:pt x="180109" y="96981"/>
                          </a:cubicBezTo>
                          <a:cubicBezTo>
                            <a:pt x="235770" y="109826"/>
                            <a:pt x="290945" y="124690"/>
                            <a:pt x="346363" y="138545"/>
                          </a:cubicBezTo>
                          <a:lnTo>
                            <a:pt x="401781" y="152400"/>
                          </a:lnTo>
                          <a:cubicBezTo>
                            <a:pt x="420254" y="157018"/>
                            <a:pt x="439136" y="160233"/>
                            <a:pt x="457200" y="166254"/>
                          </a:cubicBezTo>
                          <a:lnTo>
                            <a:pt x="581891" y="207818"/>
                          </a:lnTo>
                          <a:cubicBezTo>
                            <a:pt x="595745" y="212436"/>
                            <a:pt x="609286" y="218130"/>
                            <a:pt x="623454" y="221672"/>
                          </a:cubicBezTo>
                          <a:cubicBezTo>
                            <a:pt x="660400" y="230908"/>
                            <a:pt x="696948" y="241912"/>
                            <a:pt x="734291" y="249381"/>
                          </a:cubicBezTo>
                          <a:cubicBezTo>
                            <a:pt x="793960" y="261315"/>
                            <a:pt x="824652" y="268228"/>
                            <a:pt x="886691" y="277091"/>
                          </a:cubicBezTo>
                          <a:cubicBezTo>
                            <a:pt x="923550" y="282356"/>
                            <a:pt x="960315" y="289705"/>
                            <a:pt x="997527" y="290945"/>
                          </a:cubicBezTo>
                          <a:cubicBezTo>
                            <a:pt x="1237583" y="298947"/>
                            <a:pt x="1477818" y="300182"/>
                            <a:pt x="1717963" y="304800"/>
                          </a:cubicBezTo>
                          <a:cubicBezTo>
                            <a:pt x="1838389" y="344940"/>
                            <a:pt x="1744923" y="318654"/>
                            <a:pt x="2008909" y="318654"/>
                          </a:cubicBezTo>
                        </a:path>
                      </a:pathLst>
                    </a:custGeom>
                    <a:ln w="28575">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6" name="Freeform 15"/>
                    <p:cNvSpPr/>
                    <p:nvPr/>
                  </p:nvSpPr>
                  <p:spPr>
                    <a:xfrm>
                      <a:off x="2493818" y="1122218"/>
                      <a:ext cx="2036618" cy="790518"/>
                    </a:xfrm>
                    <a:custGeom>
                      <a:avLst/>
                      <a:gdLst>
                        <a:gd name="connsiteX0" fmla="*/ 0 w 2036618"/>
                        <a:gd name="connsiteY0" fmla="*/ 0 h 790518"/>
                        <a:gd name="connsiteX1" fmla="*/ 55418 w 2036618"/>
                        <a:gd name="connsiteY1" fmla="*/ 110837 h 790518"/>
                        <a:gd name="connsiteX2" fmla="*/ 180109 w 2036618"/>
                        <a:gd name="connsiteY2" fmla="*/ 207818 h 790518"/>
                        <a:gd name="connsiteX3" fmla="*/ 221673 w 2036618"/>
                        <a:gd name="connsiteY3" fmla="*/ 235527 h 790518"/>
                        <a:gd name="connsiteX4" fmla="*/ 304800 w 2036618"/>
                        <a:gd name="connsiteY4" fmla="*/ 290946 h 790518"/>
                        <a:gd name="connsiteX5" fmla="*/ 346364 w 2036618"/>
                        <a:gd name="connsiteY5" fmla="*/ 318655 h 790518"/>
                        <a:gd name="connsiteX6" fmla="*/ 387927 w 2036618"/>
                        <a:gd name="connsiteY6" fmla="*/ 332509 h 790518"/>
                        <a:gd name="connsiteX7" fmla="*/ 471055 w 2036618"/>
                        <a:gd name="connsiteY7" fmla="*/ 374073 h 790518"/>
                        <a:gd name="connsiteX8" fmla="*/ 568037 w 2036618"/>
                        <a:gd name="connsiteY8" fmla="*/ 415637 h 790518"/>
                        <a:gd name="connsiteX9" fmla="*/ 637309 w 2036618"/>
                        <a:gd name="connsiteY9" fmla="*/ 429491 h 790518"/>
                        <a:gd name="connsiteX10" fmla="*/ 720437 w 2036618"/>
                        <a:gd name="connsiteY10" fmla="*/ 457200 h 790518"/>
                        <a:gd name="connsiteX11" fmla="*/ 886691 w 2036618"/>
                        <a:gd name="connsiteY11" fmla="*/ 484909 h 790518"/>
                        <a:gd name="connsiteX12" fmla="*/ 1052946 w 2036618"/>
                        <a:gd name="connsiteY12" fmla="*/ 540327 h 790518"/>
                        <a:gd name="connsiteX13" fmla="*/ 1094509 w 2036618"/>
                        <a:gd name="connsiteY13" fmla="*/ 554182 h 790518"/>
                        <a:gd name="connsiteX14" fmla="*/ 1136073 w 2036618"/>
                        <a:gd name="connsiteY14" fmla="*/ 568037 h 790518"/>
                        <a:gd name="connsiteX15" fmla="*/ 1191491 w 2036618"/>
                        <a:gd name="connsiteY15" fmla="*/ 595746 h 790518"/>
                        <a:gd name="connsiteX16" fmla="*/ 1246909 w 2036618"/>
                        <a:gd name="connsiteY16" fmla="*/ 609600 h 790518"/>
                        <a:gd name="connsiteX17" fmla="*/ 1330037 w 2036618"/>
                        <a:gd name="connsiteY17" fmla="*/ 637309 h 790518"/>
                        <a:gd name="connsiteX18" fmla="*/ 1371600 w 2036618"/>
                        <a:gd name="connsiteY18" fmla="*/ 651164 h 790518"/>
                        <a:gd name="connsiteX19" fmla="*/ 1413164 w 2036618"/>
                        <a:gd name="connsiteY19" fmla="*/ 665018 h 790518"/>
                        <a:gd name="connsiteX20" fmla="*/ 1537855 w 2036618"/>
                        <a:gd name="connsiteY20" fmla="*/ 706582 h 790518"/>
                        <a:gd name="connsiteX21" fmla="*/ 1579418 w 2036618"/>
                        <a:gd name="connsiteY21" fmla="*/ 720437 h 790518"/>
                        <a:gd name="connsiteX22" fmla="*/ 1648691 w 2036618"/>
                        <a:gd name="connsiteY22" fmla="*/ 734291 h 790518"/>
                        <a:gd name="connsiteX23" fmla="*/ 1690255 w 2036618"/>
                        <a:gd name="connsiteY23" fmla="*/ 748146 h 790518"/>
                        <a:gd name="connsiteX24" fmla="*/ 1939637 w 2036618"/>
                        <a:gd name="connsiteY24" fmla="*/ 775855 h 790518"/>
                        <a:gd name="connsiteX25" fmla="*/ 2036618 w 2036618"/>
                        <a:gd name="connsiteY25" fmla="*/ 789709 h 790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36618" h="790518">
                          <a:moveTo>
                            <a:pt x="0" y="0"/>
                          </a:moveTo>
                          <a:cubicBezTo>
                            <a:pt x="19587" y="48967"/>
                            <a:pt x="23492" y="72527"/>
                            <a:pt x="55418" y="110837"/>
                          </a:cubicBezTo>
                          <a:cubicBezTo>
                            <a:pt x="96111" y="159668"/>
                            <a:pt x="122185" y="169202"/>
                            <a:pt x="180109" y="207818"/>
                          </a:cubicBezTo>
                          <a:lnTo>
                            <a:pt x="221673" y="235527"/>
                          </a:lnTo>
                          <a:lnTo>
                            <a:pt x="304800" y="290946"/>
                          </a:lnTo>
                          <a:cubicBezTo>
                            <a:pt x="318655" y="300182"/>
                            <a:pt x="330567" y="313390"/>
                            <a:pt x="346364" y="318655"/>
                          </a:cubicBezTo>
                          <a:lnTo>
                            <a:pt x="387927" y="332509"/>
                          </a:lnTo>
                          <a:cubicBezTo>
                            <a:pt x="467803" y="385759"/>
                            <a:pt x="390750" y="339656"/>
                            <a:pt x="471055" y="374073"/>
                          </a:cubicBezTo>
                          <a:cubicBezTo>
                            <a:pt x="526562" y="397862"/>
                            <a:pt x="516054" y="402641"/>
                            <a:pt x="568037" y="415637"/>
                          </a:cubicBezTo>
                          <a:cubicBezTo>
                            <a:pt x="590882" y="421348"/>
                            <a:pt x="614591" y="423295"/>
                            <a:pt x="637309" y="429491"/>
                          </a:cubicBezTo>
                          <a:cubicBezTo>
                            <a:pt x="665488" y="437176"/>
                            <a:pt x="691626" y="452398"/>
                            <a:pt x="720437" y="457200"/>
                          </a:cubicBezTo>
                          <a:lnTo>
                            <a:pt x="886691" y="484909"/>
                          </a:lnTo>
                          <a:lnTo>
                            <a:pt x="1052946" y="540327"/>
                          </a:lnTo>
                          <a:lnTo>
                            <a:pt x="1094509" y="554182"/>
                          </a:lnTo>
                          <a:cubicBezTo>
                            <a:pt x="1108364" y="558800"/>
                            <a:pt x="1123011" y="561506"/>
                            <a:pt x="1136073" y="568037"/>
                          </a:cubicBezTo>
                          <a:cubicBezTo>
                            <a:pt x="1154546" y="577273"/>
                            <a:pt x="1172153" y="588494"/>
                            <a:pt x="1191491" y="595746"/>
                          </a:cubicBezTo>
                          <a:cubicBezTo>
                            <a:pt x="1209320" y="602432"/>
                            <a:pt x="1228671" y="604129"/>
                            <a:pt x="1246909" y="609600"/>
                          </a:cubicBezTo>
                          <a:cubicBezTo>
                            <a:pt x="1274885" y="617993"/>
                            <a:pt x="1302328" y="628072"/>
                            <a:pt x="1330037" y="637309"/>
                          </a:cubicBezTo>
                          <a:lnTo>
                            <a:pt x="1371600" y="651164"/>
                          </a:lnTo>
                          <a:cubicBezTo>
                            <a:pt x="1385455" y="655782"/>
                            <a:pt x="1399604" y="659594"/>
                            <a:pt x="1413164" y="665018"/>
                          </a:cubicBezTo>
                          <a:cubicBezTo>
                            <a:pt x="1532590" y="712788"/>
                            <a:pt x="1433447" y="676750"/>
                            <a:pt x="1537855" y="706582"/>
                          </a:cubicBezTo>
                          <a:cubicBezTo>
                            <a:pt x="1551897" y="710594"/>
                            <a:pt x="1565250" y="716895"/>
                            <a:pt x="1579418" y="720437"/>
                          </a:cubicBezTo>
                          <a:cubicBezTo>
                            <a:pt x="1602263" y="726148"/>
                            <a:pt x="1625846" y="728580"/>
                            <a:pt x="1648691" y="734291"/>
                          </a:cubicBezTo>
                          <a:cubicBezTo>
                            <a:pt x="1662859" y="737833"/>
                            <a:pt x="1675934" y="745282"/>
                            <a:pt x="1690255" y="748146"/>
                          </a:cubicBezTo>
                          <a:cubicBezTo>
                            <a:pt x="1760474" y="762190"/>
                            <a:pt x="1875399" y="770015"/>
                            <a:pt x="1939637" y="775855"/>
                          </a:cubicBezTo>
                          <a:cubicBezTo>
                            <a:pt x="1998725" y="795550"/>
                            <a:pt x="1966596" y="789709"/>
                            <a:pt x="2036618" y="789709"/>
                          </a:cubicBezTo>
                        </a:path>
                      </a:pathLst>
                    </a:custGeom>
                    <a:ln w="28575">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7" name="Freeform 16"/>
                    <p:cNvSpPr/>
                    <p:nvPr/>
                  </p:nvSpPr>
                  <p:spPr>
                    <a:xfrm>
                      <a:off x="2479964" y="1163782"/>
                      <a:ext cx="2161309" cy="1233627"/>
                    </a:xfrm>
                    <a:custGeom>
                      <a:avLst/>
                      <a:gdLst>
                        <a:gd name="connsiteX0" fmla="*/ 0 w 2161309"/>
                        <a:gd name="connsiteY0" fmla="*/ 0 h 1233627"/>
                        <a:gd name="connsiteX1" fmla="*/ 41563 w 2161309"/>
                        <a:gd name="connsiteY1" fmla="*/ 166254 h 1233627"/>
                        <a:gd name="connsiteX2" fmla="*/ 83127 w 2161309"/>
                        <a:gd name="connsiteY2" fmla="*/ 290945 h 1233627"/>
                        <a:gd name="connsiteX3" fmla="*/ 110836 w 2161309"/>
                        <a:gd name="connsiteY3" fmla="*/ 374073 h 1233627"/>
                        <a:gd name="connsiteX4" fmla="*/ 152400 w 2161309"/>
                        <a:gd name="connsiteY4" fmla="*/ 457200 h 1233627"/>
                        <a:gd name="connsiteX5" fmla="*/ 166254 w 2161309"/>
                        <a:gd name="connsiteY5" fmla="*/ 512618 h 1233627"/>
                        <a:gd name="connsiteX6" fmla="*/ 221672 w 2161309"/>
                        <a:gd name="connsiteY6" fmla="*/ 595745 h 1233627"/>
                        <a:gd name="connsiteX7" fmla="*/ 277091 w 2161309"/>
                        <a:gd name="connsiteY7" fmla="*/ 678873 h 1233627"/>
                        <a:gd name="connsiteX8" fmla="*/ 346363 w 2161309"/>
                        <a:gd name="connsiteY8" fmla="*/ 748145 h 1233627"/>
                        <a:gd name="connsiteX9" fmla="*/ 429491 w 2161309"/>
                        <a:gd name="connsiteY9" fmla="*/ 845127 h 1233627"/>
                        <a:gd name="connsiteX10" fmla="*/ 512618 w 2161309"/>
                        <a:gd name="connsiteY10" fmla="*/ 900545 h 1233627"/>
                        <a:gd name="connsiteX11" fmla="*/ 595745 w 2161309"/>
                        <a:gd name="connsiteY11" fmla="*/ 955963 h 1233627"/>
                        <a:gd name="connsiteX12" fmla="*/ 692727 w 2161309"/>
                        <a:gd name="connsiteY12" fmla="*/ 997527 h 1233627"/>
                        <a:gd name="connsiteX13" fmla="*/ 734291 w 2161309"/>
                        <a:gd name="connsiteY13" fmla="*/ 1025236 h 1233627"/>
                        <a:gd name="connsiteX14" fmla="*/ 845127 w 2161309"/>
                        <a:gd name="connsiteY14" fmla="*/ 1052945 h 1233627"/>
                        <a:gd name="connsiteX15" fmla="*/ 900545 w 2161309"/>
                        <a:gd name="connsiteY15" fmla="*/ 1066800 h 1233627"/>
                        <a:gd name="connsiteX16" fmla="*/ 942109 w 2161309"/>
                        <a:gd name="connsiteY16" fmla="*/ 1080654 h 1233627"/>
                        <a:gd name="connsiteX17" fmla="*/ 1122218 w 2161309"/>
                        <a:gd name="connsiteY17" fmla="*/ 1108363 h 1233627"/>
                        <a:gd name="connsiteX18" fmla="*/ 1233054 w 2161309"/>
                        <a:gd name="connsiteY18" fmla="*/ 1136073 h 1233627"/>
                        <a:gd name="connsiteX19" fmla="*/ 1316181 w 2161309"/>
                        <a:gd name="connsiteY19" fmla="*/ 1163782 h 1233627"/>
                        <a:gd name="connsiteX20" fmla="*/ 1357745 w 2161309"/>
                        <a:gd name="connsiteY20" fmla="*/ 1177636 h 1233627"/>
                        <a:gd name="connsiteX21" fmla="*/ 1607127 w 2161309"/>
                        <a:gd name="connsiteY21" fmla="*/ 1205345 h 1233627"/>
                        <a:gd name="connsiteX22" fmla="*/ 2161309 w 2161309"/>
                        <a:gd name="connsiteY22" fmla="*/ 1219200 h 1233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61309" h="1233627">
                          <a:moveTo>
                            <a:pt x="0" y="0"/>
                          </a:moveTo>
                          <a:cubicBezTo>
                            <a:pt x="59080" y="147702"/>
                            <a:pt x="-1076" y="-18517"/>
                            <a:pt x="41563" y="166254"/>
                          </a:cubicBezTo>
                          <a:cubicBezTo>
                            <a:pt x="41569" y="166279"/>
                            <a:pt x="76195" y="270150"/>
                            <a:pt x="83127" y="290945"/>
                          </a:cubicBezTo>
                          <a:cubicBezTo>
                            <a:pt x="83129" y="290950"/>
                            <a:pt x="110833" y="374069"/>
                            <a:pt x="110836" y="374073"/>
                          </a:cubicBezTo>
                          <a:cubicBezTo>
                            <a:pt x="141195" y="419611"/>
                            <a:pt x="138060" y="407011"/>
                            <a:pt x="152400" y="457200"/>
                          </a:cubicBezTo>
                          <a:cubicBezTo>
                            <a:pt x="157631" y="475509"/>
                            <a:pt x="157739" y="495587"/>
                            <a:pt x="166254" y="512618"/>
                          </a:cubicBezTo>
                          <a:cubicBezTo>
                            <a:pt x="181147" y="542404"/>
                            <a:pt x="211141" y="564152"/>
                            <a:pt x="221672" y="595745"/>
                          </a:cubicBezTo>
                          <a:cubicBezTo>
                            <a:pt x="246021" y="668789"/>
                            <a:pt x="219435" y="609686"/>
                            <a:pt x="277091" y="678873"/>
                          </a:cubicBezTo>
                          <a:cubicBezTo>
                            <a:pt x="334818" y="748145"/>
                            <a:pt x="270164" y="697345"/>
                            <a:pt x="346363" y="748145"/>
                          </a:cubicBezTo>
                          <a:cubicBezTo>
                            <a:pt x="376328" y="793093"/>
                            <a:pt x="381494" y="806730"/>
                            <a:pt x="429491" y="845127"/>
                          </a:cubicBezTo>
                          <a:cubicBezTo>
                            <a:pt x="455496" y="865931"/>
                            <a:pt x="489070" y="876997"/>
                            <a:pt x="512618" y="900545"/>
                          </a:cubicBezTo>
                          <a:cubicBezTo>
                            <a:pt x="564507" y="952436"/>
                            <a:pt x="535593" y="935913"/>
                            <a:pt x="595745" y="955963"/>
                          </a:cubicBezTo>
                          <a:cubicBezTo>
                            <a:pt x="700090" y="1025528"/>
                            <a:pt x="567480" y="943851"/>
                            <a:pt x="692727" y="997527"/>
                          </a:cubicBezTo>
                          <a:cubicBezTo>
                            <a:pt x="708032" y="1004086"/>
                            <a:pt x="719398" y="1017789"/>
                            <a:pt x="734291" y="1025236"/>
                          </a:cubicBezTo>
                          <a:cubicBezTo>
                            <a:pt x="764004" y="1040093"/>
                            <a:pt x="816664" y="1046620"/>
                            <a:pt x="845127" y="1052945"/>
                          </a:cubicBezTo>
                          <a:cubicBezTo>
                            <a:pt x="863715" y="1057076"/>
                            <a:pt x="882236" y="1061569"/>
                            <a:pt x="900545" y="1066800"/>
                          </a:cubicBezTo>
                          <a:cubicBezTo>
                            <a:pt x="914587" y="1070812"/>
                            <a:pt x="927941" y="1077112"/>
                            <a:pt x="942109" y="1080654"/>
                          </a:cubicBezTo>
                          <a:cubicBezTo>
                            <a:pt x="1005587" y="1096524"/>
                            <a:pt x="1054904" y="1099949"/>
                            <a:pt x="1122218" y="1108363"/>
                          </a:cubicBezTo>
                          <a:cubicBezTo>
                            <a:pt x="1248314" y="1150397"/>
                            <a:pt x="1049176" y="1085924"/>
                            <a:pt x="1233054" y="1136073"/>
                          </a:cubicBezTo>
                          <a:cubicBezTo>
                            <a:pt x="1261233" y="1143758"/>
                            <a:pt x="1288472" y="1154546"/>
                            <a:pt x="1316181" y="1163782"/>
                          </a:cubicBezTo>
                          <a:cubicBezTo>
                            <a:pt x="1330036" y="1168400"/>
                            <a:pt x="1343213" y="1176183"/>
                            <a:pt x="1357745" y="1177636"/>
                          </a:cubicBezTo>
                          <a:cubicBezTo>
                            <a:pt x="1533339" y="1195196"/>
                            <a:pt x="1450237" y="1185734"/>
                            <a:pt x="1607127" y="1205345"/>
                          </a:cubicBezTo>
                          <a:cubicBezTo>
                            <a:pt x="1823835" y="1259524"/>
                            <a:pt x="1643504" y="1219200"/>
                            <a:pt x="2161309" y="1219200"/>
                          </a:cubicBezTo>
                        </a:path>
                      </a:pathLst>
                    </a:custGeom>
                    <a:ln w="28575">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8" name="Freeform 17"/>
                    <p:cNvSpPr/>
                    <p:nvPr/>
                  </p:nvSpPr>
                  <p:spPr>
                    <a:xfrm>
                      <a:off x="2479964" y="1233055"/>
                      <a:ext cx="2161309" cy="1579418"/>
                    </a:xfrm>
                    <a:custGeom>
                      <a:avLst/>
                      <a:gdLst>
                        <a:gd name="connsiteX0" fmla="*/ 0 w 2161309"/>
                        <a:gd name="connsiteY0" fmla="*/ 0 h 1579418"/>
                        <a:gd name="connsiteX1" fmla="*/ 27709 w 2161309"/>
                        <a:gd name="connsiteY1" fmla="*/ 69272 h 1579418"/>
                        <a:gd name="connsiteX2" fmla="*/ 41563 w 2161309"/>
                        <a:gd name="connsiteY2" fmla="*/ 152400 h 1579418"/>
                        <a:gd name="connsiteX3" fmla="*/ 69272 w 2161309"/>
                        <a:gd name="connsiteY3" fmla="*/ 318654 h 1579418"/>
                        <a:gd name="connsiteX4" fmla="*/ 83127 w 2161309"/>
                        <a:gd name="connsiteY4" fmla="*/ 471054 h 1579418"/>
                        <a:gd name="connsiteX5" fmla="*/ 124691 w 2161309"/>
                        <a:gd name="connsiteY5" fmla="*/ 595745 h 1579418"/>
                        <a:gd name="connsiteX6" fmla="*/ 138545 w 2161309"/>
                        <a:gd name="connsiteY6" fmla="*/ 637309 h 1579418"/>
                        <a:gd name="connsiteX7" fmla="*/ 166254 w 2161309"/>
                        <a:gd name="connsiteY7" fmla="*/ 678872 h 1579418"/>
                        <a:gd name="connsiteX8" fmla="*/ 193963 w 2161309"/>
                        <a:gd name="connsiteY8" fmla="*/ 762000 h 1579418"/>
                        <a:gd name="connsiteX9" fmla="*/ 249381 w 2161309"/>
                        <a:gd name="connsiteY9" fmla="*/ 858981 h 1579418"/>
                        <a:gd name="connsiteX10" fmla="*/ 304800 w 2161309"/>
                        <a:gd name="connsiteY10" fmla="*/ 1011381 h 1579418"/>
                        <a:gd name="connsiteX11" fmla="*/ 346363 w 2161309"/>
                        <a:gd name="connsiteY11" fmla="*/ 1094509 h 1579418"/>
                        <a:gd name="connsiteX12" fmla="*/ 360218 w 2161309"/>
                        <a:gd name="connsiteY12" fmla="*/ 1136072 h 1579418"/>
                        <a:gd name="connsiteX13" fmla="*/ 401781 w 2161309"/>
                        <a:gd name="connsiteY13" fmla="*/ 1163781 h 1579418"/>
                        <a:gd name="connsiteX14" fmla="*/ 471054 w 2161309"/>
                        <a:gd name="connsiteY14" fmla="*/ 1246909 h 1579418"/>
                        <a:gd name="connsiteX15" fmla="*/ 512618 w 2161309"/>
                        <a:gd name="connsiteY15" fmla="*/ 1260763 h 1579418"/>
                        <a:gd name="connsiteX16" fmla="*/ 595745 w 2161309"/>
                        <a:gd name="connsiteY16" fmla="*/ 1316181 h 1579418"/>
                        <a:gd name="connsiteX17" fmla="*/ 720436 w 2161309"/>
                        <a:gd name="connsiteY17" fmla="*/ 1371600 h 1579418"/>
                        <a:gd name="connsiteX18" fmla="*/ 872836 w 2161309"/>
                        <a:gd name="connsiteY18" fmla="*/ 1399309 h 1579418"/>
                        <a:gd name="connsiteX19" fmla="*/ 942109 w 2161309"/>
                        <a:gd name="connsiteY19" fmla="*/ 1413163 h 1579418"/>
                        <a:gd name="connsiteX20" fmla="*/ 1039091 w 2161309"/>
                        <a:gd name="connsiteY20" fmla="*/ 1427018 h 1579418"/>
                        <a:gd name="connsiteX21" fmla="*/ 1108363 w 2161309"/>
                        <a:gd name="connsiteY21" fmla="*/ 1440872 h 1579418"/>
                        <a:gd name="connsiteX22" fmla="*/ 1205345 w 2161309"/>
                        <a:gd name="connsiteY22" fmla="*/ 1468581 h 1579418"/>
                        <a:gd name="connsiteX23" fmla="*/ 1316181 w 2161309"/>
                        <a:gd name="connsiteY23" fmla="*/ 1482436 h 1579418"/>
                        <a:gd name="connsiteX24" fmla="*/ 1524000 w 2161309"/>
                        <a:gd name="connsiteY24" fmla="*/ 1510145 h 1579418"/>
                        <a:gd name="connsiteX25" fmla="*/ 1565563 w 2161309"/>
                        <a:gd name="connsiteY25" fmla="*/ 1524000 h 1579418"/>
                        <a:gd name="connsiteX26" fmla="*/ 2119745 w 2161309"/>
                        <a:gd name="connsiteY26" fmla="*/ 1565563 h 1579418"/>
                        <a:gd name="connsiteX27" fmla="*/ 2161309 w 2161309"/>
                        <a:gd name="connsiteY27" fmla="*/ 1579418 h 157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161309" h="1579418">
                          <a:moveTo>
                            <a:pt x="0" y="0"/>
                          </a:moveTo>
                          <a:cubicBezTo>
                            <a:pt x="9236" y="23091"/>
                            <a:pt x="21166" y="45279"/>
                            <a:pt x="27709" y="69272"/>
                          </a:cubicBezTo>
                          <a:cubicBezTo>
                            <a:pt x="35100" y="96374"/>
                            <a:pt x="36538" y="124762"/>
                            <a:pt x="41563" y="152400"/>
                          </a:cubicBezTo>
                          <a:cubicBezTo>
                            <a:pt x="57638" y="240814"/>
                            <a:pt x="57891" y="216221"/>
                            <a:pt x="69272" y="318654"/>
                          </a:cubicBezTo>
                          <a:cubicBezTo>
                            <a:pt x="74905" y="369352"/>
                            <a:pt x="74262" y="420821"/>
                            <a:pt x="83127" y="471054"/>
                          </a:cubicBezTo>
                          <a:cubicBezTo>
                            <a:pt x="83128" y="471062"/>
                            <a:pt x="117763" y="574960"/>
                            <a:pt x="124691" y="595745"/>
                          </a:cubicBezTo>
                          <a:cubicBezTo>
                            <a:pt x="129309" y="609600"/>
                            <a:pt x="130444" y="625158"/>
                            <a:pt x="138545" y="637309"/>
                          </a:cubicBezTo>
                          <a:cubicBezTo>
                            <a:pt x="147781" y="651163"/>
                            <a:pt x="159491" y="663656"/>
                            <a:pt x="166254" y="678872"/>
                          </a:cubicBezTo>
                          <a:cubicBezTo>
                            <a:pt x="178117" y="705563"/>
                            <a:pt x="180901" y="735875"/>
                            <a:pt x="193963" y="762000"/>
                          </a:cubicBezTo>
                          <a:cubicBezTo>
                            <a:pt x="229119" y="832311"/>
                            <a:pt x="210216" y="800234"/>
                            <a:pt x="249381" y="858981"/>
                          </a:cubicBezTo>
                          <a:cubicBezTo>
                            <a:pt x="281130" y="985972"/>
                            <a:pt x="255966" y="938131"/>
                            <a:pt x="304800" y="1011381"/>
                          </a:cubicBezTo>
                          <a:cubicBezTo>
                            <a:pt x="339619" y="1115843"/>
                            <a:pt x="292653" y="987090"/>
                            <a:pt x="346363" y="1094509"/>
                          </a:cubicBezTo>
                          <a:cubicBezTo>
                            <a:pt x="352894" y="1107571"/>
                            <a:pt x="351095" y="1124668"/>
                            <a:pt x="360218" y="1136072"/>
                          </a:cubicBezTo>
                          <a:cubicBezTo>
                            <a:pt x="370620" y="1149074"/>
                            <a:pt x="387927" y="1154545"/>
                            <a:pt x="401781" y="1163781"/>
                          </a:cubicBezTo>
                          <a:cubicBezTo>
                            <a:pt x="422226" y="1194448"/>
                            <a:pt x="439054" y="1225576"/>
                            <a:pt x="471054" y="1246909"/>
                          </a:cubicBezTo>
                          <a:cubicBezTo>
                            <a:pt x="483205" y="1255010"/>
                            <a:pt x="498763" y="1256145"/>
                            <a:pt x="512618" y="1260763"/>
                          </a:cubicBezTo>
                          <a:cubicBezTo>
                            <a:pt x="540327" y="1279236"/>
                            <a:pt x="565959" y="1301288"/>
                            <a:pt x="595745" y="1316181"/>
                          </a:cubicBezTo>
                          <a:cubicBezTo>
                            <a:pt x="636677" y="1336647"/>
                            <a:pt x="676216" y="1358334"/>
                            <a:pt x="720436" y="1371600"/>
                          </a:cubicBezTo>
                          <a:cubicBezTo>
                            <a:pt x="746749" y="1379494"/>
                            <a:pt x="850589" y="1395264"/>
                            <a:pt x="872836" y="1399309"/>
                          </a:cubicBezTo>
                          <a:cubicBezTo>
                            <a:pt x="896004" y="1403521"/>
                            <a:pt x="918881" y="1409292"/>
                            <a:pt x="942109" y="1413163"/>
                          </a:cubicBezTo>
                          <a:cubicBezTo>
                            <a:pt x="974320" y="1418532"/>
                            <a:pt x="1006880" y="1421649"/>
                            <a:pt x="1039091" y="1427018"/>
                          </a:cubicBezTo>
                          <a:cubicBezTo>
                            <a:pt x="1062319" y="1430889"/>
                            <a:pt x="1085518" y="1435161"/>
                            <a:pt x="1108363" y="1440872"/>
                          </a:cubicBezTo>
                          <a:cubicBezTo>
                            <a:pt x="1174259" y="1457346"/>
                            <a:pt x="1127586" y="1455621"/>
                            <a:pt x="1205345" y="1468581"/>
                          </a:cubicBezTo>
                          <a:cubicBezTo>
                            <a:pt x="1242071" y="1474702"/>
                            <a:pt x="1279236" y="1477818"/>
                            <a:pt x="1316181" y="1482436"/>
                          </a:cubicBezTo>
                          <a:cubicBezTo>
                            <a:pt x="1422374" y="1517832"/>
                            <a:pt x="1297983" y="1480008"/>
                            <a:pt x="1524000" y="1510145"/>
                          </a:cubicBezTo>
                          <a:cubicBezTo>
                            <a:pt x="1538476" y="1512075"/>
                            <a:pt x="1551072" y="1522189"/>
                            <a:pt x="1565563" y="1524000"/>
                          </a:cubicBezTo>
                          <a:cubicBezTo>
                            <a:pt x="1788352" y="1551849"/>
                            <a:pt x="1899588" y="1553976"/>
                            <a:pt x="2119745" y="1565563"/>
                          </a:cubicBezTo>
                          <a:lnTo>
                            <a:pt x="2161309" y="1579418"/>
                          </a:lnTo>
                        </a:path>
                      </a:pathLst>
                    </a:custGeom>
                    <a:ln w="28575">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grpSp>
          <p:sp>
            <p:nvSpPr>
              <p:cNvPr id="22" name="Freeform 21"/>
              <p:cNvSpPr/>
              <p:nvPr/>
            </p:nvSpPr>
            <p:spPr>
              <a:xfrm>
                <a:off x="2493818" y="1163782"/>
                <a:ext cx="2216727" cy="2272145"/>
              </a:xfrm>
              <a:custGeom>
                <a:avLst/>
                <a:gdLst>
                  <a:gd name="connsiteX0" fmla="*/ 0 w 2216727"/>
                  <a:gd name="connsiteY0" fmla="*/ 0 h 2272145"/>
                  <a:gd name="connsiteX1" fmla="*/ 13855 w 2216727"/>
                  <a:gd name="connsiteY1" fmla="*/ 706582 h 2272145"/>
                  <a:gd name="connsiteX2" fmla="*/ 27709 w 2216727"/>
                  <a:gd name="connsiteY2" fmla="*/ 748145 h 2272145"/>
                  <a:gd name="connsiteX3" fmla="*/ 41564 w 2216727"/>
                  <a:gd name="connsiteY3" fmla="*/ 803563 h 2272145"/>
                  <a:gd name="connsiteX4" fmla="*/ 69273 w 2216727"/>
                  <a:gd name="connsiteY4" fmla="*/ 955963 h 2272145"/>
                  <a:gd name="connsiteX5" fmla="*/ 96982 w 2216727"/>
                  <a:gd name="connsiteY5" fmla="*/ 1011382 h 2272145"/>
                  <a:gd name="connsiteX6" fmla="*/ 124691 w 2216727"/>
                  <a:gd name="connsiteY6" fmla="*/ 1108363 h 2272145"/>
                  <a:gd name="connsiteX7" fmla="*/ 152400 w 2216727"/>
                  <a:gd name="connsiteY7" fmla="*/ 1219200 h 2272145"/>
                  <a:gd name="connsiteX8" fmla="*/ 235527 w 2216727"/>
                  <a:gd name="connsiteY8" fmla="*/ 1302327 h 2272145"/>
                  <a:gd name="connsiteX9" fmla="*/ 304800 w 2216727"/>
                  <a:gd name="connsiteY9" fmla="*/ 1371600 h 2272145"/>
                  <a:gd name="connsiteX10" fmla="*/ 360218 w 2216727"/>
                  <a:gd name="connsiteY10" fmla="*/ 1399309 h 2272145"/>
                  <a:gd name="connsiteX11" fmla="*/ 443346 w 2216727"/>
                  <a:gd name="connsiteY11" fmla="*/ 1454727 h 2272145"/>
                  <a:gd name="connsiteX12" fmla="*/ 554182 w 2216727"/>
                  <a:gd name="connsiteY12" fmla="*/ 1496291 h 2272145"/>
                  <a:gd name="connsiteX13" fmla="*/ 595746 w 2216727"/>
                  <a:gd name="connsiteY13" fmla="*/ 1524000 h 2272145"/>
                  <a:gd name="connsiteX14" fmla="*/ 651164 w 2216727"/>
                  <a:gd name="connsiteY14" fmla="*/ 1565563 h 2272145"/>
                  <a:gd name="connsiteX15" fmla="*/ 706582 w 2216727"/>
                  <a:gd name="connsiteY15" fmla="*/ 1579418 h 2272145"/>
                  <a:gd name="connsiteX16" fmla="*/ 748146 w 2216727"/>
                  <a:gd name="connsiteY16" fmla="*/ 1593273 h 2272145"/>
                  <a:gd name="connsiteX17" fmla="*/ 858982 w 2216727"/>
                  <a:gd name="connsiteY17" fmla="*/ 1648691 h 2272145"/>
                  <a:gd name="connsiteX18" fmla="*/ 914400 w 2216727"/>
                  <a:gd name="connsiteY18" fmla="*/ 1676400 h 2272145"/>
                  <a:gd name="connsiteX19" fmla="*/ 1025237 w 2216727"/>
                  <a:gd name="connsiteY19" fmla="*/ 1717963 h 2272145"/>
                  <a:gd name="connsiteX20" fmla="*/ 1066800 w 2216727"/>
                  <a:gd name="connsiteY20" fmla="*/ 1745673 h 2272145"/>
                  <a:gd name="connsiteX21" fmla="*/ 1191491 w 2216727"/>
                  <a:gd name="connsiteY21" fmla="*/ 1787236 h 2272145"/>
                  <a:gd name="connsiteX22" fmla="*/ 1233055 w 2216727"/>
                  <a:gd name="connsiteY22" fmla="*/ 1801091 h 2272145"/>
                  <a:gd name="connsiteX23" fmla="*/ 1316182 w 2216727"/>
                  <a:gd name="connsiteY23" fmla="*/ 1828800 h 2272145"/>
                  <a:gd name="connsiteX24" fmla="*/ 1357746 w 2216727"/>
                  <a:gd name="connsiteY24" fmla="*/ 1842654 h 2272145"/>
                  <a:gd name="connsiteX25" fmla="*/ 1399309 w 2216727"/>
                  <a:gd name="connsiteY25" fmla="*/ 1884218 h 2272145"/>
                  <a:gd name="connsiteX26" fmla="*/ 1440873 w 2216727"/>
                  <a:gd name="connsiteY26" fmla="*/ 1898073 h 2272145"/>
                  <a:gd name="connsiteX27" fmla="*/ 1537855 w 2216727"/>
                  <a:gd name="connsiteY27" fmla="*/ 1925782 h 2272145"/>
                  <a:gd name="connsiteX28" fmla="*/ 1648691 w 2216727"/>
                  <a:gd name="connsiteY28" fmla="*/ 1967345 h 2272145"/>
                  <a:gd name="connsiteX29" fmla="*/ 1690255 w 2216727"/>
                  <a:gd name="connsiteY29" fmla="*/ 1995054 h 2272145"/>
                  <a:gd name="connsiteX30" fmla="*/ 1731818 w 2216727"/>
                  <a:gd name="connsiteY30" fmla="*/ 2008909 h 2272145"/>
                  <a:gd name="connsiteX31" fmla="*/ 1814946 w 2216727"/>
                  <a:gd name="connsiteY31" fmla="*/ 2064327 h 2272145"/>
                  <a:gd name="connsiteX32" fmla="*/ 1856509 w 2216727"/>
                  <a:gd name="connsiteY32" fmla="*/ 2092036 h 2272145"/>
                  <a:gd name="connsiteX33" fmla="*/ 1911927 w 2216727"/>
                  <a:gd name="connsiteY33" fmla="*/ 2119745 h 2272145"/>
                  <a:gd name="connsiteX34" fmla="*/ 1995055 w 2216727"/>
                  <a:gd name="connsiteY34" fmla="*/ 2175163 h 2272145"/>
                  <a:gd name="connsiteX35" fmla="*/ 2036618 w 2216727"/>
                  <a:gd name="connsiteY35" fmla="*/ 2189018 h 2272145"/>
                  <a:gd name="connsiteX36" fmla="*/ 2092037 w 2216727"/>
                  <a:gd name="connsiteY36" fmla="*/ 2216727 h 2272145"/>
                  <a:gd name="connsiteX37" fmla="*/ 2175164 w 2216727"/>
                  <a:gd name="connsiteY37" fmla="*/ 2272145 h 2272145"/>
                  <a:gd name="connsiteX38" fmla="*/ 2216727 w 2216727"/>
                  <a:gd name="connsiteY38" fmla="*/ 2272145 h 2272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216727" h="2272145">
                    <a:moveTo>
                      <a:pt x="0" y="0"/>
                    </a:moveTo>
                    <a:cubicBezTo>
                      <a:pt x="4618" y="235527"/>
                      <a:pt x="5136" y="471171"/>
                      <a:pt x="13855" y="706582"/>
                    </a:cubicBezTo>
                    <a:cubicBezTo>
                      <a:pt x="14396" y="721176"/>
                      <a:pt x="23697" y="734103"/>
                      <a:pt x="27709" y="748145"/>
                    </a:cubicBezTo>
                    <a:cubicBezTo>
                      <a:pt x="32940" y="766454"/>
                      <a:pt x="37830" y="784892"/>
                      <a:pt x="41564" y="803563"/>
                    </a:cubicBezTo>
                    <a:cubicBezTo>
                      <a:pt x="45056" y="821022"/>
                      <a:pt x="61840" y="933664"/>
                      <a:pt x="69273" y="955963"/>
                    </a:cubicBezTo>
                    <a:cubicBezTo>
                      <a:pt x="75804" y="975556"/>
                      <a:pt x="89924" y="991972"/>
                      <a:pt x="96982" y="1011382"/>
                    </a:cubicBezTo>
                    <a:cubicBezTo>
                      <a:pt x="108472" y="1042978"/>
                      <a:pt x="116028" y="1075878"/>
                      <a:pt x="124691" y="1108363"/>
                    </a:cubicBezTo>
                    <a:cubicBezTo>
                      <a:pt x="134503" y="1145160"/>
                      <a:pt x="129550" y="1188734"/>
                      <a:pt x="152400" y="1219200"/>
                    </a:cubicBezTo>
                    <a:cubicBezTo>
                      <a:pt x="242266" y="1339019"/>
                      <a:pt x="147125" y="1224975"/>
                      <a:pt x="235527" y="1302327"/>
                    </a:cubicBezTo>
                    <a:cubicBezTo>
                      <a:pt x="260103" y="1323831"/>
                      <a:pt x="275592" y="1356996"/>
                      <a:pt x="304800" y="1371600"/>
                    </a:cubicBezTo>
                    <a:cubicBezTo>
                      <a:pt x="323273" y="1380836"/>
                      <a:pt x="342508" y="1388683"/>
                      <a:pt x="360218" y="1399309"/>
                    </a:cubicBezTo>
                    <a:cubicBezTo>
                      <a:pt x="388775" y="1416443"/>
                      <a:pt x="411753" y="1444195"/>
                      <a:pt x="443346" y="1454727"/>
                    </a:cubicBezTo>
                    <a:cubicBezTo>
                      <a:pt x="479315" y="1466717"/>
                      <a:pt x="521054" y="1479727"/>
                      <a:pt x="554182" y="1496291"/>
                    </a:cubicBezTo>
                    <a:cubicBezTo>
                      <a:pt x="569075" y="1503738"/>
                      <a:pt x="582196" y="1514322"/>
                      <a:pt x="595746" y="1524000"/>
                    </a:cubicBezTo>
                    <a:cubicBezTo>
                      <a:pt x="614536" y="1537421"/>
                      <a:pt x="630511" y="1555237"/>
                      <a:pt x="651164" y="1565563"/>
                    </a:cubicBezTo>
                    <a:cubicBezTo>
                      <a:pt x="668195" y="1574078"/>
                      <a:pt x="688273" y="1574187"/>
                      <a:pt x="706582" y="1579418"/>
                    </a:cubicBezTo>
                    <a:cubicBezTo>
                      <a:pt x="720624" y="1583430"/>
                      <a:pt x="734851" y="1587230"/>
                      <a:pt x="748146" y="1593273"/>
                    </a:cubicBezTo>
                    <a:cubicBezTo>
                      <a:pt x="785750" y="1610366"/>
                      <a:pt x="822037" y="1630218"/>
                      <a:pt x="858982" y="1648691"/>
                    </a:cubicBezTo>
                    <a:cubicBezTo>
                      <a:pt x="877455" y="1657927"/>
                      <a:pt x="894807" y="1669869"/>
                      <a:pt x="914400" y="1676400"/>
                    </a:cubicBezTo>
                    <a:cubicBezTo>
                      <a:pt x="950374" y="1688391"/>
                      <a:pt x="992102" y="1701395"/>
                      <a:pt x="1025237" y="1717963"/>
                    </a:cubicBezTo>
                    <a:cubicBezTo>
                      <a:pt x="1040130" y="1725410"/>
                      <a:pt x="1051430" y="1739269"/>
                      <a:pt x="1066800" y="1745673"/>
                    </a:cubicBezTo>
                    <a:cubicBezTo>
                      <a:pt x="1107242" y="1762524"/>
                      <a:pt x="1149927" y="1773382"/>
                      <a:pt x="1191491" y="1787236"/>
                    </a:cubicBezTo>
                    <a:lnTo>
                      <a:pt x="1233055" y="1801091"/>
                    </a:lnTo>
                    <a:lnTo>
                      <a:pt x="1316182" y="1828800"/>
                    </a:lnTo>
                    <a:lnTo>
                      <a:pt x="1357746" y="1842654"/>
                    </a:lnTo>
                    <a:cubicBezTo>
                      <a:pt x="1371600" y="1856509"/>
                      <a:pt x="1383007" y="1873350"/>
                      <a:pt x="1399309" y="1884218"/>
                    </a:cubicBezTo>
                    <a:cubicBezTo>
                      <a:pt x="1411460" y="1892319"/>
                      <a:pt x="1426831" y="1894061"/>
                      <a:pt x="1440873" y="1898073"/>
                    </a:cubicBezTo>
                    <a:cubicBezTo>
                      <a:pt x="1476034" y="1908119"/>
                      <a:pt x="1504631" y="1911543"/>
                      <a:pt x="1537855" y="1925782"/>
                    </a:cubicBezTo>
                    <a:cubicBezTo>
                      <a:pt x="1639280" y="1969250"/>
                      <a:pt x="1546522" y="1941804"/>
                      <a:pt x="1648691" y="1967345"/>
                    </a:cubicBezTo>
                    <a:cubicBezTo>
                      <a:pt x="1662546" y="1976581"/>
                      <a:pt x="1675362" y="1987607"/>
                      <a:pt x="1690255" y="1995054"/>
                    </a:cubicBezTo>
                    <a:cubicBezTo>
                      <a:pt x="1703317" y="2001585"/>
                      <a:pt x="1719052" y="2001817"/>
                      <a:pt x="1731818" y="2008909"/>
                    </a:cubicBezTo>
                    <a:cubicBezTo>
                      <a:pt x="1760929" y="2025082"/>
                      <a:pt x="1787237" y="2045854"/>
                      <a:pt x="1814946" y="2064327"/>
                    </a:cubicBezTo>
                    <a:cubicBezTo>
                      <a:pt x="1828800" y="2073563"/>
                      <a:pt x="1841616" y="2084589"/>
                      <a:pt x="1856509" y="2092036"/>
                    </a:cubicBezTo>
                    <a:cubicBezTo>
                      <a:pt x="1874982" y="2101272"/>
                      <a:pt x="1894217" y="2109119"/>
                      <a:pt x="1911927" y="2119745"/>
                    </a:cubicBezTo>
                    <a:cubicBezTo>
                      <a:pt x="1940484" y="2136879"/>
                      <a:pt x="1963462" y="2164631"/>
                      <a:pt x="1995055" y="2175163"/>
                    </a:cubicBezTo>
                    <a:cubicBezTo>
                      <a:pt x="2008909" y="2179781"/>
                      <a:pt x="2023195" y="2183265"/>
                      <a:pt x="2036618" y="2189018"/>
                    </a:cubicBezTo>
                    <a:cubicBezTo>
                      <a:pt x="2055601" y="2197154"/>
                      <a:pt x="2074327" y="2206101"/>
                      <a:pt x="2092037" y="2216727"/>
                    </a:cubicBezTo>
                    <a:cubicBezTo>
                      <a:pt x="2120593" y="2233861"/>
                      <a:pt x="2141862" y="2272145"/>
                      <a:pt x="2175164" y="2272145"/>
                    </a:cubicBezTo>
                    <a:lnTo>
                      <a:pt x="2216727" y="2272145"/>
                    </a:lnTo>
                  </a:path>
                </a:pathLst>
              </a:custGeom>
              <a:ln w="28575">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grpSp>
          <p:nvGrpSpPr>
            <p:cNvPr id="28" name="Group 27"/>
            <p:cNvGrpSpPr/>
            <p:nvPr/>
          </p:nvGrpSpPr>
          <p:grpSpPr>
            <a:xfrm>
              <a:off x="6289964" y="2989605"/>
              <a:ext cx="3435651" cy="943181"/>
              <a:chOff x="6289964" y="2989605"/>
              <a:chExt cx="3435651" cy="943181"/>
            </a:xfrm>
          </p:grpSpPr>
          <p:sp>
            <p:nvSpPr>
              <p:cNvPr id="25" name="Freeform 24"/>
              <p:cNvSpPr/>
              <p:nvPr/>
            </p:nvSpPr>
            <p:spPr>
              <a:xfrm>
                <a:off x="6289964" y="3144982"/>
                <a:ext cx="1524000" cy="304800"/>
              </a:xfrm>
              <a:custGeom>
                <a:avLst/>
                <a:gdLst>
                  <a:gd name="connsiteX0" fmla="*/ 0 w 1524000"/>
                  <a:gd name="connsiteY0" fmla="*/ 304800 h 304800"/>
                  <a:gd name="connsiteX1" fmla="*/ 415636 w 1524000"/>
                  <a:gd name="connsiteY1" fmla="*/ 277091 h 304800"/>
                  <a:gd name="connsiteX2" fmla="*/ 415636 w 1524000"/>
                  <a:gd name="connsiteY2" fmla="*/ 277091 h 304800"/>
                  <a:gd name="connsiteX3" fmla="*/ 845127 w 1524000"/>
                  <a:gd name="connsiteY3" fmla="*/ 0 h 304800"/>
                  <a:gd name="connsiteX4" fmla="*/ 845127 w 1524000"/>
                  <a:gd name="connsiteY4" fmla="*/ 0 h 304800"/>
                  <a:gd name="connsiteX5" fmla="*/ 1496291 w 1524000"/>
                  <a:gd name="connsiteY5" fmla="*/ 27709 h 304800"/>
                  <a:gd name="connsiteX6" fmla="*/ 1496291 w 1524000"/>
                  <a:gd name="connsiteY6" fmla="*/ 27709 h 304800"/>
                  <a:gd name="connsiteX7" fmla="*/ 1496291 w 1524000"/>
                  <a:gd name="connsiteY7" fmla="*/ 27709 h 304800"/>
                  <a:gd name="connsiteX8" fmla="*/ 1524000 w 1524000"/>
                  <a:gd name="connsiteY8" fmla="*/ 27709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0" h="304800">
                    <a:moveTo>
                      <a:pt x="0" y="304800"/>
                    </a:moveTo>
                    <a:lnTo>
                      <a:pt x="415636" y="277091"/>
                    </a:lnTo>
                    <a:lnTo>
                      <a:pt x="415636" y="277091"/>
                    </a:lnTo>
                    <a:lnTo>
                      <a:pt x="845127" y="0"/>
                    </a:lnTo>
                    <a:lnTo>
                      <a:pt x="845127" y="0"/>
                    </a:lnTo>
                    <a:lnTo>
                      <a:pt x="1496291" y="27709"/>
                    </a:lnTo>
                    <a:lnTo>
                      <a:pt x="1496291" y="27709"/>
                    </a:lnTo>
                    <a:lnTo>
                      <a:pt x="1496291" y="27709"/>
                    </a:lnTo>
                    <a:lnTo>
                      <a:pt x="1524000" y="27709"/>
                    </a:lnTo>
                  </a:path>
                </a:pathLst>
              </a:custGeom>
              <a:ln w="28575">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6" name="Freeform 25"/>
              <p:cNvSpPr/>
              <p:nvPr/>
            </p:nvSpPr>
            <p:spPr>
              <a:xfrm>
                <a:off x="6345382" y="3463636"/>
                <a:ext cx="1617389" cy="235528"/>
              </a:xfrm>
              <a:custGeom>
                <a:avLst/>
                <a:gdLst>
                  <a:gd name="connsiteX0" fmla="*/ 0 w 1617389"/>
                  <a:gd name="connsiteY0" fmla="*/ 0 h 235528"/>
                  <a:gd name="connsiteX1" fmla="*/ 665018 w 1617389"/>
                  <a:gd name="connsiteY1" fmla="*/ 207819 h 235528"/>
                  <a:gd name="connsiteX2" fmla="*/ 665018 w 1617389"/>
                  <a:gd name="connsiteY2" fmla="*/ 207819 h 235528"/>
                  <a:gd name="connsiteX3" fmla="*/ 1551709 w 1617389"/>
                  <a:gd name="connsiteY3" fmla="*/ 207819 h 235528"/>
                  <a:gd name="connsiteX4" fmla="*/ 1551709 w 1617389"/>
                  <a:gd name="connsiteY4" fmla="*/ 180109 h 235528"/>
                  <a:gd name="connsiteX5" fmla="*/ 1551709 w 1617389"/>
                  <a:gd name="connsiteY5" fmla="*/ 235528 h 235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7389" h="235528">
                    <a:moveTo>
                      <a:pt x="0" y="0"/>
                    </a:moveTo>
                    <a:lnTo>
                      <a:pt x="665018" y="207819"/>
                    </a:lnTo>
                    <a:lnTo>
                      <a:pt x="665018" y="207819"/>
                    </a:lnTo>
                    <a:lnTo>
                      <a:pt x="1551709" y="207819"/>
                    </a:lnTo>
                    <a:cubicBezTo>
                      <a:pt x="1699491" y="203201"/>
                      <a:pt x="1551709" y="180109"/>
                      <a:pt x="1551709" y="180109"/>
                    </a:cubicBezTo>
                    <a:lnTo>
                      <a:pt x="1551709" y="235528"/>
                    </a:lnTo>
                  </a:path>
                </a:pathLst>
              </a:custGeom>
              <a:ln w="28575">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7" name="TextBox 26"/>
              <p:cNvSpPr txBox="1"/>
              <p:nvPr/>
            </p:nvSpPr>
            <p:spPr>
              <a:xfrm>
                <a:off x="7876219" y="2989605"/>
                <a:ext cx="1669047" cy="276999"/>
              </a:xfrm>
              <a:prstGeom prst="rect">
                <a:avLst/>
              </a:prstGeom>
              <a:noFill/>
            </p:spPr>
            <p:txBody>
              <a:bodyPr wrap="none" rtlCol="0">
                <a:spAutoFit/>
              </a:bodyPr>
              <a:lstStyle/>
              <a:p>
                <a:r>
                  <a:rPr lang="en-US" sz="1200" dirty="0">
                    <a:latin typeface="Bahnschrift" pitchFamily="34" charset="0"/>
                  </a:rPr>
                  <a:t>Improve the accuracy</a:t>
                </a:r>
                <a:endParaRPr lang="en-IN" sz="1200" dirty="0">
                  <a:latin typeface="Bahnschrift" pitchFamily="34" charset="0"/>
                </a:endParaRPr>
              </a:p>
            </p:txBody>
          </p:sp>
          <p:sp>
            <p:nvSpPr>
              <p:cNvPr id="29" name="TextBox 28"/>
              <p:cNvSpPr txBox="1"/>
              <p:nvPr/>
            </p:nvSpPr>
            <p:spPr>
              <a:xfrm>
                <a:off x="7955579" y="3471121"/>
                <a:ext cx="1770036" cy="461665"/>
              </a:xfrm>
              <a:prstGeom prst="rect">
                <a:avLst/>
              </a:prstGeom>
              <a:noFill/>
            </p:spPr>
            <p:txBody>
              <a:bodyPr wrap="none" rtlCol="0">
                <a:spAutoFit/>
              </a:bodyPr>
              <a:lstStyle/>
              <a:p>
                <a:pPr algn="ctr"/>
                <a:r>
                  <a:rPr lang="en-US" sz="1200" dirty="0" smtClean="0">
                    <a:latin typeface="Bahnschrift" pitchFamily="34" charset="0"/>
                  </a:rPr>
                  <a:t>More computing </a:t>
                </a:r>
                <a:r>
                  <a:rPr lang="en-US" sz="1200" b="1" dirty="0" smtClean="0">
                    <a:solidFill>
                      <a:srgbClr val="006600"/>
                    </a:solidFill>
                    <a:latin typeface="Bahnschrift" pitchFamily="34" charset="0"/>
                  </a:rPr>
                  <a:t>power</a:t>
                </a:r>
              </a:p>
              <a:p>
                <a:pPr algn="ctr"/>
                <a:r>
                  <a:rPr lang="en-US" sz="1200" dirty="0" smtClean="0">
                    <a:latin typeface="Bahnschrift" pitchFamily="34" charset="0"/>
                  </a:rPr>
                  <a:t>(memory, latency)</a:t>
                </a:r>
                <a:endParaRPr lang="en-IN" sz="1200" dirty="0">
                  <a:latin typeface="Bahnschrift" pitchFamily="34" charset="0"/>
                </a:endParaRPr>
              </a:p>
            </p:txBody>
          </p:sp>
        </p:grpSp>
      </p:grpSp>
    </p:spTree>
    <p:extLst>
      <p:ext uri="{BB962C8B-B14F-4D97-AF65-F5344CB8AC3E}">
        <p14:creationId xmlns:p14="http://schemas.microsoft.com/office/powerpoint/2010/main" val="24754032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8" name="Group 7"/>
          <p:cNvGrpSpPr/>
          <p:nvPr/>
        </p:nvGrpSpPr>
        <p:grpSpPr>
          <a:xfrm>
            <a:off x="775855" y="2029085"/>
            <a:ext cx="10723418" cy="2664481"/>
            <a:chOff x="1149928" y="1598197"/>
            <a:chExt cx="10723418" cy="2664481"/>
          </a:xfrm>
        </p:grpSpPr>
        <p:sp>
          <p:nvSpPr>
            <p:cNvPr id="3" name="Rectangle 2"/>
            <p:cNvSpPr/>
            <p:nvPr/>
          </p:nvSpPr>
          <p:spPr>
            <a:xfrm>
              <a:off x="1149928" y="1598197"/>
              <a:ext cx="5375563" cy="861774"/>
            </a:xfrm>
            <a:prstGeom prst="rect">
              <a:avLst/>
            </a:prstGeom>
            <a:ln>
              <a:solidFill>
                <a:schemeClr val="accent2">
                  <a:lumMod val="20000"/>
                  <a:lumOff val="80000"/>
                </a:schemeClr>
              </a:solidFill>
            </a:ln>
          </p:spPr>
          <p:txBody>
            <a:bodyPr wrap="square">
              <a:spAutoFit/>
            </a:bodyPr>
            <a:lstStyle/>
            <a:p>
              <a:r>
                <a:rPr lang="en-US" dirty="0" smtClean="0">
                  <a:solidFill>
                    <a:srgbClr val="006600"/>
                  </a:solidFill>
                  <a:latin typeface="Arial Rounded MT Bold" pitchFamily="34" charset="0"/>
                </a:rPr>
                <a:t>#1 </a:t>
              </a:r>
              <a:r>
                <a:rPr lang="en-US" b="1" dirty="0"/>
                <a:t>– Building from Scratch</a:t>
              </a:r>
            </a:p>
            <a:p>
              <a:pPr lvl="1"/>
              <a:r>
                <a:rPr lang="en-US" sz="1600" dirty="0">
                  <a:latin typeface="Calibri Light" pitchFamily="34" charset="0"/>
                  <a:ea typeface="Arial Unicode MS" pitchFamily="34" charset="-128"/>
                  <a:cs typeface="Calibri Light" pitchFamily="34" charset="0"/>
                </a:rPr>
                <a:t>Custom models tailored to specific tasks/datasets</a:t>
              </a:r>
            </a:p>
            <a:p>
              <a:pPr lvl="1"/>
              <a:r>
                <a:rPr lang="en-US" sz="1600" dirty="0">
                  <a:latin typeface="Calibri Light" pitchFamily="34" charset="0"/>
                  <a:ea typeface="Arial Unicode MS" pitchFamily="34" charset="-128"/>
                  <a:cs typeface="Calibri Light" pitchFamily="34" charset="0"/>
                </a:rPr>
                <a:t>Less common → time and resources</a:t>
              </a:r>
              <a:endParaRPr lang="en-US" sz="1600" dirty="0">
                <a:effectLst/>
                <a:latin typeface="Calibri Light" pitchFamily="34" charset="0"/>
                <a:ea typeface="Arial Unicode MS" pitchFamily="34" charset="-128"/>
                <a:cs typeface="Calibri Light" pitchFamily="34" charset="0"/>
              </a:endParaRPr>
            </a:p>
          </p:txBody>
        </p:sp>
        <p:sp>
          <p:nvSpPr>
            <p:cNvPr id="4" name="Rectangle 3"/>
            <p:cNvSpPr/>
            <p:nvPr/>
          </p:nvSpPr>
          <p:spPr>
            <a:xfrm>
              <a:off x="1149928" y="2908461"/>
              <a:ext cx="5375563" cy="1354217"/>
            </a:xfrm>
            <a:prstGeom prst="rect">
              <a:avLst/>
            </a:prstGeom>
            <a:ln>
              <a:solidFill>
                <a:schemeClr val="accent2">
                  <a:lumMod val="20000"/>
                  <a:lumOff val="80000"/>
                </a:schemeClr>
              </a:solidFill>
            </a:ln>
          </p:spPr>
          <p:txBody>
            <a:bodyPr wrap="square">
              <a:spAutoFit/>
            </a:bodyPr>
            <a:lstStyle/>
            <a:p>
              <a:r>
                <a:rPr lang="en-US" dirty="0">
                  <a:solidFill>
                    <a:srgbClr val="00B0F0"/>
                  </a:solidFill>
                  <a:latin typeface="Arial Rounded MT Bold" pitchFamily="34" charset="0"/>
                </a:rPr>
                <a:t>#2 </a:t>
              </a:r>
              <a:r>
                <a:rPr lang="en-US" b="1" dirty="0"/>
                <a:t>– Using an Out-of-the-Box Solution</a:t>
              </a:r>
            </a:p>
            <a:p>
              <a:pPr lvl="1"/>
              <a:r>
                <a:rPr lang="en-US" sz="1600" dirty="0">
                  <a:latin typeface="Calibri Light" pitchFamily="34" charset="0"/>
                  <a:ea typeface="Arial Unicode MS" pitchFamily="34" charset="-128"/>
                  <a:cs typeface="Calibri Light" pitchFamily="34" charset="0"/>
                </a:rPr>
                <a:t>External building block</a:t>
              </a:r>
            </a:p>
            <a:p>
              <a:pPr lvl="1"/>
              <a:r>
                <a:rPr lang="en-US" sz="1600" dirty="0">
                  <a:latin typeface="Calibri Light" pitchFamily="34" charset="0"/>
                  <a:ea typeface="Arial Unicode MS" pitchFamily="34" charset="-128"/>
                  <a:cs typeface="Calibri Light" pitchFamily="34" charset="0"/>
                </a:rPr>
                <a:t>#1 - Open-source models</a:t>
              </a:r>
            </a:p>
            <a:p>
              <a:pPr lvl="1"/>
              <a:r>
                <a:rPr lang="en-US" sz="1600" dirty="0">
                  <a:latin typeface="Calibri Light" pitchFamily="34" charset="0"/>
                  <a:ea typeface="Arial Unicode MS" pitchFamily="34" charset="-128"/>
                  <a:cs typeface="Calibri Light" pitchFamily="34" charset="0"/>
                </a:rPr>
                <a:t>#2 - Paid models (services accessed via APIs)</a:t>
              </a:r>
            </a:p>
            <a:p>
              <a:pPr lvl="1"/>
              <a:r>
                <a:rPr lang="en-US" sz="1600" dirty="0">
                  <a:latin typeface="Calibri Light" pitchFamily="34" charset="0"/>
                  <a:ea typeface="Arial Unicode MS" pitchFamily="34" charset="-128"/>
                  <a:cs typeface="Calibri Light" pitchFamily="34" charset="0"/>
                </a:rPr>
                <a:t>Simplify development and integration</a:t>
              </a:r>
            </a:p>
          </p:txBody>
        </p:sp>
        <p:sp>
          <p:nvSpPr>
            <p:cNvPr id="5" name="Rectangle 4"/>
            <p:cNvSpPr/>
            <p:nvPr/>
          </p:nvSpPr>
          <p:spPr>
            <a:xfrm>
              <a:off x="7107383" y="1604517"/>
              <a:ext cx="4765963" cy="1107996"/>
            </a:xfrm>
            <a:prstGeom prst="rect">
              <a:avLst/>
            </a:prstGeom>
            <a:ln>
              <a:solidFill>
                <a:schemeClr val="accent2">
                  <a:lumMod val="20000"/>
                  <a:lumOff val="80000"/>
                </a:schemeClr>
              </a:solidFill>
            </a:ln>
          </p:spPr>
          <p:txBody>
            <a:bodyPr wrap="square">
              <a:spAutoFit/>
            </a:bodyPr>
            <a:lstStyle/>
            <a:p>
              <a:r>
                <a:rPr lang="en-US" dirty="0">
                  <a:solidFill>
                    <a:srgbClr val="0070C0"/>
                  </a:solidFill>
                  <a:latin typeface="Arial Rounded MT Bold" pitchFamily="34" charset="0"/>
                </a:rPr>
                <a:t>#3 </a:t>
              </a:r>
              <a:r>
                <a:rPr lang="en-US" b="1" dirty="0"/>
                <a:t>– Fine-Tuning Model</a:t>
              </a:r>
            </a:p>
            <a:p>
              <a:pPr lvl="1"/>
              <a:r>
                <a:rPr lang="en-US" sz="1600" dirty="0">
                  <a:latin typeface="Calibri Light" pitchFamily="34" charset="0"/>
                  <a:ea typeface="Arial Unicode MS" pitchFamily="34" charset="-128"/>
                  <a:cs typeface="Calibri Light" pitchFamily="34" charset="0"/>
                </a:rPr>
                <a:t>Fine-tuning an existing pre-trained model</a:t>
              </a:r>
            </a:p>
            <a:p>
              <a:pPr lvl="1"/>
              <a:r>
                <a:rPr lang="en-US" sz="1600" dirty="0">
                  <a:latin typeface="Calibri Light" pitchFamily="34" charset="0"/>
                  <a:ea typeface="Arial Unicode MS" pitchFamily="34" charset="-128"/>
                  <a:cs typeface="Calibri Light" pitchFamily="34" charset="0"/>
                </a:rPr>
                <a:t>Using domain-specific data</a:t>
              </a:r>
            </a:p>
            <a:p>
              <a:pPr lvl="1"/>
              <a:r>
                <a:rPr lang="en-US" sz="1600" dirty="0">
                  <a:latin typeface="Calibri Light" pitchFamily="34" charset="0"/>
                  <a:ea typeface="Arial Unicode MS" pitchFamily="34" charset="-128"/>
                  <a:cs typeface="Calibri Light" pitchFamily="34" charset="0"/>
                </a:rPr>
                <a:t>Skilled data science team</a:t>
              </a:r>
            </a:p>
          </p:txBody>
        </p:sp>
      </p:grpSp>
      <p:grpSp>
        <p:nvGrpSpPr>
          <p:cNvPr id="9" name="Group 8"/>
          <p:cNvGrpSpPr/>
          <p:nvPr/>
        </p:nvGrpSpPr>
        <p:grpSpPr>
          <a:xfrm>
            <a:off x="429491" y="210235"/>
            <a:ext cx="11443854" cy="1133656"/>
            <a:chOff x="429491" y="210235"/>
            <a:chExt cx="11443854" cy="1133656"/>
          </a:xfrm>
        </p:grpSpPr>
        <p:sp>
          <p:nvSpPr>
            <p:cNvPr id="2" name="Rectangle 1"/>
            <p:cNvSpPr/>
            <p:nvPr/>
          </p:nvSpPr>
          <p:spPr>
            <a:xfrm>
              <a:off x="2649612" y="210235"/>
              <a:ext cx="6096000" cy="923330"/>
            </a:xfrm>
            <a:prstGeom prst="rect">
              <a:avLst/>
            </a:prstGeom>
          </p:spPr>
          <p:txBody>
            <a:bodyPr>
              <a:spAutoFit/>
            </a:bodyPr>
            <a:lstStyle/>
            <a:p>
              <a:pPr algn="ctr"/>
              <a:r>
                <a:rPr lang="en-IN" sz="3600" b="1" dirty="0"/>
                <a:t>Embedding </a:t>
              </a:r>
              <a:r>
                <a:rPr lang="en-IN" sz="3600" dirty="0">
                  <a:solidFill>
                    <a:srgbClr val="7030A0"/>
                  </a:solidFill>
                  <a:latin typeface="Arial Rounded MT Bold" pitchFamily="34" charset="0"/>
                </a:rPr>
                <a:t>Models</a:t>
              </a:r>
            </a:p>
            <a:p>
              <a:pPr algn="ctr"/>
              <a:r>
                <a:rPr lang="en-IN" b="1" dirty="0"/>
                <a:t>Implementation Options</a:t>
              </a:r>
              <a:endParaRPr lang="en-IN" dirty="0">
                <a:effectLst/>
              </a:endParaRPr>
            </a:p>
          </p:txBody>
        </p:sp>
        <p:cxnSp>
          <p:nvCxnSpPr>
            <p:cNvPr id="7" name="Straight Connector 6"/>
            <p:cNvCxnSpPr/>
            <p:nvPr/>
          </p:nvCxnSpPr>
          <p:spPr>
            <a:xfrm>
              <a:off x="429491" y="1343891"/>
              <a:ext cx="11443854"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0611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20" name="Group 19"/>
          <p:cNvGrpSpPr/>
          <p:nvPr/>
        </p:nvGrpSpPr>
        <p:grpSpPr>
          <a:xfrm>
            <a:off x="1102445" y="256960"/>
            <a:ext cx="9365859" cy="2649240"/>
            <a:chOff x="1206354" y="648079"/>
            <a:chExt cx="9365859" cy="2649240"/>
          </a:xfrm>
        </p:grpSpPr>
        <p:grpSp>
          <p:nvGrpSpPr>
            <p:cNvPr id="11" name="Group 10"/>
            <p:cNvGrpSpPr/>
            <p:nvPr/>
          </p:nvGrpSpPr>
          <p:grpSpPr>
            <a:xfrm>
              <a:off x="1206354" y="648079"/>
              <a:ext cx="8395854" cy="2649240"/>
              <a:chOff x="1206354" y="648079"/>
              <a:chExt cx="8395854" cy="2649240"/>
            </a:xfrm>
          </p:grpSpPr>
          <p:sp>
            <p:nvSpPr>
              <p:cNvPr id="3" name="TextBox 2"/>
              <p:cNvSpPr txBox="1"/>
              <p:nvPr/>
            </p:nvSpPr>
            <p:spPr>
              <a:xfrm>
                <a:off x="1692129" y="2444535"/>
                <a:ext cx="2020746" cy="338554"/>
              </a:xfrm>
              <a:prstGeom prst="rect">
                <a:avLst/>
              </a:prstGeom>
              <a:noFill/>
            </p:spPr>
            <p:txBody>
              <a:bodyPr wrap="none" rtlCol="0">
                <a:spAutoFit/>
              </a:bodyPr>
              <a:lstStyle/>
              <a:p>
                <a:r>
                  <a:rPr lang="en-US" sz="1600" dirty="0" smtClean="0">
                    <a:latin typeface="Arial Rounded MT Bold" pitchFamily="34" charset="0"/>
                  </a:rPr>
                  <a:t>Unstructured Data</a:t>
                </a:r>
                <a:endParaRPr lang="en-IN" sz="1600" dirty="0">
                  <a:latin typeface="Arial Rounded MT Bold" pitchFamily="34" charset="0"/>
                </a:endParaRPr>
              </a:p>
            </p:txBody>
          </p:sp>
          <p:grpSp>
            <p:nvGrpSpPr>
              <p:cNvPr id="10" name="Group 9"/>
              <p:cNvGrpSpPr/>
              <p:nvPr/>
            </p:nvGrpSpPr>
            <p:grpSpPr>
              <a:xfrm>
                <a:off x="1206354" y="648079"/>
                <a:ext cx="8395854" cy="2649240"/>
                <a:chOff x="401782" y="1288473"/>
                <a:chExt cx="8395854" cy="2649240"/>
              </a:xfrm>
            </p:grpSpPr>
            <p:grpSp>
              <p:nvGrpSpPr>
                <p:cNvPr id="5" name="Group 4"/>
                <p:cNvGrpSpPr/>
                <p:nvPr/>
              </p:nvGrpSpPr>
              <p:grpSpPr>
                <a:xfrm>
                  <a:off x="1206354" y="1563171"/>
                  <a:ext cx="7050089" cy="2374542"/>
                  <a:chOff x="1206354" y="1563171"/>
                  <a:chExt cx="7050089" cy="2374542"/>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354" y="1838896"/>
                    <a:ext cx="97155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7326" y="1762696"/>
                    <a:ext cx="1266825"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9593" y="1563171"/>
                    <a:ext cx="1466850" cy="124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a:off x="5687291" y="1996630"/>
                    <a:ext cx="706582" cy="484632"/>
                  </a:xfrm>
                  <a:prstGeom prst="right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ight Arrow 5"/>
                  <p:cNvSpPr/>
                  <p:nvPr/>
                </p:nvSpPr>
                <p:spPr>
                  <a:xfrm>
                    <a:off x="3214254" y="2034730"/>
                    <a:ext cx="706582" cy="484632"/>
                  </a:xfrm>
                  <a:prstGeom prst="rightArrow">
                    <a:avLst/>
                  </a:prstGeom>
                  <a:solidFill>
                    <a:schemeClr val="bg1">
                      <a:lumMod val="5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p:cNvSpPr txBox="1"/>
                  <p:nvPr/>
                </p:nvSpPr>
                <p:spPr>
                  <a:xfrm>
                    <a:off x="4047545" y="2961819"/>
                    <a:ext cx="1696811" cy="584775"/>
                  </a:xfrm>
                  <a:prstGeom prst="rect">
                    <a:avLst/>
                  </a:prstGeom>
                  <a:noFill/>
                </p:spPr>
                <p:txBody>
                  <a:bodyPr wrap="none" rtlCol="0">
                    <a:spAutoFit/>
                  </a:bodyPr>
                  <a:lstStyle/>
                  <a:p>
                    <a:pPr algn="ctr"/>
                    <a:r>
                      <a:rPr lang="en-US" sz="1600" dirty="0">
                        <a:latin typeface="Arial Rounded MT Bold" pitchFamily="34" charset="0"/>
                      </a:rPr>
                      <a:t>Deep Learning </a:t>
                    </a:r>
                  </a:p>
                  <a:p>
                    <a:pPr algn="ctr"/>
                    <a:r>
                      <a:rPr lang="en-US" sz="1600" dirty="0">
                        <a:latin typeface="Arial Rounded MT Bold" pitchFamily="34" charset="0"/>
                      </a:rPr>
                      <a:t>Model</a:t>
                    </a:r>
                    <a:endParaRPr lang="en-IN" sz="1600" dirty="0">
                      <a:latin typeface="Arial Rounded MT Bold" pitchFamily="34" charset="0"/>
                    </a:endParaRPr>
                  </a:p>
                </p:txBody>
              </p:sp>
              <p:sp>
                <p:nvSpPr>
                  <p:cNvPr id="9" name="TextBox 8"/>
                  <p:cNvSpPr txBox="1"/>
                  <p:nvPr/>
                </p:nvSpPr>
                <p:spPr>
                  <a:xfrm>
                    <a:off x="7048016" y="3599159"/>
                    <a:ext cx="950004" cy="338554"/>
                  </a:xfrm>
                  <a:prstGeom prst="rect">
                    <a:avLst/>
                  </a:prstGeom>
                  <a:noFill/>
                </p:spPr>
                <p:txBody>
                  <a:bodyPr wrap="none" rtlCol="0">
                    <a:spAutoFit/>
                  </a:bodyPr>
                  <a:lstStyle/>
                  <a:p>
                    <a:pPr algn="ctr"/>
                    <a:r>
                      <a:rPr lang="en-US" sz="1600" dirty="0">
                        <a:latin typeface="Arial Rounded MT Bold" pitchFamily="34" charset="0"/>
                      </a:rPr>
                      <a:t>Vectors</a:t>
                    </a:r>
                    <a:endParaRPr lang="en-IN" sz="1600" dirty="0">
                      <a:latin typeface="Arial Rounded MT Bold" pitchFamily="34" charset="0"/>
                    </a:endParaRPr>
                  </a:p>
                </p:txBody>
              </p:sp>
            </p:grpSp>
            <p:sp>
              <p:nvSpPr>
                <p:cNvPr id="7" name="Rectangle 6"/>
                <p:cNvSpPr/>
                <p:nvPr/>
              </p:nvSpPr>
              <p:spPr>
                <a:xfrm>
                  <a:off x="401782" y="1288473"/>
                  <a:ext cx="8395854" cy="2479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grpSp>
          <p:nvGrpSpPr>
            <p:cNvPr id="14" name="Group 13"/>
            <p:cNvGrpSpPr/>
            <p:nvPr/>
          </p:nvGrpSpPr>
          <p:grpSpPr>
            <a:xfrm>
              <a:off x="7732555" y="2282971"/>
              <a:ext cx="2839658" cy="423173"/>
              <a:chOff x="7732555" y="2282971"/>
              <a:chExt cx="2839658" cy="423173"/>
            </a:xfrm>
          </p:grpSpPr>
          <p:sp>
            <p:nvSpPr>
              <p:cNvPr id="12" name="TextBox 11"/>
              <p:cNvSpPr txBox="1"/>
              <p:nvPr/>
            </p:nvSpPr>
            <p:spPr>
              <a:xfrm>
                <a:off x="7732555" y="2290646"/>
                <a:ext cx="649537" cy="307777"/>
              </a:xfrm>
              <a:prstGeom prst="rect">
                <a:avLst/>
              </a:prstGeom>
              <a:solidFill>
                <a:schemeClr val="bg1">
                  <a:lumMod val="65000"/>
                </a:schemeClr>
              </a:solidFill>
              <a:ln>
                <a:solidFill>
                  <a:schemeClr val="tx1">
                    <a:lumMod val="65000"/>
                    <a:lumOff val="35000"/>
                  </a:schemeClr>
                </a:solidFill>
              </a:ln>
            </p:spPr>
            <p:txBody>
              <a:bodyPr wrap="none" rtlCol="0">
                <a:spAutoFit/>
              </a:bodyPr>
              <a:lstStyle/>
              <a:p>
                <a:r>
                  <a:rPr lang="en-US" sz="1400" dirty="0" smtClean="0"/>
                  <a:t>-0.005</a:t>
                </a:r>
                <a:endParaRPr lang="en-IN" sz="1400" dirty="0"/>
              </a:p>
            </p:txBody>
          </p:sp>
          <p:sp>
            <p:nvSpPr>
              <p:cNvPr id="16" name="TextBox 15"/>
              <p:cNvSpPr txBox="1"/>
              <p:nvPr/>
            </p:nvSpPr>
            <p:spPr>
              <a:xfrm>
                <a:off x="8418852" y="2306034"/>
                <a:ext cx="649537" cy="307777"/>
              </a:xfrm>
              <a:prstGeom prst="rect">
                <a:avLst/>
              </a:prstGeom>
              <a:solidFill>
                <a:schemeClr val="bg1">
                  <a:lumMod val="65000"/>
                </a:schemeClr>
              </a:solidFill>
              <a:ln>
                <a:solidFill>
                  <a:schemeClr val="tx1">
                    <a:lumMod val="65000"/>
                    <a:lumOff val="35000"/>
                  </a:schemeClr>
                </a:solidFill>
              </a:ln>
            </p:spPr>
            <p:txBody>
              <a:bodyPr wrap="none" rtlCol="0">
                <a:spAutoFit/>
              </a:bodyPr>
              <a:lstStyle/>
              <a:p>
                <a:r>
                  <a:rPr lang="en-US" sz="1400" dirty="0" smtClean="0"/>
                  <a:t>-0.002</a:t>
                </a:r>
                <a:endParaRPr lang="en-IN" sz="1400" dirty="0"/>
              </a:p>
            </p:txBody>
          </p:sp>
          <p:sp>
            <p:nvSpPr>
              <p:cNvPr id="17" name="TextBox 16"/>
              <p:cNvSpPr txBox="1"/>
              <p:nvPr/>
            </p:nvSpPr>
            <p:spPr>
              <a:xfrm>
                <a:off x="9885807" y="2282971"/>
                <a:ext cx="686406" cy="307777"/>
              </a:xfrm>
              <a:prstGeom prst="rect">
                <a:avLst/>
              </a:prstGeom>
              <a:solidFill>
                <a:schemeClr val="bg1">
                  <a:lumMod val="65000"/>
                </a:schemeClr>
              </a:solidFill>
              <a:ln>
                <a:solidFill>
                  <a:schemeClr val="tx1">
                    <a:lumMod val="65000"/>
                    <a:lumOff val="35000"/>
                  </a:schemeClr>
                </a:solidFill>
              </a:ln>
            </p:spPr>
            <p:txBody>
              <a:bodyPr wrap="none" rtlCol="0">
                <a:spAutoFit/>
              </a:bodyPr>
              <a:lstStyle/>
              <a:p>
                <a:r>
                  <a:rPr lang="en-US" sz="1400" dirty="0" smtClean="0"/>
                  <a:t>0.0045</a:t>
                </a:r>
                <a:endParaRPr lang="en-IN" sz="1400" dirty="0"/>
              </a:p>
            </p:txBody>
          </p:sp>
          <p:sp>
            <p:nvSpPr>
              <p:cNvPr id="13" name="TextBox 12"/>
              <p:cNvSpPr txBox="1"/>
              <p:nvPr/>
            </p:nvSpPr>
            <p:spPr>
              <a:xfrm>
                <a:off x="9197798" y="2306034"/>
                <a:ext cx="688009" cy="400110"/>
              </a:xfrm>
              <a:prstGeom prst="rect">
                <a:avLst/>
              </a:prstGeom>
              <a:noFill/>
            </p:spPr>
            <p:txBody>
              <a:bodyPr wrap="none" rtlCol="0">
                <a:spAutoFit/>
              </a:bodyPr>
              <a:lstStyle/>
              <a:p>
                <a:r>
                  <a:rPr lang="en-US" sz="2000" b="1" dirty="0" smtClean="0"/>
                  <a:t>……..</a:t>
                </a:r>
                <a:endParaRPr lang="en-IN" sz="2000" b="1" dirty="0"/>
              </a:p>
            </p:txBody>
          </p:sp>
        </p:grpSp>
      </p:grpSp>
      <p:sp>
        <p:nvSpPr>
          <p:cNvPr id="15" name="Rectangle 14"/>
          <p:cNvSpPr/>
          <p:nvPr/>
        </p:nvSpPr>
        <p:spPr>
          <a:xfrm>
            <a:off x="360216" y="3272027"/>
            <a:ext cx="8063347" cy="338554"/>
          </a:xfrm>
          <a:prstGeom prst="rect">
            <a:avLst/>
          </a:prstGeom>
        </p:spPr>
        <p:txBody>
          <a:bodyPr wrap="square">
            <a:spAutoFit/>
          </a:bodyPr>
          <a:lstStyle/>
          <a:p>
            <a:r>
              <a:rPr lang="en-US" sz="1600" dirty="0">
                <a:latin typeface="Bahnschrift Light" pitchFamily="34" charset="0"/>
              </a:rPr>
              <a:t>different embedding models has different way to represent the data.</a:t>
            </a:r>
            <a:endParaRPr lang="en-IN" sz="1600" dirty="0">
              <a:latin typeface="Bahnschrift Light" pitchFamily="34" charset="0"/>
            </a:endParaRPr>
          </a:p>
        </p:txBody>
      </p:sp>
      <p:cxnSp>
        <p:nvCxnSpPr>
          <p:cNvPr id="19" name="Straight Connector 18"/>
          <p:cNvCxnSpPr/>
          <p:nvPr/>
        </p:nvCxnSpPr>
        <p:spPr>
          <a:xfrm flipV="1">
            <a:off x="360217" y="3034146"/>
            <a:ext cx="11610109" cy="55418"/>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60217" y="3272027"/>
            <a:ext cx="0" cy="338554"/>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360216" y="3740728"/>
            <a:ext cx="11565891" cy="584775"/>
          </a:xfrm>
          <a:prstGeom prst="rect">
            <a:avLst/>
          </a:prstGeom>
        </p:spPr>
        <p:txBody>
          <a:bodyPr wrap="square">
            <a:spAutoFit/>
          </a:bodyPr>
          <a:lstStyle/>
          <a:p>
            <a:r>
              <a:rPr lang="en-US" sz="1600" dirty="0">
                <a:latin typeface="Bahnschrift Light" pitchFamily="34" charset="0"/>
              </a:rPr>
              <a:t>vectors and vector database, we use to represent unstructured data. we supply this unstructured data. We use some deep learning models. Then convert whole unstructured data into vectors. It’s kind of a numerical representation.</a:t>
            </a:r>
            <a:endParaRPr lang="en-IN" sz="1600" dirty="0">
              <a:latin typeface="Bahnschrift Light" pitchFamily="34" charset="0"/>
            </a:endParaRPr>
          </a:p>
        </p:txBody>
      </p:sp>
      <p:grpSp>
        <p:nvGrpSpPr>
          <p:cNvPr id="27" name="Group 26"/>
          <p:cNvGrpSpPr/>
          <p:nvPr/>
        </p:nvGrpSpPr>
        <p:grpSpPr>
          <a:xfrm>
            <a:off x="102889" y="4999120"/>
            <a:ext cx="11823218" cy="1055920"/>
            <a:chOff x="102889" y="4629788"/>
            <a:chExt cx="11823218" cy="1055920"/>
          </a:xfrm>
        </p:grpSpPr>
        <p:sp>
          <p:nvSpPr>
            <p:cNvPr id="25" name="Rectangle 24"/>
            <p:cNvSpPr/>
            <p:nvPr/>
          </p:nvSpPr>
          <p:spPr>
            <a:xfrm>
              <a:off x="102889" y="4629788"/>
              <a:ext cx="6638356" cy="369332"/>
            </a:xfrm>
            <a:prstGeom prst="rect">
              <a:avLst/>
            </a:prstGeom>
          </p:spPr>
          <p:txBody>
            <a:bodyPr wrap="none">
              <a:spAutoFit/>
            </a:bodyPr>
            <a:lstStyle/>
            <a:p>
              <a:r>
                <a:rPr lang="en-US" dirty="0">
                  <a:solidFill>
                    <a:srgbClr val="006600"/>
                  </a:solidFill>
                  <a:latin typeface="Bahnschrift" pitchFamily="34" charset="0"/>
                </a:rPr>
                <a:t>But </a:t>
              </a:r>
              <a:r>
                <a:rPr lang="en-US" dirty="0" smtClean="0">
                  <a:solidFill>
                    <a:srgbClr val="006600"/>
                  </a:solidFill>
                  <a:latin typeface="Bahnschrift" pitchFamily="34" charset="0"/>
                </a:rPr>
                <a:t>someone </a:t>
              </a:r>
              <a:r>
                <a:rPr lang="en-US" dirty="0">
                  <a:solidFill>
                    <a:srgbClr val="006600"/>
                  </a:solidFill>
                  <a:latin typeface="Bahnschrift" pitchFamily="34" charset="0"/>
                </a:rPr>
                <a:t>can always ask the why numerical, why not text?</a:t>
              </a:r>
              <a:endParaRPr lang="en-IN" dirty="0">
                <a:solidFill>
                  <a:srgbClr val="006600"/>
                </a:solidFill>
                <a:latin typeface="Bahnschrift" pitchFamily="34" charset="0"/>
              </a:endParaRPr>
            </a:p>
          </p:txBody>
        </p:sp>
        <p:sp>
          <p:nvSpPr>
            <p:cNvPr id="26" name="Rectangle 25"/>
            <p:cNvSpPr/>
            <p:nvPr/>
          </p:nvSpPr>
          <p:spPr>
            <a:xfrm>
              <a:off x="360217" y="5100933"/>
              <a:ext cx="11565890" cy="584775"/>
            </a:xfrm>
            <a:prstGeom prst="rect">
              <a:avLst/>
            </a:prstGeom>
          </p:spPr>
          <p:txBody>
            <a:bodyPr wrap="square">
              <a:spAutoFit/>
            </a:bodyPr>
            <a:lstStyle/>
            <a:p>
              <a:r>
                <a:rPr lang="en-US" sz="1600" dirty="0">
                  <a:latin typeface="Bahnschrift Light" pitchFamily="34" charset="0"/>
                </a:rPr>
                <a:t>The simplest answer for that is that machine do not understand text machine or ML models or deep </a:t>
              </a:r>
              <a:r>
                <a:rPr lang="en-US" sz="1600" dirty="0" smtClean="0">
                  <a:latin typeface="Bahnschrift Light" pitchFamily="34" charset="0"/>
                </a:rPr>
                <a:t>learning model only </a:t>
              </a:r>
              <a:r>
                <a:rPr lang="en-US" sz="1600" dirty="0">
                  <a:latin typeface="Bahnschrift Light" pitchFamily="34" charset="0"/>
                </a:rPr>
                <a:t>works with numerical data.</a:t>
              </a:r>
              <a:endParaRPr lang="en-IN" sz="1600" dirty="0">
                <a:latin typeface="Bahnschrift Light" pitchFamily="34" charset="0"/>
              </a:endParaRPr>
            </a:p>
          </p:txBody>
        </p:sp>
      </p:grpSp>
      <p:cxnSp>
        <p:nvCxnSpPr>
          <p:cNvPr id="31" name="Straight Connector 30"/>
          <p:cNvCxnSpPr/>
          <p:nvPr/>
        </p:nvCxnSpPr>
        <p:spPr>
          <a:xfrm flipV="1">
            <a:off x="315998" y="4613565"/>
            <a:ext cx="11610109" cy="55418"/>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23217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510077" y="-4692"/>
            <a:ext cx="2191626" cy="400110"/>
          </a:xfrm>
          <a:prstGeom prst="rect">
            <a:avLst/>
          </a:prstGeom>
          <a:solidFill>
            <a:srgbClr val="009900"/>
          </a:solidFill>
        </p:spPr>
        <p:txBody>
          <a:bodyPr wrap="none">
            <a:spAutoFit/>
          </a:bodyPr>
          <a:lstStyle/>
          <a:p>
            <a:r>
              <a:rPr lang="en-IN" sz="2000" dirty="0">
                <a:solidFill>
                  <a:schemeClr val="bg1"/>
                </a:solidFill>
                <a:latin typeface="Bahnschrift" pitchFamily="34" charset="0"/>
              </a:rPr>
              <a:t>what is a </a:t>
            </a:r>
            <a:r>
              <a:rPr lang="en-IN" sz="2000" dirty="0" smtClean="0">
                <a:solidFill>
                  <a:schemeClr val="bg1"/>
                </a:solidFill>
                <a:latin typeface="Bahnschrift" pitchFamily="34" charset="0"/>
              </a:rPr>
              <a:t>vector ?</a:t>
            </a:r>
            <a:endParaRPr lang="en-IN" sz="2000" dirty="0">
              <a:solidFill>
                <a:schemeClr val="bg1"/>
              </a:solidFill>
              <a:latin typeface="Bahnschrift" pitchFamily="34" charset="0"/>
            </a:endParaRPr>
          </a:p>
        </p:txBody>
      </p:sp>
      <p:sp>
        <p:nvSpPr>
          <p:cNvPr id="3" name="Rectangle 2"/>
          <p:cNvSpPr/>
          <p:nvPr/>
        </p:nvSpPr>
        <p:spPr>
          <a:xfrm>
            <a:off x="2092035" y="616906"/>
            <a:ext cx="4655127" cy="1200329"/>
          </a:xfrm>
          <a:prstGeom prst="rect">
            <a:avLst/>
          </a:prstGeom>
          <a:solidFill>
            <a:schemeClr val="tx1"/>
          </a:solidFill>
        </p:spPr>
        <p:txBody>
          <a:bodyPr wrap="square">
            <a:spAutoFit/>
          </a:bodyPr>
          <a:lstStyle/>
          <a:p>
            <a:pPr algn="ctr"/>
            <a:r>
              <a:rPr lang="en-IN" sz="2400" dirty="0">
                <a:solidFill>
                  <a:schemeClr val="bg1"/>
                </a:solidFill>
                <a:latin typeface="Bahnschrift Light" pitchFamily="34" charset="0"/>
              </a:rPr>
              <a:t>NUMERICAL ARRAY</a:t>
            </a:r>
          </a:p>
          <a:p>
            <a:endParaRPr lang="en-IN" sz="2400" dirty="0">
              <a:solidFill>
                <a:schemeClr val="bg1"/>
              </a:solidFill>
            </a:endParaRPr>
          </a:p>
          <a:p>
            <a:pPr algn="ctr"/>
            <a:r>
              <a:rPr lang="en-IN" sz="2400" dirty="0" smtClean="0">
                <a:solidFill>
                  <a:schemeClr val="bg1"/>
                </a:solidFill>
                <a:latin typeface="Arial Rounded MT Bold" pitchFamily="34" charset="0"/>
              </a:rPr>
              <a:t>[  0</a:t>
            </a:r>
            <a:r>
              <a:rPr lang="en-IN" sz="2400" dirty="0">
                <a:solidFill>
                  <a:schemeClr val="bg1"/>
                </a:solidFill>
                <a:latin typeface="Arial Rounded MT Bold" pitchFamily="34" charset="0"/>
              </a:rPr>
              <a:t>, </a:t>
            </a:r>
            <a:r>
              <a:rPr lang="en-IN" sz="2400" dirty="0" smtClean="0">
                <a:solidFill>
                  <a:schemeClr val="bg1"/>
                </a:solidFill>
                <a:latin typeface="Arial Rounded MT Bold" pitchFamily="34" charset="0"/>
              </a:rPr>
              <a:t> 1,  </a:t>
            </a:r>
            <a:r>
              <a:rPr lang="en-IN" sz="2400" dirty="0">
                <a:solidFill>
                  <a:schemeClr val="bg1"/>
                </a:solidFill>
                <a:latin typeface="Arial Rounded MT Bold" pitchFamily="34" charset="0"/>
              </a:rPr>
              <a:t>2, </a:t>
            </a:r>
            <a:r>
              <a:rPr lang="en-IN" sz="2400" dirty="0" smtClean="0">
                <a:solidFill>
                  <a:schemeClr val="bg1"/>
                </a:solidFill>
                <a:latin typeface="Arial Rounded MT Bold" pitchFamily="34" charset="0"/>
              </a:rPr>
              <a:t> 3</a:t>
            </a:r>
            <a:r>
              <a:rPr lang="en-IN" sz="2400" dirty="0">
                <a:solidFill>
                  <a:schemeClr val="bg1"/>
                </a:solidFill>
                <a:latin typeface="Arial Rounded MT Bold" pitchFamily="34" charset="0"/>
              </a:rPr>
              <a:t>, </a:t>
            </a:r>
            <a:r>
              <a:rPr lang="en-IN" sz="2400" dirty="0" smtClean="0">
                <a:solidFill>
                  <a:schemeClr val="bg1"/>
                </a:solidFill>
                <a:latin typeface="Arial Rounded MT Bold" pitchFamily="34" charset="0"/>
              </a:rPr>
              <a:t> 4</a:t>
            </a:r>
            <a:r>
              <a:rPr lang="en-IN" sz="2400" dirty="0">
                <a:solidFill>
                  <a:schemeClr val="bg1"/>
                </a:solidFill>
                <a:latin typeface="Arial Rounded MT Bold" pitchFamily="34" charset="0"/>
              </a:rPr>
              <a:t>, </a:t>
            </a:r>
            <a:r>
              <a:rPr lang="en-IN" sz="2400" dirty="0" smtClean="0">
                <a:solidFill>
                  <a:schemeClr val="bg1"/>
                </a:solidFill>
                <a:latin typeface="Arial Rounded MT Bold" pitchFamily="34" charset="0"/>
              </a:rPr>
              <a:t> 5</a:t>
            </a:r>
            <a:r>
              <a:rPr lang="en-IN" sz="2400" dirty="0">
                <a:solidFill>
                  <a:schemeClr val="bg1"/>
                </a:solidFill>
                <a:latin typeface="Arial Rounded MT Bold" pitchFamily="34" charset="0"/>
              </a:rPr>
              <a:t>, </a:t>
            </a:r>
            <a:r>
              <a:rPr lang="en-IN" sz="2400" dirty="0" smtClean="0">
                <a:solidFill>
                  <a:schemeClr val="bg1"/>
                </a:solidFill>
                <a:latin typeface="Arial Rounded MT Bold" pitchFamily="34" charset="0"/>
              </a:rPr>
              <a:t>  .... ]</a:t>
            </a:r>
            <a:endParaRPr lang="en-IN" sz="2400" dirty="0">
              <a:solidFill>
                <a:schemeClr val="bg1"/>
              </a:solidFill>
              <a:latin typeface="Arial Rounded MT Bold" pitchFamily="34" charset="0"/>
            </a:endParaRPr>
          </a:p>
        </p:txBody>
      </p:sp>
      <p:sp>
        <p:nvSpPr>
          <p:cNvPr id="4" name="Rectangle 3"/>
          <p:cNvSpPr/>
          <p:nvPr/>
        </p:nvSpPr>
        <p:spPr>
          <a:xfrm>
            <a:off x="2092035" y="2011279"/>
            <a:ext cx="3809056" cy="338554"/>
          </a:xfrm>
          <a:prstGeom prst="rect">
            <a:avLst/>
          </a:prstGeom>
        </p:spPr>
        <p:txBody>
          <a:bodyPr wrap="none">
            <a:spAutoFit/>
          </a:bodyPr>
          <a:lstStyle/>
          <a:p>
            <a:r>
              <a:rPr lang="en-US" sz="1600" dirty="0">
                <a:latin typeface="Bahnschrift Light" pitchFamily="34" charset="0"/>
              </a:rPr>
              <a:t>vector is nothing but a numerical array.</a:t>
            </a:r>
            <a:endParaRPr lang="en-IN" sz="1600" dirty="0">
              <a:latin typeface="Bahnschrift Light" pitchFamily="34" charset="0"/>
            </a:endParaRPr>
          </a:p>
        </p:txBody>
      </p:sp>
    </p:spTree>
    <p:extLst>
      <p:ext uri="{BB962C8B-B14F-4D97-AF65-F5344CB8AC3E}">
        <p14:creationId xmlns:p14="http://schemas.microsoft.com/office/powerpoint/2010/main" val="160430640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Tree>
    <p:extLst>
      <p:ext uri="{BB962C8B-B14F-4D97-AF65-F5344CB8AC3E}">
        <p14:creationId xmlns:p14="http://schemas.microsoft.com/office/powerpoint/2010/main" val="1398825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138544" y="281686"/>
            <a:ext cx="11949543" cy="1077218"/>
          </a:xfrm>
          <a:prstGeom prst="rect">
            <a:avLst/>
          </a:prstGeom>
          <a:ln>
            <a:solidFill>
              <a:schemeClr val="bg1">
                <a:lumMod val="95000"/>
              </a:schemeClr>
            </a:solidFill>
          </a:ln>
        </p:spPr>
        <p:txBody>
          <a:bodyPr wrap="square">
            <a:spAutoFit/>
          </a:bodyPr>
          <a:lstStyle/>
          <a:p>
            <a:r>
              <a:rPr lang="en-US" sz="1600" dirty="0" smtClean="0">
                <a:latin typeface="Bahnschrift Light" pitchFamily="34" charset="0"/>
              </a:rPr>
              <a:t>You </a:t>
            </a:r>
            <a:r>
              <a:rPr lang="en-US" sz="1600" dirty="0">
                <a:latin typeface="Bahnschrift Light" pitchFamily="34" charset="0"/>
              </a:rPr>
              <a:t>can say </a:t>
            </a:r>
            <a:r>
              <a:rPr lang="en-US" sz="1600" b="1" dirty="0">
                <a:latin typeface="Bahnschrift Light" pitchFamily="34" charset="0"/>
              </a:rPr>
              <a:t>models</a:t>
            </a:r>
            <a:r>
              <a:rPr lang="en-US" sz="1600" dirty="0">
                <a:latin typeface="Bahnschrift Light" pitchFamily="34" charset="0"/>
              </a:rPr>
              <a:t> or you can say </a:t>
            </a:r>
            <a:r>
              <a:rPr lang="en-US" sz="1600" b="1" dirty="0">
                <a:latin typeface="Bahnschrift Light" pitchFamily="34" charset="0"/>
              </a:rPr>
              <a:t>methods</a:t>
            </a:r>
            <a:r>
              <a:rPr lang="en-US" sz="1600" dirty="0">
                <a:latin typeface="Bahnschrift Light" pitchFamily="34" charset="0"/>
              </a:rPr>
              <a:t> or you can say techniques such as llm such as prompt engineering </a:t>
            </a:r>
            <a:endParaRPr lang="en-US" sz="1600" dirty="0" smtClean="0">
              <a:latin typeface="Bahnschrift Light" pitchFamily="34" charset="0"/>
            </a:endParaRPr>
          </a:p>
          <a:p>
            <a:r>
              <a:rPr lang="en-US" sz="1600" dirty="0" smtClean="0">
                <a:latin typeface="Bahnschrift Light" pitchFamily="34" charset="0"/>
              </a:rPr>
              <a:t>what </a:t>
            </a:r>
            <a:r>
              <a:rPr lang="en-US" sz="1600" dirty="0">
                <a:latin typeface="Bahnschrift Light" pitchFamily="34" charset="0"/>
              </a:rPr>
              <a:t>is happening is we need Fast Response in all the aspects </a:t>
            </a:r>
            <a:r>
              <a:rPr lang="en-US" sz="1600" dirty="0" smtClean="0">
                <a:latin typeface="Bahnschrift Light" pitchFamily="34" charset="0"/>
              </a:rPr>
              <a:t>and we </a:t>
            </a:r>
            <a:r>
              <a:rPr lang="en-US" sz="1600" dirty="0">
                <a:latin typeface="Bahnschrift Light" pitchFamily="34" charset="0"/>
              </a:rPr>
              <a:t>cannot afford to have a slow response suppose you go to chat GPT window and you write a question here and then chat GPT takes like 10 minutes to give you response that's not acceptable right so </a:t>
            </a:r>
            <a:r>
              <a:rPr lang="en-US" sz="1600" dirty="0" smtClean="0">
                <a:latin typeface="Bahnschrift Light" pitchFamily="34" charset="0"/>
              </a:rPr>
              <a:t> one need of the our in the world of </a:t>
            </a:r>
            <a:r>
              <a:rPr lang="en-US" sz="1600" b="1" dirty="0" smtClean="0">
                <a:solidFill>
                  <a:srgbClr val="0070C0"/>
                </a:solidFill>
                <a:latin typeface="Bahnschrift SemiBold" pitchFamily="34" charset="0"/>
              </a:rPr>
              <a:t>AIML </a:t>
            </a:r>
            <a:r>
              <a:rPr lang="en-US" sz="1600" b="1" dirty="0">
                <a:solidFill>
                  <a:srgbClr val="0070C0"/>
                </a:solidFill>
                <a:latin typeface="Bahnschrift SemiBold" pitchFamily="34" charset="0"/>
              </a:rPr>
              <a:t>is Fast Response </a:t>
            </a:r>
            <a:r>
              <a:rPr lang="en-US" sz="1600" dirty="0" smtClean="0">
                <a:latin typeface="Bahnschrift Light" pitchFamily="34" charset="0"/>
              </a:rPr>
              <a:t>and another </a:t>
            </a:r>
            <a:r>
              <a:rPr lang="en-US" sz="1600" dirty="0">
                <a:latin typeface="Bahnschrift Light" pitchFamily="34" charset="0"/>
              </a:rPr>
              <a:t>need of the </a:t>
            </a:r>
            <a:r>
              <a:rPr lang="en-US" sz="1600" dirty="0" smtClean="0">
                <a:latin typeface="Bahnschrift Light" pitchFamily="34" charset="0"/>
              </a:rPr>
              <a:t>our is </a:t>
            </a:r>
            <a:r>
              <a:rPr lang="en-US" sz="1600" b="1" dirty="0">
                <a:latin typeface="Bahnschrift Light" pitchFamily="34" charset="0"/>
              </a:rPr>
              <a:t>how do</a:t>
            </a:r>
            <a:endParaRPr lang="en-IN" sz="1600" b="1" dirty="0">
              <a:latin typeface="Bahnschrift Light" pitchFamily="34" charset="0"/>
            </a:endParaRPr>
          </a:p>
        </p:txBody>
      </p:sp>
      <p:sp>
        <p:nvSpPr>
          <p:cNvPr id="3" name="Rectangle 2"/>
          <p:cNvSpPr/>
          <p:nvPr/>
        </p:nvSpPr>
        <p:spPr>
          <a:xfrm>
            <a:off x="138544" y="1545191"/>
            <a:ext cx="11949543" cy="1077218"/>
          </a:xfrm>
          <a:prstGeom prst="rect">
            <a:avLst/>
          </a:prstGeom>
          <a:ln>
            <a:solidFill>
              <a:schemeClr val="bg1">
                <a:lumMod val="95000"/>
              </a:schemeClr>
            </a:solidFill>
          </a:ln>
        </p:spPr>
        <p:txBody>
          <a:bodyPr wrap="square">
            <a:spAutoFit/>
          </a:bodyPr>
          <a:lstStyle/>
          <a:p>
            <a:r>
              <a:rPr lang="en-US" sz="1600" dirty="0">
                <a:latin typeface="Bahnschrift Light" pitchFamily="34" charset="0"/>
              </a:rPr>
              <a:t>how do you store </a:t>
            </a:r>
            <a:r>
              <a:rPr lang="en-US" sz="1600" b="1" dirty="0">
                <a:latin typeface="Bahnschrift Light" pitchFamily="34" charset="0"/>
              </a:rPr>
              <a:t>huge volume of data </a:t>
            </a:r>
            <a:r>
              <a:rPr lang="en-US" sz="1600" dirty="0">
                <a:latin typeface="Bahnschrift Light" pitchFamily="34" charset="0"/>
              </a:rPr>
              <a:t>and how do you process it so I'm going to write here Storage </a:t>
            </a:r>
            <a:r>
              <a:rPr lang="en-US" sz="1600" dirty="0" smtClean="0">
                <a:latin typeface="Bahnschrift Light" pitchFamily="34" charset="0"/>
              </a:rPr>
              <a:t>of </a:t>
            </a:r>
            <a:r>
              <a:rPr lang="en-US" sz="1600" dirty="0">
                <a:latin typeface="Bahnschrift Light" pitchFamily="34" charset="0"/>
              </a:rPr>
              <a:t>hug data huge data when I say you can think in both terms in </a:t>
            </a:r>
            <a:r>
              <a:rPr lang="en-US" sz="1600" b="1" dirty="0">
                <a:latin typeface="Bahnschrift Light" pitchFamily="34" charset="0"/>
              </a:rPr>
              <a:t>terms of volume </a:t>
            </a:r>
            <a:r>
              <a:rPr lang="en-US" sz="1600" dirty="0">
                <a:latin typeface="Bahnschrift Light" pitchFamily="34" charset="0"/>
              </a:rPr>
              <a:t>and in terms of </a:t>
            </a:r>
            <a:r>
              <a:rPr lang="en-US" sz="1600" b="1" dirty="0">
                <a:latin typeface="Bahnschrift Light" pitchFamily="34" charset="0"/>
              </a:rPr>
              <a:t>variety both </a:t>
            </a:r>
            <a:r>
              <a:rPr lang="en-US" sz="1600" dirty="0">
                <a:latin typeface="Bahnschrift Light" pitchFamily="34" charset="0"/>
              </a:rPr>
              <a:t>okay so I want to store audio video </a:t>
            </a:r>
            <a:r>
              <a:rPr lang="en-US" sz="1600" dirty="0" smtClean="0">
                <a:latin typeface="Bahnschrift Light" pitchFamily="34" charset="0"/>
              </a:rPr>
              <a:t>,images </a:t>
            </a:r>
            <a:r>
              <a:rPr lang="en-US" sz="1600" dirty="0">
                <a:latin typeface="Bahnschrift Light" pitchFamily="34" charset="0"/>
              </a:rPr>
              <a:t>and I want to store more of it because more and more I store more and more my model is going to be rich okay so </a:t>
            </a:r>
            <a:r>
              <a:rPr lang="en-US" sz="1600" dirty="0" smtClean="0">
                <a:latin typeface="Bahnschrift Light" pitchFamily="34" charset="0"/>
              </a:rPr>
              <a:t>these </a:t>
            </a:r>
            <a:r>
              <a:rPr lang="en-US" sz="1600" dirty="0">
                <a:latin typeface="Bahnschrift Light" pitchFamily="34" charset="0"/>
              </a:rPr>
              <a:t>are the key things that is needed in the new world of AI on top of this you want something which is </a:t>
            </a:r>
            <a:r>
              <a:rPr lang="en-US" sz="1600" dirty="0" smtClean="0">
                <a:latin typeface="Bahnschrift Light" pitchFamily="34" charset="0"/>
              </a:rPr>
              <a:t>Fault tolerance</a:t>
            </a:r>
            <a:endParaRPr lang="en-IN" sz="1600" dirty="0">
              <a:latin typeface="Bahnschrift Light" pitchFamily="34" charset="0"/>
            </a:endParaRPr>
          </a:p>
        </p:txBody>
      </p:sp>
      <p:sp>
        <p:nvSpPr>
          <p:cNvPr id="4" name="Rectangle 3"/>
          <p:cNvSpPr/>
          <p:nvPr/>
        </p:nvSpPr>
        <p:spPr>
          <a:xfrm>
            <a:off x="152394" y="2868859"/>
            <a:ext cx="11935693" cy="1107996"/>
          </a:xfrm>
          <a:prstGeom prst="rect">
            <a:avLst/>
          </a:prstGeom>
          <a:ln>
            <a:solidFill>
              <a:schemeClr val="bg1">
                <a:lumMod val="95000"/>
              </a:schemeClr>
            </a:solidFill>
          </a:ln>
        </p:spPr>
        <p:txBody>
          <a:bodyPr wrap="square">
            <a:spAutoFit/>
          </a:bodyPr>
          <a:lstStyle/>
          <a:p>
            <a:r>
              <a:rPr lang="en-US" dirty="0" smtClean="0">
                <a:solidFill>
                  <a:srgbClr val="009900"/>
                </a:solidFill>
                <a:latin typeface="Bahnschrift SemiBold" pitchFamily="34" charset="0"/>
              </a:rPr>
              <a:t>Fault tolerant if we </a:t>
            </a:r>
            <a:r>
              <a:rPr lang="en-US" sz="1600" dirty="0" smtClean="0">
                <a:latin typeface="Bahnschrift Light" pitchFamily="34" charset="0"/>
              </a:rPr>
              <a:t>want </a:t>
            </a:r>
            <a:r>
              <a:rPr lang="en-US" sz="1600" dirty="0">
                <a:latin typeface="Bahnschrift Light" pitchFamily="34" charset="0"/>
              </a:rPr>
              <a:t>to run multiple systems you want to do multiple operations together so </a:t>
            </a:r>
            <a:r>
              <a:rPr lang="en-US" sz="1600" dirty="0" smtClean="0">
                <a:latin typeface="Bahnschrift Light" pitchFamily="34" charset="0"/>
              </a:rPr>
              <a:t>fault tolerance </a:t>
            </a:r>
            <a:r>
              <a:rPr lang="en-US" sz="1600" dirty="0">
                <a:latin typeface="Bahnschrift Light" pitchFamily="34" charset="0"/>
              </a:rPr>
              <a:t>systems is what you need your vector DB support all these things very very well okay your vector DB normally support all these things very very well that is the reason Vector DB </a:t>
            </a:r>
            <a:r>
              <a:rPr lang="en-US" sz="1600" dirty="0" smtClean="0">
                <a:latin typeface="Bahnschrift Light" pitchFamily="34" charset="0"/>
              </a:rPr>
              <a:t>.There </a:t>
            </a:r>
            <a:r>
              <a:rPr lang="en-US" sz="1600" dirty="0">
                <a:latin typeface="Bahnschrift Light" pitchFamily="34" charset="0"/>
              </a:rPr>
              <a:t>is a very good </a:t>
            </a:r>
            <a:r>
              <a:rPr lang="en-US" sz="1600" dirty="0" smtClean="0">
                <a:latin typeface="Bahnschrift Light" pitchFamily="34" charset="0"/>
              </a:rPr>
              <a:t> </a:t>
            </a:r>
            <a:r>
              <a:rPr lang="en-US" sz="1600" dirty="0">
                <a:latin typeface="Bahnschrift Light" pitchFamily="34" charset="0"/>
              </a:rPr>
              <a:t>prediction that almost 30% of the organizations will use Vector </a:t>
            </a:r>
            <a:r>
              <a:rPr lang="en-US" sz="1600" dirty="0" smtClean="0">
                <a:latin typeface="Bahnschrift Light" pitchFamily="34" charset="0"/>
              </a:rPr>
              <a:t>DB </a:t>
            </a:r>
            <a:r>
              <a:rPr lang="en-US" sz="1600" dirty="0">
                <a:latin typeface="Bahnschrift Light" pitchFamily="34" charset="0"/>
              </a:rPr>
              <a:t>in some or other form by 2026 I believe okay </a:t>
            </a:r>
            <a:r>
              <a:rPr lang="en-US" sz="1600" dirty="0" smtClean="0">
                <a:latin typeface="Bahnschrift Light" pitchFamily="34" charset="0"/>
              </a:rPr>
              <a:t>so </a:t>
            </a:r>
            <a:r>
              <a:rPr lang="en-US" sz="1600" dirty="0">
                <a:latin typeface="Bahnschrift Light" pitchFamily="34" charset="0"/>
              </a:rPr>
              <a:t>this is the prediction I mean </a:t>
            </a:r>
            <a:r>
              <a:rPr lang="en-US" sz="1600" dirty="0" smtClean="0">
                <a:latin typeface="Bahnschrift Light" pitchFamily="34" charset="0"/>
              </a:rPr>
              <a:t>the </a:t>
            </a:r>
            <a:r>
              <a:rPr lang="en-US" sz="1600" dirty="0">
                <a:latin typeface="Bahnschrift Light" pitchFamily="34" charset="0"/>
              </a:rPr>
              <a:t>vector </a:t>
            </a:r>
            <a:r>
              <a:rPr lang="en-US" sz="1600" dirty="0" smtClean="0">
                <a:latin typeface="Bahnschrift Light" pitchFamily="34" charset="0"/>
              </a:rPr>
              <a:t>DB </a:t>
            </a:r>
            <a:r>
              <a:rPr lang="en-US" sz="1600" dirty="0">
                <a:latin typeface="Bahnschrift Light" pitchFamily="34" charset="0"/>
              </a:rPr>
              <a:t>is getting </a:t>
            </a:r>
            <a:r>
              <a:rPr lang="en-US" sz="1600" dirty="0" smtClean="0">
                <a:latin typeface="Bahnschrift Light" pitchFamily="34" charset="0"/>
              </a:rPr>
              <a:t>momentum</a:t>
            </a:r>
            <a:endParaRPr lang="en-IN" sz="1600" dirty="0">
              <a:latin typeface="Bahnschrift Light" pitchFamily="34" charset="0"/>
            </a:endParaRPr>
          </a:p>
        </p:txBody>
      </p:sp>
      <p:grpSp>
        <p:nvGrpSpPr>
          <p:cNvPr id="6" name="Group 5"/>
          <p:cNvGrpSpPr/>
          <p:nvPr/>
        </p:nvGrpSpPr>
        <p:grpSpPr>
          <a:xfrm>
            <a:off x="2951018" y="4179146"/>
            <a:ext cx="3004488" cy="2410690"/>
            <a:chOff x="6995951" y="1569082"/>
            <a:chExt cx="3995029" cy="3087685"/>
          </a:xfrm>
        </p:grpSpPr>
        <p:sp>
          <p:nvSpPr>
            <p:cNvPr id="7" name="Freeform 6"/>
            <p:cNvSpPr/>
            <p:nvPr/>
          </p:nvSpPr>
          <p:spPr>
            <a:xfrm>
              <a:off x="6995951" y="1569082"/>
              <a:ext cx="2494413" cy="3087685"/>
            </a:xfrm>
            <a:custGeom>
              <a:avLst/>
              <a:gdLst>
                <a:gd name="connsiteX0" fmla="*/ 2092631 w 2494413"/>
                <a:gd name="connsiteY0" fmla="*/ 51900 h 3087685"/>
                <a:gd name="connsiteX1" fmla="*/ 1524594 w 2494413"/>
                <a:gd name="connsiteY1" fmla="*/ 38045 h 3087685"/>
                <a:gd name="connsiteX2" fmla="*/ 1386049 w 2494413"/>
                <a:gd name="connsiteY2" fmla="*/ 65754 h 3087685"/>
                <a:gd name="connsiteX3" fmla="*/ 1344485 w 2494413"/>
                <a:gd name="connsiteY3" fmla="*/ 93463 h 3087685"/>
                <a:gd name="connsiteX4" fmla="*/ 1247504 w 2494413"/>
                <a:gd name="connsiteY4" fmla="*/ 148882 h 3087685"/>
                <a:gd name="connsiteX5" fmla="*/ 1136667 w 2494413"/>
                <a:gd name="connsiteY5" fmla="*/ 273573 h 3087685"/>
                <a:gd name="connsiteX6" fmla="*/ 1067394 w 2494413"/>
                <a:gd name="connsiteY6" fmla="*/ 384409 h 3087685"/>
                <a:gd name="connsiteX7" fmla="*/ 1011976 w 2494413"/>
                <a:gd name="connsiteY7" fmla="*/ 564518 h 3087685"/>
                <a:gd name="connsiteX8" fmla="*/ 998122 w 2494413"/>
                <a:gd name="connsiteY8" fmla="*/ 606082 h 3087685"/>
                <a:gd name="connsiteX9" fmla="*/ 984267 w 2494413"/>
                <a:gd name="connsiteY9" fmla="*/ 730773 h 3087685"/>
                <a:gd name="connsiteX10" fmla="*/ 970413 w 2494413"/>
                <a:gd name="connsiteY10" fmla="*/ 786191 h 3087685"/>
                <a:gd name="connsiteX11" fmla="*/ 942704 w 2494413"/>
                <a:gd name="connsiteY11" fmla="*/ 869318 h 3087685"/>
                <a:gd name="connsiteX12" fmla="*/ 928849 w 2494413"/>
                <a:gd name="connsiteY12" fmla="*/ 910882 h 3087685"/>
                <a:gd name="connsiteX13" fmla="*/ 901140 w 2494413"/>
                <a:gd name="connsiteY13" fmla="*/ 966300 h 3087685"/>
                <a:gd name="connsiteX14" fmla="*/ 873431 w 2494413"/>
                <a:gd name="connsiteY14" fmla="*/ 1090991 h 3087685"/>
                <a:gd name="connsiteX15" fmla="*/ 845722 w 2494413"/>
                <a:gd name="connsiteY15" fmla="*/ 1146409 h 3087685"/>
                <a:gd name="connsiteX16" fmla="*/ 790304 w 2494413"/>
                <a:gd name="connsiteY16" fmla="*/ 1271100 h 3087685"/>
                <a:gd name="connsiteX17" fmla="*/ 734885 w 2494413"/>
                <a:gd name="connsiteY17" fmla="*/ 1368082 h 3087685"/>
                <a:gd name="connsiteX18" fmla="*/ 707176 w 2494413"/>
                <a:gd name="connsiteY18" fmla="*/ 1437354 h 3087685"/>
                <a:gd name="connsiteX19" fmla="*/ 637904 w 2494413"/>
                <a:gd name="connsiteY19" fmla="*/ 1520482 h 3087685"/>
                <a:gd name="connsiteX20" fmla="*/ 540922 w 2494413"/>
                <a:gd name="connsiteY20" fmla="*/ 1631318 h 3087685"/>
                <a:gd name="connsiteX21" fmla="*/ 499358 w 2494413"/>
                <a:gd name="connsiteY21" fmla="*/ 1659027 h 3087685"/>
                <a:gd name="connsiteX22" fmla="*/ 457794 w 2494413"/>
                <a:gd name="connsiteY22" fmla="*/ 1700591 h 3087685"/>
                <a:gd name="connsiteX23" fmla="*/ 374667 w 2494413"/>
                <a:gd name="connsiteY23" fmla="*/ 1742154 h 3087685"/>
                <a:gd name="connsiteX24" fmla="*/ 277685 w 2494413"/>
                <a:gd name="connsiteY24" fmla="*/ 1797573 h 3087685"/>
                <a:gd name="connsiteX25" fmla="*/ 222267 w 2494413"/>
                <a:gd name="connsiteY25" fmla="*/ 1811427 h 3087685"/>
                <a:gd name="connsiteX26" fmla="*/ 180704 w 2494413"/>
                <a:gd name="connsiteY26" fmla="*/ 1825282 h 3087685"/>
                <a:gd name="connsiteX27" fmla="*/ 14449 w 2494413"/>
                <a:gd name="connsiteY27" fmla="*/ 1811427 h 3087685"/>
                <a:gd name="connsiteX28" fmla="*/ 594 w 2494413"/>
                <a:gd name="connsiteY28" fmla="*/ 1769863 h 3087685"/>
                <a:gd name="connsiteX29" fmla="*/ 28304 w 2494413"/>
                <a:gd name="connsiteY29" fmla="*/ 1700591 h 3087685"/>
                <a:gd name="connsiteX30" fmla="*/ 83722 w 2494413"/>
                <a:gd name="connsiteY30" fmla="*/ 1631318 h 3087685"/>
                <a:gd name="connsiteX31" fmla="*/ 152994 w 2494413"/>
                <a:gd name="connsiteY31" fmla="*/ 1617463 h 3087685"/>
                <a:gd name="connsiteX32" fmla="*/ 263831 w 2494413"/>
                <a:gd name="connsiteY32" fmla="*/ 1589754 h 3087685"/>
                <a:gd name="connsiteX33" fmla="*/ 540922 w 2494413"/>
                <a:gd name="connsiteY33" fmla="*/ 1603609 h 3087685"/>
                <a:gd name="connsiteX34" fmla="*/ 610194 w 2494413"/>
                <a:gd name="connsiteY34" fmla="*/ 1672882 h 3087685"/>
                <a:gd name="connsiteX35" fmla="*/ 651758 w 2494413"/>
                <a:gd name="connsiteY35" fmla="*/ 1783718 h 3087685"/>
                <a:gd name="connsiteX36" fmla="*/ 665613 w 2494413"/>
                <a:gd name="connsiteY36" fmla="*/ 1839136 h 3087685"/>
                <a:gd name="connsiteX37" fmla="*/ 693322 w 2494413"/>
                <a:gd name="connsiteY37" fmla="*/ 1908409 h 3087685"/>
                <a:gd name="connsiteX38" fmla="*/ 707176 w 2494413"/>
                <a:gd name="connsiteY38" fmla="*/ 2088518 h 3087685"/>
                <a:gd name="connsiteX39" fmla="*/ 721031 w 2494413"/>
                <a:gd name="connsiteY39" fmla="*/ 2171645 h 3087685"/>
                <a:gd name="connsiteX40" fmla="*/ 762594 w 2494413"/>
                <a:gd name="connsiteY40" fmla="*/ 2240918 h 3087685"/>
                <a:gd name="connsiteX41" fmla="*/ 776449 w 2494413"/>
                <a:gd name="connsiteY41" fmla="*/ 2324045 h 3087685"/>
                <a:gd name="connsiteX42" fmla="*/ 818013 w 2494413"/>
                <a:gd name="connsiteY42" fmla="*/ 2407173 h 3087685"/>
                <a:gd name="connsiteX43" fmla="*/ 859576 w 2494413"/>
                <a:gd name="connsiteY43" fmla="*/ 2504154 h 3087685"/>
                <a:gd name="connsiteX44" fmla="*/ 901140 w 2494413"/>
                <a:gd name="connsiteY44" fmla="*/ 2559573 h 3087685"/>
                <a:gd name="connsiteX45" fmla="*/ 984267 w 2494413"/>
                <a:gd name="connsiteY45" fmla="*/ 2670409 h 3087685"/>
                <a:gd name="connsiteX46" fmla="*/ 1025831 w 2494413"/>
                <a:gd name="connsiteY46" fmla="*/ 2725827 h 3087685"/>
                <a:gd name="connsiteX47" fmla="*/ 1136667 w 2494413"/>
                <a:gd name="connsiteY47" fmla="*/ 2781245 h 3087685"/>
                <a:gd name="connsiteX48" fmla="*/ 1219794 w 2494413"/>
                <a:gd name="connsiteY48" fmla="*/ 2836663 h 3087685"/>
                <a:gd name="connsiteX49" fmla="*/ 1261358 w 2494413"/>
                <a:gd name="connsiteY49" fmla="*/ 2864373 h 3087685"/>
                <a:gd name="connsiteX50" fmla="*/ 1316776 w 2494413"/>
                <a:gd name="connsiteY50" fmla="*/ 2878227 h 3087685"/>
                <a:gd name="connsiteX51" fmla="*/ 1455322 w 2494413"/>
                <a:gd name="connsiteY51" fmla="*/ 2933645 h 3087685"/>
                <a:gd name="connsiteX52" fmla="*/ 1496885 w 2494413"/>
                <a:gd name="connsiteY52" fmla="*/ 2947500 h 3087685"/>
                <a:gd name="connsiteX53" fmla="*/ 1621576 w 2494413"/>
                <a:gd name="connsiteY53" fmla="*/ 2975209 h 3087685"/>
                <a:gd name="connsiteX54" fmla="*/ 1676994 w 2494413"/>
                <a:gd name="connsiteY54" fmla="*/ 3002918 h 3087685"/>
                <a:gd name="connsiteX55" fmla="*/ 1912522 w 2494413"/>
                <a:gd name="connsiteY55" fmla="*/ 3030627 h 3087685"/>
                <a:gd name="connsiteX56" fmla="*/ 2161904 w 2494413"/>
                <a:gd name="connsiteY56" fmla="*/ 3086045 h 3087685"/>
                <a:gd name="connsiteX57" fmla="*/ 2494413 w 2494413"/>
                <a:gd name="connsiteY57" fmla="*/ 3086045 h 3087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494413" h="3087685">
                  <a:moveTo>
                    <a:pt x="2092631" y="51900"/>
                  </a:moveTo>
                  <a:cubicBezTo>
                    <a:pt x="1875236" y="-35057"/>
                    <a:pt x="2006078" y="6644"/>
                    <a:pt x="1524594" y="38045"/>
                  </a:cubicBezTo>
                  <a:cubicBezTo>
                    <a:pt x="1477598" y="41110"/>
                    <a:pt x="1386049" y="65754"/>
                    <a:pt x="1386049" y="65754"/>
                  </a:cubicBezTo>
                  <a:cubicBezTo>
                    <a:pt x="1372194" y="74990"/>
                    <a:pt x="1359378" y="86016"/>
                    <a:pt x="1344485" y="93463"/>
                  </a:cubicBezTo>
                  <a:cubicBezTo>
                    <a:pt x="1270485" y="130463"/>
                    <a:pt x="1331256" y="73505"/>
                    <a:pt x="1247504" y="148882"/>
                  </a:cubicBezTo>
                  <a:cubicBezTo>
                    <a:pt x="1148308" y="238159"/>
                    <a:pt x="1187937" y="201794"/>
                    <a:pt x="1136667" y="273573"/>
                  </a:cubicBezTo>
                  <a:cubicBezTo>
                    <a:pt x="1098774" y="326624"/>
                    <a:pt x="1091064" y="325234"/>
                    <a:pt x="1067394" y="384409"/>
                  </a:cubicBezTo>
                  <a:cubicBezTo>
                    <a:pt x="1045851" y="438266"/>
                    <a:pt x="1028373" y="509859"/>
                    <a:pt x="1011976" y="564518"/>
                  </a:cubicBezTo>
                  <a:cubicBezTo>
                    <a:pt x="1007780" y="578506"/>
                    <a:pt x="1002740" y="592227"/>
                    <a:pt x="998122" y="606082"/>
                  </a:cubicBezTo>
                  <a:cubicBezTo>
                    <a:pt x="993504" y="647646"/>
                    <a:pt x="990626" y="689440"/>
                    <a:pt x="984267" y="730773"/>
                  </a:cubicBezTo>
                  <a:cubicBezTo>
                    <a:pt x="981372" y="749593"/>
                    <a:pt x="975884" y="767953"/>
                    <a:pt x="970413" y="786191"/>
                  </a:cubicBezTo>
                  <a:cubicBezTo>
                    <a:pt x="962020" y="814167"/>
                    <a:pt x="951940" y="841609"/>
                    <a:pt x="942704" y="869318"/>
                  </a:cubicBezTo>
                  <a:cubicBezTo>
                    <a:pt x="938086" y="883173"/>
                    <a:pt x="935380" y="897820"/>
                    <a:pt x="928849" y="910882"/>
                  </a:cubicBezTo>
                  <a:lnTo>
                    <a:pt x="901140" y="966300"/>
                  </a:lnTo>
                  <a:cubicBezTo>
                    <a:pt x="892838" y="1016112"/>
                    <a:pt x="892033" y="1047586"/>
                    <a:pt x="873431" y="1090991"/>
                  </a:cubicBezTo>
                  <a:cubicBezTo>
                    <a:pt x="865295" y="1109974"/>
                    <a:pt x="853392" y="1127233"/>
                    <a:pt x="845722" y="1146409"/>
                  </a:cubicBezTo>
                  <a:cubicBezTo>
                    <a:pt x="796260" y="1270064"/>
                    <a:pt x="843614" y="1191134"/>
                    <a:pt x="790304" y="1271100"/>
                  </a:cubicBezTo>
                  <a:cubicBezTo>
                    <a:pt x="758327" y="1399004"/>
                    <a:pt x="803671" y="1258026"/>
                    <a:pt x="734885" y="1368082"/>
                  </a:cubicBezTo>
                  <a:cubicBezTo>
                    <a:pt x="721704" y="1389171"/>
                    <a:pt x="718298" y="1415110"/>
                    <a:pt x="707176" y="1437354"/>
                  </a:cubicBezTo>
                  <a:cubicBezTo>
                    <a:pt x="682680" y="1486347"/>
                    <a:pt x="674672" y="1477586"/>
                    <a:pt x="637904" y="1520482"/>
                  </a:cubicBezTo>
                  <a:cubicBezTo>
                    <a:pt x="579118" y="1589066"/>
                    <a:pt x="614418" y="1568322"/>
                    <a:pt x="540922" y="1631318"/>
                  </a:cubicBezTo>
                  <a:cubicBezTo>
                    <a:pt x="528279" y="1642154"/>
                    <a:pt x="512150" y="1648367"/>
                    <a:pt x="499358" y="1659027"/>
                  </a:cubicBezTo>
                  <a:cubicBezTo>
                    <a:pt x="484306" y="1671570"/>
                    <a:pt x="472846" y="1688048"/>
                    <a:pt x="457794" y="1700591"/>
                  </a:cubicBezTo>
                  <a:cubicBezTo>
                    <a:pt x="421983" y="1730433"/>
                    <a:pt x="416325" y="1728269"/>
                    <a:pt x="374667" y="1742154"/>
                  </a:cubicBezTo>
                  <a:cubicBezTo>
                    <a:pt x="340214" y="1765123"/>
                    <a:pt x="317862" y="1782507"/>
                    <a:pt x="277685" y="1797573"/>
                  </a:cubicBezTo>
                  <a:cubicBezTo>
                    <a:pt x="259856" y="1804259"/>
                    <a:pt x="240576" y="1806196"/>
                    <a:pt x="222267" y="1811427"/>
                  </a:cubicBezTo>
                  <a:cubicBezTo>
                    <a:pt x="208225" y="1815439"/>
                    <a:pt x="194558" y="1820664"/>
                    <a:pt x="180704" y="1825282"/>
                  </a:cubicBezTo>
                  <a:cubicBezTo>
                    <a:pt x="125286" y="1820664"/>
                    <a:pt x="67600" y="1827781"/>
                    <a:pt x="14449" y="1811427"/>
                  </a:cubicBezTo>
                  <a:cubicBezTo>
                    <a:pt x="491" y="1807132"/>
                    <a:pt x="-1217" y="1784354"/>
                    <a:pt x="594" y="1769863"/>
                  </a:cubicBezTo>
                  <a:cubicBezTo>
                    <a:pt x="3679" y="1745186"/>
                    <a:pt x="15509" y="1721916"/>
                    <a:pt x="28304" y="1700591"/>
                  </a:cubicBezTo>
                  <a:cubicBezTo>
                    <a:pt x="43518" y="1675234"/>
                    <a:pt x="59118" y="1647721"/>
                    <a:pt x="83722" y="1631318"/>
                  </a:cubicBezTo>
                  <a:cubicBezTo>
                    <a:pt x="103315" y="1618256"/>
                    <a:pt x="130049" y="1622758"/>
                    <a:pt x="152994" y="1617463"/>
                  </a:cubicBezTo>
                  <a:cubicBezTo>
                    <a:pt x="190101" y="1608900"/>
                    <a:pt x="226885" y="1598990"/>
                    <a:pt x="263831" y="1589754"/>
                  </a:cubicBezTo>
                  <a:cubicBezTo>
                    <a:pt x="356195" y="1594372"/>
                    <a:pt x="449220" y="1591648"/>
                    <a:pt x="540922" y="1603609"/>
                  </a:cubicBezTo>
                  <a:cubicBezTo>
                    <a:pt x="570564" y="1607475"/>
                    <a:pt x="599024" y="1650543"/>
                    <a:pt x="610194" y="1672882"/>
                  </a:cubicBezTo>
                  <a:cubicBezTo>
                    <a:pt x="619961" y="1692415"/>
                    <a:pt x="643762" y="1755731"/>
                    <a:pt x="651758" y="1783718"/>
                  </a:cubicBezTo>
                  <a:cubicBezTo>
                    <a:pt x="656989" y="1802027"/>
                    <a:pt x="659592" y="1821072"/>
                    <a:pt x="665613" y="1839136"/>
                  </a:cubicBezTo>
                  <a:cubicBezTo>
                    <a:pt x="673478" y="1862729"/>
                    <a:pt x="684086" y="1885318"/>
                    <a:pt x="693322" y="1908409"/>
                  </a:cubicBezTo>
                  <a:cubicBezTo>
                    <a:pt x="697940" y="1968445"/>
                    <a:pt x="700873" y="2028635"/>
                    <a:pt x="707176" y="2088518"/>
                  </a:cubicBezTo>
                  <a:cubicBezTo>
                    <a:pt x="710117" y="2116455"/>
                    <a:pt x="711431" y="2145245"/>
                    <a:pt x="721031" y="2171645"/>
                  </a:cubicBezTo>
                  <a:cubicBezTo>
                    <a:pt x="730234" y="2196952"/>
                    <a:pt x="748740" y="2217827"/>
                    <a:pt x="762594" y="2240918"/>
                  </a:cubicBezTo>
                  <a:cubicBezTo>
                    <a:pt x="767212" y="2268627"/>
                    <a:pt x="767566" y="2297395"/>
                    <a:pt x="776449" y="2324045"/>
                  </a:cubicBezTo>
                  <a:cubicBezTo>
                    <a:pt x="786246" y="2353435"/>
                    <a:pt x="805431" y="2378863"/>
                    <a:pt x="818013" y="2407173"/>
                  </a:cubicBezTo>
                  <a:cubicBezTo>
                    <a:pt x="847022" y="2472443"/>
                    <a:pt x="813140" y="2429856"/>
                    <a:pt x="859576" y="2504154"/>
                  </a:cubicBezTo>
                  <a:cubicBezTo>
                    <a:pt x="871814" y="2523735"/>
                    <a:pt x="888331" y="2540360"/>
                    <a:pt x="901140" y="2559573"/>
                  </a:cubicBezTo>
                  <a:cubicBezTo>
                    <a:pt x="1020249" y="2738235"/>
                    <a:pt x="874575" y="2542435"/>
                    <a:pt x="984267" y="2670409"/>
                  </a:cubicBezTo>
                  <a:cubicBezTo>
                    <a:pt x="999294" y="2687941"/>
                    <a:pt x="1007157" y="2712246"/>
                    <a:pt x="1025831" y="2725827"/>
                  </a:cubicBezTo>
                  <a:cubicBezTo>
                    <a:pt x="1059237" y="2750122"/>
                    <a:pt x="1102298" y="2758332"/>
                    <a:pt x="1136667" y="2781245"/>
                  </a:cubicBezTo>
                  <a:lnTo>
                    <a:pt x="1219794" y="2836663"/>
                  </a:lnTo>
                  <a:cubicBezTo>
                    <a:pt x="1233649" y="2845900"/>
                    <a:pt x="1245204" y="2860335"/>
                    <a:pt x="1261358" y="2864373"/>
                  </a:cubicBezTo>
                  <a:lnTo>
                    <a:pt x="1316776" y="2878227"/>
                  </a:lnTo>
                  <a:cubicBezTo>
                    <a:pt x="1398321" y="2919000"/>
                    <a:pt x="1352597" y="2899403"/>
                    <a:pt x="1455322" y="2933645"/>
                  </a:cubicBezTo>
                  <a:cubicBezTo>
                    <a:pt x="1469176" y="2938263"/>
                    <a:pt x="1482565" y="2944636"/>
                    <a:pt x="1496885" y="2947500"/>
                  </a:cubicBezTo>
                  <a:cubicBezTo>
                    <a:pt x="1515703" y="2951263"/>
                    <a:pt x="1599209" y="2966821"/>
                    <a:pt x="1621576" y="2975209"/>
                  </a:cubicBezTo>
                  <a:cubicBezTo>
                    <a:pt x="1640914" y="2982461"/>
                    <a:pt x="1658011" y="2994782"/>
                    <a:pt x="1676994" y="3002918"/>
                  </a:cubicBezTo>
                  <a:cubicBezTo>
                    <a:pt x="1752571" y="3035308"/>
                    <a:pt x="1825959" y="3024444"/>
                    <a:pt x="1912522" y="3030627"/>
                  </a:cubicBezTo>
                  <a:cubicBezTo>
                    <a:pt x="1931506" y="3035373"/>
                    <a:pt x="2108254" y="3084257"/>
                    <a:pt x="2161904" y="3086045"/>
                  </a:cubicBezTo>
                  <a:cubicBezTo>
                    <a:pt x="2272679" y="3089737"/>
                    <a:pt x="2383577" y="3086045"/>
                    <a:pt x="2494413" y="3086045"/>
                  </a:cubicBez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8" name="TextBox 7"/>
            <p:cNvSpPr txBox="1"/>
            <p:nvPr/>
          </p:nvSpPr>
          <p:spPr>
            <a:xfrm>
              <a:off x="8284245" y="1824288"/>
              <a:ext cx="2073003" cy="707886"/>
            </a:xfrm>
            <a:prstGeom prst="rect">
              <a:avLst/>
            </a:prstGeom>
            <a:noFill/>
          </p:spPr>
          <p:txBody>
            <a:bodyPr wrap="none" rtlCol="0">
              <a:spAutoFit/>
            </a:bodyPr>
            <a:lstStyle/>
            <a:p>
              <a:r>
                <a:rPr lang="en-US" sz="2000" dirty="0" smtClean="0">
                  <a:solidFill>
                    <a:srgbClr val="002060"/>
                  </a:solidFill>
                  <a:latin typeface="Bahnschrift SemiLight" pitchFamily="34" charset="0"/>
                  <a:sym typeface="Wingdings" pitchFamily="2" charset="2"/>
                </a:rPr>
                <a:t>Fast response</a:t>
              </a:r>
            </a:p>
            <a:p>
              <a:endParaRPr lang="en-IN" sz="2000" dirty="0">
                <a:solidFill>
                  <a:srgbClr val="0070C0"/>
                </a:solidFill>
                <a:latin typeface="Bahnschrift SemiLight" pitchFamily="34" charset="0"/>
              </a:endParaRPr>
            </a:p>
          </p:txBody>
        </p:sp>
        <p:sp>
          <p:nvSpPr>
            <p:cNvPr id="9" name="TextBox 8"/>
            <p:cNvSpPr txBox="1"/>
            <p:nvPr/>
          </p:nvSpPr>
          <p:spPr>
            <a:xfrm>
              <a:off x="8195022" y="2579922"/>
              <a:ext cx="2795958" cy="677108"/>
            </a:xfrm>
            <a:prstGeom prst="rect">
              <a:avLst/>
            </a:prstGeom>
            <a:noFill/>
          </p:spPr>
          <p:txBody>
            <a:bodyPr wrap="none" rtlCol="0">
              <a:spAutoFit/>
            </a:bodyPr>
            <a:lstStyle/>
            <a:p>
              <a:r>
                <a:rPr lang="en-US" dirty="0" smtClean="0">
                  <a:solidFill>
                    <a:srgbClr val="002060"/>
                  </a:solidFill>
                  <a:sym typeface="Wingdings" pitchFamily="2" charset="2"/>
                </a:rPr>
                <a:t></a:t>
              </a:r>
              <a:r>
                <a:rPr lang="en-US" sz="2000" dirty="0">
                  <a:solidFill>
                    <a:srgbClr val="002060"/>
                  </a:solidFill>
                  <a:latin typeface="Bahnschrift SemiLight" pitchFamily="34" charset="0"/>
                  <a:sym typeface="Wingdings" pitchFamily="2" charset="2"/>
                </a:rPr>
                <a:t>Storage of huge data</a:t>
              </a:r>
            </a:p>
            <a:p>
              <a:endParaRPr lang="en-IN" dirty="0"/>
            </a:p>
          </p:txBody>
        </p:sp>
        <p:sp>
          <p:nvSpPr>
            <p:cNvPr id="10" name="TextBox 9"/>
            <p:cNvSpPr txBox="1"/>
            <p:nvPr/>
          </p:nvSpPr>
          <p:spPr>
            <a:xfrm>
              <a:off x="8243157" y="3505199"/>
              <a:ext cx="2255746" cy="677108"/>
            </a:xfrm>
            <a:prstGeom prst="rect">
              <a:avLst/>
            </a:prstGeom>
            <a:noFill/>
          </p:spPr>
          <p:txBody>
            <a:bodyPr wrap="none" rtlCol="0">
              <a:spAutoFit/>
            </a:bodyPr>
            <a:lstStyle/>
            <a:p>
              <a:r>
                <a:rPr lang="en-US" sz="2000" dirty="0">
                  <a:solidFill>
                    <a:srgbClr val="002060"/>
                  </a:solidFill>
                  <a:latin typeface="Bahnschrift SemiLight" pitchFamily="34" charset="0"/>
                  <a:sym typeface="Wingdings" pitchFamily="2" charset="2"/>
                </a:rPr>
                <a:t></a:t>
              </a:r>
              <a:r>
                <a:rPr lang="en-US" sz="2000" dirty="0" smtClean="0">
                  <a:solidFill>
                    <a:srgbClr val="002060"/>
                  </a:solidFill>
                  <a:latin typeface="Bahnschrift SemiLight" pitchFamily="34" charset="0"/>
                  <a:sym typeface="Wingdings" pitchFamily="2" charset="2"/>
                </a:rPr>
                <a:t>Fault tolerance</a:t>
              </a:r>
              <a:endParaRPr lang="en-US" sz="2000" dirty="0">
                <a:solidFill>
                  <a:srgbClr val="002060"/>
                </a:solidFill>
                <a:latin typeface="Bahnschrift SemiLight" pitchFamily="34" charset="0"/>
                <a:sym typeface="Wingdings" pitchFamily="2" charset="2"/>
              </a:endParaRPr>
            </a:p>
            <a:p>
              <a:endParaRPr lang="en-IN" dirty="0"/>
            </a:p>
          </p:txBody>
        </p:sp>
      </p:grpSp>
    </p:spTree>
    <p:extLst>
      <p:ext uri="{BB962C8B-B14F-4D97-AF65-F5344CB8AC3E}">
        <p14:creationId xmlns:p14="http://schemas.microsoft.com/office/powerpoint/2010/main" val="31927244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6" name="Group 5"/>
          <p:cNvGrpSpPr/>
          <p:nvPr/>
        </p:nvGrpSpPr>
        <p:grpSpPr>
          <a:xfrm>
            <a:off x="248047" y="119547"/>
            <a:ext cx="2281394" cy="461665"/>
            <a:chOff x="248047" y="119547"/>
            <a:chExt cx="2281394" cy="461665"/>
          </a:xfrm>
        </p:grpSpPr>
        <p:sp>
          <p:nvSpPr>
            <p:cNvPr id="2" name="TextBox 1"/>
            <p:cNvSpPr txBox="1"/>
            <p:nvPr/>
          </p:nvSpPr>
          <p:spPr>
            <a:xfrm>
              <a:off x="248047" y="119547"/>
              <a:ext cx="2281394" cy="461665"/>
            </a:xfrm>
            <a:prstGeom prst="rect">
              <a:avLst/>
            </a:prstGeom>
            <a:ln w="28575">
              <a:solidFill>
                <a:srgbClr val="33CC33"/>
              </a:solidFill>
            </a:ln>
          </p:spPr>
          <p:style>
            <a:lnRef idx="1">
              <a:schemeClr val="accent1"/>
            </a:lnRef>
            <a:fillRef idx="0">
              <a:schemeClr val="accent1"/>
            </a:fillRef>
            <a:effectRef idx="0">
              <a:schemeClr val="accent1"/>
            </a:effectRef>
            <a:fontRef idx="minor">
              <a:schemeClr val="tx1"/>
            </a:fontRef>
          </p:style>
          <p:txBody>
            <a:bodyPr wrap="none" rtlCol="0">
              <a:spAutoFit/>
            </a:bodyPr>
            <a:lstStyle>
              <a:defPPr>
                <a:defRPr lang="en-US"/>
              </a:defPPr>
              <a:lvl1pPr>
                <a:defRPr sz="2400">
                  <a:solidFill>
                    <a:srgbClr val="009900"/>
                  </a:solidFill>
                  <a:latin typeface="Bahnschrift SemiBold SemiConden" pitchFamily="34" charset="0"/>
                  <a:cs typeface="Cascadia Code ExtraLight" pitchFamily="49" charset="0"/>
                </a:defRPr>
              </a:lvl1pPr>
            </a:lstStyle>
            <a:p>
              <a:r>
                <a:rPr lang="en-US" dirty="0"/>
                <a:t>Vector Databases</a:t>
              </a:r>
              <a:endParaRPr lang="en-IN" dirty="0"/>
            </a:p>
          </p:txBody>
        </p:sp>
        <p:cxnSp>
          <p:nvCxnSpPr>
            <p:cNvPr id="4" name="Straight Connector 3"/>
            <p:cNvCxnSpPr/>
            <p:nvPr/>
          </p:nvCxnSpPr>
          <p:spPr>
            <a:xfrm>
              <a:off x="248047" y="581212"/>
              <a:ext cx="2281394" cy="0"/>
            </a:xfrm>
            <a:prstGeom prst="line">
              <a:avLst/>
            </a:prstGeom>
            <a:ln w="28575">
              <a:solidFill>
                <a:srgbClr val="33CC33"/>
              </a:solidFill>
            </a:ln>
          </p:spPr>
          <p:style>
            <a:lnRef idx="1">
              <a:schemeClr val="accent1"/>
            </a:lnRef>
            <a:fillRef idx="0">
              <a:schemeClr val="accent1"/>
            </a:fillRef>
            <a:effectRef idx="0">
              <a:schemeClr val="accent1"/>
            </a:effectRef>
            <a:fontRef idx="minor">
              <a:schemeClr val="tx1"/>
            </a:fontRef>
          </p:style>
        </p:cxnSp>
      </p:grpSp>
      <p:sp>
        <p:nvSpPr>
          <p:cNvPr id="7" name="TextBox 6"/>
          <p:cNvSpPr txBox="1"/>
          <p:nvPr/>
        </p:nvSpPr>
        <p:spPr>
          <a:xfrm>
            <a:off x="858982" y="688172"/>
            <a:ext cx="9861995" cy="369332"/>
          </a:xfrm>
          <a:prstGeom prst="rect">
            <a:avLst/>
          </a:prstGeom>
          <a:noFill/>
        </p:spPr>
        <p:txBody>
          <a:bodyPr wrap="none" rtlCol="0">
            <a:spAutoFit/>
          </a:bodyPr>
          <a:lstStyle/>
          <a:p>
            <a:r>
              <a:rPr lang="en-US" dirty="0">
                <a:latin typeface="Bahnschrift Light" pitchFamily="34" charset="0"/>
              </a:rPr>
              <a:t>Vector databases are a new type of databases, designed to store and query unstructured data</a:t>
            </a:r>
            <a:endParaRPr lang="en-IN" dirty="0">
              <a:latin typeface="Bahnschrift Light" pitchFamily="34" charset="0"/>
            </a:endParaRPr>
          </a:p>
        </p:txBody>
      </p:sp>
      <p:sp>
        <p:nvSpPr>
          <p:cNvPr id="9" name="TextBox 8"/>
          <p:cNvSpPr txBox="1"/>
          <p:nvPr/>
        </p:nvSpPr>
        <p:spPr>
          <a:xfrm>
            <a:off x="811477" y="4858392"/>
            <a:ext cx="8509061" cy="338554"/>
          </a:xfrm>
          <a:prstGeom prst="rect">
            <a:avLst/>
          </a:prstGeom>
          <a:noFill/>
        </p:spPr>
        <p:txBody>
          <a:bodyPr wrap="none" rtlCol="0">
            <a:spAutoFit/>
          </a:bodyPr>
          <a:lstStyle/>
          <a:p>
            <a:r>
              <a:rPr lang="en-US" sz="1600" dirty="0" smtClean="0">
                <a:latin typeface="Bahnschrift Light" pitchFamily="34" charset="0"/>
              </a:rPr>
              <a:t>Unstructured data is data that dos not have a fixed schema, such as text, images and audio</a:t>
            </a:r>
            <a:endParaRPr lang="en-IN" sz="1600" dirty="0">
              <a:latin typeface="Bahnschrift Light"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7566" y="1256434"/>
            <a:ext cx="3951892" cy="2913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811476" y="5289512"/>
            <a:ext cx="8509061" cy="338554"/>
          </a:xfrm>
          <a:prstGeom prst="rect">
            <a:avLst/>
          </a:prstGeom>
          <a:ln>
            <a:noFill/>
          </a:ln>
        </p:spPr>
        <p:txBody>
          <a:bodyPr wrap="square">
            <a:spAutoFit/>
          </a:bodyPr>
          <a:lstStyle/>
          <a:p>
            <a:pPr marL="285750" indent="-285750">
              <a:buFont typeface="Wingdings" pitchFamily="2" charset="2"/>
              <a:buChar char="§"/>
            </a:pPr>
            <a:r>
              <a:rPr lang="en-US" sz="1600" dirty="0" smtClean="0">
                <a:latin typeface="Bahnschrift Light" pitchFamily="34" charset="0"/>
              </a:rPr>
              <a:t>It </a:t>
            </a:r>
            <a:r>
              <a:rPr lang="en-US" sz="1600" dirty="0">
                <a:latin typeface="Bahnschrift Light" pitchFamily="34" charset="0"/>
              </a:rPr>
              <a:t>leverages the power of embeddings from machine learning models</a:t>
            </a:r>
            <a:endParaRPr lang="en-IN" sz="1600" dirty="0">
              <a:latin typeface="Bahnschrift Light" pitchFamily="34" charset="0"/>
            </a:endParaRPr>
          </a:p>
        </p:txBody>
      </p:sp>
    </p:spTree>
    <p:extLst>
      <p:ext uri="{BB962C8B-B14F-4D97-AF65-F5344CB8AC3E}">
        <p14:creationId xmlns:p14="http://schemas.microsoft.com/office/powerpoint/2010/main" val="17610506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4" name="Group 3"/>
          <p:cNvGrpSpPr/>
          <p:nvPr/>
        </p:nvGrpSpPr>
        <p:grpSpPr>
          <a:xfrm>
            <a:off x="248047" y="119547"/>
            <a:ext cx="2398171" cy="461665"/>
            <a:chOff x="248047" y="119547"/>
            <a:chExt cx="2398171" cy="461665"/>
          </a:xfrm>
        </p:grpSpPr>
        <p:sp>
          <p:nvSpPr>
            <p:cNvPr id="5" name="TextBox 4"/>
            <p:cNvSpPr txBox="1"/>
            <p:nvPr/>
          </p:nvSpPr>
          <p:spPr>
            <a:xfrm>
              <a:off x="248047" y="119547"/>
              <a:ext cx="2279791" cy="461665"/>
            </a:xfrm>
            <a:prstGeom prst="rect">
              <a:avLst/>
            </a:prstGeom>
            <a:ln w="28575">
              <a:solidFill>
                <a:srgbClr val="33CC33"/>
              </a:solidFill>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sz="2400" dirty="0" smtClean="0">
                  <a:solidFill>
                    <a:srgbClr val="009900"/>
                  </a:solidFill>
                  <a:latin typeface="Bahnschrift SemiBold SemiConden" pitchFamily="34" charset="0"/>
                  <a:cs typeface="Cascadia Code ExtraLight" pitchFamily="49" charset="0"/>
                </a:rPr>
                <a:t>Pinecone Indexes</a:t>
              </a:r>
              <a:endParaRPr lang="en-IN" sz="2400" dirty="0">
                <a:solidFill>
                  <a:srgbClr val="009900"/>
                </a:solidFill>
                <a:latin typeface="Bahnschrift SemiBold SemiConden" pitchFamily="34" charset="0"/>
                <a:cs typeface="Cascadia Code ExtraLight" pitchFamily="49" charset="0"/>
              </a:endParaRPr>
            </a:p>
          </p:txBody>
        </p:sp>
        <p:cxnSp>
          <p:nvCxnSpPr>
            <p:cNvPr id="6" name="Straight Connector 5"/>
            <p:cNvCxnSpPr/>
            <p:nvPr/>
          </p:nvCxnSpPr>
          <p:spPr>
            <a:xfrm>
              <a:off x="248047" y="581212"/>
              <a:ext cx="2398171" cy="0"/>
            </a:xfrm>
            <a:prstGeom prst="line">
              <a:avLst/>
            </a:prstGeom>
            <a:ln w="28575">
              <a:solidFill>
                <a:srgbClr val="33CC33"/>
              </a:solidFill>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594014" y="758361"/>
            <a:ext cx="6923690" cy="369332"/>
          </a:xfrm>
          <a:prstGeom prst="rect">
            <a:avLst/>
          </a:prstGeom>
          <a:noFill/>
        </p:spPr>
        <p:txBody>
          <a:bodyPr wrap="none" rtlCol="0">
            <a:spAutoFit/>
          </a:bodyPr>
          <a:lstStyle/>
          <a:p>
            <a:r>
              <a:rPr lang="en-US" sz="1600" dirty="0" smtClean="0">
                <a:latin typeface="Bahnschrift Light" pitchFamily="34" charset="0"/>
              </a:rPr>
              <a:t>An</a:t>
            </a:r>
            <a:r>
              <a:rPr lang="en-US" b="1" dirty="0" smtClean="0">
                <a:solidFill>
                  <a:srgbClr val="009900"/>
                </a:solidFill>
                <a:latin typeface="Bahnschrift Light" pitchFamily="34" charset="0"/>
              </a:rPr>
              <a:t> Index </a:t>
            </a:r>
            <a:r>
              <a:rPr lang="en-US" sz="1600" dirty="0" smtClean="0">
                <a:latin typeface="Bahnschrift Light" pitchFamily="34" charset="0"/>
              </a:rPr>
              <a:t>is the highest-level organization unit of vector data in pinecone</a:t>
            </a:r>
            <a:endParaRPr lang="en-IN" sz="1600" dirty="0">
              <a:latin typeface="Bahnschrift Light" pitchFamily="34" charset="0"/>
            </a:endParaRPr>
          </a:p>
        </p:txBody>
      </p:sp>
      <p:sp>
        <p:nvSpPr>
          <p:cNvPr id="8" name="TextBox 7"/>
          <p:cNvSpPr txBox="1"/>
          <p:nvPr/>
        </p:nvSpPr>
        <p:spPr>
          <a:xfrm>
            <a:off x="594015" y="1170418"/>
            <a:ext cx="11512828" cy="369332"/>
          </a:xfrm>
          <a:prstGeom prst="rect">
            <a:avLst/>
          </a:prstGeom>
          <a:noFill/>
        </p:spPr>
        <p:txBody>
          <a:bodyPr wrap="square" rtlCol="0">
            <a:spAutoFit/>
          </a:bodyPr>
          <a:lstStyle/>
          <a:p>
            <a:r>
              <a:rPr lang="en-US" dirty="0" smtClean="0"/>
              <a:t>It accepts and stores vectors, serves queries over the vector it contains, and does other vector operations over its content</a:t>
            </a:r>
            <a:endParaRPr lang="en-IN" dirty="0"/>
          </a:p>
        </p:txBody>
      </p:sp>
      <p:sp>
        <p:nvSpPr>
          <p:cNvPr id="9" name="Rectangle 8"/>
          <p:cNvSpPr/>
          <p:nvPr/>
        </p:nvSpPr>
        <p:spPr>
          <a:xfrm>
            <a:off x="748145" y="1997607"/>
            <a:ext cx="11042072" cy="1200329"/>
          </a:xfrm>
          <a:prstGeom prst="rect">
            <a:avLst/>
          </a:prstGeom>
          <a:ln>
            <a:solidFill>
              <a:schemeClr val="bg1">
                <a:lumMod val="95000"/>
              </a:schemeClr>
            </a:solidFill>
          </a:ln>
        </p:spPr>
        <p:txBody>
          <a:bodyPr wrap="square">
            <a:spAutoFit/>
          </a:bodyPr>
          <a:lstStyle/>
          <a:p>
            <a:pPr marL="285750" indent="-285750">
              <a:buFont typeface="Wingdings" pitchFamily="2" charset="2"/>
              <a:buChar char="§"/>
            </a:pPr>
            <a:r>
              <a:rPr lang="en-US" dirty="0"/>
              <a:t>With </a:t>
            </a:r>
            <a:r>
              <a:rPr lang="en-US" dirty="0" smtClean="0">
                <a:solidFill>
                  <a:srgbClr val="0070C0"/>
                </a:solidFill>
                <a:latin typeface="Bahnschrift SemiBold" pitchFamily="34" charset="0"/>
              </a:rPr>
              <a:t>Serverless </a:t>
            </a:r>
            <a:r>
              <a:rPr lang="en-US" dirty="0">
                <a:solidFill>
                  <a:srgbClr val="0070C0"/>
                </a:solidFill>
                <a:latin typeface="Bahnschrift SemiBold" pitchFamily="34" charset="0"/>
              </a:rPr>
              <a:t>indexes</a:t>
            </a:r>
            <a:r>
              <a:rPr lang="en-US" dirty="0">
                <a:solidFill>
                  <a:srgbClr val="00D05E"/>
                </a:solidFill>
                <a:latin typeface="Bahnschrift SemiBold" pitchFamily="34" charset="0"/>
              </a:rPr>
              <a:t>, </a:t>
            </a:r>
            <a:endParaRPr lang="en-US" dirty="0" smtClean="0">
              <a:solidFill>
                <a:srgbClr val="00D05E"/>
              </a:solidFill>
              <a:latin typeface="Bahnschrift SemiBold" pitchFamily="34" charset="0"/>
            </a:endParaRPr>
          </a:p>
          <a:p>
            <a:r>
              <a:rPr lang="en-US" dirty="0" smtClean="0"/>
              <a:t>you </a:t>
            </a:r>
            <a:r>
              <a:rPr lang="en-US" dirty="0"/>
              <a:t>don't configure or manage any compute or storage resources.</a:t>
            </a:r>
          </a:p>
          <a:p>
            <a:r>
              <a:rPr lang="en-US" dirty="0"/>
              <a:t>Instead, </a:t>
            </a:r>
            <a:r>
              <a:rPr lang="en-US" dirty="0" smtClean="0"/>
              <a:t>Serverless </a:t>
            </a:r>
            <a:r>
              <a:rPr lang="en-US" dirty="0"/>
              <a:t>indexes scale automatically based on usage, and you pay only for the amount </a:t>
            </a:r>
            <a:r>
              <a:rPr lang="en-US" dirty="0" smtClean="0"/>
              <a:t>of data </a:t>
            </a:r>
            <a:r>
              <a:rPr lang="en-US" dirty="0"/>
              <a:t>stored and operations performed with no minimums</a:t>
            </a:r>
            <a:endParaRPr lang="en-IN" dirty="0"/>
          </a:p>
        </p:txBody>
      </p:sp>
      <p:sp>
        <p:nvSpPr>
          <p:cNvPr id="10" name="Rectangle 9"/>
          <p:cNvSpPr/>
          <p:nvPr/>
        </p:nvSpPr>
        <p:spPr>
          <a:xfrm>
            <a:off x="748145" y="3429000"/>
            <a:ext cx="11222182" cy="954107"/>
          </a:xfrm>
          <a:prstGeom prst="rect">
            <a:avLst/>
          </a:prstGeom>
          <a:ln>
            <a:solidFill>
              <a:schemeClr val="bg1">
                <a:lumMod val="95000"/>
              </a:schemeClr>
            </a:solidFill>
          </a:ln>
        </p:spPr>
        <p:txBody>
          <a:bodyPr wrap="square">
            <a:spAutoFit/>
          </a:bodyPr>
          <a:lstStyle/>
          <a:p>
            <a:r>
              <a:rPr lang="en-US" dirty="0"/>
              <a:t>With </a:t>
            </a:r>
            <a:r>
              <a:rPr lang="en-US" sz="2000" dirty="0">
                <a:solidFill>
                  <a:srgbClr val="0070C0"/>
                </a:solidFill>
                <a:latin typeface="Bahnschrift SemiBold" pitchFamily="34" charset="0"/>
              </a:rPr>
              <a:t>pod based indexes</a:t>
            </a:r>
            <a:r>
              <a:rPr lang="en-US" dirty="0"/>
              <a:t>, you choose one or more pre-configured units of hardware called pods, depending</a:t>
            </a:r>
          </a:p>
          <a:p>
            <a:r>
              <a:rPr lang="en-US" dirty="0"/>
              <a:t>on the pod type, pod size, and the number of pods used.</a:t>
            </a:r>
          </a:p>
          <a:p>
            <a:r>
              <a:rPr lang="en-US" dirty="0"/>
              <a:t>You get a different amount of storage and higher or lower latency and throughput.</a:t>
            </a:r>
          </a:p>
        </p:txBody>
      </p:sp>
    </p:spTree>
    <p:extLst>
      <p:ext uri="{BB962C8B-B14F-4D97-AF65-F5344CB8AC3E}">
        <p14:creationId xmlns:p14="http://schemas.microsoft.com/office/powerpoint/2010/main" val="1370509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4" name="Rectangle 3"/>
          <p:cNvSpPr/>
          <p:nvPr/>
        </p:nvSpPr>
        <p:spPr>
          <a:xfrm>
            <a:off x="6511636" y="3245352"/>
            <a:ext cx="5472545" cy="400110"/>
          </a:xfrm>
          <a:prstGeom prst="rect">
            <a:avLst/>
          </a:prstGeom>
          <a:solidFill>
            <a:schemeClr val="bg2">
              <a:lumMod val="25000"/>
            </a:schemeClr>
          </a:solidFill>
          <a:ln>
            <a:solidFill>
              <a:srgbClr val="009900"/>
            </a:solidFill>
          </a:ln>
        </p:spPr>
        <p:txBody>
          <a:bodyPr wrap="square">
            <a:spAutoFit/>
          </a:bodyPr>
          <a:lstStyle/>
          <a:p>
            <a:r>
              <a:rPr lang="en-IN" sz="2000" dirty="0">
                <a:solidFill>
                  <a:schemeClr val="accent1"/>
                </a:solidFill>
                <a:latin typeface="Cambria Math" pitchFamily="18" charset="0"/>
                <a:ea typeface="Cambria Math" pitchFamily="18" charset="0"/>
              </a:rPr>
              <a:t>index</a:t>
            </a:r>
            <a:r>
              <a:rPr lang="en-IN" sz="2000" dirty="0">
                <a:latin typeface="Cambria Math" pitchFamily="18" charset="0"/>
                <a:ea typeface="Cambria Math" pitchFamily="18" charset="0"/>
              </a:rPr>
              <a:t>.</a:t>
            </a:r>
            <a:r>
              <a:rPr lang="en-IN" dirty="0">
                <a:solidFill>
                  <a:schemeClr val="accent4">
                    <a:lumMod val="50000"/>
                  </a:schemeClr>
                </a:solidFill>
                <a:latin typeface="Cambria Math" pitchFamily="18" charset="0"/>
                <a:ea typeface="Cambria Math" pitchFamily="18" charset="0"/>
                <a:cs typeface="Calibri" pitchFamily="34" charset="0"/>
              </a:rPr>
              <a:t>fetch</a:t>
            </a:r>
            <a:r>
              <a:rPr lang="en-IN" sz="2000" dirty="0">
                <a:solidFill>
                  <a:schemeClr val="accent4">
                    <a:lumMod val="75000"/>
                  </a:schemeClr>
                </a:solidFill>
                <a:latin typeface="Cambria Math" pitchFamily="18" charset="0"/>
                <a:ea typeface="Cambria Math" pitchFamily="18" charset="0"/>
              </a:rPr>
              <a:t>(</a:t>
            </a:r>
            <a:r>
              <a:rPr lang="en-IN" sz="2000" dirty="0">
                <a:solidFill>
                  <a:schemeClr val="accent1"/>
                </a:solidFill>
                <a:latin typeface="Cambria Math" pitchFamily="18" charset="0"/>
                <a:ea typeface="Cambria Math" pitchFamily="18" charset="0"/>
              </a:rPr>
              <a:t>ids</a:t>
            </a:r>
            <a:r>
              <a:rPr lang="en-IN" sz="2000" dirty="0">
                <a:solidFill>
                  <a:srgbClr val="FF0066"/>
                </a:solidFill>
                <a:latin typeface="Cambria Math" pitchFamily="18" charset="0"/>
                <a:ea typeface="Cambria Math" pitchFamily="18" charset="0"/>
              </a:rPr>
              <a:t>=[</a:t>
            </a:r>
            <a:r>
              <a:rPr lang="en-IN" sz="2000" dirty="0">
                <a:solidFill>
                  <a:srgbClr val="CC3300"/>
                </a:solidFill>
                <a:latin typeface="Cambria Math" pitchFamily="18" charset="0"/>
                <a:ea typeface="Cambria Math" pitchFamily="18" charset="0"/>
              </a:rPr>
              <a:t>"vec1","vec2"</a:t>
            </a:r>
            <a:r>
              <a:rPr lang="en-IN" sz="2000" dirty="0">
                <a:solidFill>
                  <a:srgbClr val="FF0066"/>
                </a:solidFill>
                <a:latin typeface="Cambria Math" pitchFamily="18" charset="0"/>
                <a:ea typeface="Cambria Math" pitchFamily="18" charset="0"/>
              </a:rPr>
              <a:t>]</a:t>
            </a:r>
            <a:r>
              <a:rPr lang="en-IN" sz="2000" dirty="0">
                <a:solidFill>
                  <a:schemeClr val="accent4">
                    <a:lumMod val="75000"/>
                  </a:schemeClr>
                </a:solidFill>
                <a:latin typeface="Cambria Math" pitchFamily="18" charset="0"/>
                <a:ea typeface="Cambria Math" pitchFamily="18" charset="0"/>
              </a:rPr>
              <a:t>)</a:t>
            </a:r>
          </a:p>
        </p:txBody>
      </p:sp>
      <p:grpSp>
        <p:nvGrpSpPr>
          <p:cNvPr id="15" name="Group 14"/>
          <p:cNvGrpSpPr/>
          <p:nvPr/>
        </p:nvGrpSpPr>
        <p:grpSpPr>
          <a:xfrm>
            <a:off x="138546" y="116131"/>
            <a:ext cx="5472545" cy="2812284"/>
            <a:chOff x="138546" y="116131"/>
            <a:chExt cx="5472545" cy="2812284"/>
          </a:xfrm>
          <a:solidFill>
            <a:schemeClr val="bg2">
              <a:lumMod val="25000"/>
            </a:schemeClr>
          </a:solidFill>
        </p:grpSpPr>
        <p:grpSp>
          <p:nvGrpSpPr>
            <p:cNvPr id="13" name="Group 12"/>
            <p:cNvGrpSpPr/>
            <p:nvPr/>
          </p:nvGrpSpPr>
          <p:grpSpPr>
            <a:xfrm>
              <a:off x="138546" y="116131"/>
              <a:ext cx="5472545" cy="2812284"/>
              <a:chOff x="138546" y="116131"/>
              <a:chExt cx="5472545" cy="2812284"/>
            </a:xfrm>
            <a:grpFill/>
          </p:grpSpPr>
          <p:sp>
            <p:nvSpPr>
              <p:cNvPr id="2" name="Rectangle 1"/>
              <p:cNvSpPr/>
              <p:nvPr/>
            </p:nvSpPr>
            <p:spPr>
              <a:xfrm>
                <a:off x="138546" y="116131"/>
                <a:ext cx="5472545" cy="2800767"/>
              </a:xfrm>
              <a:prstGeom prst="rect">
                <a:avLst/>
              </a:prstGeom>
              <a:grpFill/>
              <a:ln>
                <a:solidFill>
                  <a:schemeClr val="accent6"/>
                </a:solidFill>
              </a:ln>
            </p:spPr>
            <p:txBody>
              <a:bodyPr wrap="square">
                <a:spAutoFit/>
              </a:bodyPr>
              <a:lstStyle/>
              <a:p>
                <a:r>
                  <a:rPr lang="en-IN" sz="1600" dirty="0">
                    <a:solidFill>
                      <a:srgbClr val="FF0066"/>
                    </a:solidFill>
                    <a:latin typeface="Cambria Math" pitchFamily="18" charset="0"/>
                    <a:ea typeface="Cambria Math" pitchFamily="18" charset="0"/>
                    <a:cs typeface="Calibri" pitchFamily="34" charset="0"/>
                  </a:rPr>
                  <a:t>from</a:t>
                </a:r>
                <a:r>
                  <a:rPr lang="en-IN" sz="1600" dirty="0">
                    <a:latin typeface="Cambria Math" pitchFamily="18" charset="0"/>
                    <a:ea typeface="Cambria Math" pitchFamily="18" charset="0"/>
                    <a:cs typeface="Calibri" pitchFamily="34" charset="0"/>
                  </a:rPr>
                  <a:t> </a:t>
                </a:r>
                <a:r>
                  <a:rPr lang="en-IN" sz="1600" dirty="0">
                    <a:solidFill>
                      <a:srgbClr val="00CC99"/>
                    </a:solidFill>
                    <a:latin typeface="Cambria Math" pitchFamily="18" charset="0"/>
                    <a:ea typeface="Cambria Math" pitchFamily="18" charset="0"/>
                    <a:cs typeface="Calibri" pitchFamily="34" charset="0"/>
                  </a:rPr>
                  <a:t>pinecone </a:t>
                </a:r>
                <a:r>
                  <a:rPr lang="en-IN" sz="1600" dirty="0">
                    <a:solidFill>
                      <a:srgbClr val="FF0066"/>
                    </a:solidFill>
                    <a:latin typeface="Cambria Math" pitchFamily="18" charset="0"/>
                    <a:ea typeface="Cambria Math" pitchFamily="18" charset="0"/>
                    <a:cs typeface="Calibri" pitchFamily="34" charset="0"/>
                  </a:rPr>
                  <a:t>import</a:t>
                </a:r>
                <a:r>
                  <a:rPr lang="en-IN" sz="1600" dirty="0">
                    <a:latin typeface="Cambria Math" pitchFamily="18" charset="0"/>
                    <a:ea typeface="Cambria Math" pitchFamily="18" charset="0"/>
                    <a:cs typeface="Calibri" pitchFamily="34" charset="0"/>
                  </a:rPr>
                  <a:t> </a:t>
                </a:r>
                <a:r>
                  <a:rPr lang="en-IN" sz="1600" dirty="0">
                    <a:solidFill>
                      <a:srgbClr val="00CC99"/>
                    </a:solidFill>
                    <a:latin typeface="Cambria Math" pitchFamily="18" charset="0"/>
                    <a:ea typeface="Cambria Math" pitchFamily="18" charset="0"/>
                    <a:cs typeface="Calibri" pitchFamily="34" charset="0"/>
                  </a:rPr>
                  <a:t>Pinecone</a:t>
                </a:r>
              </a:p>
              <a:p>
                <a:r>
                  <a:rPr lang="en-IN" sz="1600" dirty="0">
                    <a:solidFill>
                      <a:srgbClr val="FF0066"/>
                    </a:solidFill>
                    <a:latin typeface="Cambria Math" pitchFamily="18" charset="0"/>
                    <a:ea typeface="Cambria Math" pitchFamily="18" charset="0"/>
                    <a:cs typeface="Calibri" pitchFamily="34" charset="0"/>
                  </a:rPr>
                  <a:t>from</a:t>
                </a:r>
                <a:r>
                  <a:rPr lang="en-IN" sz="1600" dirty="0">
                    <a:latin typeface="Cambria Math" pitchFamily="18" charset="0"/>
                    <a:ea typeface="Cambria Math" pitchFamily="18" charset="0"/>
                    <a:cs typeface="Calibri" pitchFamily="34" charset="0"/>
                  </a:rPr>
                  <a:t> </a:t>
                </a:r>
                <a:r>
                  <a:rPr lang="en-IN" sz="1600" dirty="0">
                    <a:solidFill>
                      <a:srgbClr val="00CC99"/>
                    </a:solidFill>
                    <a:latin typeface="Cambria Math" pitchFamily="18" charset="0"/>
                    <a:ea typeface="Cambria Math" pitchFamily="18" charset="0"/>
                    <a:cs typeface="Calibri" pitchFamily="34" charset="0"/>
                  </a:rPr>
                  <a:t>pinecone </a:t>
                </a:r>
                <a:r>
                  <a:rPr lang="en-IN" sz="1600" dirty="0">
                    <a:solidFill>
                      <a:srgbClr val="FF0066"/>
                    </a:solidFill>
                    <a:latin typeface="Cambria Math" pitchFamily="18" charset="0"/>
                    <a:ea typeface="Cambria Math" pitchFamily="18" charset="0"/>
                    <a:cs typeface="Calibri" pitchFamily="34" charset="0"/>
                  </a:rPr>
                  <a:t>import</a:t>
                </a:r>
                <a:r>
                  <a:rPr lang="en-IN" sz="1600" dirty="0">
                    <a:latin typeface="Cambria Math" pitchFamily="18" charset="0"/>
                    <a:ea typeface="Cambria Math" pitchFamily="18" charset="0"/>
                    <a:cs typeface="Calibri" pitchFamily="34" charset="0"/>
                  </a:rPr>
                  <a:t> </a:t>
                </a:r>
                <a:r>
                  <a:rPr lang="en-IN" sz="1600" dirty="0">
                    <a:solidFill>
                      <a:srgbClr val="00CC99"/>
                    </a:solidFill>
                    <a:latin typeface="Cambria Math" pitchFamily="18" charset="0"/>
                    <a:ea typeface="Cambria Math" pitchFamily="18" charset="0"/>
                    <a:cs typeface="Calibri" pitchFamily="34" charset="0"/>
                  </a:rPr>
                  <a:t>ServerlessSpec</a:t>
                </a:r>
              </a:p>
              <a:p>
                <a:r>
                  <a:rPr lang="en-IN" sz="1600" dirty="0">
                    <a:solidFill>
                      <a:srgbClr val="FF0066"/>
                    </a:solidFill>
                    <a:latin typeface="Cambria Math" pitchFamily="18" charset="0"/>
                    <a:ea typeface="Cambria Math" pitchFamily="18" charset="0"/>
                    <a:cs typeface="Calibri" pitchFamily="34" charset="0"/>
                  </a:rPr>
                  <a:t>import</a:t>
                </a:r>
                <a:r>
                  <a:rPr lang="en-IN" sz="1600" dirty="0">
                    <a:latin typeface="Cambria Math" pitchFamily="18" charset="0"/>
                    <a:ea typeface="Cambria Math" pitchFamily="18" charset="0"/>
                    <a:cs typeface="Calibri" pitchFamily="34" charset="0"/>
                  </a:rPr>
                  <a:t> </a:t>
                </a:r>
                <a:r>
                  <a:rPr lang="en-IN" sz="1600" dirty="0">
                    <a:solidFill>
                      <a:srgbClr val="00CC99"/>
                    </a:solidFill>
                    <a:latin typeface="Cambria Math" pitchFamily="18" charset="0"/>
                    <a:ea typeface="Cambria Math" pitchFamily="18" charset="0"/>
                    <a:cs typeface="Calibri" pitchFamily="34" charset="0"/>
                  </a:rPr>
                  <a:t>os</a:t>
                </a:r>
              </a:p>
              <a:p>
                <a:r>
                  <a:rPr lang="en-IN" sz="1600" dirty="0">
                    <a:solidFill>
                      <a:srgbClr val="FF0066"/>
                    </a:solidFill>
                    <a:latin typeface="Cambria Math" pitchFamily="18" charset="0"/>
                    <a:ea typeface="Cambria Math" pitchFamily="18" charset="0"/>
                    <a:cs typeface="Calibri" pitchFamily="34" charset="0"/>
                  </a:rPr>
                  <a:t>from</a:t>
                </a:r>
                <a:r>
                  <a:rPr lang="en-IN" sz="1600" dirty="0">
                    <a:latin typeface="Cambria Math" pitchFamily="18" charset="0"/>
                    <a:ea typeface="Cambria Math" pitchFamily="18" charset="0"/>
                    <a:cs typeface="Calibri" pitchFamily="34" charset="0"/>
                  </a:rPr>
                  <a:t> </a:t>
                </a:r>
                <a:r>
                  <a:rPr lang="en-IN" sz="1600" dirty="0">
                    <a:solidFill>
                      <a:srgbClr val="00CC99"/>
                    </a:solidFill>
                    <a:latin typeface="Cambria Math" pitchFamily="18" charset="0"/>
                    <a:ea typeface="Cambria Math" pitchFamily="18" charset="0"/>
                    <a:cs typeface="Calibri" pitchFamily="34" charset="0"/>
                  </a:rPr>
                  <a:t>dotenv</a:t>
                </a:r>
                <a:r>
                  <a:rPr lang="en-IN" sz="1600" dirty="0">
                    <a:latin typeface="Cambria Math" pitchFamily="18" charset="0"/>
                    <a:ea typeface="Cambria Math" pitchFamily="18" charset="0"/>
                    <a:cs typeface="Calibri" pitchFamily="34" charset="0"/>
                  </a:rPr>
                  <a:t> </a:t>
                </a:r>
                <a:r>
                  <a:rPr lang="en-IN" sz="1600" dirty="0">
                    <a:solidFill>
                      <a:srgbClr val="FF0066"/>
                    </a:solidFill>
                    <a:latin typeface="Cambria Math" pitchFamily="18" charset="0"/>
                    <a:ea typeface="Cambria Math" pitchFamily="18" charset="0"/>
                    <a:cs typeface="Calibri" pitchFamily="34" charset="0"/>
                  </a:rPr>
                  <a:t>import</a:t>
                </a:r>
                <a:r>
                  <a:rPr lang="en-IN" sz="1600" dirty="0">
                    <a:latin typeface="Cambria Math" pitchFamily="18" charset="0"/>
                    <a:ea typeface="Cambria Math" pitchFamily="18" charset="0"/>
                    <a:cs typeface="Calibri" pitchFamily="34" charset="0"/>
                  </a:rPr>
                  <a:t> </a:t>
                </a:r>
                <a:r>
                  <a:rPr lang="en-IN" sz="1600" dirty="0">
                    <a:solidFill>
                      <a:srgbClr val="D7C055"/>
                    </a:solidFill>
                    <a:latin typeface="Cambria Math" pitchFamily="18" charset="0"/>
                    <a:ea typeface="Cambria Math" pitchFamily="18" charset="0"/>
                    <a:cs typeface="Calibri" pitchFamily="34" charset="0"/>
                  </a:rPr>
                  <a:t>load_dotenv,find_dotenv</a:t>
                </a:r>
              </a:p>
              <a:p>
                <a:r>
                  <a:rPr lang="en-IN" sz="1600" dirty="0">
                    <a:solidFill>
                      <a:srgbClr val="D7C055"/>
                    </a:solidFill>
                    <a:latin typeface="Cambria Math" pitchFamily="18" charset="0"/>
                    <a:ea typeface="Cambria Math" pitchFamily="18" charset="0"/>
                    <a:cs typeface="Calibri" pitchFamily="34" charset="0"/>
                  </a:rPr>
                  <a:t>load_dotenv</a:t>
                </a:r>
                <a:r>
                  <a:rPr lang="en-IN" sz="1600" dirty="0">
                    <a:solidFill>
                      <a:schemeClr val="accent1"/>
                    </a:solidFill>
                    <a:latin typeface="Cambria Math" pitchFamily="18" charset="0"/>
                    <a:ea typeface="Cambria Math" pitchFamily="18" charset="0"/>
                    <a:cs typeface="Calibri" pitchFamily="34" charset="0"/>
                  </a:rPr>
                  <a:t>(</a:t>
                </a:r>
                <a:r>
                  <a:rPr lang="en-IN" sz="1600" dirty="0">
                    <a:solidFill>
                      <a:srgbClr val="D7C055"/>
                    </a:solidFill>
                    <a:latin typeface="Cambria Math" pitchFamily="18" charset="0"/>
                    <a:ea typeface="Cambria Math" pitchFamily="18" charset="0"/>
                    <a:cs typeface="Calibri" pitchFamily="34" charset="0"/>
                  </a:rPr>
                  <a:t>find_dotenv</a:t>
                </a:r>
                <a:r>
                  <a:rPr lang="en-IN" sz="1600" dirty="0">
                    <a:solidFill>
                      <a:schemeClr val="accent1"/>
                    </a:solidFill>
                    <a:latin typeface="Cambria Math" pitchFamily="18" charset="0"/>
                    <a:ea typeface="Cambria Math" pitchFamily="18" charset="0"/>
                    <a:cs typeface="Calibri" pitchFamily="34" charset="0"/>
                  </a:rPr>
                  <a:t>(),</a:t>
                </a:r>
                <a:r>
                  <a:rPr lang="en-IN" sz="1600" dirty="0">
                    <a:solidFill>
                      <a:srgbClr val="00B0F0"/>
                    </a:solidFill>
                    <a:latin typeface="Cambria Math" pitchFamily="18" charset="0"/>
                    <a:ea typeface="Cambria Math" pitchFamily="18" charset="0"/>
                    <a:cs typeface="Calibri" pitchFamily="34" charset="0"/>
                  </a:rPr>
                  <a:t>override</a:t>
                </a:r>
                <a:r>
                  <a:rPr lang="en-IN" sz="1600" dirty="0">
                    <a:solidFill>
                      <a:schemeClr val="bg1"/>
                    </a:solidFill>
                    <a:latin typeface="Cambria Math" pitchFamily="18" charset="0"/>
                    <a:ea typeface="Cambria Math" pitchFamily="18" charset="0"/>
                    <a:cs typeface="Calibri" pitchFamily="34" charset="0"/>
                  </a:rPr>
                  <a:t>=</a:t>
                </a:r>
                <a:r>
                  <a:rPr lang="en-IN" sz="1600" dirty="0">
                    <a:solidFill>
                      <a:srgbClr val="0070C0"/>
                    </a:solidFill>
                    <a:latin typeface="Cambria Math" pitchFamily="18" charset="0"/>
                    <a:ea typeface="Cambria Math" pitchFamily="18" charset="0"/>
                    <a:cs typeface="Calibri" pitchFamily="34" charset="0"/>
                  </a:rPr>
                  <a:t>True</a:t>
                </a:r>
                <a:r>
                  <a:rPr lang="en-IN" sz="1600" dirty="0">
                    <a:solidFill>
                      <a:schemeClr val="accent1"/>
                    </a:solidFill>
                    <a:latin typeface="Cambria Math" pitchFamily="18" charset="0"/>
                    <a:ea typeface="Cambria Math" pitchFamily="18" charset="0"/>
                    <a:cs typeface="Calibri" pitchFamily="34" charset="0"/>
                  </a:rPr>
                  <a:t>)</a:t>
                </a:r>
              </a:p>
              <a:p>
                <a:r>
                  <a:rPr lang="en-IN" sz="1600" dirty="0">
                    <a:latin typeface="Cambria Math" pitchFamily="18" charset="0"/>
                    <a:ea typeface="Cambria Math" pitchFamily="18" charset="0"/>
                    <a:cs typeface="Calibri" pitchFamily="34" charset="0"/>
                  </a:rPr>
                  <a:t/>
                </a:r>
                <a:br>
                  <a:rPr lang="en-IN" sz="1600" dirty="0">
                    <a:latin typeface="Cambria Math" pitchFamily="18" charset="0"/>
                    <a:ea typeface="Cambria Math" pitchFamily="18" charset="0"/>
                    <a:cs typeface="Calibri" pitchFamily="34" charset="0"/>
                  </a:rPr>
                </a:br>
                <a:r>
                  <a:rPr lang="en-IN" sz="1600" dirty="0">
                    <a:solidFill>
                      <a:srgbClr val="0070C0"/>
                    </a:solidFill>
                    <a:latin typeface="Cambria Math" pitchFamily="18" charset="0"/>
                    <a:ea typeface="Cambria Math" pitchFamily="18" charset="0"/>
                    <a:cs typeface="Calibri" pitchFamily="34" charset="0"/>
                  </a:rPr>
                  <a:t>pc</a:t>
                </a:r>
                <a:r>
                  <a:rPr lang="en-IN" sz="1600" dirty="0">
                    <a:latin typeface="Cambria Math" pitchFamily="18" charset="0"/>
                    <a:ea typeface="Cambria Math" pitchFamily="18" charset="0"/>
                    <a:cs typeface="Calibri" pitchFamily="34" charset="0"/>
                  </a:rPr>
                  <a:t> </a:t>
                </a:r>
                <a:r>
                  <a:rPr lang="en-IN" sz="1600" dirty="0">
                    <a:solidFill>
                      <a:schemeClr val="bg1"/>
                    </a:solidFill>
                    <a:latin typeface="Cambria Math" pitchFamily="18" charset="0"/>
                    <a:ea typeface="Cambria Math" pitchFamily="18" charset="0"/>
                    <a:cs typeface="Calibri" pitchFamily="34" charset="0"/>
                  </a:rPr>
                  <a:t>=</a:t>
                </a:r>
                <a:r>
                  <a:rPr lang="en-IN" sz="1600" dirty="0">
                    <a:latin typeface="Cambria Math" pitchFamily="18" charset="0"/>
                    <a:ea typeface="Cambria Math" pitchFamily="18" charset="0"/>
                    <a:cs typeface="Calibri" pitchFamily="34" charset="0"/>
                  </a:rPr>
                  <a:t> </a:t>
                </a:r>
                <a:r>
                  <a:rPr lang="en-IN" sz="1600" dirty="0">
                    <a:solidFill>
                      <a:schemeClr val="accent1"/>
                    </a:solidFill>
                    <a:latin typeface="Cambria Math" pitchFamily="18" charset="0"/>
                    <a:ea typeface="Cambria Math" pitchFamily="18" charset="0"/>
                    <a:cs typeface="Calibri" pitchFamily="34" charset="0"/>
                  </a:rPr>
                  <a:t>Pinecone(api_key=os.getenv(</a:t>
                </a:r>
                <a:r>
                  <a:rPr lang="en-IN" sz="1600" dirty="0">
                    <a:solidFill>
                      <a:srgbClr val="002060"/>
                    </a:solidFill>
                    <a:latin typeface="Cambria Math" pitchFamily="18" charset="0"/>
                    <a:ea typeface="Cambria Math" pitchFamily="18" charset="0"/>
                    <a:cs typeface="Calibri" pitchFamily="34" charset="0"/>
                  </a:rPr>
                  <a:t>"</a:t>
                </a:r>
                <a:r>
                  <a:rPr lang="en-IN" sz="1600" dirty="0">
                    <a:solidFill>
                      <a:srgbClr val="CC3300"/>
                    </a:solidFill>
                    <a:latin typeface="Cambria Math" pitchFamily="18" charset="0"/>
                    <a:ea typeface="Cambria Math" pitchFamily="18" charset="0"/>
                    <a:cs typeface="Calibri" pitchFamily="34" charset="0"/>
                  </a:rPr>
                  <a:t>PINECONE_API_KEY</a:t>
                </a:r>
                <a:r>
                  <a:rPr lang="en-IN" sz="1600" dirty="0" smtClean="0">
                    <a:solidFill>
                      <a:srgbClr val="002060"/>
                    </a:solidFill>
                    <a:latin typeface="Cambria Math" pitchFamily="18" charset="0"/>
                    <a:ea typeface="Cambria Math" pitchFamily="18" charset="0"/>
                    <a:cs typeface="Calibri" pitchFamily="34" charset="0"/>
                  </a:rPr>
                  <a:t>"</a:t>
                </a:r>
                <a:r>
                  <a:rPr lang="en-IN" sz="1600" dirty="0" smtClean="0">
                    <a:solidFill>
                      <a:schemeClr val="accent1"/>
                    </a:solidFill>
                    <a:latin typeface="Cambria Math" pitchFamily="18" charset="0"/>
                    <a:ea typeface="Cambria Math" pitchFamily="18" charset="0"/>
                    <a:cs typeface="Calibri" pitchFamily="34" charset="0"/>
                  </a:rPr>
                  <a:t>))</a:t>
                </a:r>
              </a:p>
              <a:p>
                <a:endParaRPr lang="en-US" sz="1600" dirty="0">
                  <a:solidFill>
                    <a:srgbClr val="002060"/>
                  </a:solidFill>
                  <a:latin typeface="Cambria Math" pitchFamily="18" charset="0"/>
                  <a:ea typeface="Cambria Math" pitchFamily="18" charset="0"/>
                  <a:cs typeface="Calibri" pitchFamily="34" charset="0"/>
                </a:endParaRPr>
              </a:p>
              <a:p>
                <a:r>
                  <a:rPr lang="en-IN" sz="1600" dirty="0">
                    <a:latin typeface="Cambria Math" pitchFamily="18" charset="0"/>
                    <a:ea typeface="Cambria Math" pitchFamily="18" charset="0"/>
                    <a:cs typeface="Calibri" pitchFamily="34" charset="0"/>
                  </a:rPr>
                  <a:t> </a:t>
                </a:r>
                <a:r>
                  <a:rPr lang="en-IN" sz="1600" dirty="0">
                    <a:solidFill>
                      <a:srgbClr val="0070C0"/>
                    </a:solidFill>
                    <a:latin typeface="Cambria Math" pitchFamily="18" charset="0"/>
                    <a:ea typeface="Cambria Math" pitchFamily="18" charset="0"/>
                    <a:cs typeface="Calibri" pitchFamily="34" charset="0"/>
                  </a:rPr>
                  <a:t>existing_indexes</a:t>
                </a:r>
                <a:r>
                  <a:rPr lang="en-IN" sz="1600" dirty="0">
                    <a:solidFill>
                      <a:srgbClr val="002060"/>
                    </a:solidFill>
                    <a:latin typeface="Cambria Math" pitchFamily="18" charset="0"/>
                    <a:ea typeface="Cambria Math" pitchFamily="18" charset="0"/>
                    <a:cs typeface="Calibri" pitchFamily="34" charset="0"/>
                  </a:rPr>
                  <a:t> </a:t>
                </a:r>
                <a:r>
                  <a:rPr lang="en-IN" sz="1600" dirty="0">
                    <a:solidFill>
                      <a:schemeClr val="bg1"/>
                    </a:solidFill>
                    <a:latin typeface="Cambria Math" pitchFamily="18" charset="0"/>
                    <a:ea typeface="Cambria Math" pitchFamily="18" charset="0"/>
                    <a:cs typeface="Calibri" pitchFamily="34" charset="0"/>
                  </a:rPr>
                  <a:t>=</a:t>
                </a:r>
                <a:r>
                  <a:rPr lang="en-IN" sz="1600" dirty="0">
                    <a:solidFill>
                      <a:srgbClr val="002060"/>
                    </a:solidFill>
                    <a:latin typeface="Cambria Math" pitchFamily="18" charset="0"/>
                    <a:ea typeface="Cambria Math" pitchFamily="18" charset="0"/>
                    <a:cs typeface="Calibri" pitchFamily="34" charset="0"/>
                  </a:rPr>
                  <a:t> </a:t>
                </a:r>
                <a:r>
                  <a:rPr lang="en-IN" sz="1600" dirty="0">
                    <a:solidFill>
                      <a:schemeClr val="accent1"/>
                    </a:solidFill>
                    <a:latin typeface="Cambria Math" pitchFamily="18" charset="0"/>
                    <a:ea typeface="Cambria Math" pitchFamily="18" charset="0"/>
                    <a:cs typeface="Calibri" pitchFamily="34" charset="0"/>
                  </a:rPr>
                  <a:t>pc</a:t>
                </a:r>
                <a:r>
                  <a:rPr lang="en-IN" sz="1600" dirty="0">
                    <a:solidFill>
                      <a:schemeClr val="bg1"/>
                    </a:solidFill>
                    <a:latin typeface="Cambria Math" pitchFamily="18" charset="0"/>
                    <a:ea typeface="Cambria Math" pitchFamily="18" charset="0"/>
                    <a:cs typeface="Calibri" pitchFamily="34" charset="0"/>
                  </a:rPr>
                  <a:t>.</a:t>
                </a:r>
                <a:r>
                  <a:rPr lang="en-IN" sz="1600" dirty="0">
                    <a:solidFill>
                      <a:schemeClr val="accent4">
                        <a:lumMod val="50000"/>
                      </a:schemeClr>
                    </a:solidFill>
                    <a:latin typeface="Cambria Math" pitchFamily="18" charset="0"/>
                    <a:ea typeface="Cambria Math" pitchFamily="18" charset="0"/>
                    <a:cs typeface="Calibri" pitchFamily="34" charset="0"/>
                  </a:rPr>
                  <a:t>list_indexes</a:t>
                </a:r>
                <a:r>
                  <a:rPr lang="en-IN" sz="1600" dirty="0" smtClean="0">
                    <a:solidFill>
                      <a:schemeClr val="accent1"/>
                    </a:solidFill>
                    <a:latin typeface="Cambria Math" pitchFamily="18" charset="0"/>
                    <a:ea typeface="Cambria Math" pitchFamily="18" charset="0"/>
                    <a:cs typeface="Calibri" pitchFamily="34" charset="0"/>
                  </a:rPr>
                  <a:t>()</a:t>
                </a:r>
              </a:p>
              <a:p>
                <a:endParaRPr lang="en-IN" sz="1600" dirty="0">
                  <a:solidFill>
                    <a:srgbClr val="002060"/>
                  </a:solidFill>
                  <a:latin typeface="Cambria Math" pitchFamily="18" charset="0"/>
                  <a:ea typeface="Cambria Math" pitchFamily="18" charset="0"/>
                  <a:cs typeface="Calibri" pitchFamily="34" charset="0"/>
                </a:endParaRPr>
              </a:p>
              <a:p>
                <a:r>
                  <a:rPr lang="en-IN" sz="1600" dirty="0" smtClean="0">
                    <a:solidFill>
                      <a:srgbClr val="0070C0"/>
                    </a:solidFill>
                    <a:latin typeface="Cambria Math" pitchFamily="18" charset="0"/>
                    <a:ea typeface="Cambria Math" pitchFamily="18" charset="0"/>
                    <a:cs typeface="Calibri" pitchFamily="34" charset="0"/>
                  </a:rPr>
                  <a:t>existing_indexes.</a:t>
                </a:r>
                <a:r>
                  <a:rPr lang="en-IN" sz="1600" dirty="0">
                    <a:latin typeface="Cambria Math" pitchFamily="18" charset="0"/>
                    <a:ea typeface="Cambria Math" pitchFamily="18" charset="0"/>
                    <a:cs typeface="Calibri" pitchFamily="34" charset="0"/>
                  </a:rPr>
                  <a:t> </a:t>
                </a:r>
                <a:r>
                  <a:rPr lang="en-IN" sz="1600" dirty="0" smtClean="0">
                    <a:solidFill>
                      <a:srgbClr val="0070C0"/>
                    </a:solidFill>
                    <a:latin typeface="Cambria Math" pitchFamily="18" charset="0"/>
                    <a:ea typeface="Cambria Math" pitchFamily="18" charset="0"/>
                    <a:cs typeface="Calibri" pitchFamily="34" charset="0"/>
                  </a:rPr>
                  <a:t>indexes</a:t>
                </a:r>
                <a:endParaRPr lang="en-IN" sz="1600" dirty="0">
                  <a:solidFill>
                    <a:srgbClr val="002060"/>
                  </a:solidFill>
                  <a:latin typeface="Cambria Math" pitchFamily="18" charset="0"/>
                  <a:ea typeface="Cambria Math" pitchFamily="18" charset="0"/>
                  <a:cs typeface="Calibri" pitchFamily="34" charset="0"/>
                </a:endParaRPr>
              </a:p>
            </p:txBody>
          </p:sp>
          <p:sp>
            <p:nvSpPr>
              <p:cNvPr id="12" name="Snip and Round Single Corner Rectangle 11"/>
              <p:cNvSpPr/>
              <p:nvPr/>
            </p:nvSpPr>
            <p:spPr>
              <a:xfrm>
                <a:off x="4031672" y="2578619"/>
                <a:ext cx="1482437" cy="349796"/>
              </a:xfrm>
              <a:prstGeom prst="snipRoundRect">
                <a:avLst/>
              </a:prstGeom>
              <a:grp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bg1"/>
                    </a:solidFill>
                    <a:latin typeface="Arial Rounded MT Bold" pitchFamily="34" charset="0"/>
                  </a:rPr>
                  <a:t>Initialize Vdb</a:t>
                </a:r>
                <a:endParaRPr lang="en-IN" sz="1400" dirty="0">
                  <a:solidFill>
                    <a:schemeClr val="bg1"/>
                  </a:solidFill>
                  <a:latin typeface="Arial Rounded MT Bold" pitchFamily="34" charset="0"/>
                </a:endParaRPr>
              </a:p>
            </p:txBody>
          </p:sp>
        </p:grpSp>
        <p:sp>
          <p:nvSpPr>
            <p:cNvPr id="14" name="Flowchart: Process 13"/>
            <p:cNvSpPr/>
            <p:nvPr/>
          </p:nvSpPr>
          <p:spPr>
            <a:xfrm>
              <a:off x="5153891" y="129985"/>
              <a:ext cx="457200" cy="306324"/>
            </a:xfrm>
            <a:prstGeom prst="flowChartProcess">
              <a:avLst/>
            </a:prstGeom>
            <a:grp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Rounded MT Bold" pitchFamily="34" charset="0"/>
                </a:rPr>
                <a:t>1</a:t>
              </a:r>
              <a:endParaRPr lang="en-IN" dirty="0">
                <a:latin typeface="Arial Rounded MT Bold" pitchFamily="34" charset="0"/>
              </a:endParaRPr>
            </a:p>
          </p:txBody>
        </p:sp>
      </p:grpSp>
      <p:grpSp>
        <p:nvGrpSpPr>
          <p:cNvPr id="19" name="Group 18"/>
          <p:cNvGrpSpPr/>
          <p:nvPr/>
        </p:nvGrpSpPr>
        <p:grpSpPr>
          <a:xfrm>
            <a:off x="5936672" y="211094"/>
            <a:ext cx="6220691" cy="2860634"/>
            <a:chOff x="5936672" y="211094"/>
            <a:chExt cx="6220691" cy="2860634"/>
          </a:xfrm>
        </p:grpSpPr>
        <p:grpSp>
          <p:nvGrpSpPr>
            <p:cNvPr id="7" name="Group 6"/>
            <p:cNvGrpSpPr/>
            <p:nvPr/>
          </p:nvGrpSpPr>
          <p:grpSpPr>
            <a:xfrm>
              <a:off x="5936672" y="211094"/>
              <a:ext cx="6220691" cy="2860634"/>
              <a:chOff x="5818909" y="220528"/>
              <a:chExt cx="6220691" cy="2860634"/>
            </a:xfrm>
          </p:grpSpPr>
          <p:sp>
            <p:nvSpPr>
              <p:cNvPr id="3" name="Rectangle 2"/>
              <p:cNvSpPr/>
              <p:nvPr/>
            </p:nvSpPr>
            <p:spPr>
              <a:xfrm>
                <a:off x="5818909" y="220528"/>
                <a:ext cx="6220691" cy="2400657"/>
              </a:xfrm>
              <a:prstGeom prst="rect">
                <a:avLst/>
              </a:prstGeom>
              <a:solidFill>
                <a:schemeClr val="bg2">
                  <a:lumMod val="25000"/>
                </a:schemeClr>
              </a:solidFill>
              <a:ln>
                <a:solidFill>
                  <a:schemeClr val="accent1"/>
                </a:solidFill>
              </a:ln>
            </p:spPr>
            <p:txBody>
              <a:bodyPr wrap="square">
                <a:spAutoFit/>
              </a:bodyPr>
              <a:lstStyle/>
              <a:p>
                <a:r>
                  <a:rPr lang="en-IN" sz="1600" dirty="0">
                    <a:solidFill>
                      <a:srgbClr val="0070C0"/>
                    </a:solidFill>
                    <a:latin typeface="Cambria Math" pitchFamily="18" charset="0"/>
                    <a:ea typeface="Cambria Math" pitchFamily="18" charset="0"/>
                    <a:cs typeface="Calibri" pitchFamily="34" charset="0"/>
                  </a:rPr>
                  <a:t>index </a:t>
                </a:r>
                <a:r>
                  <a:rPr lang="en-IN" dirty="0">
                    <a:solidFill>
                      <a:schemeClr val="bg1"/>
                    </a:solidFill>
                    <a:latin typeface="Cambria Math" pitchFamily="18" charset="0"/>
                    <a:ea typeface="Cambria Math" pitchFamily="18" charset="0"/>
                  </a:rPr>
                  <a:t>=</a:t>
                </a:r>
                <a:r>
                  <a:rPr lang="en-IN" dirty="0">
                    <a:latin typeface="Cambria Math" pitchFamily="18" charset="0"/>
                    <a:ea typeface="Cambria Math" pitchFamily="18" charset="0"/>
                  </a:rPr>
                  <a:t> </a:t>
                </a:r>
                <a:r>
                  <a:rPr lang="en-IN" sz="1600" dirty="0">
                    <a:solidFill>
                      <a:srgbClr val="0070C0"/>
                    </a:solidFill>
                    <a:latin typeface="Cambria Math" pitchFamily="18" charset="0"/>
                    <a:ea typeface="Cambria Math" pitchFamily="18" charset="0"/>
                    <a:cs typeface="Calibri" pitchFamily="34" charset="0"/>
                  </a:rPr>
                  <a:t>pc</a:t>
                </a:r>
                <a:r>
                  <a:rPr lang="en-IN" dirty="0">
                    <a:solidFill>
                      <a:schemeClr val="bg1"/>
                    </a:solidFill>
                    <a:latin typeface="Cambria Math" pitchFamily="18" charset="0"/>
                    <a:ea typeface="Cambria Math" pitchFamily="18" charset="0"/>
                  </a:rPr>
                  <a:t>.</a:t>
                </a:r>
                <a:r>
                  <a:rPr lang="en-IN" sz="1600" dirty="0">
                    <a:solidFill>
                      <a:schemeClr val="accent4">
                        <a:lumMod val="50000"/>
                      </a:schemeClr>
                    </a:solidFill>
                    <a:latin typeface="Cambria Math" pitchFamily="18" charset="0"/>
                    <a:ea typeface="Cambria Math" pitchFamily="18" charset="0"/>
                    <a:cs typeface="Calibri" pitchFamily="34" charset="0"/>
                  </a:rPr>
                  <a:t>Index</a:t>
                </a:r>
                <a:r>
                  <a:rPr lang="en-IN" dirty="0">
                    <a:solidFill>
                      <a:schemeClr val="accent1"/>
                    </a:solidFill>
                    <a:latin typeface="Cambria Math" pitchFamily="18" charset="0"/>
                    <a:ea typeface="Cambria Math" pitchFamily="18" charset="0"/>
                  </a:rPr>
                  <a:t>(index_name)</a:t>
                </a:r>
                <a:r>
                  <a:rPr lang="en-IN" dirty="0">
                    <a:latin typeface="Cambria Math" pitchFamily="18" charset="0"/>
                    <a:ea typeface="Cambria Math" pitchFamily="18" charset="0"/>
                  </a:rPr>
                  <a:t>  </a:t>
                </a:r>
                <a:r>
                  <a:rPr lang="en-IN" dirty="0">
                    <a:solidFill>
                      <a:srgbClr val="33CC33"/>
                    </a:solidFill>
                    <a:latin typeface="Cambria Math" pitchFamily="18" charset="0"/>
                    <a:ea typeface="Cambria Math" pitchFamily="18" charset="0"/>
                  </a:rPr>
                  <a:t># Get reference to the index</a:t>
                </a:r>
              </a:p>
              <a:p>
                <a:r>
                  <a:rPr lang="en-IN" sz="1600" dirty="0">
                    <a:solidFill>
                      <a:srgbClr val="0070C0"/>
                    </a:solidFill>
                    <a:latin typeface="Cambria Math" pitchFamily="18" charset="0"/>
                    <a:ea typeface="Cambria Math" pitchFamily="18" charset="0"/>
                    <a:cs typeface="Calibri" pitchFamily="34" charset="0"/>
                  </a:rPr>
                  <a:t>index.</a:t>
                </a:r>
                <a:r>
                  <a:rPr lang="en-IN" sz="2000" dirty="0">
                    <a:solidFill>
                      <a:schemeClr val="accent4">
                        <a:lumMod val="50000"/>
                      </a:schemeClr>
                    </a:solidFill>
                    <a:latin typeface="Cambria Math" pitchFamily="18" charset="0"/>
                    <a:ea typeface="Cambria Math" pitchFamily="18" charset="0"/>
                    <a:cs typeface="Calibri" pitchFamily="34" charset="0"/>
                  </a:rPr>
                  <a:t>upsert</a:t>
                </a:r>
                <a:r>
                  <a:rPr lang="en-IN" dirty="0">
                    <a:solidFill>
                      <a:srgbClr val="00B0F0"/>
                    </a:solidFill>
                    <a:latin typeface="Cambria Math" pitchFamily="18" charset="0"/>
                    <a:ea typeface="Cambria Math" pitchFamily="18" charset="0"/>
                  </a:rPr>
                  <a:t>(</a:t>
                </a:r>
              </a:p>
              <a:p>
                <a:r>
                  <a:rPr lang="en-IN" dirty="0">
                    <a:latin typeface="Cambria Math" pitchFamily="18" charset="0"/>
                    <a:ea typeface="Cambria Math" pitchFamily="18" charset="0"/>
                  </a:rPr>
                  <a:t>   </a:t>
                </a:r>
                <a:r>
                  <a:rPr lang="en-IN" sz="1600" dirty="0">
                    <a:solidFill>
                      <a:srgbClr val="0070C0"/>
                    </a:solidFill>
                    <a:latin typeface="Cambria Math" pitchFamily="18" charset="0"/>
                    <a:ea typeface="Cambria Math" pitchFamily="18" charset="0"/>
                    <a:cs typeface="Calibri" pitchFamily="34" charset="0"/>
                  </a:rPr>
                  <a:t> vectors</a:t>
                </a:r>
                <a:r>
                  <a:rPr lang="en-IN" dirty="0">
                    <a:solidFill>
                      <a:schemeClr val="bg1"/>
                    </a:solidFill>
                    <a:latin typeface="Cambria Math" pitchFamily="18" charset="0"/>
                    <a:ea typeface="Cambria Math" pitchFamily="18" charset="0"/>
                  </a:rPr>
                  <a:t>=</a:t>
                </a:r>
                <a:r>
                  <a:rPr lang="en-IN" dirty="0">
                    <a:solidFill>
                      <a:srgbClr val="FF5050"/>
                    </a:solidFill>
                    <a:latin typeface="Cambria Math" pitchFamily="18" charset="0"/>
                    <a:ea typeface="Cambria Math" pitchFamily="18" charset="0"/>
                  </a:rPr>
                  <a:t>[</a:t>
                </a:r>
              </a:p>
              <a:p>
                <a:r>
                  <a:rPr lang="en-IN" dirty="0">
                    <a:latin typeface="Cambria Math" pitchFamily="18" charset="0"/>
                    <a:ea typeface="Cambria Math" pitchFamily="18" charset="0"/>
                  </a:rPr>
                  <a:t>   </a:t>
                </a:r>
                <a:r>
                  <a:rPr lang="en-IN" dirty="0">
                    <a:solidFill>
                      <a:srgbClr val="00B0F0"/>
                    </a:solidFill>
                    <a:latin typeface="Cambria Math" pitchFamily="18" charset="0"/>
                    <a:ea typeface="Cambria Math" pitchFamily="18" charset="0"/>
                  </a:rPr>
                  <a:t> {"</a:t>
                </a:r>
                <a:r>
                  <a:rPr lang="en-IN" dirty="0">
                    <a:solidFill>
                      <a:schemeClr val="accent4">
                        <a:lumMod val="50000"/>
                      </a:schemeClr>
                    </a:solidFill>
                    <a:latin typeface="Cambria Math" pitchFamily="18" charset="0"/>
                    <a:ea typeface="Cambria Math" pitchFamily="18" charset="0"/>
                  </a:rPr>
                  <a:t>id"</a:t>
                </a:r>
                <a:r>
                  <a:rPr lang="en-IN" dirty="0">
                    <a:solidFill>
                      <a:schemeClr val="bg1"/>
                    </a:solidFill>
                    <a:latin typeface="Cambria Math" pitchFamily="18" charset="0"/>
                    <a:ea typeface="Cambria Math" pitchFamily="18" charset="0"/>
                  </a:rPr>
                  <a:t>: </a:t>
                </a:r>
                <a:r>
                  <a:rPr lang="en-IN" dirty="0">
                    <a:solidFill>
                      <a:schemeClr val="accent4">
                        <a:lumMod val="50000"/>
                      </a:schemeClr>
                    </a:solidFill>
                    <a:latin typeface="Cambria Math" pitchFamily="18" charset="0"/>
                    <a:ea typeface="Cambria Math" pitchFamily="18" charset="0"/>
                  </a:rPr>
                  <a:t>"vec4", "values"</a:t>
                </a:r>
                <a:r>
                  <a:rPr lang="en-IN" dirty="0">
                    <a:solidFill>
                      <a:schemeClr val="bg1"/>
                    </a:solidFill>
                    <a:latin typeface="Cambria Math" pitchFamily="18" charset="0"/>
                    <a:ea typeface="Cambria Math" pitchFamily="18" charset="0"/>
                  </a:rPr>
                  <a:t>: </a:t>
                </a:r>
                <a:r>
                  <a:rPr lang="en-IN" dirty="0">
                    <a:solidFill>
                      <a:srgbClr val="00B0F0"/>
                    </a:solidFill>
                    <a:latin typeface="Cambria Math" pitchFamily="18" charset="0"/>
                    <a:ea typeface="Cambria Math" pitchFamily="18" charset="0"/>
                  </a:rPr>
                  <a:t>[</a:t>
                </a:r>
                <a:r>
                  <a:rPr lang="en-IN" dirty="0">
                    <a:solidFill>
                      <a:schemeClr val="accent2"/>
                    </a:solidFill>
                    <a:latin typeface="Cambria Math" pitchFamily="18" charset="0"/>
                    <a:ea typeface="Cambria Math" pitchFamily="18" charset="0"/>
                  </a:rPr>
                  <a:t>0.1, 0.2, 0.3, 4.0, 5.0, 6.0, 7.0, 9.0</a:t>
                </a:r>
                <a:r>
                  <a:rPr lang="en-IN" dirty="0">
                    <a:solidFill>
                      <a:srgbClr val="00B0F0"/>
                    </a:solidFill>
                    <a:latin typeface="Cambria Math" pitchFamily="18" charset="0"/>
                    <a:ea typeface="Cambria Math" pitchFamily="18" charset="0"/>
                  </a:rPr>
                  <a:t>] </a:t>
                </a:r>
                <a:r>
                  <a:rPr lang="en-IN" dirty="0">
                    <a:solidFill>
                      <a:srgbClr val="FF5050"/>
                    </a:solidFill>
                    <a:latin typeface="Cambria Math" pitchFamily="18" charset="0"/>
                    <a:ea typeface="Cambria Math" pitchFamily="18" charset="0"/>
                  </a:rPr>
                  <a:t>},</a:t>
                </a:r>
              </a:p>
              <a:p>
                <a:r>
                  <a:rPr lang="en-IN" dirty="0">
                    <a:latin typeface="Cambria Math" pitchFamily="18" charset="0"/>
                    <a:ea typeface="Cambria Math" pitchFamily="18" charset="0"/>
                  </a:rPr>
                  <a:t>   </a:t>
                </a:r>
                <a:r>
                  <a:rPr lang="en-IN" dirty="0">
                    <a:solidFill>
                      <a:srgbClr val="00B0F0"/>
                    </a:solidFill>
                    <a:latin typeface="Cambria Math" pitchFamily="18" charset="0"/>
                    <a:ea typeface="Cambria Math" pitchFamily="18" charset="0"/>
                  </a:rPr>
                  <a:t> {"</a:t>
                </a:r>
                <a:r>
                  <a:rPr lang="en-IN" dirty="0">
                    <a:solidFill>
                      <a:schemeClr val="accent4">
                        <a:lumMod val="75000"/>
                      </a:schemeClr>
                    </a:solidFill>
                    <a:latin typeface="Cambria Math" pitchFamily="18" charset="0"/>
                    <a:ea typeface="Cambria Math" pitchFamily="18" charset="0"/>
                  </a:rPr>
                  <a:t>id"</a:t>
                </a:r>
                <a:r>
                  <a:rPr lang="en-IN" dirty="0">
                    <a:solidFill>
                      <a:schemeClr val="bg1"/>
                    </a:solidFill>
                    <a:latin typeface="Cambria Math" pitchFamily="18" charset="0"/>
                    <a:ea typeface="Cambria Math" pitchFamily="18" charset="0"/>
                  </a:rPr>
                  <a:t>:</a:t>
                </a:r>
                <a:r>
                  <a:rPr lang="en-IN" dirty="0">
                    <a:solidFill>
                      <a:srgbClr val="7030A0"/>
                    </a:solidFill>
                    <a:latin typeface="Cambria Math" pitchFamily="18" charset="0"/>
                    <a:ea typeface="Cambria Math" pitchFamily="18" charset="0"/>
                  </a:rPr>
                  <a:t> </a:t>
                </a:r>
                <a:r>
                  <a:rPr lang="en-IN" dirty="0">
                    <a:solidFill>
                      <a:schemeClr val="accent4">
                        <a:lumMod val="50000"/>
                      </a:schemeClr>
                    </a:solidFill>
                    <a:latin typeface="Cambria Math" pitchFamily="18" charset="0"/>
                    <a:ea typeface="Cambria Math" pitchFamily="18" charset="0"/>
                  </a:rPr>
                  <a:t>"vec5", "values"</a:t>
                </a:r>
                <a:r>
                  <a:rPr lang="en-IN" dirty="0">
                    <a:solidFill>
                      <a:schemeClr val="bg1"/>
                    </a:solidFill>
                    <a:latin typeface="Cambria Math" pitchFamily="18" charset="0"/>
                    <a:ea typeface="Cambria Math" pitchFamily="18" charset="0"/>
                  </a:rPr>
                  <a:t>: </a:t>
                </a:r>
                <a:r>
                  <a:rPr lang="en-IN" dirty="0">
                    <a:solidFill>
                      <a:srgbClr val="00B0F0"/>
                    </a:solidFill>
                    <a:latin typeface="Cambria Math" pitchFamily="18" charset="0"/>
                    <a:ea typeface="Cambria Math" pitchFamily="18" charset="0"/>
                  </a:rPr>
                  <a:t>[</a:t>
                </a:r>
                <a:r>
                  <a:rPr lang="en-IN" dirty="0">
                    <a:solidFill>
                      <a:schemeClr val="accent2"/>
                    </a:solidFill>
                    <a:latin typeface="Cambria Math" pitchFamily="18" charset="0"/>
                    <a:ea typeface="Cambria Math" pitchFamily="18" charset="0"/>
                  </a:rPr>
                  <a:t>0.1, 0.2, 0.43, 4.0, 5.0, 6.0, 7.0, 8.0</a:t>
                </a:r>
                <a:r>
                  <a:rPr lang="en-IN" dirty="0">
                    <a:solidFill>
                      <a:srgbClr val="00B0F0"/>
                    </a:solidFill>
                    <a:latin typeface="Cambria Math" pitchFamily="18" charset="0"/>
                    <a:ea typeface="Cambria Math" pitchFamily="18" charset="0"/>
                  </a:rPr>
                  <a:t>]}</a:t>
                </a:r>
              </a:p>
              <a:p>
                <a:r>
                  <a:rPr lang="en-IN" dirty="0">
                    <a:solidFill>
                      <a:srgbClr val="00B0F0"/>
                    </a:solidFill>
                    <a:latin typeface="Cambria Math" pitchFamily="18" charset="0"/>
                    <a:ea typeface="Cambria Math" pitchFamily="18" charset="0"/>
                  </a:rPr>
                  <a:t>]</a:t>
                </a:r>
                <a:r>
                  <a:rPr lang="en-IN" dirty="0">
                    <a:solidFill>
                      <a:schemeClr val="bg1"/>
                    </a:solidFill>
                    <a:latin typeface="Cambria Math" pitchFamily="18" charset="0"/>
                    <a:ea typeface="Cambria Math" pitchFamily="18" charset="0"/>
                  </a:rPr>
                  <a:t>,</a:t>
                </a:r>
              </a:p>
              <a:p>
                <a:r>
                  <a:rPr lang="en-IN" dirty="0">
                    <a:latin typeface="Cambria Math" pitchFamily="18" charset="0"/>
                    <a:ea typeface="Cambria Math" pitchFamily="18" charset="0"/>
                  </a:rPr>
                  <a:t>    </a:t>
                </a:r>
                <a:r>
                  <a:rPr lang="en-IN" dirty="0">
                    <a:solidFill>
                      <a:schemeClr val="accent1"/>
                    </a:solidFill>
                    <a:latin typeface="Cambria Math" pitchFamily="18" charset="0"/>
                    <a:ea typeface="Cambria Math" pitchFamily="18" charset="0"/>
                  </a:rPr>
                  <a:t>namespace</a:t>
                </a:r>
                <a:r>
                  <a:rPr lang="en-IN" dirty="0">
                    <a:solidFill>
                      <a:srgbClr val="CC3300"/>
                    </a:solidFill>
                    <a:latin typeface="Cambria Math" pitchFamily="18" charset="0"/>
                    <a:ea typeface="Cambria Math" pitchFamily="18" charset="0"/>
                  </a:rPr>
                  <a:t>="test-namespace-2"</a:t>
                </a:r>
              </a:p>
              <a:p>
                <a:r>
                  <a:rPr lang="en-IN" dirty="0">
                    <a:solidFill>
                      <a:srgbClr val="FF5050"/>
                    </a:solidFill>
                    <a:latin typeface="Cambria Math" pitchFamily="18" charset="0"/>
                    <a:ea typeface="Cambria Math" pitchFamily="18" charset="0"/>
                  </a:rPr>
                  <a:t>)</a:t>
                </a:r>
              </a:p>
            </p:txBody>
          </p:sp>
          <p:cxnSp>
            <p:nvCxnSpPr>
              <p:cNvPr id="5" name="Straight Arrow Connector 4"/>
              <p:cNvCxnSpPr/>
              <p:nvPr/>
            </p:nvCxnSpPr>
            <p:spPr>
              <a:xfrm>
                <a:off x="6719455" y="1676400"/>
                <a:ext cx="1482436" cy="1240498"/>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8271163" y="2742608"/>
                <a:ext cx="2046009" cy="338554"/>
              </a:xfrm>
              <a:prstGeom prst="rect">
                <a:avLst/>
              </a:prstGeom>
              <a:solidFill>
                <a:srgbClr val="92D050"/>
              </a:solidFill>
              <a:ln>
                <a:solidFill>
                  <a:srgbClr val="92D050"/>
                </a:solidFill>
              </a:ln>
            </p:spPr>
            <p:txBody>
              <a:bodyPr wrap="none" rtlCol="0">
                <a:spAutoFit/>
              </a:bodyPr>
              <a:lstStyle/>
              <a:p>
                <a:r>
                  <a:rPr lang="en-US" sz="1600" dirty="0" smtClean="0">
                    <a:solidFill>
                      <a:schemeClr val="bg1"/>
                    </a:solidFill>
                    <a:latin typeface="Calibri" pitchFamily="34" charset="0"/>
                    <a:cs typeface="Calibri" pitchFamily="34" charset="0"/>
                  </a:rPr>
                  <a:t>2- Dictionary of vector</a:t>
                </a:r>
                <a:endParaRPr lang="en-IN" sz="1600" dirty="0">
                  <a:solidFill>
                    <a:schemeClr val="bg1"/>
                  </a:solidFill>
                  <a:latin typeface="Calibri" pitchFamily="34" charset="0"/>
                  <a:cs typeface="Calibri" pitchFamily="34" charset="0"/>
                </a:endParaRPr>
              </a:p>
            </p:txBody>
          </p:sp>
        </p:grpSp>
        <p:sp>
          <p:nvSpPr>
            <p:cNvPr id="16" name="Flowchart: Process 15"/>
            <p:cNvSpPr/>
            <p:nvPr/>
          </p:nvSpPr>
          <p:spPr>
            <a:xfrm>
              <a:off x="11021289" y="2305427"/>
              <a:ext cx="457200" cy="306324"/>
            </a:xfrm>
            <a:prstGeom prst="flowChartProcess">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Rounded MT Bold" pitchFamily="34" charset="0"/>
                </a:rPr>
                <a:t>3</a:t>
              </a:r>
              <a:endParaRPr lang="en-IN" dirty="0">
                <a:latin typeface="Arial Rounded MT Bold" pitchFamily="34" charset="0"/>
              </a:endParaRPr>
            </a:p>
          </p:txBody>
        </p:sp>
      </p:grpSp>
      <p:grpSp>
        <p:nvGrpSpPr>
          <p:cNvPr id="18" name="Group 17"/>
          <p:cNvGrpSpPr/>
          <p:nvPr/>
        </p:nvGrpSpPr>
        <p:grpSpPr>
          <a:xfrm>
            <a:off x="138545" y="4211782"/>
            <a:ext cx="6096001" cy="2109333"/>
            <a:chOff x="138545" y="4211782"/>
            <a:chExt cx="6096001" cy="2109333"/>
          </a:xfrm>
        </p:grpSpPr>
        <p:grpSp>
          <p:nvGrpSpPr>
            <p:cNvPr id="11" name="Group 10"/>
            <p:cNvGrpSpPr/>
            <p:nvPr/>
          </p:nvGrpSpPr>
          <p:grpSpPr>
            <a:xfrm>
              <a:off x="138545" y="4211782"/>
              <a:ext cx="6096001" cy="2109333"/>
              <a:chOff x="138545" y="4211782"/>
              <a:chExt cx="6096001" cy="2109333"/>
            </a:xfrm>
          </p:grpSpPr>
          <p:sp>
            <p:nvSpPr>
              <p:cNvPr id="8" name="Rectangle 7"/>
              <p:cNvSpPr/>
              <p:nvPr/>
            </p:nvSpPr>
            <p:spPr>
              <a:xfrm>
                <a:off x="138546" y="4566789"/>
                <a:ext cx="6096000" cy="1754326"/>
              </a:xfrm>
              <a:prstGeom prst="rect">
                <a:avLst/>
              </a:prstGeom>
              <a:solidFill>
                <a:schemeClr val="bg2">
                  <a:lumMod val="25000"/>
                </a:schemeClr>
              </a:solidFill>
              <a:ln>
                <a:solidFill>
                  <a:srgbClr val="92D050"/>
                </a:solidFill>
              </a:ln>
            </p:spPr>
            <p:txBody>
              <a:bodyPr>
                <a:spAutoFit/>
              </a:bodyPr>
              <a:lstStyle/>
              <a:p>
                <a:r>
                  <a:rPr lang="en-IN" dirty="0"/>
                  <a:t> </a:t>
                </a:r>
                <a:r>
                  <a:rPr lang="en-IN" sz="1600" dirty="0">
                    <a:solidFill>
                      <a:srgbClr val="0070C0"/>
                    </a:solidFill>
                    <a:latin typeface="Cambria Math" pitchFamily="18" charset="0"/>
                    <a:ea typeface="Cambria Math" pitchFamily="18" charset="0"/>
                    <a:cs typeface="Calibri" pitchFamily="34" charset="0"/>
                  </a:rPr>
                  <a:t>pc.</a:t>
                </a:r>
                <a:r>
                  <a:rPr lang="en-IN" dirty="0">
                    <a:solidFill>
                      <a:schemeClr val="accent4">
                        <a:lumMod val="50000"/>
                      </a:schemeClr>
                    </a:solidFill>
                  </a:rPr>
                  <a:t>create_index</a:t>
                </a:r>
                <a:r>
                  <a:rPr lang="en-IN" dirty="0">
                    <a:solidFill>
                      <a:schemeClr val="accent2"/>
                    </a:solidFill>
                  </a:rPr>
                  <a:t>(</a:t>
                </a:r>
              </a:p>
              <a:p>
                <a:r>
                  <a:rPr lang="en-IN" dirty="0"/>
                  <a:t>            </a:t>
                </a:r>
                <a:r>
                  <a:rPr lang="en-IN" sz="1600" dirty="0">
                    <a:solidFill>
                      <a:srgbClr val="0070C0"/>
                    </a:solidFill>
                    <a:latin typeface="Cambria Math" pitchFamily="18" charset="0"/>
                    <a:ea typeface="Cambria Math" pitchFamily="18" charset="0"/>
                    <a:cs typeface="Calibri" pitchFamily="34" charset="0"/>
                  </a:rPr>
                  <a:t>name</a:t>
                </a:r>
                <a:r>
                  <a:rPr lang="en-IN" dirty="0" smtClean="0">
                    <a:solidFill>
                      <a:schemeClr val="accent4">
                        <a:lumMod val="50000"/>
                      </a:schemeClr>
                    </a:solidFill>
                  </a:rPr>
                  <a:t>= </a:t>
                </a:r>
                <a:r>
                  <a:rPr lang="en-IN" sz="1600" dirty="0" smtClean="0">
                    <a:solidFill>
                      <a:srgbClr val="0070C0"/>
                    </a:solidFill>
                    <a:latin typeface="Cambria Math" pitchFamily="18" charset="0"/>
                    <a:ea typeface="Cambria Math" pitchFamily="18" charset="0"/>
                    <a:cs typeface="Calibri" pitchFamily="34" charset="0"/>
                  </a:rPr>
                  <a:t>index_name</a:t>
                </a:r>
                <a:r>
                  <a:rPr lang="en-IN" dirty="0">
                    <a:solidFill>
                      <a:schemeClr val="bg1"/>
                    </a:solidFill>
                  </a:rPr>
                  <a:t>,</a:t>
                </a:r>
              </a:p>
              <a:p>
                <a:r>
                  <a:rPr lang="en-IN" dirty="0"/>
                  <a:t>            </a:t>
                </a:r>
                <a:r>
                  <a:rPr lang="en-IN" sz="1600" dirty="0">
                    <a:solidFill>
                      <a:srgbClr val="0070C0"/>
                    </a:solidFill>
                    <a:latin typeface="Cambria Math" pitchFamily="18" charset="0"/>
                    <a:ea typeface="Cambria Math" pitchFamily="18" charset="0"/>
                    <a:cs typeface="Calibri" pitchFamily="34" charset="0"/>
                  </a:rPr>
                  <a:t>dimension</a:t>
                </a:r>
                <a:r>
                  <a:rPr lang="en-IN" dirty="0">
                    <a:solidFill>
                      <a:schemeClr val="accent4">
                        <a:lumMod val="50000"/>
                      </a:schemeClr>
                    </a:solidFill>
                  </a:rPr>
                  <a:t>=</a:t>
                </a:r>
                <a:r>
                  <a:rPr lang="en-IN" dirty="0">
                    <a:solidFill>
                      <a:schemeClr val="accent2"/>
                    </a:solidFill>
                  </a:rPr>
                  <a:t>8</a:t>
                </a:r>
                <a:r>
                  <a:rPr lang="en-IN" dirty="0">
                    <a:solidFill>
                      <a:schemeClr val="bg1"/>
                    </a:solidFill>
                  </a:rPr>
                  <a:t>,</a:t>
                </a:r>
              </a:p>
              <a:p>
                <a:r>
                  <a:rPr lang="en-IN" dirty="0"/>
                  <a:t>            </a:t>
                </a:r>
                <a:r>
                  <a:rPr lang="en-IN" sz="1600" dirty="0">
                    <a:solidFill>
                      <a:srgbClr val="0070C0"/>
                    </a:solidFill>
                    <a:latin typeface="Cambria Math" pitchFamily="18" charset="0"/>
                    <a:ea typeface="Cambria Math" pitchFamily="18" charset="0"/>
                    <a:cs typeface="Calibri" pitchFamily="34" charset="0"/>
                  </a:rPr>
                  <a:t>metric</a:t>
                </a:r>
                <a:r>
                  <a:rPr lang="en-IN" dirty="0">
                    <a:solidFill>
                      <a:schemeClr val="accent4">
                        <a:lumMod val="50000"/>
                      </a:schemeClr>
                    </a:solidFill>
                  </a:rPr>
                  <a:t>=</a:t>
                </a:r>
                <a:r>
                  <a:rPr lang="en-IN" dirty="0">
                    <a:solidFill>
                      <a:schemeClr val="accent2"/>
                    </a:solidFill>
                  </a:rPr>
                  <a:t>'cosine',</a:t>
                </a:r>
              </a:p>
              <a:p>
                <a:r>
                  <a:rPr lang="en-IN" dirty="0"/>
                  <a:t>            </a:t>
                </a:r>
                <a:r>
                  <a:rPr lang="en-IN" sz="1600" dirty="0">
                    <a:solidFill>
                      <a:srgbClr val="0070C0"/>
                    </a:solidFill>
                    <a:latin typeface="Cambria Math" pitchFamily="18" charset="0"/>
                    <a:ea typeface="Cambria Math" pitchFamily="18" charset="0"/>
                    <a:cs typeface="Calibri" pitchFamily="34" charset="0"/>
                  </a:rPr>
                  <a:t>spec</a:t>
                </a:r>
                <a:r>
                  <a:rPr lang="en-IN" dirty="0" smtClean="0">
                    <a:solidFill>
                      <a:schemeClr val="accent4">
                        <a:lumMod val="50000"/>
                      </a:schemeClr>
                    </a:solidFill>
                  </a:rPr>
                  <a:t>= </a:t>
                </a:r>
                <a:r>
                  <a:rPr lang="en-IN" dirty="0" smtClean="0">
                    <a:solidFill>
                      <a:srgbClr val="009900"/>
                    </a:solidFill>
                    <a:latin typeface="Bahnschrift Light" pitchFamily="34" charset="0"/>
                  </a:rPr>
                  <a:t>ServerlessSpec</a:t>
                </a:r>
                <a:r>
                  <a:rPr lang="en-IN" dirty="0" smtClean="0">
                    <a:solidFill>
                      <a:schemeClr val="accent4">
                        <a:lumMod val="50000"/>
                      </a:schemeClr>
                    </a:solidFill>
                  </a:rPr>
                  <a:t>(</a:t>
                </a:r>
                <a:r>
                  <a:rPr lang="en-IN" dirty="0" smtClean="0">
                    <a:solidFill>
                      <a:schemeClr val="accent1"/>
                    </a:solidFill>
                  </a:rPr>
                  <a:t>cloud</a:t>
                </a:r>
                <a:r>
                  <a:rPr lang="en-IN" dirty="0">
                    <a:solidFill>
                      <a:schemeClr val="accent2"/>
                    </a:solidFill>
                  </a:rPr>
                  <a:t>=</a:t>
                </a:r>
                <a:r>
                  <a:rPr lang="en-IN" dirty="0">
                    <a:solidFill>
                      <a:srgbClr val="FF5050"/>
                    </a:solidFill>
                  </a:rPr>
                  <a:t>'aws', </a:t>
                </a:r>
                <a:r>
                  <a:rPr lang="en-IN" dirty="0">
                    <a:solidFill>
                      <a:schemeClr val="accent1"/>
                    </a:solidFill>
                  </a:rPr>
                  <a:t>region</a:t>
                </a:r>
                <a:r>
                  <a:rPr lang="en-IN" dirty="0">
                    <a:solidFill>
                      <a:schemeClr val="bg1"/>
                    </a:solidFill>
                  </a:rPr>
                  <a:t>=</a:t>
                </a:r>
                <a:r>
                  <a:rPr lang="en-IN" dirty="0">
                    <a:solidFill>
                      <a:srgbClr val="FF5050"/>
                    </a:solidFill>
                  </a:rPr>
                  <a:t>'us-east-1'</a:t>
                </a:r>
                <a:r>
                  <a:rPr lang="en-IN" dirty="0">
                    <a:solidFill>
                      <a:schemeClr val="accent4">
                        <a:lumMod val="50000"/>
                      </a:schemeClr>
                    </a:solidFill>
                  </a:rPr>
                  <a:t>)</a:t>
                </a:r>
              </a:p>
              <a:p>
                <a:r>
                  <a:rPr lang="en-IN" dirty="0"/>
                  <a:t>      </a:t>
                </a:r>
                <a:r>
                  <a:rPr lang="en-IN" dirty="0">
                    <a:solidFill>
                      <a:schemeClr val="accent2"/>
                    </a:solidFill>
                  </a:rPr>
                  <a:t>  )</a:t>
                </a:r>
              </a:p>
            </p:txBody>
          </p:sp>
          <p:sp>
            <p:nvSpPr>
              <p:cNvPr id="10" name="Snip and Round Single Corner Rectangle 9"/>
              <p:cNvSpPr/>
              <p:nvPr/>
            </p:nvSpPr>
            <p:spPr>
              <a:xfrm>
                <a:off x="138545" y="4211782"/>
                <a:ext cx="1482437" cy="349796"/>
              </a:xfrm>
              <a:prstGeom prst="snipRound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bg1"/>
                    </a:solidFill>
                    <a:latin typeface="Arial Rounded MT Bold" pitchFamily="34" charset="0"/>
                  </a:rPr>
                  <a:t>Create Index</a:t>
                </a:r>
                <a:endParaRPr lang="en-IN" sz="1400" dirty="0">
                  <a:solidFill>
                    <a:schemeClr val="bg1"/>
                  </a:solidFill>
                  <a:latin typeface="Arial Rounded MT Bold" pitchFamily="34" charset="0"/>
                </a:endParaRPr>
              </a:p>
            </p:txBody>
          </p:sp>
        </p:grpSp>
        <p:sp>
          <p:nvSpPr>
            <p:cNvPr id="17" name="Flowchart: Process 16"/>
            <p:cNvSpPr/>
            <p:nvPr/>
          </p:nvSpPr>
          <p:spPr>
            <a:xfrm>
              <a:off x="5777346" y="4554542"/>
              <a:ext cx="457200" cy="306324"/>
            </a:xfrm>
            <a:prstGeom prst="flowChartProcess">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Arial Rounded MT Bold" pitchFamily="34" charset="0"/>
                </a:rPr>
                <a:t>2</a:t>
              </a:r>
              <a:endParaRPr lang="en-IN" dirty="0">
                <a:latin typeface="Arial Rounded MT Bold" pitchFamily="34" charset="0"/>
              </a:endParaRPr>
            </a:p>
          </p:txBody>
        </p:sp>
      </p:grpSp>
    </p:spTree>
    <p:extLst>
      <p:ext uri="{BB962C8B-B14F-4D97-AF65-F5344CB8AC3E}">
        <p14:creationId xmlns:p14="http://schemas.microsoft.com/office/powerpoint/2010/main" val="8561721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grpSp>
        <p:nvGrpSpPr>
          <p:cNvPr id="6" name="Group 5"/>
          <p:cNvGrpSpPr/>
          <p:nvPr/>
        </p:nvGrpSpPr>
        <p:grpSpPr>
          <a:xfrm>
            <a:off x="110836" y="119547"/>
            <a:ext cx="3228109" cy="461665"/>
            <a:chOff x="110836" y="119547"/>
            <a:chExt cx="3228109" cy="461665"/>
          </a:xfrm>
        </p:grpSpPr>
        <p:sp>
          <p:nvSpPr>
            <p:cNvPr id="7" name="TextBox 6"/>
            <p:cNvSpPr txBox="1"/>
            <p:nvPr/>
          </p:nvSpPr>
          <p:spPr>
            <a:xfrm>
              <a:off x="248047" y="119547"/>
              <a:ext cx="1712328" cy="461665"/>
            </a:xfrm>
            <a:prstGeom prst="rect">
              <a:avLst/>
            </a:prstGeom>
            <a:solidFill>
              <a:srgbClr val="92D050"/>
            </a:solidFill>
            <a:ln w="28575">
              <a:solidFill>
                <a:srgbClr val="33CC33"/>
              </a:solidFill>
            </a:ln>
          </p:spPr>
          <p:style>
            <a:lnRef idx="1">
              <a:schemeClr val="accent1"/>
            </a:lnRef>
            <a:fillRef idx="0">
              <a:schemeClr val="accent1"/>
            </a:fillRef>
            <a:effectRef idx="0">
              <a:schemeClr val="accent1"/>
            </a:effectRef>
            <a:fontRef idx="minor">
              <a:schemeClr val="tx1"/>
            </a:fontRef>
          </p:style>
          <p:txBody>
            <a:bodyPr wrap="none" rtlCol="0">
              <a:spAutoFit/>
            </a:bodyPr>
            <a:lstStyle>
              <a:defPPr>
                <a:defRPr lang="en-US"/>
              </a:defPPr>
              <a:lvl1pPr>
                <a:defRPr sz="2400">
                  <a:solidFill>
                    <a:srgbClr val="009900"/>
                  </a:solidFill>
                  <a:latin typeface="Bahnschrift SemiBold SemiConden" pitchFamily="34" charset="0"/>
                  <a:cs typeface="Cascadia Code ExtraLight" pitchFamily="49" charset="0"/>
                </a:defRPr>
              </a:lvl1pPr>
            </a:lstStyle>
            <a:p>
              <a:r>
                <a:rPr lang="en-US" dirty="0" smtClean="0"/>
                <a:t>Namespaces</a:t>
              </a:r>
              <a:endParaRPr lang="en-IN" dirty="0"/>
            </a:p>
          </p:txBody>
        </p:sp>
        <p:cxnSp>
          <p:nvCxnSpPr>
            <p:cNvPr id="8" name="Straight Connector 7"/>
            <p:cNvCxnSpPr/>
            <p:nvPr/>
          </p:nvCxnSpPr>
          <p:spPr>
            <a:xfrm>
              <a:off x="110836" y="581212"/>
              <a:ext cx="3228109" cy="0"/>
            </a:xfrm>
            <a:prstGeom prst="line">
              <a:avLst/>
            </a:prstGeom>
            <a:ln w="28575">
              <a:solidFill>
                <a:srgbClr val="33CC33"/>
              </a:solidFill>
            </a:ln>
          </p:spPr>
          <p:style>
            <a:lnRef idx="1">
              <a:schemeClr val="accent1"/>
            </a:lnRef>
            <a:fillRef idx="0">
              <a:schemeClr val="accent1"/>
            </a:fillRef>
            <a:effectRef idx="0">
              <a:schemeClr val="accent1"/>
            </a:effectRef>
            <a:fontRef idx="minor">
              <a:schemeClr val="tx1"/>
            </a:fontRef>
          </p:style>
        </p:cxnSp>
      </p:grpSp>
      <p:sp>
        <p:nvSpPr>
          <p:cNvPr id="3" name="Rectangle 2"/>
          <p:cNvSpPr/>
          <p:nvPr/>
        </p:nvSpPr>
        <p:spPr>
          <a:xfrm>
            <a:off x="948309" y="681243"/>
            <a:ext cx="4874796" cy="338554"/>
          </a:xfrm>
          <a:prstGeom prst="rect">
            <a:avLst/>
          </a:prstGeom>
        </p:spPr>
        <p:txBody>
          <a:bodyPr wrap="none">
            <a:spAutoFit/>
          </a:bodyPr>
          <a:lstStyle/>
          <a:p>
            <a:r>
              <a:rPr lang="en-US" sz="1600" dirty="0"/>
              <a:t>Namespace is ,we can say it is used for partition of index</a:t>
            </a:r>
            <a:endParaRPr lang="en-IN" sz="1600" dirty="0"/>
          </a:p>
        </p:txBody>
      </p:sp>
    </p:spTree>
    <p:extLst>
      <p:ext uri="{BB962C8B-B14F-4D97-AF65-F5344CB8AC3E}">
        <p14:creationId xmlns:p14="http://schemas.microsoft.com/office/powerpoint/2010/main" val="2190568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705663599"/>
              </p:ext>
            </p:extLst>
          </p:nvPr>
        </p:nvGraphicFramePr>
        <p:xfrm>
          <a:off x="1267691" y="1675116"/>
          <a:ext cx="9275619" cy="1859280"/>
        </p:xfrm>
        <a:graphic>
          <a:graphicData uri="http://schemas.openxmlformats.org/drawingml/2006/table">
            <a:tbl>
              <a:tblPr>
                <a:tableStyleId>{7DF18680-E054-41AD-8BC1-D1AEF772440D}</a:tableStyleId>
              </a:tblPr>
              <a:tblGrid>
                <a:gridCol w="2586252"/>
                <a:gridCol w="2366307"/>
                <a:gridCol w="4323060"/>
              </a:tblGrid>
              <a:tr h="0">
                <a:tc>
                  <a:txBody>
                    <a:bodyPr/>
                    <a:lstStyle/>
                    <a:p>
                      <a:endParaRPr lang="en-IN" b="1" cap="none"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a:txBody>
                  <a:tcPr anchor="ctr">
                    <a:solidFill>
                      <a:srgbClr val="FF5050"/>
                    </a:solidFill>
                  </a:tcPr>
                </a:tc>
                <a:tc>
                  <a:txBody>
                    <a:bodyPr/>
                    <a:lstStyle/>
                    <a:p>
                      <a:r>
                        <a:rPr lang="en-IN" b="0" cap="none" spc="0" dirty="0">
                          <a:ln>
                            <a:noFill/>
                          </a:ln>
                          <a:solidFill>
                            <a:schemeClr val="bg1"/>
                          </a:solidFill>
                          <a:effectLst/>
                        </a:rPr>
                        <a:t>RDBMS</a:t>
                      </a:r>
                    </a:p>
                  </a:txBody>
                  <a:tcPr anchor="ctr">
                    <a:solidFill>
                      <a:srgbClr val="FF5050"/>
                    </a:solidFill>
                  </a:tcPr>
                </a:tc>
                <a:tc>
                  <a:txBody>
                    <a:bodyPr/>
                    <a:lstStyle/>
                    <a:p>
                      <a:r>
                        <a:rPr lang="en-IN" b="0" cap="none" spc="0" dirty="0" smtClean="0">
                          <a:ln>
                            <a:noFill/>
                          </a:ln>
                          <a:solidFill>
                            <a:schemeClr val="bg1"/>
                          </a:solidFill>
                          <a:effectLst/>
                        </a:rPr>
                        <a:t>Vector DB</a:t>
                      </a:r>
                      <a:endParaRPr lang="en-IN" b="0" cap="none" spc="0" dirty="0">
                        <a:ln>
                          <a:noFill/>
                        </a:ln>
                        <a:solidFill>
                          <a:schemeClr val="bg1"/>
                        </a:solidFill>
                        <a:effectLst/>
                      </a:endParaRPr>
                    </a:p>
                  </a:txBody>
                  <a:tcPr anchor="ctr">
                    <a:solidFill>
                      <a:srgbClr val="FF5050"/>
                    </a:solidFill>
                  </a:tcPr>
                </a:tc>
              </a:tr>
              <a:tr h="0">
                <a:tc>
                  <a:txBody>
                    <a:bodyPr/>
                    <a:lstStyle/>
                    <a:p>
                      <a:r>
                        <a:rPr lang="en-IN" sz="1600" dirty="0" smtClean="0">
                          <a:effectLst/>
                        </a:rPr>
                        <a:t>Made for /Purpose</a:t>
                      </a:r>
                      <a:endParaRPr lang="en-IN" sz="1600" dirty="0">
                        <a:effectLst/>
                      </a:endParaRPr>
                    </a:p>
                  </a:txBody>
                  <a:tcPr anchor="ctr"/>
                </a:tc>
                <a:tc>
                  <a:txBody>
                    <a:bodyPr/>
                    <a:lstStyle/>
                    <a:p>
                      <a:r>
                        <a:rPr lang="en-IN" sz="1600" dirty="0">
                          <a:effectLst/>
                        </a:rPr>
                        <a:t>Transactional</a:t>
                      </a:r>
                    </a:p>
                  </a:txBody>
                  <a:tcPr anchor="ctr"/>
                </a:tc>
                <a:tc>
                  <a:txBody>
                    <a:bodyPr/>
                    <a:lstStyle/>
                    <a:p>
                      <a:r>
                        <a:rPr lang="en-IN" sz="1600" dirty="0">
                          <a:effectLst/>
                        </a:rPr>
                        <a:t>AI/ML</a:t>
                      </a:r>
                    </a:p>
                  </a:txBody>
                  <a:tcPr anchor="ctr"/>
                </a:tc>
              </a:tr>
              <a:tr h="0">
                <a:tc>
                  <a:txBody>
                    <a:bodyPr/>
                    <a:lstStyle/>
                    <a:p>
                      <a:r>
                        <a:rPr lang="en-IN" sz="1600" dirty="0" smtClean="0">
                          <a:effectLst/>
                        </a:rPr>
                        <a:t>Data Storage</a:t>
                      </a:r>
                      <a:endParaRPr lang="en-IN" sz="1600" dirty="0">
                        <a:effectLst/>
                      </a:endParaRPr>
                    </a:p>
                  </a:txBody>
                  <a:tcPr anchor="ctr"/>
                </a:tc>
                <a:tc>
                  <a:txBody>
                    <a:bodyPr/>
                    <a:lstStyle/>
                    <a:p>
                      <a:r>
                        <a:rPr lang="en-IN" sz="1600" dirty="0">
                          <a:effectLst/>
                        </a:rPr>
                        <a:t>Rows/Columns</a:t>
                      </a:r>
                    </a:p>
                  </a:txBody>
                  <a:tcPr anchor="ctr"/>
                </a:tc>
                <a:tc>
                  <a:txBody>
                    <a:bodyPr/>
                    <a:lstStyle/>
                    <a:p>
                      <a:r>
                        <a:rPr lang="en-IN" sz="1600" dirty="0">
                          <a:effectLst/>
                        </a:rPr>
                        <a:t>Vectors</a:t>
                      </a:r>
                    </a:p>
                  </a:txBody>
                  <a:tcPr anchor="ctr"/>
                </a:tc>
              </a:tr>
              <a:tr h="0">
                <a:tc>
                  <a:txBody>
                    <a:bodyPr/>
                    <a:lstStyle/>
                    <a:p>
                      <a:r>
                        <a:rPr lang="en-IN" sz="1600" dirty="0">
                          <a:effectLst/>
                        </a:rPr>
                        <a:t>Indexing</a:t>
                      </a:r>
                    </a:p>
                  </a:txBody>
                  <a:tcPr anchor="ctr"/>
                </a:tc>
                <a:tc>
                  <a:txBody>
                    <a:bodyPr/>
                    <a:lstStyle/>
                    <a:p>
                      <a:r>
                        <a:rPr lang="en-IN" sz="1600" dirty="0">
                          <a:effectLst/>
                        </a:rPr>
                        <a:t>Index</a:t>
                      </a:r>
                    </a:p>
                  </a:txBody>
                  <a:tcPr anchor="ctr"/>
                </a:tc>
                <a:tc>
                  <a:txBody>
                    <a:bodyPr/>
                    <a:lstStyle/>
                    <a:p>
                      <a:r>
                        <a:rPr lang="en-IN" sz="2400" i="0" dirty="0">
                          <a:effectLst/>
                          <a:latin typeface="Bahnschrift Light" pitchFamily="34" charset="0"/>
                        </a:rPr>
                        <a:t>Hashing / Quantization</a:t>
                      </a:r>
                    </a:p>
                  </a:txBody>
                  <a:tcPr anchor="ctr"/>
                </a:tc>
              </a:tr>
              <a:tr h="0">
                <a:tc>
                  <a:txBody>
                    <a:bodyPr/>
                    <a:lstStyle/>
                    <a:p>
                      <a:r>
                        <a:rPr lang="en-IN" sz="1600" dirty="0">
                          <a:effectLst/>
                        </a:rPr>
                        <a:t>Query</a:t>
                      </a:r>
                    </a:p>
                  </a:txBody>
                  <a:tcPr anchor="ctr"/>
                </a:tc>
                <a:tc>
                  <a:txBody>
                    <a:bodyPr/>
                    <a:lstStyle/>
                    <a:p>
                      <a:r>
                        <a:rPr lang="en-IN" sz="1600" dirty="0">
                          <a:effectLst/>
                        </a:rPr>
                        <a:t>SQL</a:t>
                      </a:r>
                    </a:p>
                  </a:txBody>
                  <a:tcPr anchor="ctr"/>
                </a:tc>
                <a:tc>
                  <a:txBody>
                    <a:bodyPr/>
                    <a:lstStyle/>
                    <a:p>
                      <a:r>
                        <a:rPr lang="en-IN" sz="1800" dirty="0">
                          <a:solidFill>
                            <a:srgbClr val="009900"/>
                          </a:solidFill>
                          <a:effectLst/>
                          <a:latin typeface="Bahnschrift SemiBold" pitchFamily="34" charset="0"/>
                        </a:rPr>
                        <a:t>Cosine Similarity / Euclidean Distance</a:t>
                      </a:r>
                    </a:p>
                  </a:txBody>
                  <a:tcPr anchor="ctr"/>
                </a:tc>
              </a:tr>
            </a:tbl>
          </a:graphicData>
        </a:graphic>
      </p:graphicFrame>
      <p:grpSp>
        <p:nvGrpSpPr>
          <p:cNvPr id="7" name="Group 6"/>
          <p:cNvGrpSpPr/>
          <p:nvPr/>
        </p:nvGrpSpPr>
        <p:grpSpPr>
          <a:xfrm>
            <a:off x="0" y="411448"/>
            <a:ext cx="4572000" cy="338554"/>
            <a:chOff x="0" y="314098"/>
            <a:chExt cx="4572000" cy="338554"/>
          </a:xfrm>
        </p:grpSpPr>
        <p:sp>
          <p:nvSpPr>
            <p:cNvPr id="4" name="TextBox 3"/>
            <p:cNvSpPr txBox="1"/>
            <p:nvPr/>
          </p:nvSpPr>
          <p:spPr>
            <a:xfrm>
              <a:off x="263236" y="314098"/>
              <a:ext cx="3296095" cy="338554"/>
            </a:xfrm>
            <a:prstGeom prst="rect">
              <a:avLst/>
            </a:prstGeom>
            <a:solidFill>
              <a:srgbClr val="FF5050"/>
            </a:solidFill>
          </p:spPr>
          <p:txBody>
            <a:bodyPr wrap="none" rtlCol="0">
              <a:spAutoFit/>
            </a:bodyPr>
            <a:lstStyle/>
            <a:p>
              <a:r>
                <a:rPr lang="en-US" sz="1600" dirty="0" smtClean="0">
                  <a:solidFill>
                    <a:schemeClr val="bg1"/>
                  </a:solidFill>
                  <a:latin typeface="Bahnschrift Light" pitchFamily="34" charset="0"/>
                </a:rPr>
                <a:t>Differ bet Vector And Tradition DB</a:t>
              </a:r>
              <a:endParaRPr lang="en-IN" sz="1600" dirty="0">
                <a:solidFill>
                  <a:schemeClr val="bg1"/>
                </a:solidFill>
                <a:latin typeface="Bahnschrift Light" pitchFamily="34" charset="0"/>
              </a:endParaRPr>
            </a:p>
          </p:txBody>
        </p:sp>
        <p:cxnSp>
          <p:nvCxnSpPr>
            <p:cNvPr id="6" name="Straight Connector 5"/>
            <p:cNvCxnSpPr/>
            <p:nvPr/>
          </p:nvCxnSpPr>
          <p:spPr>
            <a:xfrm>
              <a:off x="0" y="314098"/>
              <a:ext cx="4572000" cy="0"/>
            </a:xfrm>
            <a:prstGeom prst="line">
              <a:avLst/>
            </a:prstGeom>
            <a:ln>
              <a:solidFill>
                <a:srgbClr val="FF505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409449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10" name="Group 9"/>
          <p:cNvGrpSpPr/>
          <p:nvPr/>
        </p:nvGrpSpPr>
        <p:grpSpPr>
          <a:xfrm>
            <a:off x="207818" y="216874"/>
            <a:ext cx="2078183" cy="400110"/>
            <a:chOff x="1371600" y="255276"/>
            <a:chExt cx="2078183" cy="400110"/>
          </a:xfrm>
        </p:grpSpPr>
        <p:sp>
          <p:nvSpPr>
            <p:cNvPr id="2" name="Rectangle 1"/>
            <p:cNvSpPr/>
            <p:nvPr/>
          </p:nvSpPr>
          <p:spPr>
            <a:xfrm>
              <a:off x="1510145" y="255276"/>
              <a:ext cx="946991" cy="400110"/>
            </a:xfrm>
            <a:prstGeom prst="rect">
              <a:avLst/>
            </a:prstGeom>
            <a:solidFill>
              <a:srgbClr val="00B0F0"/>
            </a:solidFill>
          </p:spPr>
          <p:txBody>
            <a:bodyPr wrap="none">
              <a:spAutoFit/>
            </a:bodyPr>
            <a:lstStyle/>
            <a:p>
              <a:r>
                <a:rPr lang="en-IN" sz="2000" dirty="0">
                  <a:solidFill>
                    <a:schemeClr val="bg1"/>
                  </a:solidFill>
                  <a:latin typeface="Franklin Gothic Demi Cond" pitchFamily="34" charset="0"/>
                  <a:ea typeface="+mj-ea"/>
                  <a:cs typeface="+mj-cs"/>
                </a:rPr>
                <a:t>Chroma</a:t>
              </a:r>
            </a:p>
          </p:txBody>
        </p:sp>
        <p:cxnSp>
          <p:nvCxnSpPr>
            <p:cNvPr id="5" name="Straight Connector 4"/>
            <p:cNvCxnSpPr/>
            <p:nvPr/>
          </p:nvCxnSpPr>
          <p:spPr>
            <a:xfrm>
              <a:off x="1371600" y="648188"/>
              <a:ext cx="2078183" cy="7198"/>
            </a:xfrm>
            <a:prstGeom prst="line">
              <a:avLst/>
            </a:prstGeom>
            <a:ln>
              <a:solidFill>
                <a:srgbClr val="15C2FF"/>
              </a:solidFill>
            </a:ln>
          </p:spPr>
          <p:style>
            <a:lnRef idx="1">
              <a:schemeClr val="accent1"/>
            </a:lnRef>
            <a:fillRef idx="0">
              <a:schemeClr val="accent1"/>
            </a:fillRef>
            <a:effectRef idx="0">
              <a:schemeClr val="accent1"/>
            </a:effectRef>
            <a:fontRef idx="minor">
              <a:schemeClr val="tx1"/>
            </a:fontRef>
          </p:style>
        </p:cxnSp>
      </p:grpSp>
      <p:sp>
        <p:nvSpPr>
          <p:cNvPr id="11" name="Rectangle 10"/>
          <p:cNvSpPr/>
          <p:nvPr/>
        </p:nvSpPr>
        <p:spPr>
          <a:xfrm>
            <a:off x="207818" y="861629"/>
            <a:ext cx="11873345" cy="1569660"/>
          </a:xfrm>
          <a:prstGeom prst="rect">
            <a:avLst/>
          </a:prstGeom>
          <a:solidFill>
            <a:schemeClr val="bg1">
              <a:lumMod val="95000"/>
            </a:schemeClr>
          </a:solidFill>
          <a:ln w="3175">
            <a:solidFill>
              <a:srgbClr val="15C2FF"/>
            </a:solidFill>
          </a:ln>
        </p:spPr>
        <p:txBody>
          <a:bodyPr wrap="square">
            <a:spAutoFit/>
          </a:bodyPr>
          <a:lstStyle/>
          <a:p>
            <a:r>
              <a:rPr lang="en-IN" sz="1600" dirty="0">
                <a:solidFill>
                  <a:srgbClr val="00B050"/>
                </a:solidFill>
              </a:rPr>
              <a:t>#!pip install langchain chromadb openai tiktoken pypdf langchain_openai </a:t>
            </a:r>
            <a:r>
              <a:rPr lang="en-IN" sz="1600" dirty="0" smtClean="0">
                <a:solidFill>
                  <a:srgbClr val="00B050"/>
                </a:solidFill>
              </a:rPr>
              <a:t>langchain-community</a:t>
            </a:r>
          </a:p>
          <a:p>
            <a:endParaRPr lang="en-IN" sz="1600" dirty="0">
              <a:solidFill>
                <a:srgbClr val="00B050"/>
              </a:solidFill>
            </a:endParaRPr>
          </a:p>
          <a:p>
            <a:r>
              <a:rPr lang="en-IN" sz="1600" dirty="0">
                <a:solidFill>
                  <a:srgbClr val="7030A0"/>
                </a:solidFill>
              </a:rPr>
              <a:t>from</a:t>
            </a:r>
            <a:r>
              <a:rPr lang="en-IN" sz="1600" dirty="0"/>
              <a:t> </a:t>
            </a:r>
            <a:r>
              <a:rPr lang="en-IN" sz="1600" dirty="0">
                <a:solidFill>
                  <a:srgbClr val="00CC99"/>
                </a:solidFill>
              </a:rPr>
              <a:t>langchain_google_genai </a:t>
            </a:r>
            <a:r>
              <a:rPr lang="en-IN" sz="1600" dirty="0">
                <a:solidFill>
                  <a:srgbClr val="7030A0"/>
                </a:solidFill>
              </a:rPr>
              <a:t>import </a:t>
            </a:r>
            <a:r>
              <a:rPr lang="en-IN" sz="1600" dirty="0">
                <a:solidFill>
                  <a:srgbClr val="00CC99"/>
                </a:solidFill>
              </a:rPr>
              <a:t>GoogleGenerativeAIEmbeddings</a:t>
            </a:r>
          </a:p>
          <a:p>
            <a:r>
              <a:rPr lang="en-IN" sz="1600" dirty="0">
                <a:solidFill>
                  <a:srgbClr val="7030A0"/>
                </a:solidFill>
              </a:rPr>
              <a:t>from</a:t>
            </a:r>
            <a:r>
              <a:rPr lang="en-IN" sz="1600" dirty="0"/>
              <a:t> </a:t>
            </a:r>
            <a:r>
              <a:rPr lang="en-IN" sz="1600" dirty="0">
                <a:solidFill>
                  <a:srgbClr val="00CC99"/>
                </a:solidFill>
              </a:rPr>
              <a:t>langchain_chroma</a:t>
            </a:r>
            <a:r>
              <a:rPr lang="en-IN" sz="1600" dirty="0"/>
              <a:t> </a:t>
            </a:r>
            <a:r>
              <a:rPr lang="en-IN" sz="1600" dirty="0">
                <a:solidFill>
                  <a:srgbClr val="7030A0"/>
                </a:solidFill>
              </a:rPr>
              <a:t>import </a:t>
            </a:r>
            <a:r>
              <a:rPr lang="en-IN" sz="1600" dirty="0">
                <a:solidFill>
                  <a:srgbClr val="00CC99"/>
                </a:solidFill>
              </a:rPr>
              <a:t>Chroma</a:t>
            </a:r>
          </a:p>
          <a:p>
            <a:r>
              <a:rPr lang="en-IN" sz="1600" dirty="0">
                <a:solidFill>
                  <a:srgbClr val="7030A0"/>
                </a:solidFill>
              </a:rPr>
              <a:t>from</a:t>
            </a:r>
            <a:r>
              <a:rPr lang="en-IN" sz="1600" dirty="0"/>
              <a:t> </a:t>
            </a:r>
            <a:r>
              <a:rPr lang="en-IN" sz="1600" dirty="0">
                <a:solidFill>
                  <a:srgbClr val="00CC99"/>
                </a:solidFill>
              </a:rPr>
              <a:t>dotenv</a:t>
            </a:r>
            <a:r>
              <a:rPr lang="en-IN" sz="1600" dirty="0"/>
              <a:t> </a:t>
            </a:r>
            <a:r>
              <a:rPr lang="en-IN" sz="1600" dirty="0">
                <a:solidFill>
                  <a:srgbClr val="7030A0"/>
                </a:solidFill>
              </a:rPr>
              <a:t>import</a:t>
            </a:r>
            <a:r>
              <a:rPr lang="en-IN" sz="1600" dirty="0"/>
              <a:t> </a:t>
            </a:r>
            <a:r>
              <a:rPr lang="en-IN" sz="1600" dirty="0">
                <a:solidFill>
                  <a:srgbClr val="00CC99"/>
                </a:solidFill>
              </a:rPr>
              <a:t>load_dotenv</a:t>
            </a:r>
          </a:p>
          <a:p>
            <a:r>
              <a:rPr lang="en-IN" sz="1600" dirty="0">
                <a:solidFill>
                  <a:srgbClr val="7030A0"/>
                </a:solidFill>
              </a:rPr>
              <a:t>from</a:t>
            </a:r>
            <a:r>
              <a:rPr lang="en-IN" sz="1600" dirty="0"/>
              <a:t> </a:t>
            </a:r>
            <a:r>
              <a:rPr lang="en-IN" sz="1600" dirty="0">
                <a:solidFill>
                  <a:srgbClr val="00CC99"/>
                </a:solidFill>
              </a:rPr>
              <a:t>langchain.schema</a:t>
            </a:r>
            <a:r>
              <a:rPr lang="en-IN" sz="1600" dirty="0">
                <a:solidFill>
                  <a:srgbClr val="7030A0"/>
                </a:solidFill>
              </a:rPr>
              <a:t> import </a:t>
            </a:r>
            <a:r>
              <a:rPr lang="en-IN" sz="1600" dirty="0">
                <a:solidFill>
                  <a:srgbClr val="00CC99"/>
                </a:solidFill>
              </a:rPr>
              <a:t>Document</a:t>
            </a:r>
          </a:p>
        </p:txBody>
      </p:sp>
      <p:sp>
        <p:nvSpPr>
          <p:cNvPr id="12" name="Rectangle 11"/>
          <p:cNvSpPr/>
          <p:nvPr/>
        </p:nvSpPr>
        <p:spPr>
          <a:xfrm>
            <a:off x="207818" y="2680855"/>
            <a:ext cx="11873346" cy="3600986"/>
          </a:xfrm>
          <a:prstGeom prst="rect">
            <a:avLst/>
          </a:prstGeom>
          <a:solidFill>
            <a:schemeClr val="bg1">
              <a:lumMod val="95000"/>
            </a:schemeClr>
          </a:solidFill>
          <a:ln w="3175">
            <a:solidFill>
              <a:srgbClr val="15C2FF"/>
            </a:solidFill>
          </a:ln>
        </p:spPr>
        <p:txBody>
          <a:bodyPr wrap="square">
            <a:spAutoFit/>
          </a:bodyPr>
          <a:lstStyle/>
          <a:p>
            <a:r>
              <a:rPr lang="en-IN" sz="1600" dirty="0">
                <a:solidFill>
                  <a:srgbClr val="CC3300"/>
                </a:solidFill>
              </a:rPr>
              <a:t>load_dotenv()</a:t>
            </a:r>
          </a:p>
          <a:p>
            <a:r>
              <a:rPr lang="en-IN" sz="1600" dirty="0">
                <a:solidFill>
                  <a:srgbClr val="15C2FF"/>
                </a:solidFill>
              </a:rPr>
              <a:t>embeddings </a:t>
            </a:r>
            <a:r>
              <a:rPr lang="en-IN" sz="1600" dirty="0">
                <a:solidFill>
                  <a:srgbClr val="C00000"/>
                </a:solidFill>
              </a:rPr>
              <a:t>=</a:t>
            </a:r>
            <a:r>
              <a:rPr lang="en-IN" sz="1600" dirty="0"/>
              <a:t> </a:t>
            </a:r>
            <a:r>
              <a:rPr lang="en-IN" sz="1600" dirty="0">
                <a:solidFill>
                  <a:srgbClr val="00CC99"/>
                </a:solidFill>
              </a:rPr>
              <a:t>GoogleGenerativeAIEmbeddings(</a:t>
            </a:r>
            <a:r>
              <a:rPr lang="en-IN" sz="1600" dirty="0">
                <a:solidFill>
                  <a:srgbClr val="15C2FF"/>
                </a:solidFill>
              </a:rPr>
              <a:t>model</a:t>
            </a:r>
            <a:r>
              <a:rPr lang="en-IN" sz="1600" dirty="0">
                <a:solidFill>
                  <a:srgbClr val="C00000"/>
                </a:solidFill>
              </a:rPr>
              <a:t>="</a:t>
            </a:r>
            <a:r>
              <a:rPr lang="en-IN" sz="1600" dirty="0">
                <a:solidFill>
                  <a:srgbClr val="CC3300"/>
                </a:solidFill>
              </a:rPr>
              <a:t>models/embedding-001"</a:t>
            </a:r>
            <a:r>
              <a:rPr lang="en-IN" sz="1600" dirty="0">
                <a:solidFill>
                  <a:srgbClr val="C00000"/>
                </a:solidFill>
              </a:rPr>
              <a:t>)</a:t>
            </a:r>
          </a:p>
          <a:p>
            <a:r>
              <a:rPr lang="en-IN" sz="1600" dirty="0" smtClean="0">
                <a:solidFill>
                  <a:srgbClr val="15C2FF"/>
                </a:solidFill>
              </a:rPr>
              <a:t>doc1</a:t>
            </a:r>
            <a:r>
              <a:rPr lang="en-IN" sz="1600" dirty="0" smtClean="0">
                <a:solidFill>
                  <a:srgbClr val="C00000"/>
                </a:solidFill>
              </a:rPr>
              <a:t>=</a:t>
            </a:r>
            <a:r>
              <a:rPr lang="en-IN" sz="1600" dirty="0" smtClean="0">
                <a:solidFill>
                  <a:srgbClr val="00CC99"/>
                </a:solidFill>
              </a:rPr>
              <a:t>Document(</a:t>
            </a:r>
            <a:r>
              <a:rPr lang="en-IN" sz="1600" dirty="0" smtClean="0">
                <a:solidFill>
                  <a:srgbClr val="15C2FF"/>
                </a:solidFill>
              </a:rPr>
              <a:t>page_content</a:t>
            </a:r>
            <a:r>
              <a:rPr lang="en-IN" sz="1600" dirty="0">
                <a:solidFill>
                  <a:srgbClr val="CC3300"/>
                </a:solidFill>
              </a:rPr>
              <a:t>="Virat Kohli is one of the most successful and consistent batsmen in IPL history. Known for his aggressive batting style</a:t>
            </a:r>
            <a:r>
              <a:rPr lang="en-IN" sz="1600" dirty="0" smtClean="0">
                <a:solidFill>
                  <a:srgbClr val="CC3300"/>
                </a:solidFill>
              </a:rPr>
              <a:t>"</a:t>
            </a:r>
            <a:r>
              <a:rPr lang="en-IN" sz="1600" dirty="0" smtClean="0"/>
              <a:t>,</a:t>
            </a:r>
            <a:r>
              <a:rPr lang="en-IN" sz="1600" dirty="0"/>
              <a:t> </a:t>
            </a:r>
            <a:r>
              <a:rPr lang="en-IN" sz="1600" dirty="0">
                <a:solidFill>
                  <a:srgbClr val="15C2FF"/>
                </a:solidFill>
              </a:rPr>
              <a:t>metadata</a:t>
            </a:r>
            <a:r>
              <a:rPr lang="en-IN" sz="1600" dirty="0">
                <a:solidFill>
                  <a:srgbClr val="C00000"/>
                </a:solidFill>
              </a:rPr>
              <a:t>={"</a:t>
            </a:r>
            <a:r>
              <a:rPr lang="en-IN" sz="1600" dirty="0">
                <a:solidFill>
                  <a:srgbClr val="CC3300"/>
                </a:solidFill>
              </a:rPr>
              <a:t>team": </a:t>
            </a:r>
            <a:r>
              <a:rPr lang="en-IN" sz="1600" dirty="0"/>
              <a:t>"</a:t>
            </a:r>
            <a:r>
              <a:rPr lang="en-IN" sz="1600" dirty="0">
                <a:solidFill>
                  <a:srgbClr val="CC3300"/>
                </a:solidFill>
              </a:rPr>
              <a:t>Royal Challengers Bangalore"})</a:t>
            </a:r>
          </a:p>
          <a:p>
            <a:r>
              <a:rPr lang="en-IN" sz="1600" dirty="0"/>
              <a:t/>
            </a:r>
            <a:br>
              <a:rPr lang="en-IN" sz="1600" dirty="0"/>
            </a:br>
            <a:r>
              <a:rPr lang="en-IN" sz="1600" dirty="0" smtClean="0">
                <a:solidFill>
                  <a:srgbClr val="15C2FF"/>
                </a:solidFill>
              </a:rPr>
              <a:t>doc2</a:t>
            </a:r>
            <a:r>
              <a:rPr lang="en-IN" sz="1600" dirty="0" smtClean="0">
                <a:solidFill>
                  <a:srgbClr val="C00000"/>
                </a:solidFill>
              </a:rPr>
              <a:t>=</a:t>
            </a:r>
            <a:r>
              <a:rPr lang="en-IN" sz="1600" dirty="0" smtClean="0">
                <a:solidFill>
                  <a:srgbClr val="00CC99"/>
                </a:solidFill>
              </a:rPr>
              <a:t>Document</a:t>
            </a:r>
            <a:r>
              <a:rPr lang="en-IN" sz="1600" dirty="0" smtClean="0"/>
              <a:t>(</a:t>
            </a:r>
            <a:r>
              <a:rPr lang="en-IN" sz="1600" dirty="0" smtClean="0">
                <a:solidFill>
                  <a:srgbClr val="15C2FF"/>
                </a:solidFill>
              </a:rPr>
              <a:t>page_content</a:t>
            </a:r>
            <a:r>
              <a:rPr lang="en-IN" sz="1600" dirty="0">
                <a:solidFill>
                  <a:srgbClr val="CC3300"/>
                </a:solidFill>
              </a:rPr>
              <a:t>="Rohit Sharma is the most successful captain in IPL history, leading Mumbai Indians to five titles. He's known for his captioncy</a:t>
            </a:r>
            <a:r>
              <a:rPr lang="en-IN" sz="1600" dirty="0" smtClean="0">
                <a:solidFill>
                  <a:srgbClr val="CC3300"/>
                </a:solidFill>
              </a:rPr>
              <a:t>"</a:t>
            </a:r>
            <a:r>
              <a:rPr lang="en-IN" sz="1600" dirty="0" smtClean="0">
                <a:solidFill>
                  <a:srgbClr val="C00000"/>
                </a:solidFill>
              </a:rPr>
              <a:t>,</a:t>
            </a:r>
            <a:r>
              <a:rPr lang="en-IN" sz="1600" dirty="0">
                <a:solidFill>
                  <a:srgbClr val="C00000"/>
                </a:solidFill>
              </a:rPr>
              <a:t> </a:t>
            </a:r>
            <a:r>
              <a:rPr lang="en-IN" sz="1600" dirty="0">
                <a:solidFill>
                  <a:srgbClr val="15C2FF"/>
                </a:solidFill>
              </a:rPr>
              <a:t>metadata</a:t>
            </a:r>
            <a:r>
              <a:rPr lang="en-IN" sz="1600" dirty="0">
                <a:solidFill>
                  <a:srgbClr val="C00000"/>
                </a:solidFill>
              </a:rPr>
              <a:t>={"</a:t>
            </a:r>
            <a:r>
              <a:rPr lang="en-IN" sz="1600" dirty="0">
                <a:solidFill>
                  <a:srgbClr val="CC3300"/>
                </a:solidFill>
              </a:rPr>
              <a:t>team</a:t>
            </a:r>
            <a:r>
              <a:rPr lang="en-IN" sz="1600" dirty="0">
                <a:solidFill>
                  <a:srgbClr val="C00000"/>
                </a:solidFill>
              </a:rPr>
              <a:t>": "</a:t>
            </a:r>
            <a:r>
              <a:rPr lang="en-IN" sz="1600" dirty="0">
                <a:solidFill>
                  <a:srgbClr val="CC3300"/>
                </a:solidFill>
              </a:rPr>
              <a:t>Mumbai Indians"} </a:t>
            </a:r>
            <a:r>
              <a:rPr lang="en-IN" sz="1600" dirty="0">
                <a:solidFill>
                  <a:srgbClr val="C00000"/>
                </a:solidFill>
              </a:rPr>
              <a:t>)</a:t>
            </a:r>
          </a:p>
          <a:p>
            <a:r>
              <a:rPr lang="en-IN" sz="1600" dirty="0"/>
              <a:t/>
            </a:r>
            <a:br>
              <a:rPr lang="en-IN" sz="1600" dirty="0"/>
            </a:br>
            <a:r>
              <a:rPr lang="en-IN" sz="1600" dirty="0" smtClean="0">
                <a:solidFill>
                  <a:srgbClr val="15C2FF"/>
                </a:solidFill>
              </a:rPr>
              <a:t>doc3</a:t>
            </a:r>
            <a:r>
              <a:rPr lang="en-IN" sz="1600" dirty="0" smtClean="0">
                <a:solidFill>
                  <a:srgbClr val="C00000"/>
                </a:solidFill>
              </a:rPr>
              <a:t>=</a:t>
            </a:r>
            <a:r>
              <a:rPr lang="en-IN" sz="1600" dirty="0" smtClean="0">
                <a:solidFill>
                  <a:srgbClr val="00CC99"/>
                </a:solidFill>
              </a:rPr>
              <a:t>Document(</a:t>
            </a:r>
            <a:r>
              <a:rPr lang="en-IN" sz="1600" dirty="0" smtClean="0">
                <a:solidFill>
                  <a:srgbClr val="15C2FF"/>
                </a:solidFill>
              </a:rPr>
              <a:t>page_content</a:t>
            </a:r>
            <a:r>
              <a:rPr lang="en-IN" sz="1600" dirty="0">
                <a:solidFill>
                  <a:srgbClr val="C00000"/>
                </a:solidFill>
              </a:rPr>
              <a:t>="</a:t>
            </a:r>
            <a:r>
              <a:rPr lang="en-IN" sz="1600" dirty="0">
                <a:solidFill>
                  <a:srgbClr val="CC3300"/>
                </a:solidFill>
              </a:rPr>
              <a:t>MS Dhoni, famously known as Captain Cool, has led Chennai Super Kings to multiple IPL titles. His finishing skills, wicket keeping </a:t>
            </a:r>
            <a:r>
              <a:rPr lang="en-IN" sz="1600" dirty="0" smtClean="0">
                <a:solidFill>
                  <a:srgbClr val="C00000"/>
                </a:solidFill>
              </a:rPr>
              <a:t>",</a:t>
            </a:r>
            <a:r>
              <a:rPr lang="en-IN" sz="1600" dirty="0" smtClean="0">
                <a:solidFill>
                  <a:srgbClr val="15C2FF"/>
                </a:solidFill>
              </a:rPr>
              <a:t>metadata</a:t>
            </a:r>
            <a:r>
              <a:rPr lang="en-IN" sz="1600" dirty="0">
                <a:solidFill>
                  <a:srgbClr val="15C2FF"/>
                </a:solidFill>
              </a:rPr>
              <a:t>={"</a:t>
            </a:r>
            <a:r>
              <a:rPr lang="en-IN" sz="1600" dirty="0">
                <a:solidFill>
                  <a:srgbClr val="CC3300"/>
                </a:solidFill>
              </a:rPr>
              <a:t>team": </a:t>
            </a:r>
            <a:r>
              <a:rPr lang="en-IN" sz="1600" dirty="0"/>
              <a:t>"</a:t>
            </a:r>
            <a:r>
              <a:rPr lang="en-IN" sz="1600" dirty="0">
                <a:solidFill>
                  <a:srgbClr val="CC3300"/>
                </a:solidFill>
              </a:rPr>
              <a:t>Chennai Super Kings</a:t>
            </a:r>
            <a:r>
              <a:rPr lang="en-IN" sz="1600" dirty="0">
                <a:solidFill>
                  <a:srgbClr val="C00000"/>
                </a:solidFill>
              </a:rPr>
              <a:t>"})</a:t>
            </a:r>
          </a:p>
          <a:p>
            <a:r>
              <a:rPr lang="en-IN" sz="1600" dirty="0"/>
              <a:t/>
            </a:r>
            <a:br>
              <a:rPr lang="en-IN" sz="1600" dirty="0"/>
            </a:br>
            <a:r>
              <a:rPr lang="en-IN" sz="1600" dirty="0">
                <a:solidFill>
                  <a:srgbClr val="15C2FF"/>
                </a:solidFill>
              </a:rPr>
              <a:t>doc4</a:t>
            </a:r>
            <a:r>
              <a:rPr lang="en-IN" sz="1600" dirty="0">
                <a:solidFill>
                  <a:srgbClr val="C00000"/>
                </a:solidFill>
              </a:rPr>
              <a:t>=</a:t>
            </a:r>
            <a:r>
              <a:rPr lang="en-IN" sz="1600" dirty="0">
                <a:solidFill>
                  <a:srgbClr val="00CC99"/>
                </a:solidFill>
              </a:rPr>
              <a:t>Document</a:t>
            </a:r>
            <a:r>
              <a:rPr lang="en-IN" sz="1600" dirty="0">
                <a:solidFill>
                  <a:srgbClr val="C00000"/>
                </a:solidFill>
              </a:rPr>
              <a:t>(</a:t>
            </a:r>
          </a:p>
          <a:p>
            <a:r>
              <a:rPr lang="en-IN" sz="1600" dirty="0">
                <a:solidFill>
                  <a:srgbClr val="15C2FF"/>
                </a:solidFill>
              </a:rPr>
              <a:t>page_content</a:t>
            </a:r>
            <a:r>
              <a:rPr lang="en-IN" sz="1600" dirty="0">
                <a:solidFill>
                  <a:srgbClr val="CC3300"/>
                </a:solidFill>
              </a:rPr>
              <a:t>="Jasprit Bumrah is considered one of the best fast bowlers in T20 cricket. Playing for Mumbai Indians, he is known for his bowling spped</a:t>
            </a:r>
            <a:r>
              <a:rPr lang="en-IN" sz="1600" dirty="0" smtClean="0">
                <a:solidFill>
                  <a:srgbClr val="CC3300"/>
                </a:solidFill>
              </a:rPr>
              <a:t>"</a:t>
            </a:r>
            <a:r>
              <a:rPr lang="en-IN" sz="1600" dirty="0" smtClean="0"/>
              <a:t>,</a:t>
            </a:r>
            <a:r>
              <a:rPr lang="en-IN" sz="1600" dirty="0"/>
              <a:t> </a:t>
            </a:r>
            <a:r>
              <a:rPr lang="en-IN" sz="1600" dirty="0">
                <a:solidFill>
                  <a:srgbClr val="15C2FF"/>
                </a:solidFill>
              </a:rPr>
              <a:t>metadata</a:t>
            </a:r>
            <a:r>
              <a:rPr lang="en-IN" sz="1600" dirty="0">
                <a:solidFill>
                  <a:srgbClr val="C00000"/>
                </a:solidFill>
              </a:rPr>
              <a:t>={"</a:t>
            </a:r>
            <a:r>
              <a:rPr lang="en-IN" sz="1600" dirty="0">
                <a:solidFill>
                  <a:srgbClr val="CC3300"/>
                </a:solidFill>
              </a:rPr>
              <a:t>team</a:t>
            </a:r>
            <a:r>
              <a:rPr lang="en-IN" sz="1600" dirty="0">
                <a:solidFill>
                  <a:srgbClr val="C00000"/>
                </a:solidFill>
              </a:rPr>
              <a:t>": "</a:t>
            </a:r>
            <a:r>
              <a:rPr lang="en-IN" sz="1600" dirty="0">
                <a:solidFill>
                  <a:srgbClr val="CC3300"/>
                </a:solidFill>
              </a:rPr>
              <a:t>Mumbai Indians"})</a:t>
            </a:r>
          </a:p>
        </p:txBody>
      </p:sp>
    </p:spTree>
    <p:extLst>
      <p:ext uri="{BB962C8B-B14F-4D97-AF65-F5344CB8AC3E}">
        <p14:creationId xmlns:p14="http://schemas.microsoft.com/office/powerpoint/2010/main" val="41407623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9" name="Group 8"/>
          <p:cNvGrpSpPr/>
          <p:nvPr/>
        </p:nvGrpSpPr>
        <p:grpSpPr>
          <a:xfrm>
            <a:off x="318655" y="396660"/>
            <a:ext cx="11596254" cy="2585323"/>
            <a:chOff x="1717962" y="292510"/>
            <a:chExt cx="9504219" cy="2585323"/>
          </a:xfrm>
          <a:solidFill>
            <a:schemeClr val="bg1">
              <a:lumMod val="95000"/>
            </a:schemeClr>
          </a:solidFill>
        </p:grpSpPr>
        <p:sp>
          <p:nvSpPr>
            <p:cNvPr id="2" name="Rectangle 1"/>
            <p:cNvSpPr/>
            <p:nvPr/>
          </p:nvSpPr>
          <p:spPr>
            <a:xfrm>
              <a:off x="1717962" y="292510"/>
              <a:ext cx="9504219" cy="2585323"/>
            </a:xfrm>
            <a:prstGeom prst="rect">
              <a:avLst/>
            </a:prstGeom>
            <a:grpFill/>
            <a:ln w="3175">
              <a:solidFill>
                <a:srgbClr val="00B0F0"/>
              </a:solidFill>
            </a:ln>
          </p:spPr>
          <p:txBody>
            <a:bodyPr wrap="square">
              <a:spAutoFit/>
            </a:bodyPr>
            <a:lstStyle/>
            <a:p>
              <a:r>
                <a:rPr lang="en-IN" dirty="0">
                  <a:solidFill>
                    <a:srgbClr val="15C2FF"/>
                  </a:solidFill>
                </a:rPr>
                <a:t>vector_store</a:t>
              </a:r>
              <a:r>
                <a:rPr lang="en-IN" dirty="0"/>
                <a:t>=</a:t>
              </a:r>
              <a:r>
                <a:rPr lang="en-IN" dirty="0">
                  <a:solidFill>
                    <a:srgbClr val="00CC99"/>
                  </a:solidFill>
                </a:rPr>
                <a:t>Chroma</a:t>
              </a:r>
              <a:r>
                <a:rPr lang="en-IN" dirty="0"/>
                <a:t>(</a:t>
              </a:r>
            </a:p>
            <a:p>
              <a:r>
                <a:rPr lang="en-IN" dirty="0"/>
                <a:t>    </a:t>
              </a:r>
              <a:r>
                <a:rPr lang="en-IN" dirty="0">
                  <a:solidFill>
                    <a:srgbClr val="15C2FF"/>
                  </a:solidFill>
                </a:rPr>
                <a:t>embedding_function</a:t>
              </a:r>
              <a:r>
                <a:rPr lang="en-IN" dirty="0">
                  <a:solidFill>
                    <a:srgbClr val="15C2FF"/>
                  </a:solidFill>
                </a:rPr>
                <a:t>=embeddings</a:t>
              </a:r>
              <a:r>
                <a:rPr lang="en-IN" dirty="0"/>
                <a:t>,</a:t>
              </a:r>
            </a:p>
            <a:p>
              <a:r>
                <a:rPr lang="en-IN" dirty="0"/>
                <a:t>   </a:t>
              </a:r>
              <a:r>
                <a:rPr lang="en-IN" dirty="0">
                  <a:solidFill>
                    <a:srgbClr val="15C2FF"/>
                  </a:solidFill>
                </a:rPr>
                <a:t> collection_name</a:t>
              </a:r>
              <a:r>
                <a:rPr lang="en-IN" dirty="0"/>
                <a:t>=</a:t>
              </a:r>
              <a:r>
                <a:rPr lang="en-IN" dirty="0">
                  <a:solidFill>
                    <a:srgbClr val="CC3300"/>
                  </a:solidFill>
                </a:rPr>
                <a:t>"sample"</a:t>
              </a:r>
              <a:r>
                <a:rPr lang="en-IN" dirty="0"/>
                <a:t>,</a:t>
              </a:r>
            </a:p>
            <a:p>
              <a:r>
                <a:rPr lang="en-IN" dirty="0"/>
                <a:t>    </a:t>
              </a:r>
              <a:r>
                <a:rPr lang="en-IN" dirty="0">
                  <a:solidFill>
                    <a:srgbClr val="15C2FF"/>
                  </a:solidFill>
                </a:rPr>
                <a:t>persist_directory</a:t>
              </a:r>
              <a:r>
                <a:rPr lang="en-IN" dirty="0"/>
                <a:t>=</a:t>
              </a:r>
              <a:r>
                <a:rPr lang="en-IN" dirty="0">
                  <a:solidFill>
                    <a:srgbClr val="CC3300"/>
                  </a:solidFill>
                </a:rPr>
                <a:t>"testingdb"</a:t>
              </a:r>
            </a:p>
            <a:p>
              <a:r>
                <a:rPr lang="en-IN" dirty="0"/>
                <a:t>)</a:t>
              </a:r>
            </a:p>
            <a:p>
              <a:r>
                <a:rPr lang="en-IN" dirty="0"/>
                <a:t/>
              </a:r>
              <a:br>
                <a:rPr lang="en-IN" dirty="0"/>
              </a:br>
              <a:r>
                <a:rPr lang="en-IN" dirty="0">
                  <a:solidFill>
                    <a:srgbClr val="0070C0"/>
                  </a:solidFill>
                </a:rPr>
                <a:t>docs</a:t>
              </a:r>
              <a:r>
                <a:rPr lang="en-IN" dirty="0"/>
                <a:t>=[</a:t>
              </a:r>
              <a:r>
                <a:rPr lang="en-IN" dirty="0">
                  <a:solidFill>
                    <a:srgbClr val="0070C0"/>
                  </a:solidFill>
                </a:rPr>
                <a:t>doc1,doc2,doc3,doc4</a:t>
              </a:r>
              <a:r>
                <a:rPr lang="en-IN" dirty="0"/>
                <a:t>]</a:t>
              </a:r>
            </a:p>
            <a:p>
              <a:r>
                <a:rPr lang="en-IN" dirty="0">
                  <a:solidFill>
                    <a:srgbClr val="0070C0"/>
                  </a:solidFill>
                </a:rPr>
                <a:t>result</a:t>
              </a:r>
              <a:r>
                <a:rPr lang="en-IN" dirty="0"/>
                <a:t>=</a:t>
              </a:r>
              <a:r>
                <a:rPr lang="en-IN" dirty="0">
                  <a:solidFill>
                    <a:srgbClr val="0070C0"/>
                  </a:solidFill>
                </a:rPr>
                <a:t>vector_store.</a:t>
              </a:r>
              <a:r>
                <a:rPr lang="en-IN" dirty="0"/>
                <a:t>a</a:t>
              </a:r>
              <a:r>
                <a:rPr lang="en-IN" dirty="0">
                  <a:solidFill>
                    <a:schemeClr val="accent4">
                      <a:lumMod val="50000"/>
                    </a:schemeClr>
                  </a:solidFill>
                </a:rPr>
                <a:t>dd_documents(</a:t>
              </a:r>
              <a:r>
                <a:rPr lang="en-IN" dirty="0">
                  <a:solidFill>
                    <a:srgbClr val="0070C0"/>
                  </a:solidFill>
                </a:rPr>
                <a:t>docs</a:t>
              </a:r>
              <a:r>
                <a:rPr lang="en-IN" dirty="0"/>
                <a:t>)</a:t>
              </a:r>
            </a:p>
            <a:p>
              <a:r>
                <a:rPr lang="en-IN" dirty="0">
                  <a:solidFill>
                    <a:schemeClr val="accent4">
                      <a:lumMod val="50000"/>
                    </a:schemeClr>
                  </a:solidFill>
                </a:rPr>
                <a:t>print</a:t>
              </a:r>
              <a:r>
                <a:rPr lang="en-IN" dirty="0"/>
                <a:t>(</a:t>
              </a:r>
              <a:r>
                <a:rPr lang="en-IN" dirty="0">
                  <a:solidFill>
                    <a:srgbClr val="0070C0"/>
                  </a:solidFill>
                </a:rPr>
                <a:t>result</a:t>
              </a:r>
              <a:r>
                <a:rPr lang="en-IN" dirty="0" smtClean="0"/>
                <a:t>)</a:t>
              </a:r>
              <a:endParaRPr lang="en-IN" dirty="0"/>
            </a:p>
          </p:txBody>
        </p:sp>
        <p:sp>
          <p:nvSpPr>
            <p:cNvPr id="5" name="TextBox 4"/>
            <p:cNvSpPr txBox="1"/>
            <p:nvPr/>
          </p:nvSpPr>
          <p:spPr>
            <a:xfrm>
              <a:off x="9642974" y="2508501"/>
              <a:ext cx="1380658" cy="369332"/>
            </a:xfrm>
            <a:prstGeom prst="rect">
              <a:avLst/>
            </a:prstGeom>
            <a:solidFill>
              <a:srgbClr val="00B0F0"/>
            </a:solidFill>
            <a:ln w="3175">
              <a:solidFill>
                <a:srgbClr val="00B0F0"/>
              </a:solidFill>
            </a:ln>
          </p:spPr>
          <p:txBody>
            <a:bodyPr wrap="none" rtlCol="0">
              <a:spAutoFit/>
            </a:bodyPr>
            <a:lstStyle/>
            <a:p>
              <a:r>
                <a:rPr lang="en-US" dirty="0" smtClean="0">
                  <a:solidFill>
                    <a:schemeClr val="bg1"/>
                  </a:solidFill>
                </a:rPr>
                <a:t>Add Documents</a:t>
              </a:r>
              <a:endParaRPr lang="en-IN" dirty="0">
                <a:solidFill>
                  <a:schemeClr val="bg1"/>
                </a:solidFill>
              </a:endParaRPr>
            </a:p>
          </p:txBody>
        </p:sp>
      </p:grpSp>
      <p:grpSp>
        <p:nvGrpSpPr>
          <p:cNvPr id="11" name="Group 10"/>
          <p:cNvGrpSpPr/>
          <p:nvPr/>
        </p:nvGrpSpPr>
        <p:grpSpPr>
          <a:xfrm>
            <a:off x="318653" y="3469109"/>
            <a:ext cx="11596255" cy="646331"/>
            <a:chOff x="1717961" y="4392212"/>
            <a:chExt cx="9504219" cy="646331"/>
          </a:xfrm>
        </p:grpSpPr>
        <p:sp>
          <p:nvSpPr>
            <p:cNvPr id="3" name="Rectangle 2"/>
            <p:cNvSpPr/>
            <p:nvPr/>
          </p:nvSpPr>
          <p:spPr>
            <a:xfrm>
              <a:off x="1717961" y="4392212"/>
              <a:ext cx="9504219" cy="646331"/>
            </a:xfrm>
            <a:prstGeom prst="rect">
              <a:avLst/>
            </a:prstGeom>
            <a:solidFill>
              <a:schemeClr val="bg1">
                <a:lumMod val="95000"/>
              </a:schemeClr>
            </a:solidFill>
            <a:ln w="3175">
              <a:solidFill>
                <a:srgbClr val="15C2FF"/>
              </a:solidFill>
            </a:ln>
          </p:spPr>
          <p:txBody>
            <a:bodyPr wrap="square">
              <a:spAutoFit/>
            </a:bodyPr>
            <a:lstStyle/>
            <a:p>
              <a:r>
                <a:rPr lang="en-US" dirty="0">
                  <a:solidFill>
                    <a:srgbClr val="0070C0"/>
                  </a:solidFill>
                </a:rPr>
                <a:t>result</a:t>
              </a:r>
              <a:r>
                <a:rPr lang="en-US" dirty="0"/>
                <a:t> =</a:t>
              </a:r>
              <a:r>
                <a:rPr lang="en-US" dirty="0">
                  <a:solidFill>
                    <a:srgbClr val="00CC99"/>
                  </a:solidFill>
                </a:rPr>
                <a:t>vector_store</a:t>
              </a:r>
              <a:r>
                <a:rPr lang="en-US" dirty="0"/>
                <a:t>.</a:t>
              </a:r>
              <a:r>
                <a:rPr lang="en-US" dirty="0">
                  <a:solidFill>
                    <a:srgbClr val="0070C0"/>
                  </a:solidFill>
                </a:rPr>
                <a:t>get</a:t>
              </a:r>
              <a:r>
                <a:rPr lang="en-US" dirty="0"/>
                <a:t>(include=[</a:t>
              </a:r>
              <a:r>
                <a:rPr lang="en-US" dirty="0">
                  <a:solidFill>
                    <a:srgbClr val="CC3300"/>
                  </a:solidFill>
                </a:rPr>
                <a:t>"metadatas"</a:t>
              </a:r>
              <a:r>
                <a:rPr lang="en-US" dirty="0"/>
                <a:t>,</a:t>
              </a:r>
              <a:r>
                <a:rPr lang="en-US" dirty="0">
                  <a:solidFill>
                    <a:srgbClr val="CC3300"/>
                  </a:solidFill>
                </a:rPr>
                <a:t>"documents"</a:t>
              </a:r>
              <a:r>
                <a:rPr lang="en-US" dirty="0"/>
                <a:t>])</a:t>
              </a:r>
            </a:p>
            <a:p>
              <a:r>
                <a:rPr lang="en-US" dirty="0">
                  <a:solidFill>
                    <a:schemeClr val="accent4">
                      <a:lumMod val="50000"/>
                    </a:schemeClr>
                  </a:solidFill>
                </a:rPr>
                <a:t>print</a:t>
              </a:r>
              <a:r>
                <a:rPr lang="en-US" dirty="0"/>
                <a:t>(</a:t>
              </a:r>
              <a:r>
                <a:rPr lang="en-US" dirty="0">
                  <a:solidFill>
                    <a:schemeClr val="accent4">
                      <a:lumMod val="50000"/>
                    </a:schemeClr>
                  </a:solidFill>
                </a:rPr>
                <a:t>dict</a:t>
              </a:r>
              <a:r>
                <a:rPr lang="en-US" dirty="0"/>
                <a:t>(</a:t>
              </a:r>
              <a:r>
                <a:rPr lang="en-US" dirty="0">
                  <a:solidFill>
                    <a:srgbClr val="00CC99"/>
                  </a:solidFill>
                </a:rPr>
                <a:t>result</a:t>
              </a:r>
              <a:r>
                <a:rPr lang="en-US" dirty="0"/>
                <a:t>))</a:t>
              </a:r>
            </a:p>
          </p:txBody>
        </p:sp>
        <p:sp>
          <p:nvSpPr>
            <p:cNvPr id="10" name="TextBox 9"/>
            <p:cNvSpPr txBox="1"/>
            <p:nvPr/>
          </p:nvSpPr>
          <p:spPr>
            <a:xfrm>
              <a:off x="9450605" y="4665020"/>
              <a:ext cx="1451972" cy="369332"/>
            </a:xfrm>
            <a:prstGeom prst="rect">
              <a:avLst/>
            </a:prstGeom>
            <a:solidFill>
              <a:srgbClr val="00B0F0"/>
            </a:solidFill>
            <a:ln>
              <a:solidFill>
                <a:srgbClr val="15C2FF"/>
              </a:solidFill>
            </a:ln>
          </p:spPr>
          <p:txBody>
            <a:bodyPr wrap="none" rtlCol="0">
              <a:spAutoFit/>
            </a:bodyPr>
            <a:lstStyle/>
            <a:p>
              <a:r>
                <a:rPr lang="en-US" dirty="0" smtClean="0">
                  <a:solidFill>
                    <a:schemeClr val="bg1"/>
                  </a:solidFill>
                </a:rPr>
                <a:t>View Documents</a:t>
              </a:r>
              <a:endParaRPr lang="en-IN" dirty="0">
                <a:solidFill>
                  <a:schemeClr val="bg1"/>
                </a:solidFill>
              </a:endParaRPr>
            </a:p>
          </p:txBody>
        </p:sp>
      </p:grpSp>
      <p:sp>
        <p:nvSpPr>
          <p:cNvPr id="12" name="Rectangle 11"/>
          <p:cNvSpPr/>
          <p:nvPr/>
        </p:nvSpPr>
        <p:spPr>
          <a:xfrm>
            <a:off x="318656" y="4837653"/>
            <a:ext cx="11596251" cy="646331"/>
          </a:xfrm>
          <a:prstGeom prst="rect">
            <a:avLst/>
          </a:prstGeom>
          <a:solidFill>
            <a:schemeClr val="bg1">
              <a:lumMod val="95000"/>
            </a:schemeClr>
          </a:solidFill>
          <a:ln>
            <a:solidFill>
              <a:srgbClr val="15C2FF"/>
            </a:solidFill>
          </a:ln>
        </p:spPr>
        <p:txBody>
          <a:bodyPr wrap="square">
            <a:spAutoFit/>
          </a:bodyPr>
          <a:lstStyle/>
          <a:p>
            <a:r>
              <a:rPr lang="en-US" dirty="0">
                <a:solidFill>
                  <a:srgbClr val="0070C0"/>
                </a:solidFill>
              </a:rPr>
              <a:t>result </a:t>
            </a:r>
            <a:r>
              <a:rPr lang="en-US" dirty="0"/>
              <a:t>=</a:t>
            </a:r>
            <a:r>
              <a:rPr lang="en-US" dirty="0">
                <a:solidFill>
                  <a:srgbClr val="0070C0"/>
                </a:solidFill>
              </a:rPr>
              <a:t>vector_store.</a:t>
            </a:r>
            <a:r>
              <a:rPr lang="en-US" dirty="0">
                <a:solidFill>
                  <a:schemeClr val="accent4">
                    <a:lumMod val="50000"/>
                  </a:schemeClr>
                </a:solidFill>
              </a:rPr>
              <a:t>similarity_search</a:t>
            </a:r>
            <a:r>
              <a:rPr lang="en-US" dirty="0"/>
              <a:t>(</a:t>
            </a:r>
            <a:r>
              <a:rPr lang="en-US" dirty="0">
                <a:solidFill>
                  <a:srgbClr val="CC3300"/>
                </a:solidFill>
              </a:rPr>
              <a:t>"who is fast bowler"</a:t>
            </a:r>
            <a:r>
              <a:rPr lang="en-US" dirty="0"/>
              <a:t>)</a:t>
            </a:r>
          </a:p>
          <a:p>
            <a:r>
              <a:rPr lang="en-US" dirty="0">
                <a:solidFill>
                  <a:schemeClr val="accent4">
                    <a:lumMod val="50000"/>
                  </a:schemeClr>
                </a:solidFill>
              </a:rPr>
              <a:t>print</a:t>
            </a:r>
            <a:r>
              <a:rPr lang="en-US" dirty="0"/>
              <a:t>(</a:t>
            </a:r>
            <a:r>
              <a:rPr lang="en-US" dirty="0">
                <a:solidFill>
                  <a:srgbClr val="0070C0"/>
                </a:solidFill>
              </a:rPr>
              <a:t>result</a:t>
            </a:r>
            <a:r>
              <a:rPr lang="en-US" dirty="0"/>
              <a:t>)</a:t>
            </a:r>
          </a:p>
        </p:txBody>
      </p:sp>
    </p:spTree>
    <p:extLst>
      <p:ext uri="{BB962C8B-B14F-4D97-AF65-F5344CB8AC3E}">
        <p14:creationId xmlns:p14="http://schemas.microsoft.com/office/powerpoint/2010/main" val="29611241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9" name="Group 8"/>
          <p:cNvGrpSpPr/>
          <p:nvPr/>
        </p:nvGrpSpPr>
        <p:grpSpPr>
          <a:xfrm>
            <a:off x="272937" y="396660"/>
            <a:ext cx="2179318" cy="401218"/>
            <a:chOff x="1229392" y="396660"/>
            <a:chExt cx="2179318" cy="401218"/>
          </a:xfrm>
        </p:grpSpPr>
        <p:sp>
          <p:nvSpPr>
            <p:cNvPr id="2" name="Rectangle 1"/>
            <p:cNvSpPr/>
            <p:nvPr/>
          </p:nvSpPr>
          <p:spPr>
            <a:xfrm>
              <a:off x="1478281" y="397768"/>
              <a:ext cx="1486591" cy="400110"/>
            </a:xfrm>
            <a:prstGeom prst="rect">
              <a:avLst/>
            </a:prstGeom>
            <a:solidFill>
              <a:srgbClr val="FF5050"/>
            </a:solidFill>
            <a:ln>
              <a:solidFill>
                <a:srgbClr val="FF5050"/>
              </a:solidFill>
            </a:ln>
          </p:spPr>
          <p:txBody>
            <a:bodyPr wrap="square">
              <a:spAutoFit/>
            </a:bodyPr>
            <a:lstStyle/>
            <a:p>
              <a:r>
                <a:rPr lang="en-IN" sz="2000" b="1" dirty="0">
                  <a:solidFill>
                    <a:schemeClr val="bg1"/>
                  </a:solidFill>
                </a:rPr>
                <a:t>Retriever</a:t>
              </a:r>
            </a:p>
          </p:txBody>
        </p:sp>
        <p:cxnSp>
          <p:nvCxnSpPr>
            <p:cNvPr id="5" name="Straight Connector 4"/>
            <p:cNvCxnSpPr/>
            <p:nvPr/>
          </p:nvCxnSpPr>
          <p:spPr>
            <a:xfrm>
              <a:off x="1229392" y="396660"/>
              <a:ext cx="2179318" cy="0"/>
            </a:xfrm>
            <a:prstGeom prst="line">
              <a:avLst/>
            </a:prstGeom>
            <a:ln>
              <a:solidFill>
                <a:srgbClr val="FF5050"/>
              </a:solidFill>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2276930" y="1568611"/>
            <a:ext cx="6797797" cy="3308188"/>
            <a:chOff x="2276930" y="1568611"/>
            <a:chExt cx="6797797" cy="3308188"/>
          </a:xfrm>
        </p:grpSpPr>
        <p:sp>
          <p:nvSpPr>
            <p:cNvPr id="10" name="Can 9"/>
            <p:cNvSpPr/>
            <p:nvPr/>
          </p:nvSpPr>
          <p:spPr>
            <a:xfrm>
              <a:off x="2276930" y="1568611"/>
              <a:ext cx="1117434" cy="1216152"/>
            </a:xfrm>
            <a:prstGeom prst="can">
              <a:avLst/>
            </a:prstGeom>
            <a:solidFill>
              <a:schemeClr val="accent4">
                <a:lumMod val="75000"/>
              </a:schemeClr>
            </a:solidFill>
            <a:ln>
              <a:solidFill>
                <a:srgbClr val="D7C0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 Source</a:t>
              </a:r>
              <a:endParaRPr lang="en-IN" dirty="0"/>
            </a:p>
          </p:txBody>
        </p:sp>
        <p:sp>
          <p:nvSpPr>
            <p:cNvPr id="11" name="Rectangle 10"/>
            <p:cNvSpPr/>
            <p:nvPr/>
          </p:nvSpPr>
          <p:spPr>
            <a:xfrm>
              <a:off x="4793673" y="1787236"/>
              <a:ext cx="1482436" cy="91440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Retriever</a:t>
              </a:r>
              <a:endParaRPr lang="en-IN" dirty="0"/>
            </a:p>
          </p:txBody>
        </p:sp>
        <p:sp>
          <p:nvSpPr>
            <p:cNvPr id="12" name="Flowchart: Multidocument 11"/>
            <p:cNvSpPr/>
            <p:nvPr/>
          </p:nvSpPr>
          <p:spPr>
            <a:xfrm>
              <a:off x="7647709" y="1787236"/>
              <a:ext cx="1427018" cy="914400"/>
            </a:xfrm>
            <a:prstGeom prst="flowChartMultidocument">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Documents</a:t>
              </a:r>
              <a:endParaRPr lang="en-IN" sz="1400" dirty="0"/>
            </a:p>
          </p:txBody>
        </p:sp>
        <p:sp>
          <p:nvSpPr>
            <p:cNvPr id="14" name="Flowchart: Decision 13"/>
            <p:cNvSpPr/>
            <p:nvPr/>
          </p:nvSpPr>
          <p:spPr>
            <a:xfrm>
              <a:off x="4918363" y="3976254"/>
              <a:ext cx="1454727" cy="900545"/>
            </a:xfrm>
            <a:prstGeom prst="flowChartDecision">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Query</a:t>
              </a:r>
              <a:endParaRPr lang="en-IN" sz="1600" dirty="0"/>
            </a:p>
          </p:txBody>
        </p:sp>
        <p:cxnSp>
          <p:nvCxnSpPr>
            <p:cNvPr id="16" name="Straight Arrow Connector 15"/>
            <p:cNvCxnSpPr>
              <a:stCxn id="14" idx="0"/>
            </p:cNvCxnSpPr>
            <p:nvPr/>
          </p:nvCxnSpPr>
          <p:spPr>
            <a:xfrm flipH="1" flipV="1">
              <a:off x="5645726" y="2784763"/>
              <a:ext cx="1" cy="119149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1" idx="3"/>
            </p:cNvCxnSpPr>
            <p:nvPr/>
          </p:nvCxnSpPr>
          <p:spPr>
            <a:xfrm>
              <a:off x="6276109" y="2244436"/>
              <a:ext cx="124690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1" idx="1"/>
            </p:cNvCxnSpPr>
            <p:nvPr/>
          </p:nvCxnSpPr>
          <p:spPr>
            <a:xfrm flipH="1">
              <a:off x="3394364" y="2244436"/>
              <a:ext cx="139930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1524000" y="2784763"/>
            <a:ext cx="2031901" cy="757261"/>
            <a:chOff x="1524000" y="2784763"/>
            <a:chExt cx="2031901" cy="757261"/>
          </a:xfrm>
        </p:grpSpPr>
        <p:sp>
          <p:nvSpPr>
            <p:cNvPr id="22" name="TextBox 21"/>
            <p:cNvSpPr txBox="1"/>
            <p:nvPr/>
          </p:nvSpPr>
          <p:spPr>
            <a:xfrm>
              <a:off x="1524000" y="3172692"/>
              <a:ext cx="1323696" cy="369332"/>
            </a:xfrm>
            <a:prstGeom prst="rect">
              <a:avLst/>
            </a:prstGeom>
            <a:noFill/>
          </p:spPr>
          <p:txBody>
            <a:bodyPr wrap="none" rtlCol="0">
              <a:spAutoFit/>
            </a:bodyPr>
            <a:lstStyle/>
            <a:p>
              <a:r>
                <a:rPr lang="en-US" dirty="0" smtClean="0"/>
                <a:t>Vector store</a:t>
              </a:r>
              <a:endParaRPr lang="en-IN" dirty="0"/>
            </a:p>
          </p:txBody>
        </p:sp>
        <p:sp>
          <p:nvSpPr>
            <p:cNvPr id="23" name="TextBox 22"/>
            <p:cNvSpPr txBox="1"/>
            <p:nvPr/>
          </p:nvSpPr>
          <p:spPr>
            <a:xfrm>
              <a:off x="3063458" y="3172692"/>
              <a:ext cx="492443" cy="369332"/>
            </a:xfrm>
            <a:prstGeom prst="rect">
              <a:avLst/>
            </a:prstGeom>
            <a:noFill/>
          </p:spPr>
          <p:txBody>
            <a:bodyPr wrap="none" rtlCol="0">
              <a:spAutoFit/>
            </a:bodyPr>
            <a:lstStyle/>
            <a:p>
              <a:r>
                <a:rPr lang="en-US" dirty="0" smtClean="0"/>
                <a:t>Api</a:t>
              </a:r>
              <a:endParaRPr lang="en-IN" dirty="0"/>
            </a:p>
          </p:txBody>
        </p:sp>
        <p:cxnSp>
          <p:nvCxnSpPr>
            <p:cNvPr id="25" name="Straight Connector 24"/>
            <p:cNvCxnSpPr>
              <a:endCxn id="22" idx="0"/>
            </p:cNvCxnSpPr>
            <p:nvPr/>
          </p:nvCxnSpPr>
          <p:spPr>
            <a:xfrm flipH="1">
              <a:off x="2185848" y="2784763"/>
              <a:ext cx="266407" cy="3879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964873" y="2784763"/>
              <a:ext cx="235527" cy="387929"/>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1" name="Straight Arrow Connector 30"/>
          <p:cNvCxnSpPr/>
          <p:nvPr/>
        </p:nvCxnSpPr>
        <p:spPr>
          <a:xfrm>
            <a:off x="2567941" y="4599709"/>
            <a:ext cx="235042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4094018" y="1399309"/>
            <a:ext cx="3553691" cy="138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524000" y="5227996"/>
            <a:ext cx="9374677" cy="369332"/>
          </a:xfrm>
          <a:prstGeom prst="rect">
            <a:avLst/>
          </a:prstGeom>
        </p:spPr>
        <p:txBody>
          <a:bodyPr wrap="square">
            <a:spAutoFit/>
          </a:bodyPr>
          <a:lstStyle/>
          <a:p>
            <a:r>
              <a:rPr lang="en-US" dirty="0"/>
              <a:t>retriever's </a:t>
            </a:r>
            <a:r>
              <a:rPr lang="en-US" dirty="0" smtClean="0"/>
              <a:t> </a:t>
            </a:r>
            <a:r>
              <a:rPr lang="en-US" dirty="0"/>
              <a:t>is </a:t>
            </a:r>
            <a:r>
              <a:rPr lang="en-US" dirty="0" smtClean="0"/>
              <a:t>used </a:t>
            </a:r>
            <a:r>
              <a:rPr lang="en-US" b="1" dirty="0" smtClean="0"/>
              <a:t>to </a:t>
            </a:r>
            <a:r>
              <a:rPr lang="en-US" b="1" dirty="0"/>
              <a:t>fetch relevant documents in response to a </a:t>
            </a:r>
            <a:r>
              <a:rPr lang="en-US" b="1" dirty="0" smtClean="0"/>
              <a:t>query from a data source</a:t>
            </a:r>
            <a:r>
              <a:rPr lang="en-US" dirty="0" smtClean="0"/>
              <a:t>.</a:t>
            </a:r>
            <a:endParaRPr lang="en-IN" dirty="0"/>
          </a:p>
        </p:txBody>
      </p:sp>
      <p:sp>
        <p:nvSpPr>
          <p:cNvPr id="4" name="Rectangle 3"/>
          <p:cNvSpPr/>
          <p:nvPr/>
        </p:nvSpPr>
        <p:spPr>
          <a:xfrm>
            <a:off x="166255" y="6001481"/>
            <a:ext cx="11859490" cy="333938"/>
          </a:xfrm>
          <a:prstGeom prst="rect">
            <a:avLst/>
          </a:prstGeom>
          <a:solidFill>
            <a:schemeClr val="accent2">
              <a:lumMod val="20000"/>
              <a:lumOff val="80000"/>
            </a:schemeClr>
          </a:solidFill>
          <a:ln>
            <a:solidFill>
              <a:schemeClr val="accent4">
                <a:lumMod val="40000"/>
                <a:lumOff val="60000"/>
              </a:schemeClr>
            </a:solidFill>
          </a:ln>
        </p:spPr>
        <p:txBody>
          <a:bodyPr wrap="square">
            <a:spAutoFit/>
          </a:bodyPr>
          <a:lstStyle/>
          <a:p>
            <a:r>
              <a:rPr lang="en-US" sz="1580" dirty="0"/>
              <a:t>In LangChain, retrievers can be treated as runnables. This means they slot directly into a chain or pipeline, </a:t>
            </a:r>
            <a:r>
              <a:rPr lang="en-US" sz="1580" dirty="0" smtClean="0"/>
              <a:t>like as (prompt </a:t>
            </a:r>
            <a:r>
              <a:rPr lang="en-US" sz="1580" dirty="0"/>
              <a:t>templates, LLM calls).</a:t>
            </a:r>
            <a:endParaRPr lang="en-IN" sz="1580" dirty="0"/>
          </a:p>
        </p:txBody>
      </p:sp>
    </p:spTree>
    <p:extLst>
      <p:ext uri="{BB962C8B-B14F-4D97-AF65-F5344CB8AC3E}">
        <p14:creationId xmlns:p14="http://schemas.microsoft.com/office/powerpoint/2010/main" val="17366840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sp>
        <p:nvSpPr>
          <p:cNvPr id="2" name="Rectangle 1"/>
          <p:cNvSpPr/>
          <p:nvPr/>
        </p:nvSpPr>
        <p:spPr>
          <a:xfrm>
            <a:off x="360218" y="1614284"/>
            <a:ext cx="11651673" cy="369332"/>
          </a:xfrm>
          <a:prstGeom prst="rect">
            <a:avLst/>
          </a:prstGeom>
        </p:spPr>
        <p:txBody>
          <a:bodyPr wrap="square">
            <a:spAutoFit/>
          </a:bodyPr>
          <a:lstStyle/>
          <a:p>
            <a:r>
              <a:rPr lang="en-US" dirty="0"/>
              <a:t>retrieve is nothing but a function that takes input as user query and return </a:t>
            </a:r>
            <a:r>
              <a:rPr lang="en-US" dirty="0" smtClean="0"/>
              <a:t>multiple </a:t>
            </a:r>
            <a:r>
              <a:rPr lang="en-US" dirty="0"/>
              <a:t>documents as a result</a:t>
            </a:r>
            <a:endParaRPr lang="en-IN" dirty="0"/>
          </a:p>
        </p:txBody>
      </p:sp>
      <p:sp>
        <p:nvSpPr>
          <p:cNvPr id="3" name="Rectangle 2"/>
          <p:cNvSpPr/>
          <p:nvPr/>
        </p:nvSpPr>
        <p:spPr>
          <a:xfrm>
            <a:off x="360218" y="2047769"/>
            <a:ext cx="10487890" cy="369332"/>
          </a:xfrm>
          <a:prstGeom prst="rect">
            <a:avLst/>
          </a:prstGeom>
        </p:spPr>
        <p:txBody>
          <a:bodyPr wrap="square">
            <a:spAutoFit/>
          </a:bodyPr>
          <a:lstStyle/>
          <a:p>
            <a:r>
              <a:rPr lang="en-US" dirty="0"/>
              <a:t>in between in processing it search relevant data in a data source based upon user query.it like a Search Engine</a:t>
            </a:r>
            <a:endParaRPr lang="en-IN" dirty="0"/>
          </a:p>
        </p:txBody>
      </p:sp>
      <p:sp>
        <p:nvSpPr>
          <p:cNvPr id="5" name="Rectangle 4"/>
          <p:cNvSpPr/>
          <p:nvPr/>
        </p:nvSpPr>
        <p:spPr>
          <a:xfrm>
            <a:off x="1129143" y="2911871"/>
            <a:ext cx="6483927" cy="646331"/>
          </a:xfrm>
          <a:prstGeom prst="rect">
            <a:avLst/>
          </a:prstGeom>
          <a:ln>
            <a:solidFill>
              <a:schemeClr val="bg1">
                <a:lumMod val="95000"/>
              </a:schemeClr>
            </a:solidFill>
          </a:ln>
        </p:spPr>
        <p:txBody>
          <a:bodyPr wrap="square">
            <a:spAutoFit/>
          </a:bodyPr>
          <a:lstStyle/>
          <a:p>
            <a:pPr marL="285750" indent="-285750">
              <a:buFont typeface="Wingdings" pitchFamily="2" charset="2"/>
              <a:buChar char="§"/>
            </a:pPr>
            <a:r>
              <a:rPr lang="en-US" dirty="0"/>
              <a:t>There are </a:t>
            </a:r>
            <a:r>
              <a:rPr lang="en-US" dirty="0" smtClean="0"/>
              <a:t>multiple </a:t>
            </a:r>
            <a:r>
              <a:rPr lang="en-US" dirty="0"/>
              <a:t>types of </a:t>
            </a:r>
            <a:r>
              <a:rPr lang="en-US" dirty="0" smtClean="0"/>
              <a:t>retrievers</a:t>
            </a:r>
            <a:endParaRPr lang="en-US" dirty="0"/>
          </a:p>
          <a:p>
            <a:pPr marL="285750" indent="-285750">
              <a:buFont typeface="Wingdings" pitchFamily="2" charset="2"/>
              <a:buChar char="§"/>
            </a:pPr>
            <a:r>
              <a:rPr lang="en-US" dirty="0"/>
              <a:t>All Retrievers in </a:t>
            </a:r>
            <a:r>
              <a:rPr lang="en-US" dirty="0" smtClean="0"/>
              <a:t>Langchain </a:t>
            </a:r>
            <a:r>
              <a:rPr lang="en-US" dirty="0"/>
              <a:t>are runnable</a:t>
            </a:r>
            <a:endParaRPr lang="en-IN" dirty="0"/>
          </a:p>
        </p:txBody>
      </p:sp>
      <p:grpSp>
        <p:nvGrpSpPr>
          <p:cNvPr id="17" name="Group 16"/>
          <p:cNvGrpSpPr/>
          <p:nvPr/>
        </p:nvGrpSpPr>
        <p:grpSpPr>
          <a:xfrm>
            <a:off x="2694708" y="623454"/>
            <a:ext cx="6380019" cy="928255"/>
            <a:chOff x="2694708" y="623454"/>
            <a:chExt cx="6380019" cy="928255"/>
          </a:xfrm>
        </p:grpSpPr>
        <p:sp>
          <p:nvSpPr>
            <p:cNvPr id="9" name="Rectangle 8"/>
            <p:cNvSpPr/>
            <p:nvPr/>
          </p:nvSpPr>
          <p:spPr>
            <a:xfrm>
              <a:off x="5153891" y="637309"/>
              <a:ext cx="1669472"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Retriever(function)</a:t>
              </a:r>
              <a:endParaRPr lang="en-IN" sz="1400" dirty="0"/>
            </a:p>
          </p:txBody>
        </p:sp>
        <p:sp>
          <p:nvSpPr>
            <p:cNvPr id="12" name="Flowchart: Decision 11"/>
            <p:cNvSpPr/>
            <p:nvPr/>
          </p:nvSpPr>
          <p:spPr>
            <a:xfrm>
              <a:off x="2694708" y="637309"/>
              <a:ext cx="1454727" cy="900545"/>
            </a:xfrm>
            <a:prstGeom prst="flowChartDecision">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Query</a:t>
              </a:r>
              <a:endParaRPr lang="en-IN" sz="1600" dirty="0"/>
            </a:p>
          </p:txBody>
        </p:sp>
        <p:sp>
          <p:nvSpPr>
            <p:cNvPr id="14" name="Flowchart: Multidocument 13"/>
            <p:cNvSpPr/>
            <p:nvPr/>
          </p:nvSpPr>
          <p:spPr>
            <a:xfrm>
              <a:off x="7647709" y="623454"/>
              <a:ext cx="1427018" cy="914400"/>
            </a:xfrm>
            <a:prstGeom prst="flowChartMultidocument">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Documents</a:t>
              </a:r>
              <a:endParaRPr lang="en-IN" sz="1400" dirty="0"/>
            </a:p>
          </p:txBody>
        </p:sp>
        <p:cxnSp>
          <p:nvCxnSpPr>
            <p:cNvPr id="11" name="Straight Arrow Connector 10"/>
            <p:cNvCxnSpPr>
              <a:stCxn id="12" idx="3"/>
              <a:endCxn id="9" idx="1"/>
            </p:cNvCxnSpPr>
            <p:nvPr/>
          </p:nvCxnSpPr>
          <p:spPr>
            <a:xfrm>
              <a:off x="4149435" y="1087582"/>
              <a:ext cx="1004456" cy="69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4" idx="1"/>
            </p:cNvCxnSpPr>
            <p:nvPr/>
          </p:nvCxnSpPr>
          <p:spPr>
            <a:xfrm flipV="1">
              <a:off x="6823363" y="1080654"/>
              <a:ext cx="824346" cy="1385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8" name="Rectangle 17"/>
          <p:cNvSpPr/>
          <p:nvPr/>
        </p:nvSpPr>
        <p:spPr>
          <a:xfrm>
            <a:off x="568035" y="4077977"/>
            <a:ext cx="7606145" cy="369332"/>
          </a:xfrm>
          <a:prstGeom prst="rect">
            <a:avLst/>
          </a:prstGeom>
          <a:solidFill>
            <a:schemeClr val="accent6">
              <a:lumMod val="40000"/>
              <a:lumOff val="60000"/>
            </a:schemeClr>
          </a:solidFill>
          <a:ln>
            <a:solidFill>
              <a:srgbClr val="00D05E"/>
            </a:solidFill>
          </a:ln>
        </p:spPr>
        <p:txBody>
          <a:bodyPr wrap="square">
            <a:spAutoFit/>
          </a:bodyPr>
          <a:lstStyle/>
          <a:p>
            <a:r>
              <a:rPr lang="en-US" dirty="0"/>
              <a:t>runnable are </a:t>
            </a:r>
            <a:r>
              <a:rPr lang="en-US" dirty="0" smtClean="0"/>
              <a:t>functions </a:t>
            </a:r>
            <a:r>
              <a:rPr lang="en-US" dirty="0"/>
              <a:t>that have invoke method capability</a:t>
            </a:r>
            <a:endParaRPr lang="en-IN" dirty="0"/>
          </a:p>
        </p:txBody>
      </p:sp>
    </p:spTree>
    <p:extLst>
      <p:ext uri="{BB962C8B-B14F-4D97-AF65-F5344CB8AC3E}">
        <p14:creationId xmlns:p14="http://schemas.microsoft.com/office/powerpoint/2010/main" val="31810474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365834" y="192879"/>
            <a:ext cx="2755078" cy="400110"/>
            <a:chOff x="1905001" y="396660"/>
            <a:chExt cx="2755078" cy="400110"/>
          </a:xfrm>
          <a:solidFill>
            <a:srgbClr val="FF5050"/>
          </a:solidFill>
        </p:grpSpPr>
        <p:sp>
          <p:nvSpPr>
            <p:cNvPr id="2" name="TextBox 1"/>
            <p:cNvSpPr txBox="1"/>
            <p:nvPr/>
          </p:nvSpPr>
          <p:spPr>
            <a:xfrm>
              <a:off x="2008909" y="396660"/>
              <a:ext cx="2042995" cy="400110"/>
            </a:xfrm>
            <a:prstGeom prst="rect">
              <a:avLst/>
            </a:prstGeom>
            <a:grpFill/>
            <a:ln>
              <a:solidFill>
                <a:srgbClr val="FF5050"/>
              </a:solidFill>
            </a:ln>
          </p:spPr>
          <p:txBody>
            <a:bodyPr wrap="none" rtlCol="0">
              <a:spAutoFit/>
            </a:bodyPr>
            <a:lstStyle/>
            <a:p>
              <a:r>
                <a:rPr lang="en-US" sz="2000" b="1" dirty="0">
                  <a:solidFill>
                    <a:schemeClr val="bg1"/>
                  </a:solidFill>
                </a:rPr>
                <a:t>Type Of Retriever</a:t>
              </a:r>
              <a:endParaRPr lang="en-IN" sz="2000" b="1" dirty="0">
                <a:solidFill>
                  <a:schemeClr val="bg1"/>
                </a:solidFill>
              </a:endParaRPr>
            </a:p>
          </p:txBody>
        </p:sp>
        <p:cxnSp>
          <p:nvCxnSpPr>
            <p:cNvPr id="5" name="Straight Connector 4"/>
            <p:cNvCxnSpPr/>
            <p:nvPr/>
          </p:nvCxnSpPr>
          <p:spPr>
            <a:xfrm>
              <a:off x="1905001" y="396660"/>
              <a:ext cx="2755078" cy="0"/>
            </a:xfrm>
            <a:prstGeom prst="line">
              <a:avLst/>
            </a:prstGeom>
            <a:grpFill/>
            <a:ln>
              <a:solidFill>
                <a:srgbClr val="FF5050"/>
              </a:solidFill>
            </a:ln>
          </p:spPr>
          <p:style>
            <a:lnRef idx="1">
              <a:schemeClr val="accent1"/>
            </a:lnRef>
            <a:fillRef idx="0">
              <a:schemeClr val="accent1"/>
            </a:fillRef>
            <a:effectRef idx="0">
              <a:schemeClr val="accent1"/>
            </a:effectRef>
            <a:fontRef idx="minor">
              <a:schemeClr val="tx1"/>
            </a:fontRef>
          </p:style>
        </p:cxnSp>
      </p:grpSp>
      <p:grpSp>
        <p:nvGrpSpPr>
          <p:cNvPr id="57" name="Group 56"/>
          <p:cNvGrpSpPr/>
          <p:nvPr/>
        </p:nvGrpSpPr>
        <p:grpSpPr>
          <a:xfrm>
            <a:off x="2105891" y="930820"/>
            <a:ext cx="7786255" cy="4001419"/>
            <a:chOff x="1427018" y="932996"/>
            <a:chExt cx="7786255" cy="4001419"/>
          </a:xfrm>
        </p:grpSpPr>
        <p:grpSp>
          <p:nvGrpSpPr>
            <p:cNvPr id="24" name="Group 23"/>
            <p:cNvGrpSpPr/>
            <p:nvPr/>
          </p:nvGrpSpPr>
          <p:grpSpPr>
            <a:xfrm>
              <a:off x="1427018" y="1954363"/>
              <a:ext cx="7786255" cy="2980052"/>
              <a:chOff x="1288472" y="1568611"/>
              <a:chExt cx="7786255" cy="2980052"/>
            </a:xfrm>
          </p:grpSpPr>
          <p:sp>
            <p:nvSpPr>
              <p:cNvPr id="11" name="Rectangle 10"/>
              <p:cNvSpPr/>
              <p:nvPr/>
            </p:nvSpPr>
            <p:spPr>
              <a:xfrm>
                <a:off x="4793673" y="1787236"/>
                <a:ext cx="1482436" cy="91440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Retriever</a:t>
                </a:r>
                <a:endParaRPr lang="en-IN" dirty="0"/>
              </a:p>
            </p:txBody>
          </p:sp>
          <p:sp>
            <p:nvSpPr>
              <p:cNvPr id="12" name="Flowchart: Multidocument 11"/>
              <p:cNvSpPr/>
              <p:nvPr/>
            </p:nvSpPr>
            <p:spPr>
              <a:xfrm>
                <a:off x="7647709" y="1787236"/>
                <a:ext cx="1427018" cy="914400"/>
              </a:xfrm>
              <a:prstGeom prst="flowChartMultidocument">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Documents</a:t>
                </a:r>
                <a:endParaRPr lang="en-IN" sz="1400" dirty="0"/>
              </a:p>
            </p:txBody>
          </p:sp>
          <p:cxnSp>
            <p:nvCxnSpPr>
              <p:cNvPr id="13" name="Straight Arrow Connector 12"/>
              <p:cNvCxnSpPr>
                <a:stCxn id="11" idx="3"/>
              </p:cNvCxnSpPr>
              <p:nvPr/>
            </p:nvCxnSpPr>
            <p:spPr>
              <a:xfrm>
                <a:off x="6276109" y="2244436"/>
                <a:ext cx="124690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1" idx="1"/>
              </p:cNvCxnSpPr>
              <p:nvPr/>
            </p:nvCxnSpPr>
            <p:spPr>
              <a:xfrm flipH="1">
                <a:off x="3394364" y="2244436"/>
                <a:ext cx="139930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1288472" y="1568611"/>
                <a:ext cx="2287469" cy="2980052"/>
                <a:chOff x="1288472" y="1568611"/>
                <a:chExt cx="2287469" cy="2980052"/>
              </a:xfrm>
            </p:grpSpPr>
            <p:grpSp>
              <p:nvGrpSpPr>
                <p:cNvPr id="20" name="Group 19"/>
                <p:cNvGrpSpPr/>
                <p:nvPr/>
              </p:nvGrpSpPr>
              <p:grpSpPr>
                <a:xfrm>
                  <a:off x="1288472" y="1568611"/>
                  <a:ext cx="2287469" cy="2629316"/>
                  <a:chOff x="1288472" y="1568611"/>
                  <a:chExt cx="2287469" cy="2629316"/>
                </a:xfrm>
              </p:grpSpPr>
              <p:sp>
                <p:nvSpPr>
                  <p:cNvPr id="10" name="Can 9"/>
                  <p:cNvSpPr/>
                  <p:nvPr/>
                </p:nvSpPr>
                <p:spPr>
                  <a:xfrm>
                    <a:off x="2276930" y="1568611"/>
                    <a:ext cx="1117434" cy="1216152"/>
                  </a:xfrm>
                  <a:prstGeom prst="can">
                    <a:avLst/>
                  </a:prstGeom>
                  <a:solidFill>
                    <a:schemeClr val="accent4">
                      <a:lumMod val="75000"/>
                    </a:schemeClr>
                  </a:solidFill>
                  <a:ln>
                    <a:solidFill>
                      <a:srgbClr val="D7C0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 Source</a:t>
                    </a:r>
                    <a:endParaRPr lang="en-IN" dirty="0"/>
                  </a:p>
                </p:txBody>
              </p:sp>
              <p:sp>
                <p:nvSpPr>
                  <p:cNvPr id="16" name="Freeform 15"/>
                  <p:cNvSpPr/>
                  <p:nvPr/>
                </p:nvSpPr>
                <p:spPr>
                  <a:xfrm>
                    <a:off x="1607127" y="2729345"/>
                    <a:ext cx="720437" cy="900546"/>
                  </a:xfrm>
                  <a:custGeom>
                    <a:avLst/>
                    <a:gdLst>
                      <a:gd name="connsiteX0" fmla="*/ 720437 w 720437"/>
                      <a:gd name="connsiteY0" fmla="*/ 0 h 900546"/>
                      <a:gd name="connsiteX1" fmla="*/ 568037 w 720437"/>
                      <a:gd name="connsiteY1" fmla="*/ 13855 h 900546"/>
                      <a:gd name="connsiteX2" fmla="*/ 471055 w 720437"/>
                      <a:gd name="connsiteY2" fmla="*/ 55419 h 900546"/>
                      <a:gd name="connsiteX3" fmla="*/ 318655 w 720437"/>
                      <a:gd name="connsiteY3" fmla="*/ 138546 h 900546"/>
                      <a:gd name="connsiteX4" fmla="*/ 235528 w 720437"/>
                      <a:gd name="connsiteY4" fmla="*/ 207819 h 900546"/>
                      <a:gd name="connsiteX5" fmla="*/ 207818 w 720437"/>
                      <a:gd name="connsiteY5" fmla="*/ 235528 h 900546"/>
                      <a:gd name="connsiteX6" fmla="*/ 166255 w 720437"/>
                      <a:gd name="connsiteY6" fmla="*/ 263237 h 900546"/>
                      <a:gd name="connsiteX7" fmla="*/ 124691 w 720437"/>
                      <a:gd name="connsiteY7" fmla="*/ 304800 h 900546"/>
                      <a:gd name="connsiteX8" fmla="*/ 83128 w 720437"/>
                      <a:gd name="connsiteY8" fmla="*/ 318655 h 900546"/>
                      <a:gd name="connsiteX9" fmla="*/ 41564 w 720437"/>
                      <a:gd name="connsiteY9" fmla="*/ 346364 h 900546"/>
                      <a:gd name="connsiteX10" fmla="*/ 0 w 720437"/>
                      <a:gd name="connsiteY10" fmla="*/ 484910 h 900546"/>
                      <a:gd name="connsiteX11" fmla="*/ 13855 w 720437"/>
                      <a:gd name="connsiteY11" fmla="*/ 831273 h 900546"/>
                      <a:gd name="connsiteX12" fmla="*/ 27709 w 720437"/>
                      <a:gd name="connsiteY12" fmla="*/ 872837 h 900546"/>
                      <a:gd name="connsiteX13" fmla="*/ 55418 w 720437"/>
                      <a:gd name="connsiteY13" fmla="*/ 900546 h 900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0437" h="900546">
                        <a:moveTo>
                          <a:pt x="720437" y="0"/>
                        </a:moveTo>
                        <a:cubicBezTo>
                          <a:pt x="669637" y="4618"/>
                          <a:pt x="618534" y="6641"/>
                          <a:pt x="568037" y="13855"/>
                        </a:cubicBezTo>
                        <a:cubicBezTo>
                          <a:pt x="536586" y="18348"/>
                          <a:pt x="497525" y="43655"/>
                          <a:pt x="471055" y="55419"/>
                        </a:cubicBezTo>
                        <a:cubicBezTo>
                          <a:pt x="409365" y="82837"/>
                          <a:pt x="370917" y="86284"/>
                          <a:pt x="318655" y="138546"/>
                        </a:cubicBezTo>
                        <a:cubicBezTo>
                          <a:pt x="219929" y="237272"/>
                          <a:pt x="331966" y="130669"/>
                          <a:pt x="235528" y="207819"/>
                        </a:cubicBezTo>
                        <a:cubicBezTo>
                          <a:pt x="225328" y="215979"/>
                          <a:pt x="218018" y="227368"/>
                          <a:pt x="207818" y="235528"/>
                        </a:cubicBezTo>
                        <a:cubicBezTo>
                          <a:pt x="194816" y="245930"/>
                          <a:pt x="179047" y="252577"/>
                          <a:pt x="166255" y="263237"/>
                        </a:cubicBezTo>
                        <a:cubicBezTo>
                          <a:pt x="151203" y="275780"/>
                          <a:pt x="140994" y="293932"/>
                          <a:pt x="124691" y="304800"/>
                        </a:cubicBezTo>
                        <a:cubicBezTo>
                          <a:pt x="112540" y="312901"/>
                          <a:pt x="96190" y="312124"/>
                          <a:pt x="83128" y="318655"/>
                        </a:cubicBezTo>
                        <a:cubicBezTo>
                          <a:pt x="68235" y="326102"/>
                          <a:pt x="55419" y="337128"/>
                          <a:pt x="41564" y="346364"/>
                        </a:cubicBezTo>
                        <a:cubicBezTo>
                          <a:pt x="4007" y="402701"/>
                          <a:pt x="0" y="395759"/>
                          <a:pt x="0" y="484910"/>
                        </a:cubicBezTo>
                        <a:cubicBezTo>
                          <a:pt x="0" y="600457"/>
                          <a:pt x="5623" y="716020"/>
                          <a:pt x="13855" y="831273"/>
                        </a:cubicBezTo>
                        <a:cubicBezTo>
                          <a:pt x="14895" y="845840"/>
                          <a:pt x="20195" y="860314"/>
                          <a:pt x="27709" y="872837"/>
                        </a:cubicBezTo>
                        <a:cubicBezTo>
                          <a:pt x="34429" y="884038"/>
                          <a:pt x="46182" y="891310"/>
                          <a:pt x="55418" y="900546"/>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7" name="Freeform 16"/>
                  <p:cNvSpPr/>
                  <p:nvPr/>
                </p:nvSpPr>
                <p:spPr>
                  <a:xfrm flipH="1">
                    <a:off x="2543286" y="2798618"/>
                    <a:ext cx="45719" cy="1399309"/>
                  </a:xfrm>
                  <a:custGeom>
                    <a:avLst/>
                    <a:gdLst>
                      <a:gd name="connsiteX0" fmla="*/ 98776 w 98776"/>
                      <a:gd name="connsiteY0" fmla="*/ 0 h 1191491"/>
                      <a:gd name="connsiteX1" fmla="*/ 84921 w 98776"/>
                      <a:gd name="connsiteY1" fmla="*/ 96982 h 1191491"/>
                      <a:gd name="connsiteX2" fmla="*/ 57212 w 98776"/>
                      <a:gd name="connsiteY2" fmla="*/ 166255 h 1191491"/>
                      <a:gd name="connsiteX3" fmla="*/ 43358 w 98776"/>
                      <a:gd name="connsiteY3" fmla="*/ 374073 h 1191491"/>
                      <a:gd name="connsiteX4" fmla="*/ 29503 w 98776"/>
                      <a:gd name="connsiteY4" fmla="*/ 457200 h 1191491"/>
                      <a:gd name="connsiteX5" fmla="*/ 15649 w 98776"/>
                      <a:gd name="connsiteY5" fmla="*/ 858982 h 1191491"/>
                      <a:gd name="connsiteX6" fmla="*/ 1794 w 98776"/>
                      <a:gd name="connsiteY6" fmla="*/ 900546 h 1191491"/>
                      <a:gd name="connsiteX7" fmla="*/ 1794 w 98776"/>
                      <a:gd name="connsiteY7" fmla="*/ 1191491 h 1191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776" h="1191491">
                        <a:moveTo>
                          <a:pt x="98776" y="0"/>
                        </a:moveTo>
                        <a:cubicBezTo>
                          <a:pt x="94158" y="32327"/>
                          <a:pt x="92841" y="65301"/>
                          <a:pt x="84921" y="96982"/>
                        </a:cubicBezTo>
                        <a:cubicBezTo>
                          <a:pt x="78889" y="121109"/>
                          <a:pt x="60901" y="141660"/>
                          <a:pt x="57212" y="166255"/>
                        </a:cubicBezTo>
                        <a:cubicBezTo>
                          <a:pt x="46913" y="234913"/>
                          <a:pt x="49940" y="304959"/>
                          <a:pt x="43358" y="374073"/>
                        </a:cubicBezTo>
                        <a:cubicBezTo>
                          <a:pt x="40695" y="402038"/>
                          <a:pt x="34121" y="429491"/>
                          <a:pt x="29503" y="457200"/>
                        </a:cubicBezTo>
                        <a:cubicBezTo>
                          <a:pt x="24885" y="591127"/>
                          <a:pt x="24008" y="725236"/>
                          <a:pt x="15649" y="858982"/>
                        </a:cubicBezTo>
                        <a:cubicBezTo>
                          <a:pt x="14738" y="873558"/>
                          <a:pt x="2402" y="885955"/>
                          <a:pt x="1794" y="900546"/>
                        </a:cubicBezTo>
                        <a:cubicBezTo>
                          <a:pt x="-2244" y="997444"/>
                          <a:pt x="1794" y="1094509"/>
                          <a:pt x="1794" y="1191491"/>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8" name="Freeform 17"/>
                  <p:cNvSpPr/>
                  <p:nvPr/>
                </p:nvSpPr>
                <p:spPr>
                  <a:xfrm>
                    <a:off x="3103418" y="2770909"/>
                    <a:ext cx="472523" cy="983673"/>
                  </a:xfrm>
                  <a:custGeom>
                    <a:avLst/>
                    <a:gdLst>
                      <a:gd name="connsiteX0" fmla="*/ 0 w 472523"/>
                      <a:gd name="connsiteY0" fmla="*/ 0 h 983673"/>
                      <a:gd name="connsiteX1" fmla="*/ 124691 w 472523"/>
                      <a:gd name="connsiteY1" fmla="*/ 110836 h 983673"/>
                      <a:gd name="connsiteX2" fmla="*/ 152400 w 472523"/>
                      <a:gd name="connsiteY2" fmla="*/ 166255 h 983673"/>
                      <a:gd name="connsiteX3" fmla="*/ 207818 w 472523"/>
                      <a:gd name="connsiteY3" fmla="*/ 263236 h 983673"/>
                      <a:gd name="connsiteX4" fmla="*/ 221673 w 472523"/>
                      <a:gd name="connsiteY4" fmla="*/ 304800 h 983673"/>
                      <a:gd name="connsiteX5" fmla="*/ 249382 w 472523"/>
                      <a:gd name="connsiteY5" fmla="*/ 346364 h 983673"/>
                      <a:gd name="connsiteX6" fmla="*/ 318655 w 472523"/>
                      <a:gd name="connsiteY6" fmla="*/ 457200 h 983673"/>
                      <a:gd name="connsiteX7" fmla="*/ 332509 w 472523"/>
                      <a:gd name="connsiteY7" fmla="*/ 498764 h 983673"/>
                      <a:gd name="connsiteX8" fmla="*/ 360218 w 472523"/>
                      <a:gd name="connsiteY8" fmla="*/ 540327 h 983673"/>
                      <a:gd name="connsiteX9" fmla="*/ 387927 w 472523"/>
                      <a:gd name="connsiteY9" fmla="*/ 678873 h 983673"/>
                      <a:gd name="connsiteX10" fmla="*/ 415637 w 472523"/>
                      <a:gd name="connsiteY10" fmla="*/ 720436 h 983673"/>
                      <a:gd name="connsiteX11" fmla="*/ 443346 w 472523"/>
                      <a:gd name="connsiteY11" fmla="*/ 831273 h 983673"/>
                      <a:gd name="connsiteX12" fmla="*/ 471055 w 472523"/>
                      <a:gd name="connsiteY12" fmla="*/ 928255 h 983673"/>
                      <a:gd name="connsiteX13" fmla="*/ 471055 w 472523"/>
                      <a:gd name="connsiteY13" fmla="*/ 983673 h 983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2523" h="983673">
                        <a:moveTo>
                          <a:pt x="0" y="0"/>
                        </a:moveTo>
                        <a:cubicBezTo>
                          <a:pt x="35674" y="28539"/>
                          <a:pt x="96068" y="72672"/>
                          <a:pt x="124691" y="110836"/>
                        </a:cubicBezTo>
                        <a:cubicBezTo>
                          <a:pt x="137083" y="127359"/>
                          <a:pt x="142153" y="148323"/>
                          <a:pt x="152400" y="166255"/>
                        </a:cubicBezTo>
                        <a:cubicBezTo>
                          <a:pt x="192157" y="235830"/>
                          <a:pt x="171929" y="179494"/>
                          <a:pt x="207818" y="263236"/>
                        </a:cubicBezTo>
                        <a:cubicBezTo>
                          <a:pt x="213571" y="276659"/>
                          <a:pt x="215142" y="291738"/>
                          <a:pt x="221673" y="304800"/>
                        </a:cubicBezTo>
                        <a:cubicBezTo>
                          <a:pt x="229120" y="319693"/>
                          <a:pt x="241121" y="331907"/>
                          <a:pt x="249382" y="346364"/>
                        </a:cubicBezTo>
                        <a:cubicBezTo>
                          <a:pt x="310237" y="452860"/>
                          <a:pt x="239186" y="351243"/>
                          <a:pt x="318655" y="457200"/>
                        </a:cubicBezTo>
                        <a:cubicBezTo>
                          <a:pt x="323273" y="471055"/>
                          <a:pt x="325978" y="485702"/>
                          <a:pt x="332509" y="498764"/>
                        </a:cubicBezTo>
                        <a:cubicBezTo>
                          <a:pt x="339955" y="513657"/>
                          <a:pt x="353659" y="525022"/>
                          <a:pt x="360218" y="540327"/>
                        </a:cubicBezTo>
                        <a:cubicBezTo>
                          <a:pt x="381029" y="588887"/>
                          <a:pt x="370731" y="627287"/>
                          <a:pt x="387927" y="678873"/>
                        </a:cubicBezTo>
                        <a:cubicBezTo>
                          <a:pt x="393193" y="694670"/>
                          <a:pt x="406400" y="706582"/>
                          <a:pt x="415637" y="720436"/>
                        </a:cubicBezTo>
                        <a:cubicBezTo>
                          <a:pt x="424873" y="757382"/>
                          <a:pt x="433534" y="794476"/>
                          <a:pt x="443346" y="831273"/>
                        </a:cubicBezTo>
                        <a:cubicBezTo>
                          <a:pt x="452009" y="863759"/>
                          <a:pt x="465041" y="895176"/>
                          <a:pt x="471055" y="928255"/>
                        </a:cubicBezTo>
                        <a:cubicBezTo>
                          <a:pt x="474359" y="946430"/>
                          <a:pt x="471055" y="965200"/>
                          <a:pt x="471055" y="983673"/>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9" name="TextBox 18"/>
                  <p:cNvSpPr txBox="1"/>
                  <p:nvPr/>
                </p:nvSpPr>
                <p:spPr>
                  <a:xfrm>
                    <a:off x="1288472" y="3466889"/>
                    <a:ext cx="1015021" cy="584775"/>
                  </a:xfrm>
                  <a:prstGeom prst="rect">
                    <a:avLst/>
                  </a:prstGeom>
                  <a:noFill/>
                </p:spPr>
                <p:txBody>
                  <a:bodyPr wrap="none" rtlCol="0">
                    <a:spAutoFit/>
                  </a:bodyPr>
                  <a:lstStyle/>
                  <a:p>
                    <a:r>
                      <a:rPr lang="en-US" sz="1600" dirty="0" smtClean="0"/>
                      <a:t>Wikipedia</a:t>
                    </a:r>
                  </a:p>
                  <a:p>
                    <a:r>
                      <a:rPr lang="en-US" sz="1600" dirty="0" smtClean="0"/>
                      <a:t>retriever</a:t>
                    </a:r>
                    <a:endParaRPr lang="en-IN" sz="1600" dirty="0"/>
                  </a:p>
                </p:txBody>
              </p:sp>
            </p:grpSp>
            <p:sp>
              <p:nvSpPr>
                <p:cNvPr id="22" name="TextBox 21"/>
                <p:cNvSpPr txBox="1"/>
                <p:nvPr/>
              </p:nvSpPr>
              <p:spPr>
                <a:xfrm>
                  <a:off x="1618268" y="4179331"/>
                  <a:ext cx="1642501" cy="369332"/>
                </a:xfrm>
                <a:prstGeom prst="rect">
                  <a:avLst/>
                </a:prstGeom>
                <a:noFill/>
              </p:spPr>
              <p:txBody>
                <a:bodyPr wrap="none" rtlCol="0">
                  <a:spAutoFit/>
                </a:bodyPr>
                <a:lstStyle/>
                <a:p>
                  <a:r>
                    <a:rPr lang="en-US" dirty="0"/>
                    <a:t>v</a:t>
                  </a:r>
                  <a:r>
                    <a:rPr lang="en-US" dirty="0" smtClean="0"/>
                    <a:t>ector retriever</a:t>
                  </a:r>
                  <a:endParaRPr lang="en-IN" dirty="0"/>
                </a:p>
              </p:txBody>
            </p:sp>
          </p:grpSp>
        </p:grpSp>
        <p:grpSp>
          <p:nvGrpSpPr>
            <p:cNvPr id="56" name="Group 55"/>
            <p:cNvGrpSpPr/>
            <p:nvPr/>
          </p:nvGrpSpPr>
          <p:grpSpPr>
            <a:xfrm>
              <a:off x="3808887" y="932996"/>
              <a:ext cx="5008019" cy="1115100"/>
              <a:chOff x="3808887" y="932996"/>
              <a:chExt cx="5008019" cy="1115100"/>
            </a:xfrm>
          </p:grpSpPr>
          <p:grpSp>
            <p:nvGrpSpPr>
              <p:cNvPr id="44" name="Group 43"/>
              <p:cNvGrpSpPr/>
              <p:nvPr/>
            </p:nvGrpSpPr>
            <p:grpSpPr>
              <a:xfrm>
                <a:off x="4901019" y="1647615"/>
                <a:ext cx="1472074" cy="400481"/>
                <a:chOff x="4914873" y="1663417"/>
                <a:chExt cx="1472074" cy="400481"/>
              </a:xfrm>
            </p:grpSpPr>
            <p:grpSp>
              <p:nvGrpSpPr>
                <p:cNvPr id="37" name="Group 36"/>
                <p:cNvGrpSpPr/>
                <p:nvPr/>
              </p:nvGrpSpPr>
              <p:grpSpPr>
                <a:xfrm rot="10800000">
                  <a:off x="5971311" y="1663417"/>
                  <a:ext cx="415636" cy="399608"/>
                  <a:chOff x="5084619" y="1634834"/>
                  <a:chExt cx="415636" cy="399608"/>
                </a:xfrm>
              </p:grpSpPr>
              <p:cxnSp>
                <p:nvCxnSpPr>
                  <p:cNvPr id="26" name="Straight Connector 25"/>
                  <p:cNvCxnSpPr/>
                  <p:nvPr/>
                </p:nvCxnSpPr>
                <p:spPr>
                  <a:xfrm>
                    <a:off x="5084619" y="1634835"/>
                    <a:ext cx="0" cy="399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5084619" y="2034441"/>
                    <a:ext cx="415636"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084619" y="1634834"/>
                    <a:ext cx="415636" cy="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3" name="Group 42"/>
                <p:cNvGrpSpPr/>
                <p:nvPr/>
              </p:nvGrpSpPr>
              <p:grpSpPr>
                <a:xfrm>
                  <a:off x="4914873" y="1664290"/>
                  <a:ext cx="1458220" cy="399608"/>
                  <a:chOff x="4914873" y="1664290"/>
                  <a:chExt cx="1458220" cy="399608"/>
                </a:xfrm>
              </p:grpSpPr>
              <p:grpSp>
                <p:nvGrpSpPr>
                  <p:cNvPr id="38" name="Group 37"/>
                  <p:cNvGrpSpPr/>
                  <p:nvPr/>
                </p:nvGrpSpPr>
                <p:grpSpPr>
                  <a:xfrm>
                    <a:off x="4959929" y="1664290"/>
                    <a:ext cx="415636" cy="399608"/>
                    <a:chOff x="5084619" y="1634834"/>
                    <a:chExt cx="415636" cy="399608"/>
                  </a:xfrm>
                </p:grpSpPr>
                <p:cxnSp>
                  <p:nvCxnSpPr>
                    <p:cNvPr id="39" name="Straight Connector 38"/>
                    <p:cNvCxnSpPr/>
                    <p:nvPr/>
                  </p:nvCxnSpPr>
                  <p:spPr>
                    <a:xfrm>
                      <a:off x="5084619" y="1634835"/>
                      <a:ext cx="0" cy="399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084619" y="2034441"/>
                      <a:ext cx="415636"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084619" y="1634834"/>
                      <a:ext cx="415636" cy="1"/>
                    </a:xfrm>
                    <a:prstGeom prst="line">
                      <a:avLst/>
                    </a:prstGeom>
                  </p:spPr>
                  <p:style>
                    <a:lnRef idx="1">
                      <a:schemeClr val="accent1"/>
                    </a:lnRef>
                    <a:fillRef idx="0">
                      <a:schemeClr val="accent1"/>
                    </a:fillRef>
                    <a:effectRef idx="0">
                      <a:schemeClr val="accent1"/>
                    </a:effectRef>
                    <a:fontRef idx="minor">
                      <a:schemeClr val="tx1"/>
                    </a:fontRef>
                  </p:style>
                </p:cxnSp>
              </p:grpSp>
              <p:sp>
                <p:nvSpPr>
                  <p:cNvPr id="42" name="TextBox 41"/>
                  <p:cNvSpPr txBox="1"/>
                  <p:nvPr/>
                </p:nvSpPr>
                <p:spPr>
                  <a:xfrm>
                    <a:off x="4914873" y="1694817"/>
                    <a:ext cx="1458220" cy="338554"/>
                  </a:xfrm>
                  <a:prstGeom prst="rect">
                    <a:avLst/>
                  </a:prstGeom>
                  <a:noFill/>
                </p:spPr>
                <p:txBody>
                  <a:bodyPr wrap="none" rtlCol="0">
                    <a:spAutoFit/>
                  </a:bodyPr>
                  <a:lstStyle/>
                  <a:p>
                    <a:r>
                      <a:rPr lang="en-US" sz="1600" dirty="0" smtClean="0"/>
                      <a:t>Search strategy</a:t>
                    </a:r>
                    <a:endParaRPr lang="en-IN" sz="1600" dirty="0"/>
                  </a:p>
                </p:txBody>
              </p:sp>
            </p:grpSp>
          </p:grpSp>
          <p:grpSp>
            <p:nvGrpSpPr>
              <p:cNvPr id="54" name="Group 53"/>
              <p:cNvGrpSpPr/>
              <p:nvPr/>
            </p:nvGrpSpPr>
            <p:grpSpPr>
              <a:xfrm>
                <a:off x="3808887" y="932996"/>
                <a:ext cx="5008019" cy="746019"/>
                <a:chOff x="3808887" y="932996"/>
                <a:chExt cx="5008019" cy="746019"/>
              </a:xfrm>
            </p:grpSpPr>
            <p:sp>
              <p:nvSpPr>
                <p:cNvPr id="45" name="TextBox 44"/>
                <p:cNvSpPr txBox="1"/>
                <p:nvPr/>
              </p:nvSpPr>
              <p:spPr>
                <a:xfrm>
                  <a:off x="3808887" y="948572"/>
                  <a:ext cx="646331" cy="338554"/>
                </a:xfrm>
                <a:prstGeom prst="rect">
                  <a:avLst/>
                </a:prstGeom>
                <a:noFill/>
              </p:spPr>
              <p:txBody>
                <a:bodyPr wrap="none" rtlCol="0">
                  <a:spAutoFit/>
                </a:bodyPr>
                <a:lstStyle/>
                <a:p>
                  <a:r>
                    <a:rPr lang="en-US" sz="1600" dirty="0" smtClean="0"/>
                    <a:t>MMR</a:t>
                  </a:r>
                  <a:endParaRPr lang="en-IN" dirty="0"/>
                </a:p>
              </p:txBody>
            </p:sp>
            <p:sp>
              <p:nvSpPr>
                <p:cNvPr id="46" name="TextBox 45"/>
                <p:cNvSpPr txBox="1"/>
                <p:nvPr/>
              </p:nvSpPr>
              <p:spPr>
                <a:xfrm>
                  <a:off x="4767125" y="932996"/>
                  <a:ext cx="1189172" cy="338554"/>
                </a:xfrm>
                <a:prstGeom prst="rect">
                  <a:avLst/>
                </a:prstGeom>
                <a:noFill/>
              </p:spPr>
              <p:txBody>
                <a:bodyPr wrap="none" rtlCol="0">
                  <a:spAutoFit/>
                </a:bodyPr>
                <a:lstStyle/>
                <a:p>
                  <a:r>
                    <a:rPr lang="en-US" sz="1600" dirty="0" smtClean="0"/>
                    <a:t>Multi Query</a:t>
                  </a:r>
                  <a:endParaRPr lang="en-IN" sz="1600" dirty="0"/>
                </a:p>
              </p:txBody>
            </p:sp>
            <p:sp>
              <p:nvSpPr>
                <p:cNvPr id="47" name="TextBox 46"/>
                <p:cNvSpPr txBox="1"/>
                <p:nvPr/>
              </p:nvSpPr>
              <p:spPr>
                <a:xfrm>
                  <a:off x="6373095" y="951407"/>
                  <a:ext cx="2443811" cy="369332"/>
                </a:xfrm>
                <a:prstGeom prst="rect">
                  <a:avLst/>
                </a:prstGeom>
                <a:noFill/>
              </p:spPr>
              <p:txBody>
                <a:bodyPr wrap="none" rtlCol="0">
                  <a:spAutoFit/>
                </a:bodyPr>
                <a:lstStyle/>
                <a:p>
                  <a:r>
                    <a:rPr lang="en-US" dirty="0"/>
                    <a:t>Contextual compression</a:t>
                  </a:r>
                  <a:endParaRPr lang="en-IN" dirty="0"/>
                </a:p>
              </p:txBody>
            </p:sp>
            <p:cxnSp>
              <p:nvCxnSpPr>
                <p:cNvPr id="49" name="Straight Connector 48"/>
                <p:cNvCxnSpPr>
                  <a:endCxn id="45" idx="2"/>
                </p:cNvCxnSpPr>
                <p:nvPr/>
              </p:nvCxnSpPr>
              <p:spPr>
                <a:xfrm flipH="1" flipV="1">
                  <a:off x="4132053" y="1287126"/>
                  <a:ext cx="635072" cy="391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H="1" flipV="1">
                  <a:off x="5361711" y="1184982"/>
                  <a:ext cx="166253" cy="380797"/>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6525491" y="1271550"/>
                  <a:ext cx="512618" cy="376939"/>
                </a:xfrm>
                <a:prstGeom prst="line">
                  <a:avLst/>
                </a:prstGeom>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40553535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9" name="Group 8"/>
          <p:cNvGrpSpPr/>
          <p:nvPr/>
        </p:nvGrpSpPr>
        <p:grpSpPr>
          <a:xfrm>
            <a:off x="480587" y="211994"/>
            <a:ext cx="2798618" cy="400110"/>
            <a:chOff x="1615229" y="211994"/>
            <a:chExt cx="2798618" cy="400110"/>
          </a:xfrm>
          <a:solidFill>
            <a:srgbClr val="FF5050"/>
          </a:solidFill>
        </p:grpSpPr>
        <p:sp>
          <p:nvSpPr>
            <p:cNvPr id="2" name="Rectangle 1"/>
            <p:cNvSpPr/>
            <p:nvPr/>
          </p:nvSpPr>
          <p:spPr>
            <a:xfrm>
              <a:off x="1865602" y="211994"/>
              <a:ext cx="2297873" cy="400110"/>
            </a:xfrm>
            <a:prstGeom prst="rect">
              <a:avLst/>
            </a:prstGeom>
            <a:grpFill/>
            <a:ln>
              <a:solidFill>
                <a:srgbClr val="FF5050"/>
              </a:solidFill>
            </a:ln>
          </p:spPr>
          <p:txBody>
            <a:bodyPr wrap="none">
              <a:spAutoFit/>
            </a:bodyPr>
            <a:lstStyle/>
            <a:p>
              <a:r>
                <a:rPr lang="en-IN" sz="2000" b="1" dirty="0">
                  <a:solidFill>
                    <a:schemeClr val="bg1"/>
                  </a:solidFill>
                </a:rPr>
                <a:t>Wikipedia Retriever</a:t>
              </a:r>
            </a:p>
          </p:txBody>
        </p:sp>
        <p:cxnSp>
          <p:nvCxnSpPr>
            <p:cNvPr id="5" name="Straight Connector 4"/>
            <p:cNvCxnSpPr/>
            <p:nvPr/>
          </p:nvCxnSpPr>
          <p:spPr>
            <a:xfrm>
              <a:off x="1615229" y="211994"/>
              <a:ext cx="2798618" cy="0"/>
            </a:xfrm>
            <a:prstGeom prst="line">
              <a:avLst/>
            </a:prstGeom>
            <a:grpFill/>
            <a:ln>
              <a:solidFill>
                <a:srgbClr val="FF5050"/>
              </a:solidFill>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480588" y="780729"/>
            <a:ext cx="11226504" cy="369332"/>
          </a:xfrm>
          <a:prstGeom prst="rect">
            <a:avLst/>
          </a:prstGeom>
        </p:spPr>
        <p:txBody>
          <a:bodyPr wrap="square">
            <a:spAutoFit/>
          </a:bodyPr>
          <a:lstStyle/>
          <a:p>
            <a:r>
              <a:rPr lang="en-US" dirty="0">
                <a:latin typeface="Cambria Math" pitchFamily="18" charset="0"/>
                <a:ea typeface="Cambria Math" pitchFamily="18" charset="0"/>
              </a:rPr>
              <a:t>A Wikipedia Retriever is a retriever that queries the Wikipedia API to fetch relevant content for a given query.</a:t>
            </a:r>
            <a:endParaRPr lang="en-IN" dirty="0">
              <a:latin typeface="Cambria Math" pitchFamily="18" charset="0"/>
              <a:ea typeface="Cambria Math" pitchFamily="18" charset="0"/>
            </a:endParaRPr>
          </a:p>
        </p:txBody>
      </p:sp>
      <p:sp>
        <p:nvSpPr>
          <p:cNvPr id="11" name="Rectangle 10"/>
          <p:cNvSpPr/>
          <p:nvPr/>
        </p:nvSpPr>
        <p:spPr>
          <a:xfrm>
            <a:off x="868514" y="1561190"/>
            <a:ext cx="1653338" cy="369332"/>
          </a:xfrm>
          <a:prstGeom prst="rect">
            <a:avLst/>
          </a:prstGeom>
        </p:spPr>
        <p:txBody>
          <a:bodyPr wrap="none">
            <a:spAutoFit/>
          </a:bodyPr>
          <a:lstStyle/>
          <a:p>
            <a:r>
              <a:rPr lang="en-IN" dirty="0">
                <a:latin typeface="Arial Rounded MT Bold" pitchFamily="34" charset="0"/>
              </a:rPr>
              <a:t>How It Works</a:t>
            </a:r>
          </a:p>
        </p:txBody>
      </p:sp>
      <p:sp>
        <p:nvSpPr>
          <p:cNvPr id="12" name="Rectangle 11"/>
          <p:cNvSpPr/>
          <p:nvPr/>
        </p:nvSpPr>
        <p:spPr>
          <a:xfrm>
            <a:off x="1274618" y="2108399"/>
            <a:ext cx="10238510" cy="1200329"/>
          </a:xfrm>
          <a:prstGeom prst="rect">
            <a:avLst/>
          </a:prstGeom>
          <a:ln>
            <a:solidFill>
              <a:schemeClr val="bg1">
                <a:lumMod val="85000"/>
              </a:schemeClr>
            </a:solidFill>
          </a:ln>
        </p:spPr>
        <p:txBody>
          <a:bodyPr wrap="square">
            <a:spAutoFit/>
          </a:bodyPr>
          <a:lstStyle/>
          <a:p>
            <a:pPr marL="342900" indent="-342900">
              <a:buFont typeface="+mj-lt"/>
              <a:buAutoNum type="arabicPeriod"/>
            </a:pPr>
            <a:r>
              <a:rPr lang="en-US" dirty="0" smtClean="0">
                <a:latin typeface="Cambria Math" pitchFamily="18" charset="0"/>
                <a:ea typeface="Cambria Math" pitchFamily="18" charset="0"/>
              </a:rPr>
              <a:t>You </a:t>
            </a:r>
            <a:r>
              <a:rPr lang="en-US" dirty="0">
                <a:latin typeface="Cambria Math" pitchFamily="18" charset="0"/>
                <a:ea typeface="Cambria Math" pitchFamily="18" charset="0"/>
              </a:rPr>
              <a:t>give it a query (e.g. "Albert Einstein")</a:t>
            </a:r>
          </a:p>
          <a:p>
            <a:pPr marL="342900" indent="-342900">
              <a:buFont typeface="+mj-lt"/>
              <a:buAutoNum type="arabicPeriod"/>
            </a:pPr>
            <a:r>
              <a:rPr lang="en-US" dirty="0" smtClean="0">
                <a:latin typeface="Cambria Math" pitchFamily="18" charset="0"/>
                <a:ea typeface="Cambria Math" pitchFamily="18" charset="0"/>
              </a:rPr>
              <a:t>It </a:t>
            </a:r>
            <a:r>
              <a:rPr lang="en-US" dirty="0">
                <a:latin typeface="Cambria Math" pitchFamily="18" charset="0"/>
                <a:ea typeface="Cambria Math" pitchFamily="18" charset="0"/>
              </a:rPr>
              <a:t>sends the query to Wikipedia's API</a:t>
            </a:r>
          </a:p>
          <a:p>
            <a:pPr marL="342900" indent="-342900">
              <a:buFont typeface="+mj-lt"/>
              <a:buAutoNum type="arabicPeriod"/>
            </a:pPr>
            <a:r>
              <a:rPr lang="en-US" dirty="0" smtClean="0">
                <a:latin typeface="Cambria Math" pitchFamily="18" charset="0"/>
                <a:ea typeface="Cambria Math" pitchFamily="18" charset="0"/>
              </a:rPr>
              <a:t>It </a:t>
            </a:r>
            <a:r>
              <a:rPr lang="en-US" dirty="0">
                <a:latin typeface="Cambria Math" pitchFamily="18" charset="0"/>
                <a:ea typeface="Cambria Math" pitchFamily="18" charset="0"/>
              </a:rPr>
              <a:t>retrieves the most relevant articles</a:t>
            </a:r>
          </a:p>
          <a:p>
            <a:pPr marL="342900" indent="-342900">
              <a:buFont typeface="+mj-lt"/>
              <a:buAutoNum type="arabicPeriod"/>
            </a:pPr>
            <a:r>
              <a:rPr lang="en-US" dirty="0" smtClean="0">
                <a:latin typeface="Cambria Math" pitchFamily="18" charset="0"/>
                <a:ea typeface="Cambria Math" pitchFamily="18" charset="0"/>
              </a:rPr>
              <a:t>It </a:t>
            </a:r>
            <a:r>
              <a:rPr lang="en-US" dirty="0">
                <a:latin typeface="Cambria Math" pitchFamily="18" charset="0"/>
                <a:ea typeface="Cambria Math" pitchFamily="18" charset="0"/>
              </a:rPr>
              <a:t>retums them as LangChain Document objects</a:t>
            </a:r>
            <a:endParaRPr lang="en-IN" dirty="0">
              <a:latin typeface="Cambria Math" pitchFamily="18" charset="0"/>
              <a:ea typeface="Cambria Math" pitchFamily="18" charset="0"/>
            </a:endParaRPr>
          </a:p>
        </p:txBody>
      </p:sp>
      <p:grpSp>
        <p:nvGrpSpPr>
          <p:cNvPr id="13" name="Group 12"/>
          <p:cNvGrpSpPr/>
          <p:nvPr/>
        </p:nvGrpSpPr>
        <p:grpSpPr>
          <a:xfrm>
            <a:off x="1307093" y="3755871"/>
            <a:ext cx="10289162" cy="2031325"/>
            <a:chOff x="1523998" y="555471"/>
            <a:chExt cx="10289162" cy="2031325"/>
          </a:xfrm>
        </p:grpSpPr>
        <p:sp>
          <p:nvSpPr>
            <p:cNvPr id="14" name="Rectangle 13"/>
            <p:cNvSpPr/>
            <p:nvPr/>
          </p:nvSpPr>
          <p:spPr>
            <a:xfrm>
              <a:off x="1523998" y="555471"/>
              <a:ext cx="10289162" cy="2031325"/>
            </a:xfrm>
            <a:prstGeom prst="rect">
              <a:avLst/>
            </a:prstGeom>
            <a:solidFill>
              <a:schemeClr val="bg1">
                <a:lumMod val="85000"/>
              </a:schemeClr>
            </a:solidFill>
            <a:ln w="3175">
              <a:solidFill>
                <a:srgbClr val="00B0F0"/>
              </a:solidFill>
            </a:ln>
          </p:spPr>
          <p:txBody>
            <a:bodyPr wrap="square">
              <a:spAutoFit/>
            </a:bodyPr>
            <a:lstStyle/>
            <a:p>
              <a:r>
                <a:rPr lang="en-IN" dirty="0">
                  <a:latin typeface="Bahnschrift Light" pitchFamily="34" charset="0"/>
                </a:rPr>
                <a:t>from </a:t>
              </a:r>
              <a:r>
                <a:rPr lang="en-IN" dirty="0">
                  <a:solidFill>
                    <a:srgbClr val="00CC99"/>
                  </a:solidFill>
                  <a:latin typeface="Bahnschrift Light" pitchFamily="34" charset="0"/>
                </a:rPr>
                <a:t>langchain_community.retrievers </a:t>
              </a:r>
              <a:r>
                <a:rPr lang="en-IN" dirty="0">
                  <a:latin typeface="Bahnschrift Light" pitchFamily="34" charset="0"/>
                </a:rPr>
                <a:t>import </a:t>
              </a:r>
              <a:r>
                <a:rPr lang="en-IN" dirty="0">
                  <a:solidFill>
                    <a:srgbClr val="00CC99"/>
                  </a:solidFill>
                  <a:latin typeface="Bahnschrift Light" pitchFamily="34" charset="0"/>
                </a:rPr>
                <a:t>WikipediaRetriever</a:t>
              </a:r>
            </a:p>
            <a:p>
              <a:r>
                <a:rPr lang="en-IN" dirty="0">
                  <a:solidFill>
                    <a:srgbClr val="00B050"/>
                  </a:solidFill>
                  <a:latin typeface="Bahnschrift Light" pitchFamily="34" charset="0"/>
                </a:rPr>
                <a:t>#pip install wikipedia</a:t>
              </a:r>
            </a:p>
            <a:p>
              <a:r>
                <a:rPr lang="en-IN" dirty="0">
                  <a:latin typeface="Bahnschrift Light" pitchFamily="34" charset="0"/>
                </a:rPr>
                <a:t/>
              </a:r>
              <a:br>
                <a:rPr lang="en-IN" dirty="0">
                  <a:latin typeface="Bahnschrift Light" pitchFamily="34" charset="0"/>
                </a:rPr>
              </a:br>
              <a:r>
                <a:rPr lang="en-IN" dirty="0">
                  <a:solidFill>
                    <a:srgbClr val="0070C0"/>
                  </a:solidFill>
                  <a:latin typeface="Bahnschrift Light" pitchFamily="34" charset="0"/>
                </a:rPr>
                <a:t>retriever</a:t>
              </a:r>
              <a:r>
                <a:rPr lang="en-IN" dirty="0">
                  <a:latin typeface="Bahnschrift Light" pitchFamily="34" charset="0"/>
                </a:rPr>
                <a:t>=</a:t>
              </a:r>
              <a:r>
                <a:rPr lang="en-IN" dirty="0">
                  <a:solidFill>
                    <a:srgbClr val="00CC99"/>
                  </a:solidFill>
                  <a:latin typeface="Bahnschrift Light" pitchFamily="34" charset="0"/>
                </a:rPr>
                <a:t>WikipediaRetriever</a:t>
              </a:r>
              <a:r>
                <a:rPr lang="en-IN" dirty="0">
                  <a:latin typeface="Bahnschrift Light" pitchFamily="34" charset="0"/>
                </a:rPr>
                <a:t>(</a:t>
              </a:r>
              <a:r>
                <a:rPr lang="en-IN" dirty="0">
                  <a:solidFill>
                    <a:srgbClr val="0070C0"/>
                  </a:solidFill>
                  <a:latin typeface="Bahnschrift Light" pitchFamily="34" charset="0"/>
                </a:rPr>
                <a:t>top_k_results</a:t>
              </a:r>
              <a:r>
                <a:rPr lang="en-IN" dirty="0">
                  <a:latin typeface="Bahnschrift Light" pitchFamily="34" charset="0"/>
                </a:rPr>
                <a:t>=1,</a:t>
              </a:r>
              <a:r>
                <a:rPr lang="en-IN" dirty="0">
                  <a:solidFill>
                    <a:srgbClr val="0070C0"/>
                  </a:solidFill>
                  <a:latin typeface="Bahnschrift Light" pitchFamily="34" charset="0"/>
                </a:rPr>
                <a:t>doc_content_chars_max</a:t>
              </a:r>
              <a:r>
                <a:rPr lang="en-IN" dirty="0">
                  <a:latin typeface="Bahnschrift Light" pitchFamily="34" charset="0"/>
                </a:rPr>
                <a:t>=100)</a:t>
              </a:r>
            </a:p>
            <a:p>
              <a:r>
                <a:rPr lang="en-IN" dirty="0">
                  <a:solidFill>
                    <a:srgbClr val="0070C0"/>
                  </a:solidFill>
                  <a:latin typeface="Bahnschrift Light" pitchFamily="34" charset="0"/>
                </a:rPr>
                <a:t>result</a:t>
              </a:r>
              <a:r>
                <a:rPr lang="en-IN" dirty="0">
                  <a:latin typeface="Bahnschrift Light" pitchFamily="34" charset="0"/>
                </a:rPr>
                <a:t>=</a:t>
              </a:r>
              <a:r>
                <a:rPr lang="en-IN" dirty="0">
                  <a:solidFill>
                    <a:srgbClr val="0070C0"/>
                  </a:solidFill>
                  <a:latin typeface="Bahnschrift Light" pitchFamily="34" charset="0"/>
                </a:rPr>
                <a:t>retriever.</a:t>
              </a:r>
              <a:r>
                <a:rPr lang="en-IN" dirty="0">
                  <a:latin typeface="Bahnschrift Light" pitchFamily="34" charset="0"/>
                </a:rPr>
                <a:t>i</a:t>
              </a:r>
              <a:r>
                <a:rPr lang="en-IN" dirty="0">
                  <a:solidFill>
                    <a:schemeClr val="accent4">
                      <a:lumMod val="50000"/>
                    </a:schemeClr>
                  </a:solidFill>
                  <a:latin typeface="Bahnschrift Light" pitchFamily="34" charset="0"/>
                </a:rPr>
                <a:t>nvoke</a:t>
              </a:r>
              <a:r>
                <a:rPr lang="en-IN" dirty="0">
                  <a:latin typeface="Bahnschrift Light" pitchFamily="34" charset="0"/>
                </a:rPr>
                <a:t>(</a:t>
              </a:r>
              <a:r>
                <a:rPr lang="en-IN" dirty="0">
                  <a:solidFill>
                    <a:schemeClr val="accent4">
                      <a:lumMod val="50000"/>
                    </a:schemeClr>
                  </a:solidFill>
                  <a:latin typeface="Bahnschrift Light" pitchFamily="34" charset="0"/>
                </a:rPr>
                <a:t>"2024 prime minister of india"</a:t>
              </a:r>
              <a:r>
                <a:rPr lang="en-IN" dirty="0">
                  <a:latin typeface="Bahnschrift Light" pitchFamily="34" charset="0"/>
                </a:rPr>
                <a:t>)</a:t>
              </a:r>
            </a:p>
            <a:p>
              <a:r>
                <a:rPr lang="en-IN" dirty="0">
                  <a:latin typeface="Bahnschrift Light" pitchFamily="34" charset="0"/>
                </a:rPr>
                <a:t/>
              </a:r>
              <a:br>
                <a:rPr lang="en-IN" dirty="0">
                  <a:latin typeface="Bahnschrift Light" pitchFamily="34" charset="0"/>
                </a:rPr>
              </a:br>
              <a:r>
                <a:rPr lang="en-IN" dirty="0">
                  <a:solidFill>
                    <a:schemeClr val="accent2">
                      <a:lumMod val="50000"/>
                    </a:schemeClr>
                  </a:solidFill>
                  <a:latin typeface="Bahnschrift Light" pitchFamily="34" charset="0"/>
                </a:rPr>
                <a:t>print</a:t>
              </a:r>
              <a:r>
                <a:rPr lang="en-IN" dirty="0">
                  <a:latin typeface="Bahnschrift Light" pitchFamily="34" charset="0"/>
                </a:rPr>
                <a:t>(</a:t>
              </a:r>
              <a:r>
                <a:rPr lang="en-IN" dirty="0">
                  <a:solidFill>
                    <a:srgbClr val="0070C0"/>
                  </a:solidFill>
                  <a:latin typeface="Bahnschrift Light" pitchFamily="34" charset="0"/>
                </a:rPr>
                <a:t>result</a:t>
              </a:r>
              <a:r>
                <a:rPr lang="en-IN" dirty="0">
                  <a:latin typeface="Bahnschrift Light" pitchFamily="34" charset="0"/>
                </a:rPr>
                <a:t>)</a:t>
              </a:r>
            </a:p>
          </p:txBody>
        </p:sp>
        <p:sp>
          <p:nvSpPr>
            <p:cNvPr id="15" name="Round Same Side Corner Rectangle 14"/>
            <p:cNvSpPr/>
            <p:nvPr/>
          </p:nvSpPr>
          <p:spPr>
            <a:xfrm>
              <a:off x="9762686" y="2161309"/>
              <a:ext cx="1967347" cy="425487"/>
            </a:xfrm>
            <a:prstGeom prst="round2Same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dirty="0">
                  <a:solidFill>
                    <a:schemeClr val="bg1"/>
                  </a:solidFill>
                  <a:latin typeface="Bahnschrift Light" pitchFamily="34" charset="0"/>
                  <a:ea typeface="Cambria Math" pitchFamily="18" charset="0"/>
                </a:rPr>
                <a:t>WikipediaRetriever</a:t>
              </a:r>
            </a:p>
          </p:txBody>
        </p:sp>
      </p:grpSp>
    </p:spTree>
    <p:extLst>
      <p:ext uri="{BB962C8B-B14F-4D97-AF65-F5344CB8AC3E}">
        <p14:creationId xmlns:p14="http://schemas.microsoft.com/office/powerpoint/2010/main" val="21751661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9" name="Group 8"/>
          <p:cNvGrpSpPr/>
          <p:nvPr/>
        </p:nvGrpSpPr>
        <p:grpSpPr>
          <a:xfrm>
            <a:off x="387927" y="243879"/>
            <a:ext cx="3366655" cy="369332"/>
            <a:chOff x="1717964" y="211994"/>
            <a:chExt cx="3366655" cy="369332"/>
          </a:xfrm>
          <a:solidFill>
            <a:srgbClr val="FF5050"/>
          </a:solidFill>
        </p:grpSpPr>
        <p:sp>
          <p:nvSpPr>
            <p:cNvPr id="10" name="Rectangle 9"/>
            <p:cNvSpPr/>
            <p:nvPr/>
          </p:nvSpPr>
          <p:spPr>
            <a:xfrm>
              <a:off x="1865602" y="211994"/>
              <a:ext cx="2291076" cy="369332"/>
            </a:xfrm>
            <a:prstGeom prst="rect">
              <a:avLst/>
            </a:prstGeom>
            <a:grpFill/>
            <a:ln>
              <a:solidFill>
                <a:srgbClr val="FF5050"/>
              </a:solidFill>
            </a:ln>
          </p:spPr>
          <p:txBody>
            <a:bodyPr wrap="none">
              <a:spAutoFit/>
            </a:bodyPr>
            <a:lstStyle/>
            <a:p>
              <a:r>
                <a:rPr lang="en-IN" b="1" dirty="0">
                  <a:solidFill>
                    <a:schemeClr val="bg1"/>
                  </a:solidFill>
                </a:rPr>
                <a:t>Vector Store Retriever</a:t>
              </a:r>
            </a:p>
          </p:txBody>
        </p:sp>
        <p:cxnSp>
          <p:nvCxnSpPr>
            <p:cNvPr id="11" name="Straight Connector 10"/>
            <p:cNvCxnSpPr/>
            <p:nvPr/>
          </p:nvCxnSpPr>
          <p:spPr>
            <a:xfrm>
              <a:off x="1717964" y="211994"/>
              <a:ext cx="3366655" cy="0"/>
            </a:xfrm>
            <a:prstGeom prst="line">
              <a:avLst/>
            </a:prstGeom>
            <a:grpFill/>
            <a:ln>
              <a:solidFill>
                <a:srgbClr val="FF5050"/>
              </a:solidFill>
            </a:ln>
          </p:spPr>
          <p:style>
            <a:lnRef idx="1">
              <a:schemeClr val="accent1"/>
            </a:lnRef>
            <a:fillRef idx="0">
              <a:schemeClr val="accent1"/>
            </a:fillRef>
            <a:effectRef idx="0">
              <a:schemeClr val="accent1"/>
            </a:effectRef>
            <a:fontRef idx="minor">
              <a:schemeClr val="tx1"/>
            </a:fontRef>
          </p:style>
        </p:cxnSp>
      </p:grpSp>
      <p:sp>
        <p:nvSpPr>
          <p:cNvPr id="12" name="Rectangle 11"/>
          <p:cNvSpPr/>
          <p:nvPr/>
        </p:nvSpPr>
        <p:spPr>
          <a:xfrm>
            <a:off x="535565" y="766966"/>
            <a:ext cx="11310071" cy="646331"/>
          </a:xfrm>
          <a:prstGeom prst="rect">
            <a:avLst/>
          </a:prstGeom>
        </p:spPr>
        <p:txBody>
          <a:bodyPr wrap="square">
            <a:spAutoFit/>
          </a:bodyPr>
          <a:lstStyle/>
          <a:p>
            <a:r>
              <a:rPr lang="en-US" dirty="0">
                <a:latin typeface="Cambria Math" pitchFamily="18" charset="0"/>
                <a:ea typeface="Cambria Math" pitchFamily="18" charset="0"/>
              </a:rPr>
              <a:t>A Vector Store Retriever </a:t>
            </a:r>
            <a:r>
              <a:rPr lang="en-US" dirty="0" smtClean="0">
                <a:latin typeface="Cambria Math" pitchFamily="18" charset="0"/>
                <a:ea typeface="Cambria Math" pitchFamily="18" charset="0"/>
              </a:rPr>
              <a:t>is </a:t>
            </a:r>
            <a:r>
              <a:rPr lang="en-US" dirty="0">
                <a:latin typeface="Cambria Math" pitchFamily="18" charset="0"/>
                <a:ea typeface="Cambria Math" pitchFamily="18" charset="0"/>
              </a:rPr>
              <a:t>the most common type of retriever that </a:t>
            </a:r>
            <a:r>
              <a:rPr lang="en-US" dirty="0" smtClean="0">
                <a:latin typeface="Cambria Math" pitchFamily="18" charset="0"/>
                <a:ea typeface="Cambria Math" pitchFamily="18" charset="0"/>
              </a:rPr>
              <a:t>allow us search </a:t>
            </a:r>
            <a:r>
              <a:rPr lang="en-US" dirty="0">
                <a:latin typeface="Cambria Math" pitchFamily="18" charset="0"/>
                <a:ea typeface="Cambria Math" pitchFamily="18" charset="0"/>
              </a:rPr>
              <a:t>and fetch documents from a vector store based on semantic similarity using vector </a:t>
            </a:r>
            <a:r>
              <a:rPr lang="en-US" dirty="0" smtClean="0">
                <a:latin typeface="Cambria Math" pitchFamily="18" charset="0"/>
                <a:ea typeface="Cambria Math" pitchFamily="18" charset="0"/>
              </a:rPr>
              <a:t>embedding's</a:t>
            </a:r>
            <a:endParaRPr lang="en-IN" dirty="0">
              <a:latin typeface="Cambria Math" pitchFamily="18" charset="0"/>
              <a:ea typeface="Cambria Math" pitchFamily="18" charset="0"/>
            </a:endParaRPr>
          </a:p>
        </p:txBody>
      </p:sp>
      <p:sp>
        <p:nvSpPr>
          <p:cNvPr id="13" name="Rectangle 12"/>
          <p:cNvSpPr/>
          <p:nvPr/>
        </p:nvSpPr>
        <p:spPr>
          <a:xfrm>
            <a:off x="1903059" y="1942007"/>
            <a:ext cx="1653338" cy="369332"/>
          </a:xfrm>
          <a:prstGeom prst="rect">
            <a:avLst/>
          </a:prstGeom>
          <a:ln w="3175">
            <a:noFill/>
          </a:ln>
        </p:spPr>
        <p:txBody>
          <a:bodyPr wrap="none">
            <a:spAutoFit/>
          </a:bodyPr>
          <a:lstStyle/>
          <a:p>
            <a:r>
              <a:rPr lang="en-IN" dirty="0">
                <a:latin typeface="Arial Rounded MT Bold" pitchFamily="34" charset="0"/>
              </a:rPr>
              <a:t>How It Works</a:t>
            </a:r>
          </a:p>
        </p:txBody>
      </p:sp>
      <p:sp>
        <p:nvSpPr>
          <p:cNvPr id="14" name="Rectangle 13"/>
          <p:cNvSpPr/>
          <p:nvPr/>
        </p:nvSpPr>
        <p:spPr>
          <a:xfrm>
            <a:off x="2355272" y="2507949"/>
            <a:ext cx="9836727" cy="1754326"/>
          </a:xfrm>
          <a:prstGeom prst="rect">
            <a:avLst/>
          </a:prstGeom>
        </p:spPr>
        <p:txBody>
          <a:bodyPr wrap="square">
            <a:spAutoFit/>
          </a:bodyPr>
          <a:lstStyle/>
          <a:p>
            <a:pPr marL="342900" indent="-342900">
              <a:buFont typeface="+mj-lt"/>
              <a:buAutoNum type="arabicPeriod"/>
            </a:pPr>
            <a:r>
              <a:rPr lang="en-US" dirty="0"/>
              <a:t>You store your documents in a vector store (like FAISS, Chroma Weaviate)</a:t>
            </a:r>
          </a:p>
          <a:p>
            <a:pPr marL="342900" indent="-342900">
              <a:buFont typeface="+mj-lt"/>
              <a:buAutoNum type="arabicPeriod"/>
            </a:pPr>
            <a:r>
              <a:rPr lang="en-US" dirty="0" smtClean="0"/>
              <a:t>Each </a:t>
            </a:r>
            <a:r>
              <a:rPr lang="en-US" dirty="0"/>
              <a:t>document is converted into a dense vector using an embedding model</a:t>
            </a:r>
          </a:p>
          <a:p>
            <a:pPr marL="342900" indent="-342900">
              <a:buFont typeface="+mj-lt"/>
              <a:buAutoNum type="arabicPeriod"/>
            </a:pPr>
            <a:r>
              <a:rPr lang="en-US" dirty="0" smtClean="0"/>
              <a:t> </a:t>
            </a:r>
            <a:r>
              <a:rPr lang="en-US" dirty="0"/>
              <a:t>When the user enters a query</a:t>
            </a:r>
          </a:p>
          <a:p>
            <a:pPr marL="742950" lvl="1" indent="-285750">
              <a:buFont typeface="Wingdings" pitchFamily="2" charset="2"/>
              <a:buChar char="§"/>
            </a:pPr>
            <a:r>
              <a:rPr lang="en-US" dirty="0" smtClean="0"/>
              <a:t>It's </a:t>
            </a:r>
            <a:r>
              <a:rPr lang="en-US" dirty="0"/>
              <a:t>also turned into a vector</a:t>
            </a:r>
          </a:p>
          <a:p>
            <a:pPr marL="742950" lvl="1" indent="-285750">
              <a:buFont typeface="Wingdings" pitchFamily="2" charset="2"/>
              <a:buChar char="§"/>
            </a:pPr>
            <a:r>
              <a:rPr lang="en-US" dirty="0" smtClean="0"/>
              <a:t>The </a:t>
            </a:r>
            <a:r>
              <a:rPr lang="en-US" dirty="0"/>
              <a:t>retriever compares the query vector with the stored </a:t>
            </a:r>
            <a:r>
              <a:rPr lang="en-US" dirty="0" smtClean="0"/>
              <a:t>vectors</a:t>
            </a:r>
            <a:endParaRPr lang="en-US" dirty="0"/>
          </a:p>
          <a:p>
            <a:pPr marL="742950" lvl="1" indent="-285750">
              <a:buFont typeface="Wingdings" pitchFamily="2" charset="2"/>
              <a:buChar char="§"/>
            </a:pPr>
            <a:r>
              <a:rPr lang="en-US" dirty="0" smtClean="0"/>
              <a:t> </a:t>
            </a:r>
            <a:r>
              <a:rPr lang="en-US" dirty="0"/>
              <a:t>It retrieves the top-k most similar ones</a:t>
            </a:r>
            <a:endParaRPr lang="en-IN" dirty="0"/>
          </a:p>
        </p:txBody>
      </p:sp>
    </p:spTree>
    <p:extLst>
      <p:ext uri="{BB962C8B-B14F-4D97-AF65-F5344CB8AC3E}">
        <p14:creationId xmlns:p14="http://schemas.microsoft.com/office/powerpoint/2010/main" val="299073321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dirty="0"/>
              <a:t>Navigating the Future of Learning </a:t>
            </a:r>
          </a:p>
        </p:txBody>
      </p:sp>
      <p:grpSp>
        <p:nvGrpSpPr>
          <p:cNvPr id="5" name="Group 4"/>
          <p:cNvGrpSpPr/>
          <p:nvPr/>
        </p:nvGrpSpPr>
        <p:grpSpPr>
          <a:xfrm>
            <a:off x="374073" y="528931"/>
            <a:ext cx="11545711" cy="3786393"/>
            <a:chOff x="1288474" y="750603"/>
            <a:chExt cx="10377054" cy="3786393"/>
          </a:xfrm>
          <a:solidFill>
            <a:schemeClr val="tx1">
              <a:lumMod val="85000"/>
              <a:lumOff val="15000"/>
            </a:schemeClr>
          </a:solidFill>
        </p:grpSpPr>
        <p:sp>
          <p:nvSpPr>
            <p:cNvPr id="2" name="Rectangle 1"/>
            <p:cNvSpPr/>
            <p:nvPr/>
          </p:nvSpPr>
          <p:spPr>
            <a:xfrm>
              <a:off x="1288474" y="751344"/>
              <a:ext cx="10377054" cy="3785652"/>
            </a:xfrm>
            <a:prstGeom prst="rect">
              <a:avLst/>
            </a:prstGeom>
            <a:solidFill>
              <a:schemeClr val="bg2">
                <a:lumMod val="25000"/>
              </a:schemeClr>
            </a:solidFill>
          </p:spPr>
          <p:txBody>
            <a:bodyPr wrap="square">
              <a:spAutoFit/>
            </a:bodyPr>
            <a:lstStyle/>
            <a:p>
              <a:r>
                <a:rPr lang="en-IN" sz="1600" dirty="0">
                  <a:solidFill>
                    <a:srgbClr val="FF0066"/>
                  </a:solidFill>
                  <a:latin typeface="Bahnschrift Light" pitchFamily="34" charset="0"/>
                  <a:ea typeface="Cambria Math" pitchFamily="18" charset="0"/>
                </a:rPr>
                <a:t>from</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langchain_google_genai</a:t>
              </a:r>
              <a:r>
                <a:rPr lang="en-IN" sz="1600" dirty="0">
                  <a:latin typeface="Bahnschrift Light" pitchFamily="34" charset="0"/>
                  <a:ea typeface="Cambria Math" pitchFamily="18" charset="0"/>
                </a:rPr>
                <a:t> </a:t>
              </a:r>
              <a:r>
                <a:rPr lang="en-IN" sz="1600" dirty="0">
                  <a:solidFill>
                    <a:srgbClr val="FF0066"/>
                  </a:solidFill>
                  <a:latin typeface="Bahnschrift Light" pitchFamily="34" charset="0"/>
                  <a:ea typeface="Cambria Math" pitchFamily="18" charset="0"/>
                </a:rPr>
                <a:t>import</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GoogleGenerativeAIEmbeddings</a:t>
              </a:r>
            </a:p>
            <a:p>
              <a:r>
                <a:rPr lang="en-IN" sz="1600" dirty="0">
                  <a:solidFill>
                    <a:srgbClr val="FF0066"/>
                  </a:solidFill>
                  <a:latin typeface="Bahnschrift Light" pitchFamily="34" charset="0"/>
                  <a:ea typeface="Cambria Math" pitchFamily="18" charset="0"/>
                </a:rPr>
                <a:t>from</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langchain_chroma</a:t>
              </a:r>
              <a:r>
                <a:rPr lang="en-IN" sz="1600" dirty="0">
                  <a:latin typeface="Bahnschrift Light" pitchFamily="34" charset="0"/>
                  <a:ea typeface="Cambria Math" pitchFamily="18" charset="0"/>
                </a:rPr>
                <a:t> </a:t>
              </a:r>
              <a:r>
                <a:rPr lang="en-IN" sz="1600" dirty="0">
                  <a:solidFill>
                    <a:srgbClr val="FF0066"/>
                  </a:solidFill>
                  <a:latin typeface="Bahnschrift Light" pitchFamily="34" charset="0"/>
                  <a:ea typeface="Cambria Math" pitchFamily="18" charset="0"/>
                </a:rPr>
                <a:t>import</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Chroma</a:t>
              </a:r>
            </a:p>
            <a:p>
              <a:r>
                <a:rPr lang="en-IN" sz="1600" dirty="0">
                  <a:solidFill>
                    <a:srgbClr val="FF0066"/>
                  </a:solidFill>
                  <a:latin typeface="Bahnschrift Light" pitchFamily="34" charset="0"/>
                  <a:ea typeface="Cambria Math" pitchFamily="18" charset="0"/>
                </a:rPr>
                <a:t>from</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dotenv</a:t>
              </a:r>
              <a:r>
                <a:rPr lang="en-IN" sz="1600" dirty="0">
                  <a:latin typeface="Bahnschrift Light" pitchFamily="34" charset="0"/>
                  <a:ea typeface="Cambria Math" pitchFamily="18" charset="0"/>
                </a:rPr>
                <a:t> </a:t>
              </a:r>
              <a:r>
                <a:rPr lang="en-IN" sz="1600" dirty="0">
                  <a:solidFill>
                    <a:srgbClr val="FF0066"/>
                  </a:solidFill>
                  <a:latin typeface="Bahnschrift Light" pitchFamily="34" charset="0"/>
                  <a:ea typeface="Cambria Math" pitchFamily="18" charset="0"/>
                </a:rPr>
                <a:t>import</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load_dotenv</a:t>
              </a:r>
            </a:p>
            <a:p>
              <a:r>
                <a:rPr lang="en-IN" sz="1600" dirty="0">
                  <a:latin typeface="Bahnschrift Light" pitchFamily="34" charset="0"/>
                  <a:ea typeface="Cambria Math" pitchFamily="18" charset="0"/>
                </a:rPr>
                <a:t/>
              </a:r>
              <a:br>
                <a:rPr lang="en-IN" sz="1600" dirty="0">
                  <a:latin typeface="Bahnschrift Light" pitchFamily="34" charset="0"/>
                  <a:ea typeface="Cambria Math" pitchFamily="18" charset="0"/>
                </a:rPr>
              </a:br>
              <a:r>
                <a:rPr lang="en-IN" sz="1600" dirty="0">
                  <a:solidFill>
                    <a:schemeClr val="accent4"/>
                  </a:solidFill>
                  <a:latin typeface="Bahnschrift Light" pitchFamily="34" charset="0"/>
                  <a:ea typeface="Cambria Math" pitchFamily="18" charset="0"/>
                </a:rPr>
                <a:t>load_dotenv</a:t>
              </a:r>
              <a:r>
                <a:rPr lang="en-IN" sz="1600" dirty="0">
                  <a:solidFill>
                    <a:schemeClr val="accent1"/>
                  </a:solidFill>
                  <a:latin typeface="Bahnschrift Light" pitchFamily="34" charset="0"/>
                  <a:ea typeface="Cambria Math" pitchFamily="18" charset="0"/>
                </a:rPr>
                <a:t>()</a:t>
              </a:r>
            </a:p>
            <a:p>
              <a:r>
                <a:rPr lang="en-IN" sz="1600" dirty="0">
                  <a:solidFill>
                    <a:srgbClr val="0070C0"/>
                  </a:solidFill>
                  <a:latin typeface="Bahnschrift Light" pitchFamily="34" charset="0"/>
                  <a:ea typeface="Cambria Math" pitchFamily="18" charset="0"/>
                </a:rPr>
                <a:t>embeddings</a:t>
              </a:r>
              <a:r>
                <a:rPr lang="en-IN" sz="1600" dirty="0">
                  <a:solidFill>
                    <a:schemeClr val="bg1"/>
                  </a:solidFill>
                  <a:latin typeface="Bahnschrift Light" pitchFamily="34" charset="0"/>
                  <a:ea typeface="Cambria Math" pitchFamily="18" charset="0"/>
                </a:rPr>
                <a:t> = </a:t>
              </a:r>
              <a:r>
                <a:rPr lang="en-IN" sz="1600" dirty="0">
                  <a:solidFill>
                    <a:srgbClr val="00CC99"/>
                  </a:solidFill>
                  <a:latin typeface="Bahnschrift Light" pitchFamily="34" charset="0"/>
                  <a:ea typeface="Cambria Math" pitchFamily="18" charset="0"/>
                </a:rPr>
                <a:t>GoogleGenerativeAIEmbeddings</a:t>
              </a:r>
              <a:r>
                <a:rPr lang="en-IN" sz="1600" dirty="0">
                  <a:solidFill>
                    <a:srgbClr val="0070C0"/>
                  </a:solidFill>
                  <a:latin typeface="Bahnschrift Light" pitchFamily="34" charset="0"/>
                  <a:ea typeface="Cambria Math" pitchFamily="18" charset="0"/>
                </a:rPr>
                <a:t>(model</a:t>
              </a:r>
              <a:r>
                <a:rPr lang="en-IN" sz="1600" dirty="0">
                  <a:solidFill>
                    <a:srgbClr val="FF5050"/>
                  </a:solidFill>
                  <a:latin typeface="Bahnschrift Light" pitchFamily="34" charset="0"/>
                  <a:ea typeface="Cambria Math" pitchFamily="18" charset="0"/>
                </a:rPr>
                <a:t>="models/embedding-001")</a:t>
              </a:r>
            </a:p>
            <a:p>
              <a:r>
                <a:rPr lang="en-IN" sz="1600" dirty="0">
                  <a:latin typeface="Bahnschrift Light" pitchFamily="34" charset="0"/>
                  <a:ea typeface="Cambria Math" pitchFamily="18" charset="0"/>
                </a:rPr>
                <a:t/>
              </a:r>
              <a:br>
                <a:rPr lang="en-IN" sz="1600" dirty="0">
                  <a:latin typeface="Bahnschrift Light" pitchFamily="34" charset="0"/>
                  <a:ea typeface="Cambria Math" pitchFamily="18" charset="0"/>
                </a:rPr>
              </a:br>
              <a:r>
                <a:rPr lang="en-IN" sz="1600" dirty="0">
                  <a:solidFill>
                    <a:srgbClr val="0070C0"/>
                  </a:solidFill>
                  <a:latin typeface="Bahnschrift Light" pitchFamily="34" charset="0"/>
                  <a:ea typeface="Cambria Math" pitchFamily="18" charset="0"/>
                </a:rPr>
                <a:t>vector_store</a:t>
              </a:r>
              <a:r>
                <a:rPr lang="en-IN" sz="1600" dirty="0">
                  <a:solidFill>
                    <a:schemeClr val="bg1"/>
                  </a:solidFill>
                  <a:latin typeface="Bahnschrift Light" pitchFamily="34" charset="0"/>
                  <a:ea typeface="Cambria Math" pitchFamily="18" charset="0"/>
                </a:rPr>
                <a:t>=</a:t>
              </a:r>
              <a:r>
                <a:rPr lang="en-IN" sz="1600" dirty="0">
                  <a:solidFill>
                    <a:srgbClr val="00CC99"/>
                  </a:solidFill>
                  <a:latin typeface="Bahnschrift Light" pitchFamily="34" charset="0"/>
                  <a:ea typeface="Cambria Math" pitchFamily="18" charset="0"/>
                </a:rPr>
                <a:t>Chroma</a:t>
              </a:r>
              <a:r>
                <a:rPr lang="en-IN" sz="1600" dirty="0">
                  <a:solidFill>
                    <a:schemeClr val="accent1"/>
                  </a:solidFill>
                  <a:latin typeface="Bahnschrift Light" pitchFamily="34" charset="0"/>
                  <a:ea typeface="Cambria Math" pitchFamily="18" charset="0"/>
                </a:rPr>
                <a:t>(</a:t>
              </a:r>
              <a:r>
                <a:rPr lang="en-IN" sz="1600" dirty="0">
                  <a:solidFill>
                    <a:srgbClr val="0070C0"/>
                  </a:solidFill>
                  <a:latin typeface="Bahnschrift Light" pitchFamily="34" charset="0"/>
                  <a:ea typeface="Cambria Math" pitchFamily="18" charset="0"/>
                </a:rPr>
                <a:t>embedding_function=embeddings, collection_name=</a:t>
              </a:r>
              <a:r>
                <a:rPr lang="en-IN" sz="1600" dirty="0">
                  <a:solidFill>
                    <a:srgbClr val="FF5050"/>
                  </a:solidFill>
                  <a:latin typeface="Bahnschrift Light" pitchFamily="34" charset="0"/>
                  <a:ea typeface="Cambria Math" pitchFamily="18" charset="0"/>
                </a:rPr>
                <a:t>"sample"</a:t>
              </a:r>
              <a:r>
                <a:rPr lang="en-IN" sz="1600" dirty="0">
                  <a:solidFill>
                    <a:srgbClr val="0070C0"/>
                  </a:solidFill>
                  <a:latin typeface="Bahnschrift Light" pitchFamily="34" charset="0"/>
                  <a:ea typeface="Cambria Math" pitchFamily="18" charset="0"/>
                </a:rPr>
                <a:t>,persist_directory=</a:t>
              </a:r>
              <a:r>
                <a:rPr lang="en-IN" sz="1600" dirty="0">
                  <a:solidFill>
                    <a:srgbClr val="FF5050"/>
                  </a:solidFill>
                  <a:latin typeface="Bahnschrift Light" pitchFamily="34" charset="0"/>
                  <a:ea typeface="Cambria Math" pitchFamily="18" charset="0"/>
                </a:rPr>
                <a:t>"testingdb"</a:t>
              </a:r>
              <a:r>
                <a:rPr lang="en-IN" sz="1600" dirty="0">
                  <a:solidFill>
                    <a:srgbClr val="0070C0"/>
                  </a:solidFill>
                  <a:latin typeface="Bahnschrift Light" pitchFamily="34" charset="0"/>
                  <a:ea typeface="Cambria Math" pitchFamily="18" charset="0"/>
                </a:rPr>
                <a:t>)</a:t>
              </a:r>
            </a:p>
            <a:p>
              <a:r>
                <a:rPr lang="en-IN" sz="1600" dirty="0">
                  <a:latin typeface="Bahnschrift Light" pitchFamily="34" charset="0"/>
                  <a:ea typeface="Cambria Math" pitchFamily="18" charset="0"/>
                </a:rPr>
                <a:t/>
              </a:r>
              <a:br>
                <a:rPr lang="en-IN" sz="1600" dirty="0">
                  <a:latin typeface="Bahnschrift Light" pitchFamily="34" charset="0"/>
                  <a:ea typeface="Cambria Math" pitchFamily="18" charset="0"/>
                </a:rPr>
              </a:br>
              <a:r>
                <a:rPr lang="en-IN" sz="1600" dirty="0">
                  <a:solidFill>
                    <a:schemeClr val="accent4"/>
                  </a:solidFill>
                  <a:latin typeface="Bahnschrift Light" pitchFamily="34" charset="0"/>
                  <a:ea typeface="Cambria Math" pitchFamily="18" charset="0"/>
                </a:rPr>
                <a:t>retriever=vector_store.as_retriever()</a:t>
              </a:r>
            </a:p>
            <a:p>
              <a:r>
                <a:rPr lang="en-IN" sz="1600" dirty="0">
                  <a:solidFill>
                    <a:srgbClr val="0070C0"/>
                  </a:solidFill>
                  <a:latin typeface="Bahnschrift Light" pitchFamily="34" charset="0"/>
                  <a:ea typeface="Cambria Math" pitchFamily="18" charset="0"/>
                </a:rPr>
                <a:t>result</a:t>
              </a:r>
              <a:r>
                <a:rPr lang="en-IN" sz="1600" dirty="0">
                  <a:solidFill>
                    <a:schemeClr val="accent4"/>
                  </a:solidFill>
                  <a:latin typeface="Bahnschrift Light" pitchFamily="34" charset="0"/>
                  <a:ea typeface="Cambria Math" pitchFamily="18" charset="0"/>
                </a:rPr>
                <a:t>=</a:t>
              </a:r>
              <a:r>
                <a:rPr lang="en-IN" sz="1600" dirty="0">
                  <a:solidFill>
                    <a:srgbClr val="0070C0"/>
                  </a:solidFill>
                  <a:latin typeface="Bahnschrift Light" pitchFamily="34" charset="0"/>
                  <a:ea typeface="Cambria Math" pitchFamily="18" charset="0"/>
                </a:rPr>
                <a:t>retriever.</a:t>
              </a:r>
              <a:r>
                <a:rPr lang="en-IN" sz="1600" dirty="0">
                  <a:solidFill>
                    <a:schemeClr val="accent4"/>
                  </a:solidFill>
                  <a:latin typeface="Bahnschrift Light" pitchFamily="34" charset="0"/>
                  <a:ea typeface="Cambria Math" pitchFamily="18" charset="0"/>
                </a:rPr>
                <a:t>invoke</a:t>
              </a:r>
              <a:r>
                <a:rPr lang="en-IN" sz="1600" dirty="0">
                  <a:solidFill>
                    <a:srgbClr val="FF5050"/>
                  </a:solidFill>
                  <a:latin typeface="Bahnschrift Light" pitchFamily="34" charset="0"/>
                  <a:ea typeface="Cambria Math" pitchFamily="18" charset="0"/>
                </a:rPr>
                <a:t>("fast bowler name")</a:t>
              </a:r>
            </a:p>
            <a:p>
              <a:r>
                <a:rPr lang="en-IN" sz="1600" dirty="0">
                  <a:latin typeface="Bahnschrift Light" pitchFamily="34" charset="0"/>
                  <a:ea typeface="Cambria Math" pitchFamily="18" charset="0"/>
                </a:rPr>
                <a:t/>
              </a:r>
              <a:br>
                <a:rPr lang="en-IN" sz="1600" dirty="0">
                  <a:latin typeface="Bahnschrift Light" pitchFamily="34" charset="0"/>
                  <a:ea typeface="Cambria Math" pitchFamily="18" charset="0"/>
                </a:rPr>
              </a:br>
              <a:r>
                <a:rPr lang="en-IN" sz="1600" dirty="0">
                  <a:solidFill>
                    <a:schemeClr val="accent4"/>
                  </a:solidFill>
                  <a:latin typeface="Bahnschrift Light" pitchFamily="34" charset="0"/>
                  <a:ea typeface="Cambria Math" pitchFamily="18" charset="0"/>
                </a:rPr>
                <a:t>print(result)</a:t>
              </a:r>
            </a:p>
            <a:p>
              <a:r>
                <a:rPr lang="en-IN" sz="1600" dirty="0">
                  <a:latin typeface="Bahnschrift Light" pitchFamily="34" charset="0"/>
                  <a:ea typeface="Cambria Math" pitchFamily="18" charset="0"/>
                </a:rPr>
                <a:t/>
              </a:r>
              <a:br>
                <a:rPr lang="en-IN" sz="1600" dirty="0">
                  <a:latin typeface="Bahnschrift Light" pitchFamily="34" charset="0"/>
                  <a:ea typeface="Cambria Math" pitchFamily="18" charset="0"/>
                </a:rPr>
              </a:br>
              <a:endParaRPr lang="en-IN" sz="1600" dirty="0">
                <a:latin typeface="Bahnschrift Light" pitchFamily="34" charset="0"/>
                <a:ea typeface="Cambria Math" pitchFamily="18" charset="0"/>
              </a:endParaRPr>
            </a:p>
          </p:txBody>
        </p:sp>
        <p:sp>
          <p:nvSpPr>
            <p:cNvPr id="3" name="Rectangle 2"/>
            <p:cNvSpPr/>
            <p:nvPr/>
          </p:nvSpPr>
          <p:spPr>
            <a:xfrm>
              <a:off x="9509104" y="750603"/>
              <a:ext cx="2082168" cy="338554"/>
            </a:xfrm>
            <a:prstGeom prst="rect">
              <a:avLst/>
            </a:prstGeom>
            <a:solidFill>
              <a:srgbClr val="00B0F0"/>
            </a:solidFill>
          </p:spPr>
          <p:txBody>
            <a:bodyPr wrap="none">
              <a:spAutoFit/>
            </a:bodyPr>
            <a:lstStyle/>
            <a:p>
              <a:r>
                <a:rPr lang="en-US" sz="1600" dirty="0">
                  <a:solidFill>
                    <a:schemeClr val="bg1"/>
                  </a:solidFill>
                  <a:latin typeface="Bahnschrift Light" pitchFamily="34" charset="0"/>
                  <a:ea typeface="Cambria Math" pitchFamily="18" charset="0"/>
                </a:rPr>
                <a:t>Vector Store Retriever </a:t>
              </a:r>
              <a:endParaRPr lang="en-IN" sz="1600" dirty="0">
                <a:solidFill>
                  <a:schemeClr val="bg1"/>
                </a:solidFill>
                <a:latin typeface="Bahnschrift Light" pitchFamily="34" charset="0"/>
                <a:ea typeface="Cambria Math" pitchFamily="18" charset="0"/>
              </a:endParaRPr>
            </a:p>
          </p:txBody>
        </p:sp>
      </p:grpSp>
      <p:sp>
        <p:nvSpPr>
          <p:cNvPr id="9" name="Rectangle 8"/>
          <p:cNvSpPr/>
          <p:nvPr/>
        </p:nvSpPr>
        <p:spPr>
          <a:xfrm>
            <a:off x="374073" y="4467724"/>
            <a:ext cx="11554691" cy="584775"/>
          </a:xfrm>
          <a:prstGeom prst="rect">
            <a:avLst/>
          </a:prstGeom>
          <a:solidFill>
            <a:schemeClr val="accent6">
              <a:lumMod val="40000"/>
              <a:lumOff val="60000"/>
            </a:schemeClr>
          </a:solidFill>
          <a:ln>
            <a:solidFill>
              <a:schemeClr val="accent6">
                <a:lumMod val="60000"/>
                <a:lumOff val="40000"/>
              </a:schemeClr>
            </a:solidFill>
          </a:ln>
        </p:spPr>
        <p:txBody>
          <a:bodyPr wrap="square">
            <a:spAutoFit/>
          </a:bodyPr>
          <a:lstStyle/>
          <a:p>
            <a:r>
              <a:rPr lang="en-US" sz="1600" dirty="0" smtClean="0"/>
              <a:t>Main </a:t>
            </a:r>
            <a:r>
              <a:rPr lang="en-US" sz="1600" dirty="0"/>
              <a:t>benefit of </a:t>
            </a:r>
            <a:r>
              <a:rPr lang="en-US" sz="1600" dirty="0" smtClean="0"/>
              <a:t>vector store retriever </a:t>
            </a:r>
            <a:r>
              <a:rPr lang="en-US" sz="1600" dirty="0"/>
              <a:t>is </a:t>
            </a:r>
            <a:r>
              <a:rPr lang="en-US" sz="1600" dirty="0" smtClean="0"/>
              <a:t>that we can apply </a:t>
            </a:r>
            <a:r>
              <a:rPr lang="en-US" sz="1600" dirty="0"/>
              <a:t>different </a:t>
            </a:r>
            <a:r>
              <a:rPr lang="en-US" sz="1600" dirty="0" smtClean="0"/>
              <a:t>strategy to </a:t>
            </a:r>
            <a:r>
              <a:rPr lang="en-US" sz="1600" dirty="0"/>
              <a:t>find </a:t>
            </a:r>
            <a:r>
              <a:rPr lang="en-US" sz="1600" dirty="0" smtClean="0"/>
              <a:t>document and also </a:t>
            </a:r>
            <a:r>
              <a:rPr lang="en-US" sz="1600" dirty="0"/>
              <a:t>it is </a:t>
            </a:r>
            <a:r>
              <a:rPr lang="en-US" sz="1600" dirty="0" smtClean="0"/>
              <a:t>runnable .that we can use it in chain</a:t>
            </a:r>
            <a:endParaRPr lang="en-IN" sz="1600" dirty="0"/>
          </a:p>
        </p:txBody>
      </p:sp>
    </p:spTree>
    <p:extLst>
      <p:ext uri="{BB962C8B-B14F-4D97-AF65-F5344CB8AC3E}">
        <p14:creationId xmlns:p14="http://schemas.microsoft.com/office/powerpoint/2010/main" val="373372908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0674954"/>
              </p:ext>
            </p:extLst>
          </p:nvPr>
        </p:nvGraphicFramePr>
        <p:xfrm>
          <a:off x="748146" y="705811"/>
          <a:ext cx="10418618" cy="2221654"/>
        </p:xfrm>
        <a:graphic>
          <a:graphicData uri="http://schemas.openxmlformats.org/drawingml/2006/table">
            <a:tbl>
              <a:tblPr firstRow="1" bandRow="1">
                <a:tableStyleId>{2D5ABB26-0587-4C30-8999-92F81FD0307C}</a:tableStyleId>
              </a:tblPr>
              <a:tblGrid>
                <a:gridCol w="822391"/>
                <a:gridCol w="9596227"/>
              </a:tblGrid>
              <a:tr h="370840">
                <a:tc>
                  <a:txBody>
                    <a:bodyPr/>
                    <a:lstStyle/>
                    <a:p>
                      <a:r>
                        <a:rPr lang="en-US" sz="1600" dirty="0" smtClean="0">
                          <a:latin typeface="Cambria Math" pitchFamily="18" charset="0"/>
                          <a:ea typeface="Cambria Math" pitchFamily="18" charset="0"/>
                        </a:rPr>
                        <a:t>DocId</a:t>
                      </a:r>
                      <a:endParaRPr lang="en-IN" sz="1600" dirty="0">
                        <a:latin typeface="Cambria Math" pitchFamily="18" charset="0"/>
                        <a:ea typeface="Cambria Math" pitchFamily="18" charset="0"/>
                      </a:endParaRPr>
                    </a:p>
                  </a:txBody>
                  <a:tcPr/>
                </a:tc>
                <a:tc>
                  <a:txBody>
                    <a:bodyPr/>
                    <a:lstStyle/>
                    <a:p>
                      <a:r>
                        <a:rPr lang="en-US" sz="1600" dirty="0" smtClean="0">
                          <a:latin typeface="Cambria Math" pitchFamily="18" charset="0"/>
                          <a:ea typeface="Cambria Math" pitchFamily="18" charset="0"/>
                        </a:rPr>
                        <a:t>Content</a:t>
                      </a:r>
                      <a:endParaRPr lang="en-IN" sz="1600" dirty="0">
                        <a:latin typeface="Cambria Math" pitchFamily="18" charset="0"/>
                        <a:ea typeface="Cambria Math" pitchFamily="18" charset="0"/>
                      </a:endParaRPr>
                    </a:p>
                  </a:txBody>
                  <a:tcPr/>
                </a:tc>
              </a:tr>
              <a:tr h="370840">
                <a:tc>
                  <a:txBody>
                    <a:bodyPr/>
                    <a:lstStyle/>
                    <a:p>
                      <a:r>
                        <a:rPr lang="en-US" sz="1600" dirty="0" smtClean="0">
                          <a:latin typeface="Cambria Math" pitchFamily="18" charset="0"/>
                          <a:ea typeface="Cambria Math" pitchFamily="18" charset="0"/>
                        </a:rPr>
                        <a:t>D1</a:t>
                      </a:r>
                      <a:endParaRPr lang="en-IN" sz="1600" dirty="0">
                        <a:latin typeface="Cambria Math" pitchFamily="18" charset="0"/>
                        <a:ea typeface="Cambria Math" pitchFamily="18" charset="0"/>
                      </a:endParaRPr>
                    </a:p>
                  </a:txBody>
                  <a:tcPr/>
                </a:tc>
                <a:tc>
                  <a:txBody>
                    <a:bodyPr/>
                    <a:lstStyle/>
                    <a:p>
                      <a:r>
                        <a:rPr lang="en-US" sz="1600" dirty="0" smtClean="0">
                          <a:latin typeface="Cambria Math" pitchFamily="18" charset="0"/>
                          <a:ea typeface="Cambria Math" pitchFamily="18" charset="0"/>
                        </a:rPr>
                        <a:t>Climate change is causing glaciers to melt rapidly in the Arctic region</a:t>
                      </a:r>
                    </a:p>
                  </a:txBody>
                  <a:tcPr/>
                </a:tc>
              </a:tr>
              <a:tr h="367454">
                <a:tc>
                  <a:txBody>
                    <a:bodyPr/>
                    <a:lstStyle/>
                    <a:p>
                      <a:r>
                        <a:rPr lang="en-US" sz="1600" dirty="0" smtClean="0">
                          <a:latin typeface="Cambria Math" pitchFamily="18" charset="0"/>
                          <a:ea typeface="Cambria Math" pitchFamily="18" charset="0"/>
                        </a:rPr>
                        <a:t>D2</a:t>
                      </a:r>
                      <a:endParaRPr lang="en-IN" sz="1600" dirty="0">
                        <a:latin typeface="Cambria Math" pitchFamily="18" charset="0"/>
                        <a:ea typeface="Cambria Math"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Cambria Math" pitchFamily="18" charset="0"/>
                          <a:ea typeface="Cambria Math" pitchFamily="18" charset="0"/>
                        </a:rPr>
                        <a:t>Glaciers in the Arctic are melting at an alarming rate due to rising temperatures</a:t>
                      </a:r>
                      <a:endParaRPr lang="en-IN" sz="1600" dirty="0">
                        <a:latin typeface="Cambria Math" pitchFamily="18" charset="0"/>
                        <a:ea typeface="Cambria Math" pitchFamily="18" charset="0"/>
                      </a:endParaRPr>
                    </a:p>
                  </a:txBody>
                  <a:tcPr/>
                </a:tc>
              </a:tr>
              <a:tr h="370840">
                <a:tc>
                  <a:txBody>
                    <a:bodyPr/>
                    <a:lstStyle/>
                    <a:p>
                      <a:r>
                        <a:rPr lang="en-US" sz="1600" dirty="0" smtClean="0">
                          <a:latin typeface="Cambria Math" pitchFamily="18" charset="0"/>
                          <a:ea typeface="Cambria Math" pitchFamily="18" charset="0"/>
                        </a:rPr>
                        <a:t>D3</a:t>
                      </a:r>
                      <a:endParaRPr lang="en-IN" sz="1600" dirty="0">
                        <a:latin typeface="Cambria Math" pitchFamily="18" charset="0"/>
                        <a:ea typeface="Cambria Math" pitchFamily="18" charset="0"/>
                      </a:endParaRPr>
                    </a:p>
                  </a:txBody>
                  <a:tcPr/>
                </a:tc>
                <a:tc>
                  <a:txBody>
                    <a:bodyPr/>
                    <a:lstStyle/>
                    <a:p>
                      <a:r>
                        <a:rPr lang="en-US" sz="1600" dirty="0" smtClean="0">
                          <a:latin typeface="Cambria Math" pitchFamily="18" charset="0"/>
                          <a:ea typeface="Cambria Math" pitchFamily="18" charset="0"/>
                        </a:rPr>
                        <a:t>Deforestation in the Amazon is accelerating global climate change</a:t>
                      </a:r>
                      <a:endParaRPr lang="en-IN" sz="1600" dirty="0">
                        <a:latin typeface="Cambria Math" pitchFamily="18" charset="0"/>
                        <a:ea typeface="Cambria Math" pitchFamily="18" charset="0"/>
                      </a:endParaRPr>
                    </a:p>
                  </a:txBody>
                  <a:tcPr/>
                </a:tc>
              </a:tr>
              <a:tr h="370840">
                <a:tc>
                  <a:txBody>
                    <a:bodyPr/>
                    <a:lstStyle/>
                    <a:p>
                      <a:r>
                        <a:rPr lang="en-US" sz="1600" dirty="0" smtClean="0">
                          <a:latin typeface="Cambria Math" pitchFamily="18" charset="0"/>
                          <a:ea typeface="Cambria Math" pitchFamily="18" charset="0"/>
                        </a:rPr>
                        <a:t>D4</a:t>
                      </a:r>
                      <a:endParaRPr lang="en-IN" sz="1600" dirty="0">
                        <a:latin typeface="Cambria Math" pitchFamily="18" charset="0"/>
                        <a:ea typeface="Cambria Math" pitchFamily="18" charset="0"/>
                      </a:endParaRPr>
                    </a:p>
                  </a:txBody>
                  <a:tcPr/>
                </a:tc>
                <a:tc>
                  <a:txBody>
                    <a:bodyPr/>
                    <a:lstStyle/>
                    <a:p>
                      <a:r>
                        <a:rPr lang="en-US" sz="1600" dirty="0" smtClean="0">
                          <a:latin typeface="Cambria Math" pitchFamily="18" charset="0"/>
                          <a:ea typeface="Cambria Math" pitchFamily="18" charset="0"/>
                        </a:rPr>
                        <a:t>Climate change is increasing the frequency of wildfires in California.</a:t>
                      </a:r>
                      <a:endParaRPr lang="en-IN" sz="1600" dirty="0">
                        <a:latin typeface="Cambria Math" pitchFamily="18" charset="0"/>
                        <a:ea typeface="Cambria Math" pitchFamily="18" charset="0"/>
                      </a:endParaRPr>
                    </a:p>
                  </a:txBody>
                  <a:tcPr/>
                </a:tc>
              </a:tr>
              <a:tr h="370840">
                <a:tc>
                  <a:txBody>
                    <a:bodyPr/>
                    <a:lstStyle/>
                    <a:p>
                      <a:r>
                        <a:rPr lang="en-US" sz="1600" dirty="0" smtClean="0">
                          <a:latin typeface="Cambria Math" pitchFamily="18" charset="0"/>
                          <a:ea typeface="Cambria Math" pitchFamily="18" charset="0"/>
                        </a:rPr>
                        <a:t>D5</a:t>
                      </a:r>
                      <a:endParaRPr lang="en-IN" sz="1600" dirty="0">
                        <a:latin typeface="Cambria Math" pitchFamily="18" charset="0"/>
                        <a:ea typeface="Cambria Math" pitchFamily="18" charset="0"/>
                      </a:endParaRPr>
                    </a:p>
                  </a:txBody>
                  <a:tcPr/>
                </a:tc>
                <a:tc>
                  <a:txBody>
                    <a:bodyPr/>
                    <a:lstStyle/>
                    <a:p>
                      <a:r>
                        <a:rPr lang="en-US" sz="1600" dirty="0" smtClean="0">
                          <a:latin typeface="Cambria Math" pitchFamily="18" charset="0"/>
                          <a:ea typeface="Cambria Math" pitchFamily="18" charset="0"/>
                        </a:rPr>
                        <a:t>Rising sea levels due to climate change threaten coastal cities like Mumbai and New York</a:t>
                      </a:r>
                      <a:endParaRPr lang="en-IN" sz="1600" dirty="0">
                        <a:latin typeface="Cambria Math" pitchFamily="18" charset="0"/>
                        <a:ea typeface="Cambria Math" pitchFamily="18" charset="0"/>
                      </a:endParaRPr>
                    </a:p>
                  </a:txBody>
                  <a:tcPr/>
                </a:tc>
              </a:tr>
            </a:tbl>
          </a:graphicData>
        </a:graphic>
      </p:graphicFrame>
      <p:grpSp>
        <p:nvGrpSpPr>
          <p:cNvPr id="10" name="Group 9"/>
          <p:cNvGrpSpPr/>
          <p:nvPr/>
        </p:nvGrpSpPr>
        <p:grpSpPr>
          <a:xfrm>
            <a:off x="1515895" y="3778284"/>
            <a:ext cx="2951018" cy="1200329"/>
            <a:chOff x="1510146" y="3983457"/>
            <a:chExt cx="2951018" cy="1200329"/>
          </a:xfrm>
        </p:grpSpPr>
        <p:sp>
          <p:nvSpPr>
            <p:cNvPr id="3" name="Rectangle 2"/>
            <p:cNvSpPr/>
            <p:nvPr/>
          </p:nvSpPr>
          <p:spPr>
            <a:xfrm>
              <a:off x="1510146" y="3983457"/>
              <a:ext cx="1380121" cy="400110"/>
            </a:xfrm>
            <a:prstGeom prst="rect">
              <a:avLst/>
            </a:prstGeom>
          </p:spPr>
          <p:txBody>
            <a:bodyPr wrap="none">
              <a:spAutoFit/>
            </a:bodyPr>
            <a:lstStyle/>
            <a:p>
              <a:r>
                <a:rPr lang="en-IN" sz="1600" dirty="0">
                  <a:latin typeface="Cambria Math" pitchFamily="18" charset="0"/>
                  <a:ea typeface="Cambria Math" pitchFamily="18" charset="0"/>
                </a:rPr>
                <a:t>Top 3 results</a:t>
              </a:r>
              <a:r>
                <a:rPr lang="en-IN" sz="2000" dirty="0">
                  <a:latin typeface="Cambria Math" pitchFamily="18" charset="0"/>
                  <a:ea typeface="Cambria Math" pitchFamily="18" charset="0"/>
                </a:rPr>
                <a:t>:</a:t>
              </a:r>
            </a:p>
          </p:txBody>
        </p:sp>
        <p:sp>
          <p:nvSpPr>
            <p:cNvPr id="5" name="Rectangle 4"/>
            <p:cNvSpPr/>
            <p:nvPr/>
          </p:nvSpPr>
          <p:spPr>
            <a:xfrm>
              <a:off x="1510146" y="4352789"/>
              <a:ext cx="2951018" cy="830997"/>
            </a:xfrm>
            <a:prstGeom prst="rect">
              <a:avLst/>
            </a:prstGeom>
            <a:solidFill>
              <a:schemeClr val="accent6">
                <a:lumMod val="20000"/>
                <a:lumOff val="80000"/>
              </a:schemeClr>
            </a:solidFill>
            <a:ln>
              <a:solidFill>
                <a:srgbClr val="92D050"/>
              </a:solidFill>
            </a:ln>
          </p:spPr>
          <p:txBody>
            <a:bodyPr wrap="square">
              <a:spAutoFit/>
            </a:bodyPr>
            <a:lstStyle/>
            <a:p>
              <a:r>
                <a:rPr lang="en-US" sz="1600" dirty="0">
                  <a:latin typeface="Cambria Math" pitchFamily="18" charset="0"/>
                  <a:ea typeface="Cambria Math" pitchFamily="18" charset="0"/>
                </a:rPr>
                <a:t>D1: Arctic glaciers melting</a:t>
              </a:r>
            </a:p>
            <a:p>
              <a:r>
                <a:rPr lang="en-US" sz="1600" dirty="0">
                  <a:latin typeface="Cambria Math" pitchFamily="18" charset="0"/>
                  <a:ea typeface="Cambria Math" pitchFamily="18" charset="0"/>
                </a:rPr>
                <a:t>D2: Arctic glaciers melting</a:t>
              </a:r>
            </a:p>
            <a:p>
              <a:r>
                <a:rPr lang="en-US" sz="1600" dirty="0">
                  <a:latin typeface="Cambria Math" pitchFamily="18" charset="0"/>
                  <a:ea typeface="Cambria Math" pitchFamily="18" charset="0"/>
                </a:rPr>
                <a:t>D3: Deforestation in Amazon</a:t>
              </a:r>
              <a:endParaRPr lang="en-IN" sz="1600" dirty="0">
                <a:latin typeface="Cambria Math" pitchFamily="18" charset="0"/>
                <a:ea typeface="Cambria Math" pitchFamily="18" charset="0"/>
              </a:endParaRPr>
            </a:p>
          </p:txBody>
        </p:sp>
      </p:grpSp>
      <p:grpSp>
        <p:nvGrpSpPr>
          <p:cNvPr id="20" name="Group 19"/>
          <p:cNvGrpSpPr/>
          <p:nvPr/>
        </p:nvGrpSpPr>
        <p:grpSpPr>
          <a:xfrm>
            <a:off x="5375564" y="3697618"/>
            <a:ext cx="6537030" cy="1420879"/>
            <a:chOff x="5375564" y="3697618"/>
            <a:chExt cx="6537030" cy="1420879"/>
          </a:xfrm>
        </p:grpSpPr>
        <p:grpSp>
          <p:nvGrpSpPr>
            <p:cNvPr id="12" name="Group 11"/>
            <p:cNvGrpSpPr/>
            <p:nvPr/>
          </p:nvGrpSpPr>
          <p:grpSpPr>
            <a:xfrm>
              <a:off x="8407470" y="3702358"/>
              <a:ext cx="3505124" cy="1416139"/>
              <a:chOff x="7889118" y="3702358"/>
              <a:chExt cx="3505124" cy="1416139"/>
            </a:xfrm>
          </p:grpSpPr>
          <p:sp>
            <p:nvSpPr>
              <p:cNvPr id="9" name="Rectangle 8"/>
              <p:cNvSpPr/>
              <p:nvPr/>
            </p:nvSpPr>
            <p:spPr>
              <a:xfrm>
                <a:off x="7889118" y="3702358"/>
                <a:ext cx="1367297" cy="338554"/>
              </a:xfrm>
              <a:prstGeom prst="rect">
                <a:avLst/>
              </a:prstGeom>
            </p:spPr>
            <p:txBody>
              <a:bodyPr wrap="none">
                <a:spAutoFit/>
              </a:bodyPr>
              <a:lstStyle/>
              <a:p>
                <a:r>
                  <a:rPr lang="en-IN" sz="1600" dirty="0">
                    <a:latin typeface="Cambria Math" pitchFamily="18" charset="0"/>
                    <a:ea typeface="Cambria Math" pitchFamily="18" charset="0"/>
                  </a:rPr>
                  <a:t>Top 3 results:</a:t>
                </a:r>
              </a:p>
            </p:txBody>
          </p:sp>
          <p:sp>
            <p:nvSpPr>
              <p:cNvPr id="11" name="Rectangle 10"/>
              <p:cNvSpPr/>
              <p:nvPr/>
            </p:nvSpPr>
            <p:spPr>
              <a:xfrm>
                <a:off x="7950341" y="4041279"/>
                <a:ext cx="3443901" cy="1077218"/>
              </a:xfrm>
              <a:prstGeom prst="rect">
                <a:avLst/>
              </a:prstGeom>
              <a:solidFill>
                <a:schemeClr val="accent4">
                  <a:lumMod val="20000"/>
                  <a:lumOff val="80000"/>
                </a:schemeClr>
              </a:solidFill>
              <a:ln>
                <a:solidFill>
                  <a:srgbClr val="FFC000"/>
                </a:solidFill>
              </a:ln>
            </p:spPr>
            <p:txBody>
              <a:bodyPr wrap="square">
                <a:spAutoFit/>
              </a:bodyPr>
              <a:lstStyle/>
              <a:p>
                <a:pPr marL="342900" indent="-342900">
                  <a:buFont typeface="+mj-lt"/>
                  <a:buAutoNum type="arabicPeriod"/>
                </a:pPr>
                <a:r>
                  <a:rPr lang="en-US" sz="1600" dirty="0">
                    <a:latin typeface="Cambria Math" pitchFamily="18" charset="0"/>
                    <a:ea typeface="Cambria Math" pitchFamily="18" charset="0"/>
                  </a:rPr>
                  <a:t>D1: Arctic glaciers melting</a:t>
                </a:r>
              </a:p>
              <a:p>
                <a:pPr marL="342900" indent="-342900">
                  <a:buFont typeface="+mj-lt"/>
                  <a:buAutoNum type="arabicPeriod"/>
                </a:pPr>
                <a:r>
                  <a:rPr lang="en-US" sz="1600" dirty="0">
                    <a:latin typeface="Cambria Math" pitchFamily="18" charset="0"/>
                    <a:ea typeface="Cambria Math" pitchFamily="18" charset="0"/>
                  </a:rPr>
                  <a:t>D4: Wildfires in California</a:t>
                </a:r>
              </a:p>
              <a:p>
                <a:pPr marL="342900" indent="-342900">
                  <a:buFont typeface="+mj-lt"/>
                  <a:buAutoNum type="arabicPeriod"/>
                </a:pPr>
                <a:r>
                  <a:rPr lang="en-US" sz="1600" dirty="0">
                    <a:latin typeface="Cambria Math" pitchFamily="18" charset="0"/>
                    <a:ea typeface="Cambria Math" pitchFamily="18" charset="0"/>
                  </a:rPr>
                  <a:t>D5: Rising sea levels in coastal cities</a:t>
                </a:r>
                <a:endParaRPr lang="en-IN" sz="1600" dirty="0">
                  <a:latin typeface="Cambria Math" pitchFamily="18" charset="0"/>
                  <a:ea typeface="Cambria Math" pitchFamily="18" charset="0"/>
                </a:endParaRPr>
              </a:p>
            </p:txBody>
          </p:sp>
        </p:grpSp>
        <p:sp>
          <p:nvSpPr>
            <p:cNvPr id="14" name="Rectangle 13"/>
            <p:cNvSpPr/>
            <p:nvPr/>
          </p:nvSpPr>
          <p:spPr>
            <a:xfrm>
              <a:off x="5375564" y="3697618"/>
              <a:ext cx="2743199" cy="584775"/>
            </a:xfrm>
            <a:prstGeom prst="rect">
              <a:avLst/>
            </a:prstGeom>
          </p:spPr>
          <p:txBody>
            <a:bodyPr wrap="square">
              <a:spAutoFit/>
            </a:bodyPr>
            <a:lstStyle/>
            <a:p>
              <a:r>
                <a:rPr lang="en-IN" sz="1600" dirty="0" smtClean="0">
                  <a:latin typeface="Cambria Math" pitchFamily="18" charset="0"/>
                  <a:ea typeface="Cambria Math" pitchFamily="18" charset="0"/>
                </a:rPr>
                <a:t>- Diverse perspective</a:t>
              </a:r>
            </a:p>
            <a:p>
              <a:r>
                <a:rPr lang="en-US" sz="1600" dirty="0" smtClean="0">
                  <a:latin typeface="Cambria Math" pitchFamily="18" charset="0"/>
                  <a:ea typeface="Cambria Math" pitchFamily="18" charset="0"/>
                </a:rPr>
                <a:t>- Relevant </a:t>
              </a:r>
              <a:r>
                <a:rPr lang="en-US" sz="1600" dirty="0">
                  <a:latin typeface="Cambria Math" pitchFamily="18" charset="0"/>
                  <a:ea typeface="Cambria Math" pitchFamily="18" charset="0"/>
                </a:rPr>
                <a:t>but less </a:t>
              </a:r>
              <a:r>
                <a:rPr lang="en-US" sz="1600" dirty="0" smtClean="0">
                  <a:latin typeface="Cambria Math" pitchFamily="18" charset="0"/>
                  <a:ea typeface="Cambria Math" pitchFamily="18" charset="0"/>
                </a:rPr>
                <a:t>redundant</a:t>
              </a:r>
              <a:endParaRPr lang="en-IN" sz="1600" dirty="0">
                <a:latin typeface="Cambria Math" pitchFamily="18" charset="0"/>
                <a:ea typeface="Cambria Math" pitchFamily="18" charset="0"/>
              </a:endParaRPr>
            </a:p>
          </p:txBody>
        </p:sp>
      </p:grpSp>
      <p:cxnSp>
        <p:nvCxnSpPr>
          <p:cNvPr id="16" name="Straight Connector 15"/>
          <p:cNvCxnSpPr/>
          <p:nvPr/>
        </p:nvCxnSpPr>
        <p:spPr>
          <a:xfrm>
            <a:off x="5029200" y="3438269"/>
            <a:ext cx="0" cy="1480249"/>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48877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grpSp>
        <p:nvGrpSpPr>
          <p:cNvPr id="9" name="Group 8"/>
          <p:cNvGrpSpPr/>
          <p:nvPr/>
        </p:nvGrpSpPr>
        <p:grpSpPr>
          <a:xfrm>
            <a:off x="346364" y="211994"/>
            <a:ext cx="3948546" cy="369332"/>
            <a:chOff x="1717964" y="211994"/>
            <a:chExt cx="3948546" cy="369332"/>
          </a:xfrm>
          <a:solidFill>
            <a:srgbClr val="FF5050"/>
          </a:solidFill>
        </p:grpSpPr>
        <p:sp>
          <p:nvSpPr>
            <p:cNvPr id="10" name="Rectangle 9"/>
            <p:cNvSpPr/>
            <p:nvPr/>
          </p:nvSpPr>
          <p:spPr>
            <a:xfrm>
              <a:off x="1865602" y="211994"/>
              <a:ext cx="3385271" cy="369332"/>
            </a:xfrm>
            <a:prstGeom prst="rect">
              <a:avLst/>
            </a:prstGeom>
            <a:grpFill/>
            <a:ln>
              <a:solidFill>
                <a:srgbClr val="FF5050"/>
              </a:solidFill>
            </a:ln>
          </p:spPr>
          <p:txBody>
            <a:bodyPr wrap="square">
              <a:spAutoFit/>
            </a:bodyPr>
            <a:lstStyle/>
            <a:p>
              <a:r>
                <a:rPr lang="en-IN" b="1" dirty="0" smtClean="0">
                  <a:solidFill>
                    <a:schemeClr val="bg1"/>
                  </a:solidFill>
                </a:rPr>
                <a:t>Maximum Marginal Relevance</a:t>
              </a:r>
              <a:endParaRPr lang="en-IN" b="1" dirty="0">
                <a:solidFill>
                  <a:schemeClr val="bg1"/>
                </a:solidFill>
              </a:endParaRPr>
            </a:p>
          </p:txBody>
        </p:sp>
        <p:cxnSp>
          <p:nvCxnSpPr>
            <p:cNvPr id="11" name="Straight Connector 10"/>
            <p:cNvCxnSpPr/>
            <p:nvPr/>
          </p:nvCxnSpPr>
          <p:spPr>
            <a:xfrm>
              <a:off x="1717964" y="211994"/>
              <a:ext cx="3948546" cy="0"/>
            </a:xfrm>
            <a:prstGeom prst="line">
              <a:avLst/>
            </a:prstGeom>
            <a:grpFill/>
            <a:ln>
              <a:solidFill>
                <a:srgbClr val="FF5050"/>
              </a:solidFill>
            </a:ln>
          </p:spPr>
          <p:style>
            <a:lnRef idx="1">
              <a:schemeClr val="accent1"/>
            </a:lnRef>
            <a:fillRef idx="0">
              <a:schemeClr val="accent1"/>
            </a:fillRef>
            <a:effectRef idx="0">
              <a:schemeClr val="accent1"/>
            </a:effectRef>
            <a:fontRef idx="minor">
              <a:schemeClr val="tx1"/>
            </a:fontRef>
          </p:style>
        </p:cxnSp>
      </p:grpSp>
      <p:sp>
        <p:nvSpPr>
          <p:cNvPr id="12" name="Rectangle 11"/>
          <p:cNvSpPr/>
          <p:nvPr/>
        </p:nvSpPr>
        <p:spPr>
          <a:xfrm>
            <a:off x="1911926" y="999944"/>
            <a:ext cx="10280073" cy="338554"/>
          </a:xfrm>
          <a:prstGeom prst="rect">
            <a:avLst/>
          </a:prstGeom>
        </p:spPr>
        <p:txBody>
          <a:bodyPr wrap="square">
            <a:spAutoFit/>
          </a:bodyPr>
          <a:lstStyle/>
          <a:p>
            <a:r>
              <a:rPr lang="en-US" sz="1600" dirty="0"/>
              <a:t>"How can we pick results that are not only relevant to the query but also different from </a:t>
            </a:r>
            <a:r>
              <a:rPr lang="en-US" sz="1600" dirty="0" smtClean="0"/>
              <a:t>each”</a:t>
            </a:r>
            <a:endParaRPr lang="en-IN" sz="1600" dirty="0"/>
          </a:p>
        </p:txBody>
      </p:sp>
      <p:grpSp>
        <p:nvGrpSpPr>
          <p:cNvPr id="20" name="Group 19"/>
          <p:cNvGrpSpPr/>
          <p:nvPr/>
        </p:nvGrpSpPr>
        <p:grpSpPr>
          <a:xfrm>
            <a:off x="1510142" y="1751111"/>
            <a:ext cx="10529457" cy="914400"/>
            <a:chOff x="1510142" y="1751111"/>
            <a:chExt cx="10529457" cy="914400"/>
          </a:xfrm>
        </p:grpSpPr>
        <p:sp>
          <p:nvSpPr>
            <p:cNvPr id="13" name="Rectangle 12"/>
            <p:cNvSpPr/>
            <p:nvPr/>
          </p:nvSpPr>
          <p:spPr>
            <a:xfrm>
              <a:off x="1510144" y="1900535"/>
              <a:ext cx="10529455" cy="615553"/>
            </a:xfrm>
            <a:prstGeom prst="rect">
              <a:avLst/>
            </a:prstGeom>
          </p:spPr>
          <p:txBody>
            <a:bodyPr wrap="square">
              <a:spAutoFit/>
            </a:bodyPr>
            <a:lstStyle/>
            <a:p>
              <a:r>
                <a:rPr lang="en-US" dirty="0">
                  <a:latin typeface="Arial Rounded MT Bold" pitchFamily="34" charset="0"/>
                </a:rPr>
                <a:t>MMR</a:t>
              </a:r>
              <a:r>
                <a:rPr lang="en-US" dirty="0"/>
                <a:t> </a:t>
              </a:r>
              <a:r>
                <a:rPr lang="en-US" sz="1600" dirty="0"/>
                <a:t>is an information retrieval algorithm designed to reduce redundancy in the results while maintaining high relevance to the query.</a:t>
              </a:r>
              <a:endParaRPr lang="en-IN" sz="1600" dirty="0"/>
            </a:p>
          </p:txBody>
        </p:sp>
        <p:cxnSp>
          <p:nvCxnSpPr>
            <p:cNvPr id="15" name="Straight Connector 14"/>
            <p:cNvCxnSpPr/>
            <p:nvPr/>
          </p:nvCxnSpPr>
          <p:spPr>
            <a:xfrm>
              <a:off x="1510144" y="1751111"/>
              <a:ext cx="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510142" y="1751111"/>
              <a:ext cx="6974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1510143" y="2665511"/>
              <a:ext cx="697489"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1" name="Rectangle 20"/>
          <p:cNvSpPr/>
          <p:nvPr/>
        </p:nvSpPr>
        <p:spPr>
          <a:xfrm>
            <a:off x="1510144" y="3059667"/>
            <a:ext cx="2502480" cy="369332"/>
          </a:xfrm>
          <a:prstGeom prst="rect">
            <a:avLst/>
          </a:prstGeom>
        </p:spPr>
        <p:txBody>
          <a:bodyPr wrap="none">
            <a:spAutoFit/>
          </a:bodyPr>
          <a:lstStyle/>
          <a:p>
            <a:r>
              <a:rPr lang="en-IN" dirty="0">
                <a:latin typeface="Arial Rounded MT Bold" pitchFamily="34" charset="0"/>
              </a:rPr>
              <a:t>Why MMR Retriever?</a:t>
            </a:r>
          </a:p>
        </p:txBody>
      </p:sp>
      <p:sp>
        <p:nvSpPr>
          <p:cNvPr id="22" name="Rectangle 21"/>
          <p:cNvSpPr/>
          <p:nvPr/>
        </p:nvSpPr>
        <p:spPr>
          <a:xfrm>
            <a:off x="2119309" y="3445363"/>
            <a:ext cx="9130581" cy="923330"/>
          </a:xfrm>
          <a:prstGeom prst="rect">
            <a:avLst/>
          </a:prstGeom>
        </p:spPr>
        <p:txBody>
          <a:bodyPr wrap="square">
            <a:spAutoFit/>
          </a:bodyPr>
          <a:lstStyle/>
          <a:p>
            <a:r>
              <a:rPr lang="en-US" dirty="0"/>
              <a:t>In regular similarity search, you may get documents that are</a:t>
            </a:r>
          </a:p>
          <a:p>
            <a:pPr lvl="1"/>
            <a:r>
              <a:rPr lang="en-US" dirty="0"/>
              <a:t>• All very similar to each </a:t>
            </a:r>
            <a:r>
              <a:rPr lang="en-US" dirty="0" smtClean="0"/>
              <a:t>other Repeating </a:t>
            </a:r>
            <a:r>
              <a:rPr lang="en-US" dirty="0"/>
              <a:t>the same info</a:t>
            </a:r>
          </a:p>
          <a:p>
            <a:pPr lvl="1"/>
            <a:r>
              <a:rPr lang="en-US" dirty="0"/>
              <a:t>• Lacking diverse perspectives</a:t>
            </a:r>
            <a:endParaRPr lang="en-IN" dirty="0"/>
          </a:p>
        </p:txBody>
      </p:sp>
      <p:sp>
        <p:nvSpPr>
          <p:cNvPr id="23" name="Rectangle 22"/>
          <p:cNvSpPr/>
          <p:nvPr/>
        </p:nvSpPr>
        <p:spPr>
          <a:xfrm>
            <a:off x="2147454" y="4505328"/>
            <a:ext cx="8936181" cy="1200329"/>
          </a:xfrm>
          <a:prstGeom prst="rect">
            <a:avLst/>
          </a:prstGeom>
        </p:spPr>
        <p:txBody>
          <a:bodyPr wrap="square">
            <a:spAutoFit/>
          </a:bodyPr>
          <a:lstStyle/>
          <a:p>
            <a:r>
              <a:rPr lang="en-US" dirty="0"/>
              <a:t>MMR Retriever avoids that by</a:t>
            </a:r>
            <a:r>
              <a:rPr lang="en-US" dirty="0" smtClean="0"/>
              <a:t>:</a:t>
            </a:r>
            <a:endParaRPr lang="en-US" dirty="0"/>
          </a:p>
          <a:p>
            <a:pPr marL="742950" lvl="1" indent="-285750">
              <a:buFont typeface="Wingdings" pitchFamily="2" charset="2"/>
              <a:buChar char="§"/>
            </a:pPr>
            <a:r>
              <a:rPr lang="en-US" dirty="0"/>
              <a:t>Picking the most relevant document first</a:t>
            </a:r>
          </a:p>
          <a:p>
            <a:pPr marL="742950" lvl="1" indent="-285750">
              <a:buFont typeface="Wingdings" pitchFamily="2" charset="2"/>
              <a:buChar char="§"/>
            </a:pPr>
            <a:r>
              <a:rPr lang="en-US" dirty="0" smtClean="0"/>
              <a:t>Then </a:t>
            </a:r>
            <a:r>
              <a:rPr lang="en-US" dirty="0"/>
              <a:t>picking the next most relevant </a:t>
            </a:r>
            <a:r>
              <a:rPr lang="en-US" dirty="0" smtClean="0"/>
              <a:t>that are not  similar </a:t>
            </a:r>
            <a:r>
              <a:rPr lang="en-US" dirty="0"/>
              <a:t>to already selected docs</a:t>
            </a:r>
          </a:p>
          <a:p>
            <a:pPr marL="742950" lvl="1" indent="-285750">
              <a:buFont typeface="Wingdings" pitchFamily="2" charset="2"/>
              <a:buChar char="§"/>
            </a:pPr>
            <a:r>
              <a:rPr lang="en-US" dirty="0"/>
              <a:t>And so on...</a:t>
            </a:r>
            <a:endParaRPr lang="en-IN" dirty="0"/>
          </a:p>
        </p:txBody>
      </p:sp>
    </p:spTree>
    <p:extLst>
      <p:ext uri="{BB962C8B-B14F-4D97-AF65-F5344CB8AC3E}">
        <p14:creationId xmlns:p14="http://schemas.microsoft.com/office/powerpoint/2010/main" val="30048068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290945" y="335846"/>
            <a:ext cx="11734799" cy="3877985"/>
          </a:xfrm>
          <a:prstGeom prst="rect">
            <a:avLst/>
          </a:prstGeom>
          <a:solidFill>
            <a:schemeClr val="tx1">
              <a:lumMod val="85000"/>
              <a:lumOff val="15000"/>
            </a:schemeClr>
          </a:solidFill>
          <a:ln>
            <a:solidFill>
              <a:schemeClr val="bg1">
                <a:lumMod val="95000"/>
              </a:schemeClr>
            </a:solidFill>
          </a:ln>
        </p:spPr>
        <p:txBody>
          <a:bodyPr wrap="square">
            <a:spAutoFit/>
          </a:bodyPr>
          <a:lstStyle/>
          <a:p>
            <a:r>
              <a:rPr lang="en-IN" sz="1600" dirty="0">
                <a:solidFill>
                  <a:srgbClr val="FF0066"/>
                </a:solidFill>
                <a:latin typeface="Bahnschrift Light" pitchFamily="34" charset="0"/>
                <a:ea typeface="Cambria Math" pitchFamily="18" charset="0"/>
              </a:rPr>
              <a:t>from</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langchain_chroma</a:t>
            </a:r>
            <a:r>
              <a:rPr lang="en-IN" sz="1600" dirty="0">
                <a:latin typeface="Bahnschrift Light" pitchFamily="34" charset="0"/>
                <a:ea typeface="Cambria Math" pitchFamily="18" charset="0"/>
              </a:rPr>
              <a:t> </a:t>
            </a:r>
            <a:r>
              <a:rPr lang="en-IN" sz="1600" dirty="0">
                <a:solidFill>
                  <a:srgbClr val="FF0066"/>
                </a:solidFill>
                <a:latin typeface="Bahnschrift Light" pitchFamily="34" charset="0"/>
                <a:ea typeface="Cambria Math" pitchFamily="18" charset="0"/>
              </a:rPr>
              <a:t>import</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Chroma</a:t>
            </a:r>
          </a:p>
          <a:p>
            <a:r>
              <a:rPr lang="en-IN" sz="1600" dirty="0">
                <a:solidFill>
                  <a:srgbClr val="FF0066"/>
                </a:solidFill>
                <a:latin typeface="Bahnschrift Light" pitchFamily="34" charset="0"/>
                <a:ea typeface="Cambria Math" pitchFamily="18" charset="0"/>
              </a:rPr>
              <a:t>from</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langchain_google_genai</a:t>
            </a:r>
            <a:r>
              <a:rPr lang="en-IN" sz="1600" dirty="0">
                <a:latin typeface="Bahnschrift Light" pitchFamily="34" charset="0"/>
                <a:ea typeface="Cambria Math" pitchFamily="18" charset="0"/>
              </a:rPr>
              <a:t> </a:t>
            </a:r>
            <a:r>
              <a:rPr lang="en-IN" sz="1600" dirty="0">
                <a:solidFill>
                  <a:srgbClr val="FF0066"/>
                </a:solidFill>
                <a:latin typeface="Bahnschrift Light" pitchFamily="34" charset="0"/>
                <a:ea typeface="Cambria Math" pitchFamily="18" charset="0"/>
              </a:rPr>
              <a:t>import</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GoogleGenerativeAIEmbeddings</a:t>
            </a:r>
          </a:p>
          <a:p>
            <a:r>
              <a:rPr lang="en-IN" sz="1600" dirty="0">
                <a:solidFill>
                  <a:srgbClr val="FF0066"/>
                </a:solidFill>
                <a:latin typeface="Bahnschrift Light" pitchFamily="34" charset="0"/>
                <a:ea typeface="Cambria Math" pitchFamily="18" charset="0"/>
              </a:rPr>
              <a:t>from</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dotenv</a:t>
            </a:r>
            <a:r>
              <a:rPr lang="en-IN" sz="1600" dirty="0">
                <a:latin typeface="Bahnschrift Light" pitchFamily="34" charset="0"/>
                <a:ea typeface="Cambria Math" pitchFamily="18" charset="0"/>
              </a:rPr>
              <a:t> </a:t>
            </a:r>
            <a:r>
              <a:rPr lang="en-IN" sz="1600" dirty="0">
                <a:solidFill>
                  <a:srgbClr val="FF0066"/>
                </a:solidFill>
                <a:latin typeface="Bahnschrift Light" pitchFamily="34" charset="0"/>
                <a:ea typeface="Cambria Math" pitchFamily="18" charset="0"/>
              </a:rPr>
              <a:t>import</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load_dotenv</a:t>
            </a:r>
          </a:p>
          <a:p>
            <a:r>
              <a:rPr lang="en-IN" sz="1600" dirty="0">
                <a:solidFill>
                  <a:srgbClr val="FF0066"/>
                </a:solidFill>
                <a:latin typeface="Bahnschrift Light" pitchFamily="34" charset="0"/>
                <a:ea typeface="Cambria Math" pitchFamily="18" charset="0"/>
              </a:rPr>
              <a:t>from</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langchain.schema</a:t>
            </a:r>
            <a:r>
              <a:rPr lang="en-IN" sz="1600" dirty="0">
                <a:latin typeface="Bahnschrift Light" pitchFamily="34" charset="0"/>
                <a:ea typeface="Cambria Math" pitchFamily="18" charset="0"/>
              </a:rPr>
              <a:t> </a:t>
            </a:r>
            <a:r>
              <a:rPr lang="en-IN" sz="1600" dirty="0">
                <a:solidFill>
                  <a:srgbClr val="FF0066"/>
                </a:solidFill>
                <a:latin typeface="Bahnschrift Light" pitchFamily="34" charset="0"/>
                <a:ea typeface="Cambria Math" pitchFamily="18" charset="0"/>
              </a:rPr>
              <a:t>import</a:t>
            </a:r>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Document</a:t>
            </a:r>
          </a:p>
          <a:p>
            <a:r>
              <a:rPr lang="en-IN" sz="1600" dirty="0">
                <a:latin typeface="Bahnschrift Light" pitchFamily="34" charset="0"/>
                <a:ea typeface="Cambria Math" pitchFamily="18" charset="0"/>
              </a:rPr>
              <a:t/>
            </a:r>
            <a:br>
              <a:rPr lang="en-IN" sz="1600" dirty="0">
                <a:latin typeface="Bahnschrift Light" pitchFamily="34" charset="0"/>
                <a:ea typeface="Cambria Math" pitchFamily="18" charset="0"/>
              </a:rPr>
            </a:br>
            <a:r>
              <a:rPr lang="en-IN" sz="1600" dirty="0">
                <a:solidFill>
                  <a:schemeClr val="accent4">
                    <a:lumMod val="75000"/>
                  </a:schemeClr>
                </a:solidFill>
                <a:latin typeface="Bahnschrift Light" pitchFamily="34" charset="0"/>
                <a:ea typeface="Cambria Math" pitchFamily="18" charset="0"/>
              </a:rPr>
              <a:t>load_dotenv</a:t>
            </a:r>
            <a:r>
              <a:rPr lang="en-IN" sz="1600" dirty="0" smtClean="0">
                <a:solidFill>
                  <a:schemeClr val="accent4">
                    <a:lumMod val="75000"/>
                  </a:schemeClr>
                </a:solidFill>
                <a:latin typeface="Bahnschrift Light" pitchFamily="34" charset="0"/>
                <a:ea typeface="Cambria Math" pitchFamily="18" charset="0"/>
              </a:rPr>
              <a:t>( )</a:t>
            </a:r>
            <a:endParaRPr lang="en-IN" sz="1600" dirty="0">
              <a:solidFill>
                <a:schemeClr val="accent4">
                  <a:lumMod val="75000"/>
                </a:schemeClr>
              </a:solidFill>
              <a:latin typeface="Bahnschrift Light" pitchFamily="34" charset="0"/>
              <a:ea typeface="Cambria Math" pitchFamily="18" charset="0"/>
            </a:endParaRPr>
          </a:p>
          <a:p>
            <a:r>
              <a:rPr lang="en-IN" sz="1600" dirty="0">
                <a:latin typeface="Bahnschrift Light" pitchFamily="34" charset="0"/>
                <a:ea typeface="Cambria Math" pitchFamily="18" charset="0"/>
              </a:rPr>
              <a:t/>
            </a:r>
            <a:br>
              <a:rPr lang="en-IN" sz="1600" dirty="0">
                <a:latin typeface="Bahnschrift Light" pitchFamily="34" charset="0"/>
                <a:ea typeface="Cambria Math" pitchFamily="18" charset="0"/>
              </a:rPr>
            </a:br>
            <a:r>
              <a:rPr lang="en-IN" sz="1600" dirty="0">
                <a:solidFill>
                  <a:srgbClr val="0070C0"/>
                </a:solidFill>
                <a:latin typeface="Bahnschrift Light" pitchFamily="34" charset="0"/>
                <a:ea typeface="Cambria Math" pitchFamily="18" charset="0"/>
              </a:rPr>
              <a:t>docs</a:t>
            </a:r>
            <a:r>
              <a:rPr lang="en-IN" sz="1600" dirty="0">
                <a:latin typeface="Bahnschrift Light" pitchFamily="34" charset="0"/>
                <a:ea typeface="Cambria Math" pitchFamily="18" charset="0"/>
              </a:rPr>
              <a:t> </a:t>
            </a:r>
            <a:r>
              <a:rPr lang="en-IN" sz="1600" dirty="0">
                <a:solidFill>
                  <a:schemeClr val="bg1"/>
                </a:solidFill>
                <a:latin typeface="Bahnschrift Light" pitchFamily="34" charset="0"/>
                <a:ea typeface="Cambria Math" pitchFamily="18" charset="0"/>
              </a:rPr>
              <a:t>= [</a:t>
            </a:r>
          </a:p>
          <a:p>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Document</a:t>
            </a:r>
            <a:r>
              <a:rPr lang="en-IN" sz="1600" dirty="0">
                <a:solidFill>
                  <a:srgbClr val="00B0F0"/>
                </a:solidFill>
                <a:latin typeface="Bahnschrift Light" pitchFamily="34" charset="0"/>
                <a:ea typeface="Cambria Math" pitchFamily="18" charset="0"/>
              </a:rPr>
              <a:t>(page_content=</a:t>
            </a:r>
            <a:r>
              <a:rPr lang="en-IN" sz="1600" dirty="0">
                <a:solidFill>
                  <a:srgbClr val="FF5050"/>
                </a:solidFill>
                <a:latin typeface="Bahnschrift Light" pitchFamily="34" charset="0"/>
                <a:ea typeface="Cambria Math" pitchFamily="18" charset="0"/>
              </a:rPr>
              <a:t>"LangChain makes it easy to work with LLMs."),</a:t>
            </a:r>
          </a:p>
          <a:p>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Document</a:t>
            </a:r>
            <a:r>
              <a:rPr lang="en-IN" sz="1600" dirty="0">
                <a:solidFill>
                  <a:srgbClr val="00B0F0"/>
                </a:solidFill>
                <a:latin typeface="Bahnschrift Light" pitchFamily="34" charset="0"/>
                <a:ea typeface="Cambria Math" pitchFamily="18" charset="0"/>
              </a:rPr>
              <a:t>(page_content=</a:t>
            </a:r>
            <a:r>
              <a:rPr lang="en-IN" sz="1600" dirty="0">
                <a:latin typeface="Bahnschrift Light" pitchFamily="34" charset="0"/>
                <a:ea typeface="Cambria Math" pitchFamily="18" charset="0"/>
              </a:rPr>
              <a:t>"</a:t>
            </a:r>
            <a:r>
              <a:rPr lang="en-IN" sz="1600" dirty="0">
                <a:solidFill>
                  <a:srgbClr val="FF5050"/>
                </a:solidFill>
                <a:latin typeface="Bahnschrift Light" pitchFamily="34" charset="0"/>
                <a:ea typeface="Cambria Math" pitchFamily="18" charset="0"/>
              </a:rPr>
              <a:t>LangChain is used to build LLM based applications</a:t>
            </a:r>
            <a:r>
              <a:rPr lang="en-IN" sz="1600" dirty="0">
                <a:solidFill>
                  <a:schemeClr val="bg1"/>
                </a:solidFill>
                <a:latin typeface="Bahnschrift Light" pitchFamily="34" charset="0"/>
                <a:ea typeface="Cambria Math" pitchFamily="18" charset="0"/>
              </a:rPr>
              <a:t>."),</a:t>
            </a:r>
          </a:p>
          <a:p>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Document</a:t>
            </a:r>
            <a:r>
              <a:rPr lang="en-IN" sz="1600" dirty="0">
                <a:solidFill>
                  <a:srgbClr val="00B0F0"/>
                </a:solidFill>
                <a:latin typeface="Bahnschrift Light" pitchFamily="34" charset="0"/>
                <a:ea typeface="Cambria Math" pitchFamily="18" charset="0"/>
              </a:rPr>
              <a:t>(page_content=</a:t>
            </a:r>
            <a:r>
              <a:rPr lang="en-IN" sz="1600" dirty="0">
                <a:latin typeface="Bahnschrift Light" pitchFamily="34" charset="0"/>
                <a:ea typeface="Cambria Math" pitchFamily="18" charset="0"/>
              </a:rPr>
              <a:t>"</a:t>
            </a:r>
            <a:r>
              <a:rPr lang="en-IN" sz="1600" dirty="0">
                <a:solidFill>
                  <a:srgbClr val="FF5050"/>
                </a:solidFill>
                <a:latin typeface="Bahnschrift Light" pitchFamily="34" charset="0"/>
                <a:ea typeface="Cambria Math" pitchFamily="18" charset="0"/>
              </a:rPr>
              <a:t>Chroma is used to store and search document embeddings</a:t>
            </a:r>
            <a:r>
              <a:rPr lang="en-IN" sz="1600" dirty="0">
                <a:solidFill>
                  <a:schemeClr val="bg1"/>
                </a:solidFill>
                <a:latin typeface="Bahnschrift Light" pitchFamily="34" charset="0"/>
                <a:ea typeface="Cambria Math" pitchFamily="18" charset="0"/>
              </a:rPr>
              <a:t>."),</a:t>
            </a:r>
          </a:p>
          <a:p>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Document</a:t>
            </a:r>
            <a:r>
              <a:rPr lang="en-IN" sz="1600" dirty="0">
                <a:solidFill>
                  <a:srgbClr val="00B0F0"/>
                </a:solidFill>
                <a:latin typeface="Bahnschrift Light" pitchFamily="34" charset="0"/>
                <a:ea typeface="Cambria Math" pitchFamily="18" charset="0"/>
              </a:rPr>
              <a:t>(page_content=</a:t>
            </a:r>
            <a:r>
              <a:rPr lang="en-IN" sz="1600" dirty="0">
                <a:latin typeface="Bahnschrift Light" pitchFamily="34" charset="0"/>
                <a:ea typeface="Cambria Math" pitchFamily="18" charset="0"/>
              </a:rPr>
              <a:t>"</a:t>
            </a:r>
            <a:r>
              <a:rPr lang="en-IN" sz="1600" dirty="0">
                <a:solidFill>
                  <a:srgbClr val="FF5050"/>
                </a:solidFill>
                <a:latin typeface="Bahnschrift Light" pitchFamily="34" charset="0"/>
                <a:ea typeface="Cambria Math" pitchFamily="18" charset="0"/>
              </a:rPr>
              <a:t>Embeddings are vector representations of text</a:t>
            </a:r>
            <a:r>
              <a:rPr lang="en-IN" sz="1600" dirty="0">
                <a:solidFill>
                  <a:schemeClr val="bg1"/>
                </a:solidFill>
                <a:latin typeface="Bahnschrift Light" pitchFamily="34" charset="0"/>
                <a:ea typeface="Cambria Math" pitchFamily="18" charset="0"/>
              </a:rPr>
              <a:t>."),</a:t>
            </a:r>
          </a:p>
          <a:p>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Document</a:t>
            </a:r>
            <a:r>
              <a:rPr lang="en-IN" sz="1600" dirty="0">
                <a:solidFill>
                  <a:srgbClr val="00B0F0"/>
                </a:solidFill>
                <a:latin typeface="Bahnschrift Light" pitchFamily="34" charset="0"/>
                <a:ea typeface="Cambria Math" pitchFamily="18" charset="0"/>
              </a:rPr>
              <a:t>(page_content=</a:t>
            </a:r>
            <a:r>
              <a:rPr lang="en-IN" sz="1600" dirty="0">
                <a:latin typeface="Bahnschrift Light" pitchFamily="34" charset="0"/>
                <a:ea typeface="Cambria Math" pitchFamily="18" charset="0"/>
              </a:rPr>
              <a:t>"</a:t>
            </a:r>
            <a:r>
              <a:rPr lang="en-IN" sz="1600" dirty="0">
                <a:solidFill>
                  <a:srgbClr val="FF5050"/>
                </a:solidFill>
                <a:latin typeface="Bahnschrift Light" pitchFamily="34" charset="0"/>
                <a:ea typeface="Cambria Math" pitchFamily="18" charset="0"/>
              </a:rPr>
              <a:t>MMR helps you get diverse results when doing similarity search</a:t>
            </a:r>
            <a:r>
              <a:rPr lang="en-IN" sz="1600" dirty="0">
                <a:solidFill>
                  <a:schemeClr val="bg1"/>
                </a:solidFill>
                <a:latin typeface="Bahnschrift Light" pitchFamily="34" charset="0"/>
                <a:ea typeface="Cambria Math" pitchFamily="18" charset="0"/>
              </a:rPr>
              <a:t>."),</a:t>
            </a:r>
          </a:p>
          <a:p>
            <a:r>
              <a:rPr lang="en-IN" sz="1600" dirty="0">
                <a:latin typeface="Bahnschrift Light" pitchFamily="34" charset="0"/>
                <a:ea typeface="Cambria Math" pitchFamily="18" charset="0"/>
              </a:rPr>
              <a:t>   </a:t>
            </a:r>
            <a:r>
              <a:rPr lang="en-IN" sz="1600" dirty="0">
                <a:solidFill>
                  <a:srgbClr val="00CC99"/>
                </a:solidFill>
                <a:latin typeface="Bahnschrift Light" pitchFamily="34" charset="0"/>
                <a:ea typeface="Cambria Math" pitchFamily="18" charset="0"/>
              </a:rPr>
              <a:t> Document(</a:t>
            </a:r>
            <a:r>
              <a:rPr lang="en-IN" sz="1600" dirty="0">
                <a:solidFill>
                  <a:srgbClr val="00B0F0"/>
                </a:solidFill>
                <a:latin typeface="Bahnschrift Light" pitchFamily="34" charset="0"/>
                <a:ea typeface="Cambria Math" pitchFamily="18" charset="0"/>
              </a:rPr>
              <a:t>page_content="</a:t>
            </a:r>
            <a:r>
              <a:rPr lang="en-IN" sz="1600" dirty="0">
                <a:solidFill>
                  <a:srgbClr val="FF5050"/>
                </a:solidFill>
                <a:latin typeface="Bahnschrift Light" pitchFamily="34" charset="0"/>
                <a:ea typeface="Cambria Math" pitchFamily="18" charset="0"/>
              </a:rPr>
              <a:t>LangChain supports Chroma, FAISS, Pinecone, and more</a:t>
            </a:r>
            <a:r>
              <a:rPr lang="en-IN" sz="1600" dirty="0">
                <a:solidFill>
                  <a:schemeClr val="bg1"/>
                </a:solidFill>
                <a:latin typeface="Bahnschrift Light" pitchFamily="34" charset="0"/>
                <a:ea typeface="Cambria Math" pitchFamily="18" charset="0"/>
              </a:rPr>
              <a:t>.")</a:t>
            </a:r>
          </a:p>
          <a:p>
            <a:r>
              <a:rPr lang="en-IN" sz="1600" dirty="0">
                <a:solidFill>
                  <a:schemeClr val="bg1"/>
                </a:solidFill>
                <a:latin typeface="Bahnschrift Light" pitchFamily="34" charset="0"/>
                <a:ea typeface="Cambria Math" pitchFamily="18" charset="0"/>
              </a:rPr>
              <a:t>]</a:t>
            </a:r>
          </a:p>
        </p:txBody>
      </p:sp>
      <p:sp>
        <p:nvSpPr>
          <p:cNvPr id="3" name="Rectangle 2"/>
          <p:cNvSpPr/>
          <p:nvPr/>
        </p:nvSpPr>
        <p:spPr>
          <a:xfrm>
            <a:off x="290945" y="4450140"/>
            <a:ext cx="11734799" cy="1815882"/>
          </a:xfrm>
          <a:prstGeom prst="rect">
            <a:avLst/>
          </a:prstGeom>
          <a:solidFill>
            <a:schemeClr val="tx1">
              <a:lumMod val="85000"/>
              <a:lumOff val="15000"/>
            </a:schemeClr>
          </a:solidFill>
          <a:ln>
            <a:solidFill>
              <a:schemeClr val="bg1">
                <a:lumMod val="95000"/>
              </a:schemeClr>
            </a:solidFill>
          </a:ln>
        </p:spPr>
        <p:txBody>
          <a:bodyPr wrap="square">
            <a:spAutoFit/>
          </a:bodyPr>
          <a:lstStyle/>
          <a:p>
            <a:r>
              <a:rPr lang="en-IN" sz="1600" dirty="0">
                <a:solidFill>
                  <a:srgbClr val="0070C0"/>
                </a:solidFill>
                <a:latin typeface="Bahnschrift Light" pitchFamily="34" charset="0"/>
              </a:rPr>
              <a:t>embeddings</a:t>
            </a:r>
            <a:r>
              <a:rPr lang="en-IN" sz="1600" dirty="0">
                <a:latin typeface="Bahnschrift Light" pitchFamily="34" charset="0"/>
              </a:rPr>
              <a:t> </a:t>
            </a:r>
            <a:r>
              <a:rPr lang="en-IN" sz="1600" dirty="0">
                <a:solidFill>
                  <a:schemeClr val="bg1"/>
                </a:solidFill>
                <a:latin typeface="Bahnschrift Light" pitchFamily="34" charset="0"/>
              </a:rPr>
              <a:t>=</a:t>
            </a:r>
            <a:r>
              <a:rPr lang="en-IN" sz="1600" dirty="0">
                <a:latin typeface="Bahnschrift Light" pitchFamily="34" charset="0"/>
              </a:rPr>
              <a:t> </a:t>
            </a:r>
            <a:r>
              <a:rPr lang="en-IN" sz="1600" dirty="0">
                <a:solidFill>
                  <a:srgbClr val="00CC99"/>
                </a:solidFill>
                <a:latin typeface="Bahnschrift Light" pitchFamily="34" charset="0"/>
              </a:rPr>
              <a:t>GoogleGenerativeAIEmbeddings</a:t>
            </a:r>
            <a:r>
              <a:rPr lang="en-IN" sz="1600" dirty="0">
                <a:solidFill>
                  <a:schemeClr val="bg1"/>
                </a:solidFill>
                <a:latin typeface="Bahnschrift Light" pitchFamily="34" charset="0"/>
              </a:rPr>
              <a:t>(</a:t>
            </a:r>
            <a:r>
              <a:rPr lang="en-IN" sz="1600" dirty="0">
                <a:solidFill>
                  <a:srgbClr val="0070C0"/>
                </a:solidFill>
                <a:latin typeface="Bahnschrift Light" pitchFamily="34" charset="0"/>
              </a:rPr>
              <a:t>model</a:t>
            </a:r>
            <a:r>
              <a:rPr lang="en-IN" sz="1600" dirty="0">
                <a:solidFill>
                  <a:schemeClr val="bg1"/>
                </a:solidFill>
                <a:latin typeface="Bahnschrift Light" pitchFamily="34" charset="0"/>
              </a:rPr>
              <a:t>=</a:t>
            </a:r>
            <a:r>
              <a:rPr lang="en-IN" sz="1600" dirty="0">
                <a:solidFill>
                  <a:srgbClr val="00CC99"/>
                </a:solidFill>
                <a:latin typeface="Bahnschrift Light" pitchFamily="34" charset="0"/>
              </a:rPr>
              <a:t>"models/embedding-001")</a:t>
            </a:r>
          </a:p>
          <a:p>
            <a:r>
              <a:rPr lang="en-IN" sz="1600" dirty="0">
                <a:latin typeface="Bahnschrift Light" pitchFamily="34" charset="0"/>
              </a:rPr>
              <a:t/>
            </a:r>
            <a:br>
              <a:rPr lang="en-IN" sz="1600" dirty="0">
                <a:latin typeface="Bahnschrift Light" pitchFamily="34" charset="0"/>
              </a:rPr>
            </a:br>
            <a:r>
              <a:rPr lang="en-IN" sz="1600" dirty="0">
                <a:solidFill>
                  <a:srgbClr val="0070C0"/>
                </a:solidFill>
                <a:latin typeface="Bahnschrift Light" pitchFamily="34" charset="0"/>
              </a:rPr>
              <a:t>store</a:t>
            </a:r>
            <a:r>
              <a:rPr lang="en-IN" sz="1600" dirty="0">
                <a:solidFill>
                  <a:srgbClr val="00CC99"/>
                </a:solidFill>
                <a:latin typeface="Bahnschrift Light" pitchFamily="34" charset="0"/>
              </a:rPr>
              <a:t>=Chroma(</a:t>
            </a:r>
          </a:p>
          <a:p>
            <a:r>
              <a:rPr lang="en-IN" sz="1600" dirty="0">
                <a:latin typeface="Bahnschrift Light" pitchFamily="34" charset="0"/>
              </a:rPr>
              <a:t>    </a:t>
            </a:r>
            <a:r>
              <a:rPr lang="en-IN" sz="1600" dirty="0">
                <a:solidFill>
                  <a:srgbClr val="0070C0"/>
                </a:solidFill>
                <a:latin typeface="Bahnschrift Light" pitchFamily="34" charset="0"/>
              </a:rPr>
              <a:t>embedding_function</a:t>
            </a:r>
            <a:r>
              <a:rPr lang="en-IN" sz="1600" dirty="0">
                <a:latin typeface="Bahnschrift Light" pitchFamily="34" charset="0"/>
              </a:rPr>
              <a:t>=</a:t>
            </a:r>
            <a:r>
              <a:rPr lang="en-IN" sz="1600" dirty="0">
                <a:solidFill>
                  <a:srgbClr val="0070C0"/>
                </a:solidFill>
                <a:latin typeface="Bahnschrift Light" pitchFamily="34" charset="0"/>
              </a:rPr>
              <a:t>embeddings</a:t>
            </a:r>
            <a:r>
              <a:rPr lang="en-IN" sz="1600" dirty="0">
                <a:latin typeface="Bahnschrift Light" pitchFamily="34" charset="0"/>
              </a:rPr>
              <a:t>,</a:t>
            </a:r>
          </a:p>
          <a:p>
            <a:r>
              <a:rPr lang="en-IN" sz="1600" dirty="0">
                <a:latin typeface="Bahnschrift Light" pitchFamily="34" charset="0"/>
              </a:rPr>
              <a:t>    </a:t>
            </a:r>
            <a:r>
              <a:rPr lang="en-IN" sz="1600" dirty="0">
                <a:solidFill>
                  <a:srgbClr val="0070C0"/>
                </a:solidFill>
                <a:latin typeface="Bahnschrift Light" pitchFamily="34" charset="0"/>
              </a:rPr>
              <a:t>collection_name</a:t>
            </a:r>
            <a:r>
              <a:rPr lang="en-IN" sz="1600" dirty="0">
                <a:solidFill>
                  <a:srgbClr val="FF5050"/>
                </a:solidFill>
                <a:latin typeface="Bahnschrift Light" pitchFamily="34" charset="0"/>
              </a:rPr>
              <a:t>="sample_1",</a:t>
            </a:r>
          </a:p>
          <a:p>
            <a:r>
              <a:rPr lang="en-IN" sz="1600" dirty="0">
                <a:latin typeface="Bahnschrift Light" pitchFamily="34" charset="0"/>
              </a:rPr>
              <a:t>  </a:t>
            </a:r>
            <a:r>
              <a:rPr lang="en-IN" sz="1600" dirty="0">
                <a:solidFill>
                  <a:srgbClr val="0070C0"/>
                </a:solidFill>
                <a:latin typeface="Bahnschrift Light" pitchFamily="34" charset="0"/>
              </a:rPr>
              <a:t>  persist_directory</a:t>
            </a:r>
            <a:r>
              <a:rPr lang="en-IN" sz="1600" dirty="0">
                <a:solidFill>
                  <a:srgbClr val="FF5050"/>
                </a:solidFill>
                <a:latin typeface="Bahnschrift Light" pitchFamily="34" charset="0"/>
              </a:rPr>
              <a:t>="testingdb_1"</a:t>
            </a:r>
          </a:p>
          <a:p>
            <a:r>
              <a:rPr lang="en-IN" sz="1600" dirty="0" smtClean="0">
                <a:solidFill>
                  <a:schemeClr val="bg1"/>
                </a:solidFill>
                <a:latin typeface="Bahnschrift Light" pitchFamily="34" charset="0"/>
              </a:rPr>
              <a:t>)</a:t>
            </a:r>
            <a:endParaRPr lang="en-IN" sz="1600" dirty="0">
              <a:solidFill>
                <a:schemeClr val="bg1"/>
              </a:solidFill>
              <a:latin typeface="Bahnschrift Light" pitchFamily="34" charset="0"/>
            </a:endParaRPr>
          </a:p>
        </p:txBody>
      </p:sp>
    </p:spTree>
    <p:extLst>
      <p:ext uri="{BB962C8B-B14F-4D97-AF65-F5344CB8AC3E}">
        <p14:creationId xmlns:p14="http://schemas.microsoft.com/office/powerpoint/2010/main" val="57351478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2" name="Rectangle 1"/>
          <p:cNvSpPr/>
          <p:nvPr/>
        </p:nvSpPr>
        <p:spPr>
          <a:xfrm>
            <a:off x="471056" y="252350"/>
            <a:ext cx="11236035" cy="2554545"/>
          </a:xfrm>
          <a:prstGeom prst="rect">
            <a:avLst/>
          </a:prstGeom>
          <a:solidFill>
            <a:schemeClr val="tx1">
              <a:lumMod val="85000"/>
              <a:lumOff val="15000"/>
            </a:schemeClr>
          </a:solidFill>
        </p:spPr>
        <p:txBody>
          <a:bodyPr wrap="square">
            <a:spAutoFit/>
          </a:bodyPr>
          <a:lstStyle/>
          <a:p>
            <a:r>
              <a:rPr lang="en-IN" sz="1600" dirty="0">
                <a:solidFill>
                  <a:srgbClr val="00CC99"/>
                </a:solidFill>
                <a:latin typeface="Bahnschrift Light" pitchFamily="34" charset="0"/>
              </a:rPr>
              <a:t>retriever </a:t>
            </a:r>
            <a:r>
              <a:rPr lang="en-IN" sz="1600" dirty="0">
                <a:solidFill>
                  <a:schemeClr val="bg1"/>
                </a:solidFill>
                <a:latin typeface="Bahnschrift Light" pitchFamily="34" charset="0"/>
              </a:rPr>
              <a:t>= </a:t>
            </a:r>
            <a:r>
              <a:rPr lang="en-IN" sz="1600" dirty="0">
                <a:solidFill>
                  <a:srgbClr val="00CC99"/>
                </a:solidFill>
                <a:latin typeface="Bahnschrift Light" pitchFamily="34" charset="0"/>
              </a:rPr>
              <a:t>store</a:t>
            </a:r>
            <a:r>
              <a:rPr lang="en-IN" sz="1600" dirty="0">
                <a:latin typeface="Bahnschrift Light" pitchFamily="34" charset="0"/>
              </a:rPr>
              <a:t>.</a:t>
            </a:r>
            <a:r>
              <a:rPr lang="en-IN" sz="1600" dirty="0">
                <a:solidFill>
                  <a:schemeClr val="accent4">
                    <a:lumMod val="50000"/>
                  </a:schemeClr>
                </a:solidFill>
                <a:latin typeface="Bahnschrift Light" pitchFamily="34" charset="0"/>
              </a:rPr>
              <a:t>as_retriever(</a:t>
            </a:r>
          </a:p>
          <a:p>
            <a:r>
              <a:rPr lang="en-IN" sz="1600" dirty="0">
                <a:latin typeface="Bahnschrift Light" pitchFamily="34" charset="0"/>
              </a:rPr>
              <a:t>    </a:t>
            </a:r>
            <a:r>
              <a:rPr lang="en-IN" sz="1600" dirty="0">
                <a:solidFill>
                  <a:srgbClr val="00CC99"/>
                </a:solidFill>
                <a:latin typeface="Bahnschrift Light" pitchFamily="34" charset="0"/>
              </a:rPr>
              <a:t>search_type</a:t>
            </a:r>
            <a:r>
              <a:rPr lang="en-IN" sz="1600" dirty="0">
                <a:solidFill>
                  <a:srgbClr val="FF5050"/>
                </a:solidFill>
                <a:latin typeface="Bahnschrift Light" pitchFamily="34" charset="0"/>
              </a:rPr>
              <a:t>="mmr", </a:t>
            </a:r>
            <a:r>
              <a:rPr lang="en-IN" sz="1600" dirty="0">
                <a:latin typeface="Bahnschrift Light" pitchFamily="34" charset="0"/>
              </a:rPr>
              <a:t>                </a:t>
            </a:r>
            <a:r>
              <a:rPr lang="en-IN" sz="1600" dirty="0">
                <a:solidFill>
                  <a:srgbClr val="00B050"/>
                </a:solidFill>
                <a:latin typeface="Bahnschrift Light" pitchFamily="34" charset="0"/>
              </a:rPr>
              <a:t>  # &lt;-- This enables MMR</a:t>
            </a:r>
          </a:p>
          <a:p>
            <a:r>
              <a:rPr lang="en-IN" sz="1600" dirty="0">
                <a:latin typeface="Bahnschrift Light" pitchFamily="34" charset="0"/>
              </a:rPr>
              <a:t>    </a:t>
            </a:r>
            <a:r>
              <a:rPr lang="en-IN" sz="1600" dirty="0">
                <a:solidFill>
                  <a:srgbClr val="00CC99"/>
                </a:solidFill>
                <a:latin typeface="Bahnschrift Light" pitchFamily="34" charset="0"/>
              </a:rPr>
              <a:t>search_kwargs</a:t>
            </a:r>
            <a:r>
              <a:rPr lang="en-IN" sz="1600" dirty="0" smtClean="0">
                <a:solidFill>
                  <a:schemeClr val="bg1"/>
                </a:solidFill>
                <a:latin typeface="Bahnschrift Light" pitchFamily="34" charset="0"/>
              </a:rPr>
              <a:t>={</a:t>
            </a:r>
            <a:r>
              <a:rPr lang="en-IN" sz="1600" dirty="0" smtClean="0">
                <a:solidFill>
                  <a:srgbClr val="0070C0"/>
                </a:solidFill>
                <a:latin typeface="Bahnschrift Light" pitchFamily="34" charset="0"/>
              </a:rPr>
              <a:t> </a:t>
            </a:r>
            <a:r>
              <a:rPr lang="en-IN" sz="1600" dirty="0" smtClean="0">
                <a:solidFill>
                  <a:srgbClr val="FF5050"/>
                </a:solidFill>
                <a:latin typeface="Bahnschrift Light" pitchFamily="34" charset="0"/>
              </a:rPr>
              <a:t>"k“</a:t>
            </a:r>
            <a:r>
              <a:rPr lang="en-IN" sz="1600" dirty="0" smtClean="0">
                <a:latin typeface="Bahnschrift Light" pitchFamily="34" charset="0"/>
              </a:rPr>
              <a:t> </a:t>
            </a:r>
            <a:r>
              <a:rPr lang="en-IN" sz="1600" dirty="0" smtClean="0">
                <a:solidFill>
                  <a:schemeClr val="bg1"/>
                </a:solidFill>
                <a:latin typeface="Bahnschrift Light" pitchFamily="34" charset="0"/>
              </a:rPr>
              <a:t>:</a:t>
            </a:r>
            <a:r>
              <a:rPr lang="en-IN" sz="1600" dirty="0" smtClean="0">
                <a:latin typeface="Bahnschrift Light" pitchFamily="34" charset="0"/>
              </a:rPr>
              <a:t> </a:t>
            </a:r>
            <a:r>
              <a:rPr lang="en-IN" sz="1600" dirty="0">
                <a:solidFill>
                  <a:srgbClr val="0070C0"/>
                </a:solidFill>
                <a:latin typeface="Bahnschrift Light" pitchFamily="34" charset="0"/>
              </a:rPr>
              <a:t>3</a:t>
            </a:r>
            <a:r>
              <a:rPr lang="en-IN" sz="1600" dirty="0">
                <a:latin typeface="Bahnschrift Light" pitchFamily="34" charset="0"/>
              </a:rPr>
              <a:t>, </a:t>
            </a:r>
            <a:r>
              <a:rPr lang="en-IN" sz="1600" dirty="0">
                <a:solidFill>
                  <a:srgbClr val="FF5050"/>
                </a:solidFill>
                <a:latin typeface="Bahnschrift Light" pitchFamily="34" charset="0"/>
              </a:rPr>
              <a:t>"lambda_mult": </a:t>
            </a:r>
            <a:r>
              <a:rPr lang="en-IN" sz="1600" dirty="0">
                <a:solidFill>
                  <a:srgbClr val="0070C0"/>
                </a:solidFill>
                <a:latin typeface="Bahnschrift Light" pitchFamily="34" charset="0"/>
              </a:rPr>
              <a:t>0.5} </a:t>
            </a:r>
            <a:r>
              <a:rPr lang="en-IN" sz="1600" dirty="0">
                <a:solidFill>
                  <a:srgbClr val="00B050"/>
                </a:solidFill>
                <a:latin typeface="Bahnschrift Light" pitchFamily="34" charset="0"/>
              </a:rPr>
              <a:t> # k = top results, lambda_mult = relevance-diversity balance</a:t>
            </a:r>
          </a:p>
          <a:p>
            <a:r>
              <a:rPr lang="en-IN" sz="1600" dirty="0">
                <a:solidFill>
                  <a:srgbClr val="0070C0"/>
                </a:solidFill>
                <a:latin typeface="Bahnschrift Light" pitchFamily="34" charset="0"/>
              </a:rPr>
              <a:t>)</a:t>
            </a:r>
          </a:p>
          <a:p>
            <a:r>
              <a:rPr lang="en-IN" sz="1600" dirty="0">
                <a:solidFill>
                  <a:srgbClr val="00CC99"/>
                </a:solidFill>
                <a:latin typeface="Bahnschrift Light" pitchFamily="34" charset="0"/>
              </a:rPr>
              <a:t>query </a:t>
            </a:r>
            <a:r>
              <a:rPr lang="en-IN" sz="1600" dirty="0">
                <a:solidFill>
                  <a:schemeClr val="bg1"/>
                </a:solidFill>
                <a:latin typeface="Bahnschrift Light" pitchFamily="34" charset="0"/>
              </a:rPr>
              <a:t>= </a:t>
            </a:r>
            <a:r>
              <a:rPr lang="en-IN" sz="1600" dirty="0">
                <a:solidFill>
                  <a:srgbClr val="FF5050"/>
                </a:solidFill>
                <a:latin typeface="Bahnschrift Light" pitchFamily="34" charset="0"/>
              </a:rPr>
              <a:t>"What is langchain?"</a:t>
            </a:r>
          </a:p>
          <a:p>
            <a:r>
              <a:rPr lang="en-IN" sz="1600" dirty="0">
                <a:solidFill>
                  <a:srgbClr val="00CC99"/>
                </a:solidFill>
                <a:latin typeface="Bahnschrift Light" pitchFamily="34" charset="0"/>
              </a:rPr>
              <a:t>results</a:t>
            </a:r>
            <a:r>
              <a:rPr lang="en-IN" sz="1600" dirty="0">
                <a:latin typeface="Bahnschrift Light" pitchFamily="34" charset="0"/>
              </a:rPr>
              <a:t> </a:t>
            </a:r>
            <a:r>
              <a:rPr lang="en-IN" sz="1600" dirty="0">
                <a:solidFill>
                  <a:schemeClr val="bg1"/>
                </a:solidFill>
                <a:latin typeface="Bahnschrift Light" pitchFamily="34" charset="0"/>
              </a:rPr>
              <a:t>= </a:t>
            </a:r>
            <a:r>
              <a:rPr lang="en-IN" sz="1600" dirty="0">
                <a:solidFill>
                  <a:srgbClr val="00CC99"/>
                </a:solidFill>
                <a:latin typeface="Bahnschrift Light" pitchFamily="34" charset="0"/>
              </a:rPr>
              <a:t>retriever.</a:t>
            </a:r>
            <a:r>
              <a:rPr lang="en-IN" sz="1600" dirty="0">
                <a:solidFill>
                  <a:srgbClr val="0070C0"/>
                </a:solidFill>
                <a:latin typeface="Bahnschrift Light" pitchFamily="34" charset="0"/>
              </a:rPr>
              <a:t>invoke(query)</a:t>
            </a:r>
          </a:p>
          <a:p>
            <a:r>
              <a:rPr lang="en-IN" sz="1600" dirty="0">
                <a:latin typeface="Bahnschrift Light" pitchFamily="34" charset="0"/>
              </a:rPr>
              <a:t/>
            </a:r>
            <a:br>
              <a:rPr lang="en-IN" sz="1600" dirty="0">
                <a:latin typeface="Bahnschrift Light" pitchFamily="34" charset="0"/>
              </a:rPr>
            </a:br>
            <a:r>
              <a:rPr lang="en-IN" sz="1600" dirty="0">
                <a:solidFill>
                  <a:srgbClr val="0070C0"/>
                </a:solidFill>
                <a:latin typeface="Bahnschrift Light" pitchFamily="34" charset="0"/>
              </a:rPr>
              <a:t>for</a:t>
            </a:r>
            <a:r>
              <a:rPr lang="en-IN" sz="1600" dirty="0">
                <a:latin typeface="Bahnschrift Light" pitchFamily="34" charset="0"/>
              </a:rPr>
              <a:t> </a:t>
            </a:r>
            <a:r>
              <a:rPr lang="en-IN" sz="1600" dirty="0">
                <a:solidFill>
                  <a:srgbClr val="00CC99"/>
                </a:solidFill>
                <a:latin typeface="Bahnschrift Light" pitchFamily="34" charset="0"/>
              </a:rPr>
              <a:t>i</a:t>
            </a:r>
            <a:r>
              <a:rPr lang="en-IN" sz="1600" dirty="0">
                <a:latin typeface="Bahnschrift Light" pitchFamily="34" charset="0"/>
              </a:rPr>
              <a:t>,</a:t>
            </a:r>
            <a:r>
              <a:rPr lang="en-IN" sz="1600" dirty="0">
                <a:solidFill>
                  <a:srgbClr val="00CC99"/>
                </a:solidFill>
                <a:latin typeface="Bahnschrift Light" pitchFamily="34" charset="0"/>
              </a:rPr>
              <a:t> doc </a:t>
            </a:r>
            <a:r>
              <a:rPr lang="en-IN" sz="1600" dirty="0">
                <a:solidFill>
                  <a:srgbClr val="0070C0"/>
                </a:solidFill>
                <a:latin typeface="Bahnschrift Light" pitchFamily="34" charset="0"/>
              </a:rPr>
              <a:t>in </a:t>
            </a:r>
            <a:r>
              <a:rPr lang="en-IN" sz="1600" dirty="0">
                <a:solidFill>
                  <a:schemeClr val="accent4">
                    <a:lumMod val="50000"/>
                  </a:schemeClr>
                </a:solidFill>
                <a:latin typeface="Bahnschrift Light" pitchFamily="34" charset="0"/>
              </a:rPr>
              <a:t>enumerate</a:t>
            </a:r>
            <a:r>
              <a:rPr lang="en-IN" sz="1600" dirty="0">
                <a:solidFill>
                  <a:srgbClr val="0070C0"/>
                </a:solidFill>
                <a:latin typeface="Bahnschrift Light" pitchFamily="34" charset="0"/>
              </a:rPr>
              <a:t>(</a:t>
            </a:r>
            <a:r>
              <a:rPr lang="en-IN" sz="1600" dirty="0">
                <a:solidFill>
                  <a:srgbClr val="00CC99"/>
                </a:solidFill>
                <a:latin typeface="Bahnschrift Light" pitchFamily="34" charset="0"/>
              </a:rPr>
              <a:t>results</a:t>
            </a:r>
            <a:r>
              <a:rPr lang="en-IN" sz="1600" dirty="0">
                <a:solidFill>
                  <a:srgbClr val="0070C0"/>
                </a:solidFill>
                <a:latin typeface="Bahnschrift Light" pitchFamily="34" charset="0"/>
              </a:rPr>
              <a:t>):</a:t>
            </a:r>
          </a:p>
          <a:p>
            <a:r>
              <a:rPr lang="en-IN" sz="1600" dirty="0">
                <a:latin typeface="Bahnschrift Light" pitchFamily="34" charset="0"/>
              </a:rPr>
              <a:t>    </a:t>
            </a:r>
            <a:r>
              <a:rPr lang="en-IN" sz="1600" dirty="0">
                <a:solidFill>
                  <a:schemeClr val="accent4">
                    <a:lumMod val="50000"/>
                  </a:schemeClr>
                </a:solidFill>
                <a:latin typeface="Bahnschrift Light" pitchFamily="34" charset="0"/>
              </a:rPr>
              <a:t>prin</a:t>
            </a:r>
            <a:r>
              <a:rPr lang="en-IN" sz="1600" dirty="0">
                <a:solidFill>
                  <a:srgbClr val="0070C0"/>
                </a:solidFill>
                <a:latin typeface="Bahnschrift Light" pitchFamily="34" charset="0"/>
              </a:rPr>
              <a:t>t(f</a:t>
            </a:r>
            <a:r>
              <a:rPr lang="en-IN" sz="1600" dirty="0">
                <a:solidFill>
                  <a:srgbClr val="FF5050"/>
                </a:solidFill>
                <a:latin typeface="Bahnschrift Light" pitchFamily="34" charset="0"/>
              </a:rPr>
              <a:t>"\n--- Result </a:t>
            </a:r>
            <a:r>
              <a:rPr lang="en-IN" sz="1600" dirty="0">
                <a:latin typeface="Bahnschrift Light" pitchFamily="34" charset="0"/>
              </a:rPr>
              <a:t>{</a:t>
            </a:r>
            <a:r>
              <a:rPr lang="en-IN" sz="1600" dirty="0">
                <a:solidFill>
                  <a:srgbClr val="0070C0"/>
                </a:solidFill>
                <a:latin typeface="Bahnschrift Light" pitchFamily="34" charset="0"/>
              </a:rPr>
              <a:t>i+1} </a:t>
            </a:r>
            <a:r>
              <a:rPr lang="en-IN" sz="1600" dirty="0">
                <a:solidFill>
                  <a:srgbClr val="FF5050"/>
                </a:solidFill>
                <a:latin typeface="Bahnschrift Light" pitchFamily="34" charset="0"/>
              </a:rPr>
              <a:t>---"</a:t>
            </a:r>
            <a:r>
              <a:rPr lang="en-IN" sz="1600" dirty="0">
                <a:solidFill>
                  <a:srgbClr val="0070C0"/>
                </a:solidFill>
                <a:latin typeface="Bahnschrift Light" pitchFamily="34" charset="0"/>
              </a:rPr>
              <a:t>)</a:t>
            </a:r>
          </a:p>
          <a:p>
            <a:r>
              <a:rPr lang="en-IN" sz="1600" dirty="0">
                <a:latin typeface="Bahnschrift Light" pitchFamily="34" charset="0"/>
              </a:rPr>
              <a:t>    </a:t>
            </a:r>
            <a:r>
              <a:rPr lang="en-IN" sz="1600" dirty="0">
                <a:solidFill>
                  <a:schemeClr val="accent4">
                    <a:lumMod val="50000"/>
                  </a:schemeClr>
                </a:solidFill>
                <a:latin typeface="Bahnschrift Light" pitchFamily="34" charset="0"/>
              </a:rPr>
              <a:t>print</a:t>
            </a:r>
            <a:r>
              <a:rPr lang="en-IN" sz="1600" dirty="0">
                <a:solidFill>
                  <a:srgbClr val="0070C0"/>
                </a:solidFill>
                <a:latin typeface="Bahnschrift Light" pitchFamily="34" charset="0"/>
              </a:rPr>
              <a:t>(</a:t>
            </a:r>
            <a:r>
              <a:rPr lang="en-IN" sz="1600" dirty="0">
                <a:solidFill>
                  <a:srgbClr val="00CC99"/>
                </a:solidFill>
                <a:latin typeface="Bahnschrift Light" pitchFamily="34" charset="0"/>
              </a:rPr>
              <a:t>doc.page_content</a:t>
            </a:r>
            <a:r>
              <a:rPr lang="en-IN" sz="1600" dirty="0">
                <a:solidFill>
                  <a:srgbClr val="0070C0"/>
                </a:solidFill>
                <a:latin typeface="Bahnschrift Light" pitchFamily="34" charset="0"/>
              </a:rPr>
              <a:t>)</a:t>
            </a:r>
          </a:p>
        </p:txBody>
      </p:sp>
      <p:sp>
        <p:nvSpPr>
          <p:cNvPr id="3" name="Rectangle 2"/>
          <p:cNvSpPr/>
          <p:nvPr/>
        </p:nvSpPr>
        <p:spPr>
          <a:xfrm>
            <a:off x="471056" y="3216947"/>
            <a:ext cx="11360726" cy="2123658"/>
          </a:xfrm>
          <a:prstGeom prst="rect">
            <a:avLst/>
          </a:prstGeom>
          <a:solidFill>
            <a:schemeClr val="accent6">
              <a:lumMod val="40000"/>
              <a:lumOff val="60000"/>
            </a:schemeClr>
          </a:solidFill>
        </p:spPr>
        <p:txBody>
          <a:bodyPr wrap="square">
            <a:spAutoFit/>
          </a:bodyPr>
          <a:lstStyle/>
          <a:p>
            <a:r>
              <a:rPr lang="en-US" sz="1600" dirty="0">
                <a:latin typeface="Bahnschrift Light" pitchFamily="34" charset="0"/>
              </a:rPr>
              <a:t>--- Result 1 ---</a:t>
            </a:r>
          </a:p>
          <a:p>
            <a:r>
              <a:rPr lang="en-US" sz="1600" dirty="0">
                <a:latin typeface="Bahnschrift Light" pitchFamily="34" charset="0"/>
              </a:rPr>
              <a:t>LangChain supports Chroma, FAISS, Pinecone, and more.</a:t>
            </a:r>
          </a:p>
          <a:p>
            <a:endParaRPr lang="en-US" sz="1600" dirty="0">
              <a:latin typeface="Bahnschrift Light" pitchFamily="34" charset="0"/>
            </a:endParaRPr>
          </a:p>
          <a:p>
            <a:r>
              <a:rPr lang="en-US" sz="1600" dirty="0">
                <a:latin typeface="Bahnschrift Light" pitchFamily="34" charset="0"/>
              </a:rPr>
              <a:t>--- Result 2 ---</a:t>
            </a:r>
          </a:p>
          <a:p>
            <a:r>
              <a:rPr lang="en-US" sz="1600" dirty="0">
                <a:latin typeface="Bahnschrift Light" pitchFamily="34" charset="0"/>
              </a:rPr>
              <a:t>LangChain is used to build LLM based applications.</a:t>
            </a:r>
          </a:p>
          <a:p>
            <a:endParaRPr lang="en-US" sz="1600" dirty="0">
              <a:latin typeface="Bahnschrift Light" pitchFamily="34" charset="0"/>
            </a:endParaRPr>
          </a:p>
          <a:p>
            <a:r>
              <a:rPr lang="en-US" sz="1600" dirty="0">
                <a:latin typeface="Bahnschrift Light" pitchFamily="34" charset="0"/>
              </a:rPr>
              <a:t>--- Result 3 ---</a:t>
            </a:r>
          </a:p>
          <a:p>
            <a:r>
              <a:rPr lang="en-US" sz="1600" dirty="0">
                <a:latin typeface="Bahnschrift Light" pitchFamily="34" charset="0"/>
              </a:rPr>
              <a:t>Embeddings are vector representations of text.</a:t>
            </a:r>
            <a:endParaRPr lang="en-IN" sz="1600" dirty="0">
              <a:latin typeface="Bahnschrift Light" pitchFamily="34" charset="0"/>
            </a:endParaRPr>
          </a:p>
        </p:txBody>
      </p:sp>
    </p:spTree>
    <p:extLst>
      <p:ext uri="{BB962C8B-B14F-4D97-AF65-F5344CB8AC3E}">
        <p14:creationId xmlns:p14="http://schemas.microsoft.com/office/powerpoint/2010/main" val="23689399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26806</TotalTime>
  <Words>3867</Words>
  <Application>Microsoft Office PowerPoint</Application>
  <PresentationFormat>Custom</PresentationFormat>
  <Paragraphs>584</Paragraphs>
  <Slides>43</Slides>
  <Notes>41</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1206</cp:revision>
  <dcterms:created xsi:type="dcterms:W3CDTF">2024-01-26T15:11:46Z</dcterms:created>
  <dcterms:modified xsi:type="dcterms:W3CDTF">2026-02-24T07:20:45Z</dcterms:modified>
</cp:coreProperties>
</file>