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23" r:id="rId2"/>
    <p:sldId id="256" r:id="rId3"/>
    <p:sldId id="422" r:id="rId4"/>
    <p:sldId id="439" r:id="rId5"/>
    <p:sldId id="440" r:id="rId6"/>
    <p:sldId id="448" r:id="rId7"/>
    <p:sldId id="447" r:id="rId8"/>
    <p:sldId id="442" r:id="rId9"/>
    <p:sldId id="443" r:id="rId10"/>
    <p:sldId id="446" r:id="rId11"/>
    <p:sldId id="444" r:id="rId12"/>
    <p:sldId id="445" r:id="rId13"/>
    <p:sldId id="41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  <p14:sldId id="256"/>
          </p14:sldIdLst>
        </p14:section>
        <p14:section name="Basics" id="{FEB3B35D-C60A-4223-8E10-10DFC2E07C67}">
          <p14:sldIdLst>
            <p14:sldId id="422"/>
            <p14:sldId id="439"/>
            <p14:sldId id="440"/>
          </p14:sldIdLst>
        </p14:section>
        <p14:section name="string output parser" id="{CF2496AC-AB99-4DF2-90F2-FD68BD8F1A28}">
          <p14:sldIdLst>
            <p14:sldId id="448"/>
          </p14:sldIdLst>
        </p14:section>
        <p14:section name="JsonOutputParser" id="{BA8664C5-8C56-4866-86EA-97D538F09A45}">
          <p14:sldIdLst>
            <p14:sldId id="447"/>
            <p14:sldId id="442"/>
          </p14:sldIdLst>
        </p14:section>
        <p14:section name="StructuredOutputParser" id="{B357BCF4-EEA0-4AD8-ACBF-DE259B54E578}">
          <p14:sldIdLst>
            <p14:sldId id="443"/>
            <p14:sldId id="446"/>
          </p14:sldIdLst>
        </p14:section>
        <p14:section name="PydanticOutputParser" id="{6D199CE9-1E14-4B81-8C9B-1CB2446CF7B6}">
          <p14:sldIdLst>
            <p14:sldId id="444"/>
            <p14:sldId id="445"/>
          </p14:sldIdLst>
        </p14:section>
        <p14:section name="Q&amp;A" id="{1564124F-F372-4CB6-8FA8-28282C184CBB}">
          <p14:sldIdLst>
            <p14:sldId id="41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29-05-2025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662A70-DFBD-127F-D5CC-9B0F1A56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420B84-9022-B7D2-9C67-0FDA0433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AC76129-7A35-2EDC-3B76-87ED8A841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BF5D66A-BD02-F7EA-3FAB-C98B27E37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004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5/29/2025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8" y="728090"/>
            <a:ext cx="9903831" cy="148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 smtClean="0">
                <a:solidFill>
                  <a:schemeClr val="tx1"/>
                </a:solidFill>
              </a:rPr>
              <a:t>Out parser</a:t>
            </a:r>
          </a:p>
          <a:p>
            <a:r>
              <a:rPr lang="en-US" sz="2400" b="1" dirty="0" smtClean="0">
                <a:solidFill>
                  <a:schemeClr val="tx1"/>
                </a:solidFill>
              </a:rPr>
              <a:t>May 2024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842" y="2887699"/>
            <a:ext cx="6450800" cy="249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89667" y="999911"/>
            <a:ext cx="9903831" cy="101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>
                <a:solidFill>
                  <a:schemeClr val="tx1"/>
                </a:solidFill>
              </a:rPr>
              <a:t>Retrieval Augmented Generation </a:t>
            </a:r>
            <a:r>
              <a:rPr lang="en-US" sz="4600" b="1" dirty="0">
                <a:solidFill>
                  <a:schemeClr val="tx1"/>
                </a:solidFill>
              </a:rPr>
              <a:t> </a:t>
            </a:r>
            <a:endParaRPr sz="4600" b="1" dirty="0">
              <a:solidFill>
                <a:schemeClr val="tx1"/>
              </a:solidFill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:a16="http://schemas.microsoft.com/office/drawing/2014/main" xmlns="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5" y="2380180"/>
            <a:ext cx="7718487" cy="2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Bahnschrift SemiLight" pitchFamily="34" charset="0"/>
              </a:rPr>
              <a:t>Basics ?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dk1"/>
                </a:solidFill>
                <a:latin typeface="Bahnschrift SemiLight" pitchFamily="34" charset="0"/>
              </a:rPr>
              <a:t>typeDictionary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dk1"/>
                </a:solidFill>
                <a:latin typeface="Bahnschrift SemiLight" pitchFamily="34" charset="0"/>
              </a:rPr>
              <a:t>Pydantic</a:t>
            </a:r>
            <a:endParaRPr lang="en-US" sz="1800" dirty="0" smtClean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Bahnschrift SemiLight" pitchFamily="34" charset="0"/>
              </a:rPr>
              <a:t>Str</a:t>
            </a:r>
            <a:r>
              <a:rPr lang="en-US" sz="1800" dirty="0" smtClean="0">
                <a:latin typeface="Bahnschrift SemiLight" pitchFamily="34" charset="0"/>
              </a:rPr>
              <a:t>OutputParser</a:t>
            </a:r>
            <a:endParaRPr lang="en-US" sz="1800" dirty="0" smtClean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Bahnschrift SemiLight" pitchFamily="34" charset="0"/>
              </a:rPr>
              <a:t>JsonOutputParser</a:t>
            </a:r>
            <a:endParaRPr lang="en-US" sz="1800" dirty="0" smtClean="0">
              <a:latin typeface="Bahnschrift Semi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Bahnschrift SemiLight" pitchFamily="34" charset="0"/>
              </a:rPr>
              <a:t>StructuredoutputParser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Bahnschrift SemiLight" pitchFamily="34" charset="0"/>
              </a:rPr>
              <a:t>Pydanticoutparser</a:t>
            </a:r>
          </a:p>
          <a:p>
            <a:pPr indent="-457200">
              <a:buFont typeface="Arial" panose="020B0604020202020204" pitchFamily="34" charset="0"/>
              <a:buChar char="•"/>
            </a:pPr>
            <a:endParaRPr lang="en-US" sz="2000" dirty="0">
              <a:latin typeface="Bahnschrift Semi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2" name="Rectangle 1"/>
          <p:cNvSpPr/>
          <p:nvPr/>
        </p:nvSpPr>
        <p:spPr>
          <a:xfrm>
            <a:off x="2427515" y="4935557"/>
            <a:ext cx="3102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langchain_core.output_parsers</a:t>
            </a:r>
          </a:p>
        </p:txBody>
      </p: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CE01EE-9B82-1A8D-6A71-28923D9F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B3BB1EE-8F0D-D402-9B66-38C94EBDCD2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B92D285-0982-C7FC-2CCB-555CC4555729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5A501CB-25F7-430E-26A9-AC8C6F18EA43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F6D8D221-4B29-D734-A328-58D818C34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33" name="Footer Placeholder 32">
            <a:extLst>
              <a:ext uri="{FF2B5EF4-FFF2-40B4-BE49-F238E27FC236}">
                <a16:creationId xmlns:a16="http://schemas.microsoft.com/office/drawing/2014/main" xmlns="" id="{9EFE9F1A-54D1-5FC8-F649-AA565950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xmlns="" id="{8E4945F9-351B-FE06-B4C4-5E27ED97FD2B}"/>
              </a:ext>
            </a:extLst>
          </p:cNvPr>
          <p:cNvSpPr txBox="1">
            <a:spLocks/>
          </p:cNvSpPr>
          <p:nvPr/>
        </p:nvSpPr>
        <p:spPr>
          <a:xfrm>
            <a:off x="1593436" y="286921"/>
            <a:ext cx="9782801" cy="10387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 smtClean="0"/>
              <a:t>Langchani –output paser</a:t>
            </a:r>
            <a:r>
              <a:rPr lang="en-IN" sz="4000" b="1" dirty="0" smtClean="0"/>
              <a:t>?</a:t>
            </a:r>
            <a:endParaRPr lang="en-IN" sz="4000" b="1" dirty="0"/>
          </a:p>
        </p:txBody>
      </p:sp>
      <p:sp>
        <p:nvSpPr>
          <p:cNvPr id="3" name="Rectangle 2"/>
          <p:cNvSpPr/>
          <p:nvPr/>
        </p:nvSpPr>
        <p:spPr>
          <a:xfrm>
            <a:off x="2175164" y="1845163"/>
            <a:ext cx="90274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Output </a:t>
            </a:r>
            <a:r>
              <a:rPr lang="en-US" dirty="0" smtClean="0">
                <a:solidFill>
                  <a:srgbClr val="0070C0"/>
                </a:solidFill>
              </a:rPr>
              <a:t>parser </a:t>
            </a:r>
            <a:r>
              <a:rPr lang="en-US" dirty="0"/>
              <a:t>in langchian help  us to convert raw llm response into structure format like json, csv ,pydantic model and more .They ensure consistency,validation,and ease of use in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67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2" name="Google Shape;149;p2">
            <a:extLst>
              <a:ext uri="{FF2B5EF4-FFF2-40B4-BE49-F238E27FC236}">
                <a16:creationId xmlns:a16="http://schemas.microsoft.com/office/drawing/2014/main" xmlns="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1593436" y="136526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TypedDict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7583" y="2094407"/>
            <a:ext cx="6091508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66"/>
                </a:solidFill>
              </a:rPr>
              <a:t>from</a:t>
            </a:r>
            <a:r>
              <a:rPr lang="en-IN" dirty="0"/>
              <a:t> </a:t>
            </a:r>
            <a:r>
              <a:rPr lang="en-IN" dirty="0">
                <a:solidFill>
                  <a:srgbClr val="0070C0"/>
                </a:solidFill>
              </a:rPr>
              <a:t>typing</a:t>
            </a:r>
            <a:r>
              <a:rPr lang="en-IN" dirty="0"/>
              <a:t> </a:t>
            </a:r>
            <a:r>
              <a:rPr lang="en-IN" dirty="0">
                <a:solidFill>
                  <a:srgbClr val="FF0066"/>
                </a:solidFill>
              </a:rPr>
              <a:t>import </a:t>
            </a:r>
            <a:r>
              <a:rPr lang="en-IN" dirty="0">
                <a:solidFill>
                  <a:srgbClr val="0070C0"/>
                </a:solidFill>
              </a:rPr>
              <a:t>TypedDict,Annotated,Literal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7583" y="2690335"/>
            <a:ext cx="8808654" cy="1200329"/>
          </a:xfrm>
          <a:prstGeom prst="rect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class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review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TypedDict</a:t>
            </a:r>
            <a:r>
              <a:rPr lang="en-US" dirty="0"/>
              <a:t>):</a:t>
            </a:r>
          </a:p>
          <a:p>
            <a:r>
              <a:rPr lang="en-US" dirty="0"/>
              <a:t>    summary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str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    sentiment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str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    IsokorNot: </a:t>
            </a:r>
            <a:r>
              <a:rPr lang="en-US" dirty="0">
                <a:solidFill>
                  <a:srgbClr val="0070C0"/>
                </a:solidFill>
              </a:rPr>
              <a:t>Annotated</a:t>
            </a:r>
            <a:r>
              <a:rPr lang="en-US" dirty="0"/>
              <a:t>[</a:t>
            </a:r>
            <a:r>
              <a:rPr lang="en-US" dirty="0">
                <a:solidFill>
                  <a:srgbClr val="0070C0"/>
                </a:solidFill>
              </a:rPr>
              <a:t>Literal</a:t>
            </a:r>
            <a:r>
              <a:rPr lang="en-US" dirty="0"/>
              <a:t>[</a:t>
            </a:r>
            <a:r>
              <a:rPr lang="en-US" dirty="0">
                <a:solidFill>
                  <a:srgbClr val="C00000"/>
                </a:solidFill>
              </a:rPr>
              <a:t>"yes"</a:t>
            </a:r>
            <a:r>
              <a:rPr lang="en-US" dirty="0"/>
              <a:t>,</a:t>
            </a:r>
            <a:r>
              <a:rPr lang="en-US" dirty="0">
                <a:solidFill>
                  <a:srgbClr val="C00000"/>
                </a:solidFill>
              </a:rPr>
              <a:t>"no"</a:t>
            </a:r>
            <a:r>
              <a:rPr lang="en-US" dirty="0"/>
              <a:t>]</a:t>
            </a:r>
            <a:r>
              <a:rPr lang="en-US" dirty="0">
                <a:solidFill>
                  <a:srgbClr val="C00000"/>
                </a:solidFill>
              </a:rPr>
              <a:t>,"Provide sentiment in either Yes or No "]</a:t>
            </a:r>
          </a:p>
        </p:txBody>
      </p:sp>
    </p:spTree>
    <p:extLst>
      <p:ext uri="{BB962C8B-B14F-4D97-AF65-F5344CB8AC3E}">
        <p14:creationId xmlns:p14="http://schemas.microsoft.com/office/powerpoint/2010/main" val="42289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2" name="Google Shape;149;p2">
            <a:extLst>
              <a:ext uri="{FF2B5EF4-FFF2-40B4-BE49-F238E27FC236}">
                <a16:creationId xmlns:a16="http://schemas.microsoft.com/office/drawing/2014/main" xmlns="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1593436" y="136526"/>
            <a:ext cx="9782801" cy="123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dirty="0">
                <a:solidFill>
                  <a:srgbClr val="0070C0"/>
                </a:solidFill>
              </a:rPr>
              <a:t>pydantic</a:t>
            </a:r>
          </a:p>
          <a:p>
            <a:pPr>
              <a:buSzPts val="3600"/>
            </a:pPr>
            <a:endParaRPr lang="en-IN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6328" y="13763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66"/>
                </a:solidFill>
              </a:rPr>
              <a:t>from</a:t>
            </a:r>
            <a:r>
              <a:rPr lang="en-US" dirty="0"/>
              <a:t> </a:t>
            </a:r>
            <a:r>
              <a:rPr lang="en-US" dirty="0" smtClean="0"/>
              <a:t> pydantic   </a:t>
            </a:r>
            <a:r>
              <a:rPr lang="en-US" dirty="0" smtClean="0">
                <a:solidFill>
                  <a:srgbClr val="FF0066"/>
                </a:solidFill>
              </a:rPr>
              <a:t>import  </a:t>
            </a:r>
            <a:r>
              <a:rPr lang="en-US" dirty="0" smtClean="0">
                <a:solidFill>
                  <a:srgbClr val="0070C0"/>
                </a:solidFill>
              </a:rPr>
              <a:t>BaseModel</a:t>
            </a:r>
            <a:r>
              <a:rPr lang="en-US" dirty="0" smtClean="0"/>
              <a:t>,Field</a:t>
            </a:r>
            <a:endParaRPr lang="en-US" dirty="0"/>
          </a:p>
          <a:p>
            <a:r>
              <a:rPr lang="en-US" dirty="0">
                <a:solidFill>
                  <a:srgbClr val="FF0066"/>
                </a:solidFill>
              </a:rPr>
              <a:t>from </a:t>
            </a:r>
            <a:r>
              <a:rPr lang="en-US" dirty="0" smtClean="0">
                <a:solidFill>
                  <a:srgbClr val="FF0066"/>
                </a:solidFill>
              </a:rPr>
              <a:t> </a:t>
            </a:r>
            <a:r>
              <a:rPr lang="en-US" dirty="0" smtClean="0"/>
              <a:t>typing  </a:t>
            </a:r>
            <a:r>
              <a:rPr lang="en-US" dirty="0">
                <a:solidFill>
                  <a:srgbClr val="FF0066"/>
                </a:solidFill>
              </a:rPr>
              <a:t>import </a:t>
            </a:r>
            <a:r>
              <a:rPr lang="en-US" dirty="0" smtClean="0">
                <a:solidFill>
                  <a:srgbClr val="FF0066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Optional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826328" y="2136339"/>
            <a:ext cx="6096000" cy="2585323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r>
              <a:rPr lang="en-IN" dirty="0"/>
              <a:t>class User</a:t>
            </a:r>
            <a:r>
              <a:rPr lang="en-IN" dirty="0" smtClean="0"/>
              <a:t>( </a:t>
            </a:r>
            <a:r>
              <a:rPr lang="en-IN" dirty="0" smtClean="0">
                <a:solidFill>
                  <a:srgbClr val="0070C0"/>
                </a:solidFill>
              </a:rPr>
              <a:t>BaseModel</a:t>
            </a:r>
            <a:r>
              <a:rPr lang="en-IN" dirty="0"/>
              <a:t>):   </a:t>
            </a:r>
          </a:p>
          <a:p>
            <a:r>
              <a:rPr lang="en-IN" dirty="0"/>
              <a:t>    name: </a:t>
            </a:r>
            <a:r>
              <a:rPr lang="en-IN" dirty="0">
                <a:solidFill>
                  <a:srgbClr val="0070C0"/>
                </a:solidFill>
              </a:rPr>
              <a:t>str</a:t>
            </a:r>
          </a:p>
          <a:p>
            <a:r>
              <a:rPr lang="en-IN" dirty="0"/>
              <a:t>    mobile: Optional[int] = None</a:t>
            </a:r>
          </a:p>
          <a:p>
            <a:r>
              <a:rPr lang="en-IN" dirty="0"/>
              <a:t>    email: </a:t>
            </a:r>
            <a:r>
              <a:rPr lang="en-IN" dirty="0">
                <a:solidFill>
                  <a:srgbClr val="0070C0"/>
                </a:solidFill>
              </a:rPr>
              <a:t>str</a:t>
            </a:r>
            <a:r>
              <a:rPr lang="en-IN" dirty="0"/>
              <a:t> = </a:t>
            </a:r>
            <a:r>
              <a:rPr lang="en-IN" dirty="0">
                <a:solidFill>
                  <a:srgbClr val="CC3300"/>
                </a:solidFill>
              </a:rPr>
              <a:t>"ram@gmail.com"</a:t>
            </a:r>
          </a:p>
          <a:p>
            <a:r>
              <a:rPr lang="en-IN" dirty="0"/>
              <a:t>    cgpa: </a:t>
            </a:r>
            <a:r>
              <a:rPr lang="en-IN" dirty="0">
                <a:solidFill>
                  <a:srgbClr val="0070C0"/>
                </a:solidFill>
              </a:rPr>
              <a:t>float</a:t>
            </a:r>
            <a:r>
              <a:rPr lang="en-IN" dirty="0"/>
              <a:t> = Field(gt=0, le=10)</a:t>
            </a:r>
          </a:p>
          <a:p>
            <a:r>
              <a:rPr lang="en-IN" dirty="0"/>
              <a:t>    </a:t>
            </a:r>
          </a:p>
          <a:p>
            <a:r>
              <a:rPr lang="en-IN" dirty="0"/>
              <a:t>data1 = </a:t>
            </a:r>
            <a:r>
              <a:rPr lang="en-IN" dirty="0" smtClean="0"/>
              <a:t>{  </a:t>
            </a:r>
            <a:r>
              <a:rPr lang="en-IN" dirty="0" smtClean="0">
                <a:solidFill>
                  <a:srgbClr val="CC3300"/>
                </a:solidFill>
              </a:rPr>
              <a:t>"name“ :  "</a:t>
            </a:r>
            <a:r>
              <a:rPr lang="en-IN" dirty="0">
                <a:solidFill>
                  <a:srgbClr val="CC3300"/>
                </a:solidFill>
              </a:rPr>
              <a:t>ram</a:t>
            </a:r>
            <a:r>
              <a:rPr lang="en-IN" dirty="0" smtClean="0">
                <a:solidFill>
                  <a:srgbClr val="CC3300"/>
                </a:solidFill>
              </a:rPr>
              <a:t>", "cgpa“ : 5</a:t>
            </a:r>
            <a:r>
              <a:rPr lang="en-IN" dirty="0" smtClean="0"/>
              <a:t>  }</a:t>
            </a:r>
            <a:endParaRPr lang="en-IN" dirty="0"/>
          </a:p>
          <a:p>
            <a:r>
              <a:rPr lang="en-IN" dirty="0">
                <a:solidFill>
                  <a:srgbClr val="00B050"/>
                </a:solidFill>
              </a:rPr>
              <a:t># Example usage</a:t>
            </a:r>
          </a:p>
          <a:p>
            <a:r>
              <a:rPr lang="en-IN" dirty="0"/>
              <a:t>user = </a:t>
            </a:r>
            <a:r>
              <a:rPr lang="en-IN" dirty="0">
                <a:solidFill>
                  <a:srgbClr val="0070C0"/>
                </a:solidFill>
              </a:rPr>
              <a:t>User</a:t>
            </a:r>
            <a:r>
              <a:rPr lang="en-IN" dirty="0"/>
              <a:t>(**data1)</a:t>
            </a:r>
          </a:p>
        </p:txBody>
      </p:sp>
    </p:spTree>
    <p:extLst>
      <p:ext uri="{BB962C8B-B14F-4D97-AF65-F5344CB8AC3E}">
        <p14:creationId xmlns:p14="http://schemas.microsoft.com/office/powerpoint/2010/main" val="166040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2" name="Google Shape;149;p2">
            <a:extLst>
              <a:ext uri="{FF2B5EF4-FFF2-40B4-BE49-F238E27FC236}">
                <a16:creationId xmlns:a16="http://schemas.microsoft.com/office/drawing/2014/main" xmlns="" id="{038532CF-66C3-65D3-7D34-1709FB126FDA}"/>
              </a:ext>
            </a:extLst>
          </p:cNvPr>
          <p:cNvSpPr txBox="1">
            <a:spLocks noGrp="1"/>
          </p:cNvSpPr>
          <p:nvPr/>
        </p:nvSpPr>
        <p:spPr>
          <a:xfrm>
            <a:off x="1593436" y="136527"/>
            <a:ext cx="9782801" cy="86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18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600"/>
            </a:pPr>
            <a:r>
              <a:rPr lang="en-IN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string output parser</a:t>
            </a:r>
            <a:endParaRPr lang="en-IN" sz="40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21039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1954" y="1152344"/>
            <a:ext cx="99083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JsonOutputParser</a:t>
            </a:r>
            <a:r>
              <a:rPr lang="en-IN" dirty="0" smtClean="0"/>
              <a:t> is </a:t>
            </a:r>
            <a:r>
              <a:rPr lang="en-IN" dirty="0"/>
              <a:t>an outparser in langhchain that helps to extract structured arbitrary json data from llm model.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10145" y="274925"/>
            <a:ext cx="10557164" cy="724985"/>
            <a:chOff x="1510145" y="274925"/>
            <a:chExt cx="10557164" cy="724985"/>
          </a:xfrm>
        </p:grpSpPr>
        <p:sp>
          <p:nvSpPr>
            <p:cNvPr id="9" name="Rectangle 8"/>
            <p:cNvSpPr/>
            <p:nvPr/>
          </p:nvSpPr>
          <p:spPr>
            <a:xfrm>
              <a:off x="1623103" y="274925"/>
              <a:ext cx="348685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3200" dirty="0" smtClean="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JsonOutputParser</a:t>
              </a:r>
              <a:endParaRPr lang="en-IN" sz="3200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510145" y="984391"/>
              <a:ext cx="10557164" cy="15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966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6643" y="750603"/>
            <a:ext cx="8498521" cy="4924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dotenv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load_dotenv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langchain_google_genai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ChatGoogleGenerativeAI   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langchain_core.prompts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typing</a:t>
            </a:r>
            <a:r>
              <a:rPr lang="en-IN" sz="1600" dirty="0"/>
              <a:t> import </a:t>
            </a:r>
            <a:r>
              <a:rPr lang="en-IN" sz="1600" dirty="0">
                <a:solidFill>
                  <a:schemeClr val="accent6"/>
                </a:solidFill>
              </a:rPr>
              <a:t>TypedDict,Annotated,Literal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langchain_core.output_parsers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JsonOutputParser</a:t>
            </a:r>
          </a:p>
          <a:p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load_dotenv</a:t>
            </a:r>
            <a:r>
              <a:rPr lang="en-IN" sz="1600" dirty="0"/>
              <a:t>()</a:t>
            </a:r>
          </a:p>
          <a:p>
            <a:r>
              <a:rPr lang="en-IN" sz="1600" dirty="0"/>
              <a:t>model=</a:t>
            </a:r>
            <a:r>
              <a:rPr lang="en-IN" sz="1600" dirty="0">
                <a:solidFill>
                  <a:schemeClr val="accent6"/>
                </a:solidFill>
              </a:rPr>
              <a:t>ChatGoogleGenerativeAI</a:t>
            </a:r>
            <a:r>
              <a:rPr lang="en-IN" sz="1600" dirty="0"/>
              <a:t>(model="gemini-2.0-flash", temperature=0)</a:t>
            </a:r>
          </a:p>
          <a:p>
            <a:endParaRPr lang="en-IN" sz="1600" dirty="0"/>
          </a:p>
          <a:p>
            <a:r>
              <a:rPr lang="en-IN" sz="1600" dirty="0"/>
              <a:t>parser=</a:t>
            </a:r>
            <a:r>
              <a:rPr lang="en-IN" sz="1600" dirty="0">
                <a:solidFill>
                  <a:schemeClr val="accent6"/>
                </a:solidFill>
              </a:rPr>
              <a:t>JsonOutputParser</a:t>
            </a:r>
            <a:r>
              <a:rPr lang="en-IN" sz="1600" dirty="0"/>
              <a:t>()</a:t>
            </a:r>
          </a:p>
          <a:p>
            <a:endParaRPr lang="en-IN" sz="1600" dirty="0"/>
          </a:p>
          <a:p>
            <a:r>
              <a:rPr lang="en-IN" sz="1600" dirty="0"/>
              <a:t>temp=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  <a:r>
              <a:rPr lang="en-IN" sz="1600" dirty="0" smtClean="0"/>
              <a:t>(</a:t>
            </a:r>
          </a:p>
          <a:p>
            <a:r>
              <a:rPr lang="en-IN" sz="1600" dirty="0" smtClean="0"/>
              <a:t>    template="</a:t>
            </a:r>
            <a:r>
              <a:rPr lang="en-IN" sz="1600" dirty="0" smtClean="0">
                <a:solidFill>
                  <a:srgbClr val="CC3300"/>
                </a:solidFill>
              </a:rPr>
              <a:t>give me a name ,age,mobile number for a fictional person </a:t>
            </a:r>
            <a:r>
              <a:rPr lang="en-IN" sz="1600" dirty="0" smtClean="0"/>
              <a:t>\n {</a:t>
            </a:r>
            <a:r>
              <a:rPr lang="en-IN" sz="1600" dirty="0" smtClean="0">
                <a:solidFill>
                  <a:srgbClr val="0070C0"/>
                </a:solidFill>
              </a:rPr>
              <a:t>format_instructions}",</a:t>
            </a:r>
          </a:p>
          <a:p>
            <a:r>
              <a:rPr lang="en-IN" sz="1600" dirty="0" smtClean="0"/>
              <a:t>    </a:t>
            </a:r>
            <a:r>
              <a:rPr lang="en-IN" sz="1600" dirty="0"/>
              <a:t>partial_variables={"</a:t>
            </a:r>
            <a:r>
              <a:rPr lang="en-IN" sz="1600" dirty="0">
                <a:solidFill>
                  <a:srgbClr val="CC3300"/>
                </a:solidFill>
              </a:rPr>
              <a:t>format_instructions</a:t>
            </a:r>
            <a:r>
              <a:rPr lang="en-IN" sz="1600" dirty="0"/>
              <a:t>":</a:t>
            </a:r>
            <a:r>
              <a:rPr lang="en-IN" sz="1600" dirty="0">
                <a:solidFill>
                  <a:srgbClr val="0070C0"/>
                </a:solidFill>
              </a:rPr>
              <a:t>parser.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get_format_instructions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()},</a:t>
            </a:r>
            <a:r>
              <a:rPr lang="en-IN" sz="1600" dirty="0" smtClean="0"/>
              <a:t>    </a:t>
            </a:r>
          </a:p>
          <a:p>
            <a:r>
              <a:rPr lang="en-IN" sz="1600" dirty="0" smtClean="0"/>
              <a:t>input_variables=[ ])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=</a:t>
            </a:r>
            <a:r>
              <a:rPr lang="en-IN" sz="1600" dirty="0" smtClean="0">
                <a:solidFill>
                  <a:srgbClr val="0070C0"/>
                </a:solidFill>
              </a:rPr>
              <a:t>temp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model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parser</a:t>
            </a:r>
            <a:endParaRPr lang="en-IN" sz="1600" dirty="0">
              <a:solidFill>
                <a:srgbClr val="0070C0"/>
              </a:solidFill>
            </a:endParaRPr>
          </a:p>
          <a:p>
            <a:r>
              <a:rPr lang="en-IN" sz="1600" dirty="0">
                <a:solidFill>
                  <a:srgbClr val="0070C0"/>
                </a:solidFill>
              </a:rPr>
              <a:t>r</a:t>
            </a:r>
            <a:r>
              <a:rPr lang="en-IN" sz="1600" dirty="0" smtClean="0">
                <a:solidFill>
                  <a:srgbClr val="0070C0"/>
                </a:solidFill>
              </a:rPr>
              <a:t>es </a:t>
            </a:r>
            <a:r>
              <a:rPr lang="en-IN" sz="1600" dirty="0" smtClean="0"/>
              <a:t>= </a:t>
            </a:r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.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</a:rPr>
              <a:t>invoke</a:t>
            </a:r>
            <a:r>
              <a:rPr lang="en-IN" sz="1600" dirty="0" smtClean="0"/>
              <a:t>({ })</a:t>
            </a:r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0070C0"/>
                </a:solidFill>
              </a:rPr>
              <a:t>res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60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Rectangle 1"/>
          <p:cNvSpPr/>
          <p:nvPr/>
        </p:nvSpPr>
        <p:spPr>
          <a:xfrm>
            <a:off x="1842654" y="1249371"/>
            <a:ext cx="96083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StructuredOutputParser is an outparser in langhchain that helps to extract structured json data from llm model based on predefined field schema</a:t>
            </a:r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1510145" y="288892"/>
            <a:ext cx="10557164" cy="711018"/>
            <a:chOff x="1510145" y="288892"/>
            <a:chExt cx="10557164" cy="711018"/>
          </a:xfrm>
        </p:grpSpPr>
        <p:sp>
          <p:nvSpPr>
            <p:cNvPr id="3" name="Rectangle 2"/>
            <p:cNvSpPr/>
            <p:nvPr/>
          </p:nvSpPr>
          <p:spPr>
            <a:xfrm>
              <a:off x="1510145" y="288892"/>
              <a:ext cx="462498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>
                  <a:solidFill>
                    <a:srgbClr val="0070C0"/>
                  </a:solidFill>
                  <a:latin typeface="Arial"/>
                  <a:ea typeface="Arial"/>
                  <a:cs typeface="Arial"/>
                </a:rPr>
                <a:t>StructuredOutputParser </a:t>
              </a:r>
              <a:endParaRPr lang="en-IN" sz="3200" dirty="0">
                <a:solidFill>
                  <a:srgbClr val="0070C0"/>
                </a:solidFill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1510145" y="984391"/>
              <a:ext cx="10557164" cy="15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/>
          <p:cNvSpPr/>
          <p:nvPr/>
        </p:nvSpPr>
        <p:spPr>
          <a:xfrm>
            <a:off x="2369128" y="2060322"/>
            <a:ext cx="94421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works by defining a list of fields(</a:t>
            </a:r>
            <a:r>
              <a:rPr lang="en-US" dirty="0">
                <a:solidFill>
                  <a:srgbClr val="00B0F0"/>
                </a:solidFill>
              </a:rPr>
              <a:t>responseSchema</a:t>
            </a:r>
            <a:r>
              <a:rPr lang="en-US" dirty="0"/>
              <a:t>) that the model should return,ensuring the output follows a structured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83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6643" y="598203"/>
            <a:ext cx="8027466" cy="5940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dotenv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load_dotenv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langchain_google_genai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ChatGoogleGenerativeAI   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langchain_core.prompts </a:t>
            </a:r>
            <a:r>
              <a:rPr lang="en-IN" sz="1600" dirty="0"/>
              <a:t>import 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</a:p>
          <a:p>
            <a:r>
              <a:rPr lang="en-IN" sz="1600" dirty="0" smtClean="0"/>
              <a:t>from </a:t>
            </a:r>
            <a:r>
              <a:rPr lang="en-IN" sz="1600" dirty="0" smtClean="0">
                <a:solidFill>
                  <a:schemeClr val="accent6"/>
                </a:solidFill>
              </a:rPr>
              <a:t>langchain_core.output_parsers </a:t>
            </a:r>
            <a:r>
              <a:rPr lang="en-IN" sz="1600" dirty="0"/>
              <a:t>import </a:t>
            </a:r>
            <a:r>
              <a:rPr lang="en-IN" sz="1600" dirty="0" smtClean="0">
                <a:solidFill>
                  <a:schemeClr val="accent6"/>
                </a:solidFill>
              </a:rPr>
              <a:t>JsonOutputParser</a:t>
            </a:r>
          </a:p>
          <a:p>
            <a:r>
              <a:rPr lang="en-IN" sz="1600" dirty="0"/>
              <a:t>from </a:t>
            </a:r>
            <a:r>
              <a:rPr lang="en-IN" sz="1600" dirty="0">
                <a:solidFill>
                  <a:schemeClr val="accent6"/>
                </a:solidFill>
              </a:rPr>
              <a:t>langchain.output_parsers</a:t>
            </a:r>
            <a:r>
              <a:rPr lang="en-IN" sz="1600" dirty="0"/>
              <a:t> import </a:t>
            </a:r>
            <a:r>
              <a:rPr lang="en-IN" sz="1600" dirty="0">
                <a:solidFill>
                  <a:schemeClr val="accent6"/>
                </a:solidFill>
              </a:rPr>
              <a:t>StructuredOutputParser,ResponseSchema</a:t>
            </a:r>
          </a:p>
          <a:p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load_dotenv</a:t>
            </a:r>
            <a:r>
              <a:rPr lang="en-IN" sz="1600" dirty="0"/>
              <a:t>()</a:t>
            </a:r>
          </a:p>
          <a:p>
            <a:r>
              <a:rPr lang="en-IN" sz="1600" dirty="0"/>
              <a:t>model=</a:t>
            </a:r>
            <a:r>
              <a:rPr lang="en-IN" sz="1600" dirty="0">
                <a:solidFill>
                  <a:schemeClr val="accent6"/>
                </a:solidFill>
              </a:rPr>
              <a:t>ChatGoogleGenerativeAI</a:t>
            </a:r>
            <a:r>
              <a:rPr lang="en-IN" sz="1600" dirty="0"/>
              <a:t>(model="gemini-2.0-flash", temperature=0)</a:t>
            </a:r>
          </a:p>
          <a:p>
            <a:endParaRPr lang="en-IN" sz="1600" dirty="0"/>
          </a:p>
          <a:p>
            <a:r>
              <a:rPr lang="en-US" sz="1600" dirty="0"/>
              <a:t>schema=[</a:t>
            </a:r>
          </a:p>
          <a:p>
            <a:r>
              <a:rPr lang="en-US" sz="1600" dirty="0"/>
              <a:t>    </a:t>
            </a:r>
            <a:r>
              <a:rPr lang="en-US" sz="1600" dirty="0">
                <a:solidFill>
                  <a:srgbClr val="00B0F0"/>
                </a:solidFill>
              </a:rPr>
              <a:t>ResponseSchema</a:t>
            </a:r>
            <a:r>
              <a:rPr lang="en-US" sz="1600" dirty="0"/>
              <a:t>(        name="</a:t>
            </a:r>
            <a:r>
              <a:rPr lang="en-US" sz="1600" dirty="0">
                <a:solidFill>
                  <a:srgbClr val="CC3300"/>
                </a:solidFill>
              </a:rPr>
              <a:t>fact_1</a:t>
            </a:r>
            <a:r>
              <a:rPr lang="en-US" sz="1600" dirty="0"/>
              <a:t>",        description="</a:t>
            </a:r>
            <a:r>
              <a:rPr lang="en-US" sz="1600" dirty="0">
                <a:solidFill>
                  <a:srgbClr val="CC3300"/>
                </a:solidFill>
              </a:rPr>
              <a:t>fact 1 about the </a:t>
            </a:r>
            <a:r>
              <a:rPr lang="en-US" sz="1600" dirty="0" smtClean="0">
                <a:solidFill>
                  <a:srgbClr val="CC3300"/>
                </a:solidFill>
              </a:rPr>
              <a:t>summary</a:t>
            </a:r>
            <a:r>
              <a:rPr lang="en-US" sz="1600" dirty="0" smtClean="0"/>
              <a:t>" </a:t>
            </a:r>
            <a:r>
              <a:rPr lang="en-US" sz="1600" dirty="0"/>
              <a:t>   ),</a:t>
            </a:r>
          </a:p>
          <a:p>
            <a:r>
              <a:rPr lang="en-US" sz="1600" dirty="0"/>
              <a:t>     </a:t>
            </a:r>
            <a:r>
              <a:rPr lang="en-US" sz="1600" dirty="0">
                <a:solidFill>
                  <a:srgbClr val="00B0F0"/>
                </a:solidFill>
              </a:rPr>
              <a:t>ResponseSchema</a:t>
            </a:r>
            <a:r>
              <a:rPr lang="en-US" sz="1600" dirty="0"/>
              <a:t>(        name="</a:t>
            </a:r>
            <a:r>
              <a:rPr lang="en-US" sz="1600" dirty="0">
                <a:solidFill>
                  <a:srgbClr val="CC3300"/>
                </a:solidFill>
              </a:rPr>
              <a:t>fact_2</a:t>
            </a:r>
            <a:r>
              <a:rPr lang="en-US" sz="1600" dirty="0"/>
              <a:t>",        description="</a:t>
            </a:r>
            <a:r>
              <a:rPr lang="en-US" sz="1600" dirty="0">
                <a:solidFill>
                  <a:srgbClr val="CC3300"/>
                </a:solidFill>
              </a:rPr>
              <a:t>fact 2 about the </a:t>
            </a:r>
            <a:r>
              <a:rPr lang="en-US" sz="1600" dirty="0" smtClean="0">
                <a:solidFill>
                  <a:srgbClr val="CC3300"/>
                </a:solidFill>
              </a:rPr>
              <a:t>summary</a:t>
            </a:r>
            <a:r>
              <a:rPr lang="en-US" sz="1600" dirty="0" smtClean="0"/>
              <a:t>" </a:t>
            </a:r>
            <a:r>
              <a:rPr lang="en-US" sz="1600" dirty="0"/>
              <a:t>   ),</a:t>
            </a:r>
          </a:p>
          <a:p>
            <a:r>
              <a:rPr lang="en-US" sz="1600" dirty="0"/>
              <a:t>]</a:t>
            </a:r>
          </a:p>
          <a:p>
            <a:r>
              <a:rPr lang="en-US" sz="1600" dirty="0" smtClean="0"/>
              <a:t>parser= </a:t>
            </a:r>
            <a:r>
              <a:rPr lang="en-US" sz="1600" dirty="0" smtClean="0">
                <a:solidFill>
                  <a:srgbClr val="0070C0"/>
                </a:solidFill>
              </a:rPr>
              <a:t>StructuredOutputParser.</a:t>
            </a:r>
            <a:r>
              <a:rPr lang="en-US" sz="1600" dirty="0" smtClean="0">
                <a:solidFill>
                  <a:schemeClr val="accent6"/>
                </a:solidFill>
              </a:rPr>
              <a:t>from_response_schemas</a:t>
            </a:r>
            <a:r>
              <a:rPr lang="en-US" sz="1600" dirty="0" smtClean="0"/>
              <a:t>(schema</a:t>
            </a:r>
            <a:r>
              <a:rPr lang="en-US" sz="1600" dirty="0"/>
              <a:t>)</a:t>
            </a:r>
          </a:p>
          <a:p>
            <a:endParaRPr lang="en-IN" sz="1600" dirty="0"/>
          </a:p>
          <a:p>
            <a:r>
              <a:rPr lang="en-IN" sz="1600" dirty="0"/>
              <a:t>temp=</a:t>
            </a:r>
            <a:r>
              <a:rPr lang="en-IN" sz="1600" dirty="0">
                <a:solidFill>
                  <a:schemeClr val="accent6"/>
                </a:solidFill>
              </a:rPr>
              <a:t>PromptTemplate</a:t>
            </a:r>
            <a:r>
              <a:rPr lang="en-IN" sz="1600" dirty="0" smtClean="0"/>
              <a:t>(</a:t>
            </a:r>
          </a:p>
          <a:p>
            <a:r>
              <a:rPr lang="en-IN" sz="1600" dirty="0" smtClean="0"/>
              <a:t>    template="</a:t>
            </a:r>
            <a:r>
              <a:rPr lang="en-IN" sz="1600" dirty="0" smtClean="0">
                <a:solidFill>
                  <a:srgbClr val="CC3300"/>
                </a:solidFill>
              </a:rPr>
              <a:t>give me 2 fact about {</a:t>
            </a:r>
            <a:r>
              <a:rPr lang="en-IN" sz="1600" dirty="0">
                <a:solidFill>
                  <a:srgbClr val="0070C0"/>
                </a:solidFill>
              </a:rPr>
              <a:t>topic</a:t>
            </a:r>
            <a:r>
              <a:rPr lang="en-IN" sz="1600" dirty="0" smtClean="0">
                <a:solidFill>
                  <a:srgbClr val="CC3300"/>
                </a:solidFill>
              </a:rPr>
              <a:t>}  </a:t>
            </a:r>
            <a:r>
              <a:rPr lang="en-IN" sz="1600" dirty="0" smtClean="0"/>
              <a:t>\n {</a:t>
            </a:r>
            <a:r>
              <a:rPr lang="en-IN" sz="1600" dirty="0" smtClean="0">
                <a:solidFill>
                  <a:srgbClr val="0070C0"/>
                </a:solidFill>
              </a:rPr>
              <a:t>format_instructions}",</a:t>
            </a:r>
          </a:p>
          <a:p>
            <a:r>
              <a:rPr lang="en-IN" sz="1600" dirty="0" smtClean="0"/>
              <a:t>    </a:t>
            </a:r>
            <a:r>
              <a:rPr lang="en-IN" sz="1600" dirty="0"/>
              <a:t>partial_variables={"</a:t>
            </a:r>
            <a:r>
              <a:rPr lang="en-IN" sz="1600" dirty="0">
                <a:solidFill>
                  <a:srgbClr val="CC3300"/>
                </a:solidFill>
              </a:rPr>
              <a:t>format_instructions</a:t>
            </a:r>
            <a:r>
              <a:rPr lang="en-IN" sz="1600" dirty="0"/>
              <a:t>":</a:t>
            </a:r>
            <a:r>
              <a:rPr lang="en-IN" sz="1600" dirty="0">
                <a:solidFill>
                  <a:srgbClr val="0070C0"/>
                </a:solidFill>
              </a:rPr>
              <a:t>parser.</a:t>
            </a:r>
            <a:r>
              <a:rPr lang="en-IN" sz="1600" dirty="0">
                <a:solidFill>
                  <a:schemeClr val="accent4">
                    <a:lumMod val="75000"/>
                  </a:schemeClr>
                </a:solidFill>
              </a:rPr>
              <a:t>get_format_instructions</a:t>
            </a:r>
            <a:r>
              <a:rPr lang="en-IN" sz="1600" dirty="0" smtClean="0">
                <a:solidFill>
                  <a:schemeClr val="accent4">
                    <a:lumMod val="75000"/>
                  </a:schemeClr>
                </a:solidFill>
              </a:rPr>
              <a:t>()},</a:t>
            </a:r>
            <a:r>
              <a:rPr lang="en-IN" sz="1600" dirty="0" smtClean="0"/>
              <a:t>    </a:t>
            </a:r>
          </a:p>
          <a:p>
            <a:r>
              <a:rPr lang="en-IN" sz="1600" dirty="0" smtClean="0"/>
              <a:t>input_variables=[“topic” ])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=</a:t>
            </a:r>
            <a:r>
              <a:rPr lang="en-IN" sz="1600" dirty="0" smtClean="0">
                <a:solidFill>
                  <a:srgbClr val="0070C0"/>
                </a:solidFill>
              </a:rPr>
              <a:t>temp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model </a:t>
            </a:r>
            <a:r>
              <a:rPr lang="en-IN" sz="1600" dirty="0" smtClean="0"/>
              <a:t>| </a:t>
            </a:r>
            <a:r>
              <a:rPr lang="en-IN" sz="1600" dirty="0" smtClean="0">
                <a:solidFill>
                  <a:srgbClr val="0070C0"/>
                </a:solidFill>
              </a:rPr>
              <a:t>parser</a:t>
            </a:r>
            <a:endParaRPr lang="en-IN" sz="1600" dirty="0">
              <a:solidFill>
                <a:srgbClr val="0070C0"/>
              </a:solidFill>
            </a:endParaRPr>
          </a:p>
          <a:p>
            <a:r>
              <a:rPr lang="en-IN" sz="1600" dirty="0">
                <a:solidFill>
                  <a:srgbClr val="0070C0"/>
                </a:solidFill>
              </a:rPr>
              <a:t>r</a:t>
            </a:r>
            <a:r>
              <a:rPr lang="en-IN" sz="1600" dirty="0" smtClean="0">
                <a:solidFill>
                  <a:srgbClr val="0070C0"/>
                </a:solidFill>
              </a:rPr>
              <a:t>es </a:t>
            </a:r>
            <a:r>
              <a:rPr lang="en-IN" sz="1600" dirty="0" smtClean="0"/>
              <a:t>= </a:t>
            </a:r>
            <a:r>
              <a:rPr lang="en-IN" sz="1600" dirty="0" smtClean="0">
                <a:solidFill>
                  <a:srgbClr val="0070C0"/>
                </a:solidFill>
              </a:rPr>
              <a:t>chain</a:t>
            </a:r>
            <a:r>
              <a:rPr lang="en-IN" sz="1600" dirty="0" smtClean="0"/>
              <a:t>.</a:t>
            </a:r>
            <a:r>
              <a:rPr lang="en-IN" sz="1600" dirty="0" smtClean="0">
                <a:solidFill>
                  <a:schemeClr val="accent4">
                    <a:lumMod val="50000"/>
                  </a:schemeClr>
                </a:solidFill>
              </a:rPr>
              <a:t>invoke</a:t>
            </a:r>
            <a:r>
              <a:rPr lang="en-IN" sz="1600" dirty="0" smtClean="0"/>
              <a:t>({ “</a:t>
            </a:r>
            <a:r>
              <a:rPr lang="en-IN" sz="1600" dirty="0" smtClean="0">
                <a:solidFill>
                  <a:srgbClr val="CC3300"/>
                </a:solidFill>
              </a:rPr>
              <a:t>topic</a:t>
            </a:r>
            <a:r>
              <a:rPr lang="en-IN" sz="1600" dirty="0" smtClean="0"/>
              <a:t>”:”</a:t>
            </a:r>
            <a:r>
              <a:rPr lang="en-IN" sz="1600" dirty="0" smtClean="0">
                <a:solidFill>
                  <a:srgbClr val="CC3300"/>
                </a:solidFill>
              </a:rPr>
              <a:t>black hole</a:t>
            </a:r>
            <a:r>
              <a:rPr lang="en-IN" sz="1600" dirty="0" smtClean="0"/>
              <a:t>”  })</a:t>
            </a:r>
            <a:endParaRPr lang="en-IN" sz="1600" dirty="0"/>
          </a:p>
          <a:p>
            <a:r>
              <a:rPr lang="en-IN" sz="1600" dirty="0">
                <a:solidFill>
                  <a:schemeClr val="accent4">
                    <a:lumMod val="50000"/>
                  </a:schemeClr>
                </a:solidFill>
              </a:rPr>
              <a:t>print</a:t>
            </a:r>
            <a:r>
              <a:rPr lang="en-IN" sz="1600" dirty="0"/>
              <a:t>(</a:t>
            </a:r>
            <a:r>
              <a:rPr lang="en-IN" sz="1600" dirty="0">
                <a:solidFill>
                  <a:srgbClr val="0070C0"/>
                </a:solidFill>
              </a:rPr>
              <a:t>res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471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537855" y="413471"/>
            <a:ext cx="9664787" cy="586439"/>
            <a:chOff x="1537855" y="413471"/>
            <a:chExt cx="9664787" cy="586439"/>
          </a:xfrm>
        </p:grpSpPr>
        <p:sp>
          <p:nvSpPr>
            <p:cNvPr id="2" name="Rectangle 1"/>
            <p:cNvSpPr/>
            <p:nvPr/>
          </p:nvSpPr>
          <p:spPr>
            <a:xfrm>
              <a:off x="1690786" y="413471"/>
              <a:ext cx="370165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800" dirty="0">
                  <a:solidFill>
                    <a:srgbClr val="0070C0"/>
                  </a:solidFill>
                  <a:latin typeface="Arial"/>
                  <a:ea typeface="Arial"/>
                  <a:cs typeface="Arial"/>
                </a:rPr>
                <a:t>PydanticOutputParser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1537855" y="998246"/>
              <a:ext cx="9664787" cy="16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1814945" y="1263226"/>
            <a:ext cx="9753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PydanticOutputParser</a:t>
            </a:r>
            <a:r>
              <a:rPr lang="en-IN" dirty="0"/>
              <a:t> is structured output parser in </a:t>
            </a:r>
            <a:r>
              <a:rPr lang="en-IN" dirty="0" smtClean="0"/>
              <a:t>Langchain </a:t>
            </a:r>
            <a:r>
              <a:rPr lang="en-IN" dirty="0"/>
              <a:t>that uses pydantic models to enforce schema </a:t>
            </a:r>
            <a:r>
              <a:rPr lang="en-IN" dirty="0" smtClean="0"/>
              <a:t>validation </a:t>
            </a:r>
            <a:r>
              <a:rPr lang="en-IN" dirty="0"/>
              <a:t>when processing llm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9916" y="2914195"/>
            <a:ext cx="4319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Arial Black" pitchFamily="34" charset="0"/>
                <a:ea typeface="Arial"/>
                <a:cs typeface="Arial"/>
              </a:rPr>
              <a:t>Why use PydanticOutputParser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4544" y="3468193"/>
            <a:ext cx="9143999" cy="1200329"/>
          </a:xfrm>
          <a:prstGeom prst="rect">
            <a:avLst/>
          </a:prstGeom>
          <a:ln w="3175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dirty="0" smtClean="0">
                <a:solidFill>
                  <a:srgbClr val="00B0F0"/>
                </a:solidFill>
              </a:rPr>
              <a:t>Strict Schema </a:t>
            </a:r>
            <a:r>
              <a:rPr lang="en-US" dirty="0">
                <a:solidFill>
                  <a:srgbClr val="00B0F0"/>
                </a:solidFill>
              </a:rPr>
              <a:t>Enforcement </a:t>
            </a:r>
            <a:r>
              <a:rPr lang="en-US" dirty="0"/>
              <a:t>-Ensure that llm response follow a well defined structure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Type Safety </a:t>
            </a:r>
            <a:r>
              <a:rPr lang="en-US" dirty="0"/>
              <a:t>- Automatically convert llm outputs into python objects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Easy Validation- </a:t>
            </a:r>
            <a:r>
              <a:rPr lang="en-US" dirty="0"/>
              <a:t>uses pydantic built-in validation to catch incorrect or missin data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>
                <a:solidFill>
                  <a:srgbClr val="00B0F0"/>
                </a:solidFill>
              </a:rPr>
              <a:t>seamless integration </a:t>
            </a:r>
            <a:r>
              <a:rPr lang="en-US" dirty="0"/>
              <a:t>-works well with other </a:t>
            </a:r>
            <a:r>
              <a:rPr lang="en-US" dirty="0" smtClean="0"/>
              <a:t>Langchain </a:t>
            </a:r>
            <a:r>
              <a:rPr lang="en-US" dirty="0"/>
              <a:t>component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09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pic>
        <p:nvPicPr>
          <p:cNvPr id="10" name="Picture 9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3D524DBF-F0C3-D6F7-607C-D2D2CA1ED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42" y="-205417"/>
            <a:ext cx="1217233" cy="120532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57511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A71D7A-4199-9593-FD85-54477FAC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51A5A6E-8DE1-A78F-3109-B3761C234677}"/>
              </a:ext>
            </a:extLst>
          </p:cNvPr>
          <p:cNvSpPr/>
          <p:nvPr/>
        </p:nvSpPr>
        <p:spPr>
          <a:xfrm>
            <a:off x="0" y="1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DA8959A-E255-AE1F-0F9F-C2E9C266E36C}"/>
              </a:ext>
            </a:extLst>
          </p:cNvPr>
          <p:cNvSpPr/>
          <p:nvPr/>
        </p:nvSpPr>
        <p:spPr>
          <a:xfrm>
            <a:off x="565288" y="0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73BC4F8-EC58-D42C-1EF3-1F4EF61CAC3A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xmlns="" id="{6122EB64-047D-D5A5-455B-C998BAAF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pic>
        <p:nvPicPr>
          <p:cNvPr id="5" name="Picture 4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79550B0D-F382-8A19-8040-0525CFEE4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35" y="-83878"/>
            <a:ext cx="1219200" cy="1209675"/>
          </a:xfrm>
          <a:prstGeom prst="rect">
            <a:avLst/>
          </a:prstGeom>
        </p:spPr>
      </p:pic>
      <p:pic>
        <p:nvPicPr>
          <p:cNvPr id="9" name="Picture 8" descr="A group of people sitting at desks in a classroom with computers&#10;&#10;Description automatically generated">
            <a:extLst>
              <a:ext uri="{FF2B5EF4-FFF2-40B4-BE49-F238E27FC236}">
                <a16:creationId xmlns:a16="http://schemas.microsoft.com/office/drawing/2014/main" xmlns="" id="{E8BDAAE7-2946-663A-E1B7-10330320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6266"/>
            <a:ext cx="4113245" cy="4105469"/>
          </a:xfrm>
          <a:prstGeom prst="rect">
            <a:avLst/>
          </a:prstGeom>
        </p:spPr>
      </p:pic>
      <p:sp>
        <p:nvSpPr>
          <p:cNvPr id="12" name="Google Shape;232;g2b25827427c_0_1215">
            <a:extLst>
              <a:ext uri="{FF2B5EF4-FFF2-40B4-BE49-F238E27FC236}">
                <a16:creationId xmlns:a16="http://schemas.microsoft.com/office/drawing/2014/main" xmlns="" id="{76539FC0-FE01-2A0D-C752-8C9F4AF1D331}"/>
              </a:ext>
            </a:extLst>
          </p:cNvPr>
          <p:cNvSpPr txBox="1">
            <a:spLocks noGrp="1"/>
          </p:cNvSpPr>
          <p:nvPr/>
        </p:nvSpPr>
        <p:spPr>
          <a:xfrm>
            <a:off x="1550879" y="2158440"/>
            <a:ext cx="4966047" cy="161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400" b="1" dirty="0">
                <a:solidFill>
                  <a:schemeClr val="tx1"/>
                </a:solidFill>
              </a:rPr>
              <a:t>Q &amp; 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27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20138</TotalTime>
  <Words>461</Words>
  <Application>Microsoft Office PowerPoint</Application>
  <PresentationFormat>Custom</PresentationFormat>
  <Paragraphs>134</Paragraphs>
  <Slides>13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934</cp:revision>
  <dcterms:created xsi:type="dcterms:W3CDTF">2024-01-26T15:11:46Z</dcterms:created>
  <dcterms:modified xsi:type="dcterms:W3CDTF">2025-05-29T05:07:41Z</dcterms:modified>
</cp:coreProperties>
</file>