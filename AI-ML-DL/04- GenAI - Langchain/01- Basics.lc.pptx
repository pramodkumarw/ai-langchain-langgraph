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85" r:id="rId2"/>
    <p:sldId id="277" r:id="rId3"/>
    <p:sldId id="397" r:id="rId4"/>
    <p:sldId id="389" r:id="rId5"/>
    <p:sldId id="396" r:id="rId6"/>
    <p:sldId id="393" r:id="rId7"/>
    <p:sldId id="390" r:id="rId8"/>
    <p:sldId id="391" r:id="rId9"/>
    <p:sldId id="392" r:id="rId10"/>
    <p:sldId id="398" r:id="rId11"/>
    <p:sldId id="394" r:id="rId12"/>
    <p:sldId id="395" r:id="rId13"/>
    <p:sldId id="399" r:id="rId14"/>
    <p:sldId id="400" r:id="rId15"/>
    <p:sldId id="410" r:id="rId16"/>
    <p:sldId id="401" r:id="rId17"/>
    <p:sldId id="402" r:id="rId18"/>
    <p:sldId id="405" r:id="rId19"/>
    <p:sldId id="404" r:id="rId20"/>
    <p:sldId id="411" r:id="rId21"/>
    <p:sldId id="412" r:id="rId22"/>
    <p:sldId id="413" r:id="rId23"/>
    <p:sldId id="414" r:id="rId24"/>
    <p:sldId id="415" r:id="rId25"/>
    <p:sldId id="416" r:id="rId26"/>
    <p:sldId id="417" r:id="rId27"/>
    <p:sldId id="418" r:id="rId28"/>
    <p:sldId id="419" r:id="rId29"/>
    <p:sldId id="42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85"/>
          </p14:sldIdLst>
        </p14:section>
        <p14:section name="Langchain" id="{B027B0C1-A011-46A4-8061-CB4C72642D4E}">
          <p14:sldIdLst>
            <p14:sldId id="277"/>
            <p14:sldId id="397"/>
            <p14:sldId id="389"/>
            <p14:sldId id="396"/>
            <p14:sldId id="393"/>
            <p14:sldId id="390"/>
            <p14:sldId id="391"/>
            <p14:sldId id="392"/>
          </p14:sldIdLst>
        </p14:section>
        <p14:section name="Caching LLM Response" id="{C4B3FADA-8DE3-4FF9-8C3C-3A61099494D7}">
          <p14:sldIdLst>
            <p14:sldId id="398"/>
            <p14:sldId id="394"/>
            <p14:sldId id="395"/>
          </p14:sldIdLst>
        </p14:section>
        <p14:section name="Streaming" id="{823C7B9F-1E63-4707-8304-2D41D424F099}">
          <p14:sldIdLst>
            <p14:sldId id="399"/>
            <p14:sldId id="400"/>
          </p14:sldIdLst>
        </p14:section>
        <p14:section name="PromptTemplate" id="{BFB90CF3-7281-497C-A2D2-2865F249D827}">
          <p14:sldIdLst>
            <p14:sldId id="410"/>
            <p14:sldId id="401"/>
            <p14:sldId id="402"/>
            <p14:sldId id="405"/>
            <p14:sldId id="404"/>
          </p14:sldIdLst>
        </p14:section>
        <p14:section name="LangChain Components" id="{94261B9B-B83A-4A64-85FF-8B62088ABAD4}">
          <p14:sldIdLst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43"/>
    <a:srgbClr val="FF4B21"/>
    <a:srgbClr val="15C2FF"/>
    <a:srgbClr val="00D05E"/>
    <a:srgbClr val="00CC99"/>
    <a:srgbClr val="FF0066"/>
    <a:srgbClr val="CC3300"/>
    <a:srgbClr val="FFCC29"/>
    <a:srgbClr val="F5E47F"/>
    <a:srgbClr val="F2D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9" autoAdjust="0"/>
    <p:restoredTop sz="98577" autoAdjust="0"/>
  </p:normalViewPr>
  <p:slideViewPr>
    <p:cSldViewPr snapToGrid="0">
      <p:cViewPr>
        <p:scale>
          <a:sx n="70" d="100"/>
          <a:sy n="70" d="100"/>
        </p:scale>
        <p:origin x="-522" y="-1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90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24-03-2026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41493" y="1535723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43;p1">
            <a:extLst>
              <a:ext uri="{FF2B5EF4-FFF2-40B4-BE49-F238E27FC236}">
                <a16:creationId xmlns="" xmlns:a16="http://schemas.microsoft.com/office/drawing/2014/main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401288" y="103948"/>
            <a:ext cx="4951915" cy="11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4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Langchain </a:t>
            </a: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1" y="1"/>
            <a:ext cx="1407439" cy="116638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480" y="68926"/>
            <a:ext cx="2422566" cy="93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/>
          <p:cNvSpPr/>
          <p:nvPr/>
        </p:nvSpPr>
        <p:spPr>
          <a:xfrm>
            <a:off x="7678586" y="1985333"/>
            <a:ext cx="1396536" cy="307777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Arial Rounded MT Bold" pitchFamily="34" charset="0"/>
              </a:rPr>
              <a:t>                           </a:t>
            </a:r>
            <a:endParaRPr lang="en-IN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121701" y="2558114"/>
            <a:ext cx="2183611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/>
              <a:t>                                           </a:t>
            </a:r>
            <a:endParaRPr lang="en-IN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3780324" y="646617"/>
            <a:ext cx="939681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 Rounded MT Bold" pitchFamily="34" charset="0"/>
              </a:rPr>
              <a:t>Basics</a:t>
            </a:r>
            <a:endParaRPr lang="en-IN" dirty="0">
              <a:latin typeface="Arial Rounded MT Bold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504018" y="1535723"/>
            <a:ext cx="3055613" cy="1563383"/>
            <a:chOff x="1504018" y="1535723"/>
            <a:chExt cx="3055613" cy="1563383"/>
          </a:xfrm>
        </p:grpSpPr>
        <p:sp>
          <p:nvSpPr>
            <p:cNvPr id="9" name="TextBox 8"/>
            <p:cNvSpPr txBox="1"/>
            <p:nvPr/>
          </p:nvSpPr>
          <p:spPr>
            <a:xfrm>
              <a:off x="1506799" y="1535723"/>
              <a:ext cx="3052832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Langchain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06795" y="1862223"/>
              <a:ext cx="3052832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Caching LLM Response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06796" y="2190509"/>
              <a:ext cx="3052832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00B050"/>
                  </a:solidFill>
                  <a:latin typeface="Bahnschrift" pitchFamily="34" charset="0"/>
                  <a:ea typeface="Arial Unicode MS" pitchFamily="34" charset="-128"/>
                  <a:cs typeface="Arial Unicode MS" pitchFamily="34" charset="-128"/>
                </a:rPr>
                <a:t>Streaming</a:t>
              </a:r>
              <a:endParaRPr lang="en-IN" sz="1200" dirty="0">
                <a:solidFill>
                  <a:srgbClr val="00B050"/>
                </a:solidFill>
                <a:latin typeface="Bahnschrif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506799" y="2508962"/>
              <a:ext cx="3052832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PromptTemplate | ChatPromptTemplate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504018" y="2822107"/>
              <a:ext cx="3052832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Langchain Component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362625" y="3205029"/>
            <a:ext cx="2369178" cy="834602"/>
            <a:chOff x="2362625" y="3205029"/>
            <a:chExt cx="2369178" cy="834602"/>
          </a:xfrm>
        </p:grpSpPr>
        <p:sp>
          <p:nvSpPr>
            <p:cNvPr id="33" name="TextBox 32"/>
            <p:cNvSpPr txBox="1"/>
            <p:nvPr/>
          </p:nvSpPr>
          <p:spPr>
            <a:xfrm>
              <a:off x="2362626" y="3205029"/>
              <a:ext cx="2369177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Indexes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362626" y="3482028"/>
              <a:ext cx="2369177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62625" y="3762632"/>
              <a:ext cx="2369177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8672" y="178130"/>
            <a:ext cx="1758258" cy="338450"/>
            <a:chOff x="248672" y="195940"/>
            <a:chExt cx="1758258" cy="338450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248672" y="534390"/>
              <a:ext cx="175825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/>
            <p:cNvSpPr/>
            <p:nvPr/>
          </p:nvSpPr>
          <p:spPr>
            <a:xfrm>
              <a:off x="391176" y="195940"/>
              <a:ext cx="1240971" cy="33251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Bahnschrift" pitchFamily="34" charset="0"/>
                </a:rPr>
                <a:t>Langchain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980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Navigating the Future of Learning​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557166" y="389923"/>
            <a:ext cx="2515143" cy="783969"/>
            <a:chOff x="557166" y="389923"/>
            <a:chExt cx="2515143" cy="783969"/>
          </a:xfrm>
        </p:grpSpPr>
        <p:sp>
          <p:nvSpPr>
            <p:cNvPr id="5" name="Rectangle 4"/>
            <p:cNvSpPr/>
            <p:nvPr/>
          </p:nvSpPr>
          <p:spPr>
            <a:xfrm>
              <a:off x="557166" y="389923"/>
              <a:ext cx="147187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600" dirty="0">
                  <a:latin typeface="Algerian" pitchFamily="82" charset="0"/>
                </a:rPr>
                <a:t>Any LLM App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16223" y="834766"/>
              <a:ext cx="115608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400" dirty="0"/>
                <a:t>is </a:t>
              </a:r>
              <a:r>
                <a:rPr lang="en-IN" sz="1400" dirty="0" smtClean="0"/>
                <a:t>LLM </a:t>
              </a:r>
              <a:r>
                <a:rPr lang="en-IN" sz="1400" dirty="0"/>
                <a:t>Model</a:t>
              </a:r>
            </a:p>
          </p:txBody>
        </p:sp>
        <p:sp>
          <p:nvSpPr>
            <p:cNvPr id="8" name="Freeform 7"/>
            <p:cNvSpPr/>
            <p:nvPr/>
          </p:nvSpPr>
          <p:spPr>
            <a:xfrm>
              <a:off x="1248032" y="679622"/>
              <a:ext cx="668191" cy="494270"/>
            </a:xfrm>
            <a:custGeom>
              <a:avLst/>
              <a:gdLst>
                <a:gd name="connsiteX0" fmla="*/ 172995 w 668191"/>
                <a:gd name="connsiteY0" fmla="*/ 0 h 494270"/>
                <a:gd name="connsiteX1" fmla="*/ 111211 w 668191"/>
                <a:gd name="connsiteY1" fmla="*/ 12356 h 494270"/>
                <a:gd name="connsiteX2" fmla="*/ 86498 w 668191"/>
                <a:gd name="connsiteY2" fmla="*/ 49427 h 494270"/>
                <a:gd name="connsiteX3" fmla="*/ 49427 w 668191"/>
                <a:gd name="connsiteY3" fmla="*/ 74140 h 494270"/>
                <a:gd name="connsiteX4" fmla="*/ 0 w 668191"/>
                <a:gd name="connsiteY4" fmla="*/ 160637 h 494270"/>
                <a:gd name="connsiteX5" fmla="*/ 12357 w 668191"/>
                <a:gd name="connsiteY5" fmla="*/ 271848 h 494270"/>
                <a:gd name="connsiteX6" fmla="*/ 24714 w 668191"/>
                <a:gd name="connsiteY6" fmla="*/ 308919 h 494270"/>
                <a:gd name="connsiteX7" fmla="*/ 98854 w 668191"/>
                <a:gd name="connsiteY7" fmla="*/ 358346 h 494270"/>
                <a:gd name="connsiteX8" fmla="*/ 135925 w 668191"/>
                <a:gd name="connsiteY8" fmla="*/ 383059 h 494270"/>
                <a:gd name="connsiteX9" fmla="*/ 185352 w 668191"/>
                <a:gd name="connsiteY9" fmla="*/ 395416 h 494270"/>
                <a:gd name="connsiteX10" fmla="*/ 222422 w 668191"/>
                <a:gd name="connsiteY10" fmla="*/ 407773 h 494270"/>
                <a:gd name="connsiteX11" fmla="*/ 296563 w 668191"/>
                <a:gd name="connsiteY11" fmla="*/ 420129 h 494270"/>
                <a:gd name="connsiteX12" fmla="*/ 630195 w 668191"/>
                <a:gd name="connsiteY12" fmla="*/ 407773 h 494270"/>
                <a:gd name="connsiteX13" fmla="*/ 593125 w 668191"/>
                <a:gd name="connsiteY13" fmla="*/ 395416 h 494270"/>
                <a:gd name="connsiteX14" fmla="*/ 630195 w 668191"/>
                <a:gd name="connsiteY14" fmla="*/ 383059 h 494270"/>
                <a:gd name="connsiteX15" fmla="*/ 667265 w 668191"/>
                <a:gd name="connsiteY15" fmla="*/ 395416 h 494270"/>
                <a:gd name="connsiteX16" fmla="*/ 593125 w 668191"/>
                <a:gd name="connsiteY16" fmla="*/ 444843 h 494270"/>
                <a:gd name="connsiteX17" fmla="*/ 531341 w 668191"/>
                <a:gd name="connsiteY17" fmla="*/ 494270 h 494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68191" h="494270">
                  <a:moveTo>
                    <a:pt x="172995" y="0"/>
                  </a:moveTo>
                  <a:cubicBezTo>
                    <a:pt x="152400" y="4119"/>
                    <a:pt x="129446" y="1936"/>
                    <a:pt x="111211" y="12356"/>
                  </a:cubicBezTo>
                  <a:cubicBezTo>
                    <a:pt x="98317" y="19724"/>
                    <a:pt x="96999" y="38926"/>
                    <a:pt x="86498" y="49427"/>
                  </a:cubicBezTo>
                  <a:cubicBezTo>
                    <a:pt x="75997" y="59928"/>
                    <a:pt x="61784" y="65902"/>
                    <a:pt x="49427" y="74140"/>
                  </a:cubicBezTo>
                  <a:cubicBezTo>
                    <a:pt x="34378" y="94206"/>
                    <a:pt x="0" y="129189"/>
                    <a:pt x="0" y="160637"/>
                  </a:cubicBezTo>
                  <a:cubicBezTo>
                    <a:pt x="0" y="197935"/>
                    <a:pt x="6225" y="235057"/>
                    <a:pt x="12357" y="271848"/>
                  </a:cubicBezTo>
                  <a:cubicBezTo>
                    <a:pt x="14498" y="284696"/>
                    <a:pt x="15504" y="299709"/>
                    <a:pt x="24714" y="308919"/>
                  </a:cubicBezTo>
                  <a:cubicBezTo>
                    <a:pt x="45716" y="329921"/>
                    <a:pt x="74141" y="341871"/>
                    <a:pt x="98854" y="358346"/>
                  </a:cubicBezTo>
                  <a:cubicBezTo>
                    <a:pt x="111211" y="366584"/>
                    <a:pt x="121517" y="379457"/>
                    <a:pt x="135925" y="383059"/>
                  </a:cubicBezTo>
                  <a:cubicBezTo>
                    <a:pt x="152401" y="387178"/>
                    <a:pt x="169023" y="390750"/>
                    <a:pt x="185352" y="395416"/>
                  </a:cubicBezTo>
                  <a:cubicBezTo>
                    <a:pt x="197876" y="398994"/>
                    <a:pt x="209707" y="404948"/>
                    <a:pt x="222422" y="407773"/>
                  </a:cubicBezTo>
                  <a:cubicBezTo>
                    <a:pt x="246880" y="413208"/>
                    <a:pt x="271849" y="416010"/>
                    <a:pt x="296563" y="420129"/>
                  </a:cubicBezTo>
                  <a:cubicBezTo>
                    <a:pt x="407774" y="416010"/>
                    <a:pt x="519292" y="417015"/>
                    <a:pt x="630195" y="407773"/>
                  </a:cubicBezTo>
                  <a:cubicBezTo>
                    <a:pt x="643175" y="406691"/>
                    <a:pt x="593125" y="408441"/>
                    <a:pt x="593125" y="395416"/>
                  </a:cubicBezTo>
                  <a:cubicBezTo>
                    <a:pt x="593125" y="382391"/>
                    <a:pt x="617838" y="387178"/>
                    <a:pt x="630195" y="383059"/>
                  </a:cubicBezTo>
                  <a:cubicBezTo>
                    <a:pt x="642552" y="387178"/>
                    <a:pt x="673966" y="384247"/>
                    <a:pt x="667265" y="395416"/>
                  </a:cubicBezTo>
                  <a:cubicBezTo>
                    <a:pt x="651984" y="420885"/>
                    <a:pt x="617838" y="428368"/>
                    <a:pt x="593125" y="444843"/>
                  </a:cubicBezTo>
                  <a:cubicBezTo>
                    <a:pt x="546358" y="476021"/>
                    <a:pt x="566557" y="459052"/>
                    <a:pt x="531341" y="494270"/>
                  </a:cubicBezTo>
                </a:path>
              </a:pathLst>
            </a:cu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1392194" y="1422740"/>
            <a:ext cx="106309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Langchain does not have any llm model .it just provide </a:t>
            </a:r>
            <a:r>
              <a:rPr lang="en-US" sz="1600" dirty="0" smtClean="0"/>
              <a:t>standard </a:t>
            </a:r>
            <a:r>
              <a:rPr lang="en-US" sz="1600" dirty="0"/>
              <a:t>interface that </a:t>
            </a:r>
            <a:r>
              <a:rPr lang="en-US" sz="1600" dirty="0" smtClean="0"/>
              <a:t>interacting with  </a:t>
            </a:r>
            <a:r>
              <a:rPr lang="en-US" sz="1600" dirty="0"/>
              <a:t>LLM including OpenAI </a:t>
            </a:r>
            <a:r>
              <a:rPr lang="en-US" sz="1600" dirty="0" smtClean="0"/>
              <a:t>GP,Google Gemini, Facebook Ollama ,Anthropic Sonnet</a:t>
            </a:r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1392194" y="2231080"/>
            <a:ext cx="4154471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D05E"/>
            </a:solidFill>
          </a:ln>
        </p:spPr>
        <p:txBody>
          <a:bodyPr wrap="none">
            <a:spAutoFit/>
          </a:bodyPr>
          <a:lstStyle/>
          <a:p>
            <a:r>
              <a:rPr lang="en-US" sz="1400" dirty="0"/>
              <a:t>In Langchain </a:t>
            </a:r>
            <a:r>
              <a:rPr lang="en-US" sz="1400" dirty="0" smtClean="0"/>
              <a:t>terminology </a:t>
            </a:r>
            <a:r>
              <a:rPr lang="en-US" sz="1400" dirty="0"/>
              <a:t>these are called </a:t>
            </a:r>
            <a:r>
              <a:rPr lang="en-US" sz="1400" dirty="0" smtClean="0"/>
              <a:t>LLM </a:t>
            </a:r>
            <a:r>
              <a:rPr lang="en-US" sz="1400" dirty="0"/>
              <a:t>Provide</a:t>
            </a:r>
            <a:endParaRPr lang="en-IN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1392194" y="3523046"/>
            <a:ext cx="1803122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D05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Requirements.txt</a:t>
            </a:r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1392194" y="3299254"/>
            <a:ext cx="10346725" cy="37070"/>
          </a:xfrm>
          <a:prstGeom prst="line">
            <a:avLst/>
          </a:prstGeom>
          <a:ln>
            <a:solidFill>
              <a:srgbClr val="15C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07768" y="4115488"/>
            <a:ext cx="9833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It we install  multiple package at once ,we need to put package in </a:t>
            </a:r>
            <a:r>
              <a:rPr lang="en-US" sz="1600" b="1" i="1" dirty="0" smtClean="0">
                <a:solidFill>
                  <a:srgbClr val="FF0000"/>
                </a:solidFill>
              </a:rPr>
              <a:t>requirements txt </a:t>
            </a:r>
            <a:r>
              <a:rPr lang="en-US" sz="1600" dirty="0" smtClean="0"/>
              <a:t>file and execute below command</a:t>
            </a:r>
            <a:endParaRPr lang="en-IN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3665259" y="4967415"/>
            <a:ext cx="2648546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1"/>
                </a:solidFill>
              </a:rPr>
              <a:t>pip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00B050"/>
                </a:solidFill>
              </a:rPr>
              <a:t>install</a:t>
            </a:r>
            <a:r>
              <a:rPr lang="en-US" sz="1600" dirty="0" smtClean="0"/>
              <a:t> –</a:t>
            </a:r>
            <a:r>
              <a:rPr lang="en-US" sz="1600" dirty="0" smtClean="0">
                <a:solidFill>
                  <a:srgbClr val="002060"/>
                </a:solidFill>
              </a:rPr>
              <a:t>r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002060"/>
                </a:solidFill>
              </a:rPr>
              <a:t>requirements.tx</a:t>
            </a:r>
            <a:r>
              <a:rPr lang="en-US" sz="1600" dirty="0" smtClean="0"/>
              <a:t>t</a:t>
            </a:r>
            <a:endParaRPr lang="en-IN" sz="16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8134866" y="4767360"/>
            <a:ext cx="1913536" cy="1213310"/>
            <a:chOff x="8134866" y="4767360"/>
            <a:chExt cx="1913536" cy="1213310"/>
          </a:xfrm>
        </p:grpSpPr>
        <p:grpSp>
          <p:nvGrpSpPr>
            <p:cNvPr id="20" name="Group 19"/>
            <p:cNvGrpSpPr/>
            <p:nvPr/>
          </p:nvGrpSpPr>
          <p:grpSpPr>
            <a:xfrm>
              <a:off x="8134866" y="4767360"/>
              <a:ext cx="1913536" cy="1064575"/>
              <a:chOff x="8134866" y="4767360"/>
              <a:chExt cx="1913536" cy="1064575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8134866" y="4767360"/>
                <a:ext cx="12234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Model Output</a:t>
                </a:r>
                <a:endParaRPr lang="en-IN" sz="1400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8215400" y="5129256"/>
                <a:ext cx="7486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content</a:t>
                </a:r>
                <a:endParaRPr lang="en-IN" sz="1400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8215400" y="5524158"/>
                <a:ext cx="18330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Print( outupt.content )</a:t>
                </a:r>
                <a:endParaRPr lang="en-IN" sz="1400" dirty="0"/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8134866" y="4767360"/>
              <a:ext cx="1913536" cy="121331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74432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40148" y="242846"/>
            <a:ext cx="2564309" cy="369332"/>
            <a:chOff x="440148" y="242846"/>
            <a:chExt cx="2564309" cy="369332"/>
          </a:xfrm>
        </p:grpSpPr>
        <p:sp>
          <p:nvSpPr>
            <p:cNvPr id="2" name="TextBox 1"/>
            <p:cNvSpPr txBox="1"/>
            <p:nvPr/>
          </p:nvSpPr>
          <p:spPr>
            <a:xfrm>
              <a:off x="440148" y="242846"/>
              <a:ext cx="24449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  <a:latin typeface="Bahnschrift" pitchFamily="34" charset="0"/>
                </a:rPr>
                <a:t>Langchain Use-Cases</a:t>
              </a:r>
              <a:endParaRPr lang="en-IN" dirty="0">
                <a:solidFill>
                  <a:srgbClr val="00B050"/>
                </a:solidFill>
                <a:latin typeface="Bahnschrift" pitchFamily="34" charset="0"/>
              </a:endParaRP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440148" y="612178"/>
              <a:ext cx="2564309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831273" y="779410"/>
            <a:ext cx="982641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D05E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/>
              <a:t>Chat Bots</a:t>
            </a:r>
            <a:endParaRPr lang="en-IN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831273" y="1177758"/>
            <a:ext cx="2584747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D05E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 dirty="0"/>
              <a:t>Question Answering Systems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31273" y="1606705"/>
            <a:ext cx="190840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D05E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 dirty="0"/>
              <a:t>Summarization Tools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45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59637" y="242846"/>
            <a:ext cx="2816797" cy="369332"/>
            <a:chOff x="332396" y="242846"/>
            <a:chExt cx="2816797" cy="369332"/>
          </a:xfrm>
        </p:grpSpPr>
        <p:sp>
          <p:nvSpPr>
            <p:cNvPr id="2" name="TextBox 1"/>
            <p:cNvSpPr txBox="1"/>
            <p:nvPr/>
          </p:nvSpPr>
          <p:spPr>
            <a:xfrm>
              <a:off x="332396" y="242846"/>
              <a:ext cx="2816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  <a:latin typeface="Bahnschrift" pitchFamily="34" charset="0"/>
                </a:rPr>
                <a:t>Langchain Main Concepts</a:t>
              </a:r>
              <a:endParaRPr lang="en-IN" dirty="0">
                <a:solidFill>
                  <a:srgbClr val="00B050"/>
                </a:solidFill>
                <a:latin typeface="Bahnschrift" pitchFamily="34" charset="0"/>
              </a:endParaRP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440148" y="612178"/>
              <a:ext cx="2564309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761444" y="743422"/>
            <a:ext cx="2327945" cy="1075456"/>
            <a:chOff x="831273" y="779410"/>
            <a:chExt cx="2327945" cy="1075456"/>
          </a:xfrm>
        </p:grpSpPr>
        <p:sp>
          <p:nvSpPr>
            <p:cNvPr id="6" name="TextBox 5"/>
            <p:cNvSpPr txBox="1"/>
            <p:nvPr/>
          </p:nvSpPr>
          <p:spPr>
            <a:xfrm>
              <a:off x="831273" y="779410"/>
              <a:ext cx="2327945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1. Langchain Components</a:t>
              </a:r>
              <a:endParaRPr lang="en-IN" sz="16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1273" y="1155210"/>
              <a:ext cx="956865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en-US" dirty="0" smtClean="0"/>
                <a:t>2. Chains</a:t>
              </a:r>
              <a:endParaRPr lang="en-IN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1273" y="1516312"/>
              <a:ext cx="956865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en-US" dirty="0" smtClean="0"/>
                <a:t>3. Agents</a:t>
              </a:r>
              <a:endParaRPr lang="en-IN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07930" y="3406861"/>
            <a:ext cx="2600392" cy="369332"/>
            <a:chOff x="440148" y="242846"/>
            <a:chExt cx="2600392" cy="369332"/>
          </a:xfrm>
        </p:grpSpPr>
        <p:sp>
          <p:nvSpPr>
            <p:cNvPr id="14" name="TextBox 13"/>
            <p:cNvSpPr txBox="1"/>
            <p:nvPr/>
          </p:nvSpPr>
          <p:spPr>
            <a:xfrm>
              <a:off x="440148" y="242846"/>
              <a:ext cx="26003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  <a:latin typeface="Bahnschrift" pitchFamily="34" charset="0"/>
                </a:rPr>
                <a:t>Langchain Components</a:t>
              </a:r>
              <a:endParaRPr lang="en-IN" dirty="0">
                <a:solidFill>
                  <a:srgbClr val="00B050"/>
                </a:solidFill>
                <a:latin typeface="Bahnschrift" pitchFamily="3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440148" y="612178"/>
              <a:ext cx="2564309" cy="0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412502" y="4022109"/>
            <a:ext cx="1915203" cy="1476686"/>
            <a:chOff x="412502" y="4022109"/>
            <a:chExt cx="1915203" cy="1476686"/>
          </a:xfrm>
        </p:grpSpPr>
        <p:sp>
          <p:nvSpPr>
            <p:cNvPr id="16" name="TextBox 15"/>
            <p:cNvSpPr txBox="1"/>
            <p:nvPr/>
          </p:nvSpPr>
          <p:spPr>
            <a:xfrm>
              <a:off x="412502" y="4022109"/>
              <a:ext cx="1512915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00D05E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1. LLM Wrapper</a:t>
              </a:r>
              <a:endParaRPr lang="en-IN" sz="16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25518" y="4393754"/>
              <a:ext cx="1902187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00D05E"/>
              </a:solidFill>
            </a:ln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en-US" dirty="0" smtClean="0"/>
                <a:t>2. Prompt Templates</a:t>
              </a:r>
              <a:endParaRPr lang="en-IN" dirty="0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425518" y="4773544"/>
              <a:ext cx="1102610" cy="725251"/>
              <a:chOff x="831273" y="1606705"/>
              <a:chExt cx="1102610" cy="725251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831273" y="1606705"/>
                <a:ext cx="1017779" cy="3385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rgbClr val="00D05E"/>
                </a:solidFill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r>
                  <a:rPr lang="en-US" dirty="0" smtClean="0"/>
                  <a:t>3. Indexes</a:t>
                </a:r>
                <a:endParaRPr lang="en-IN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831273" y="1993402"/>
                <a:ext cx="1102610" cy="3385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rgbClr val="00D05E"/>
                </a:solidFill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r>
                  <a:rPr lang="en-US" dirty="0" smtClean="0"/>
                  <a:t>4. Memory</a:t>
                </a:r>
                <a:endParaRPr lang="en-IN" dirty="0"/>
              </a:p>
            </p:txBody>
          </p:sp>
        </p:grpSp>
      </p:grpSp>
      <p:cxnSp>
        <p:nvCxnSpPr>
          <p:cNvPr id="7" name="Straight Connector 6"/>
          <p:cNvCxnSpPr/>
          <p:nvPr/>
        </p:nvCxnSpPr>
        <p:spPr>
          <a:xfrm>
            <a:off x="12357" y="3064477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511025" y="5160241"/>
            <a:ext cx="4229043" cy="33855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Bahnschrift Light" pitchFamily="34" charset="0"/>
              </a:rPr>
              <a:t>Memory:  short term and long term memory</a:t>
            </a:r>
            <a:endParaRPr lang="en-IN" sz="1600" dirty="0">
              <a:latin typeface="Bahnschrift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70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49214" y="169501"/>
            <a:ext cx="2564309" cy="338554"/>
            <a:chOff x="273824" y="153873"/>
            <a:chExt cx="2564309" cy="338554"/>
          </a:xfrm>
        </p:grpSpPr>
        <p:sp>
          <p:nvSpPr>
            <p:cNvPr id="5" name="TextBox 4"/>
            <p:cNvSpPr txBox="1"/>
            <p:nvPr/>
          </p:nvSpPr>
          <p:spPr>
            <a:xfrm>
              <a:off x="440148" y="153873"/>
              <a:ext cx="131638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rgbClr val="0070C0"/>
                  </a:solidFill>
                  <a:latin typeface="Bahnschrift" pitchFamily="34" charset="0"/>
                </a:rPr>
                <a:t>Chat Models</a:t>
              </a:r>
              <a:endParaRPr lang="en-IN" sz="1600" dirty="0">
                <a:solidFill>
                  <a:srgbClr val="0070C0"/>
                </a:solidFill>
                <a:latin typeface="Bahnschrift" pitchFamily="34" charset="0"/>
              </a:endParaRP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73824" y="492427"/>
              <a:ext cx="2564309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951470" y="708052"/>
            <a:ext cx="3524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In Langchain when we are working with 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616382" y="1188415"/>
            <a:ext cx="1177142" cy="1134656"/>
            <a:chOff x="2616382" y="1188415"/>
            <a:chExt cx="1177142" cy="1134656"/>
          </a:xfrm>
        </p:grpSpPr>
        <p:grpSp>
          <p:nvGrpSpPr>
            <p:cNvPr id="7" name="Group 6"/>
            <p:cNvGrpSpPr/>
            <p:nvPr/>
          </p:nvGrpSpPr>
          <p:grpSpPr>
            <a:xfrm>
              <a:off x="2616382" y="1287616"/>
              <a:ext cx="873765" cy="946388"/>
              <a:chOff x="2670773" y="1626170"/>
              <a:chExt cx="873765" cy="946388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2670773" y="1626170"/>
                <a:ext cx="83317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- invoke</a:t>
                </a:r>
                <a:endParaRPr lang="en-IN" sz="1600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670773" y="1920163"/>
                <a:ext cx="8737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- stream</a:t>
                </a:r>
                <a:endParaRPr lang="en-IN" sz="1600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2670773" y="2234004"/>
                <a:ext cx="75732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- batch</a:t>
                </a:r>
                <a:endParaRPr lang="en-IN" sz="1600" dirty="0"/>
              </a:p>
            </p:txBody>
          </p:sp>
        </p:grpSp>
        <p:sp>
          <p:nvSpPr>
            <p:cNvPr id="11" name="Rectangle 10"/>
            <p:cNvSpPr/>
            <p:nvPr/>
          </p:nvSpPr>
          <p:spPr>
            <a:xfrm>
              <a:off x="2616382" y="1188415"/>
              <a:ext cx="1177142" cy="1134656"/>
            </a:xfrm>
            <a:prstGeom prst="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631924" y="3674130"/>
            <a:ext cx="67951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But if we need information or </a:t>
            </a:r>
            <a:r>
              <a:rPr lang="en-US" sz="1600" dirty="0" smtClean="0">
                <a:solidFill>
                  <a:srgbClr val="FF4B21"/>
                </a:solidFill>
                <a:latin typeface="Algerian" pitchFamily="82" charset="0"/>
              </a:rPr>
              <a:t>help</a:t>
            </a:r>
            <a:r>
              <a:rPr lang="en-US" sz="1600" dirty="0" smtClean="0">
                <a:solidFill>
                  <a:srgbClr val="FF4B21"/>
                </a:solidFill>
              </a:rPr>
              <a:t> </a:t>
            </a:r>
            <a:r>
              <a:rPr lang="en-US" sz="1600" dirty="0" smtClean="0"/>
              <a:t>while using classes in python environment,</a:t>
            </a:r>
          </a:p>
          <a:p>
            <a:r>
              <a:rPr lang="en-US" sz="1600" dirty="0" smtClean="0"/>
              <a:t>we would typically use </a:t>
            </a:r>
            <a:r>
              <a:rPr lang="en-US" sz="1600" dirty="0" smtClean="0">
                <a:solidFill>
                  <a:srgbClr val="0070C0"/>
                </a:solidFill>
              </a:rPr>
              <a:t>python’s built in </a:t>
            </a:r>
            <a:r>
              <a:rPr lang="en-US" sz="1600" dirty="0" smtClean="0">
                <a:solidFill>
                  <a:srgbClr val="FF6743"/>
                </a:solidFill>
                <a:latin typeface="Algerian" pitchFamily="82" charset="0"/>
              </a:rPr>
              <a:t>help</a:t>
            </a:r>
            <a:r>
              <a:rPr lang="en-US" sz="1600" dirty="0" smtClean="0">
                <a:solidFill>
                  <a:srgbClr val="FF6743"/>
                </a:solidFill>
              </a:rPr>
              <a:t> </a:t>
            </a:r>
            <a:r>
              <a:rPr lang="en-US" sz="1600" dirty="0" smtClean="0"/>
              <a:t>functionality</a:t>
            </a:r>
            <a:endParaRPr lang="en-IN" sz="1600" dirty="0"/>
          </a:p>
        </p:txBody>
      </p:sp>
      <p:sp>
        <p:nvSpPr>
          <p:cNvPr id="15" name="Rectangle 14"/>
          <p:cNvSpPr/>
          <p:nvPr/>
        </p:nvSpPr>
        <p:spPr>
          <a:xfrm>
            <a:off x="1631924" y="3270709"/>
            <a:ext cx="4609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Then we always rely on officinal document for </a:t>
            </a:r>
            <a:r>
              <a:rPr lang="en-US" dirty="0">
                <a:solidFill>
                  <a:srgbClr val="FF4B21"/>
                </a:solidFill>
                <a:latin typeface="Algerian" pitchFamily="82" charset="0"/>
              </a:rPr>
              <a:t>help</a:t>
            </a:r>
            <a:endParaRPr lang="en-US" sz="1600" dirty="0">
              <a:solidFill>
                <a:srgbClr val="FF4B21"/>
              </a:solidFill>
              <a:latin typeface="Algerian" pitchFamily="8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995043" y="4628291"/>
            <a:ext cx="2825966" cy="33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</a:rPr>
              <a:t>help</a:t>
            </a:r>
            <a:r>
              <a:rPr lang="en-IN" sz="1600" dirty="0" smtClean="0">
                <a:solidFill>
                  <a:schemeClr val="accent4">
                    <a:lumMod val="75000"/>
                  </a:schemeClr>
                </a:solidFill>
              </a:rPr>
              <a:t>( </a:t>
            </a:r>
            <a:r>
              <a:rPr lang="en-IN" sz="1600" dirty="0" smtClean="0">
                <a:solidFill>
                  <a:srgbClr val="00D05E"/>
                </a:solidFill>
              </a:rPr>
              <a:t>ChatGoogleGenerativeAI </a:t>
            </a:r>
            <a:r>
              <a:rPr lang="en-IN" sz="1600" dirty="0" smtClean="0">
                <a:solidFill>
                  <a:schemeClr val="accent4">
                    <a:lumMod val="75000"/>
                  </a:schemeClr>
                </a:solidFill>
              </a:rPr>
              <a:t>)</a:t>
            </a:r>
            <a:endParaRPr lang="en-IN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06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167389" y="153873"/>
            <a:ext cx="2564309" cy="461665"/>
            <a:chOff x="440148" y="153873"/>
            <a:chExt cx="2564309" cy="461665"/>
          </a:xfrm>
        </p:grpSpPr>
        <p:sp>
          <p:nvSpPr>
            <p:cNvPr id="9" name="TextBox 8"/>
            <p:cNvSpPr txBox="1"/>
            <p:nvPr/>
          </p:nvSpPr>
          <p:spPr>
            <a:xfrm>
              <a:off x="440148" y="153873"/>
              <a:ext cx="22733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  <a:latin typeface="Bahnschrift" pitchFamily="34" charset="0"/>
                </a:rPr>
                <a:t>Langchain </a:t>
              </a:r>
              <a:r>
                <a:rPr lang="en-US" sz="2400" dirty="0" smtClean="0">
                  <a:solidFill>
                    <a:srgbClr val="00B0F0"/>
                  </a:solidFill>
                  <a:latin typeface="Bahnschrift" pitchFamily="34" charset="0"/>
                </a:rPr>
                <a:t>Agents</a:t>
              </a:r>
              <a:endParaRPr lang="en-IN" dirty="0">
                <a:solidFill>
                  <a:srgbClr val="00B0F0"/>
                </a:solidFill>
                <a:latin typeface="Bahnschrift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440148" y="612178"/>
              <a:ext cx="2564309" cy="0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/>
          <p:cNvSpPr/>
          <p:nvPr/>
        </p:nvSpPr>
        <p:spPr>
          <a:xfrm>
            <a:off x="811426" y="829615"/>
            <a:ext cx="98895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Agents</a:t>
            </a:r>
            <a:r>
              <a:rPr lang="en-US" sz="1600" dirty="0"/>
              <a:t> facilitate interaction between the </a:t>
            </a:r>
            <a:r>
              <a:rPr lang="en-US" sz="1600" b="1" dirty="0"/>
              <a:t>LLM (Large Language Model)</a:t>
            </a:r>
            <a:r>
              <a:rPr lang="en-US" sz="1600" dirty="0"/>
              <a:t> and </a:t>
            </a:r>
            <a:r>
              <a:rPr lang="en-US" sz="1600" b="1" dirty="0"/>
              <a:t>external APIs</a:t>
            </a:r>
            <a:r>
              <a:rPr lang="en-US" sz="1600" dirty="0"/>
              <a:t>. They play a crucial role in </a:t>
            </a:r>
            <a:r>
              <a:rPr lang="en-US" sz="1600" b="1" dirty="0"/>
              <a:t>decision-making</a:t>
            </a:r>
            <a:r>
              <a:rPr lang="en-US" sz="1600" dirty="0"/>
              <a:t>, determining which actions the LLM should undertake.</a:t>
            </a:r>
            <a:endParaRPr lang="en-IN" sz="1600" dirty="0"/>
          </a:p>
        </p:txBody>
      </p:sp>
      <p:sp>
        <p:nvSpPr>
          <p:cNvPr id="4" name="Rectangle 3"/>
          <p:cNvSpPr/>
          <p:nvPr/>
        </p:nvSpPr>
        <p:spPr>
          <a:xfrm>
            <a:off x="1911179" y="2087431"/>
            <a:ext cx="6096000" cy="13542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sz="1600" dirty="0"/>
              <a:t>This process involves</a:t>
            </a:r>
            <a:r>
              <a:rPr lang="en-US" sz="1600" dirty="0" smtClean="0"/>
              <a:t>:</a:t>
            </a:r>
          </a:p>
          <a:p>
            <a:endParaRPr lang="en-US" sz="1600" dirty="0"/>
          </a:p>
          <a:p>
            <a:pPr marL="742950" lvl="1" indent="-285750">
              <a:buFont typeface="Wingdings" pitchFamily="2" charset="2"/>
              <a:buChar char="§"/>
            </a:pPr>
            <a:r>
              <a:rPr lang="en-US" sz="1600" dirty="0"/>
              <a:t>Taking an action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sz="1600" dirty="0"/>
              <a:t>Observing the result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sz="1600" dirty="0"/>
              <a:t>Repeating the cycle until completion</a:t>
            </a:r>
            <a:endParaRPr lang="en-US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906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16" y="430021"/>
            <a:ext cx="5756779" cy="3662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47136" y="3938901"/>
            <a:ext cx="113698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Bahnschrift Light" pitchFamily="34" charset="0"/>
              </a:rPr>
              <a:t>The OpenAI API for GPT 3.5 turbo, GPT for GPT four turbo, and so on uses a list of dictionaries </a:t>
            </a:r>
            <a:r>
              <a:rPr lang="en-US" sz="1400" dirty="0" smtClean="0">
                <a:latin typeface="Bahnschrift Light" pitchFamily="34" charset="0"/>
              </a:rPr>
              <a:t>called messages</a:t>
            </a:r>
            <a:r>
              <a:rPr lang="en-US" sz="1400" dirty="0">
                <a:latin typeface="Bahnschrift Light" pitchFamily="34" charset="0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4015" y="4601688"/>
            <a:ext cx="1126296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mbria" pitchFamily="18" charset="0"/>
                <a:ea typeface="Cambria" pitchFamily="18" charset="0"/>
              </a:rPr>
              <a:t>These messages define three roles </a:t>
            </a:r>
          </a:p>
          <a:p>
            <a:r>
              <a:rPr lang="en-US" sz="1400" dirty="0">
                <a:latin typeface="Cambria" pitchFamily="18" charset="0"/>
                <a:ea typeface="Cambria" pitchFamily="18" charset="0"/>
              </a:rPr>
              <a:t>system, </a:t>
            </a:r>
          </a:p>
          <a:p>
            <a:r>
              <a:rPr lang="en-US" sz="1400" dirty="0">
                <a:latin typeface="Cambria" pitchFamily="18" charset="0"/>
                <a:ea typeface="Cambria" pitchFamily="18" charset="0"/>
              </a:rPr>
              <a:t>user, and </a:t>
            </a:r>
          </a:p>
          <a:p>
            <a:r>
              <a:rPr lang="en-US" sz="1400" dirty="0">
                <a:latin typeface="Cambria" pitchFamily="18" charset="0"/>
                <a:ea typeface="Cambria" pitchFamily="18" charset="0"/>
              </a:rPr>
              <a:t>assistant.</a:t>
            </a:r>
          </a:p>
          <a:p>
            <a:endParaRPr lang="en-US" sz="1400" dirty="0">
              <a:latin typeface="Cambria" pitchFamily="18" charset="0"/>
              <a:ea typeface="Cambria" pitchFamily="18" charset="0"/>
            </a:endParaRPr>
          </a:p>
          <a:p>
            <a:r>
              <a:rPr lang="en-US" sz="1400" dirty="0">
                <a:latin typeface="Cambria" pitchFamily="18" charset="0"/>
                <a:ea typeface="Cambria" pitchFamily="18" charset="0"/>
              </a:rPr>
              <a:t>The system role helps set the behavior of the assistant.</a:t>
            </a:r>
          </a:p>
          <a:p>
            <a:r>
              <a:rPr lang="en-US" sz="1400" dirty="0">
                <a:latin typeface="Cambria" pitchFamily="18" charset="0"/>
                <a:ea typeface="Cambria" pitchFamily="18" charset="0"/>
              </a:rPr>
              <a:t>The user message serves as the prompt or the question we ask the assistant and the assistant messages.</a:t>
            </a:r>
            <a:endParaRPr lang="en-IN" sz="14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06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61060" y="320468"/>
            <a:ext cx="102162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When calling the LMM from Lang chain, we need to import a schema for the messages from Lang chain schema.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4906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8672" y="178130"/>
            <a:ext cx="2272106" cy="338450"/>
            <a:chOff x="248672" y="195940"/>
            <a:chExt cx="2272106" cy="338450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248672" y="534390"/>
              <a:ext cx="2272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/>
            <p:cNvSpPr/>
            <p:nvPr/>
          </p:nvSpPr>
          <p:spPr>
            <a:xfrm>
              <a:off x="248672" y="195940"/>
              <a:ext cx="2062042" cy="33251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Bahnschrift" pitchFamily="34" charset="0"/>
                </a:rPr>
                <a:t>Caching LLM Response</a:t>
              </a: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026" y="873725"/>
            <a:ext cx="4823769" cy="220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45990" y="3543971"/>
            <a:ext cx="1157828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In the context of long chain caching helps optimize interactions with the LMS.</a:t>
            </a:r>
          </a:p>
          <a:p>
            <a:endParaRPr lang="en-US" sz="1400" dirty="0"/>
          </a:p>
          <a:p>
            <a:r>
              <a:rPr lang="en-US" sz="1400" dirty="0"/>
              <a:t>It matters because it reduces API calls and speeds up applications.</a:t>
            </a:r>
          </a:p>
          <a:p>
            <a:endParaRPr lang="en-US" sz="1400" dirty="0"/>
          </a:p>
          <a:p>
            <a:r>
              <a:rPr lang="en-US" sz="1400" dirty="0"/>
              <a:t>When you repeatedly request the same completion from an LM, caching ensures that the result is stored locally.</a:t>
            </a:r>
          </a:p>
          <a:p>
            <a:r>
              <a:rPr lang="en-US" sz="1400" dirty="0"/>
              <a:t>Subsequent requests for the same input can then be served directly from the cache, reducing the number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of expensive API calls to the LM provider by avoiding redundant API calls.</a:t>
            </a:r>
          </a:p>
          <a:p>
            <a:endParaRPr lang="en-US" sz="1400" dirty="0"/>
          </a:p>
          <a:p>
            <a:r>
              <a:rPr lang="en-US" sz="1400" dirty="0"/>
              <a:t>Caching significantly speeds up your application whether you are building </a:t>
            </a:r>
            <a:r>
              <a:rPr lang="en-US" sz="1400" dirty="0" smtClean="0"/>
              <a:t>chat box </a:t>
            </a:r>
            <a:r>
              <a:rPr lang="en-US" sz="1400" dirty="0"/>
              <a:t>content generators,</a:t>
            </a:r>
          </a:p>
          <a:p>
            <a:endParaRPr lang="en-US" sz="1400" dirty="0"/>
          </a:p>
          <a:p>
            <a:r>
              <a:rPr lang="en-US" sz="1400" dirty="0"/>
              <a:t>Faster responses enhance the user experience.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659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06627" y="246274"/>
            <a:ext cx="100831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Link chain provides an optional caching layer for LLM and there are two caching options </a:t>
            </a:r>
          </a:p>
          <a:p>
            <a:endParaRPr lang="en-US" dirty="0"/>
          </a:p>
          <a:p>
            <a:r>
              <a:rPr lang="en-US" dirty="0"/>
              <a:t> in-memory cache and SQLite cache.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01475" y="185178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%%time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is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Jupyter Notebook magic command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(not standard Python).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838" y="2525918"/>
            <a:ext cx="4713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It measures the </a:t>
            </a:r>
            <a:r>
              <a:rPr lang="en-US" b="1" dirty="0"/>
              <a:t>execution time of an entire cell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315874" y="2895250"/>
            <a:ext cx="989364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When you run a cell with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%%time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at the very top, Jupyter reports: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CPU time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→ how long the processor worked.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Wall time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→ the actual elapsed time (including waiting, I/O,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23319" y="409557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%time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→ times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 single line of code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%%time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→ times the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whole cell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 rot="10800000" flipV="1">
            <a:off x="1034818" y="5065786"/>
            <a:ext cx="109253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So</a:t>
            </a:r>
            <a:r>
              <a:rPr lang="en-US" dirty="0" smtClean="0"/>
              <a:t>,  </a:t>
            </a:r>
            <a:r>
              <a:rPr lang="en-US" dirty="0"/>
              <a:t>%%time is your </a:t>
            </a:r>
            <a:r>
              <a:rPr lang="en-US" dirty="0" smtClean="0"/>
              <a:t>stopwatch </a:t>
            </a:r>
            <a:r>
              <a:rPr lang="en-US" dirty="0"/>
              <a:t>for an entire cell in Jupyter. </a:t>
            </a:r>
          </a:p>
        </p:txBody>
      </p:sp>
    </p:spTree>
    <p:extLst>
      <p:ext uri="{BB962C8B-B14F-4D97-AF65-F5344CB8AC3E}">
        <p14:creationId xmlns:p14="http://schemas.microsoft.com/office/powerpoint/2010/main" val="324906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651685" y="643634"/>
            <a:ext cx="7615883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66"/>
                </a:solidFill>
                <a:ea typeface="Arial Unicode MS" pitchFamily="34" charset="-128"/>
                <a:cs typeface="Arial Unicode MS" pitchFamily="34" charset="-128"/>
              </a:rPr>
              <a:t>from</a:t>
            </a:r>
            <a:r>
              <a:rPr lang="en-IN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IN" dirty="0">
                <a:solidFill>
                  <a:srgbClr val="00D05E"/>
                </a:solidFill>
                <a:ea typeface="Arial Unicode MS" pitchFamily="34" charset="-128"/>
                <a:cs typeface="Arial Unicode MS" pitchFamily="34" charset="-128"/>
              </a:rPr>
              <a:t>langchain_google_genai</a:t>
            </a:r>
            <a:r>
              <a:rPr lang="en-IN" dirty="0">
                <a:ea typeface="Arial Unicode MS" pitchFamily="34" charset="-128"/>
                <a:cs typeface="Arial Unicode MS" pitchFamily="34" charset="-128"/>
              </a:rPr>
              <a:t>  </a:t>
            </a:r>
            <a:r>
              <a:rPr lang="en-IN" dirty="0">
                <a:solidFill>
                  <a:srgbClr val="FF0066"/>
                </a:solidFill>
                <a:ea typeface="Arial Unicode MS" pitchFamily="34" charset="-128"/>
                <a:cs typeface="Arial Unicode MS" pitchFamily="34" charset="-128"/>
              </a:rPr>
              <a:t>import</a:t>
            </a:r>
            <a:r>
              <a:rPr lang="en-IN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IN" dirty="0">
                <a:solidFill>
                  <a:srgbClr val="00D05E"/>
                </a:solidFill>
                <a:ea typeface="Arial Unicode MS" pitchFamily="34" charset="-128"/>
                <a:cs typeface="Arial Unicode MS" pitchFamily="34" charset="-128"/>
              </a:rPr>
              <a:t>ChatGoogleGenerativeAI</a:t>
            </a:r>
          </a:p>
          <a:p>
            <a:r>
              <a:rPr lang="en-IN" dirty="0">
                <a:solidFill>
                  <a:srgbClr val="FF0066"/>
                </a:solidFill>
                <a:ea typeface="Arial Unicode MS" pitchFamily="34" charset="-128"/>
                <a:cs typeface="Arial Unicode MS" pitchFamily="34" charset="-128"/>
              </a:rPr>
              <a:t>from</a:t>
            </a:r>
            <a:r>
              <a:rPr lang="en-IN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IN" dirty="0">
                <a:solidFill>
                  <a:srgbClr val="00D05E"/>
                </a:solidFill>
                <a:ea typeface="Arial Unicode MS" pitchFamily="34" charset="-128"/>
                <a:cs typeface="Arial Unicode MS" pitchFamily="34" charset="-128"/>
              </a:rPr>
              <a:t>langchain.globals</a:t>
            </a:r>
            <a:r>
              <a:rPr lang="en-IN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IN" dirty="0">
                <a:solidFill>
                  <a:srgbClr val="FF0066"/>
                </a:solidFill>
                <a:ea typeface="Arial Unicode MS" pitchFamily="34" charset="-128"/>
                <a:cs typeface="Arial Unicode MS" pitchFamily="34" charset="-128"/>
              </a:rPr>
              <a:t>import</a:t>
            </a:r>
            <a:r>
              <a:rPr lang="en-IN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IN" dirty="0">
                <a:solidFill>
                  <a:schemeClr val="accent2"/>
                </a:solidFill>
                <a:ea typeface="Arial Unicode MS" pitchFamily="34" charset="-128"/>
                <a:cs typeface="Arial Unicode MS" pitchFamily="34" charset="-128"/>
              </a:rPr>
              <a:t>set_llm_cache</a:t>
            </a:r>
          </a:p>
          <a:p>
            <a:r>
              <a:rPr lang="en-IN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llm</a:t>
            </a:r>
            <a:r>
              <a:rPr lang="en-IN" dirty="0">
                <a:ea typeface="Arial Unicode MS" pitchFamily="34" charset="-128"/>
                <a:cs typeface="Arial Unicode MS" pitchFamily="34" charset="-128"/>
              </a:rPr>
              <a:t> = </a:t>
            </a:r>
            <a:r>
              <a:rPr lang="en-IN" dirty="0">
                <a:solidFill>
                  <a:srgbClr val="00D05E"/>
                </a:solidFill>
                <a:ea typeface="Arial Unicode MS" pitchFamily="34" charset="-128"/>
                <a:cs typeface="Arial Unicode MS" pitchFamily="34" charset="-128"/>
              </a:rPr>
              <a:t>ChatGoogleGenerativeAI</a:t>
            </a:r>
            <a:r>
              <a:rPr lang="en-IN" dirty="0">
                <a:solidFill>
                  <a:schemeClr val="accent2"/>
                </a:solidFill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IN" dirty="0">
                <a:solidFill>
                  <a:srgbClr val="00B0F0"/>
                </a:solidFill>
                <a:ea typeface="Arial Unicode MS" pitchFamily="34" charset="-128"/>
                <a:cs typeface="Arial Unicode MS" pitchFamily="34" charset="-128"/>
              </a:rPr>
              <a:t>model</a:t>
            </a:r>
            <a:r>
              <a:rPr lang="en-IN" dirty="0">
                <a:ea typeface="Arial Unicode MS" pitchFamily="34" charset="-128"/>
                <a:cs typeface="Arial Unicode MS" pitchFamily="34" charset="-128"/>
              </a:rPr>
              <a:t>=</a:t>
            </a:r>
            <a:r>
              <a:rPr lang="en-IN" dirty="0">
                <a:solidFill>
                  <a:schemeClr val="accent2"/>
                </a:solidFill>
                <a:ea typeface="Arial Unicode MS" pitchFamily="34" charset="-128"/>
                <a:cs typeface="Arial Unicode MS" pitchFamily="34" charset="-128"/>
              </a:rPr>
              <a:t>"gemini-2.5-flash")</a:t>
            </a:r>
          </a:p>
          <a:p>
            <a:r>
              <a:rPr lang="en-IN" dirty="0"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IN" dirty="0">
                <a:ea typeface="Arial Unicode MS" pitchFamily="34" charset="-128"/>
                <a:cs typeface="Arial Unicode MS" pitchFamily="34" charset="-128"/>
              </a:rPr>
            </a:br>
            <a:r>
              <a:rPr lang="en-IN" dirty="0">
                <a:solidFill>
                  <a:srgbClr val="FF0066"/>
                </a:solidFill>
                <a:ea typeface="Arial Unicode MS" pitchFamily="34" charset="-128"/>
                <a:cs typeface="Arial Unicode MS" pitchFamily="34" charset="-128"/>
              </a:rPr>
              <a:t>from</a:t>
            </a:r>
            <a:r>
              <a:rPr lang="en-IN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IN" dirty="0">
                <a:solidFill>
                  <a:srgbClr val="00D05E"/>
                </a:solidFill>
                <a:ea typeface="Arial Unicode MS" pitchFamily="34" charset="-128"/>
                <a:cs typeface="Arial Unicode MS" pitchFamily="34" charset="-128"/>
              </a:rPr>
              <a:t>langchain.cache</a:t>
            </a:r>
            <a:r>
              <a:rPr lang="en-IN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IN" dirty="0">
                <a:solidFill>
                  <a:srgbClr val="FF0066"/>
                </a:solidFill>
                <a:ea typeface="Arial Unicode MS" pitchFamily="34" charset="-128"/>
                <a:cs typeface="Arial Unicode MS" pitchFamily="34" charset="-128"/>
              </a:rPr>
              <a:t>import</a:t>
            </a:r>
            <a:r>
              <a:rPr lang="en-IN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IN" dirty="0">
                <a:solidFill>
                  <a:srgbClr val="00B0F0"/>
                </a:solidFill>
                <a:ea typeface="Arial Unicode MS" pitchFamily="34" charset="-128"/>
                <a:cs typeface="Arial Unicode MS" pitchFamily="34" charset="-128"/>
              </a:rPr>
              <a:t>InMemoryCache</a:t>
            </a:r>
          </a:p>
          <a:p>
            <a:r>
              <a:rPr lang="en-IN" dirty="0">
                <a:solidFill>
                  <a:schemeClr val="accent2"/>
                </a:solidFill>
                <a:ea typeface="Arial Unicode MS" pitchFamily="34" charset="-128"/>
                <a:cs typeface="Arial Unicode MS" pitchFamily="34" charset="-128"/>
              </a:rPr>
              <a:t>set_llm_cache(</a:t>
            </a:r>
            <a:r>
              <a:rPr lang="en-IN" dirty="0">
                <a:solidFill>
                  <a:srgbClr val="00D05E"/>
                </a:solidFill>
                <a:ea typeface="Arial Unicode MS" pitchFamily="34" charset="-128"/>
                <a:cs typeface="Arial Unicode MS" pitchFamily="34" charset="-128"/>
              </a:rPr>
              <a:t>InMemoryCache</a:t>
            </a:r>
            <a:r>
              <a:rPr lang="en-IN" dirty="0">
                <a:solidFill>
                  <a:srgbClr val="FF0066"/>
                </a:solidFill>
                <a:ea typeface="Arial Unicode MS" pitchFamily="34" charset="-128"/>
                <a:cs typeface="Arial Unicode MS" pitchFamily="34" charset="-128"/>
              </a:rPr>
              <a:t>()</a:t>
            </a:r>
            <a:r>
              <a:rPr lang="en-IN" dirty="0">
                <a:solidFill>
                  <a:schemeClr val="accent2"/>
                </a:solidFill>
                <a:ea typeface="Arial Unicode MS" pitchFamily="34" charset="-128"/>
                <a:cs typeface="Arial Unicode MS" pitchFamily="34" charset="-128"/>
              </a:rPr>
              <a:t>)</a:t>
            </a:r>
          </a:p>
          <a:p>
            <a:r>
              <a:rPr lang="en-IN" dirty="0">
                <a:solidFill>
                  <a:srgbClr val="00B0F0"/>
                </a:solidFill>
                <a:ea typeface="Arial Unicode MS" pitchFamily="34" charset="-128"/>
                <a:cs typeface="Arial Unicode MS" pitchFamily="34" charset="-128"/>
              </a:rPr>
              <a:t>output</a:t>
            </a:r>
            <a:r>
              <a:rPr lang="en-IN" dirty="0">
                <a:ea typeface="Arial Unicode MS" pitchFamily="34" charset="-128"/>
                <a:cs typeface="Arial Unicode MS" pitchFamily="34" charset="-128"/>
              </a:rPr>
              <a:t>=</a:t>
            </a:r>
            <a:r>
              <a:rPr lang="en-IN" dirty="0">
                <a:solidFill>
                  <a:srgbClr val="00B0F0"/>
                </a:solidFill>
                <a:ea typeface="Arial Unicode MS" pitchFamily="34" charset="-128"/>
                <a:cs typeface="Arial Unicode MS" pitchFamily="34" charset="-128"/>
              </a:rPr>
              <a:t>llm</a:t>
            </a:r>
            <a:r>
              <a:rPr lang="en-IN" dirty="0">
                <a:solidFill>
                  <a:schemeClr val="accent2"/>
                </a:solidFill>
                <a:ea typeface="Arial Unicode MS" pitchFamily="34" charset="-128"/>
                <a:cs typeface="Arial Unicode MS" pitchFamily="34" charset="-128"/>
              </a:rPr>
              <a:t>.invoke("what is 2june 1986 week day?")</a:t>
            </a:r>
          </a:p>
        </p:txBody>
      </p:sp>
      <p:sp>
        <p:nvSpPr>
          <p:cNvPr id="3" name="Rectangle 2"/>
          <p:cNvSpPr/>
          <p:nvPr/>
        </p:nvSpPr>
        <p:spPr>
          <a:xfrm>
            <a:off x="1651684" y="2878263"/>
            <a:ext cx="7615883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66"/>
                </a:solidFill>
                <a:cs typeface="Arial" pitchFamily="34" charset="0"/>
              </a:rPr>
              <a:t>from</a:t>
            </a:r>
            <a:r>
              <a:rPr lang="en-IN" dirty="0">
                <a:cs typeface="Arial" pitchFamily="34" charset="0"/>
              </a:rPr>
              <a:t> </a:t>
            </a:r>
            <a:r>
              <a:rPr lang="en-IN" dirty="0">
                <a:solidFill>
                  <a:srgbClr val="00B050"/>
                </a:solidFill>
                <a:cs typeface="Arial" pitchFamily="34" charset="0"/>
              </a:rPr>
              <a:t>langchain.cache</a:t>
            </a:r>
            <a:r>
              <a:rPr lang="en-IN" dirty="0">
                <a:cs typeface="Arial" pitchFamily="34" charset="0"/>
              </a:rPr>
              <a:t> </a:t>
            </a:r>
            <a:r>
              <a:rPr lang="en-IN" dirty="0">
                <a:solidFill>
                  <a:srgbClr val="FF0066"/>
                </a:solidFill>
                <a:cs typeface="Arial" pitchFamily="34" charset="0"/>
              </a:rPr>
              <a:t>import</a:t>
            </a:r>
            <a:r>
              <a:rPr lang="en-IN" dirty="0">
                <a:cs typeface="Arial" pitchFamily="34" charset="0"/>
              </a:rPr>
              <a:t> </a:t>
            </a:r>
            <a:r>
              <a:rPr lang="en-IN" dirty="0" smtClean="0">
                <a:solidFill>
                  <a:srgbClr val="00B050"/>
                </a:solidFill>
                <a:cs typeface="Arial" pitchFamily="34" charset="0"/>
              </a:rPr>
              <a:t>SQLiteCache</a:t>
            </a:r>
          </a:p>
          <a:p>
            <a:endParaRPr lang="en-IN" dirty="0">
              <a:solidFill>
                <a:srgbClr val="00B050"/>
              </a:solidFill>
              <a:cs typeface="Arial" pitchFamily="34" charset="0"/>
            </a:endParaRPr>
          </a:p>
          <a:p>
            <a:r>
              <a:rPr lang="en-IN" dirty="0">
                <a:solidFill>
                  <a:srgbClr val="FF6743"/>
                </a:solidFill>
                <a:cs typeface="Arial" pitchFamily="34" charset="0"/>
              </a:rPr>
              <a:t>set_llm_cache(SQLiteCache(</a:t>
            </a:r>
            <a:r>
              <a:rPr lang="en-IN" dirty="0">
                <a:solidFill>
                  <a:schemeClr val="accent1"/>
                </a:solidFill>
                <a:cs typeface="Arial" pitchFamily="34" charset="0"/>
              </a:rPr>
              <a:t>database_path</a:t>
            </a:r>
            <a:r>
              <a:rPr lang="en-IN" dirty="0">
                <a:cs typeface="Arial" pitchFamily="34" charset="0"/>
              </a:rPr>
              <a:t>="</a:t>
            </a:r>
            <a:r>
              <a:rPr lang="en-IN" dirty="0">
                <a:solidFill>
                  <a:srgbClr val="FF6743"/>
                </a:solidFill>
                <a:cs typeface="Arial" pitchFamily="34" charset="0"/>
              </a:rPr>
              <a:t>llm_cache.db"))</a:t>
            </a:r>
          </a:p>
          <a:p>
            <a:r>
              <a:rPr lang="en-IN" dirty="0">
                <a:solidFill>
                  <a:schemeClr val="accent1"/>
                </a:solidFill>
                <a:cs typeface="Arial" pitchFamily="34" charset="0"/>
              </a:rPr>
              <a:t>output</a:t>
            </a:r>
            <a:r>
              <a:rPr lang="en-IN" dirty="0">
                <a:cs typeface="Arial" pitchFamily="34" charset="0"/>
              </a:rPr>
              <a:t>=</a:t>
            </a:r>
            <a:r>
              <a:rPr lang="en-IN" dirty="0">
                <a:solidFill>
                  <a:schemeClr val="accent1"/>
                </a:solidFill>
                <a:cs typeface="Arial" pitchFamily="34" charset="0"/>
              </a:rPr>
              <a:t>llm</a:t>
            </a:r>
            <a:r>
              <a:rPr lang="en-IN" dirty="0">
                <a:cs typeface="Arial" pitchFamily="34" charset="0"/>
              </a:rPr>
              <a:t>.</a:t>
            </a:r>
            <a:r>
              <a:rPr lang="en-IN" dirty="0">
                <a:solidFill>
                  <a:srgbClr val="FF6743"/>
                </a:solidFill>
                <a:cs typeface="Arial" pitchFamily="34" charset="0"/>
              </a:rPr>
              <a:t>invoke</a:t>
            </a:r>
            <a:r>
              <a:rPr lang="en-IN" dirty="0">
                <a:cs typeface="Arial" pitchFamily="34" charset="0"/>
              </a:rPr>
              <a:t>(</a:t>
            </a:r>
            <a:r>
              <a:rPr lang="en-IN" dirty="0">
                <a:solidFill>
                  <a:srgbClr val="FF6743"/>
                </a:solidFill>
                <a:cs typeface="Arial" pitchFamily="34" charset="0"/>
              </a:rPr>
              <a:t>"what is 2june 1986 week day?"</a:t>
            </a:r>
            <a:r>
              <a:rPr lang="en-IN" dirty="0">
                <a:cs typeface="Arial" pitchFamily="34" charset="0"/>
              </a:rPr>
              <a:t>)</a:t>
            </a:r>
          </a:p>
          <a:p>
            <a:r>
              <a:rPr lang="en-IN" dirty="0">
                <a:solidFill>
                  <a:schemeClr val="accent2"/>
                </a:solidFill>
                <a:cs typeface="Arial" pitchFamily="34" charset="0"/>
              </a:rPr>
              <a:t>print</a:t>
            </a:r>
            <a:r>
              <a:rPr lang="en-IN" dirty="0">
                <a:cs typeface="Arial" pitchFamily="34" charset="0"/>
              </a:rPr>
              <a:t>(</a:t>
            </a:r>
            <a:r>
              <a:rPr lang="en-IN" dirty="0">
                <a:solidFill>
                  <a:srgbClr val="FF6743"/>
                </a:solidFill>
                <a:cs typeface="Arial" pitchFamily="34" charset="0"/>
              </a:rPr>
              <a:t>output.content</a:t>
            </a:r>
            <a:r>
              <a:rPr lang="en-IN" dirty="0">
                <a:cs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906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820" y="5994110"/>
            <a:ext cx="969180" cy="8031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12162" y="347071"/>
            <a:ext cx="10869555" cy="28623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D05E"/>
                </a:solidFill>
                <a:latin typeface="Bahnschrift Condensed" pitchFamily="34" charset="0"/>
              </a:rPr>
              <a:t>Streaming</a:t>
            </a:r>
            <a:r>
              <a:rPr lang="en-US" sz="3200" b="1" dirty="0">
                <a:latin typeface="Bahnschrift Condensed" pitchFamily="34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Bahnschrift SemiBold SemiConden" pitchFamily="34" charset="0"/>
              </a:rPr>
              <a:t>refers to the process of delivering the response in a continuous stream of data instead of sending the entire response at once.</a:t>
            </a:r>
          </a:p>
          <a:p>
            <a:endParaRPr lang="en-US" sz="2800" b="1" dirty="0">
              <a:solidFill>
                <a:schemeClr val="bg1"/>
              </a:solidFill>
              <a:latin typeface="Bahnschrift SemiBold SemiConden" pitchFamily="34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Bahnschrift SemiBold SemiConden" pitchFamily="34" charset="0"/>
              </a:rPr>
              <a:t>This allows the user to receive the response piece by piece as it is generated, which can improve the user experience and reduce the overall latency.</a:t>
            </a:r>
          </a:p>
        </p:txBody>
      </p: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725827" y="169783"/>
            <a:ext cx="8077200" cy="135421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FF0066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from</a:t>
            </a:r>
            <a:r>
              <a:rPr lang="en-IN" sz="1600" dirty="0"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 </a:t>
            </a:r>
            <a:r>
              <a:rPr lang="en-IN" sz="1600" dirty="0">
                <a:solidFill>
                  <a:srgbClr val="00D05E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langchain_google_genai</a:t>
            </a:r>
            <a:r>
              <a:rPr lang="en-IN" sz="1600" dirty="0"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  </a:t>
            </a:r>
            <a:r>
              <a:rPr lang="en-IN" sz="1600" dirty="0">
                <a:solidFill>
                  <a:srgbClr val="FF0066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import</a:t>
            </a:r>
            <a:r>
              <a:rPr lang="en-IN" sz="1600" dirty="0"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 </a:t>
            </a:r>
            <a:r>
              <a:rPr lang="en-IN" sz="1600" dirty="0">
                <a:solidFill>
                  <a:srgbClr val="00D05E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ChatGoogleGenerativeAI</a:t>
            </a:r>
          </a:p>
          <a:p>
            <a:r>
              <a:rPr lang="en-IN" sz="1600" dirty="0" smtClean="0">
                <a:solidFill>
                  <a:srgbClr val="0070C0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llm</a:t>
            </a:r>
            <a:r>
              <a:rPr lang="en-IN" sz="1600" dirty="0" smtClean="0"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 </a:t>
            </a:r>
            <a:r>
              <a:rPr lang="en-IN" sz="1600" dirty="0">
                <a:solidFill>
                  <a:schemeClr val="bg1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=</a:t>
            </a:r>
            <a:r>
              <a:rPr lang="en-IN" sz="1600" dirty="0"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 </a:t>
            </a:r>
            <a:r>
              <a:rPr lang="en-IN" sz="1600" dirty="0">
                <a:solidFill>
                  <a:srgbClr val="00D05E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ChatGoogleGenerativeAI</a:t>
            </a:r>
            <a:r>
              <a:rPr lang="en-IN" sz="1600" dirty="0">
                <a:solidFill>
                  <a:schemeClr val="accent2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(</a:t>
            </a:r>
            <a:r>
              <a:rPr lang="en-IN" sz="1600" dirty="0">
                <a:solidFill>
                  <a:srgbClr val="00B0F0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model</a:t>
            </a:r>
            <a:r>
              <a:rPr lang="en-IN" sz="1600" dirty="0">
                <a:solidFill>
                  <a:schemeClr val="bg1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=</a:t>
            </a:r>
            <a:r>
              <a:rPr lang="en-IN" sz="1600" dirty="0">
                <a:solidFill>
                  <a:schemeClr val="accent2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"gemini-2.5-flash</a:t>
            </a:r>
            <a:r>
              <a:rPr lang="en-IN" sz="1600" dirty="0" smtClean="0">
                <a:solidFill>
                  <a:schemeClr val="accent2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")</a:t>
            </a:r>
          </a:p>
          <a:p>
            <a:endParaRPr lang="en-IN" sz="1600" dirty="0">
              <a:solidFill>
                <a:schemeClr val="accent2"/>
              </a:solidFill>
              <a:latin typeface="Bahnschrift Light" pitchFamily="34" charset="0"/>
              <a:ea typeface="Cambria Math" pitchFamily="18" charset="0"/>
              <a:cs typeface="Arial Unicode MS" pitchFamily="34" charset="-128"/>
            </a:endParaRPr>
          </a:p>
          <a:p>
            <a:r>
              <a:rPr lang="en-IN" sz="1600" dirty="0" smtClean="0">
                <a:solidFill>
                  <a:srgbClr val="FF0066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for</a:t>
            </a:r>
            <a:r>
              <a:rPr lang="en-IN" sz="1600" dirty="0" smtClean="0"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 </a:t>
            </a:r>
            <a:r>
              <a:rPr lang="en-IN" sz="1600" dirty="0">
                <a:solidFill>
                  <a:srgbClr val="00B0F0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chunk</a:t>
            </a:r>
            <a:r>
              <a:rPr lang="en-IN" sz="1600" dirty="0"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 </a:t>
            </a:r>
            <a:r>
              <a:rPr lang="en-IN" sz="1600" dirty="0">
                <a:solidFill>
                  <a:srgbClr val="FF0066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in</a:t>
            </a:r>
            <a:r>
              <a:rPr lang="en-IN" sz="1600" dirty="0"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 </a:t>
            </a:r>
            <a:r>
              <a:rPr lang="en-IN" sz="1600" dirty="0" smtClean="0">
                <a:solidFill>
                  <a:srgbClr val="00B0F0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llm</a:t>
            </a:r>
            <a:r>
              <a:rPr lang="en-IN" sz="1600" dirty="0" smtClean="0">
                <a:solidFill>
                  <a:schemeClr val="bg1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.</a:t>
            </a:r>
            <a:r>
              <a:rPr lang="en-IN" sz="1600" dirty="0" smtClean="0">
                <a:solidFill>
                  <a:schemeClr val="accent2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stream</a:t>
            </a:r>
            <a:r>
              <a:rPr lang="en-IN" sz="1600" dirty="0" smtClean="0">
                <a:solidFill>
                  <a:schemeClr val="accent4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(</a:t>
            </a:r>
            <a:r>
              <a:rPr lang="en-IN" sz="1600" dirty="0">
                <a:solidFill>
                  <a:srgbClr val="FF6743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"tell me a song for moon and raven"</a:t>
            </a:r>
            <a:r>
              <a:rPr lang="en-IN" sz="1600" dirty="0">
                <a:solidFill>
                  <a:schemeClr val="accent4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)</a:t>
            </a:r>
            <a:r>
              <a:rPr lang="en-IN" sz="1600" dirty="0">
                <a:solidFill>
                  <a:schemeClr val="bg1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:</a:t>
            </a:r>
          </a:p>
          <a:p>
            <a:pPr lvl="1"/>
            <a:r>
              <a:rPr lang="en-IN" sz="1600" dirty="0"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    </a:t>
            </a:r>
            <a:r>
              <a:rPr lang="en-IN" sz="1600" dirty="0" smtClean="0">
                <a:solidFill>
                  <a:schemeClr val="accent2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print</a:t>
            </a:r>
            <a:r>
              <a:rPr lang="en-IN" sz="1600" dirty="0" smtClean="0">
                <a:solidFill>
                  <a:schemeClr val="bg1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(</a:t>
            </a:r>
            <a:r>
              <a:rPr lang="en-IN" sz="1600" dirty="0" smtClean="0">
                <a:solidFill>
                  <a:srgbClr val="00B0F0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chunk </a:t>
            </a:r>
            <a:r>
              <a:rPr lang="en-IN" sz="1600" dirty="0" smtClean="0">
                <a:solidFill>
                  <a:schemeClr val="bg1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,</a:t>
            </a:r>
            <a:r>
              <a:rPr lang="en-IN" sz="1600" dirty="0" smtClean="0"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 </a:t>
            </a:r>
            <a:r>
              <a:rPr lang="en-IN" sz="1600" dirty="0" smtClean="0">
                <a:solidFill>
                  <a:srgbClr val="00B0F0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end</a:t>
            </a:r>
            <a:r>
              <a:rPr lang="en-IN" sz="1600" dirty="0">
                <a:solidFill>
                  <a:schemeClr val="bg1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=</a:t>
            </a:r>
            <a:r>
              <a:rPr lang="en-IN" sz="1600" dirty="0">
                <a:solidFill>
                  <a:schemeClr val="accent2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'\</a:t>
            </a:r>
            <a:r>
              <a:rPr lang="en-IN" sz="1600" dirty="0" smtClean="0">
                <a:solidFill>
                  <a:schemeClr val="accent2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n‘ </a:t>
            </a:r>
            <a:r>
              <a:rPr lang="en-IN" sz="1600" dirty="0" smtClean="0">
                <a:solidFill>
                  <a:schemeClr val="bg1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,</a:t>
            </a:r>
            <a:r>
              <a:rPr lang="en-IN" sz="1600" dirty="0">
                <a:solidFill>
                  <a:srgbClr val="00B0F0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flush</a:t>
            </a:r>
            <a:r>
              <a:rPr lang="en-IN" sz="1600" dirty="0">
                <a:solidFill>
                  <a:schemeClr val="bg1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=</a:t>
            </a:r>
            <a:r>
              <a:rPr lang="en-IN" sz="1600" dirty="0">
                <a:solidFill>
                  <a:schemeClr val="accent1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True</a:t>
            </a:r>
            <a:r>
              <a:rPr lang="en-IN" sz="1600" dirty="0">
                <a:solidFill>
                  <a:schemeClr val="bg1"/>
                </a:solidFill>
                <a:latin typeface="Bahnschrift Light" pitchFamily="34" charset="0"/>
                <a:ea typeface="Cambria Math" pitchFamily="18" charset="0"/>
                <a:cs typeface="Arial Unicode MS" pitchFamily="34" charset="-128"/>
              </a:rPr>
              <a:t>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181" y="4520914"/>
            <a:ext cx="7764162" cy="172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725827" y="1826266"/>
            <a:ext cx="945489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cs typeface="Arial" pitchFamily="34" charset="0"/>
              </a:rPr>
              <a:t>app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cs typeface="Arial" pitchFamily="34" charset="0"/>
              </a:rPr>
              <a:t>stream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(...)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→ runs the compiled graph but instead of returning a single result, it yields outputs step‑by‑step as a generator 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187146" y="2528862"/>
            <a:ext cx="781770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You can iterate over events to handle each piece of output: 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-89638188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for event in events: print(event)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-89485788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for event in events: print(event)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-89333388" y="762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for event in events: print(event)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-89180988" y="914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for event in events: print(event)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-89028588" y="1066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for event in events: print(event)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-88876188" y="1219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for event in events: print(event)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914400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-88723788" y="1371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for event in events: print(event)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-88571388" y="1524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for event in events: print(event)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048000" y="3080524"/>
            <a:ext cx="3048000" cy="5847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for </a:t>
            </a:r>
            <a:r>
              <a:rPr lang="en-US" sz="1600" dirty="0">
                <a:solidFill>
                  <a:srgbClr val="00B0F0"/>
                </a:solidFill>
              </a:rPr>
              <a:t>event</a:t>
            </a:r>
            <a:r>
              <a:rPr lang="en-US" sz="1600" dirty="0">
                <a:solidFill>
                  <a:schemeClr val="bg1"/>
                </a:solidFill>
              </a:rPr>
              <a:t> in </a:t>
            </a:r>
            <a:r>
              <a:rPr lang="en-US" sz="1600" dirty="0">
                <a:solidFill>
                  <a:srgbClr val="00B0F0"/>
                </a:solidFill>
              </a:rPr>
              <a:t>events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</a:t>
            </a:r>
            <a:r>
              <a:rPr lang="en-US" sz="1600" dirty="0">
                <a:solidFill>
                  <a:srgbClr val="FF6743"/>
                </a:solidFill>
              </a:rPr>
              <a:t>print</a:t>
            </a:r>
            <a:r>
              <a:rPr lang="en-US" sz="1600" dirty="0">
                <a:solidFill>
                  <a:schemeClr val="bg1"/>
                </a:solidFill>
              </a:rPr>
              <a:t>(event)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391732" y="3872131"/>
            <a:ext cx="49656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This will print each streamed value as the graph executes.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8672" y="178130"/>
            <a:ext cx="2074398" cy="338450"/>
            <a:chOff x="248672" y="195940"/>
            <a:chExt cx="2074398" cy="338450"/>
          </a:xfrm>
          <a:solidFill>
            <a:schemeClr val="accent1">
              <a:lumMod val="75000"/>
            </a:schemeClr>
          </a:solidFill>
        </p:grpSpPr>
        <p:cxnSp>
          <p:nvCxnSpPr>
            <p:cNvPr id="21" name="Straight Connector 20"/>
            <p:cNvCxnSpPr/>
            <p:nvPr/>
          </p:nvCxnSpPr>
          <p:spPr>
            <a:xfrm flipV="1">
              <a:off x="248672" y="528455"/>
              <a:ext cx="2074398" cy="5935"/>
            </a:xfrm>
            <a:prstGeom prst="line">
              <a:avLst/>
            </a:prstGeom>
            <a:grpFill/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/>
            <p:cNvSpPr/>
            <p:nvPr/>
          </p:nvSpPr>
          <p:spPr>
            <a:xfrm>
              <a:off x="391175" y="195940"/>
              <a:ext cx="1721829" cy="332515"/>
            </a:xfrm>
            <a:prstGeom prst="rect">
              <a:avLst/>
            </a:prstGeom>
            <a:grpFill/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 smtClean="0">
                  <a:latin typeface="Bahnschrift" pitchFamily="34" charset="0"/>
                </a:rPr>
                <a:t>PromptTemplate</a:t>
              </a:r>
              <a:endParaRPr lang="en-IN" sz="1400" dirty="0">
                <a:latin typeface="Bahnschrift" pitchFamily="34" charset="0"/>
              </a:endParaRPr>
            </a:p>
          </p:txBody>
        </p:sp>
      </p:grpSp>
      <p:sp>
        <p:nvSpPr>
          <p:cNvPr id="6" name="Rectangle 5"/>
          <p:cNvSpPr/>
          <p:nvPr/>
        </p:nvSpPr>
        <p:spPr>
          <a:xfrm>
            <a:off x="1042773" y="682361"/>
            <a:ext cx="37059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A prompt refers to the input to the model.</a:t>
            </a:r>
            <a:endParaRPr lang="en-IN" sz="1600" dirty="0"/>
          </a:p>
        </p:txBody>
      </p:sp>
      <p:sp>
        <p:nvSpPr>
          <p:cNvPr id="7" name="Rectangle 6"/>
          <p:cNvSpPr/>
          <p:nvPr/>
        </p:nvSpPr>
        <p:spPr>
          <a:xfrm>
            <a:off x="1084110" y="1108329"/>
            <a:ext cx="98435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Prompt templates are a way to create dynamic prompts for </a:t>
            </a:r>
            <a:r>
              <a:rPr lang="en-US" sz="1600" dirty="0" smtClean="0"/>
              <a:t>LLM </a:t>
            </a:r>
            <a:r>
              <a:rPr lang="en-US" sz="1600" dirty="0"/>
              <a:t>that are more flexible and easier to </a:t>
            </a:r>
            <a:r>
              <a:rPr lang="en-US" sz="1600" dirty="0" smtClean="0"/>
              <a:t>use </a:t>
            </a:r>
            <a:r>
              <a:rPr lang="en-IN" sz="1600" dirty="0"/>
              <a:t>than traditional static prompts.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4110" y="1976219"/>
            <a:ext cx="101153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A prompt template takes a piece of text and injects a user's input into that piece of text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1812324" y="2500863"/>
            <a:ext cx="7949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Note that in Lang Chain there </a:t>
            </a:r>
            <a:r>
              <a:rPr lang="en-US" sz="1600" dirty="0" smtClean="0"/>
              <a:t>are</a:t>
            </a:r>
          </a:p>
          <a:p>
            <a:r>
              <a:rPr lang="en-US" sz="1600" b="1" dirty="0" smtClean="0">
                <a:solidFill>
                  <a:srgbClr val="00D05E"/>
                </a:solidFill>
                <a:latin typeface="Bahnschrift" pitchFamily="34" charset="0"/>
              </a:rPr>
              <a:t>PromptTemplate</a:t>
            </a:r>
            <a:r>
              <a:rPr lang="en-US" sz="1600" dirty="0" smtClean="0">
                <a:solidFill>
                  <a:srgbClr val="00D05E"/>
                </a:solidFill>
              </a:rPr>
              <a:t> </a:t>
            </a:r>
            <a:r>
              <a:rPr lang="en-US" sz="1600" dirty="0" smtClean="0"/>
              <a:t>and</a:t>
            </a:r>
          </a:p>
          <a:p>
            <a:r>
              <a:rPr lang="en-US" sz="1600" b="1" dirty="0" smtClean="0">
                <a:solidFill>
                  <a:srgbClr val="FF0066"/>
                </a:solidFill>
                <a:latin typeface="Bahnschrift SemiBold" pitchFamily="34" charset="0"/>
              </a:rPr>
              <a:t>ChatPromptemplate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1042773" y="3888942"/>
            <a:ext cx="10856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Prompt templates </a:t>
            </a:r>
            <a:r>
              <a:rPr lang="en-US" sz="1600" dirty="0"/>
              <a:t>are used for tasks that involve generating text, such as answering questions or </a:t>
            </a:r>
            <a:r>
              <a:rPr lang="en-US" sz="1600" dirty="0" smtClean="0"/>
              <a:t>completing sentences</a:t>
            </a:r>
            <a:r>
              <a:rPr lang="en-US" sz="1600" dirty="0"/>
              <a:t>.</a:t>
            </a:r>
          </a:p>
          <a:p>
            <a:r>
              <a:rPr lang="en-US" sz="1600" dirty="0"/>
              <a:t>While </a:t>
            </a:r>
            <a:r>
              <a:rPr lang="en-US" sz="1600" dirty="0">
                <a:solidFill>
                  <a:srgbClr val="FF0066"/>
                </a:solidFill>
              </a:rPr>
              <a:t>chat prompt templates </a:t>
            </a:r>
            <a:r>
              <a:rPr lang="en-US" sz="1600" dirty="0"/>
              <a:t>are specifically designed for tasks that involve engaging in conversations.</a:t>
            </a:r>
          </a:p>
        </p:txBody>
      </p:sp>
    </p:spTree>
    <p:extLst>
      <p:ext uri="{BB962C8B-B14F-4D97-AF65-F5344CB8AC3E}">
        <p14:creationId xmlns:p14="http://schemas.microsoft.com/office/powerpoint/2010/main" val="88446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4648" y="98856"/>
            <a:ext cx="947351" cy="78509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89004" y="286934"/>
            <a:ext cx="98771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This is similar to an </a:t>
            </a:r>
            <a:r>
              <a:rPr lang="en-US" sz="1600" dirty="0" smtClean="0">
                <a:latin typeface="Algerian" pitchFamily="82" charset="0"/>
              </a:rPr>
              <a:t>F-strin</a:t>
            </a:r>
            <a:r>
              <a:rPr lang="en-US" sz="1600" dirty="0">
                <a:latin typeface="Algerian" pitchFamily="82" charset="0"/>
              </a:rPr>
              <a:t>g</a:t>
            </a:r>
            <a:r>
              <a:rPr lang="en-US" sz="1600" dirty="0" smtClean="0"/>
              <a:t> </a:t>
            </a:r>
            <a:r>
              <a:rPr lang="en-US" sz="1600" dirty="0"/>
              <a:t>and uses curly braces for the dynamic </a:t>
            </a:r>
            <a:r>
              <a:rPr lang="en-US" sz="1600" dirty="0" smtClean="0"/>
              <a:t>part </a:t>
            </a:r>
            <a:r>
              <a:rPr lang="en-US" sz="1600" dirty="0"/>
              <a:t>of the </a:t>
            </a:r>
            <a:r>
              <a:rPr lang="en-US" sz="1600" dirty="0" smtClean="0"/>
              <a:t>template. Curly braces is called placeholder </a:t>
            </a: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1552833" y="1335206"/>
            <a:ext cx="7442886" cy="2585323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FF0066"/>
                </a:solidFill>
                <a:latin typeface="Gadugi" pitchFamily="34" charset="0"/>
                <a:ea typeface="Gadugi" pitchFamily="34" charset="0"/>
              </a:rPr>
              <a:t>from</a:t>
            </a:r>
            <a:r>
              <a:rPr lang="en-IN" sz="1600" dirty="0">
                <a:latin typeface="Gadugi" pitchFamily="34" charset="0"/>
                <a:ea typeface="Gadugi" pitchFamily="34" charset="0"/>
              </a:rPr>
              <a:t> </a:t>
            </a:r>
            <a:r>
              <a:rPr lang="en-IN" sz="1600" dirty="0">
                <a:solidFill>
                  <a:srgbClr val="00D05E"/>
                </a:solidFill>
                <a:latin typeface="Gadugi" pitchFamily="34" charset="0"/>
                <a:ea typeface="Gadugi" pitchFamily="34" charset="0"/>
              </a:rPr>
              <a:t>langchain.prompt</a:t>
            </a:r>
            <a:r>
              <a:rPr lang="en-IN" sz="1600" dirty="0">
                <a:solidFill>
                  <a:srgbClr val="00B0F0"/>
                </a:solidFill>
                <a:latin typeface="Gadugi" pitchFamily="34" charset="0"/>
                <a:ea typeface="Gadugi" pitchFamily="34" charset="0"/>
              </a:rPr>
              <a:t>s</a:t>
            </a:r>
            <a:r>
              <a:rPr lang="en-IN" sz="1600" dirty="0">
                <a:latin typeface="Gadugi" pitchFamily="34" charset="0"/>
                <a:ea typeface="Gadugi" pitchFamily="34" charset="0"/>
              </a:rPr>
              <a:t> </a:t>
            </a:r>
            <a:r>
              <a:rPr lang="en-IN" sz="1600" dirty="0">
                <a:solidFill>
                  <a:srgbClr val="FF0066"/>
                </a:solidFill>
                <a:latin typeface="Gadugi" pitchFamily="34" charset="0"/>
                <a:ea typeface="Gadugi" pitchFamily="34" charset="0"/>
              </a:rPr>
              <a:t>import</a:t>
            </a:r>
            <a:r>
              <a:rPr lang="en-IN" sz="1600" dirty="0">
                <a:latin typeface="Gadugi" pitchFamily="34" charset="0"/>
                <a:ea typeface="Gadugi" pitchFamily="34" charset="0"/>
              </a:rPr>
              <a:t> </a:t>
            </a:r>
            <a:r>
              <a:rPr lang="en-IN" sz="1600" dirty="0">
                <a:solidFill>
                  <a:srgbClr val="00D05E"/>
                </a:solidFill>
                <a:latin typeface="Gadugi" pitchFamily="34" charset="0"/>
                <a:ea typeface="Gadugi" pitchFamily="34" charset="0"/>
              </a:rPr>
              <a:t>PromptTemplate</a:t>
            </a:r>
          </a:p>
          <a:p>
            <a:r>
              <a:rPr lang="en-IN" sz="1600" dirty="0">
                <a:latin typeface="Gadugi" pitchFamily="34" charset="0"/>
                <a:ea typeface="Gadugi" pitchFamily="34" charset="0"/>
              </a:rPr>
              <a:t/>
            </a:r>
            <a:br>
              <a:rPr lang="en-IN" sz="1600" dirty="0">
                <a:latin typeface="Gadugi" pitchFamily="34" charset="0"/>
                <a:ea typeface="Gadugi" pitchFamily="34" charset="0"/>
              </a:rPr>
            </a:br>
            <a:r>
              <a:rPr lang="en-IN" sz="1600" dirty="0">
                <a:solidFill>
                  <a:srgbClr val="00B0F0"/>
                </a:solidFill>
                <a:latin typeface="Gadugi" pitchFamily="34" charset="0"/>
                <a:ea typeface="Gadugi" pitchFamily="34" charset="0"/>
              </a:rPr>
              <a:t>llm</a:t>
            </a:r>
            <a:r>
              <a:rPr lang="en-IN" sz="1600" dirty="0">
                <a:latin typeface="Gadugi" pitchFamily="34" charset="0"/>
                <a:ea typeface="Gadugi" pitchFamily="34" charset="0"/>
              </a:rPr>
              <a:t> </a:t>
            </a:r>
            <a:r>
              <a:rPr lang="en-IN" sz="1600" dirty="0">
                <a:solidFill>
                  <a:schemeClr val="bg1"/>
                </a:solidFill>
                <a:latin typeface="Gadugi" pitchFamily="34" charset="0"/>
                <a:ea typeface="Gadugi" pitchFamily="34" charset="0"/>
              </a:rPr>
              <a:t>=</a:t>
            </a:r>
            <a:r>
              <a:rPr lang="en-IN" sz="1600" dirty="0">
                <a:latin typeface="Gadugi" pitchFamily="34" charset="0"/>
                <a:ea typeface="Gadugi" pitchFamily="34" charset="0"/>
              </a:rPr>
              <a:t> </a:t>
            </a:r>
            <a:r>
              <a:rPr lang="en-IN" sz="1600" dirty="0">
                <a:solidFill>
                  <a:srgbClr val="00D05E"/>
                </a:solidFill>
                <a:latin typeface="Gadugi" pitchFamily="34" charset="0"/>
                <a:ea typeface="Gadugi" pitchFamily="34" charset="0"/>
              </a:rPr>
              <a:t>ChatGoogleGenerativeAI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Gadugi" pitchFamily="34" charset="0"/>
                <a:ea typeface="Gadugi" pitchFamily="34" charset="0"/>
              </a:rPr>
              <a:t>(</a:t>
            </a:r>
            <a:r>
              <a:rPr lang="en-IN" sz="1600" dirty="0">
                <a:solidFill>
                  <a:srgbClr val="00B0F0"/>
                </a:solidFill>
                <a:latin typeface="Gadugi" pitchFamily="34" charset="0"/>
                <a:ea typeface="Gadugi" pitchFamily="34" charset="0"/>
              </a:rPr>
              <a:t>model</a:t>
            </a:r>
            <a:r>
              <a:rPr lang="en-IN" sz="1600" dirty="0">
                <a:solidFill>
                  <a:schemeClr val="bg1"/>
                </a:solidFill>
                <a:latin typeface="Gadugi" pitchFamily="34" charset="0"/>
                <a:ea typeface="Gadugi" pitchFamily="34" charset="0"/>
              </a:rPr>
              <a:t>=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Gadugi" pitchFamily="34" charset="0"/>
                <a:ea typeface="Gadugi" pitchFamily="34" charset="0"/>
              </a:rPr>
              <a:t>"gemini-2.5-flash")</a:t>
            </a:r>
          </a:p>
          <a:p>
            <a:r>
              <a:rPr lang="en-IN" sz="1600" dirty="0">
                <a:latin typeface="Gadugi" pitchFamily="34" charset="0"/>
                <a:ea typeface="Gadugi" pitchFamily="34" charset="0"/>
              </a:rPr>
              <a:t/>
            </a:r>
            <a:br>
              <a:rPr lang="en-IN" sz="1600" dirty="0">
                <a:latin typeface="Gadugi" pitchFamily="34" charset="0"/>
                <a:ea typeface="Gadugi" pitchFamily="34" charset="0"/>
              </a:rPr>
            </a:br>
            <a:r>
              <a:rPr lang="en-IN" sz="1600" dirty="0">
                <a:solidFill>
                  <a:srgbClr val="00B0F0"/>
                </a:solidFill>
                <a:latin typeface="Gadugi" pitchFamily="34" charset="0"/>
                <a:ea typeface="Gadugi" pitchFamily="34" charset="0"/>
              </a:rPr>
              <a:t>template</a:t>
            </a:r>
            <a:r>
              <a:rPr lang="en-IN" sz="1600" dirty="0">
                <a:solidFill>
                  <a:schemeClr val="bg1"/>
                </a:solidFill>
                <a:latin typeface="Gadugi" pitchFamily="34" charset="0"/>
                <a:ea typeface="Gadugi" pitchFamily="34" charset="0"/>
              </a:rPr>
              <a:t>=</a:t>
            </a:r>
            <a:r>
              <a:rPr lang="en-IN" sz="1600" dirty="0">
                <a:solidFill>
                  <a:srgbClr val="FF4B21"/>
                </a:solidFill>
                <a:latin typeface="Gadugi" pitchFamily="34" charset="0"/>
                <a:ea typeface="Gadugi" pitchFamily="34" charset="0"/>
              </a:rPr>
              <a:t>"what is the week day of </a:t>
            </a:r>
            <a:r>
              <a:rPr lang="en-IN" sz="1600" dirty="0">
                <a:solidFill>
                  <a:srgbClr val="0070C0"/>
                </a:solidFill>
                <a:latin typeface="Gadugi" pitchFamily="34" charset="0"/>
                <a:ea typeface="Gadugi" pitchFamily="34" charset="0"/>
              </a:rPr>
              <a:t>{date}?" </a:t>
            </a:r>
          </a:p>
          <a:p>
            <a:r>
              <a:rPr lang="en-IN" sz="1600" dirty="0">
                <a:solidFill>
                  <a:srgbClr val="00B0F0"/>
                </a:solidFill>
                <a:latin typeface="Gadugi" pitchFamily="34" charset="0"/>
                <a:ea typeface="Gadugi" pitchFamily="34" charset="0"/>
              </a:rPr>
              <a:t>prompt_template</a:t>
            </a:r>
            <a:r>
              <a:rPr lang="en-IN" sz="1600" dirty="0">
                <a:solidFill>
                  <a:schemeClr val="bg1"/>
                </a:solidFill>
                <a:latin typeface="Gadugi" pitchFamily="34" charset="0"/>
                <a:ea typeface="Gadugi" pitchFamily="34" charset="0"/>
              </a:rPr>
              <a:t>=</a:t>
            </a:r>
            <a:r>
              <a:rPr lang="en-IN" sz="1600" dirty="0">
                <a:solidFill>
                  <a:srgbClr val="00B0F0"/>
                </a:solidFill>
                <a:latin typeface="Gadugi" pitchFamily="34" charset="0"/>
                <a:ea typeface="Gadugi" pitchFamily="34" charset="0"/>
              </a:rPr>
              <a:t>PromptTemplate</a:t>
            </a:r>
            <a:r>
              <a:rPr lang="en-IN" sz="1600" dirty="0">
                <a:solidFill>
                  <a:schemeClr val="bg1"/>
                </a:solidFill>
                <a:latin typeface="Gadugi" pitchFamily="34" charset="0"/>
                <a:ea typeface="Gadugi" pitchFamily="34" charset="0"/>
              </a:rPr>
              <a:t>.</a:t>
            </a:r>
            <a:r>
              <a:rPr lang="en-IN" sz="1600" dirty="0">
                <a:solidFill>
                  <a:schemeClr val="accent4">
                    <a:lumMod val="75000"/>
                  </a:schemeClr>
                </a:solidFill>
                <a:latin typeface="Gadugi" pitchFamily="34" charset="0"/>
                <a:ea typeface="Gadugi" pitchFamily="34" charset="0"/>
              </a:rPr>
              <a:t>from_template</a:t>
            </a:r>
            <a:r>
              <a:rPr lang="en-IN" sz="1600" dirty="0">
                <a:solidFill>
                  <a:srgbClr val="00B0F0"/>
                </a:solidFill>
                <a:latin typeface="Gadugi" pitchFamily="34" charset="0"/>
                <a:ea typeface="Gadugi" pitchFamily="34" charset="0"/>
              </a:rPr>
              <a:t>(template</a:t>
            </a:r>
            <a:r>
              <a:rPr lang="en-IN" sz="1600" dirty="0">
                <a:solidFill>
                  <a:schemeClr val="accent4"/>
                </a:solidFill>
                <a:latin typeface="Gadugi" pitchFamily="34" charset="0"/>
                <a:ea typeface="Gadugi" pitchFamily="34" charset="0"/>
              </a:rPr>
              <a:t>)</a:t>
            </a:r>
          </a:p>
          <a:p>
            <a:r>
              <a:rPr lang="en-IN" sz="1600" dirty="0">
                <a:solidFill>
                  <a:srgbClr val="00B0F0"/>
                </a:solidFill>
                <a:latin typeface="Gadugi" pitchFamily="34" charset="0"/>
                <a:ea typeface="Gadugi" pitchFamily="34" charset="0"/>
              </a:rPr>
              <a:t>promp</a:t>
            </a:r>
            <a:r>
              <a:rPr lang="en-IN" sz="1600" dirty="0">
                <a:solidFill>
                  <a:schemeClr val="bg1"/>
                </a:solidFill>
                <a:latin typeface="Gadugi" pitchFamily="34" charset="0"/>
                <a:ea typeface="Gadugi" pitchFamily="34" charset="0"/>
              </a:rPr>
              <a:t>t=</a:t>
            </a:r>
            <a:r>
              <a:rPr lang="en-IN" sz="1600" dirty="0">
                <a:solidFill>
                  <a:srgbClr val="00B0F0"/>
                </a:solidFill>
                <a:latin typeface="Gadugi" pitchFamily="34" charset="0"/>
                <a:ea typeface="Gadugi" pitchFamily="34" charset="0"/>
              </a:rPr>
              <a:t>prompt_template</a:t>
            </a:r>
            <a:r>
              <a:rPr lang="en-IN" sz="1600" dirty="0">
                <a:solidFill>
                  <a:schemeClr val="bg1"/>
                </a:solidFill>
                <a:latin typeface="Gadugi" pitchFamily="34" charset="0"/>
                <a:ea typeface="Gadugi" pitchFamily="34" charset="0"/>
              </a:rPr>
              <a:t>.</a:t>
            </a:r>
            <a:r>
              <a:rPr lang="en-IN" sz="1600" dirty="0">
                <a:solidFill>
                  <a:schemeClr val="accent2"/>
                </a:solidFill>
                <a:latin typeface="Gadugi" pitchFamily="34" charset="0"/>
                <a:ea typeface="Gadugi" pitchFamily="34" charset="0"/>
              </a:rPr>
              <a:t>format</a:t>
            </a:r>
            <a:r>
              <a:rPr lang="en-IN" sz="1600" dirty="0">
                <a:solidFill>
                  <a:schemeClr val="accent4"/>
                </a:solidFill>
                <a:latin typeface="Gadugi" pitchFamily="34" charset="0"/>
                <a:ea typeface="Gadugi" pitchFamily="34" charset="0"/>
              </a:rPr>
              <a:t>(</a:t>
            </a:r>
            <a:r>
              <a:rPr lang="en-IN" sz="1600" dirty="0">
                <a:solidFill>
                  <a:srgbClr val="15C2FF"/>
                </a:solidFill>
                <a:latin typeface="Gadugi" pitchFamily="34" charset="0"/>
                <a:ea typeface="Gadugi" pitchFamily="34" charset="0"/>
              </a:rPr>
              <a:t>date</a:t>
            </a:r>
            <a:r>
              <a:rPr lang="en-IN" sz="1600" dirty="0">
                <a:solidFill>
                  <a:schemeClr val="bg1"/>
                </a:solidFill>
                <a:latin typeface="Gadugi" pitchFamily="34" charset="0"/>
                <a:ea typeface="Gadugi" pitchFamily="34" charset="0"/>
              </a:rPr>
              <a:t>=</a:t>
            </a:r>
            <a:r>
              <a:rPr lang="en-IN" sz="1600" dirty="0">
                <a:solidFill>
                  <a:schemeClr val="accent2"/>
                </a:solidFill>
                <a:latin typeface="Gadugi" pitchFamily="34" charset="0"/>
                <a:ea typeface="Gadugi" pitchFamily="34" charset="0"/>
              </a:rPr>
              <a:t>"8june 1986</a:t>
            </a:r>
            <a:r>
              <a:rPr lang="en-IN" sz="1600" dirty="0">
                <a:solidFill>
                  <a:schemeClr val="accent4"/>
                </a:solidFill>
                <a:latin typeface="Gadugi" pitchFamily="34" charset="0"/>
                <a:ea typeface="Gadugi" pitchFamily="34" charset="0"/>
              </a:rPr>
              <a:t>")  </a:t>
            </a:r>
          </a:p>
          <a:p>
            <a:r>
              <a:rPr lang="en-IN" sz="1600" dirty="0">
                <a:latin typeface="Gadugi" pitchFamily="34" charset="0"/>
                <a:ea typeface="Gadugi" pitchFamily="34" charset="0"/>
              </a:rPr>
              <a:t/>
            </a:r>
            <a:br>
              <a:rPr lang="en-IN" sz="1600" dirty="0">
                <a:latin typeface="Gadugi" pitchFamily="34" charset="0"/>
                <a:ea typeface="Gadugi" pitchFamily="34" charset="0"/>
              </a:rPr>
            </a:br>
            <a:r>
              <a:rPr lang="en-IN" sz="1600" dirty="0">
                <a:solidFill>
                  <a:srgbClr val="00B0F0"/>
                </a:solidFill>
                <a:latin typeface="Gadugi" pitchFamily="34" charset="0"/>
                <a:ea typeface="Gadugi" pitchFamily="34" charset="0"/>
              </a:rPr>
              <a:t>output</a:t>
            </a:r>
            <a:r>
              <a:rPr lang="en-IN" sz="1600" dirty="0">
                <a:solidFill>
                  <a:schemeClr val="bg1"/>
                </a:solidFill>
                <a:latin typeface="Gadugi" pitchFamily="34" charset="0"/>
                <a:ea typeface="Gadugi" pitchFamily="34" charset="0"/>
              </a:rPr>
              <a:t>=</a:t>
            </a:r>
            <a:r>
              <a:rPr lang="en-IN" sz="1600" dirty="0">
                <a:solidFill>
                  <a:srgbClr val="00B0F0"/>
                </a:solidFill>
                <a:latin typeface="Gadugi" pitchFamily="34" charset="0"/>
                <a:ea typeface="Gadugi" pitchFamily="34" charset="0"/>
              </a:rPr>
              <a:t>llm</a:t>
            </a:r>
            <a:r>
              <a:rPr lang="en-IN" sz="1600" dirty="0">
                <a:solidFill>
                  <a:schemeClr val="accent4"/>
                </a:solidFill>
                <a:latin typeface="Gadugi" pitchFamily="34" charset="0"/>
                <a:ea typeface="Gadugi" pitchFamily="34" charset="0"/>
              </a:rPr>
              <a:t>.invoke(</a:t>
            </a:r>
            <a:r>
              <a:rPr lang="en-IN" sz="1600" dirty="0">
                <a:solidFill>
                  <a:schemeClr val="accent4">
                    <a:lumMod val="75000"/>
                  </a:schemeClr>
                </a:solidFill>
                <a:latin typeface="Gadugi" pitchFamily="34" charset="0"/>
                <a:ea typeface="Gadugi" pitchFamily="34" charset="0"/>
              </a:rPr>
              <a:t>promp</a:t>
            </a:r>
            <a:r>
              <a:rPr lang="en-IN" sz="1600" dirty="0">
                <a:solidFill>
                  <a:schemeClr val="accent4"/>
                </a:solidFill>
                <a:latin typeface="Gadugi" pitchFamily="34" charset="0"/>
                <a:ea typeface="Gadugi" pitchFamily="34" charset="0"/>
              </a:rPr>
              <a:t>t)</a:t>
            </a:r>
          </a:p>
          <a:p>
            <a:r>
              <a:rPr lang="en-IN" sz="1600" dirty="0" smtClean="0">
                <a:solidFill>
                  <a:schemeClr val="accent4"/>
                </a:solidFill>
                <a:latin typeface="Gadugi" pitchFamily="34" charset="0"/>
                <a:ea typeface="Gadugi" pitchFamily="34" charset="0"/>
              </a:rPr>
              <a:t>print(</a:t>
            </a:r>
            <a:r>
              <a:rPr lang="en-IN" sz="1600" dirty="0" smtClean="0">
                <a:solidFill>
                  <a:srgbClr val="0070C0"/>
                </a:solidFill>
                <a:latin typeface="Gadugi" pitchFamily="34" charset="0"/>
                <a:ea typeface="Gadugi" pitchFamily="34" charset="0"/>
              </a:rPr>
              <a:t>output.conten</a:t>
            </a:r>
            <a:r>
              <a:rPr lang="en-IN" sz="1600" dirty="0">
                <a:solidFill>
                  <a:srgbClr val="0070C0"/>
                </a:solidFill>
                <a:latin typeface="Gadugi" pitchFamily="34" charset="0"/>
                <a:ea typeface="Gadugi" pitchFamily="34" charset="0"/>
              </a:rPr>
              <a:t>t</a:t>
            </a:r>
            <a:r>
              <a:rPr lang="en-IN" sz="1600" dirty="0" smtClean="0">
                <a:solidFill>
                  <a:schemeClr val="accent4"/>
                </a:solidFill>
                <a:latin typeface="Gadugi" pitchFamily="34" charset="0"/>
                <a:ea typeface="Gadugi" pitchFamily="34" charset="0"/>
              </a:rPr>
              <a:t>)</a:t>
            </a:r>
            <a:endParaRPr lang="en-IN" sz="1600" dirty="0">
              <a:latin typeface="Gadugi" pitchFamily="34" charset="0"/>
              <a:ea typeface="Gadug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60638" y="178130"/>
            <a:ext cx="2162432" cy="338450"/>
            <a:chOff x="160638" y="195940"/>
            <a:chExt cx="2162432" cy="338450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160638" y="528456"/>
              <a:ext cx="2162432" cy="59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248673" y="195940"/>
              <a:ext cx="1950830" cy="33251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 smtClean="0">
                  <a:latin typeface="Bahnschrift" pitchFamily="34" charset="0"/>
                </a:rPr>
                <a:t>ChatPromptTemplate</a:t>
              </a:r>
              <a:endParaRPr lang="en-IN" sz="1400" dirty="0">
                <a:latin typeface="Bahnschrift" pitchFamily="34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667266" y="841455"/>
            <a:ext cx="1073802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/>
              <a:t>PromptTemplate handles single-string prompts for basic LLM tasks, while ChatPromptTemplate structures multi-message, multi-role conversations (system, human, AI) for chat models, using specific message objects like </a:t>
            </a:r>
            <a:r>
              <a:rPr lang="en-IN" sz="1600" dirty="0">
                <a:solidFill>
                  <a:srgbClr val="00B050"/>
                </a:solidFill>
              </a:rPr>
              <a:t>SystemMessage</a:t>
            </a:r>
            <a:r>
              <a:rPr lang="en-IN" sz="1600" dirty="0"/>
              <a:t>, </a:t>
            </a:r>
            <a:r>
              <a:rPr lang="en-IN" sz="1600" dirty="0">
                <a:solidFill>
                  <a:srgbClr val="00B050"/>
                </a:solidFill>
              </a:rPr>
              <a:t>HumanMessage</a:t>
            </a:r>
            <a:r>
              <a:rPr lang="en-IN" sz="1600" dirty="0"/>
              <a:t>, and </a:t>
            </a:r>
            <a:r>
              <a:rPr lang="en-IN" sz="1600" dirty="0">
                <a:solidFill>
                  <a:srgbClr val="00B050"/>
                </a:solidFill>
              </a:rPr>
              <a:t>AIMessage</a:t>
            </a:r>
            <a:r>
              <a:rPr lang="en-IN" sz="1600" dirty="0"/>
              <a:t> to build context-aware dialogues. The key difference is structure: PromptTemplate is for simple string inputs, ChatPromptTemplate uses a list of typed messages for complex chat flows. 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8160" y="2317059"/>
            <a:ext cx="998425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1D35"/>
                </a:solidFill>
                <a:latin typeface="Bahnschrift" pitchFamily="34" charset="0"/>
                <a:cs typeface="Arial" pitchFamily="34" charset="0"/>
              </a:rPr>
              <a:t>PromptTemplate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/>
              <a:t>Purpose: Ideal for simple text generation or completion tasks where the input is a single string.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/>
              <a:t>Input: Takes a single string template with placeholders (e.g., {topic}).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/>
              <a:t>Example Use: Generating a summary, translating a sentence. </a:t>
            </a:r>
            <a:endParaRPr lang="en-IN" sz="1600" dirty="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789666" y="4111359"/>
            <a:ext cx="6437872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cs typeface="Arial" pitchFamily="34" charset="0"/>
              </a:rPr>
              <a:t># Simplified Example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solidFill>
                <a:srgbClr val="0A0A0A"/>
              </a:solidFill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9334E6"/>
                </a:solidFill>
                <a:effectLst/>
                <a:cs typeface="Arial" pitchFamily="34" charset="0"/>
              </a:rPr>
              <a:t>from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cs typeface="Arial" pitchFamily="34" charset="0"/>
              </a:rPr>
              <a:t>langchain_core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cs typeface="Arial" pitchFamily="34" charset="0"/>
              </a:rPr>
              <a:t>.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cs typeface="Arial" pitchFamily="34" charset="0"/>
              </a:rPr>
              <a:t>prompts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9334E6"/>
                </a:solidFill>
                <a:effectLst/>
                <a:cs typeface="Arial" pitchFamily="34" charset="0"/>
              </a:rPr>
              <a:t>import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cs typeface="Arial" pitchFamily="34" charset="0"/>
              </a:rPr>
              <a:t>PromptTemplate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cs typeface="Arial" pitchFamily="34" charset="0"/>
              </a:rPr>
              <a:t>prompt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cs typeface="Arial" pitchFamily="34" charset="0"/>
              </a:rPr>
              <a:t> =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cs typeface="Arial" pitchFamily="34" charset="0"/>
              </a:rPr>
              <a:t>PromptTemplate.from_template("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FF6743"/>
                </a:solidFill>
                <a:effectLst/>
                <a:cs typeface="Arial" pitchFamily="34" charset="0"/>
              </a:rPr>
              <a:t>Tell me a joke about {topic}"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cs typeface="Arial" pitchFamily="34" charset="0"/>
              </a:rPr>
              <a:t>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solidFill>
                <a:srgbClr val="0A0A0A"/>
              </a:solidFill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cs typeface="Arial" pitchFamily="34" charset="0"/>
              </a:rPr>
              <a:t># Use: prompt.format(topic="cats")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1149178" y="657071"/>
            <a:ext cx="8484973" cy="16689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7916" rIns="0" bIns="14283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Bahnschrift" pitchFamily="34" charset="0"/>
                <a:cs typeface="Arial" pitchFamily="34" charset="0"/>
              </a:rPr>
              <a:t>ChatPromptTemplate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" pitchFamily="34" charset="0"/>
              <a:cs typeface="Arial" pitchFamily="34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Purpose: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Designed for multi-turn conversations and chat-based applications.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Input: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A list of template messages, each with a role (system, human, AI) and content.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Example Use: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Building Chatbot, managing dialogue history.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94736" y="1188414"/>
            <a:ext cx="11804821" cy="267765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FF0066"/>
                </a:solidFill>
                <a:latin typeface="Bahnschrift SemiLight" pitchFamily="34" charset="0"/>
              </a:rPr>
              <a:t>from</a:t>
            </a:r>
            <a:r>
              <a:rPr lang="en-IN" sz="1400" dirty="0">
                <a:latin typeface="Bahnschrift SemiLight" pitchFamily="34" charset="0"/>
              </a:rPr>
              <a:t> </a:t>
            </a:r>
            <a:r>
              <a:rPr lang="en-IN" sz="1400" dirty="0">
                <a:solidFill>
                  <a:srgbClr val="00B050"/>
                </a:solidFill>
                <a:latin typeface="Bahnschrift SemiLight" pitchFamily="34" charset="0"/>
              </a:rPr>
              <a:t>langchain.prompts</a:t>
            </a:r>
            <a:r>
              <a:rPr lang="en-IN" sz="1400" dirty="0">
                <a:latin typeface="Bahnschrift SemiLight" pitchFamily="34" charset="0"/>
              </a:rPr>
              <a:t> </a:t>
            </a:r>
            <a:r>
              <a:rPr lang="en-IN" sz="1400" dirty="0">
                <a:solidFill>
                  <a:srgbClr val="FF0066"/>
                </a:solidFill>
                <a:latin typeface="Bahnschrift SemiLight" pitchFamily="34" charset="0"/>
              </a:rPr>
              <a:t>import</a:t>
            </a:r>
            <a:r>
              <a:rPr lang="en-IN" sz="1400" dirty="0">
                <a:latin typeface="Bahnschrift SemiLight" pitchFamily="34" charset="0"/>
              </a:rPr>
              <a:t> </a:t>
            </a:r>
            <a:r>
              <a:rPr lang="en-IN" sz="1400" dirty="0" smtClean="0">
                <a:solidFill>
                  <a:srgbClr val="00B050"/>
                </a:solidFill>
                <a:latin typeface="Bahnschrift SemiLight" pitchFamily="34" charset="0"/>
              </a:rPr>
              <a:t>PromptTemplate,ChatPromptTemplate,HumanMessagePromptTemplate,SystemMessagePromptTemplate</a:t>
            </a:r>
            <a:endParaRPr lang="en-IN" sz="1400" dirty="0">
              <a:solidFill>
                <a:srgbClr val="00B050"/>
              </a:solidFill>
              <a:latin typeface="Bahnschrift SemiLight" pitchFamily="34" charset="0"/>
            </a:endParaRPr>
          </a:p>
          <a:p>
            <a:r>
              <a:rPr lang="en-IN" sz="1400" dirty="0">
                <a:solidFill>
                  <a:srgbClr val="FF0066"/>
                </a:solidFill>
                <a:latin typeface="Bahnschrift SemiLight" pitchFamily="34" charset="0"/>
              </a:rPr>
              <a:t>from</a:t>
            </a:r>
            <a:r>
              <a:rPr lang="en-IN" sz="1400" dirty="0">
                <a:latin typeface="Bahnschrift SemiLight" pitchFamily="34" charset="0"/>
              </a:rPr>
              <a:t> </a:t>
            </a:r>
            <a:r>
              <a:rPr lang="en-IN" sz="1400" dirty="0">
                <a:solidFill>
                  <a:srgbClr val="00B050"/>
                </a:solidFill>
                <a:latin typeface="Bahnschrift SemiLight" pitchFamily="34" charset="0"/>
              </a:rPr>
              <a:t>langchain_google_genai</a:t>
            </a:r>
            <a:r>
              <a:rPr lang="en-IN" sz="1400" dirty="0">
                <a:latin typeface="Bahnschrift SemiLight" pitchFamily="34" charset="0"/>
              </a:rPr>
              <a:t> </a:t>
            </a:r>
            <a:r>
              <a:rPr lang="en-IN" sz="1400" dirty="0">
                <a:solidFill>
                  <a:srgbClr val="FF0066"/>
                </a:solidFill>
                <a:latin typeface="Bahnschrift SemiLight" pitchFamily="34" charset="0"/>
              </a:rPr>
              <a:t>import</a:t>
            </a:r>
            <a:r>
              <a:rPr lang="en-IN" sz="1400" dirty="0">
                <a:latin typeface="Bahnschrift SemiLight" pitchFamily="34" charset="0"/>
              </a:rPr>
              <a:t> </a:t>
            </a:r>
            <a:r>
              <a:rPr lang="en-IN" sz="1400" dirty="0">
                <a:solidFill>
                  <a:srgbClr val="00B050"/>
                </a:solidFill>
                <a:latin typeface="Bahnschrift SemiLight" pitchFamily="34" charset="0"/>
              </a:rPr>
              <a:t>ChatGoogleGenerativeAI</a:t>
            </a:r>
          </a:p>
          <a:p>
            <a:r>
              <a:rPr lang="en-IN" sz="1400" dirty="0">
                <a:latin typeface="Bahnschrift SemiLight" pitchFamily="34" charset="0"/>
              </a:rPr>
              <a:t/>
            </a:r>
            <a:br>
              <a:rPr lang="en-IN" sz="1400" dirty="0">
                <a:latin typeface="Bahnschrift SemiLight" pitchFamily="34" charset="0"/>
              </a:rPr>
            </a:br>
            <a:r>
              <a:rPr lang="en-IN" sz="1400" dirty="0">
                <a:solidFill>
                  <a:srgbClr val="00B0F0"/>
                </a:solidFill>
                <a:latin typeface="Bahnschrift SemiLight" pitchFamily="34" charset="0"/>
              </a:rPr>
              <a:t>llm</a:t>
            </a:r>
            <a:r>
              <a:rPr lang="en-IN" sz="1400" dirty="0">
                <a:latin typeface="Bahnschrift SemiLight" pitchFamily="34" charset="0"/>
              </a:rPr>
              <a:t> </a:t>
            </a:r>
            <a:r>
              <a:rPr lang="en-IN" sz="1400" dirty="0">
                <a:solidFill>
                  <a:schemeClr val="bg1"/>
                </a:solidFill>
                <a:latin typeface="Bahnschrift SemiLight" pitchFamily="34" charset="0"/>
              </a:rPr>
              <a:t>=</a:t>
            </a:r>
            <a:r>
              <a:rPr lang="en-IN" sz="1400" dirty="0">
                <a:latin typeface="Bahnschrift SemiLight" pitchFamily="34" charset="0"/>
              </a:rPr>
              <a:t> </a:t>
            </a:r>
            <a:r>
              <a:rPr lang="en-IN" sz="1400" dirty="0">
                <a:solidFill>
                  <a:srgbClr val="00B050"/>
                </a:solidFill>
                <a:latin typeface="Bahnschrift SemiLight" pitchFamily="34" charset="0"/>
              </a:rPr>
              <a:t>ChatGoogleGenerativeA</a:t>
            </a:r>
            <a:r>
              <a:rPr lang="en-IN" sz="1400" dirty="0">
                <a:solidFill>
                  <a:srgbClr val="FFC000"/>
                </a:solidFill>
                <a:latin typeface="Bahnschrift SemiLight" pitchFamily="34" charset="0"/>
              </a:rPr>
              <a:t>I(</a:t>
            </a:r>
            <a:r>
              <a:rPr lang="en-IN" sz="1400" dirty="0">
                <a:solidFill>
                  <a:srgbClr val="00B0F0"/>
                </a:solidFill>
                <a:latin typeface="Bahnschrift SemiLight" pitchFamily="34" charset="0"/>
              </a:rPr>
              <a:t>model</a:t>
            </a:r>
            <a:r>
              <a:rPr lang="en-IN" sz="1400" dirty="0">
                <a:solidFill>
                  <a:srgbClr val="FFC000"/>
                </a:solidFill>
                <a:latin typeface="Bahnschrift SemiLight" pitchFamily="34" charset="0"/>
              </a:rPr>
              <a:t>=</a:t>
            </a:r>
            <a:r>
              <a:rPr lang="en-IN" sz="1400" dirty="0">
                <a:solidFill>
                  <a:srgbClr val="FF4B21"/>
                </a:solidFill>
                <a:latin typeface="Bahnschrift SemiLight" pitchFamily="34" charset="0"/>
              </a:rPr>
              <a:t>"gemini-2.5-flash</a:t>
            </a:r>
            <a:r>
              <a:rPr lang="en-IN" sz="1400" dirty="0">
                <a:solidFill>
                  <a:srgbClr val="FFC000"/>
                </a:solidFill>
                <a:latin typeface="Bahnschrift SemiLight" pitchFamily="34" charset="0"/>
              </a:rPr>
              <a:t>")</a:t>
            </a:r>
          </a:p>
          <a:p>
            <a:r>
              <a:rPr lang="en-IN" sz="1400" dirty="0">
                <a:latin typeface="Bahnschrift SemiLight" pitchFamily="34" charset="0"/>
              </a:rPr>
              <a:t/>
            </a:r>
            <a:br>
              <a:rPr lang="en-IN" sz="1400" dirty="0">
                <a:latin typeface="Bahnschrift SemiLight" pitchFamily="34" charset="0"/>
              </a:rPr>
            </a:br>
            <a:r>
              <a:rPr lang="en-IN" sz="1400" dirty="0">
                <a:solidFill>
                  <a:srgbClr val="00B0F0"/>
                </a:solidFill>
                <a:latin typeface="Bahnschrift SemiLight" pitchFamily="34" charset="0"/>
              </a:rPr>
              <a:t>chat_templat</a:t>
            </a:r>
            <a:r>
              <a:rPr lang="en-IN" sz="1400" dirty="0">
                <a:solidFill>
                  <a:schemeClr val="bg1"/>
                </a:solidFill>
                <a:latin typeface="Bahnschrift SemiLight" pitchFamily="34" charset="0"/>
              </a:rPr>
              <a:t>e=</a:t>
            </a:r>
            <a:r>
              <a:rPr lang="en-IN" sz="1400" dirty="0">
                <a:solidFill>
                  <a:srgbClr val="00B050"/>
                </a:solidFill>
                <a:latin typeface="Bahnschrift SemiLight" pitchFamily="34" charset="0"/>
              </a:rPr>
              <a:t>ChatPromptTemplate</a:t>
            </a:r>
            <a:r>
              <a:rPr lang="en-IN" sz="1400" dirty="0">
                <a:solidFill>
                  <a:srgbClr val="FF0066"/>
                </a:solidFill>
                <a:latin typeface="Bahnschrift SemiLight" pitchFamily="34" charset="0"/>
              </a:rPr>
              <a:t>.from_message</a:t>
            </a:r>
            <a:r>
              <a:rPr lang="en-IN" sz="1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ahnschrift SemiLight" pitchFamily="34" charset="0"/>
              </a:rPr>
              <a:t>s([</a:t>
            </a:r>
          </a:p>
          <a:p>
            <a:r>
              <a:rPr lang="en-IN" sz="1400" dirty="0">
                <a:latin typeface="Bahnschrift SemiLight" pitchFamily="34" charset="0"/>
              </a:rPr>
              <a:t>    </a:t>
            </a:r>
            <a:r>
              <a:rPr lang="en-IN" sz="1400" dirty="0">
                <a:solidFill>
                  <a:srgbClr val="00B050"/>
                </a:solidFill>
                <a:latin typeface="Bahnschrift SemiLight" pitchFamily="34" charset="0"/>
              </a:rPr>
              <a:t>SystemMessagePromptTemplate</a:t>
            </a:r>
            <a:r>
              <a:rPr lang="en-IN" sz="1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ahnschrift SemiLight" pitchFamily="34" charset="0"/>
              </a:rPr>
              <a:t>.</a:t>
            </a:r>
            <a:r>
              <a:rPr lang="en-IN" sz="1400" dirty="0">
                <a:solidFill>
                  <a:srgbClr val="FF0066"/>
                </a:solidFill>
                <a:latin typeface="Bahnschrift SemiLight" pitchFamily="34" charset="0"/>
              </a:rPr>
              <a:t>from_templat</a:t>
            </a:r>
            <a:r>
              <a:rPr lang="en-IN" sz="1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ahnschrift SemiLight" pitchFamily="34" charset="0"/>
              </a:rPr>
              <a:t>e</a:t>
            </a:r>
            <a:r>
              <a:rPr lang="en-IN" sz="1400" dirty="0">
                <a:solidFill>
                  <a:srgbClr val="FF6743"/>
                </a:solidFill>
                <a:latin typeface="Bahnschrift SemiLight" pitchFamily="34" charset="0"/>
              </a:rPr>
              <a:t>("You are a helpful assistant that translates {</a:t>
            </a:r>
            <a:r>
              <a:rPr lang="en-IN" sz="1400" dirty="0">
                <a:solidFill>
                  <a:schemeClr val="accent1"/>
                </a:solidFill>
                <a:latin typeface="Bahnschrift SemiLight" pitchFamily="34" charset="0"/>
              </a:rPr>
              <a:t>input_languag</a:t>
            </a:r>
            <a:r>
              <a:rPr lang="en-IN" sz="1400" dirty="0">
                <a:solidFill>
                  <a:srgbClr val="FF6743"/>
                </a:solidFill>
                <a:latin typeface="Bahnschrift SemiLight" pitchFamily="34" charset="0"/>
              </a:rPr>
              <a:t>e} to {</a:t>
            </a:r>
            <a:r>
              <a:rPr lang="en-IN" sz="1400" dirty="0">
                <a:solidFill>
                  <a:schemeClr val="accent1"/>
                </a:solidFill>
                <a:latin typeface="Bahnschrift SemiLight" pitchFamily="34" charset="0"/>
              </a:rPr>
              <a:t>output_languag</a:t>
            </a:r>
            <a:r>
              <a:rPr lang="en-IN" sz="1400" dirty="0">
                <a:solidFill>
                  <a:srgbClr val="FF6743"/>
                </a:solidFill>
                <a:latin typeface="Bahnschrift SemiLight" pitchFamily="34" charset="0"/>
              </a:rPr>
              <a:t>e}."),</a:t>
            </a:r>
          </a:p>
          <a:p>
            <a:r>
              <a:rPr lang="en-IN" sz="1400" dirty="0">
                <a:latin typeface="Bahnschrift SemiLight" pitchFamily="34" charset="0"/>
              </a:rPr>
              <a:t>    </a:t>
            </a:r>
            <a:r>
              <a:rPr lang="en-IN" sz="1400" dirty="0">
                <a:solidFill>
                  <a:srgbClr val="00B050"/>
                </a:solidFill>
                <a:latin typeface="Bahnschrift SemiLight" pitchFamily="34" charset="0"/>
              </a:rPr>
              <a:t>HumanMessagePromptTemplate</a:t>
            </a:r>
            <a:r>
              <a:rPr lang="en-IN" sz="1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ahnschrift SemiLight" pitchFamily="34" charset="0"/>
              </a:rPr>
              <a:t>.</a:t>
            </a:r>
            <a:r>
              <a:rPr lang="en-IN" sz="1400" dirty="0">
                <a:solidFill>
                  <a:srgbClr val="FF0066"/>
                </a:solidFill>
                <a:latin typeface="Bahnschrift SemiLight" pitchFamily="34" charset="0"/>
              </a:rPr>
              <a:t>from_templat</a:t>
            </a:r>
            <a:r>
              <a:rPr lang="en-IN" sz="1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ahnschrift SemiLight" pitchFamily="34" charset="0"/>
              </a:rPr>
              <a:t>e</a:t>
            </a:r>
            <a:r>
              <a:rPr lang="en-IN" sz="1400" dirty="0">
                <a:solidFill>
                  <a:srgbClr val="FF4B21"/>
                </a:solidFill>
                <a:latin typeface="Bahnschrift SemiLight" pitchFamily="34" charset="0"/>
              </a:rPr>
              <a:t>("{text</a:t>
            </a:r>
            <a:r>
              <a:rPr lang="en-IN" sz="1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ahnschrift SemiLight" pitchFamily="34" charset="0"/>
              </a:rPr>
              <a:t>}")</a:t>
            </a:r>
            <a:r>
              <a:rPr lang="en-IN" sz="1400" dirty="0">
                <a:latin typeface="Bahnschrift SemiLight" pitchFamily="34" charset="0"/>
              </a:rPr>
              <a:t>  </a:t>
            </a:r>
          </a:p>
          <a:p>
            <a:r>
              <a:rPr lang="en-IN" sz="1400" dirty="0">
                <a:latin typeface="Bahnschrift SemiLight" pitchFamily="34" charset="0"/>
              </a:rPr>
              <a:t>   </a:t>
            </a:r>
            <a:r>
              <a:rPr lang="en-IN" sz="1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ahnschrift SemiLight" pitchFamily="34" charset="0"/>
              </a:rPr>
              <a:t> ])</a:t>
            </a:r>
          </a:p>
          <a:p>
            <a:r>
              <a:rPr lang="en-IN" sz="1400" dirty="0">
                <a:solidFill>
                  <a:srgbClr val="00B0F0"/>
                </a:solidFill>
                <a:latin typeface="Bahnschrift SemiLight" pitchFamily="34" charset="0"/>
              </a:rPr>
              <a:t>messages</a:t>
            </a:r>
            <a:r>
              <a:rPr lang="en-IN" sz="1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ahnschrift SemiLight" pitchFamily="34" charset="0"/>
              </a:rPr>
              <a:t>=</a:t>
            </a:r>
            <a:r>
              <a:rPr lang="en-IN" sz="1400" dirty="0">
                <a:solidFill>
                  <a:srgbClr val="00B0F0"/>
                </a:solidFill>
                <a:latin typeface="Bahnschrift SemiLight" pitchFamily="34" charset="0"/>
              </a:rPr>
              <a:t>chat_template</a:t>
            </a:r>
            <a:r>
              <a:rPr lang="en-IN" sz="1400" dirty="0">
                <a:solidFill>
                  <a:schemeClr val="bg1"/>
                </a:solidFill>
                <a:latin typeface="Bahnschrift SemiLight" pitchFamily="34" charset="0"/>
              </a:rPr>
              <a:t>.</a:t>
            </a:r>
            <a:r>
              <a:rPr lang="en-IN" sz="1400" dirty="0">
                <a:solidFill>
                  <a:srgbClr val="FF0066"/>
                </a:solidFill>
                <a:latin typeface="Bahnschrift SemiLight" pitchFamily="34" charset="0"/>
              </a:rPr>
              <a:t>format_prompt</a:t>
            </a:r>
            <a:r>
              <a:rPr lang="en-IN" sz="1400" dirty="0">
                <a:solidFill>
                  <a:srgbClr val="00B0F0"/>
                </a:solidFill>
                <a:latin typeface="Bahnschrift SemiLight" pitchFamily="34" charset="0"/>
              </a:rPr>
              <a:t>(input_lang</a:t>
            </a:r>
            <a:r>
              <a:rPr lang="en-IN" sz="1400" dirty="0">
                <a:solidFill>
                  <a:srgbClr val="0070C0"/>
                </a:solidFill>
                <a:latin typeface="Bahnschrift SemiLight" pitchFamily="34" charset="0"/>
              </a:rPr>
              <a:t>uage</a:t>
            </a:r>
            <a:r>
              <a:rPr lang="en-IN" sz="1400" dirty="0">
                <a:solidFill>
                  <a:schemeClr val="bg1"/>
                </a:solidFill>
                <a:latin typeface="Bahnschrift SemiLight" pitchFamily="34" charset="0"/>
              </a:rPr>
              <a:t>=</a:t>
            </a:r>
            <a:r>
              <a:rPr lang="en-IN" sz="1400" dirty="0">
                <a:solidFill>
                  <a:srgbClr val="FF6743"/>
                </a:solidFill>
                <a:latin typeface="Bahnschrift SemiLight" pitchFamily="34" charset="0"/>
              </a:rPr>
              <a:t>"English</a:t>
            </a:r>
            <a:r>
              <a:rPr lang="en-IN" sz="1400" dirty="0">
                <a:solidFill>
                  <a:schemeClr val="bg1"/>
                </a:solidFill>
                <a:latin typeface="Bahnschrift SemiLight" pitchFamily="34" charset="0"/>
              </a:rPr>
              <a:t>",</a:t>
            </a:r>
            <a:r>
              <a:rPr lang="en-IN" sz="1400" dirty="0">
                <a:solidFill>
                  <a:srgbClr val="00B0F0"/>
                </a:solidFill>
                <a:latin typeface="Bahnschrift SemiLight" pitchFamily="34" charset="0"/>
              </a:rPr>
              <a:t>output_languag</a:t>
            </a:r>
            <a:r>
              <a:rPr lang="en-IN" sz="1400" dirty="0">
                <a:solidFill>
                  <a:schemeClr val="bg1"/>
                </a:solidFill>
                <a:latin typeface="Bahnschrift SemiLight" pitchFamily="34" charset="0"/>
              </a:rPr>
              <a:t>e="</a:t>
            </a:r>
            <a:r>
              <a:rPr lang="en-IN" sz="1400" dirty="0">
                <a:solidFill>
                  <a:srgbClr val="FF6743"/>
                </a:solidFill>
                <a:latin typeface="Bahnschrift SemiLight" pitchFamily="34" charset="0"/>
              </a:rPr>
              <a:t>hind</a:t>
            </a:r>
            <a:r>
              <a:rPr lang="en-IN" sz="1400" dirty="0">
                <a:solidFill>
                  <a:schemeClr val="bg1"/>
                </a:solidFill>
                <a:latin typeface="Bahnschrift SemiLight" pitchFamily="34" charset="0"/>
              </a:rPr>
              <a:t>i"</a:t>
            </a:r>
            <a:r>
              <a:rPr lang="en-IN" sz="1400" dirty="0">
                <a:solidFill>
                  <a:srgbClr val="00B0F0"/>
                </a:solidFill>
                <a:latin typeface="Bahnschrift SemiLight" pitchFamily="34" charset="0"/>
              </a:rPr>
              <a:t>,text</a:t>
            </a:r>
            <a:r>
              <a:rPr lang="en-IN" sz="1400" dirty="0">
                <a:solidFill>
                  <a:srgbClr val="FF6743"/>
                </a:solidFill>
                <a:latin typeface="Bahnschrift SemiLight" pitchFamily="34" charset="0"/>
              </a:rPr>
              <a:t>="I love programming</a:t>
            </a:r>
            <a:r>
              <a:rPr lang="en-IN" sz="1400" dirty="0">
                <a:solidFill>
                  <a:schemeClr val="bg1"/>
                </a:solidFill>
                <a:latin typeface="Bahnschrift SemiLight" pitchFamily="34" charset="0"/>
              </a:rPr>
              <a:t>.")</a:t>
            </a:r>
          </a:p>
          <a:p>
            <a:r>
              <a:rPr lang="en-IN" sz="1400" dirty="0">
                <a:solidFill>
                  <a:srgbClr val="00B0F0"/>
                </a:solidFill>
                <a:latin typeface="Bahnschrift SemiLight" pitchFamily="34" charset="0"/>
              </a:rPr>
              <a:t>output</a:t>
            </a:r>
            <a:r>
              <a:rPr lang="en-IN" sz="1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ahnschrift SemiLight" pitchFamily="34" charset="0"/>
              </a:rPr>
              <a:t>=</a:t>
            </a:r>
            <a:r>
              <a:rPr lang="en-IN" sz="1400" dirty="0">
                <a:solidFill>
                  <a:schemeClr val="accent1"/>
                </a:solidFill>
                <a:latin typeface="Bahnschrift SemiLight" pitchFamily="34" charset="0"/>
              </a:rPr>
              <a:t>llm</a:t>
            </a:r>
            <a:r>
              <a:rPr lang="en-IN" sz="1400" dirty="0">
                <a:solidFill>
                  <a:srgbClr val="FF0066"/>
                </a:solidFill>
                <a:latin typeface="Bahnschrift SemiLight" pitchFamily="34" charset="0"/>
              </a:rPr>
              <a:t>.invok</a:t>
            </a:r>
            <a:r>
              <a:rPr lang="en-IN" sz="1400" dirty="0">
                <a:solidFill>
                  <a:schemeClr val="bg1"/>
                </a:solidFill>
                <a:latin typeface="Bahnschrift SemiLight" pitchFamily="34" charset="0"/>
              </a:rPr>
              <a:t>e</a:t>
            </a:r>
            <a:r>
              <a:rPr lang="en-IN" sz="1400" dirty="0">
                <a:solidFill>
                  <a:srgbClr val="00B0F0"/>
                </a:solidFill>
                <a:latin typeface="Bahnschrift SemiLight" pitchFamily="34" charset="0"/>
              </a:rPr>
              <a:t>(message</a:t>
            </a:r>
            <a:r>
              <a:rPr lang="en-IN" sz="1400" dirty="0">
                <a:solidFill>
                  <a:schemeClr val="bg1"/>
                </a:solidFill>
                <a:latin typeface="Bahnschrift SemiLight" pitchFamily="34" charset="0"/>
              </a:rPr>
              <a:t>s)</a:t>
            </a:r>
          </a:p>
          <a:p>
            <a:r>
              <a:rPr lang="en-IN" sz="1400" dirty="0">
                <a:solidFill>
                  <a:srgbClr val="00B0F0"/>
                </a:solidFill>
                <a:latin typeface="Bahnschrift SemiLight" pitchFamily="34" charset="0"/>
              </a:rPr>
              <a:t>output.content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40683" y="4541793"/>
            <a:ext cx="2451312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hi-IN" sz="1600" dirty="0">
                <a:latin typeface="Bahnschrift Light" pitchFamily="34" charset="0"/>
              </a:rPr>
              <a:t>'मुझे प्रोग्रामिंग बहुत पसंद है।'</a:t>
            </a:r>
            <a:endParaRPr lang="en-IN" sz="1600" dirty="0">
              <a:latin typeface="Bahnschrift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" name="Group 30"/>
          <p:cNvGrpSpPr/>
          <p:nvPr/>
        </p:nvGrpSpPr>
        <p:grpSpPr>
          <a:xfrm>
            <a:off x="1369004" y="1575476"/>
            <a:ext cx="8403154" cy="3266298"/>
            <a:chOff x="1374170" y="1594020"/>
            <a:chExt cx="8403154" cy="3266298"/>
          </a:xfrm>
        </p:grpSpPr>
        <p:sp>
          <p:nvSpPr>
            <p:cNvPr id="5" name="Rectangle 4"/>
            <p:cNvSpPr/>
            <p:nvPr/>
          </p:nvSpPr>
          <p:spPr>
            <a:xfrm>
              <a:off x="7067292" y="1594020"/>
              <a:ext cx="1878227" cy="457200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CC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Gadugi" pitchFamily="34" charset="0"/>
                  <a:ea typeface="Gadugi" pitchFamily="34" charset="0"/>
                </a:rPr>
                <a:t>1.Models</a:t>
              </a:r>
              <a:endParaRPr lang="en-IN" sz="1400" dirty="0">
                <a:latin typeface="Gadugi" pitchFamily="34" charset="0"/>
                <a:ea typeface="Gadugi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32139" y="4384574"/>
              <a:ext cx="1878227" cy="457200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CC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Gadugi" pitchFamily="34" charset="0"/>
                  <a:ea typeface="Gadugi" pitchFamily="34" charset="0"/>
                </a:rPr>
                <a:t>3.Chains</a:t>
              </a:r>
              <a:endParaRPr lang="en-IN" sz="1400" dirty="0">
                <a:latin typeface="Gadugi" pitchFamily="34" charset="0"/>
                <a:ea typeface="Gadugi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899097" y="2783870"/>
              <a:ext cx="1878227" cy="457200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CC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Gadugi" pitchFamily="34" charset="0"/>
                  <a:ea typeface="Gadugi" pitchFamily="34" charset="0"/>
                </a:rPr>
                <a:t>2.Prompts</a:t>
              </a:r>
              <a:endParaRPr lang="en-IN" sz="1400" dirty="0">
                <a:latin typeface="Gadugi" pitchFamily="34" charset="0"/>
                <a:ea typeface="Gadugi" pitchFamily="34" charset="0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4312508" y="2514599"/>
              <a:ext cx="1915297" cy="1050324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Gadugi" pitchFamily="34" charset="0"/>
                  <a:ea typeface="Gadugi" pitchFamily="34" charset="0"/>
                </a:rPr>
                <a:t>Langchain</a:t>
              </a:r>
              <a:endParaRPr lang="en-IN" sz="1600" dirty="0">
                <a:latin typeface="Gadugi" pitchFamily="34" charset="0"/>
                <a:ea typeface="Gadugi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9825" y="1594020"/>
              <a:ext cx="1878227" cy="457200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CC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Gadugi" pitchFamily="34" charset="0"/>
                  <a:ea typeface="Gadugi" pitchFamily="34" charset="0"/>
                </a:rPr>
                <a:t>6.Agents</a:t>
              </a:r>
              <a:endParaRPr lang="en-IN" sz="1400" dirty="0">
                <a:latin typeface="Gadugi" pitchFamily="34" charset="0"/>
                <a:ea typeface="Gadugi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74170" y="2919795"/>
              <a:ext cx="1878227" cy="457200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CC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Gadugi" pitchFamily="34" charset="0"/>
                  <a:ea typeface="Gadugi" pitchFamily="34" charset="0"/>
                </a:rPr>
                <a:t>5.Indexes</a:t>
              </a:r>
              <a:endParaRPr lang="en-IN" sz="1400" dirty="0">
                <a:latin typeface="Gadugi" pitchFamily="34" charset="0"/>
                <a:ea typeface="Gadugi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009969" y="4403118"/>
              <a:ext cx="1878227" cy="457200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CC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Gadugi" pitchFamily="34" charset="0"/>
                  <a:ea typeface="Gadugi" pitchFamily="34" charset="0"/>
                </a:rPr>
                <a:t>4.Memory</a:t>
              </a:r>
              <a:endParaRPr lang="en-IN" sz="1400" dirty="0">
                <a:latin typeface="Gadugi" pitchFamily="34" charset="0"/>
                <a:ea typeface="Gadugi" pitchFamily="34" charset="0"/>
              </a:endParaRP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V="1">
              <a:off x="6091881" y="2051220"/>
              <a:ext cx="827903" cy="59312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6225744" y="3012470"/>
              <a:ext cx="1645509" cy="272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5570581" y="3564923"/>
              <a:ext cx="1250349" cy="81965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>
              <a:off x="4040659" y="3552565"/>
              <a:ext cx="977605" cy="8320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>
              <a:off x="3309999" y="3039761"/>
              <a:ext cx="1036106" cy="411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 flipV="1">
              <a:off x="3888196" y="2072840"/>
              <a:ext cx="915818" cy="44175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" name="Rectangle 1024"/>
          <p:cNvSpPr/>
          <p:nvPr/>
        </p:nvSpPr>
        <p:spPr>
          <a:xfrm>
            <a:off x="4062833" y="5777469"/>
            <a:ext cx="2627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Bahnschrift" pitchFamily="34" charset="0"/>
                <a:ea typeface="Gadugi" pitchFamily="34" charset="0"/>
              </a:rPr>
              <a:t>LangChain Components</a:t>
            </a:r>
          </a:p>
        </p:txBody>
      </p:sp>
    </p:spTree>
    <p:extLst>
      <p:ext uri="{BB962C8B-B14F-4D97-AF65-F5344CB8AC3E}">
        <p14:creationId xmlns:p14="http://schemas.microsoft.com/office/powerpoint/2010/main" val="108559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83" name="Group 2082"/>
          <p:cNvGrpSpPr/>
          <p:nvPr/>
        </p:nvGrpSpPr>
        <p:grpSpPr>
          <a:xfrm>
            <a:off x="1735439" y="1046653"/>
            <a:ext cx="8648855" cy="3290214"/>
            <a:chOff x="967946" y="702035"/>
            <a:chExt cx="8648855" cy="3290214"/>
          </a:xfrm>
        </p:grpSpPr>
        <p:grpSp>
          <p:nvGrpSpPr>
            <p:cNvPr id="2073" name="Group 2072"/>
            <p:cNvGrpSpPr/>
            <p:nvPr/>
          </p:nvGrpSpPr>
          <p:grpSpPr>
            <a:xfrm>
              <a:off x="967946" y="702035"/>
              <a:ext cx="8648855" cy="3290214"/>
              <a:chOff x="603115" y="357417"/>
              <a:chExt cx="8648855" cy="3290214"/>
            </a:xfrm>
          </p:grpSpPr>
          <p:grpSp>
            <p:nvGrpSpPr>
              <p:cNvPr id="2048" name="Group 2047"/>
              <p:cNvGrpSpPr/>
              <p:nvPr/>
            </p:nvGrpSpPr>
            <p:grpSpPr>
              <a:xfrm>
                <a:off x="603115" y="357417"/>
                <a:ext cx="8648855" cy="2662636"/>
                <a:chOff x="603115" y="357417"/>
                <a:chExt cx="8648855" cy="2662636"/>
              </a:xfrm>
            </p:grpSpPr>
            <p:grpSp>
              <p:nvGrpSpPr>
                <p:cNvPr id="4" name="Group 3"/>
                <p:cNvGrpSpPr/>
                <p:nvPr/>
              </p:nvGrpSpPr>
              <p:grpSpPr>
                <a:xfrm>
                  <a:off x="1998251" y="357417"/>
                  <a:ext cx="7253719" cy="369332"/>
                  <a:chOff x="1902636" y="526694"/>
                  <a:chExt cx="7253719" cy="369332"/>
                </a:xfrm>
              </p:grpSpPr>
              <p:sp>
                <p:nvSpPr>
                  <p:cNvPr id="2" name="TextBox 1"/>
                  <p:cNvSpPr txBox="1"/>
                  <p:nvPr/>
                </p:nvSpPr>
                <p:spPr>
                  <a:xfrm>
                    <a:off x="3028924" y="532758"/>
                    <a:ext cx="6127431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dirty="0" smtClean="0"/>
                      <a:t>(Communicate two </a:t>
                    </a:r>
                    <a:r>
                      <a:rPr lang="en-US" sz="1600" b="1" dirty="0" smtClean="0">
                        <a:latin typeface="Bahnschrift" pitchFamily="34" charset="0"/>
                      </a:rPr>
                      <a:t>models</a:t>
                    </a:r>
                    <a:r>
                      <a:rPr lang="en-US" sz="1600" dirty="0" smtClean="0"/>
                      <a:t> Language model/Embedding model)</a:t>
                    </a:r>
                    <a:endParaRPr lang="en-IN" sz="1600" dirty="0"/>
                  </a:p>
                </p:txBody>
              </p:sp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1902636" y="526694"/>
                    <a:ext cx="112748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Langchain</a:t>
                    </a:r>
                    <a:endParaRPr lang="en-IN" dirty="0"/>
                  </a:p>
                </p:txBody>
              </p:sp>
            </p:grpSp>
            <p:grpSp>
              <p:nvGrpSpPr>
                <p:cNvPr id="19" name="Group 18"/>
                <p:cNvGrpSpPr/>
                <p:nvPr/>
              </p:nvGrpSpPr>
              <p:grpSpPr>
                <a:xfrm>
                  <a:off x="603115" y="1452878"/>
                  <a:ext cx="1695002" cy="685176"/>
                  <a:chOff x="603115" y="1452878"/>
                  <a:chExt cx="1695002" cy="685176"/>
                </a:xfrm>
              </p:grpSpPr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667671" y="1681374"/>
                    <a:ext cx="163044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dirty="0"/>
                      <a:t>Language </a:t>
                    </a:r>
                    <a:r>
                      <a:rPr lang="en-US" sz="1600" dirty="0" smtClean="0"/>
                      <a:t>models</a:t>
                    </a:r>
                    <a:endParaRPr lang="en-IN" sz="1600" dirty="0"/>
                  </a:p>
                </p:txBody>
              </p:sp>
              <p:sp>
                <p:nvSpPr>
                  <p:cNvPr id="17" name="Left Brace 16"/>
                  <p:cNvSpPr/>
                  <p:nvPr/>
                </p:nvSpPr>
                <p:spPr>
                  <a:xfrm>
                    <a:off x="603115" y="1452878"/>
                    <a:ext cx="129477" cy="685176"/>
                  </a:xfrm>
                  <a:prstGeom prst="leftBrac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" name="Right Brace 17"/>
                  <p:cNvSpPr/>
                  <p:nvPr/>
                </p:nvSpPr>
                <p:spPr>
                  <a:xfrm>
                    <a:off x="2220393" y="1496358"/>
                    <a:ext cx="77724" cy="641696"/>
                  </a:xfrm>
                  <a:prstGeom prst="rightBrac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" name="Group 21"/>
                <p:cNvGrpSpPr/>
                <p:nvPr/>
              </p:nvGrpSpPr>
              <p:grpSpPr>
                <a:xfrm>
                  <a:off x="4367136" y="1496358"/>
                  <a:ext cx="1797036" cy="690530"/>
                  <a:chOff x="4367136" y="1496358"/>
                  <a:chExt cx="1797036" cy="690530"/>
                </a:xfrm>
              </p:grpSpPr>
              <p:sp>
                <p:nvSpPr>
                  <p:cNvPr id="7" name="TextBox 6"/>
                  <p:cNvSpPr txBox="1"/>
                  <p:nvPr/>
                </p:nvSpPr>
                <p:spPr>
                  <a:xfrm>
                    <a:off x="4464668" y="1681374"/>
                    <a:ext cx="169950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dirty="0"/>
                      <a:t>Embedding model</a:t>
                    </a:r>
                    <a:endParaRPr lang="en-IN" sz="1600" dirty="0"/>
                  </a:p>
                </p:txBody>
              </p:sp>
              <p:sp>
                <p:nvSpPr>
                  <p:cNvPr id="20" name="Left Brace 19"/>
                  <p:cNvSpPr/>
                  <p:nvPr/>
                </p:nvSpPr>
                <p:spPr>
                  <a:xfrm>
                    <a:off x="4367136" y="1532496"/>
                    <a:ext cx="201587" cy="654392"/>
                  </a:xfrm>
                  <a:prstGeom prst="leftBrac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1" name="Right Brace 20"/>
                  <p:cNvSpPr/>
                  <p:nvPr/>
                </p:nvSpPr>
                <p:spPr>
                  <a:xfrm>
                    <a:off x="6086448" y="1496358"/>
                    <a:ext cx="77724" cy="654393"/>
                  </a:xfrm>
                  <a:prstGeom prst="rightBrace">
                    <a:avLst/>
                  </a:prstGeom>
                  <a:ln w="127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31" name="Group 30"/>
                <p:cNvGrpSpPr/>
                <p:nvPr/>
              </p:nvGrpSpPr>
              <p:grpSpPr>
                <a:xfrm>
                  <a:off x="732593" y="2227658"/>
                  <a:ext cx="1265658" cy="792395"/>
                  <a:chOff x="732593" y="2227658"/>
                  <a:chExt cx="1265658" cy="792395"/>
                </a:xfrm>
              </p:grpSpPr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1085113" y="2227658"/>
                    <a:ext cx="57099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LLMS</a:t>
                    </a:r>
                    <a:endParaRPr lang="en-IN" dirty="0"/>
                  </a:p>
                </p:txBody>
              </p:sp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732593" y="2712276"/>
                    <a:ext cx="47070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text</a:t>
                    </a:r>
                    <a:endParaRPr lang="en-IN" dirty="0"/>
                  </a:p>
                </p:txBody>
              </p:sp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1527545" y="2712275"/>
                    <a:ext cx="47070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text</a:t>
                    </a:r>
                    <a:endParaRPr lang="en-IN" dirty="0"/>
                  </a:p>
                </p:txBody>
              </p:sp>
              <p:cxnSp>
                <p:nvCxnSpPr>
                  <p:cNvPr id="28" name="Curved Connector 27"/>
                  <p:cNvCxnSpPr>
                    <a:stCxn id="23" idx="0"/>
                    <a:endCxn id="8" idx="1"/>
                  </p:cNvCxnSpPr>
                  <p:nvPr/>
                </p:nvCxnSpPr>
                <p:spPr>
                  <a:xfrm rot="5400000" flipH="1" flipV="1">
                    <a:off x="861165" y="2488329"/>
                    <a:ext cx="330729" cy="117167"/>
                  </a:xfrm>
                  <a:prstGeom prst="curvedConnector2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Curved Connector 29"/>
                  <p:cNvCxnSpPr>
                    <a:endCxn id="8" idx="3"/>
                  </p:cNvCxnSpPr>
                  <p:nvPr/>
                </p:nvCxnSpPr>
                <p:spPr>
                  <a:xfrm rot="10800000">
                    <a:off x="1656103" y="2381547"/>
                    <a:ext cx="342148" cy="330730"/>
                  </a:xfrm>
                  <a:prstGeom prst="curvedConnector3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049" name="TextBox 2048"/>
              <p:cNvSpPr txBox="1"/>
              <p:nvPr/>
            </p:nvSpPr>
            <p:spPr>
              <a:xfrm>
                <a:off x="4367136" y="2515253"/>
                <a:ext cx="6331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smtClean="0"/>
                  <a:t>text</a:t>
                </a:r>
                <a:endParaRPr lang="en-IN" sz="1600" dirty="0"/>
              </a:p>
            </p:txBody>
          </p:sp>
          <p:cxnSp>
            <p:nvCxnSpPr>
              <p:cNvPr id="2052" name="Straight Arrow Connector 2051"/>
              <p:cNvCxnSpPr/>
              <p:nvPr/>
            </p:nvCxnSpPr>
            <p:spPr>
              <a:xfrm flipV="1">
                <a:off x="4877766" y="2675287"/>
                <a:ext cx="436654" cy="924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3" name="TextBox 2052"/>
              <p:cNvSpPr txBox="1"/>
              <p:nvPr/>
            </p:nvSpPr>
            <p:spPr>
              <a:xfrm>
                <a:off x="5382954" y="2503598"/>
                <a:ext cx="14069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v</a:t>
                </a:r>
                <a:r>
                  <a:rPr lang="en-US" sz="1600" dirty="0" smtClean="0"/>
                  <a:t>ector(output)</a:t>
                </a:r>
                <a:endParaRPr lang="en-IN" sz="1600" dirty="0"/>
              </a:p>
            </p:txBody>
          </p:sp>
          <p:cxnSp>
            <p:nvCxnSpPr>
              <p:cNvPr id="2055" name="Straight Connector 2054"/>
              <p:cNvCxnSpPr/>
              <p:nvPr/>
            </p:nvCxnSpPr>
            <p:spPr>
              <a:xfrm>
                <a:off x="4996152" y="2756312"/>
                <a:ext cx="0" cy="8913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6" name="TextBox 2055"/>
              <p:cNvSpPr txBox="1"/>
              <p:nvPr/>
            </p:nvSpPr>
            <p:spPr>
              <a:xfrm>
                <a:off x="5145485" y="3036339"/>
                <a:ext cx="94096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semantic</a:t>
                </a:r>
                <a:endParaRPr lang="en-IN" sz="1600" dirty="0"/>
              </a:p>
            </p:txBody>
          </p:sp>
          <p:cxnSp>
            <p:nvCxnSpPr>
              <p:cNvPr id="2059" name="Curved Connector 2058"/>
              <p:cNvCxnSpPr>
                <a:endCxn id="11" idx="2"/>
              </p:cNvCxnSpPr>
              <p:nvPr/>
            </p:nvCxnSpPr>
            <p:spPr>
              <a:xfrm flipV="1">
                <a:off x="1203299" y="726749"/>
                <a:ext cx="1358696" cy="632494"/>
              </a:xfrm>
              <a:prstGeom prst="curvedConnector2">
                <a:avLst/>
              </a:prstGeom>
              <a:ln>
                <a:solidFill>
                  <a:srgbClr val="00D05E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82" name="Freeform 2081"/>
            <p:cNvSpPr/>
            <p:nvPr/>
          </p:nvSpPr>
          <p:spPr>
            <a:xfrm>
              <a:off x="3188043" y="1049410"/>
              <a:ext cx="2829698" cy="692893"/>
            </a:xfrm>
            <a:custGeom>
              <a:avLst/>
              <a:gdLst>
                <a:gd name="connsiteX0" fmla="*/ 2829698 w 2829698"/>
                <a:gd name="connsiteY0" fmla="*/ 692893 h 692893"/>
                <a:gd name="connsiteX1" fmla="*/ 2669060 w 2829698"/>
                <a:gd name="connsiteY1" fmla="*/ 680536 h 692893"/>
                <a:gd name="connsiteX2" fmla="*/ 2631989 w 2829698"/>
                <a:gd name="connsiteY2" fmla="*/ 668179 h 692893"/>
                <a:gd name="connsiteX3" fmla="*/ 2557849 w 2829698"/>
                <a:gd name="connsiteY3" fmla="*/ 655822 h 692893"/>
                <a:gd name="connsiteX4" fmla="*/ 2483708 w 2829698"/>
                <a:gd name="connsiteY4" fmla="*/ 618752 h 692893"/>
                <a:gd name="connsiteX5" fmla="*/ 2446638 w 2829698"/>
                <a:gd name="connsiteY5" fmla="*/ 594039 h 692893"/>
                <a:gd name="connsiteX6" fmla="*/ 2372498 w 2829698"/>
                <a:gd name="connsiteY6" fmla="*/ 569325 h 692893"/>
                <a:gd name="connsiteX7" fmla="*/ 2261287 w 2829698"/>
                <a:gd name="connsiteY7" fmla="*/ 519898 h 692893"/>
                <a:gd name="connsiteX8" fmla="*/ 2162433 w 2829698"/>
                <a:gd name="connsiteY8" fmla="*/ 470471 h 692893"/>
                <a:gd name="connsiteX9" fmla="*/ 2063579 w 2829698"/>
                <a:gd name="connsiteY9" fmla="*/ 445758 h 692893"/>
                <a:gd name="connsiteX10" fmla="*/ 2026508 w 2829698"/>
                <a:gd name="connsiteY10" fmla="*/ 433401 h 692893"/>
                <a:gd name="connsiteX11" fmla="*/ 1853514 w 2829698"/>
                <a:gd name="connsiteY11" fmla="*/ 383974 h 692893"/>
                <a:gd name="connsiteX12" fmla="*/ 1816443 w 2829698"/>
                <a:gd name="connsiteY12" fmla="*/ 371617 h 692893"/>
                <a:gd name="connsiteX13" fmla="*/ 1779373 w 2829698"/>
                <a:gd name="connsiteY13" fmla="*/ 359260 h 692893"/>
                <a:gd name="connsiteX14" fmla="*/ 1705233 w 2829698"/>
                <a:gd name="connsiteY14" fmla="*/ 346904 h 692893"/>
                <a:gd name="connsiteX15" fmla="*/ 1594022 w 2829698"/>
                <a:gd name="connsiteY15" fmla="*/ 309833 h 692893"/>
                <a:gd name="connsiteX16" fmla="*/ 1556952 w 2829698"/>
                <a:gd name="connsiteY16" fmla="*/ 297476 h 692893"/>
                <a:gd name="connsiteX17" fmla="*/ 1383957 w 2829698"/>
                <a:gd name="connsiteY17" fmla="*/ 260406 h 692893"/>
                <a:gd name="connsiteX18" fmla="*/ 1334530 w 2829698"/>
                <a:gd name="connsiteY18" fmla="*/ 235693 h 692893"/>
                <a:gd name="connsiteX19" fmla="*/ 1285103 w 2829698"/>
                <a:gd name="connsiteY19" fmla="*/ 223336 h 692893"/>
                <a:gd name="connsiteX20" fmla="*/ 1210962 w 2829698"/>
                <a:gd name="connsiteY20" fmla="*/ 198622 h 692893"/>
                <a:gd name="connsiteX21" fmla="*/ 1173892 w 2829698"/>
                <a:gd name="connsiteY21" fmla="*/ 186266 h 692893"/>
                <a:gd name="connsiteX22" fmla="*/ 1037968 w 2829698"/>
                <a:gd name="connsiteY22" fmla="*/ 136839 h 692893"/>
                <a:gd name="connsiteX23" fmla="*/ 852616 w 2829698"/>
                <a:gd name="connsiteY23" fmla="*/ 112125 h 692893"/>
                <a:gd name="connsiteX24" fmla="*/ 593125 w 2829698"/>
                <a:gd name="connsiteY24" fmla="*/ 62698 h 692893"/>
                <a:gd name="connsiteX25" fmla="*/ 469557 w 2829698"/>
                <a:gd name="connsiteY25" fmla="*/ 37985 h 692893"/>
                <a:gd name="connsiteX26" fmla="*/ 135925 w 2829698"/>
                <a:gd name="connsiteY26" fmla="*/ 914 h 692893"/>
                <a:gd name="connsiteX27" fmla="*/ 0 w 2829698"/>
                <a:gd name="connsiteY27" fmla="*/ 914 h 6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829698" h="692893">
                  <a:moveTo>
                    <a:pt x="2829698" y="692893"/>
                  </a:moveTo>
                  <a:cubicBezTo>
                    <a:pt x="2776152" y="688774"/>
                    <a:pt x="2722349" y="687197"/>
                    <a:pt x="2669060" y="680536"/>
                  </a:cubicBezTo>
                  <a:cubicBezTo>
                    <a:pt x="2656135" y="678920"/>
                    <a:pt x="2644704" y="671005"/>
                    <a:pt x="2631989" y="668179"/>
                  </a:cubicBezTo>
                  <a:cubicBezTo>
                    <a:pt x="2607531" y="662744"/>
                    <a:pt x="2582562" y="659941"/>
                    <a:pt x="2557849" y="655822"/>
                  </a:cubicBezTo>
                  <a:cubicBezTo>
                    <a:pt x="2451613" y="584999"/>
                    <a:pt x="2586026" y="669910"/>
                    <a:pt x="2483708" y="618752"/>
                  </a:cubicBezTo>
                  <a:cubicBezTo>
                    <a:pt x="2470425" y="612111"/>
                    <a:pt x="2460209" y="600071"/>
                    <a:pt x="2446638" y="594039"/>
                  </a:cubicBezTo>
                  <a:cubicBezTo>
                    <a:pt x="2422833" y="583459"/>
                    <a:pt x="2372498" y="569325"/>
                    <a:pt x="2372498" y="569325"/>
                  </a:cubicBezTo>
                  <a:cubicBezTo>
                    <a:pt x="2265653" y="489192"/>
                    <a:pt x="2384687" y="567359"/>
                    <a:pt x="2261287" y="519898"/>
                  </a:cubicBezTo>
                  <a:cubicBezTo>
                    <a:pt x="2226902" y="506673"/>
                    <a:pt x="2197383" y="482121"/>
                    <a:pt x="2162433" y="470471"/>
                  </a:cubicBezTo>
                  <a:cubicBezTo>
                    <a:pt x="2077693" y="442224"/>
                    <a:pt x="2182869" y="475580"/>
                    <a:pt x="2063579" y="445758"/>
                  </a:cubicBezTo>
                  <a:cubicBezTo>
                    <a:pt x="2050942" y="442599"/>
                    <a:pt x="2039074" y="436828"/>
                    <a:pt x="2026508" y="433401"/>
                  </a:cubicBezTo>
                  <a:cubicBezTo>
                    <a:pt x="1855835" y="386853"/>
                    <a:pt x="1995576" y="431328"/>
                    <a:pt x="1853514" y="383974"/>
                  </a:cubicBezTo>
                  <a:lnTo>
                    <a:pt x="1816443" y="371617"/>
                  </a:lnTo>
                  <a:cubicBezTo>
                    <a:pt x="1804086" y="367498"/>
                    <a:pt x="1792221" y="361401"/>
                    <a:pt x="1779373" y="359260"/>
                  </a:cubicBezTo>
                  <a:lnTo>
                    <a:pt x="1705233" y="346904"/>
                  </a:lnTo>
                  <a:lnTo>
                    <a:pt x="1594022" y="309833"/>
                  </a:lnTo>
                  <a:cubicBezTo>
                    <a:pt x="1581665" y="305714"/>
                    <a:pt x="1569588" y="300635"/>
                    <a:pt x="1556952" y="297476"/>
                  </a:cubicBezTo>
                  <a:cubicBezTo>
                    <a:pt x="1433791" y="266686"/>
                    <a:pt x="1491601" y="278347"/>
                    <a:pt x="1383957" y="260406"/>
                  </a:cubicBezTo>
                  <a:cubicBezTo>
                    <a:pt x="1367481" y="252168"/>
                    <a:pt x="1351777" y="242161"/>
                    <a:pt x="1334530" y="235693"/>
                  </a:cubicBezTo>
                  <a:cubicBezTo>
                    <a:pt x="1318629" y="229730"/>
                    <a:pt x="1301370" y="228216"/>
                    <a:pt x="1285103" y="223336"/>
                  </a:cubicBezTo>
                  <a:cubicBezTo>
                    <a:pt x="1260151" y="215850"/>
                    <a:pt x="1235676" y="206860"/>
                    <a:pt x="1210962" y="198622"/>
                  </a:cubicBezTo>
                  <a:cubicBezTo>
                    <a:pt x="1198605" y="194503"/>
                    <a:pt x="1185985" y="191103"/>
                    <a:pt x="1173892" y="186266"/>
                  </a:cubicBezTo>
                  <a:cubicBezTo>
                    <a:pt x="1132943" y="169886"/>
                    <a:pt x="1080276" y="147416"/>
                    <a:pt x="1037968" y="136839"/>
                  </a:cubicBezTo>
                  <a:cubicBezTo>
                    <a:pt x="993594" y="125746"/>
                    <a:pt x="889644" y="116239"/>
                    <a:pt x="852616" y="112125"/>
                  </a:cubicBezTo>
                  <a:cubicBezTo>
                    <a:pt x="675915" y="53225"/>
                    <a:pt x="803749" y="86101"/>
                    <a:pt x="593125" y="62698"/>
                  </a:cubicBezTo>
                  <a:cubicBezTo>
                    <a:pt x="352389" y="35949"/>
                    <a:pt x="644858" y="64280"/>
                    <a:pt x="469557" y="37985"/>
                  </a:cubicBezTo>
                  <a:cubicBezTo>
                    <a:pt x="413032" y="29506"/>
                    <a:pt x="210357" y="4297"/>
                    <a:pt x="135925" y="914"/>
                  </a:cubicBezTo>
                  <a:cubicBezTo>
                    <a:pt x="90663" y="-1143"/>
                    <a:pt x="45308" y="914"/>
                    <a:pt x="0" y="914"/>
                  </a:cubicBezTo>
                </a:path>
              </a:pathLst>
            </a:custGeom>
            <a:ln>
              <a:solidFill>
                <a:srgbClr val="00D0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27925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00782" y="178130"/>
            <a:ext cx="1417953" cy="332515"/>
            <a:chOff x="0" y="195940"/>
            <a:chExt cx="1417953" cy="332515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0" y="528455"/>
              <a:ext cx="141795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248672" y="195940"/>
              <a:ext cx="848005" cy="33251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400" dirty="0" smtClean="0">
                  <a:latin typeface="Bahnschrift" pitchFamily="34" charset="0"/>
                </a:rPr>
                <a:t>Indexes</a:t>
              </a:r>
              <a:endParaRPr lang="en-IN" sz="1400" dirty="0">
                <a:latin typeface="Bahnschrift" pitchFamily="34" charset="0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206880" y="636238"/>
            <a:ext cx="97039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Indexes are used to connect applications to external knowledge sources—such as PDFs, websites, or databases.</a:t>
            </a:r>
            <a:endParaRPr lang="en-IN" sz="1600" dirty="0"/>
          </a:p>
        </p:txBody>
      </p:sp>
      <p:grpSp>
        <p:nvGrpSpPr>
          <p:cNvPr id="72" name="Group 71"/>
          <p:cNvGrpSpPr/>
          <p:nvPr/>
        </p:nvGrpSpPr>
        <p:grpSpPr>
          <a:xfrm>
            <a:off x="357401" y="1306007"/>
            <a:ext cx="7639917" cy="5249833"/>
            <a:chOff x="357401" y="1306007"/>
            <a:chExt cx="7639917" cy="5249833"/>
          </a:xfrm>
        </p:grpSpPr>
        <p:sp>
          <p:nvSpPr>
            <p:cNvPr id="3084" name="TextBox 3083"/>
            <p:cNvSpPr txBox="1"/>
            <p:nvPr/>
          </p:nvSpPr>
          <p:spPr>
            <a:xfrm>
              <a:off x="7017563" y="4708952"/>
              <a:ext cx="9797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Bahnschrift" pitchFamily="34" charset="0"/>
                  <a:ea typeface="Arial Unicode MS" pitchFamily="34" charset="-128"/>
                  <a:cs typeface="Arial Unicode MS" pitchFamily="34" charset="-128"/>
                </a:rPr>
                <a:t>vectorstore</a:t>
              </a:r>
              <a:endParaRPr lang="en-IN" sz="1200" dirty="0">
                <a:latin typeface="Bahnschrif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cxnSp>
          <p:nvCxnSpPr>
            <p:cNvPr id="3088" name="Straight Arrow Connector 3087"/>
            <p:cNvCxnSpPr/>
            <p:nvPr/>
          </p:nvCxnSpPr>
          <p:spPr>
            <a:xfrm>
              <a:off x="6491413" y="4389697"/>
              <a:ext cx="0" cy="3192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70"/>
            <p:cNvGrpSpPr/>
            <p:nvPr/>
          </p:nvGrpSpPr>
          <p:grpSpPr>
            <a:xfrm>
              <a:off x="357401" y="1306007"/>
              <a:ext cx="6883656" cy="5249833"/>
              <a:chOff x="357401" y="1306007"/>
              <a:chExt cx="6883656" cy="5249833"/>
            </a:xfrm>
          </p:grpSpPr>
          <p:grpSp>
            <p:nvGrpSpPr>
              <p:cNvPr id="3082" name="Group 3081"/>
              <p:cNvGrpSpPr/>
              <p:nvPr/>
            </p:nvGrpSpPr>
            <p:grpSpPr>
              <a:xfrm>
                <a:off x="667262" y="1306007"/>
                <a:ext cx="6573795" cy="3070337"/>
                <a:chOff x="704335" y="1965242"/>
                <a:chExt cx="6573795" cy="3070337"/>
              </a:xfrm>
            </p:grpSpPr>
            <p:grpSp>
              <p:nvGrpSpPr>
                <p:cNvPr id="30" name="Group 29"/>
                <p:cNvGrpSpPr/>
                <p:nvPr/>
              </p:nvGrpSpPr>
              <p:grpSpPr>
                <a:xfrm>
                  <a:off x="3150972" y="3042015"/>
                  <a:ext cx="2181997" cy="1395413"/>
                  <a:chOff x="6067168" y="1307241"/>
                  <a:chExt cx="2181997" cy="1395413"/>
                </a:xfrm>
              </p:grpSpPr>
              <p:cxnSp>
                <p:nvCxnSpPr>
                  <p:cNvPr id="31" name="Straight Arrow Connector 30"/>
                  <p:cNvCxnSpPr/>
                  <p:nvPr/>
                </p:nvCxnSpPr>
                <p:spPr>
                  <a:xfrm flipV="1">
                    <a:off x="6067168" y="1532238"/>
                    <a:ext cx="1235675" cy="358346"/>
                  </a:xfrm>
                  <a:prstGeom prst="straightConnector1">
                    <a:avLst/>
                  </a:prstGeom>
                  <a:ln>
                    <a:solidFill>
                      <a:srgbClr val="FF4B2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Arrow Connector 31"/>
                  <p:cNvCxnSpPr/>
                  <p:nvPr/>
                </p:nvCxnSpPr>
                <p:spPr>
                  <a:xfrm>
                    <a:off x="6067168" y="1890584"/>
                    <a:ext cx="1235675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Arrow Connector 32"/>
                  <p:cNvCxnSpPr/>
                  <p:nvPr/>
                </p:nvCxnSpPr>
                <p:spPr>
                  <a:xfrm>
                    <a:off x="6067168" y="1890584"/>
                    <a:ext cx="1235675" cy="406034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/>
                  <p:cNvCxnSpPr/>
                  <p:nvPr/>
                </p:nvCxnSpPr>
                <p:spPr>
                  <a:xfrm>
                    <a:off x="6067168" y="1890584"/>
                    <a:ext cx="1227515" cy="812070"/>
                  </a:xfrm>
                  <a:prstGeom prst="straightConnector1">
                    <a:avLst/>
                  </a:prstGeom>
                  <a:ln>
                    <a:solidFill>
                      <a:srgbClr val="15C2FF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7294683" y="1307241"/>
                    <a:ext cx="954482" cy="276999"/>
                  </a:xfrm>
                  <a:prstGeom prst="rect">
                    <a:avLst/>
                  </a:prstGeom>
                  <a:solidFill>
                    <a:srgbClr val="FF4B2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smtClean="0">
                        <a:solidFill>
                          <a:schemeClr val="bg1"/>
                        </a:solidFill>
                      </a:rPr>
                      <a:t>page1</a:t>
                    </a:r>
                    <a:endParaRPr lang="en-IN" sz="12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7333657" y="1736124"/>
                    <a:ext cx="915507" cy="276999"/>
                  </a:xfrm>
                  <a:prstGeom prst="rect">
                    <a:avLst/>
                  </a:prstGeom>
                  <a:solidFill>
                    <a:srgbClr val="0070C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smtClean="0">
                        <a:solidFill>
                          <a:schemeClr val="bg1"/>
                        </a:solidFill>
                      </a:rPr>
                      <a:t>Page2</a:t>
                    </a:r>
                    <a:endParaRPr lang="en-IN" sz="12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7304676" y="2158119"/>
                    <a:ext cx="944488" cy="276999"/>
                  </a:xfrm>
                  <a:prstGeom prst="rect">
                    <a:avLst/>
                  </a:prstGeom>
                  <a:solidFill>
                    <a:srgbClr val="00B05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smtClean="0">
                        <a:solidFill>
                          <a:schemeClr val="bg1"/>
                        </a:solidFill>
                      </a:rPr>
                      <a:t>Page3</a:t>
                    </a:r>
                    <a:endParaRPr lang="en-IN" sz="120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42" name="Group 41"/>
                <p:cNvGrpSpPr/>
                <p:nvPr/>
              </p:nvGrpSpPr>
              <p:grpSpPr>
                <a:xfrm>
                  <a:off x="704335" y="1965242"/>
                  <a:ext cx="2360140" cy="457200"/>
                  <a:chOff x="704335" y="1965242"/>
                  <a:chExt cx="2360140" cy="457200"/>
                </a:xfrm>
              </p:grpSpPr>
              <p:sp>
                <p:nvSpPr>
                  <p:cNvPr id="25" name="Rectangle 24"/>
                  <p:cNvSpPr/>
                  <p:nvPr/>
                </p:nvSpPr>
                <p:spPr>
                  <a:xfrm>
                    <a:off x="704335" y="1965242"/>
                    <a:ext cx="827903" cy="457200"/>
                  </a:xfrm>
                  <a:prstGeom prst="rect">
                    <a:avLst/>
                  </a:prstGeom>
                  <a:solidFill>
                    <a:schemeClr val="accent4">
                      <a:lumMod val="50000"/>
                    </a:schemeClr>
                  </a:solidFill>
                  <a:ln>
                    <a:solidFill>
                      <a:schemeClr val="accent4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 smtClean="0">
                        <a:latin typeface="Bahnschrift" pitchFamily="34" charset="0"/>
                      </a:rPr>
                      <a:t>PDF</a:t>
                    </a:r>
                    <a:endParaRPr lang="en-IN" dirty="0">
                      <a:latin typeface="Bahnschrift" pitchFamily="34" charset="0"/>
                    </a:endParaRPr>
                  </a:p>
                </p:txBody>
              </p:sp>
              <p:sp>
                <p:nvSpPr>
                  <p:cNvPr id="29" name="Rectangle 28"/>
                  <p:cNvSpPr/>
                  <p:nvPr/>
                </p:nvSpPr>
                <p:spPr>
                  <a:xfrm>
                    <a:off x="2236572" y="1965242"/>
                    <a:ext cx="827903" cy="457200"/>
                  </a:xfrm>
                  <a:prstGeom prst="rect">
                    <a:avLst/>
                  </a:prstGeom>
                  <a:solidFill>
                    <a:schemeClr val="accent4">
                      <a:lumMod val="50000"/>
                    </a:schemeClr>
                  </a:solidFill>
                  <a:ln>
                    <a:solidFill>
                      <a:schemeClr val="accent4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100" dirty="0" smtClean="0">
                        <a:latin typeface="Bahnschrift" pitchFamily="34" charset="0"/>
                      </a:rPr>
                      <a:t>AWS S3</a:t>
                    </a:r>
                    <a:endParaRPr lang="en-IN" sz="1100" dirty="0">
                      <a:latin typeface="Bahnschrift" pitchFamily="34" charset="0"/>
                    </a:endParaRPr>
                  </a:p>
                </p:txBody>
              </p:sp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1514900" y="1965242"/>
                    <a:ext cx="64633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 smtClean="0">
                        <a:latin typeface="Bahnschrift" pitchFamily="34" charset="0"/>
                        <a:ea typeface="Arial Unicode MS" pitchFamily="34" charset="-128"/>
                        <a:cs typeface="Arial Unicode MS" pitchFamily="34" charset="-128"/>
                      </a:rPr>
                      <a:t>upload</a:t>
                    </a:r>
                    <a:endParaRPr lang="en-IN" sz="1400" dirty="0">
                      <a:latin typeface="Bahnschrift" pitchFamily="34" charset="0"/>
                      <a:ea typeface="Arial Unicode MS" pitchFamily="34" charset="-128"/>
                      <a:cs typeface="Arial Unicode MS" pitchFamily="34" charset="-128"/>
                    </a:endParaRPr>
                  </a:p>
                </p:txBody>
              </p:sp>
              <p:cxnSp>
                <p:nvCxnSpPr>
                  <p:cNvPr id="40" name="Straight Arrow Connector 39"/>
                  <p:cNvCxnSpPr/>
                  <p:nvPr/>
                </p:nvCxnSpPr>
                <p:spPr>
                  <a:xfrm>
                    <a:off x="1514900" y="2273019"/>
                    <a:ext cx="716692" cy="0"/>
                  </a:xfrm>
                  <a:prstGeom prst="straightConnector1">
                    <a:avLst/>
                  </a:prstGeom>
                  <a:ln>
                    <a:solidFill>
                      <a:schemeClr val="accent4">
                        <a:lumMod val="50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8" name="Group 47"/>
                <p:cNvGrpSpPr/>
                <p:nvPr/>
              </p:nvGrpSpPr>
              <p:grpSpPr>
                <a:xfrm>
                  <a:off x="1758932" y="2478367"/>
                  <a:ext cx="1392040" cy="1500509"/>
                  <a:chOff x="1758932" y="2478367"/>
                  <a:chExt cx="1392040" cy="1500509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2236572" y="3435178"/>
                    <a:ext cx="914400" cy="543698"/>
                  </a:xfrm>
                  <a:prstGeom prst="rect">
                    <a:avLst/>
                  </a:prstGeom>
                  <a:solidFill>
                    <a:schemeClr val="accent4">
                      <a:lumMod val="50000"/>
                    </a:schemeClr>
                  </a:solidFill>
                  <a:ln>
                    <a:solidFill>
                      <a:schemeClr val="accent4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latin typeface="Bahnschrift" pitchFamily="34" charset="0"/>
                      </a:rPr>
                      <a:t>PDF</a:t>
                    </a:r>
                    <a:endParaRPr lang="en-IN" sz="1200" dirty="0">
                      <a:latin typeface="Bahnschrift" pitchFamily="34" charset="0"/>
                    </a:endParaRPr>
                  </a:p>
                </p:txBody>
              </p:sp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1758932" y="2784776"/>
                    <a:ext cx="965329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 smtClean="0">
                        <a:latin typeface="Bahnschrift" pitchFamily="34" charset="0"/>
                      </a:rPr>
                      <a:t>Doc</a:t>
                    </a:r>
                    <a:r>
                      <a:rPr lang="en-US" sz="1200" dirty="0" smtClean="0"/>
                      <a:t> </a:t>
                    </a:r>
                    <a:r>
                      <a:rPr lang="en-US" sz="1200" dirty="0" smtClean="0">
                        <a:latin typeface="Bahnschrift" pitchFamily="34" charset="0"/>
                      </a:rPr>
                      <a:t>Loader</a:t>
                    </a:r>
                    <a:endParaRPr lang="en-IN" sz="1200" dirty="0">
                      <a:latin typeface="Bahnschrift" pitchFamily="34" charset="0"/>
                    </a:endParaRPr>
                  </a:p>
                </p:txBody>
              </p:sp>
              <p:cxnSp>
                <p:nvCxnSpPr>
                  <p:cNvPr id="44" name="Straight Arrow Connector 43"/>
                  <p:cNvCxnSpPr>
                    <a:endCxn id="27" idx="0"/>
                  </p:cNvCxnSpPr>
                  <p:nvPr/>
                </p:nvCxnSpPr>
                <p:spPr>
                  <a:xfrm>
                    <a:off x="2693772" y="2478367"/>
                    <a:ext cx="0" cy="956811"/>
                  </a:xfrm>
                  <a:prstGeom prst="straightConnector1">
                    <a:avLst/>
                  </a:prstGeom>
                  <a:ln>
                    <a:solidFill>
                      <a:schemeClr val="accent4">
                        <a:lumMod val="50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" name="Oval 50"/>
                <p:cNvSpPr/>
                <p:nvPr/>
              </p:nvSpPr>
              <p:spPr>
                <a:xfrm>
                  <a:off x="3064474" y="3885686"/>
                  <a:ext cx="994640" cy="5684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 smtClean="0">
                      <a:solidFill>
                        <a:schemeClr val="tx1"/>
                      </a:solidFill>
                      <a:latin typeface="Bahnschrift" pitchFamily="34" charset="0"/>
                      <a:ea typeface="Arial Unicode MS" pitchFamily="34" charset="-128"/>
                      <a:cs typeface="Arial Unicode MS" pitchFamily="34" charset="-128"/>
                    </a:rPr>
                    <a:t>Text splitter</a:t>
                  </a:r>
                  <a:endParaRPr lang="en-IN" sz="1200" dirty="0">
                    <a:solidFill>
                      <a:schemeClr val="tx1"/>
                    </a:solidFill>
                    <a:latin typeface="Bahnschrif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6211406" y="3066603"/>
                  <a:ext cx="1066724" cy="276999"/>
                </a:xfrm>
                <a:prstGeom prst="rect">
                  <a:avLst/>
                </a:prstGeom>
                <a:solidFill>
                  <a:srgbClr val="FF4B2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smtClean="0">
                      <a:solidFill>
                        <a:schemeClr val="bg1"/>
                      </a:solidFill>
                    </a:rPr>
                    <a:t>Embedding1</a:t>
                  </a:r>
                  <a:endParaRPr lang="en-IN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6250380" y="3495486"/>
                  <a:ext cx="1027750" cy="276999"/>
                </a:xfrm>
                <a:prstGeom prst="rect">
                  <a:avLst/>
                </a:prstGeom>
                <a:solidFill>
                  <a:srgbClr val="0070C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smtClean="0">
                      <a:solidFill>
                        <a:schemeClr val="bg1"/>
                      </a:solidFill>
                    </a:rPr>
                    <a:t>Embedding2</a:t>
                  </a:r>
                  <a:endParaRPr lang="en-IN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6221398" y="3917481"/>
                  <a:ext cx="1056731" cy="276999"/>
                </a:xfrm>
                <a:prstGeom prst="rect">
                  <a:avLst/>
                </a:prstGeom>
                <a:solidFill>
                  <a:srgbClr val="00B05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smtClean="0">
                      <a:solidFill>
                        <a:schemeClr val="bg1"/>
                      </a:solidFill>
                    </a:rPr>
                    <a:t>Embedding3</a:t>
                  </a:r>
                  <a:endParaRPr lang="en-IN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4388480" y="4729678"/>
                  <a:ext cx="944489" cy="276999"/>
                </a:xfrm>
                <a:prstGeom prst="rect">
                  <a:avLst/>
                </a:prstGeom>
                <a:solidFill>
                  <a:srgbClr val="15C2FF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smtClean="0">
                      <a:solidFill>
                        <a:schemeClr val="bg1"/>
                      </a:solidFill>
                    </a:rPr>
                    <a:t>Page 100</a:t>
                  </a:r>
                  <a:endParaRPr lang="en-IN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" name="TextBox 59"/>
                <p:cNvSpPr txBox="1"/>
                <p:nvPr/>
              </p:nvSpPr>
              <p:spPr>
                <a:xfrm>
                  <a:off x="6054811" y="4758580"/>
                  <a:ext cx="1223318" cy="276999"/>
                </a:xfrm>
                <a:prstGeom prst="rect">
                  <a:avLst/>
                </a:prstGeom>
                <a:solidFill>
                  <a:srgbClr val="15C2FF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smtClean="0">
                      <a:solidFill>
                        <a:schemeClr val="bg1"/>
                      </a:solidFill>
                    </a:rPr>
                    <a:t>Embedding 100</a:t>
                  </a:r>
                  <a:endParaRPr lang="en-IN" sz="12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3072" name="Straight Arrow Connector 3071"/>
                <p:cNvCxnSpPr/>
                <p:nvPr/>
              </p:nvCxnSpPr>
              <p:spPr>
                <a:xfrm>
                  <a:off x="5335980" y="3191395"/>
                  <a:ext cx="875426" cy="1370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/>
                <p:cNvCxnSpPr/>
                <p:nvPr/>
              </p:nvCxnSpPr>
              <p:spPr>
                <a:xfrm>
                  <a:off x="5374954" y="3593504"/>
                  <a:ext cx="875426" cy="1370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/>
                <p:cNvCxnSpPr>
                  <a:stCxn id="37" idx="3"/>
                  <a:endCxn id="55" idx="1"/>
                </p:cNvCxnSpPr>
                <p:nvPr/>
              </p:nvCxnSpPr>
              <p:spPr>
                <a:xfrm>
                  <a:off x="5332968" y="4031393"/>
                  <a:ext cx="888430" cy="2458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/>
                <p:cNvCxnSpPr>
                  <a:endCxn id="60" idx="1"/>
                </p:cNvCxnSpPr>
                <p:nvPr/>
              </p:nvCxnSpPr>
              <p:spPr>
                <a:xfrm>
                  <a:off x="5374954" y="4890225"/>
                  <a:ext cx="679857" cy="6855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0" name="Straight Connector 3079"/>
                <p:cNvCxnSpPr/>
                <p:nvPr/>
              </p:nvCxnSpPr>
              <p:spPr>
                <a:xfrm>
                  <a:off x="4670854" y="4244548"/>
                  <a:ext cx="0" cy="326492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/>
                <p:cNvCxnSpPr/>
                <p:nvPr/>
              </p:nvCxnSpPr>
              <p:spPr>
                <a:xfrm>
                  <a:off x="6528486" y="4246610"/>
                  <a:ext cx="0" cy="326492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83" name="Oval 3082"/>
              <p:cNvSpPr/>
              <p:nvPr/>
            </p:nvSpPr>
            <p:spPr>
              <a:xfrm>
                <a:off x="6103163" y="4757351"/>
                <a:ext cx="9144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/>
                  <a:t>DB</a:t>
                </a:r>
                <a:endParaRPr lang="en-IN" sz="1200" dirty="0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6034213" y="5936884"/>
                <a:ext cx="1095636" cy="48045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smtClean="0"/>
                  <a:t>Semantic search</a:t>
                </a:r>
                <a:endParaRPr lang="en-IN" sz="1050" dirty="0"/>
              </a:p>
            </p:txBody>
          </p:sp>
          <p:cxnSp>
            <p:nvCxnSpPr>
              <p:cNvPr id="98" name="Straight Arrow Connector 97"/>
              <p:cNvCxnSpPr/>
              <p:nvPr/>
            </p:nvCxnSpPr>
            <p:spPr>
              <a:xfrm>
                <a:off x="4700281" y="6225661"/>
                <a:ext cx="1191228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03" name="Group 3102"/>
              <p:cNvGrpSpPr/>
              <p:nvPr/>
            </p:nvGrpSpPr>
            <p:grpSpPr>
              <a:xfrm>
                <a:off x="357401" y="4980343"/>
                <a:ext cx="4276379" cy="1575497"/>
                <a:chOff x="357401" y="4980343"/>
                <a:chExt cx="4276379" cy="1575497"/>
              </a:xfrm>
            </p:grpSpPr>
            <p:grpSp>
              <p:nvGrpSpPr>
                <p:cNvPr id="3097" name="Group 3096"/>
                <p:cNvGrpSpPr/>
                <p:nvPr/>
              </p:nvGrpSpPr>
              <p:grpSpPr>
                <a:xfrm>
                  <a:off x="538713" y="5936885"/>
                  <a:ext cx="4095067" cy="618955"/>
                  <a:chOff x="538713" y="5936885"/>
                  <a:chExt cx="4095067" cy="618955"/>
                </a:xfrm>
              </p:grpSpPr>
              <p:sp>
                <p:nvSpPr>
                  <p:cNvPr id="3091" name="Flowchart: Decision 3090"/>
                  <p:cNvSpPr/>
                  <p:nvPr/>
                </p:nvSpPr>
                <p:spPr>
                  <a:xfrm>
                    <a:off x="538713" y="5936885"/>
                    <a:ext cx="1297460" cy="612648"/>
                  </a:xfrm>
                  <a:prstGeom prst="flowChartDecision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 smtClean="0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User query</a:t>
                    </a:r>
                    <a:endParaRPr lang="en-IN" sz="1200" dirty="0">
                      <a:solidFill>
                        <a:schemeClr val="accent4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90" name="Flowchart: Decision 89"/>
                  <p:cNvSpPr/>
                  <p:nvPr/>
                </p:nvSpPr>
                <p:spPr>
                  <a:xfrm>
                    <a:off x="3027401" y="5936885"/>
                    <a:ext cx="1606379" cy="612648"/>
                  </a:xfrm>
                  <a:prstGeom prst="flowChartDecision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Embedding</a:t>
                    </a:r>
                    <a:endParaRPr lang="en-IN" sz="1050" dirty="0"/>
                  </a:p>
                </p:txBody>
              </p:sp>
              <p:sp>
                <p:nvSpPr>
                  <p:cNvPr id="3092" name="Rectangle 3091"/>
                  <p:cNvSpPr/>
                  <p:nvPr/>
                </p:nvSpPr>
                <p:spPr>
                  <a:xfrm>
                    <a:off x="1897980" y="6278841"/>
                    <a:ext cx="947695" cy="2769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200" dirty="0">
                        <a:latin typeface="Bahnschrift" pitchFamily="34" charset="0"/>
                      </a:rPr>
                      <a:t>Embedding</a:t>
                    </a:r>
                    <a:endParaRPr lang="en-IN" sz="1200" dirty="0">
                      <a:latin typeface="Bahnschrift" pitchFamily="34" charset="0"/>
                    </a:endParaRPr>
                  </a:p>
                </p:txBody>
              </p:sp>
              <p:cxnSp>
                <p:nvCxnSpPr>
                  <p:cNvPr id="3094" name="Straight Arrow Connector 3093"/>
                  <p:cNvCxnSpPr>
                    <a:stCxn id="3091" idx="3"/>
                    <a:endCxn id="90" idx="1"/>
                  </p:cNvCxnSpPr>
                  <p:nvPr/>
                </p:nvCxnSpPr>
                <p:spPr>
                  <a:xfrm>
                    <a:off x="1836173" y="6243209"/>
                    <a:ext cx="1191228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98" name="TextBox 3097"/>
                <p:cNvSpPr txBox="1"/>
                <p:nvPr/>
              </p:nvSpPr>
              <p:spPr>
                <a:xfrm>
                  <a:off x="357401" y="4980343"/>
                  <a:ext cx="79220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 smtClean="0">
                      <a:latin typeface="Bahnschrift" pitchFamily="34" charset="0"/>
                    </a:rPr>
                    <a:t>retriever</a:t>
                  </a:r>
                  <a:endParaRPr lang="en-IN" sz="1400" dirty="0">
                    <a:latin typeface="Bahnschrift" pitchFamily="34" charset="0"/>
                  </a:endParaRPr>
                </a:p>
              </p:txBody>
            </p:sp>
            <p:cxnSp>
              <p:nvCxnSpPr>
                <p:cNvPr id="3102" name="Curved Connector 3101"/>
                <p:cNvCxnSpPr/>
                <p:nvPr/>
              </p:nvCxnSpPr>
              <p:spPr>
                <a:xfrm rot="5400000">
                  <a:off x="753659" y="5609327"/>
                  <a:ext cx="655111" cy="12700"/>
                </a:xfrm>
                <a:prstGeom prst="curvedConnector3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6" name="Straight Arrow Connector 65"/>
              <p:cNvCxnSpPr/>
              <p:nvPr/>
            </p:nvCxnSpPr>
            <p:spPr>
              <a:xfrm flipV="1">
                <a:off x="6491413" y="5288121"/>
                <a:ext cx="0" cy="4978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1" name="Group 80"/>
          <p:cNvGrpSpPr/>
          <p:nvPr/>
        </p:nvGrpSpPr>
        <p:grpSpPr>
          <a:xfrm>
            <a:off x="7580506" y="5477177"/>
            <a:ext cx="1900905" cy="973436"/>
            <a:chOff x="7941348" y="5477177"/>
            <a:chExt cx="1900905" cy="973436"/>
          </a:xfrm>
        </p:grpSpPr>
        <p:sp>
          <p:nvSpPr>
            <p:cNvPr id="73" name="Diamond 72"/>
            <p:cNvSpPr/>
            <p:nvPr/>
          </p:nvSpPr>
          <p:spPr>
            <a:xfrm>
              <a:off x="8872294" y="5802655"/>
              <a:ext cx="969959" cy="631331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User</a:t>
              </a:r>
            </a:p>
            <a:p>
              <a:pPr algn="ctr"/>
              <a:r>
                <a:rPr lang="en-US" sz="1000" dirty="0" smtClean="0"/>
                <a:t>query</a:t>
              </a:r>
              <a:endParaRPr lang="en-IN" sz="1000" dirty="0"/>
            </a:p>
          </p:txBody>
        </p:sp>
        <p:sp>
          <p:nvSpPr>
            <p:cNvPr id="74" name="Plus 73"/>
            <p:cNvSpPr/>
            <p:nvPr/>
          </p:nvSpPr>
          <p:spPr>
            <a:xfrm>
              <a:off x="8643694" y="5984960"/>
              <a:ext cx="228600" cy="299976"/>
            </a:xfrm>
            <a:prstGeom prst="math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Flowchart: Multidocument 75"/>
            <p:cNvSpPr/>
            <p:nvPr/>
          </p:nvSpPr>
          <p:spPr>
            <a:xfrm>
              <a:off x="7941348" y="5819282"/>
              <a:ext cx="646376" cy="631331"/>
            </a:xfrm>
            <a:prstGeom prst="flowChartMultidocumen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pages</a:t>
              </a:r>
              <a:endParaRPr lang="en-IN" sz="1100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264536" y="5477177"/>
              <a:ext cx="11240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Bahnschrift" pitchFamily="34" charset="0"/>
                  <a:ea typeface="Arial Unicode MS" pitchFamily="34" charset="-128"/>
                  <a:cs typeface="Arial Unicode MS" pitchFamily="34" charset="-128"/>
                </a:rPr>
                <a:t>System query</a:t>
              </a:r>
              <a:endParaRPr lang="en-IN" sz="1200" dirty="0">
                <a:latin typeface="Bahnschrif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80" name="Rectangle 79"/>
          <p:cNvSpPr/>
          <p:nvPr/>
        </p:nvSpPr>
        <p:spPr>
          <a:xfrm>
            <a:off x="7507440" y="5477177"/>
            <a:ext cx="2042526" cy="10786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3" name="Curved Connector 82"/>
          <p:cNvCxnSpPr/>
          <p:nvPr/>
        </p:nvCxnSpPr>
        <p:spPr>
          <a:xfrm>
            <a:off x="7017563" y="5118842"/>
            <a:ext cx="655983" cy="49683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>
            <a:off x="9680342" y="6118320"/>
            <a:ext cx="32863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>
            <a:off x="1988573" y="6395609"/>
            <a:ext cx="11912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9460410" y="668087"/>
            <a:ext cx="2306453" cy="1533913"/>
            <a:chOff x="9460410" y="668087"/>
            <a:chExt cx="2306453" cy="1533913"/>
          </a:xfrm>
        </p:grpSpPr>
        <p:grpSp>
          <p:nvGrpSpPr>
            <p:cNvPr id="24" name="Group 23"/>
            <p:cNvGrpSpPr/>
            <p:nvPr/>
          </p:nvGrpSpPr>
          <p:grpSpPr>
            <a:xfrm>
              <a:off x="9460410" y="668087"/>
              <a:ext cx="2306453" cy="1533913"/>
              <a:chOff x="6067168" y="1307241"/>
              <a:chExt cx="2306453" cy="1533913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 flipV="1">
                <a:off x="6067168" y="1532238"/>
                <a:ext cx="1235675" cy="358346"/>
              </a:xfrm>
              <a:prstGeom prst="straightConnector1">
                <a:avLst/>
              </a:prstGeom>
              <a:ln>
                <a:solidFill>
                  <a:srgbClr val="FF4B2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>
                <a:off x="6067168" y="1890584"/>
                <a:ext cx="123567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>
                <a:off x="6067168" y="1890584"/>
                <a:ext cx="1359243" cy="444843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>
                <a:endCxn id="23" idx="1"/>
              </p:cNvCxnSpPr>
              <p:nvPr/>
            </p:nvCxnSpPr>
            <p:spPr>
              <a:xfrm>
                <a:off x="6067168" y="1890584"/>
                <a:ext cx="1361964" cy="812071"/>
              </a:xfrm>
              <a:prstGeom prst="straightConnector1">
                <a:avLst/>
              </a:prstGeom>
              <a:ln>
                <a:solidFill>
                  <a:srgbClr val="15C2F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7294683" y="1307241"/>
                <a:ext cx="8915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rgbClr val="FF4B21"/>
                    </a:solidFill>
                  </a:rPr>
                  <a:t>Doc Loader</a:t>
                </a:r>
                <a:endParaRPr lang="en-IN" sz="1200" dirty="0">
                  <a:solidFill>
                    <a:srgbClr val="FF4B21"/>
                  </a:solidFill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7333658" y="1736124"/>
                <a:ext cx="9155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rgbClr val="0070C0"/>
                    </a:solidFill>
                  </a:rPr>
                  <a:t>Text splitter</a:t>
                </a:r>
                <a:endParaRPr lang="en-IN" sz="12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7429132" y="2158119"/>
                <a:ext cx="9444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rgbClr val="00B050"/>
                    </a:solidFill>
                  </a:rPr>
                  <a:t>Vector store</a:t>
                </a:r>
                <a:endParaRPr lang="en-IN" sz="12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7429132" y="2564155"/>
                <a:ext cx="7245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rgbClr val="15C2FF"/>
                    </a:solidFill>
                  </a:rPr>
                  <a:t>retriever</a:t>
                </a:r>
                <a:endParaRPr lang="en-IN" sz="1200" dirty="0">
                  <a:solidFill>
                    <a:srgbClr val="15C2FF"/>
                  </a:solidFill>
                </a:endParaRPr>
              </a:p>
            </p:txBody>
          </p:sp>
        </p:grpSp>
        <p:sp>
          <p:nvSpPr>
            <p:cNvPr id="95" name="TextBox 94"/>
            <p:cNvSpPr txBox="1"/>
            <p:nvPr/>
          </p:nvSpPr>
          <p:spPr>
            <a:xfrm>
              <a:off x="10008973" y="764480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Bahnschrift" pitchFamily="34" charset="0"/>
                </a:rPr>
                <a:t>1</a:t>
              </a:r>
              <a:endParaRPr lang="en-IN" sz="1400" b="1" dirty="0">
                <a:latin typeface="Bahnschrift" pitchFamily="34" charset="0"/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0252951" y="1001741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Bahnschrift" pitchFamily="34" charset="0"/>
                </a:rPr>
                <a:t>2</a:t>
              </a:r>
              <a:endParaRPr lang="en-IN" sz="1400" b="1" dirty="0">
                <a:latin typeface="Bahnschrift" pitchFamily="34" charset="0"/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0283362" y="1349688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Bahnschrift" pitchFamily="34" charset="0"/>
                </a:rPr>
                <a:t>3</a:t>
              </a:r>
              <a:endParaRPr lang="en-IN" sz="1400" b="1" dirty="0">
                <a:latin typeface="Bahnschrift" pitchFamily="34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10422984" y="1657465"/>
              <a:ext cx="2512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Bahnschrift" pitchFamily="34" charset="0"/>
                </a:rPr>
                <a:t>4</a:t>
              </a:r>
              <a:endParaRPr lang="en-IN" sz="1400" b="1" dirty="0">
                <a:latin typeface="Bahnschrift" pitchFamily="34" charset="0"/>
              </a:endParaRPr>
            </a:p>
          </p:txBody>
        </p:sp>
      </p:grpSp>
      <p:sp>
        <p:nvSpPr>
          <p:cNvPr id="99" name="Rectangle 98"/>
          <p:cNvSpPr/>
          <p:nvPr/>
        </p:nvSpPr>
        <p:spPr>
          <a:xfrm>
            <a:off x="9626376" y="2290446"/>
            <a:ext cx="2386554" cy="461665"/>
          </a:xfrm>
          <a:prstGeom prst="rect">
            <a:avLst/>
          </a:prstGeom>
          <a:solidFill>
            <a:srgbClr val="FF4B21"/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Bahnschrift" pitchFamily="34" charset="0"/>
                <a:ea typeface="Arial Unicode MS" pitchFamily="34" charset="-128"/>
                <a:cs typeface="Arial Unicode MS" pitchFamily="34" charset="-128"/>
              </a:rPr>
              <a:t>An index is created by combining these four elements</a:t>
            </a:r>
            <a:endParaRPr lang="en-IN" sz="1200" dirty="0">
              <a:solidFill>
                <a:schemeClr val="bg1"/>
              </a:solidFill>
              <a:latin typeface="Bahnschrif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925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075" y="1890713"/>
            <a:ext cx="6419850" cy="307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925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451" y="1497227"/>
            <a:ext cx="63246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925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41" y="643634"/>
            <a:ext cx="7086600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711" y="4641250"/>
            <a:ext cx="3609975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664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5" y="1919288"/>
            <a:ext cx="630555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457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406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29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60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40484</TotalTime>
  <Words>1331</Words>
  <Application>Microsoft Office PowerPoint</Application>
  <PresentationFormat>Custom</PresentationFormat>
  <Paragraphs>278</Paragraphs>
  <Slides>29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1703</cp:revision>
  <dcterms:created xsi:type="dcterms:W3CDTF">2024-01-26T15:11:46Z</dcterms:created>
  <dcterms:modified xsi:type="dcterms:W3CDTF">2026-03-23T19:34:58Z</dcterms:modified>
</cp:coreProperties>
</file>