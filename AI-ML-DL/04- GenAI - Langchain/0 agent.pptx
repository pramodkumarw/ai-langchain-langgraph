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23" r:id="rId2"/>
    <p:sldId id="256" r:id="rId3"/>
    <p:sldId id="422" r:id="rId4"/>
    <p:sldId id="445" r:id="rId5"/>
    <p:sldId id="442" r:id="rId6"/>
    <p:sldId id="439" r:id="rId7"/>
    <p:sldId id="440" r:id="rId8"/>
    <p:sldId id="443" r:id="rId9"/>
    <p:sldId id="444" r:id="rId10"/>
    <p:sldId id="441" r:id="rId11"/>
    <p:sldId id="446" r:id="rId12"/>
    <p:sldId id="449" r:id="rId13"/>
    <p:sldId id="454" r:id="rId14"/>
    <p:sldId id="448" r:id="rId15"/>
    <p:sldId id="450" r:id="rId16"/>
    <p:sldId id="451" r:id="rId17"/>
    <p:sldId id="455" r:id="rId18"/>
    <p:sldId id="457" r:id="rId19"/>
    <p:sldId id="458" r:id="rId20"/>
    <p:sldId id="459" r:id="rId21"/>
    <p:sldId id="460" r:id="rId22"/>
    <p:sldId id="461" r:id="rId23"/>
    <p:sldId id="462" r:id="rId24"/>
    <p:sldId id="465" r:id="rId25"/>
    <p:sldId id="473" r:id="rId26"/>
    <p:sldId id="477" r:id="rId27"/>
    <p:sldId id="474" r:id="rId28"/>
    <p:sldId id="476" r:id="rId29"/>
    <p:sldId id="475" r:id="rId30"/>
    <p:sldId id="466" r:id="rId31"/>
    <p:sldId id="468" r:id="rId32"/>
    <p:sldId id="471" r:id="rId33"/>
    <p:sldId id="472" r:id="rId34"/>
    <p:sldId id="467" r:id="rId35"/>
    <p:sldId id="469" r:id="rId36"/>
    <p:sldId id="470" r:id="rId37"/>
    <p:sldId id="41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F7019FAC-E7A5-43E9-B9F1-CAF1DA55EE0C}">
          <p14:sldIdLst>
            <p14:sldId id="323"/>
            <p14:sldId id="256"/>
          </p14:sldIdLst>
        </p14:section>
        <p14:section name="Basics" id="{FEB3B35D-C60A-4223-8E10-10DFC2E07C67}">
          <p14:sldIdLst>
            <p14:sldId id="422"/>
          </p14:sldIdLst>
        </p14:section>
        <p14:section name="What is Tool" id="{475D7A68-72E5-401D-8CBC-9C70AA7EE32E}">
          <p14:sldIdLst>
            <p14:sldId id="445"/>
            <p14:sldId id="442"/>
            <p14:sldId id="439"/>
            <p14:sldId id="440"/>
            <p14:sldId id="443"/>
            <p14:sldId id="444"/>
            <p14:sldId id="441"/>
          </p14:sldIdLst>
        </p14:section>
        <p14:section name="Way to Create Custom Tool Decorator" id="{8570ABC8-1814-42B2-B2D3-E110B898D4D8}">
          <p14:sldIdLst>
            <p14:sldId id="446"/>
          </p14:sldIdLst>
        </p14:section>
        <p14:section name="Using @tool Decorator | MostlyUsed" id="{25FB0782-A4C6-4773-9447-5F142E7D1E51}">
          <p14:sldIdLst>
            <p14:sldId id="449"/>
          </p14:sldIdLst>
        </p14:section>
        <p14:section name="Using StructuredTool Class" id="{F65C69F7-6674-47D8-B245-9AF675A84F37}">
          <p14:sldIdLst>
            <p14:sldId id="454"/>
          </p14:sldIdLst>
        </p14:section>
        <p14:section name="Using BaseTool | MostlyUsed" id="{E3F88EA5-5A10-4768-850A-07CEEF5DC83E}">
          <p14:sldIdLst>
            <p14:sldId id="448"/>
            <p14:sldId id="450"/>
          </p14:sldIdLst>
        </p14:section>
        <p14:section name="Toolkits" id="{10F7F64F-9951-473A-A139-C474CECB86D6}">
          <p14:sldIdLst>
            <p14:sldId id="451"/>
            <p14:sldId id="455"/>
          </p14:sldIdLst>
        </p14:section>
        <p14:section name="Tool Binding" id="{F1A8B160-7026-4723-B377-75191CAD75C7}">
          <p14:sldIdLst>
            <p14:sldId id="457"/>
            <p14:sldId id="458"/>
            <p14:sldId id="459"/>
            <p14:sldId id="460"/>
            <p14:sldId id="461"/>
          </p14:sldIdLst>
        </p14:section>
        <p14:section name="Currenc Conversion Tool" id="{91C8F45A-FAB2-46A3-AE6F-173EFC38192E}">
          <p14:sldIdLst>
            <p14:sldId id="462"/>
            <p14:sldId id="465"/>
          </p14:sldIdLst>
        </p14:section>
        <p14:section name="AI Agent" id="{4B9462F2-149B-475C-B6C6-D5EBE2795666}">
          <p14:sldIdLst>
            <p14:sldId id="473"/>
            <p14:sldId id="477"/>
            <p14:sldId id="474"/>
            <p14:sldId id="476"/>
            <p14:sldId id="475"/>
          </p14:sldIdLst>
        </p14:section>
        <p14:section name="GenAI vs AI Agents vs Agentic AI" id="{5DA579E4-E4A7-4E90-92A8-3DA9A47930BE}">
          <p14:sldIdLst>
            <p14:sldId id="466"/>
            <p14:sldId id="468"/>
            <p14:sldId id="471"/>
            <p14:sldId id="472"/>
          </p14:sldIdLst>
        </p14:section>
        <p14:section name="Untitled Section" id="{57E4A605-DE9B-499E-91DC-53EA6DE957DB}">
          <p14:sldIdLst>
            <p14:sldId id="467"/>
            <p14:sldId id="469"/>
            <p14:sldId id="470"/>
          </p14:sldIdLst>
        </p14:section>
        <p14:section name="Q&amp;A" id="{1564124F-F372-4CB6-8FA8-28282C184CBB}">
          <p14:sldIdLst>
            <p14:sldId id="416"/>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C2FF"/>
    <a:srgbClr val="FF3300"/>
    <a:srgbClr val="FF0000"/>
    <a:srgbClr val="00CC99"/>
    <a:srgbClr val="FF0066"/>
    <a:srgbClr val="D7C055"/>
    <a:srgbClr val="CC3300"/>
    <a:srgbClr val="00D05E"/>
    <a:srgbClr val="00C894"/>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33" autoAdjust="0"/>
    <p:restoredTop sz="86073" autoAdjust="0"/>
  </p:normalViewPr>
  <p:slideViewPr>
    <p:cSldViewPr snapToGrid="0">
      <p:cViewPr>
        <p:scale>
          <a:sx n="80" d="100"/>
          <a:sy n="80" d="100"/>
        </p:scale>
        <p:origin x="-258" y="3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04-06-2025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36</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AB8C62A8-5E14-FA7C-D2D9-A91C5617AEE2}"/>
              </a:ext>
            </a:extLst>
          </p:cNvPr>
          <p:cNvSpPr>
            <a:spLocks noGrp="1"/>
          </p:cNvSpPr>
          <p:nvPr>
            <p:ph type="dt" sz="half" idx="10"/>
          </p:nvPr>
        </p:nvSpPr>
        <p:spPr/>
        <p:txBody>
          <a:bodyPr/>
          <a:lstStyle/>
          <a:p>
            <a:fld id="{617C7221-54BD-4A63-8AE7-749436A8A0E0}" type="datetime1">
              <a:rPr lang="en-US" smtClean="0"/>
              <a:t>6/4/2025</a:t>
            </a:fld>
            <a:endParaRPr lang="en-US" dirty="0"/>
          </a:p>
        </p:txBody>
      </p:sp>
      <p:sp>
        <p:nvSpPr>
          <p:cNvPr id="5" name="Footer Placeholder 4">
            <a:extLst>
              <a:ext uri="{FF2B5EF4-FFF2-40B4-BE49-F238E27FC236}">
                <a16:creationId xmlns:a16="http://schemas.microsoft.com/office/drawing/2014/main" xmlns=""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34537FB2-C318-A7C1-BABA-0AC6FA5B35AC}"/>
              </a:ext>
            </a:extLst>
          </p:cNvPr>
          <p:cNvSpPr>
            <a:spLocks noGrp="1"/>
          </p:cNvSpPr>
          <p:nvPr>
            <p:ph type="dt" sz="half" idx="10"/>
          </p:nvPr>
        </p:nvSpPr>
        <p:spPr/>
        <p:txBody>
          <a:bodyPr/>
          <a:lstStyle/>
          <a:p>
            <a:fld id="{15296570-B1EA-4487-BE32-F708B8E167B2}" type="datetime1">
              <a:rPr lang="en-US" smtClean="0"/>
              <a:t>6/4/2025</a:t>
            </a:fld>
            <a:endParaRPr lang="en-US" dirty="0"/>
          </a:p>
        </p:txBody>
      </p:sp>
      <p:sp>
        <p:nvSpPr>
          <p:cNvPr id="5" name="Footer Placeholder 4">
            <a:extLst>
              <a:ext uri="{FF2B5EF4-FFF2-40B4-BE49-F238E27FC236}">
                <a16:creationId xmlns:a16="http://schemas.microsoft.com/office/drawing/2014/main" xmlns=""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88B15D29-75FB-CFE9-A973-A208274B95BA}"/>
              </a:ext>
            </a:extLst>
          </p:cNvPr>
          <p:cNvSpPr>
            <a:spLocks noGrp="1"/>
          </p:cNvSpPr>
          <p:nvPr>
            <p:ph type="dt" sz="half" idx="10"/>
          </p:nvPr>
        </p:nvSpPr>
        <p:spPr/>
        <p:txBody>
          <a:bodyPr/>
          <a:lstStyle/>
          <a:p>
            <a:fld id="{4F9442CB-DE38-41A3-9AEC-FC7F477AE398}" type="datetime1">
              <a:rPr lang="en-US" smtClean="0"/>
              <a:t>6/4/2025</a:t>
            </a:fld>
            <a:endParaRPr lang="en-US" dirty="0"/>
          </a:p>
        </p:txBody>
      </p:sp>
      <p:sp>
        <p:nvSpPr>
          <p:cNvPr id="5" name="Footer Placeholder 4">
            <a:extLst>
              <a:ext uri="{FF2B5EF4-FFF2-40B4-BE49-F238E27FC236}">
                <a16:creationId xmlns:a16="http://schemas.microsoft.com/office/drawing/2014/main" xmlns=""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D29CEC8B-FF84-E5F1-CD4B-B7DEE25F0DBA}"/>
              </a:ext>
            </a:extLst>
          </p:cNvPr>
          <p:cNvSpPr>
            <a:spLocks noGrp="1"/>
          </p:cNvSpPr>
          <p:nvPr>
            <p:ph type="dt" sz="half" idx="10"/>
          </p:nvPr>
        </p:nvSpPr>
        <p:spPr/>
        <p:txBody>
          <a:bodyPr/>
          <a:lstStyle/>
          <a:p>
            <a:fld id="{4259B145-4D2C-4B0D-B0F3-3793104D85F9}" type="datetime1">
              <a:rPr lang="en-US" smtClean="0"/>
              <a:t>6/4/2025</a:t>
            </a:fld>
            <a:endParaRPr lang="en-US" dirty="0"/>
          </a:p>
        </p:txBody>
      </p:sp>
      <p:sp>
        <p:nvSpPr>
          <p:cNvPr id="6" name="Footer Placeholder 5">
            <a:extLst>
              <a:ext uri="{FF2B5EF4-FFF2-40B4-BE49-F238E27FC236}">
                <a16:creationId xmlns:a16="http://schemas.microsoft.com/office/drawing/2014/main" xmlns=""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12806B38-A61F-CFF2-455E-2A0DB1CBD281}"/>
              </a:ext>
            </a:extLst>
          </p:cNvPr>
          <p:cNvSpPr>
            <a:spLocks noGrp="1"/>
          </p:cNvSpPr>
          <p:nvPr>
            <p:ph type="dt" sz="half" idx="10"/>
          </p:nvPr>
        </p:nvSpPr>
        <p:spPr/>
        <p:txBody>
          <a:bodyPr/>
          <a:lstStyle/>
          <a:p>
            <a:fld id="{041CBCE3-C8C5-4329-ADE4-5F8D67D78882}" type="datetime1">
              <a:rPr lang="en-US" smtClean="0"/>
              <a:t>6/4/2025</a:t>
            </a:fld>
            <a:endParaRPr lang="en-US" dirty="0"/>
          </a:p>
        </p:txBody>
      </p:sp>
      <p:sp>
        <p:nvSpPr>
          <p:cNvPr id="8" name="Footer Placeholder 7">
            <a:extLst>
              <a:ext uri="{FF2B5EF4-FFF2-40B4-BE49-F238E27FC236}">
                <a16:creationId xmlns:a16="http://schemas.microsoft.com/office/drawing/2014/main" xmlns=""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a16="http://schemas.microsoft.com/office/drawing/2014/main" xmlns=""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1B459199-60FE-8A27-4D17-58FA57F038D5}"/>
              </a:ext>
            </a:extLst>
          </p:cNvPr>
          <p:cNvSpPr>
            <a:spLocks noGrp="1"/>
          </p:cNvSpPr>
          <p:nvPr>
            <p:ph type="dt" sz="half" idx="10"/>
          </p:nvPr>
        </p:nvSpPr>
        <p:spPr/>
        <p:txBody>
          <a:bodyPr/>
          <a:lstStyle/>
          <a:p>
            <a:fld id="{EA95BDD6-391D-4D68-9A24-8E7CE46A4DC4}" type="datetime1">
              <a:rPr lang="en-US" smtClean="0"/>
              <a:t>6/4/2025</a:t>
            </a:fld>
            <a:endParaRPr lang="en-US" dirty="0"/>
          </a:p>
        </p:txBody>
      </p:sp>
      <p:sp>
        <p:nvSpPr>
          <p:cNvPr id="4" name="Footer Placeholder 3">
            <a:extLst>
              <a:ext uri="{FF2B5EF4-FFF2-40B4-BE49-F238E27FC236}">
                <a16:creationId xmlns:a16="http://schemas.microsoft.com/office/drawing/2014/main" xmlns=""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a16="http://schemas.microsoft.com/office/drawing/2014/main" xmlns=""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271F3F0-F2B3-F675-7BAB-1AD2134ACD0F}"/>
              </a:ext>
            </a:extLst>
          </p:cNvPr>
          <p:cNvSpPr>
            <a:spLocks noGrp="1"/>
          </p:cNvSpPr>
          <p:nvPr>
            <p:ph type="dt" sz="half" idx="10"/>
          </p:nvPr>
        </p:nvSpPr>
        <p:spPr/>
        <p:txBody>
          <a:bodyPr/>
          <a:lstStyle/>
          <a:p>
            <a:fld id="{1B3E1E7A-3F60-43E8-97A9-E03FDFF3291A}" type="datetime1">
              <a:rPr lang="en-US" smtClean="0"/>
              <a:t>6/4/2025</a:t>
            </a:fld>
            <a:endParaRPr lang="en-US" dirty="0"/>
          </a:p>
        </p:txBody>
      </p:sp>
      <p:sp>
        <p:nvSpPr>
          <p:cNvPr id="3" name="Footer Placeholder 2">
            <a:extLst>
              <a:ext uri="{FF2B5EF4-FFF2-40B4-BE49-F238E27FC236}">
                <a16:creationId xmlns:a16="http://schemas.microsoft.com/office/drawing/2014/main" xmlns=""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a16="http://schemas.microsoft.com/office/drawing/2014/main" xmlns=""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215BCDEF-8A4D-1FA5-888F-D5A3A2CEE9D4}"/>
              </a:ext>
            </a:extLst>
          </p:cNvPr>
          <p:cNvSpPr>
            <a:spLocks noGrp="1"/>
          </p:cNvSpPr>
          <p:nvPr>
            <p:ph type="dt" sz="half" idx="10"/>
          </p:nvPr>
        </p:nvSpPr>
        <p:spPr/>
        <p:txBody>
          <a:bodyPr/>
          <a:lstStyle/>
          <a:p>
            <a:fld id="{041F2EE0-C06F-41F5-AFE0-7056E3A01EDC}" type="datetime1">
              <a:rPr lang="en-US" smtClean="0"/>
              <a:t>6/4/2025</a:t>
            </a:fld>
            <a:endParaRPr lang="en-US" dirty="0"/>
          </a:p>
        </p:txBody>
      </p:sp>
      <p:sp>
        <p:nvSpPr>
          <p:cNvPr id="6" name="Footer Placeholder 5">
            <a:extLst>
              <a:ext uri="{FF2B5EF4-FFF2-40B4-BE49-F238E27FC236}">
                <a16:creationId xmlns:a16="http://schemas.microsoft.com/office/drawing/2014/main" xmlns=""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996AEC32-A02D-AF36-A64E-290A392B42FC}"/>
              </a:ext>
            </a:extLst>
          </p:cNvPr>
          <p:cNvSpPr>
            <a:spLocks noGrp="1"/>
          </p:cNvSpPr>
          <p:nvPr>
            <p:ph type="dt" sz="half" idx="10"/>
          </p:nvPr>
        </p:nvSpPr>
        <p:spPr/>
        <p:txBody>
          <a:bodyPr/>
          <a:lstStyle/>
          <a:p>
            <a:fld id="{93A105E1-88D0-4311-A599-0C8A6973053A}" type="datetime1">
              <a:rPr lang="en-US" smtClean="0"/>
              <a:t>6/4/2025</a:t>
            </a:fld>
            <a:endParaRPr lang="en-US" dirty="0"/>
          </a:p>
        </p:txBody>
      </p:sp>
      <p:sp>
        <p:nvSpPr>
          <p:cNvPr id="6" name="Footer Placeholder 5">
            <a:extLst>
              <a:ext uri="{FF2B5EF4-FFF2-40B4-BE49-F238E27FC236}">
                <a16:creationId xmlns:a16="http://schemas.microsoft.com/office/drawing/2014/main" xmlns=""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1DDBB31-5065-A920-BCE3-A6379F318E85}"/>
              </a:ext>
            </a:extLst>
          </p:cNvPr>
          <p:cNvSpPr>
            <a:spLocks noGrp="1"/>
          </p:cNvSpPr>
          <p:nvPr>
            <p:ph type="dt" sz="half" idx="10"/>
          </p:nvPr>
        </p:nvSpPr>
        <p:spPr/>
        <p:txBody>
          <a:bodyPr/>
          <a:lstStyle/>
          <a:p>
            <a:fld id="{159EA562-091E-45D6-BEDF-3C68FB2023F1}" type="datetime1">
              <a:rPr lang="en-US" smtClean="0"/>
              <a:t>6/4/2025</a:t>
            </a:fld>
            <a:endParaRPr lang="en-US" dirty="0"/>
          </a:p>
        </p:txBody>
      </p:sp>
      <p:sp>
        <p:nvSpPr>
          <p:cNvPr id="5" name="Footer Placeholder 4">
            <a:extLst>
              <a:ext uri="{FF2B5EF4-FFF2-40B4-BE49-F238E27FC236}">
                <a16:creationId xmlns:a16="http://schemas.microsoft.com/office/drawing/2014/main" xmlns=""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DA404C4-6EA5-D815-E9B2-7CDBB94E9D0D}"/>
              </a:ext>
            </a:extLst>
          </p:cNvPr>
          <p:cNvSpPr>
            <a:spLocks noGrp="1"/>
          </p:cNvSpPr>
          <p:nvPr>
            <p:ph type="dt" sz="half" idx="10"/>
          </p:nvPr>
        </p:nvSpPr>
        <p:spPr/>
        <p:txBody>
          <a:bodyPr/>
          <a:lstStyle/>
          <a:p>
            <a:fld id="{DDF14D94-52B8-43E9-A8F3-BD9E24437DA3}" type="datetime1">
              <a:rPr lang="en-US" smtClean="0"/>
              <a:t>6/4/2025</a:t>
            </a:fld>
            <a:endParaRPr lang="en-US" dirty="0"/>
          </a:p>
        </p:txBody>
      </p:sp>
      <p:sp>
        <p:nvSpPr>
          <p:cNvPr id="5" name="Footer Placeholder 4">
            <a:extLst>
              <a:ext uri="{FF2B5EF4-FFF2-40B4-BE49-F238E27FC236}">
                <a16:creationId xmlns:a16="http://schemas.microsoft.com/office/drawing/2014/main" xmlns=""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6/4/2025</a:t>
            </a:fld>
            <a:endParaRPr lang="en-US" dirty="0"/>
          </a:p>
        </p:txBody>
      </p:sp>
      <p:sp>
        <p:nvSpPr>
          <p:cNvPr id="5" name="Footer Placeholder 4">
            <a:extLst>
              <a:ext uri="{FF2B5EF4-FFF2-40B4-BE49-F238E27FC236}">
                <a16:creationId xmlns:a16="http://schemas.microsoft.com/office/drawing/2014/main" xmlns=""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a16="http://schemas.microsoft.com/office/drawing/2014/main" xmlns=""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D93965-B794-0D3F-19B2-6E5CEF59071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929A6F4B-4B22-0928-2DBA-1E63C9DE5B4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6745C555-155A-8408-E6E3-22A172F35158}"/>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a16="http://schemas.microsoft.com/office/drawing/2014/main" xmlns="" id="{2462335E-6BA0-9E39-D941-3E40EF2A0890}"/>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3352634E-F25A-906D-E090-61E107EA9685}"/>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F78D711A-98A9-0CA9-87DC-706B4F2660D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xmlns="" id="{3863E5A6-EF6F-E241-ED54-B76BF010896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a16="http://schemas.microsoft.com/office/drawing/2014/main" xmlns="" id="{E4949A97-DC03-56A5-2E5A-3DD3913AA0EF}"/>
              </a:ext>
            </a:extLst>
          </p:cNvPr>
          <p:cNvSpPr txBox="1">
            <a:spLocks noGrp="1"/>
          </p:cNvSpPr>
          <p:nvPr/>
        </p:nvSpPr>
        <p:spPr>
          <a:xfrm>
            <a:off x="2062678" y="260137"/>
            <a:ext cx="9903831" cy="177648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7200" b="1" dirty="0">
                <a:solidFill>
                  <a:schemeClr val="tx1"/>
                </a:solidFill>
              </a:rPr>
              <a:t>Agent</a:t>
            </a:r>
            <a:r>
              <a:rPr lang="en-IN" b="1" dirty="0"/>
              <a:t> </a:t>
            </a:r>
          </a:p>
          <a:p>
            <a:r>
              <a:rPr lang="en-US" sz="1800" b="1" dirty="0" smtClean="0">
                <a:solidFill>
                  <a:schemeClr val="tx1"/>
                </a:solidFill>
              </a:rPr>
              <a:t>May 2024</a:t>
            </a:r>
            <a:endParaRPr sz="1800" b="1" dirty="0">
              <a:solidFill>
                <a:schemeClr val="tx1"/>
              </a:solidFill>
            </a:endParaRPr>
          </a:p>
        </p:txBody>
      </p:sp>
      <p:pic>
        <p:nvPicPr>
          <p:cNvPr id="4" name="Picture 3" descr="A logo with lines in a black background&#10;&#10;Description automatically generated">
            <a:extLst>
              <a:ext uri="{FF2B5EF4-FFF2-40B4-BE49-F238E27FC236}">
                <a16:creationId xmlns:a16="http://schemas.microsoft.com/office/drawing/2014/main" xmlns="" id="{B769A9BB-68EA-F9F6-0ECB-37D6968A9D6F}"/>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a16="http://schemas.microsoft.com/office/drawing/2014/main" xmlns="" id="{2D627D9A-CDBE-20A9-3FA1-63D5E507D783}"/>
              </a:ext>
            </a:extLst>
          </p:cNvPr>
          <p:cNvSpPr>
            <a:spLocks noGrp="1"/>
          </p:cNvSpPr>
          <p:nvPr>
            <p:ph type="ftr" sz="quarter" idx="11"/>
          </p:nvPr>
        </p:nvSpPr>
        <p:spPr/>
        <p:txBody>
          <a:bodyPr/>
          <a:lstStyle/>
          <a:p>
            <a:r>
              <a:rPr lang="en-US" dirty="0"/>
              <a:t>Navigating the Future of Learning​</a:t>
            </a:r>
          </a:p>
        </p:txBody>
      </p:sp>
      <p:pic>
        <p:nvPicPr>
          <p:cNvPr id="13" name="Picture 12">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1513" y="2783212"/>
            <a:ext cx="7199745" cy="2788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876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626D0CFA-48B8-3E4B-1A49-D1519B52371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54FF0842-65B7-CA57-2F5A-D61967EF9A86}"/>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a16="http://schemas.microsoft.com/office/drawing/2014/main" xmlns="" id="{086E1CFB-A153-D93E-36A4-626934EA70A2}"/>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FD0E1369-B664-5A34-37EB-F2E23636CCE2}"/>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1416A07B-D1C1-CCF8-D7C5-0E48127EB26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xmlns="" id="{E5C46304-707F-3EF8-C7C9-2F0B0A921B4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a16="http://schemas.microsoft.com/office/drawing/2014/main" xmlns="" id="{C9764481-C48B-F71F-0C2D-6C544B78BD03}"/>
              </a:ext>
            </a:extLst>
          </p:cNvPr>
          <p:cNvSpPr txBox="1">
            <a:spLocks noGrp="1"/>
          </p:cNvSpPr>
          <p:nvPr/>
        </p:nvSpPr>
        <p:spPr>
          <a:xfrm>
            <a:off x="2289667" y="999911"/>
            <a:ext cx="9903831" cy="101507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600" b="1" dirty="0" smtClean="0">
                <a:solidFill>
                  <a:schemeClr val="tx1"/>
                </a:solidFill>
              </a:rPr>
              <a:t>Agent</a:t>
            </a:r>
            <a:r>
              <a:rPr lang="en-US" sz="4600" b="1" dirty="0">
                <a:solidFill>
                  <a:schemeClr val="tx1"/>
                </a:solidFill>
              </a:rPr>
              <a:t> </a:t>
            </a:r>
            <a:endParaRPr sz="4600" b="1" dirty="0">
              <a:solidFill>
                <a:schemeClr val="tx1"/>
              </a:solidFill>
            </a:endParaRPr>
          </a:p>
        </p:txBody>
      </p:sp>
      <p:sp>
        <p:nvSpPr>
          <p:cNvPr id="16" name="Google Shape;144;p1">
            <a:extLst>
              <a:ext uri="{FF2B5EF4-FFF2-40B4-BE49-F238E27FC236}">
                <a16:creationId xmlns:a16="http://schemas.microsoft.com/office/drawing/2014/main" xmlns="" id="{BBED11E4-2954-95E1-DDA9-5E0CD86221C7}"/>
              </a:ext>
            </a:extLst>
          </p:cNvPr>
          <p:cNvSpPr txBox="1">
            <a:spLocks noGrp="1"/>
          </p:cNvSpPr>
          <p:nvPr/>
        </p:nvSpPr>
        <p:spPr>
          <a:xfrm>
            <a:off x="2400782" y="2255016"/>
            <a:ext cx="7718487" cy="2924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381000" algn="ctr" rtl="0">
              <a:lnSpc>
                <a:spcPct val="90000"/>
              </a:lnSpc>
              <a:spcBef>
                <a:spcPts val="600"/>
              </a:spcBef>
              <a:spcAft>
                <a:spcPts val="0"/>
              </a:spcAft>
              <a:buClr>
                <a:srgbClr val="92979C"/>
              </a:buClr>
              <a:buSzPts val="2400"/>
              <a:buFont typeface="Arial"/>
              <a:buNone/>
              <a:defRPr sz="2400" b="0" i="0" u="none" strike="noStrike" cap="none">
                <a:solidFill>
                  <a:srgbClr val="92979C"/>
                </a:solidFill>
                <a:latin typeface="Arial"/>
                <a:ea typeface="Arial"/>
                <a:cs typeface="Arial"/>
                <a:sym typeface="Arial"/>
              </a:defRPr>
            </a:lvl2pPr>
            <a:lvl3pPr marL="1371600" marR="0" lvl="2" indent="-355600" algn="ctr" rtl="0">
              <a:lnSpc>
                <a:spcPct val="90000"/>
              </a:lnSpc>
              <a:spcBef>
                <a:spcPts val="600"/>
              </a:spcBef>
              <a:spcAft>
                <a:spcPts val="0"/>
              </a:spcAft>
              <a:buClr>
                <a:srgbClr val="92979C"/>
              </a:buClr>
              <a:buSzPts val="2000"/>
              <a:buFont typeface="Arial"/>
              <a:buNone/>
              <a:defRPr sz="2000" b="0" i="0" u="none" strike="noStrike" cap="none">
                <a:solidFill>
                  <a:srgbClr val="92979C"/>
                </a:solidFill>
                <a:latin typeface="Arial"/>
                <a:ea typeface="Arial"/>
                <a:cs typeface="Arial"/>
                <a:sym typeface="Arial"/>
              </a:defRPr>
            </a:lvl3pPr>
            <a:lvl4pPr marL="1828800" marR="0" lvl="3"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4pPr>
            <a:lvl5pPr marL="2286000" marR="0" lvl="4"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5pPr>
            <a:lvl6pPr marL="2743200" marR="0" lvl="5"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6pPr>
            <a:lvl7pPr marL="3200400" marR="0" lvl="6"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7pPr>
            <a:lvl8pPr marL="3657600" marR="0" lvl="7"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8pPr>
            <a:lvl9pPr marL="4114800" marR="0" lvl="8"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9pPr>
          </a:lstStyle>
          <a:p>
            <a:pPr indent="-457200">
              <a:lnSpc>
                <a:spcPct val="100000"/>
              </a:lnSpc>
              <a:buFont typeface="Arial" panose="020B0604020202020204" pitchFamily="34" charset="0"/>
              <a:buChar char="•"/>
            </a:pPr>
            <a:r>
              <a:rPr lang="en-US" sz="1800" dirty="0">
                <a:latin typeface="Bahnschrift SemiLight" pitchFamily="34" charset="0"/>
              </a:rPr>
              <a:t>Basics </a:t>
            </a:r>
            <a:r>
              <a:rPr lang="en-US" sz="1800" dirty="0" smtClean="0">
                <a:latin typeface="Bahnschrift SemiLight" pitchFamily="34" charset="0"/>
              </a:rPr>
              <a:t>?</a:t>
            </a:r>
          </a:p>
          <a:p>
            <a:pPr indent="-457200">
              <a:lnSpc>
                <a:spcPct val="100000"/>
              </a:lnSpc>
              <a:buFont typeface="Arial" panose="020B0604020202020204" pitchFamily="34" charset="0"/>
              <a:buChar char="•"/>
            </a:pPr>
            <a:r>
              <a:rPr lang="en-US" sz="1800" dirty="0" smtClean="0">
                <a:latin typeface="Bahnschrift SemiLight" pitchFamily="34" charset="0"/>
              </a:rPr>
              <a:t>What is a Tool</a:t>
            </a:r>
          </a:p>
          <a:p>
            <a:pPr lvl="1" indent="-457200" algn="l">
              <a:lnSpc>
                <a:spcPct val="100000"/>
              </a:lnSpc>
              <a:buFont typeface="Wingdings" pitchFamily="2" charset="2"/>
              <a:buChar char="§"/>
            </a:pPr>
            <a:r>
              <a:rPr lang="en-US" sz="1600" dirty="0" smtClean="0">
                <a:solidFill>
                  <a:schemeClr val="tx1"/>
                </a:solidFill>
                <a:latin typeface="Cambria Math" pitchFamily="18" charset="0"/>
                <a:ea typeface="Cambria Math" pitchFamily="18" charset="0"/>
              </a:rPr>
              <a:t>Tools type</a:t>
            </a:r>
          </a:p>
          <a:p>
            <a:pPr lvl="1" indent="-457200" algn="l">
              <a:lnSpc>
                <a:spcPct val="100000"/>
              </a:lnSpc>
              <a:buFont typeface="Wingdings" pitchFamily="2" charset="2"/>
              <a:buChar char="§"/>
            </a:pPr>
            <a:r>
              <a:rPr lang="en-US" sz="1600" dirty="0" smtClean="0">
                <a:solidFill>
                  <a:schemeClr val="tx1"/>
                </a:solidFill>
                <a:latin typeface="Cambria Math" pitchFamily="18" charset="0"/>
                <a:ea typeface="Cambria Math" pitchFamily="18" charset="0"/>
              </a:rPr>
              <a:t>Built-in tools</a:t>
            </a:r>
          </a:p>
          <a:p>
            <a:pPr lvl="1" indent="-457200" algn="l">
              <a:lnSpc>
                <a:spcPct val="100000"/>
              </a:lnSpc>
              <a:buFont typeface="Wingdings" pitchFamily="2" charset="2"/>
              <a:buChar char="§"/>
            </a:pPr>
            <a:r>
              <a:rPr lang="en-US" sz="1600" dirty="0" smtClean="0">
                <a:solidFill>
                  <a:schemeClr val="tx1"/>
                </a:solidFill>
                <a:latin typeface="Cambria Math" pitchFamily="18" charset="0"/>
                <a:ea typeface="Cambria Math" pitchFamily="18" charset="0"/>
              </a:rPr>
              <a:t>Custom tools</a:t>
            </a:r>
          </a:p>
          <a:p>
            <a:pPr marL="0" indent="0">
              <a:lnSpc>
                <a:spcPct val="100000"/>
              </a:lnSpc>
            </a:pPr>
            <a:endParaRPr lang="en-US" dirty="0">
              <a:solidFill>
                <a:schemeClr val="tx1"/>
              </a:solidFill>
              <a:latin typeface="Cambria Math" pitchFamily="18" charset="0"/>
              <a:ea typeface="Cambria Math" pitchFamily="18" charset="0"/>
            </a:endParaRPr>
          </a:p>
          <a:p>
            <a:pPr marL="457200" lvl="1" indent="-457200" algn="l">
              <a:lnSpc>
                <a:spcPct val="100000"/>
              </a:lnSpc>
              <a:spcBef>
                <a:spcPts val="0"/>
              </a:spcBef>
              <a:buClr>
                <a:schemeClr val="dk1"/>
              </a:buClr>
              <a:buSzPts val="3200"/>
              <a:buFont typeface="Arial" panose="020B0604020202020204" pitchFamily="34" charset="0"/>
              <a:buChar char="•"/>
            </a:pPr>
            <a:r>
              <a:rPr lang="en-US" sz="1800" dirty="0">
                <a:solidFill>
                  <a:schemeClr val="dk1"/>
                </a:solidFill>
                <a:latin typeface="Bahnschrift SemiLight" pitchFamily="34" charset="0"/>
              </a:rPr>
              <a:t>Way to create custom </a:t>
            </a:r>
            <a:r>
              <a:rPr lang="en-US" sz="1800" dirty="0" smtClean="0">
                <a:solidFill>
                  <a:schemeClr val="dk1"/>
                </a:solidFill>
                <a:latin typeface="Bahnschrift SemiLight" pitchFamily="34" charset="0"/>
              </a:rPr>
              <a:t>Tools</a:t>
            </a:r>
          </a:p>
          <a:p>
            <a:pPr marL="914400" lvl="2" indent="-457200" algn="l">
              <a:lnSpc>
                <a:spcPct val="100000"/>
              </a:lnSpc>
              <a:spcBef>
                <a:spcPts val="0"/>
              </a:spcBef>
              <a:buClr>
                <a:schemeClr val="dk1"/>
              </a:buClr>
              <a:buSzPts val="3200"/>
              <a:buFont typeface="Arial" panose="020B0604020202020204" pitchFamily="34" charset="0"/>
              <a:buChar char="•"/>
            </a:pPr>
            <a:endParaRPr lang="en-US" sz="1400" dirty="0">
              <a:solidFill>
                <a:schemeClr val="dk1"/>
              </a:solidFill>
              <a:latin typeface="Bahnschrift SemiLight" pitchFamily="34" charset="0"/>
            </a:endParaRPr>
          </a:p>
          <a:p>
            <a:pPr indent="-457200">
              <a:lnSpc>
                <a:spcPct val="100000"/>
              </a:lnSpc>
              <a:buFont typeface="Arial" panose="020B0604020202020204" pitchFamily="34" charset="0"/>
              <a:buChar char="•"/>
            </a:pPr>
            <a:endParaRPr lang="en-US" sz="1800" dirty="0" smtClean="0">
              <a:latin typeface="Bahnschrift SemiLight" pitchFamily="34" charset="0"/>
            </a:endParaRPr>
          </a:p>
          <a:p>
            <a:pPr indent="-457200">
              <a:lnSpc>
                <a:spcPct val="100000"/>
              </a:lnSpc>
              <a:buFont typeface="Arial" panose="020B0604020202020204" pitchFamily="34" charset="0"/>
              <a:buChar char="•"/>
            </a:pPr>
            <a:endParaRPr lang="en-US" sz="1800" dirty="0" smtClean="0">
              <a:latin typeface="Bahnschrift SemiLight" pitchFamily="34" charset="0"/>
            </a:endParaRPr>
          </a:p>
          <a:p>
            <a:pPr marL="457200" lvl="1" indent="0">
              <a:lnSpc>
                <a:spcPct val="100000"/>
              </a:lnSpc>
            </a:pPr>
            <a:endParaRPr lang="en-US" sz="1800" dirty="0">
              <a:latin typeface="Bahnschrift SemiLight" pitchFamily="34" charset="0"/>
            </a:endParaRPr>
          </a:p>
          <a:p>
            <a:pPr indent="-457200">
              <a:buFont typeface="Arial" panose="020B0604020202020204" pitchFamily="34" charset="0"/>
              <a:buChar char="•"/>
            </a:pPr>
            <a:endParaRPr lang="en-US" sz="1800" dirty="0">
              <a:latin typeface="Bahnschrift SemiLight" pitchFamily="34" charset="0"/>
            </a:endParaRPr>
          </a:p>
        </p:txBody>
      </p:sp>
      <p:pic>
        <p:nvPicPr>
          <p:cNvPr id="4" name="Picture 3" descr="A logo with lines in a black background&#10;&#10;Description automatically generated">
            <a:extLst>
              <a:ext uri="{FF2B5EF4-FFF2-40B4-BE49-F238E27FC236}">
                <a16:creationId xmlns:a16="http://schemas.microsoft.com/office/drawing/2014/main" xmlns="" id="{D2D9B059-AD2D-F678-3DA7-C8E036931FCD}"/>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a16="http://schemas.microsoft.com/office/drawing/2014/main" xmlns="" id="{4E035956-D152-CBA4-26F1-D6ED7ADD054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272436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a16="http://schemas.microsoft.com/office/drawing/2014/main" xmlns=""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grpSp>
        <p:nvGrpSpPr>
          <p:cNvPr id="17" name="Group 16"/>
          <p:cNvGrpSpPr/>
          <p:nvPr/>
        </p:nvGrpSpPr>
        <p:grpSpPr>
          <a:xfrm>
            <a:off x="1260763" y="385266"/>
            <a:ext cx="2784764" cy="374453"/>
            <a:chOff x="1260763" y="385266"/>
            <a:chExt cx="2784764" cy="374453"/>
          </a:xfrm>
        </p:grpSpPr>
        <p:grpSp>
          <p:nvGrpSpPr>
            <p:cNvPr id="11" name="Group 10"/>
            <p:cNvGrpSpPr/>
            <p:nvPr/>
          </p:nvGrpSpPr>
          <p:grpSpPr>
            <a:xfrm>
              <a:off x="1260763" y="390387"/>
              <a:ext cx="2784764" cy="369332"/>
              <a:chOff x="1260763" y="651165"/>
              <a:chExt cx="2784764" cy="369332"/>
            </a:xfrm>
            <a:solidFill>
              <a:srgbClr val="FF6600"/>
            </a:solidFill>
          </p:grpSpPr>
          <p:sp>
            <p:nvSpPr>
              <p:cNvPr id="35" name="Title 1">
                <a:extLst>
                  <a:ext uri="{FF2B5EF4-FFF2-40B4-BE49-F238E27FC236}">
                    <a16:creationId xmlns:a16="http://schemas.microsoft.com/office/drawing/2014/main" xmlns="" id="{8E4945F9-351B-FE06-B4C4-5E27ED97FD2B}"/>
                  </a:ext>
                </a:extLst>
              </p:cNvPr>
              <p:cNvSpPr txBox="1">
                <a:spLocks/>
              </p:cNvSpPr>
              <p:nvPr/>
            </p:nvSpPr>
            <p:spPr>
              <a:xfrm>
                <a:off x="1530620" y="651165"/>
                <a:ext cx="1441100" cy="369332"/>
              </a:xfrm>
              <a:prstGeom prst="rect">
                <a:avLst/>
              </a:prstGeom>
              <a:solidFill>
                <a:srgbClr val="FF0000"/>
              </a:solidFill>
            </p:spPr>
            <p:txBody>
              <a:bodyPr wrap="none">
                <a:spAutoFit/>
              </a:bodyPr>
              <a:lstStyle>
                <a:defPPr>
                  <a:defRPr lang="en-US"/>
                </a:defPPr>
                <a:lvl1pPr>
                  <a:defRPr>
                    <a:solidFill>
                      <a:schemeClr val="bg1"/>
                    </a:solidFill>
                    <a:latin typeface="Arial Rounded MT Bold" pitchFamily="34" charset="0"/>
                  </a:defRPr>
                </a:lvl1pPr>
              </a:lstStyle>
              <a:p>
                <a:r>
                  <a:rPr lang="en-US" dirty="0"/>
                  <a:t>Argentic AI</a:t>
                </a:r>
                <a:endParaRPr lang="en-IN" dirty="0"/>
              </a:p>
            </p:txBody>
          </p:sp>
          <p:cxnSp>
            <p:nvCxnSpPr>
              <p:cNvPr id="3" name="Straight Connector 2"/>
              <p:cNvCxnSpPr/>
              <p:nvPr/>
            </p:nvCxnSpPr>
            <p:spPr>
              <a:xfrm>
                <a:off x="1260763" y="651165"/>
                <a:ext cx="2784764" cy="0"/>
              </a:xfrm>
              <a:prstGeom prst="line">
                <a:avLst/>
              </a:prstGeom>
              <a:solidFill>
                <a:srgbClr val="FF0000"/>
              </a:solidFill>
            </p:spPr>
          </p:cxnSp>
        </p:grpSp>
        <p:cxnSp>
          <p:nvCxnSpPr>
            <p:cNvPr id="16" name="Straight Connector 15"/>
            <p:cNvCxnSpPr/>
            <p:nvPr/>
          </p:nvCxnSpPr>
          <p:spPr>
            <a:xfrm>
              <a:off x="1364479" y="385266"/>
              <a:ext cx="177338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03678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28214" y="381271"/>
            <a:ext cx="2395641" cy="369332"/>
            <a:chOff x="1428214" y="381271"/>
            <a:chExt cx="2395641" cy="369332"/>
          </a:xfrm>
        </p:grpSpPr>
        <p:sp>
          <p:nvSpPr>
            <p:cNvPr id="2" name="Rectangle 1"/>
            <p:cNvSpPr/>
            <p:nvPr/>
          </p:nvSpPr>
          <p:spPr>
            <a:xfrm>
              <a:off x="1691450" y="381271"/>
              <a:ext cx="1857111" cy="369332"/>
            </a:xfrm>
            <a:prstGeom prst="rect">
              <a:avLst/>
            </a:prstGeom>
            <a:solidFill>
              <a:srgbClr val="FF0000"/>
            </a:solidFill>
          </p:spPr>
          <p:txBody>
            <a:bodyPr wrap="none">
              <a:spAutoFit/>
            </a:bodyPr>
            <a:lstStyle/>
            <a:p>
              <a:r>
                <a:rPr lang="en-IN" dirty="0">
                  <a:solidFill>
                    <a:schemeClr val="bg1"/>
                  </a:solidFill>
                  <a:latin typeface="Arial Rounded MT Bold" pitchFamily="34" charset="0"/>
                </a:rPr>
                <a:t>What is a Tool?</a:t>
              </a:r>
            </a:p>
          </p:txBody>
        </p:sp>
        <p:cxnSp>
          <p:nvCxnSpPr>
            <p:cNvPr id="5" name="Straight Connector 4"/>
            <p:cNvCxnSpPr/>
            <p:nvPr/>
          </p:nvCxnSpPr>
          <p:spPr>
            <a:xfrm flipV="1">
              <a:off x="1428214" y="381271"/>
              <a:ext cx="2395641" cy="153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 name="Rectangle 10"/>
          <p:cNvSpPr/>
          <p:nvPr/>
        </p:nvSpPr>
        <p:spPr>
          <a:xfrm>
            <a:off x="1428214" y="972280"/>
            <a:ext cx="10763785" cy="338554"/>
          </a:xfrm>
          <a:prstGeom prst="rect">
            <a:avLst/>
          </a:prstGeom>
        </p:spPr>
        <p:txBody>
          <a:bodyPr wrap="square">
            <a:spAutoFit/>
          </a:bodyPr>
          <a:lstStyle/>
          <a:p>
            <a:r>
              <a:rPr lang="en-US" sz="1600" dirty="0">
                <a:latin typeface="Cambria Math" pitchFamily="18" charset="0"/>
                <a:ea typeface="Cambria Math" pitchFamily="18" charset="0"/>
              </a:rPr>
              <a:t>A tool is just a Python function (or API) that is packaged in a way  </a:t>
            </a:r>
            <a:r>
              <a:rPr lang="en-US" sz="1600" dirty="0" smtClean="0">
                <a:latin typeface="Cambria Math" pitchFamily="18" charset="0"/>
                <a:ea typeface="Cambria Math" pitchFamily="18" charset="0"/>
              </a:rPr>
              <a:t>so that </a:t>
            </a:r>
            <a:r>
              <a:rPr lang="en-US" sz="1600" dirty="0">
                <a:latin typeface="Cambria Math" pitchFamily="18" charset="0"/>
                <a:ea typeface="Cambria Math" pitchFamily="18" charset="0"/>
              </a:rPr>
              <a:t>LLM can </a:t>
            </a:r>
            <a:r>
              <a:rPr lang="en-US" sz="1600" dirty="0" smtClean="0">
                <a:latin typeface="Cambria Math" pitchFamily="18" charset="0"/>
                <a:ea typeface="Cambria Math" pitchFamily="18" charset="0"/>
              </a:rPr>
              <a:t>understand and </a:t>
            </a:r>
            <a:r>
              <a:rPr lang="en-US" sz="1600" dirty="0">
                <a:latin typeface="Cambria Math" pitchFamily="18" charset="0"/>
                <a:ea typeface="Cambria Math" pitchFamily="18" charset="0"/>
              </a:rPr>
              <a:t>call </a:t>
            </a:r>
            <a:r>
              <a:rPr lang="en-US" sz="1600" dirty="0" smtClean="0">
                <a:latin typeface="Cambria Math" pitchFamily="18" charset="0"/>
                <a:ea typeface="Cambria Math" pitchFamily="18" charset="0"/>
              </a:rPr>
              <a:t>when it is </a:t>
            </a:r>
            <a:r>
              <a:rPr lang="en-US" sz="1600" dirty="0">
                <a:latin typeface="Cambria Math" pitchFamily="18" charset="0"/>
                <a:ea typeface="Cambria Math" pitchFamily="18" charset="0"/>
              </a:rPr>
              <a:t>needed.</a:t>
            </a:r>
            <a:endParaRPr lang="en-IN" sz="1600" dirty="0">
              <a:latin typeface="Cambria Math" pitchFamily="18" charset="0"/>
              <a:ea typeface="Cambria Math" pitchFamily="18" charset="0"/>
            </a:endParaRPr>
          </a:p>
        </p:txBody>
      </p:sp>
      <p:grpSp>
        <p:nvGrpSpPr>
          <p:cNvPr id="18" name="Group 17"/>
          <p:cNvGrpSpPr/>
          <p:nvPr/>
        </p:nvGrpSpPr>
        <p:grpSpPr>
          <a:xfrm>
            <a:off x="1428214" y="2567830"/>
            <a:ext cx="2548041" cy="861168"/>
            <a:chOff x="1428214" y="2567830"/>
            <a:chExt cx="2548041" cy="861168"/>
          </a:xfrm>
        </p:grpSpPr>
        <p:sp>
          <p:nvSpPr>
            <p:cNvPr id="12" name="Rectangle 11"/>
            <p:cNvSpPr/>
            <p:nvPr/>
          </p:nvSpPr>
          <p:spPr>
            <a:xfrm>
              <a:off x="1428811" y="2567830"/>
              <a:ext cx="2547444" cy="307777"/>
            </a:xfrm>
            <a:prstGeom prst="rect">
              <a:avLst/>
            </a:prstGeom>
          </p:spPr>
          <p:txBody>
            <a:bodyPr wrap="square">
              <a:spAutoFit/>
            </a:bodyPr>
            <a:lstStyle/>
            <a:p>
              <a:r>
                <a:rPr lang="en-US" sz="1400" dirty="0"/>
                <a:t>LLMs like GPT) are great at:</a:t>
              </a:r>
              <a:endParaRPr lang="en-IN" sz="1400" dirty="0"/>
            </a:p>
          </p:txBody>
        </p:sp>
        <p:sp>
          <p:nvSpPr>
            <p:cNvPr id="13" name="Rectangle 12"/>
            <p:cNvSpPr/>
            <p:nvPr/>
          </p:nvSpPr>
          <p:spPr>
            <a:xfrm>
              <a:off x="1428214" y="2905778"/>
              <a:ext cx="2548041" cy="523220"/>
            </a:xfrm>
            <a:prstGeom prst="rect">
              <a:avLst/>
            </a:prstGeom>
            <a:ln>
              <a:solidFill>
                <a:schemeClr val="bg1">
                  <a:lumMod val="95000"/>
                </a:schemeClr>
              </a:solidFill>
            </a:ln>
          </p:spPr>
          <p:txBody>
            <a:bodyPr wrap="square">
              <a:spAutoFit/>
            </a:bodyPr>
            <a:lstStyle/>
            <a:p>
              <a:r>
                <a:rPr lang="en-US" sz="1400" dirty="0"/>
                <a:t>Reasoning (</a:t>
              </a:r>
              <a:r>
                <a:rPr lang="en-US" sz="1400" b="1" dirty="0">
                  <a:solidFill>
                    <a:srgbClr val="0070C0"/>
                  </a:solidFill>
                </a:rPr>
                <a:t>Think</a:t>
              </a:r>
              <a:r>
                <a:rPr lang="en-US" sz="1400" b="1" dirty="0" smtClean="0">
                  <a:solidFill>
                    <a:srgbClr val="0070C0"/>
                  </a:solidFill>
                </a:rPr>
                <a:t>)</a:t>
              </a:r>
            </a:p>
            <a:p>
              <a:r>
                <a:rPr lang="en-US" sz="1400" dirty="0" smtClean="0"/>
                <a:t> </a:t>
              </a:r>
              <a:r>
                <a:rPr lang="en-US" sz="1400" dirty="0"/>
                <a:t>Language </a:t>
              </a:r>
              <a:r>
                <a:rPr lang="en-US" sz="1400" dirty="0" smtClean="0"/>
                <a:t>generation (</a:t>
              </a:r>
              <a:r>
                <a:rPr lang="en-US" sz="1400" b="1" dirty="0" smtClean="0">
                  <a:solidFill>
                    <a:srgbClr val="FF0066"/>
                  </a:solidFill>
                </a:rPr>
                <a:t>speak</a:t>
              </a:r>
              <a:r>
                <a:rPr lang="en-US" sz="1400" dirty="0" smtClean="0"/>
                <a:t>)</a:t>
              </a:r>
              <a:endParaRPr lang="en-IN" sz="1400" dirty="0"/>
            </a:p>
          </p:txBody>
        </p:sp>
      </p:grpSp>
      <p:grpSp>
        <p:nvGrpSpPr>
          <p:cNvPr id="17" name="Group 16"/>
          <p:cNvGrpSpPr/>
          <p:nvPr/>
        </p:nvGrpSpPr>
        <p:grpSpPr>
          <a:xfrm>
            <a:off x="4148112" y="2552577"/>
            <a:ext cx="2661994" cy="1492580"/>
            <a:chOff x="4148112" y="2552577"/>
            <a:chExt cx="2661994" cy="1492580"/>
          </a:xfrm>
        </p:grpSpPr>
        <p:sp>
          <p:nvSpPr>
            <p:cNvPr id="15" name="Rectangle 14"/>
            <p:cNvSpPr/>
            <p:nvPr/>
          </p:nvSpPr>
          <p:spPr>
            <a:xfrm>
              <a:off x="4148112" y="2552577"/>
              <a:ext cx="2661994" cy="307777"/>
            </a:xfrm>
            <a:prstGeom prst="rect">
              <a:avLst/>
            </a:prstGeom>
            <a:ln>
              <a:noFill/>
            </a:ln>
          </p:spPr>
          <p:txBody>
            <a:bodyPr wrap="square">
              <a:spAutoFit/>
            </a:bodyPr>
            <a:lstStyle/>
            <a:p>
              <a:r>
                <a:rPr lang="en-US" sz="1400" dirty="0">
                  <a:latin typeface="Cambria Math" pitchFamily="18" charset="0"/>
                  <a:ea typeface="Cambria Math" pitchFamily="18" charset="0"/>
                </a:rPr>
                <a:t>But they can't do things like:</a:t>
              </a:r>
              <a:endParaRPr lang="en-IN" sz="1400" dirty="0">
                <a:latin typeface="Cambria Math" pitchFamily="18" charset="0"/>
                <a:ea typeface="Cambria Math" pitchFamily="18" charset="0"/>
              </a:endParaRPr>
            </a:p>
          </p:txBody>
        </p:sp>
        <p:sp>
          <p:nvSpPr>
            <p:cNvPr id="16" name="Rectangle 15"/>
            <p:cNvSpPr/>
            <p:nvPr/>
          </p:nvSpPr>
          <p:spPr>
            <a:xfrm>
              <a:off x="4148112" y="2875606"/>
              <a:ext cx="2661994" cy="1169551"/>
            </a:xfrm>
            <a:prstGeom prst="rect">
              <a:avLst/>
            </a:prstGeom>
            <a:solidFill>
              <a:schemeClr val="bg1"/>
            </a:solidFill>
            <a:ln>
              <a:noFill/>
            </a:ln>
          </p:spPr>
          <p:txBody>
            <a:bodyPr wrap="square">
              <a:spAutoFit/>
            </a:bodyPr>
            <a:lstStyle/>
            <a:p>
              <a:r>
                <a:rPr lang="en-US" sz="1400" dirty="0">
                  <a:latin typeface="Cambria Math" pitchFamily="18" charset="0"/>
                  <a:ea typeface="Cambria Math" pitchFamily="18" charset="0"/>
                </a:rPr>
                <a:t>Access live data (weather, news)</a:t>
              </a:r>
            </a:p>
            <a:p>
              <a:r>
                <a:rPr lang="en-US" sz="1400" dirty="0">
                  <a:latin typeface="Cambria Math" pitchFamily="18" charset="0"/>
                  <a:ea typeface="Cambria Math" pitchFamily="18" charset="0"/>
                </a:rPr>
                <a:t>Do reliable math</a:t>
              </a:r>
            </a:p>
            <a:p>
              <a:r>
                <a:rPr lang="en-US" sz="1400" dirty="0">
                  <a:latin typeface="Cambria Math" pitchFamily="18" charset="0"/>
                  <a:ea typeface="Cambria Math" pitchFamily="18" charset="0"/>
                </a:rPr>
                <a:t>Call APIs</a:t>
              </a:r>
            </a:p>
            <a:p>
              <a:r>
                <a:rPr lang="en-US" sz="1400" dirty="0">
                  <a:latin typeface="Cambria Math" pitchFamily="18" charset="0"/>
                  <a:ea typeface="Cambria Math" pitchFamily="18" charset="0"/>
                </a:rPr>
                <a:t>Run code</a:t>
              </a:r>
            </a:p>
            <a:p>
              <a:r>
                <a:rPr lang="en-US" sz="1400" dirty="0">
                  <a:latin typeface="Cambria Math" pitchFamily="18" charset="0"/>
                  <a:ea typeface="Cambria Math" pitchFamily="18" charset="0"/>
                </a:rPr>
                <a:t>Interact with a database</a:t>
              </a:r>
              <a:endParaRPr lang="en-IN" sz="1400" dirty="0">
                <a:latin typeface="Cambria Math" pitchFamily="18" charset="0"/>
                <a:ea typeface="Cambria Math" pitchFamily="18" charset="0"/>
              </a:endParaRPr>
            </a:p>
          </p:txBody>
        </p:sp>
      </p:grpSp>
      <p:grpSp>
        <p:nvGrpSpPr>
          <p:cNvPr id="27" name="Group 26"/>
          <p:cNvGrpSpPr/>
          <p:nvPr/>
        </p:nvGrpSpPr>
        <p:grpSpPr>
          <a:xfrm>
            <a:off x="4132933" y="2875606"/>
            <a:ext cx="457200" cy="1169551"/>
            <a:chOff x="4132933" y="2875606"/>
            <a:chExt cx="457200" cy="1169551"/>
          </a:xfrm>
        </p:grpSpPr>
        <p:grpSp>
          <p:nvGrpSpPr>
            <p:cNvPr id="25" name="Group 24"/>
            <p:cNvGrpSpPr/>
            <p:nvPr/>
          </p:nvGrpSpPr>
          <p:grpSpPr>
            <a:xfrm>
              <a:off x="4132933" y="2875606"/>
              <a:ext cx="457200" cy="1169551"/>
              <a:chOff x="4132933" y="2875606"/>
              <a:chExt cx="457200" cy="1169551"/>
            </a:xfrm>
          </p:grpSpPr>
          <p:cxnSp>
            <p:nvCxnSpPr>
              <p:cNvPr id="20" name="Straight Connector 19"/>
              <p:cNvCxnSpPr/>
              <p:nvPr/>
            </p:nvCxnSpPr>
            <p:spPr>
              <a:xfrm>
                <a:off x="4148112" y="2875607"/>
                <a:ext cx="0" cy="116955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132933" y="2875606"/>
                <a:ext cx="457200" cy="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p:cNvCxnSpPr/>
            <p:nvPr/>
          </p:nvCxnSpPr>
          <p:spPr>
            <a:xfrm>
              <a:off x="4132933" y="4045157"/>
              <a:ext cx="457200" cy="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gr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7209" y="2062488"/>
            <a:ext cx="22098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51820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13163" y="750603"/>
            <a:ext cx="9892146" cy="1600438"/>
            <a:chOff x="1579419" y="4107634"/>
            <a:chExt cx="9892146" cy="1600438"/>
          </a:xfrm>
        </p:grpSpPr>
        <p:sp>
          <p:nvSpPr>
            <p:cNvPr id="10" name="Rectangle 3"/>
            <p:cNvSpPr>
              <a:spLocks noChangeArrowheads="1"/>
            </p:cNvSpPr>
            <p:nvPr/>
          </p:nvSpPr>
          <p:spPr bwMode="auto">
            <a:xfrm>
              <a:off x="1579419" y="4107634"/>
              <a:ext cx="9892146" cy="1600438"/>
            </a:xfrm>
            <a:prstGeom prst="rect">
              <a:avLst/>
            </a:prstGeom>
            <a:noFill/>
            <a:ln w="9525">
              <a:solidFill>
                <a:srgbClr val="00D05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If I ask LLM tell me hey </a:t>
              </a:r>
              <a:r>
                <a:rPr lang="en-US" sz="1400" dirty="0" smtClean="0">
                  <a:solidFill>
                    <a:srgbClr val="000000"/>
                  </a:solidFill>
                  <a:latin typeface="Cambria Math" pitchFamily="18" charset="0"/>
                  <a:ea typeface="Cambria Math" pitchFamily="18" charset="0"/>
                  <a:cs typeface="Arial" pitchFamily="34" charset="0"/>
                </a:rPr>
                <a:t>LLM,W</a:t>
              </a: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hat is best way to go from Delhi to </a:t>
              </a:r>
              <a:r>
                <a:rPr lang="en-US" sz="1400" dirty="0" smtClean="0">
                  <a:solidFill>
                    <a:srgbClr val="000000"/>
                  </a:solidFill>
                  <a:latin typeface="Cambria Math" pitchFamily="18" charset="0"/>
                  <a:ea typeface="Cambria Math" pitchFamily="18" charset="0"/>
                  <a:cs typeface="Arial" pitchFamily="34" charset="0"/>
                </a:rPr>
                <a:t>Bombay</a:t>
              </a: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a:t>
              </a:r>
              <a:endParaRPr kumimoji="0" lang="en-US" sz="14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So after thinking he will tell us flight is one option ,train is one option bus is another option ,but if I tell them to book my train. so LLM can book train ticket for you</a:t>
              </a:r>
              <a:endParaRPr kumimoji="0" lang="en-US" sz="14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Answer is no</a:t>
              </a:r>
              <a:endParaRPr kumimoji="0" lang="en-US" sz="14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LLM does not have power to perform any kind of task for you.So we can say that LLM is like a human body</a:t>
              </a:r>
              <a:endParaRPr kumimoji="0" lang="en-US" sz="14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Which have capability to think and speak. But body does not hand and legs</a:t>
              </a:r>
              <a:endParaRPr kumimoji="0" lang="en-US" sz="14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Which means it can not execute any task it's own. Today a lot of task available that computer system can do but llm can not</a:t>
              </a:r>
              <a:endParaRPr kumimoji="0" lang="en-US" sz="24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p:txBody>
        </p:sp>
        <p:cxnSp>
          <p:nvCxnSpPr>
            <p:cNvPr id="11" name="Straight Connector 10"/>
            <p:cNvCxnSpPr/>
            <p:nvPr/>
          </p:nvCxnSpPr>
          <p:spPr>
            <a:xfrm>
              <a:off x="1579419" y="4107634"/>
              <a:ext cx="0" cy="1600438"/>
            </a:xfrm>
            <a:prstGeom prst="line">
              <a:avLst/>
            </a:prstGeom>
            <a:ln w="57150">
              <a:solidFill>
                <a:srgbClr val="00CC99"/>
              </a:solidFill>
            </a:ln>
          </p:spPr>
          <p:style>
            <a:lnRef idx="1">
              <a:schemeClr val="accent1"/>
            </a:lnRef>
            <a:fillRef idx="0">
              <a:schemeClr val="accent1"/>
            </a:fillRef>
            <a:effectRef idx="0">
              <a:schemeClr val="accent1"/>
            </a:effectRef>
            <a:fontRef idx="minor">
              <a:schemeClr val="tx1"/>
            </a:fontRef>
          </p:style>
        </p:cxnSp>
      </p:grpSp>
      <p:sp>
        <p:nvSpPr>
          <p:cNvPr id="12" name="Rectangle 11"/>
          <p:cNvSpPr>
            <a:spLocks noChangeArrowheads="1"/>
          </p:cNvSpPr>
          <p:nvPr/>
        </p:nvSpPr>
        <p:spPr bwMode="auto">
          <a:xfrm>
            <a:off x="1413163" y="2640671"/>
            <a:ext cx="1077883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Like -live weather data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llm can do  basic math like addition and subtraction, but it can not solve complex math problem, there is chance of hallucination means we can not trust the output of llm reliability issue .because llm did not learn  how to solve math but it learn language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smtClean="0">
                <a:solidFill>
                  <a:srgbClr val="000000"/>
                </a:solidFill>
                <a:latin typeface="Cambria Math" pitchFamily="18" charset="0"/>
                <a:ea typeface="Cambria Math" pitchFamily="18" charset="0"/>
                <a:cs typeface="Arial" pitchFamily="34" charset="0"/>
              </a:rPr>
              <a:t>llm</a:t>
            </a: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 can not call external api, If you ask him tweet on twitter on my behalf then llm can not do it</a:t>
            </a:r>
            <a:endParaRPr kumimoji="0" lang="en-US" sz="16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They can not run code ,Can not interact with database</a:t>
            </a:r>
            <a:endParaRPr kumimoji="0" lang="en-US" sz="28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p:txBody>
      </p:sp>
      <p:sp>
        <p:nvSpPr>
          <p:cNvPr id="13" name="Rectangle 12"/>
          <p:cNvSpPr>
            <a:spLocks noChangeArrowheads="1"/>
          </p:cNvSpPr>
          <p:nvPr/>
        </p:nvSpPr>
        <p:spPr bwMode="auto">
          <a:xfrm>
            <a:off x="1551708" y="5254779"/>
            <a:ext cx="10640292" cy="338554"/>
          </a:xfrm>
          <a:prstGeom prst="rect">
            <a:avLst/>
          </a:prstGeom>
          <a:noFill/>
          <a:ln w="9525">
            <a:solidFill>
              <a:srgbClr val="00D05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So real world computer system can perform many task but llm can not do</a:t>
            </a:r>
            <a:endParaRPr kumimoji="0" lang="en-US" sz="28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p:txBody>
      </p:sp>
      <p:sp>
        <p:nvSpPr>
          <p:cNvPr id="14" name="Rectangle 3"/>
          <p:cNvSpPr>
            <a:spLocks noChangeArrowheads="1"/>
          </p:cNvSpPr>
          <p:nvPr/>
        </p:nvSpPr>
        <p:spPr bwMode="auto">
          <a:xfrm>
            <a:off x="1551708" y="5593333"/>
            <a:ext cx="10640292" cy="584775"/>
          </a:xfrm>
          <a:prstGeom prst="rect">
            <a:avLst/>
          </a:prstGeom>
          <a:noFill/>
          <a:ln w="9525">
            <a:solidFill>
              <a:schemeClr val="accent1">
                <a:lumMod val="20000"/>
                <a:lumOff val="8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So as I said llm is like human body with brain that can think and speak  but can not perform any task which means it does not have hands and legs</a:t>
            </a:r>
            <a:endParaRPr kumimoji="0" lang="en-US" sz="28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p:txBody>
      </p:sp>
      <p:sp>
        <p:nvSpPr>
          <p:cNvPr id="5" name="Rectangle 4"/>
          <p:cNvSpPr/>
          <p:nvPr/>
        </p:nvSpPr>
        <p:spPr>
          <a:xfrm>
            <a:off x="10834254" y="-12701"/>
            <a:ext cx="1468583" cy="457200"/>
          </a:xfrm>
          <a:prstGeom prst="rect">
            <a:avLst/>
          </a:prstGeom>
          <a:solidFill>
            <a:srgbClr val="00CC99"/>
          </a:solidFill>
          <a:ln>
            <a:solidFill>
              <a:srgbClr val="00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latin typeface="Bahnschrift SemiBold" pitchFamily="34" charset="0"/>
              </a:rPr>
              <a:t>Remark</a:t>
            </a:r>
            <a:endParaRPr lang="en-IN" sz="2000" dirty="0">
              <a:latin typeface="Bahnschrift SemiBold" pitchFamily="34" charset="0"/>
            </a:endParaRPr>
          </a:p>
        </p:txBody>
      </p:sp>
    </p:spTree>
    <p:extLst>
      <p:ext uri="{BB962C8B-B14F-4D97-AF65-F5344CB8AC3E}">
        <p14:creationId xmlns:p14="http://schemas.microsoft.com/office/powerpoint/2010/main" val="31391950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18" name="Rectangle 3"/>
          <p:cNvSpPr>
            <a:spLocks noChangeArrowheads="1"/>
          </p:cNvSpPr>
          <p:nvPr/>
        </p:nvSpPr>
        <p:spPr bwMode="auto">
          <a:xfrm>
            <a:off x="1316181" y="232553"/>
            <a:ext cx="11055927"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Arial Rounded MT Bold" pitchFamily="34" charset="0"/>
                <a:ea typeface="Cambria Math" pitchFamily="18" charset="0"/>
                <a:cs typeface="Arial" pitchFamily="34" charset="0"/>
              </a:rPr>
              <a:t>So what are tools</a:t>
            </a:r>
            <a:endParaRPr kumimoji="0" lang="en-US" b="0" i="0" u="none" strike="noStrike" cap="none" normalizeH="0" baseline="0" dirty="0" smtClean="0">
              <a:ln>
                <a:noFill/>
              </a:ln>
              <a:solidFill>
                <a:schemeClr val="tx1"/>
              </a:solidFill>
              <a:effectLst/>
              <a:latin typeface="Arial Rounded MT Bold" pitchFamily="34" charset="0"/>
              <a:ea typeface="Cambria Math"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mbria Math" pitchFamily="18" charset="0"/>
                <a:ea typeface="Cambria Math" pitchFamily="18" charset="0"/>
                <a:cs typeface="Arial" pitchFamily="34" charset="0"/>
              </a:rPr>
              <a:t>Tools is mechanism which helps to give hands and legs to llm .</a:t>
            </a:r>
            <a:endParaRPr kumimoji="0" lang="en-US" sz="2800" b="0" i="0" u="none" strike="noStrike" cap="none" normalizeH="0" baseline="0" dirty="0" smtClean="0">
              <a:ln>
                <a:noFill/>
              </a:ln>
              <a:solidFill>
                <a:schemeClr val="tx1"/>
              </a:solidFill>
              <a:effectLst/>
              <a:latin typeface="Cambria Math" pitchFamily="18" charset="0"/>
              <a:ea typeface="Cambria Math" pitchFamily="18" charset="0"/>
              <a:cs typeface="Arial" pitchFamily="34" charset="0"/>
            </a:endParaRPr>
          </a:p>
        </p:txBody>
      </p:sp>
      <p:grpSp>
        <p:nvGrpSpPr>
          <p:cNvPr id="21" name="Group 20"/>
          <p:cNvGrpSpPr/>
          <p:nvPr/>
        </p:nvGrpSpPr>
        <p:grpSpPr>
          <a:xfrm>
            <a:off x="2078182" y="1161935"/>
            <a:ext cx="6497782" cy="4408588"/>
            <a:chOff x="1704109" y="1554167"/>
            <a:chExt cx="6497782" cy="4408588"/>
          </a:xfrm>
        </p:grpSpPr>
        <p:grpSp>
          <p:nvGrpSpPr>
            <p:cNvPr id="13" name="Group 12"/>
            <p:cNvGrpSpPr/>
            <p:nvPr/>
          </p:nvGrpSpPr>
          <p:grpSpPr>
            <a:xfrm>
              <a:off x="3408218" y="1554167"/>
              <a:ext cx="4793673" cy="2854037"/>
              <a:chOff x="3643745" y="750603"/>
              <a:chExt cx="4793673" cy="2854037"/>
            </a:xfrm>
          </p:grpSpPr>
          <p:sp>
            <p:nvSpPr>
              <p:cNvPr id="2" name="Rectangle 1"/>
              <p:cNvSpPr/>
              <p:nvPr/>
            </p:nvSpPr>
            <p:spPr>
              <a:xfrm>
                <a:off x="5347855" y="750603"/>
                <a:ext cx="914400" cy="9144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Cambria Math" pitchFamily="18" charset="0"/>
                    <a:ea typeface="Cambria Math" pitchFamily="18" charset="0"/>
                  </a:rPr>
                  <a:t>Tools</a:t>
                </a:r>
                <a:endParaRPr lang="en-IN" sz="1600" dirty="0">
                  <a:latin typeface="Cambria Math" pitchFamily="18" charset="0"/>
                  <a:ea typeface="Cambria Math" pitchFamily="18" charset="0"/>
                </a:endParaRPr>
              </a:p>
            </p:txBody>
          </p:sp>
          <p:sp>
            <p:nvSpPr>
              <p:cNvPr id="9" name="Rectangle 8"/>
              <p:cNvSpPr/>
              <p:nvPr/>
            </p:nvSpPr>
            <p:spPr>
              <a:xfrm>
                <a:off x="6705600" y="2690240"/>
                <a:ext cx="1731818" cy="9144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Cambria Math" pitchFamily="18" charset="0"/>
                    <a:ea typeface="Cambria Math" pitchFamily="18" charset="0"/>
                  </a:rPr>
                  <a:t>Custom Tools</a:t>
                </a:r>
                <a:endParaRPr lang="en-IN" sz="1600" dirty="0">
                  <a:latin typeface="Cambria Math" pitchFamily="18" charset="0"/>
                  <a:ea typeface="Cambria Math" pitchFamily="18" charset="0"/>
                </a:endParaRPr>
              </a:p>
            </p:txBody>
          </p:sp>
          <p:sp>
            <p:nvSpPr>
              <p:cNvPr id="10" name="Rectangle 9"/>
              <p:cNvSpPr/>
              <p:nvPr/>
            </p:nvSpPr>
            <p:spPr>
              <a:xfrm>
                <a:off x="3643745" y="2690240"/>
                <a:ext cx="1704110" cy="9144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Cambria Math" pitchFamily="18" charset="0"/>
                    <a:ea typeface="Cambria Math" pitchFamily="18" charset="0"/>
                  </a:rPr>
                  <a:t>Built in Tools</a:t>
                </a:r>
                <a:endParaRPr lang="en-IN" sz="1600" dirty="0">
                  <a:latin typeface="Cambria Math" pitchFamily="18" charset="0"/>
                  <a:ea typeface="Cambria Math" pitchFamily="18" charset="0"/>
                </a:endParaRPr>
              </a:p>
            </p:txBody>
          </p:sp>
          <p:cxnSp>
            <p:nvCxnSpPr>
              <p:cNvPr id="5" name="Straight Arrow Connector 4"/>
              <p:cNvCxnSpPr>
                <a:stCxn id="2" idx="2"/>
              </p:cNvCxnSpPr>
              <p:nvPr/>
            </p:nvCxnSpPr>
            <p:spPr>
              <a:xfrm flipH="1">
                <a:off x="4613564" y="1665003"/>
                <a:ext cx="1191491" cy="898088"/>
              </a:xfrm>
              <a:prstGeom prst="straightConnector1">
                <a:avLst/>
              </a:prstGeom>
              <a:ln>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2" idx="2"/>
              </p:cNvCxnSpPr>
              <p:nvPr/>
            </p:nvCxnSpPr>
            <p:spPr>
              <a:xfrm>
                <a:off x="5805055" y="1665003"/>
                <a:ext cx="1246909" cy="898088"/>
              </a:xfrm>
              <a:prstGeom prst="straightConnector1">
                <a:avLst/>
              </a:prstGeom>
              <a:ln>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1704109" y="5377980"/>
              <a:ext cx="5389418" cy="584775"/>
            </a:xfrm>
            <a:prstGeom prst="rect">
              <a:avLst/>
            </a:prstGeom>
            <a:ln>
              <a:solidFill>
                <a:srgbClr val="92D050"/>
              </a:solidFill>
            </a:ln>
          </p:spPr>
          <p:txBody>
            <a:bodyPr wrap="square">
              <a:spAutoFit/>
            </a:bodyPr>
            <a:lstStyle/>
            <a:p>
              <a:r>
                <a:rPr lang="en-US" sz="1600" dirty="0">
                  <a:latin typeface="Cambria Math" pitchFamily="18" charset="0"/>
                  <a:ea typeface="Cambria Math" pitchFamily="18" charset="0"/>
                </a:rPr>
                <a:t>Many the task which is required for </a:t>
              </a:r>
              <a:r>
                <a:rPr lang="en-US" sz="1600" dirty="0" smtClean="0">
                  <a:latin typeface="Cambria Math" pitchFamily="18" charset="0"/>
                  <a:ea typeface="Cambria Math" pitchFamily="18" charset="0"/>
                </a:rPr>
                <a:t>everyone(built-in)</a:t>
              </a:r>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Google Search,Wikipedia,Run Command line tool</a:t>
              </a:r>
              <a:endParaRPr lang="en-IN" sz="1600" dirty="0">
                <a:latin typeface="Cambria Math" pitchFamily="18" charset="0"/>
                <a:ea typeface="Cambria Math" pitchFamily="18" charset="0"/>
              </a:endParaRPr>
            </a:p>
          </p:txBody>
        </p:sp>
        <p:cxnSp>
          <p:nvCxnSpPr>
            <p:cNvPr id="20" name="Straight Arrow Connector 19"/>
            <p:cNvCxnSpPr>
              <a:stCxn id="10" idx="2"/>
            </p:cNvCxnSpPr>
            <p:nvPr/>
          </p:nvCxnSpPr>
          <p:spPr>
            <a:xfrm flipH="1">
              <a:off x="3089564" y="4408204"/>
              <a:ext cx="1170709" cy="969776"/>
            </a:xfrm>
            <a:prstGeom prst="straightConnector1">
              <a:avLst/>
            </a:prstGeom>
            <a:ln>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896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3" name="Rectangle 2"/>
          <p:cNvSpPr/>
          <p:nvPr/>
        </p:nvSpPr>
        <p:spPr>
          <a:xfrm>
            <a:off x="1822128" y="771472"/>
            <a:ext cx="9829545" cy="584775"/>
          </a:xfrm>
          <a:prstGeom prst="rect">
            <a:avLst/>
          </a:prstGeom>
        </p:spPr>
        <p:txBody>
          <a:bodyPr wrap="square">
            <a:spAutoFit/>
          </a:bodyPr>
          <a:lstStyle/>
          <a:p>
            <a:r>
              <a:rPr lang="en-US" sz="1600" dirty="0"/>
              <a:t>An Al agent is an LLM-powered system that can autonomously think, decide, and take actions using external tools or APIs to achieve a goal.</a:t>
            </a:r>
            <a:endParaRPr lang="en-IN" sz="1600" dirty="0"/>
          </a:p>
        </p:txBody>
      </p:sp>
      <p:grpSp>
        <p:nvGrpSpPr>
          <p:cNvPr id="1024" name="Group 1023"/>
          <p:cNvGrpSpPr/>
          <p:nvPr/>
        </p:nvGrpSpPr>
        <p:grpSpPr>
          <a:xfrm>
            <a:off x="2587719" y="1475570"/>
            <a:ext cx="6920132" cy="2392217"/>
            <a:chOff x="2722651" y="1910315"/>
            <a:chExt cx="6920132" cy="2392217"/>
          </a:xfrm>
        </p:grpSpPr>
        <p:grpSp>
          <p:nvGrpSpPr>
            <p:cNvPr id="27" name="Group 26"/>
            <p:cNvGrpSpPr/>
            <p:nvPr/>
          </p:nvGrpSpPr>
          <p:grpSpPr>
            <a:xfrm>
              <a:off x="2722651" y="1910315"/>
              <a:ext cx="6920132" cy="2392217"/>
              <a:chOff x="2891700" y="1907088"/>
              <a:chExt cx="8160328" cy="2923310"/>
            </a:xfrm>
          </p:grpSpPr>
          <p:grpSp>
            <p:nvGrpSpPr>
              <p:cNvPr id="10" name="Group 9"/>
              <p:cNvGrpSpPr/>
              <p:nvPr/>
            </p:nvGrpSpPr>
            <p:grpSpPr>
              <a:xfrm>
                <a:off x="2891700" y="1907088"/>
                <a:ext cx="8160328" cy="2923310"/>
                <a:chOff x="2891700" y="1907088"/>
                <a:chExt cx="8160328" cy="2923310"/>
              </a:xfrm>
            </p:grpSpPr>
            <p:sp>
              <p:nvSpPr>
                <p:cNvPr id="5" name="Rectangle 4"/>
                <p:cNvSpPr/>
                <p:nvPr/>
              </p:nvSpPr>
              <p:spPr>
                <a:xfrm>
                  <a:off x="2891700" y="1907088"/>
                  <a:ext cx="8160328" cy="2923310"/>
                </a:xfrm>
                <a:prstGeom prst="rect">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p:cNvSpPr txBox="1"/>
                <p:nvPr/>
              </p:nvSpPr>
              <p:spPr>
                <a:xfrm>
                  <a:off x="6072641" y="1924849"/>
                  <a:ext cx="674736" cy="338554"/>
                </a:xfrm>
                <a:prstGeom prst="rect">
                  <a:avLst/>
                </a:prstGeom>
                <a:noFill/>
              </p:spPr>
              <p:txBody>
                <a:bodyPr wrap="none" rtlCol="0">
                  <a:spAutoFit/>
                </a:bodyPr>
                <a:lstStyle/>
                <a:p>
                  <a:r>
                    <a:rPr lang="en-US" sz="1600" dirty="0" smtClean="0"/>
                    <a:t>Agent</a:t>
                  </a:r>
                  <a:endParaRPr lang="en-IN" sz="1600" dirty="0"/>
                </a:p>
              </p:txBody>
            </p:sp>
          </p:grpSp>
          <p:grpSp>
            <p:nvGrpSpPr>
              <p:cNvPr id="14" name="Group 13"/>
              <p:cNvGrpSpPr/>
              <p:nvPr/>
            </p:nvGrpSpPr>
            <p:grpSpPr>
              <a:xfrm>
                <a:off x="3748646" y="2729345"/>
                <a:ext cx="2764673" cy="1757761"/>
                <a:chOff x="3748646" y="2729345"/>
                <a:chExt cx="2764673" cy="1757761"/>
              </a:xfrm>
            </p:grpSpPr>
            <p:sp>
              <p:nvSpPr>
                <p:cNvPr id="11" name="Rectangle 10"/>
                <p:cNvSpPr/>
                <p:nvPr/>
              </p:nvSpPr>
              <p:spPr>
                <a:xfrm>
                  <a:off x="3748646" y="2729345"/>
                  <a:ext cx="2764673" cy="1371600"/>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Cambria Math" pitchFamily="18" charset="0"/>
                      <a:ea typeface="Cambria Math" pitchFamily="18" charset="0"/>
                    </a:rPr>
                    <a:t>Reasoning &amp;</a:t>
                  </a:r>
                </a:p>
                <a:p>
                  <a:pPr algn="ctr"/>
                  <a:r>
                    <a:rPr lang="en-US" sz="1600" dirty="0" smtClean="0">
                      <a:solidFill>
                        <a:schemeClr val="tx1"/>
                      </a:solidFill>
                      <a:latin typeface="Cambria Math" pitchFamily="18" charset="0"/>
                      <a:ea typeface="Cambria Math" pitchFamily="18" charset="0"/>
                    </a:rPr>
                    <a:t>  Decision making</a:t>
                  </a:r>
                  <a:endParaRPr lang="en-IN" sz="1600" dirty="0">
                    <a:solidFill>
                      <a:schemeClr val="tx1"/>
                    </a:solidFill>
                    <a:latin typeface="Cambria Math" pitchFamily="18" charset="0"/>
                    <a:ea typeface="Cambria Math" pitchFamily="18" charset="0"/>
                  </a:endParaRPr>
                </a:p>
              </p:txBody>
            </p:sp>
            <p:sp>
              <p:nvSpPr>
                <p:cNvPr id="12" name="TextBox 11"/>
                <p:cNvSpPr txBox="1"/>
                <p:nvPr/>
              </p:nvSpPr>
              <p:spPr>
                <a:xfrm>
                  <a:off x="5806382" y="4148552"/>
                  <a:ext cx="532518" cy="338554"/>
                </a:xfrm>
                <a:prstGeom prst="rect">
                  <a:avLst/>
                </a:prstGeom>
                <a:noFill/>
              </p:spPr>
              <p:txBody>
                <a:bodyPr wrap="none" rtlCol="0">
                  <a:spAutoFit/>
                </a:bodyPr>
                <a:lstStyle/>
                <a:p>
                  <a:r>
                    <a:rPr lang="en-US" sz="1600" dirty="0" smtClean="0"/>
                    <a:t>LLM</a:t>
                  </a:r>
                  <a:endParaRPr lang="en-IN" sz="1600" dirty="0"/>
                </a:p>
              </p:txBody>
            </p:sp>
          </p:grpSp>
          <p:grpSp>
            <p:nvGrpSpPr>
              <p:cNvPr id="26" name="Group 25"/>
              <p:cNvGrpSpPr/>
              <p:nvPr/>
            </p:nvGrpSpPr>
            <p:grpSpPr>
              <a:xfrm>
                <a:off x="6747377" y="2750125"/>
                <a:ext cx="3112627" cy="1736981"/>
                <a:chOff x="6747377" y="2750125"/>
                <a:chExt cx="3112627" cy="1736981"/>
              </a:xfrm>
            </p:grpSpPr>
            <p:sp>
              <p:nvSpPr>
                <p:cNvPr id="13" name="Rectangle 12"/>
                <p:cNvSpPr/>
                <p:nvPr/>
              </p:nvSpPr>
              <p:spPr>
                <a:xfrm>
                  <a:off x="6747377" y="2750125"/>
                  <a:ext cx="3112627" cy="1364674"/>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Cambria Math" pitchFamily="18" charset="0"/>
                      <a:ea typeface="Cambria Math" pitchFamily="18" charset="0"/>
                    </a:rPr>
                    <a:t>Action</a:t>
                  </a:r>
                  <a:endParaRPr lang="en-IN" sz="1600" dirty="0">
                    <a:solidFill>
                      <a:schemeClr val="tx1"/>
                    </a:solidFill>
                    <a:latin typeface="Cambria Math" pitchFamily="18" charset="0"/>
                    <a:ea typeface="Cambria Math" pitchFamily="18" charset="0"/>
                  </a:endParaRPr>
                </a:p>
              </p:txBody>
            </p:sp>
            <p:sp>
              <p:nvSpPr>
                <p:cNvPr id="16" name="TextBox 15"/>
                <p:cNvSpPr txBox="1"/>
                <p:nvPr/>
              </p:nvSpPr>
              <p:spPr>
                <a:xfrm>
                  <a:off x="7177545" y="4148552"/>
                  <a:ext cx="610488" cy="338554"/>
                </a:xfrm>
                <a:prstGeom prst="rect">
                  <a:avLst/>
                </a:prstGeom>
                <a:noFill/>
              </p:spPr>
              <p:txBody>
                <a:bodyPr wrap="none" rtlCol="0">
                  <a:spAutoFit/>
                </a:bodyPr>
                <a:lstStyle/>
                <a:p>
                  <a:r>
                    <a:rPr lang="en-US" sz="1600" dirty="0" smtClean="0"/>
                    <a:t>Tools</a:t>
                  </a:r>
                  <a:endParaRPr lang="en-IN" sz="1600" dirty="0"/>
                </a:p>
              </p:txBody>
            </p:sp>
          </p:grpSp>
          <p:cxnSp>
            <p:nvCxnSpPr>
              <p:cNvPr id="24" name="Straight Connector 23"/>
              <p:cNvCxnSpPr/>
              <p:nvPr/>
            </p:nvCxnSpPr>
            <p:spPr>
              <a:xfrm flipV="1">
                <a:off x="6410009" y="4299136"/>
                <a:ext cx="402742" cy="1869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0" name="Straight Connector 29"/>
            <p:cNvCxnSpPr/>
            <p:nvPr/>
          </p:nvCxnSpPr>
          <p:spPr>
            <a:xfrm>
              <a:off x="5849299" y="3729264"/>
              <a:ext cx="0" cy="27704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034" name="Group 1033"/>
          <p:cNvGrpSpPr/>
          <p:nvPr/>
        </p:nvGrpSpPr>
        <p:grpSpPr>
          <a:xfrm>
            <a:off x="1384234" y="309899"/>
            <a:ext cx="4608113" cy="369332"/>
            <a:chOff x="1384234" y="309899"/>
            <a:chExt cx="4608113" cy="369332"/>
          </a:xfrm>
        </p:grpSpPr>
        <p:sp>
          <p:nvSpPr>
            <p:cNvPr id="2" name="Rectangle 1"/>
            <p:cNvSpPr/>
            <p:nvPr/>
          </p:nvSpPr>
          <p:spPr>
            <a:xfrm>
              <a:off x="1384234" y="309899"/>
              <a:ext cx="4322017" cy="369332"/>
            </a:xfrm>
            <a:prstGeom prst="rect">
              <a:avLst/>
            </a:prstGeom>
          </p:spPr>
          <p:txBody>
            <a:bodyPr wrap="none">
              <a:spAutoFit/>
            </a:bodyPr>
            <a:lstStyle/>
            <a:p>
              <a:r>
                <a:rPr lang="en-US" dirty="0">
                  <a:solidFill>
                    <a:srgbClr val="00D05E"/>
                  </a:solidFill>
                  <a:latin typeface="Bahnschrift SemiBold" pitchFamily="34" charset="0"/>
                  <a:ea typeface="Cambria Math" pitchFamily="18" charset="0"/>
                </a:rPr>
                <a:t>How Tools fits into the Agent ecosystem</a:t>
              </a:r>
              <a:endParaRPr lang="en-IN" dirty="0">
                <a:solidFill>
                  <a:srgbClr val="00D05E"/>
                </a:solidFill>
                <a:latin typeface="Bahnschrift SemiBold" pitchFamily="34" charset="0"/>
                <a:ea typeface="Cambria Math" pitchFamily="18" charset="0"/>
              </a:endParaRPr>
            </a:p>
          </p:txBody>
        </p:sp>
        <p:cxnSp>
          <p:nvCxnSpPr>
            <p:cNvPr id="1033" name="Straight Connector 1032"/>
            <p:cNvCxnSpPr/>
            <p:nvPr/>
          </p:nvCxnSpPr>
          <p:spPr>
            <a:xfrm>
              <a:off x="1496291" y="679231"/>
              <a:ext cx="4496056" cy="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grpSp>
      <p:sp>
        <p:nvSpPr>
          <p:cNvPr id="1036" name="Rectangle 1035"/>
          <p:cNvSpPr/>
          <p:nvPr/>
        </p:nvSpPr>
        <p:spPr>
          <a:xfrm>
            <a:off x="2587718" y="5758935"/>
            <a:ext cx="6078908" cy="369332"/>
          </a:xfrm>
          <a:prstGeom prst="rect">
            <a:avLst/>
          </a:prstGeom>
        </p:spPr>
        <p:txBody>
          <a:bodyPr wrap="none">
            <a:spAutoFit/>
          </a:bodyPr>
          <a:lstStyle/>
          <a:p>
            <a:r>
              <a:rPr lang="en-US" dirty="0">
                <a:solidFill>
                  <a:srgbClr val="002060"/>
                </a:solidFill>
                <a:latin typeface="Bahnschrift SemiBold" pitchFamily="34" charset="0"/>
                <a:ea typeface="Cambria Math" pitchFamily="18" charset="0"/>
              </a:rPr>
              <a:t>in nutshell the marriage of llm and tools ,we called agent</a:t>
            </a:r>
            <a:endParaRPr lang="en-IN" dirty="0">
              <a:solidFill>
                <a:srgbClr val="002060"/>
              </a:solidFill>
              <a:latin typeface="Bahnschrift SemiBold" pitchFamily="34" charset="0"/>
              <a:ea typeface="Cambria Math" pitchFamily="18" charset="0"/>
            </a:endParaRPr>
          </a:p>
        </p:txBody>
      </p:sp>
      <p:grpSp>
        <p:nvGrpSpPr>
          <p:cNvPr id="1042" name="Group 1041"/>
          <p:cNvGrpSpPr/>
          <p:nvPr/>
        </p:nvGrpSpPr>
        <p:grpSpPr>
          <a:xfrm>
            <a:off x="3741773" y="3992477"/>
            <a:ext cx="4022735" cy="1687886"/>
            <a:chOff x="3741773" y="3992477"/>
            <a:chExt cx="4022735" cy="1687886"/>
          </a:xfrm>
        </p:grpSpPr>
        <p:sp>
          <p:nvSpPr>
            <p:cNvPr id="1037" name="Oval 1036"/>
            <p:cNvSpPr/>
            <p:nvPr/>
          </p:nvSpPr>
          <p:spPr>
            <a:xfrm>
              <a:off x="3741773" y="3992477"/>
              <a:ext cx="2021717" cy="1687886"/>
            </a:xfrm>
            <a:prstGeom prst="ellipse">
              <a:avLst/>
            </a:prstGeom>
            <a:solidFill>
              <a:srgbClr val="00206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LLM</a:t>
              </a:r>
            </a:p>
            <a:p>
              <a:pPr algn="ctr"/>
              <a:r>
                <a:rPr lang="en-US" sz="1400" dirty="0" smtClean="0">
                  <a:latin typeface="Bahnschrift SemiBold" pitchFamily="34" charset="0"/>
                </a:rPr>
                <a:t>Weds</a:t>
              </a:r>
            </a:p>
            <a:p>
              <a:pPr algn="ctr"/>
              <a:r>
                <a:rPr lang="en-US" dirty="0" smtClean="0">
                  <a:latin typeface="Bahnschrift SemiBold" pitchFamily="34" charset="0"/>
                </a:rPr>
                <a:t>Tools</a:t>
              </a:r>
              <a:endParaRPr lang="en-IN" dirty="0">
                <a:latin typeface="Bahnschrift SemiBold" pitchFamily="34" charset="0"/>
              </a:endParaRPr>
            </a:p>
          </p:txBody>
        </p:sp>
        <p:cxnSp>
          <p:nvCxnSpPr>
            <p:cNvPr id="1039" name="Straight Arrow Connector 1038"/>
            <p:cNvCxnSpPr/>
            <p:nvPr/>
          </p:nvCxnSpPr>
          <p:spPr>
            <a:xfrm>
              <a:off x="5714367" y="4836420"/>
              <a:ext cx="1264348" cy="0"/>
            </a:xfrm>
            <a:prstGeom prst="straightConnector1">
              <a:avLst/>
            </a:prstGeom>
            <a:ln w="28575">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1041" name="TextBox 1040"/>
            <p:cNvSpPr txBox="1"/>
            <p:nvPr/>
          </p:nvSpPr>
          <p:spPr>
            <a:xfrm>
              <a:off x="6978715" y="4651754"/>
              <a:ext cx="785793" cy="369332"/>
            </a:xfrm>
            <a:prstGeom prst="rect">
              <a:avLst/>
            </a:prstGeom>
            <a:noFill/>
          </p:spPr>
          <p:txBody>
            <a:bodyPr wrap="none" rtlCol="0">
              <a:spAutoFit/>
            </a:bodyPr>
            <a:lstStyle/>
            <a:p>
              <a:r>
                <a:rPr lang="en-US" dirty="0" smtClean="0">
                  <a:solidFill>
                    <a:srgbClr val="002060"/>
                  </a:solidFill>
                  <a:latin typeface="Bahnschrift SemiBold" pitchFamily="34" charset="0"/>
                </a:rPr>
                <a:t>Agent</a:t>
              </a:r>
              <a:endParaRPr lang="en-IN" dirty="0">
                <a:solidFill>
                  <a:srgbClr val="002060"/>
                </a:solidFill>
                <a:latin typeface="Bahnschrift SemiBold" pitchFamily="34" charset="0"/>
              </a:endParaRPr>
            </a:p>
          </p:txBody>
        </p:sp>
      </p:grpSp>
    </p:spTree>
    <p:extLst>
      <p:ext uri="{BB962C8B-B14F-4D97-AF65-F5344CB8AC3E}">
        <p14:creationId xmlns:p14="http://schemas.microsoft.com/office/powerpoint/2010/main" val="10688282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9" name="Rectangle 8"/>
          <p:cNvSpPr/>
          <p:nvPr/>
        </p:nvSpPr>
        <p:spPr>
          <a:xfrm>
            <a:off x="1590777" y="330952"/>
            <a:ext cx="1569660" cy="369332"/>
          </a:xfrm>
          <a:prstGeom prst="rect">
            <a:avLst/>
          </a:prstGeom>
        </p:spPr>
        <p:txBody>
          <a:bodyPr wrap="none">
            <a:spAutoFit/>
          </a:bodyPr>
          <a:lstStyle/>
          <a:p>
            <a:r>
              <a:rPr lang="en-IN" dirty="0">
                <a:solidFill>
                  <a:srgbClr val="00D05E"/>
                </a:solidFill>
                <a:latin typeface="Bahnschrift SemiBold" pitchFamily="34" charset="0"/>
              </a:rPr>
              <a:t>Built-in Tools</a:t>
            </a:r>
          </a:p>
        </p:txBody>
      </p:sp>
      <p:cxnSp>
        <p:nvCxnSpPr>
          <p:cNvPr id="10" name="Straight Connector 9"/>
          <p:cNvCxnSpPr/>
          <p:nvPr/>
        </p:nvCxnSpPr>
        <p:spPr>
          <a:xfrm>
            <a:off x="1496291" y="679231"/>
            <a:ext cx="4496056" cy="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842655" y="822338"/>
            <a:ext cx="9518072" cy="584775"/>
          </a:xfrm>
          <a:prstGeom prst="rect">
            <a:avLst/>
          </a:prstGeom>
        </p:spPr>
        <p:txBody>
          <a:bodyPr wrap="square">
            <a:spAutoFit/>
          </a:bodyPr>
          <a:lstStyle/>
          <a:p>
            <a:r>
              <a:rPr lang="en-US" sz="1600" dirty="0">
                <a:latin typeface="Cambria Math" pitchFamily="18" charset="0"/>
                <a:ea typeface="Cambria Math" pitchFamily="18" charset="0"/>
              </a:rPr>
              <a:t>A built-in tool is a tool that LangChain already provides for you -it's pre-built, production- ready, and requires minimal or no setup.</a:t>
            </a:r>
            <a:endParaRPr lang="en-IN" sz="1600" dirty="0">
              <a:latin typeface="Cambria Math" pitchFamily="18" charset="0"/>
              <a:ea typeface="Cambria Math" pitchFamily="18" charset="0"/>
            </a:endParaRPr>
          </a:p>
        </p:txBody>
      </p:sp>
      <p:sp>
        <p:nvSpPr>
          <p:cNvPr id="12" name="Rectangle 11"/>
          <p:cNvSpPr/>
          <p:nvPr/>
        </p:nvSpPr>
        <p:spPr>
          <a:xfrm>
            <a:off x="1842654" y="1734235"/>
            <a:ext cx="7813963" cy="338554"/>
          </a:xfrm>
          <a:prstGeom prst="rect">
            <a:avLst/>
          </a:prstGeom>
        </p:spPr>
        <p:txBody>
          <a:bodyPr wrap="square">
            <a:spAutoFit/>
          </a:bodyPr>
          <a:lstStyle/>
          <a:p>
            <a:r>
              <a:rPr lang="en-US" sz="1600" dirty="0">
                <a:latin typeface="Cambria Math" pitchFamily="18" charset="0"/>
                <a:ea typeface="Cambria Math" pitchFamily="18" charset="0"/>
              </a:rPr>
              <a:t>You don't have to write the function logic yourself - you just import and use it.</a:t>
            </a:r>
            <a:endParaRPr lang="en-IN" sz="1600" dirty="0">
              <a:latin typeface="Cambria Math" pitchFamily="18" charset="0"/>
              <a:ea typeface="Cambria Math"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1961002793"/>
              </p:ext>
            </p:extLst>
          </p:nvPr>
        </p:nvGraphicFramePr>
        <p:xfrm>
          <a:off x="1928347" y="2520757"/>
          <a:ext cx="7146380" cy="2225040"/>
        </p:xfrm>
        <a:graphic>
          <a:graphicData uri="http://schemas.openxmlformats.org/drawingml/2006/table">
            <a:tbl>
              <a:tblPr firstRow="1" bandRow="1">
                <a:tableStyleId>{2D5ABB26-0587-4C30-8999-92F81FD0307C}</a:tableStyleId>
              </a:tblPr>
              <a:tblGrid>
                <a:gridCol w="2945627"/>
                <a:gridCol w="4200753"/>
              </a:tblGrid>
              <a:tr h="370840">
                <a:tc>
                  <a:txBody>
                    <a:bodyPr/>
                    <a:lstStyle/>
                    <a:p>
                      <a:r>
                        <a:rPr lang="en-IN" sz="1600" dirty="0" smtClean="0">
                          <a:latin typeface="Cambria Math" pitchFamily="18" charset="0"/>
                          <a:ea typeface="Cambria Math" pitchFamily="18" charset="0"/>
                        </a:rPr>
                        <a:t>DuckDuckGoSearchRun</a:t>
                      </a:r>
                      <a:endParaRPr lang="en-IN" sz="1600" dirty="0">
                        <a:latin typeface="Cambria Math" pitchFamily="18" charset="0"/>
                        <a:ea typeface="Cambria Math" pitchFamily="18" charset="0"/>
                      </a:endParaRPr>
                    </a:p>
                  </a:txBody>
                  <a:tcPr/>
                </a:tc>
                <a:tc>
                  <a:txBody>
                    <a:bodyPr/>
                    <a:lstStyle/>
                    <a:p>
                      <a:r>
                        <a:rPr lang="en-IN" sz="1600" dirty="0" smtClean="0">
                          <a:latin typeface="Cambria Math" pitchFamily="18" charset="0"/>
                          <a:ea typeface="Cambria Math" pitchFamily="18" charset="0"/>
                        </a:rPr>
                        <a:t>Web search via DuckDuckGo</a:t>
                      </a:r>
                      <a:endParaRPr lang="en-IN" sz="1600" dirty="0">
                        <a:latin typeface="Cambria Math" pitchFamily="18" charset="0"/>
                        <a:ea typeface="Cambria Math" pitchFamily="18" charset="0"/>
                      </a:endParaRPr>
                    </a:p>
                  </a:txBody>
                  <a:tcPr/>
                </a:tc>
              </a:tr>
              <a:tr h="370840">
                <a:tc>
                  <a:txBody>
                    <a:bodyPr/>
                    <a:lstStyle/>
                    <a:p>
                      <a:r>
                        <a:rPr lang="en-IN" sz="1600" dirty="0" smtClean="0">
                          <a:latin typeface="Cambria Math" pitchFamily="18" charset="0"/>
                          <a:ea typeface="Cambria Math" pitchFamily="18" charset="0"/>
                        </a:rPr>
                        <a:t>WikipedQueryRun</a:t>
                      </a:r>
                      <a:endParaRPr lang="en-IN" sz="1600" dirty="0">
                        <a:latin typeface="Cambria Math" pitchFamily="18" charset="0"/>
                        <a:ea typeface="Cambria Math" pitchFamily="18" charset="0"/>
                      </a:endParaRPr>
                    </a:p>
                  </a:txBody>
                  <a:tcPr/>
                </a:tc>
                <a:tc>
                  <a:txBody>
                    <a:bodyPr/>
                    <a:lstStyle/>
                    <a:p>
                      <a:r>
                        <a:rPr lang="en-IN" sz="1600" dirty="0" smtClean="0">
                          <a:latin typeface="Cambria Math" pitchFamily="18" charset="0"/>
                          <a:ea typeface="Cambria Math" pitchFamily="18" charset="0"/>
                        </a:rPr>
                        <a:t>Wikipedia summary</a:t>
                      </a:r>
                      <a:endParaRPr lang="en-IN" sz="1600" dirty="0">
                        <a:latin typeface="Cambria Math" pitchFamily="18" charset="0"/>
                        <a:ea typeface="Cambria Math" pitchFamily="18" charset="0"/>
                      </a:endParaRPr>
                    </a:p>
                  </a:txBody>
                  <a:tcPr/>
                </a:tc>
              </a:tr>
              <a:tr h="370840">
                <a:tc>
                  <a:txBody>
                    <a:bodyPr/>
                    <a:lstStyle/>
                    <a:p>
                      <a:r>
                        <a:rPr lang="en-IN" sz="1600" dirty="0" smtClean="0">
                          <a:latin typeface="Cambria Math" pitchFamily="18" charset="0"/>
                          <a:ea typeface="Cambria Math" pitchFamily="18" charset="0"/>
                        </a:rPr>
                        <a:t>ShellTool</a:t>
                      </a:r>
                      <a:endParaRPr lang="en-IN" sz="1600" dirty="0">
                        <a:latin typeface="Cambria Math" pitchFamily="18" charset="0"/>
                        <a:ea typeface="Cambria Math" pitchFamily="18" charset="0"/>
                      </a:endParaRPr>
                    </a:p>
                  </a:txBody>
                  <a:tcPr/>
                </a:tc>
                <a:tc>
                  <a:txBody>
                    <a:bodyPr/>
                    <a:lstStyle/>
                    <a:p>
                      <a:r>
                        <a:rPr lang="en-IN" sz="1600" dirty="0" smtClean="0">
                          <a:latin typeface="Cambria Math" pitchFamily="18" charset="0"/>
                          <a:ea typeface="Cambria Math" pitchFamily="18" charset="0"/>
                        </a:rPr>
                        <a:t>Run shell commands</a:t>
                      </a:r>
                      <a:endParaRPr lang="en-IN" sz="1600" dirty="0">
                        <a:latin typeface="Cambria Math" pitchFamily="18" charset="0"/>
                        <a:ea typeface="Cambria Math" pitchFamily="18" charset="0"/>
                      </a:endParaRPr>
                    </a:p>
                  </a:txBody>
                  <a:tcPr/>
                </a:tc>
              </a:tr>
              <a:tr h="370840">
                <a:tc>
                  <a:txBody>
                    <a:bodyPr/>
                    <a:lstStyle/>
                    <a:p>
                      <a:r>
                        <a:rPr lang="en-US" sz="1600" dirty="0" smtClean="0">
                          <a:latin typeface="Cambria Math" pitchFamily="18" charset="0"/>
                          <a:ea typeface="Cambria Math" pitchFamily="18" charset="0"/>
                        </a:rPr>
                        <a:t>RequestsGetTool</a:t>
                      </a:r>
                      <a:endParaRPr lang="en-IN" sz="1600" dirty="0">
                        <a:latin typeface="Cambria Math" pitchFamily="18" charset="0"/>
                        <a:ea typeface="Cambria Math" pitchFamily="18" charset="0"/>
                      </a:endParaRPr>
                    </a:p>
                  </a:txBody>
                  <a:tcPr/>
                </a:tc>
                <a:tc>
                  <a:txBody>
                    <a:bodyPr/>
                    <a:lstStyle/>
                    <a:p>
                      <a:r>
                        <a:rPr lang="en-IN" sz="1600" dirty="0" smtClean="0">
                          <a:latin typeface="Cambria Math" pitchFamily="18" charset="0"/>
                          <a:ea typeface="Cambria Math" pitchFamily="18" charset="0"/>
                        </a:rPr>
                        <a:t>Make HTTP GET requests</a:t>
                      </a:r>
                      <a:endParaRPr lang="en-IN" sz="1600" dirty="0">
                        <a:latin typeface="Cambria Math" pitchFamily="18" charset="0"/>
                        <a:ea typeface="Cambria Math" pitchFamily="18" charset="0"/>
                      </a:endParaRPr>
                    </a:p>
                  </a:txBody>
                  <a:tcPr/>
                </a:tc>
              </a:tr>
              <a:tr h="370840">
                <a:tc>
                  <a:txBody>
                    <a:bodyPr/>
                    <a:lstStyle/>
                    <a:p>
                      <a:r>
                        <a:rPr lang="en-IN" sz="1600" dirty="0" smtClean="0">
                          <a:latin typeface="Cambria Math" pitchFamily="18" charset="0"/>
                          <a:ea typeface="Cambria Math" pitchFamily="18" charset="0"/>
                        </a:rPr>
                        <a:t>GmailSendMessageTool</a:t>
                      </a:r>
                      <a:endParaRPr lang="en-IN" sz="1600" dirty="0">
                        <a:latin typeface="Cambria Math" pitchFamily="18" charset="0"/>
                        <a:ea typeface="Cambria Math" pitchFamily="18" charset="0"/>
                      </a:endParaRPr>
                    </a:p>
                  </a:txBody>
                  <a:tcPr/>
                </a:tc>
                <a:tc>
                  <a:txBody>
                    <a:bodyPr/>
                    <a:lstStyle/>
                    <a:p>
                      <a:r>
                        <a:rPr lang="en-IN" sz="1600" dirty="0" smtClean="0">
                          <a:latin typeface="Cambria Math" pitchFamily="18" charset="0"/>
                          <a:ea typeface="Cambria Math" pitchFamily="18" charset="0"/>
                        </a:rPr>
                        <a:t>Send emails via Gmail</a:t>
                      </a:r>
                      <a:endParaRPr lang="en-IN" sz="1600" dirty="0">
                        <a:latin typeface="Cambria Math" pitchFamily="18" charset="0"/>
                        <a:ea typeface="Cambria Math" pitchFamily="18" charset="0"/>
                      </a:endParaRPr>
                    </a:p>
                  </a:txBody>
                  <a:tcPr/>
                </a:tc>
              </a:tr>
              <a:tr h="370840">
                <a:tc>
                  <a:txBody>
                    <a:bodyPr/>
                    <a:lstStyle/>
                    <a:p>
                      <a:r>
                        <a:rPr lang="en-IN" sz="1600" dirty="0" smtClean="0">
                          <a:latin typeface="Cambria Math" pitchFamily="18" charset="0"/>
                          <a:ea typeface="Cambria Math" pitchFamily="18" charset="0"/>
                        </a:rPr>
                        <a:t>SqlDatabaseQueryTool</a:t>
                      </a:r>
                      <a:endParaRPr lang="en-IN" sz="1600" dirty="0">
                        <a:latin typeface="Cambria Math" pitchFamily="18" charset="0"/>
                        <a:ea typeface="Cambria Math" pitchFamily="18" charset="0"/>
                      </a:endParaRPr>
                    </a:p>
                  </a:txBody>
                  <a:tcPr/>
                </a:tc>
                <a:tc>
                  <a:txBody>
                    <a:bodyPr/>
                    <a:lstStyle/>
                    <a:p>
                      <a:r>
                        <a:rPr lang="en-IN" sz="1600" dirty="0" smtClean="0">
                          <a:latin typeface="Cambria Math" pitchFamily="18" charset="0"/>
                          <a:ea typeface="Cambria Math" pitchFamily="18" charset="0"/>
                        </a:rPr>
                        <a:t>Run SQL queries</a:t>
                      </a:r>
                      <a:endParaRPr lang="en-IN" sz="1600" dirty="0">
                        <a:latin typeface="Cambria Math" pitchFamily="18" charset="0"/>
                        <a:ea typeface="Cambria Math" pitchFamily="18" charset="0"/>
                      </a:endParaRPr>
                    </a:p>
                  </a:txBody>
                  <a:tcPr/>
                </a:tc>
              </a:tr>
            </a:tbl>
          </a:graphicData>
        </a:graphic>
      </p:graphicFrame>
    </p:spTree>
    <p:extLst>
      <p:ext uri="{BB962C8B-B14F-4D97-AF65-F5344CB8AC3E}">
        <p14:creationId xmlns:p14="http://schemas.microsoft.com/office/powerpoint/2010/main" val="30511742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12" name="Group 11"/>
          <p:cNvGrpSpPr/>
          <p:nvPr/>
        </p:nvGrpSpPr>
        <p:grpSpPr>
          <a:xfrm>
            <a:off x="1496291" y="211994"/>
            <a:ext cx="4496056" cy="467237"/>
            <a:chOff x="1496291" y="211994"/>
            <a:chExt cx="4496056" cy="467237"/>
          </a:xfrm>
        </p:grpSpPr>
        <p:sp>
          <p:nvSpPr>
            <p:cNvPr id="3" name="Rectangle 2"/>
            <p:cNvSpPr/>
            <p:nvPr/>
          </p:nvSpPr>
          <p:spPr>
            <a:xfrm>
              <a:off x="1626959" y="211994"/>
              <a:ext cx="1699376" cy="369332"/>
            </a:xfrm>
            <a:prstGeom prst="rect">
              <a:avLst/>
            </a:prstGeom>
          </p:spPr>
          <p:txBody>
            <a:bodyPr wrap="none">
              <a:spAutoFit/>
            </a:bodyPr>
            <a:lstStyle/>
            <a:p>
              <a:r>
                <a:rPr lang="en-IN" dirty="0">
                  <a:solidFill>
                    <a:srgbClr val="00B050"/>
                  </a:solidFill>
                  <a:latin typeface="Arial Rounded MT Bold" pitchFamily="34" charset="0"/>
                </a:rPr>
                <a:t>Custom Tools</a:t>
              </a:r>
            </a:p>
          </p:txBody>
        </p:sp>
        <p:cxnSp>
          <p:nvCxnSpPr>
            <p:cNvPr id="9" name="Straight Connector 8"/>
            <p:cNvCxnSpPr/>
            <p:nvPr/>
          </p:nvCxnSpPr>
          <p:spPr>
            <a:xfrm>
              <a:off x="1496291" y="679231"/>
              <a:ext cx="4496056" cy="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grpSp>
      <p:sp>
        <p:nvSpPr>
          <p:cNvPr id="5" name="Rectangle 4"/>
          <p:cNvSpPr/>
          <p:nvPr/>
        </p:nvSpPr>
        <p:spPr>
          <a:xfrm>
            <a:off x="2133845" y="780682"/>
            <a:ext cx="4448654" cy="338554"/>
          </a:xfrm>
          <a:prstGeom prst="rect">
            <a:avLst/>
          </a:prstGeom>
        </p:spPr>
        <p:txBody>
          <a:bodyPr wrap="none">
            <a:spAutoFit/>
          </a:bodyPr>
          <a:lstStyle/>
          <a:p>
            <a:r>
              <a:rPr lang="en-US" sz="1600" dirty="0">
                <a:latin typeface="Cambria Math" pitchFamily="18" charset="0"/>
                <a:ea typeface="Cambria Math" pitchFamily="18" charset="0"/>
              </a:rPr>
              <a:t>A custom tool is a tool that we can define </a:t>
            </a:r>
            <a:r>
              <a:rPr lang="en-US" sz="1600" dirty="0" smtClean="0">
                <a:latin typeface="Cambria Math" pitchFamily="18" charset="0"/>
                <a:ea typeface="Cambria Math" pitchFamily="18" charset="0"/>
              </a:rPr>
              <a:t>our self</a:t>
            </a:r>
            <a:endParaRPr lang="en-IN" sz="1600" dirty="0">
              <a:latin typeface="Cambria Math" pitchFamily="18" charset="0"/>
              <a:ea typeface="Cambria Math" pitchFamily="18" charset="0"/>
            </a:endParaRPr>
          </a:p>
        </p:txBody>
      </p:sp>
      <p:sp>
        <p:nvSpPr>
          <p:cNvPr id="10" name="Rectangle 9"/>
          <p:cNvSpPr/>
          <p:nvPr/>
        </p:nvSpPr>
        <p:spPr>
          <a:xfrm>
            <a:off x="2133845" y="1831170"/>
            <a:ext cx="1619354" cy="338554"/>
          </a:xfrm>
          <a:prstGeom prst="rect">
            <a:avLst/>
          </a:prstGeom>
        </p:spPr>
        <p:txBody>
          <a:bodyPr wrap="none">
            <a:spAutoFit/>
          </a:bodyPr>
          <a:lstStyle/>
          <a:p>
            <a:r>
              <a:rPr lang="en-IN" sz="1600" dirty="0">
                <a:latin typeface="Cambria Math" pitchFamily="18" charset="0"/>
                <a:ea typeface="Cambria Math" pitchFamily="18" charset="0"/>
              </a:rPr>
              <a:t>Use them When:</a:t>
            </a:r>
          </a:p>
        </p:txBody>
      </p:sp>
      <p:sp>
        <p:nvSpPr>
          <p:cNvPr id="11" name="Rectangle 10"/>
          <p:cNvSpPr/>
          <p:nvPr/>
        </p:nvSpPr>
        <p:spPr>
          <a:xfrm>
            <a:off x="2701636" y="2274607"/>
            <a:ext cx="6096000" cy="861774"/>
          </a:xfrm>
          <a:prstGeom prst="rect">
            <a:avLst/>
          </a:prstGeom>
        </p:spPr>
        <p:txBody>
          <a:bodyPr>
            <a:spAutoFit/>
          </a:bodyPr>
          <a:lstStyle/>
          <a:p>
            <a:pPr marL="285750" indent="-285750">
              <a:buFont typeface="Wingdings" pitchFamily="2" charset="2"/>
              <a:buChar char="§"/>
            </a:pPr>
            <a:r>
              <a:rPr lang="en-US" sz="1600" dirty="0" smtClean="0">
                <a:latin typeface="Cambria Math" pitchFamily="18" charset="0"/>
                <a:ea typeface="Cambria Math" pitchFamily="18" charset="0"/>
              </a:rPr>
              <a:t>We want </a:t>
            </a:r>
            <a:r>
              <a:rPr lang="en-US" sz="1600" dirty="0">
                <a:latin typeface="Cambria Math" pitchFamily="18" charset="0"/>
                <a:ea typeface="Cambria Math" pitchFamily="18" charset="0"/>
              </a:rPr>
              <a:t>to call our own </a:t>
            </a:r>
            <a:r>
              <a:rPr lang="en-US" sz="1600" dirty="0" smtClean="0">
                <a:latin typeface="Cambria Math" pitchFamily="18" charset="0"/>
                <a:ea typeface="Cambria Math" pitchFamily="18" charset="0"/>
              </a:rPr>
              <a:t>api</a:t>
            </a:r>
            <a:endParaRPr lang="en-US" sz="1600" dirty="0">
              <a:latin typeface="Cambria Math" pitchFamily="18" charset="0"/>
              <a:ea typeface="Cambria Math" pitchFamily="18" charset="0"/>
            </a:endParaRPr>
          </a:p>
          <a:p>
            <a:pPr marL="285750" indent="-285750">
              <a:buFont typeface="Wingdings" pitchFamily="2" charset="2"/>
              <a:buChar char="§"/>
            </a:pPr>
            <a:r>
              <a:rPr lang="en-US" sz="1600" dirty="0">
                <a:latin typeface="Cambria Math" pitchFamily="18" charset="0"/>
                <a:ea typeface="Cambria Math" pitchFamily="18" charset="0"/>
              </a:rPr>
              <a:t>We want to </a:t>
            </a:r>
            <a:r>
              <a:rPr lang="en-US" sz="1600" dirty="0" smtClean="0">
                <a:latin typeface="Cambria Math" pitchFamily="18" charset="0"/>
                <a:ea typeface="Cambria Math" pitchFamily="18" charset="0"/>
              </a:rPr>
              <a:t>encapsulate </a:t>
            </a:r>
            <a:r>
              <a:rPr lang="en-US" sz="1600" dirty="0">
                <a:latin typeface="Cambria Math" pitchFamily="18" charset="0"/>
                <a:ea typeface="Cambria Math" pitchFamily="18" charset="0"/>
              </a:rPr>
              <a:t>business login</a:t>
            </a:r>
          </a:p>
          <a:p>
            <a:pPr marL="285750" indent="-285750">
              <a:buFont typeface="Wingdings" pitchFamily="2" charset="2"/>
              <a:buChar char="§"/>
            </a:pPr>
            <a:r>
              <a:rPr lang="en-US" sz="1600" dirty="0">
                <a:latin typeface="Cambria Math" pitchFamily="18" charset="0"/>
                <a:ea typeface="Cambria Math" pitchFamily="18" charset="0"/>
              </a:rPr>
              <a:t>we want the llm to </a:t>
            </a:r>
            <a:r>
              <a:rPr lang="en-US" sz="1600" dirty="0" smtClean="0">
                <a:latin typeface="Cambria Math" pitchFamily="18" charset="0"/>
                <a:ea typeface="Cambria Math" pitchFamily="18" charset="0"/>
              </a:rPr>
              <a:t>interact </a:t>
            </a:r>
            <a:r>
              <a:rPr lang="en-US" sz="1600" dirty="0">
                <a:latin typeface="Cambria Math" pitchFamily="18" charset="0"/>
                <a:ea typeface="Cambria Math" pitchFamily="18" charset="0"/>
              </a:rPr>
              <a:t>with your </a:t>
            </a:r>
            <a:r>
              <a:rPr lang="en-US" sz="1600" dirty="0" smtClean="0">
                <a:latin typeface="Cambria Math" pitchFamily="18" charset="0"/>
                <a:ea typeface="Cambria Math" pitchFamily="18" charset="0"/>
              </a:rPr>
              <a:t>database, product </a:t>
            </a:r>
            <a:r>
              <a:rPr lang="en-US" sz="1600" dirty="0">
                <a:latin typeface="Cambria Math" pitchFamily="18" charset="0"/>
                <a:ea typeface="Cambria Math" pitchFamily="18" charset="0"/>
              </a:rPr>
              <a:t>or app</a:t>
            </a:r>
            <a:endParaRPr lang="en-IN" sz="1600" dirty="0">
              <a:latin typeface="Cambria Math" pitchFamily="18" charset="0"/>
              <a:ea typeface="Cambria Math" pitchFamily="18" charset="0"/>
            </a:endParaRPr>
          </a:p>
        </p:txBody>
      </p:sp>
    </p:spTree>
    <p:extLst>
      <p:ext uri="{BB962C8B-B14F-4D97-AF65-F5344CB8AC3E}">
        <p14:creationId xmlns:p14="http://schemas.microsoft.com/office/powerpoint/2010/main" val="2101227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5" name="Group 4"/>
          <p:cNvGrpSpPr/>
          <p:nvPr/>
        </p:nvGrpSpPr>
        <p:grpSpPr>
          <a:xfrm>
            <a:off x="3047999" y="58847"/>
            <a:ext cx="5791201" cy="6494085"/>
            <a:chOff x="3047999" y="58847"/>
            <a:chExt cx="5791201" cy="6494085"/>
          </a:xfrm>
        </p:grpSpPr>
        <p:sp>
          <p:nvSpPr>
            <p:cNvPr id="2" name="Rectangle 1"/>
            <p:cNvSpPr/>
            <p:nvPr/>
          </p:nvSpPr>
          <p:spPr>
            <a:xfrm>
              <a:off x="3047999" y="58847"/>
              <a:ext cx="5791201" cy="6494085"/>
            </a:xfrm>
            <a:prstGeom prst="rect">
              <a:avLst/>
            </a:prstGeom>
            <a:solidFill>
              <a:schemeClr val="tx1">
                <a:lumMod val="85000"/>
                <a:lumOff val="15000"/>
              </a:schemeClr>
            </a:solidFill>
          </p:spPr>
          <p:txBody>
            <a:bodyPr wrap="square">
              <a:spAutoFit/>
            </a:bodyPr>
            <a:lstStyle/>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langchain_community.tools</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tool</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#Step 1 - create a function</a:t>
              </a:r>
            </a:p>
            <a:p>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multiply(a, b):</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   """Multiply two numbers"""</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smtClean="0">
                  <a:solidFill>
                    <a:schemeClr val="accent4">
                      <a:lumMod val="75000"/>
                    </a:schemeClr>
                  </a:solidFill>
                  <a:latin typeface="Cambria Math" pitchFamily="18" charset="0"/>
                  <a:ea typeface="Cambria Math" pitchFamily="18" charset="0"/>
                </a:rPr>
                <a:t>a*b</a:t>
              </a:r>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Step 2 - add type hints</a:t>
              </a:r>
            </a:p>
            <a:p>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multiply(a:</a:t>
              </a:r>
              <a:r>
                <a:rPr lang="en-IN" sz="1600" dirty="0">
                  <a:solidFill>
                    <a:schemeClr val="accent2">
                      <a:lumMod val="50000"/>
                    </a:schemeClr>
                  </a:solidFill>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int</a:t>
              </a:r>
              <a:r>
                <a:rPr lang="en-IN" sz="1600" dirty="0">
                  <a:latin typeface="Cambria Math" pitchFamily="18" charset="0"/>
                  <a:ea typeface="Cambria Math" pitchFamily="18" charset="0"/>
                </a:rPr>
                <a:t>, </a:t>
              </a:r>
              <a:r>
                <a:rPr lang="en-IN" sz="1600" dirty="0">
                  <a:solidFill>
                    <a:schemeClr val="accent2">
                      <a:lumMod val="50000"/>
                    </a:schemeClr>
                  </a:solidFill>
                  <a:latin typeface="Cambria Math" pitchFamily="18" charset="0"/>
                  <a:ea typeface="Cambria Math" pitchFamily="18" charset="0"/>
                </a:rPr>
                <a:t>b:</a:t>
              </a:r>
              <a:r>
                <a:rPr lang="en-IN" sz="1600" dirty="0">
                  <a:solidFill>
                    <a:srgbClr val="00CC99"/>
                  </a:solidFill>
                  <a:latin typeface="Cambria Math" pitchFamily="18" charset="0"/>
                  <a:ea typeface="Cambria Math" pitchFamily="18" charset="0"/>
                </a:rPr>
                <a:t>int</a:t>
              </a:r>
              <a:r>
                <a:rPr lang="en-IN" sz="1600" dirty="0">
                  <a:solidFill>
                    <a:schemeClr val="accent4">
                      <a:lumMod val="75000"/>
                    </a:schemeClr>
                  </a:solidFill>
                  <a:latin typeface="Cambria Math" pitchFamily="18" charset="0"/>
                  <a:ea typeface="Cambria Math" pitchFamily="18" charset="0"/>
                </a:rPr>
                <a:t>) -&gt; </a:t>
              </a:r>
              <a:r>
                <a:rPr lang="en-IN" sz="1600" dirty="0">
                  <a:solidFill>
                    <a:srgbClr val="00CC99"/>
                  </a:solidFill>
                  <a:latin typeface="Cambria Math" pitchFamily="18" charset="0"/>
                  <a:ea typeface="Cambria Math" pitchFamily="18" charset="0"/>
                </a:rPr>
                <a:t>int:</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   """Multiply two numbers"""</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a*b</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Step 3 - add tool decorator</a:t>
              </a:r>
            </a:p>
            <a:p>
              <a:r>
                <a:rPr lang="en-IN" sz="1600" dirty="0">
                  <a:solidFill>
                    <a:schemeClr val="accent4">
                      <a:lumMod val="75000"/>
                    </a:schemeClr>
                  </a:solidFill>
                  <a:latin typeface="Cambria Math" pitchFamily="18" charset="0"/>
                  <a:ea typeface="Cambria Math" pitchFamily="18" charset="0"/>
                </a:rPr>
                <a:t>@tool</a:t>
              </a:r>
            </a:p>
            <a:p>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a:t>
              </a:r>
              <a:r>
                <a:rPr lang="en-IN" sz="1600" dirty="0">
                  <a:solidFill>
                    <a:srgbClr val="0070C0"/>
                  </a:solidFill>
                  <a:latin typeface="Cambria Math" pitchFamily="18" charset="0"/>
                  <a:ea typeface="Cambria Math" pitchFamily="18" charset="0"/>
                </a:rPr>
                <a:t>(a</a:t>
              </a:r>
              <a:r>
                <a:rPr lang="en-IN" sz="1600" dirty="0">
                  <a:solidFill>
                    <a:schemeClr val="accent4">
                      <a:lumMod val="75000"/>
                    </a:schemeClr>
                  </a:solidFill>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int</a:t>
              </a:r>
              <a:r>
                <a:rPr lang="en-IN" sz="1600" dirty="0">
                  <a:solidFill>
                    <a:schemeClr val="accent4">
                      <a:lumMod val="75000"/>
                    </a:schemeClr>
                  </a:solidFill>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b</a:t>
              </a:r>
              <a:r>
                <a:rPr lang="en-IN" sz="1600" dirty="0">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int</a:t>
              </a:r>
              <a:r>
                <a:rPr lang="en-IN" sz="1600" dirty="0">
                  <a:solidFill>
                    <a:srgbClr val="0070C0"/>
                  </a:solidFill>
                  <a:latin typeface="Cambria Math" pitchFamily="18" charset="0"/>
                  <a:ea typeface="Cambria Math" pitchFamily="18" charset="0"/>
                </a:rPr>
                <a:t>) -&gt; </a:t>
              </a:r>
              <a:r>
                <a:rPr lang="en-IN" sz="1600" dirty="0">
                  <a:solidFill>
                    <a:srgbClr val="00CC99"/>
                  </a:solidFill>
                  <a:latin typeface="Cambria Math" pitchFamily="18" charset="0"/>
                  <a:ea typeface="Cambria Math" pitchFamily="18" charset="0"/>
                </a:rPr>
                <a:t>int:</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"""Multiply two numbers"""</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a*b</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70C0"/>
                  </a:solidFill>
                  <a:latin typeface="Cambria Math" pitchFamily="18" charset="0"/>
                  <a:ea typeface="Cambria Math" pitchFamily="18" charset="0"/>
                </a:rPr>
                <a:t>result</a:t>
              </a:r>
              <a:r>
                <a:rPr lang="en-IN" sz="1600" dirty="0">
                  <a:latin typeface="Cambria Math" pitchFamily="18" charset="0"/>
                  <a:ea typeface="Cambria Math" pitchFamily="18" charset="0"/>
                </a:rPr>
                <a:t> </a:t>
              </a:r>
              <a:r>
                <a:rPr lang="en-IN" sz="1600" dirty="0">
                  <a:solidFill>
                    <a:schemeClr val="bg1">
                      <a:lumMod val="95000"/>
                    </a:schemeClr>
                  </a:solidFill>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multiply.invoke({</a:t>
              </a:r>
              <a:r>
                <a:rPr lang="en-IN" sz="1600" dirty="0">
                  <a:solidFill>
                    <a:srgbClr val="FF6600"/>
                  </a:solidFill>
                  <a:latin typeface="Cambria Math" pitchFamily="18" charset="0"/>
                  <a:ea typeface="Cambria Math" pitchFamily="18" charset="0"/>
                </a:rPr>
                <a:t>"a"</a:t>
              </a:r>
              <a:r>
                <a:rPr lang="en-IN" sz="1600" dirty="0">
                  <a:solidFill>
                    <a:schemeClr val="accent4">
                      <a:lumMod val="75000"/>
                    </a:schemeClr>
                  </a:solidFill>
                  <a:latin typeface="Cambria Math" pitchFamily="18" charset="0"/>
                  <a:ea typeface="Cambria Math" pitchFamily="18" charset="0"/>
                </a:rPr>
                <a:t>:3, </a:t>
              </a:r>
              <a:r>
                <a:rPr lang="en-IN" sz="1600" dirty="0">
                  <a:solidFill>
                    <a:srgbClr val="FF6600"/>
                  </a:solidFill>
                  <a:latin typeface="Cambria Math" pitchFamily="18" charset="0"/>
                  <a:ea typeface="Cambria Math" pitchFamily="18" charset="0"/>
                </a:rPr>
                <a:t>"b":</a:t>
              </a:r>
              <a:r>
                <a:rPr lang="en-IN" sz="1600" dirty="0">
                  <a:solidFill>
                    <a:schemeClr val="accent4">
                      <a:lumMod val="75000"/>
                    </a:schemeClr>
                  </a:solidFill>
                  <a:latin typeface="Cambria Math" pitchFamily="18" charset="0"/>
                  <a:ea typeface="Cambria Math" pitchFamily="18" charset="0"/>
                </a:rPr>
                <a:t>5})</a:t>
              </a:r>
            </a:p>
            <a:p>
              <a:r>
                <a:rPr lang="en-IN" sz="1600" dirty="0">
                  <a:solidFill>
                    <a:schemeClr val="accent4">
                      <a:lumMod val="75000"/>
                    </a:schemeClr>
                  </a:solidFill>
                  <a:latin typeface="Cambria Math" pitchFamily="18" charset="0"/>
                  <a:ea typeface="Cambria Math" pitchFamily="18" charset="0"/>
                </a:rPr>
                <a:t>print(</a:t>
              </a:r>
              <a:r>
                <a:rPr lang="en-IN" sz="1600" dirty="0">
                  <a:solidFill>
                    <a:srgbClr val="0070C0"/>
                  </a:solidFill>
                  <a:latin typeface="Cambria Math" pitchFamily="18" charset="0"/>
                  <a:ea typeface="Cambria Math" pitchFamily="18" charset="0"/>
                </a:rPr>
                <a:t>result</a:t>
              </a:r>
              <a:r>
                <a:rPr lang="en-IN" sz="1600" dirty="0">
                  <a:solidFill>
                    <a:schemeClr val="accent4">
                      <a:lumMod val="75000"/>
                    </a:schemeClr>
                  </a:solidFill>
                  <a:latin typeface="Cambria Math" pitchFamily="18" charset="0"/>
                  <a:ea typeface="Cambria Math" pitchFamily="18" charset="0"/>
                </a:rPr>
                <a:t>)</a:t>
              </a:r>
            </a:p>
            <a:p>
              <a:r>
                <a:rPr lang="en-IN" sz="1600" dirty="0">
                  <a:solidFill>
                    <a:schemeClr val="accent4">
                      <a:lumMod val="75000"/>
                    </a:schemeClr>
                  </a:solidFill>
                  <a:latin typeface="Cambria Math" pitchFamily="18" charset="0"/>
                  <a:ea typeface="Cambria Math" pitchFamily="18" charset="0"/>
                </a:rPr>
                <a:t>print(multiply</a:t>
              </a:r>
              <a:r>
                <a:rPr lang="en-IN" sz="1600" dirty="0">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name</a:t>
              </a:r>
              <a:r>
                <a:rPr lang="en-IN" sz="1600" dirty="0">
                  <a:solidFill>
                    <a:schemeClr val="accent4">
                      <a:lumMod val="75000"/>
                    </a:schemeClr>
                  </a:solidFill>
                  <a:latin typeface="Cambria Math" pitchFamily="18" charset="0"/>
                  <a:ea typeface="Cambria Math" pitchFamily="18" charset="0"/>
                </a:rPr>
                <a:t>)</a:t>
              </a:r>
            </a:p>
            <a:p>
              <a:r>
                <a:rPr lang="en-IN" sz="1600" dirty="0">
                  <a:solidFill>
                    <a:schemeClr val="accent4">
                      <a:lumMod val="75000"/>
                    </a:schemeClr>
                  </a:solidFill>
                  <a:latin typeface="Cambria Math" pitchFamily="18" charset="0"/>
                  <a:ea typeface="Cambria Math" pitchFamily="18" charset="0"/>
                </a:rPr>
                <a:t>print(multiply</a:t>
              </a:r>
              <a:r>
                <a:rPr lang="en-IN" sz="1600" dirty="0">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description</a:t>
              </a:r>
              <a:r>
                <a:rPr lang="en-IN" sz="1600" dirty="0">
                  <a:solidFill>
                    <a:schemeClr val="accent4">
                      <a:lumMod val="75000"/>
                    </a:schemeClr>
                  </a:solidFill>
                  <a:latin typeface="Cambria Math" pitchFamily="18" charset="0"/>
                  <a:ea typeface="Cambria Math" pitchFamily="18" charset="0"/>
                </a:rPr>
                <a:t>)</a:t>
              </a:r>
            </a:p>
            <a:p>
              <a:r>
                <a:rPr lang="en-IN" sz="1600" dirty="0">
                  <a:solidFill>
                    <a:schemeClr val="accent4">
                      <a:lumMod val="75000"/>
                    </a:schemeClr>
                  </a:solidFill>
                  <a:latin typeface="Cambria Math" pitchFamily="18" charset="0"/>
                  <a:ea typeface="Cambria Math" pitchFamily="18" charset="0"/>
                </a:rPr>
                <a:t>print(multiply</a:t>
              </a:r>
              <a:r>
                <a:rPr lang="en-IN" sz="1600" dirty="0">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args</a:t>
              </a:r>
              <a:r>
                <a:rPr lang="en-IN" sz="1600" dirty="0" smtClean="0">
                  <a:solidFill>
                    <a:schemeClr val="accent4">
                      <a:lumMod val="75000"/>
                    </a:schemeClr>
                  </a:solidFill>
                  <a:latin typeface="Cambria Math" pitchFamily="18" charset="0"/>
                  <a:ea typeface="Cambria Math" pitchFamily="18" charset="0"/>
                </a:rPr>
                <a:t>)</a:t>
              </a:r>
            </a:p>
            <a:p>
              <a:endParaRPr lang="en-US" sz="1600" dirty="0" smtClean="0">
                <a:solidFill>
                  <a:schemeClr val="accent4">
                    <a:lumMod val="75000"/>
                  </a:schemeClr>
                </a:solidFill>
                <a:latin typeface="Cambria Math" pitchFamily="18" charset="0"/>
                <a:ea typeface="Cambria Math" pitchFamily="18" charset="0"/>
              </a:endParaRPr>
            </a:p>
            <a:p>
              <a:r>
                <a:rPr lang="en-US" sz="1600" dirty="0">
                  <a:solidFill>
                    <a:srgbClr val="00B050"/>
                  </a:solidFill>
                  <a:latin typeface="Cambria Math" pitchFamily="18" charset="0"/>
                  <a:ea typeface="Cambria Math" pitchFamily="18" charset="0"/>
                </a:rPr>
                <a:t>#Llm see below response </a:t>
              </a:r>
              <a:r>
                <a:rPr lang="en-US" sz="1600" dirty="0" smtClean="0">
                  <a:solidFill>
                    <a:srgbClr val="00B050"/>
                  </a:solidFill>
                  <a:latin typeface="Cambria Math" pitchFamily="18" charset="0"/>
                  <a:ea typeface="Cambria Math" pitchFamily="18" charset="0"/>
                </a:rPr>
                <a:t>only from tools  </a:t>
              </a:r>
            </a:p>
            <a:p>
              <a:r>
                <a:rPr lang="en-IN" sz="1600" dirty="0" smtClean="0">
                  <a:solidFill>
                    <a:schemeClr val="accent4">
                      <a:lumMod val="75000"/>
                    </a:schemeClr>
                  </a:solidFill>
                </a:rPr>
                <a:t>print( multiply</a:t>
              </a:r>
              <a:r>
                <a:rPr lang="en-IN" sz="1600" dirty="0" smtClean="0">
                  <a:solidFill>
                    <a:schemeClr val="bg1"/>
                  </a:solidFill>
                </a:rPr>
                <a:t>.</a:t>
              </a:r>
              <a:r>
                <a:rPr lang="en-IN" sz="1600" dirty="0" smtClean="0">
                  <a:solidFill>
                    <a:srgbClr val="0070C0"/>
                  </a:solidFill>
                </a:rPr>
                <a:t>args_schema</a:t>
              </a:r>
              <a:r>
                <a:rPr lang="en-IN" sz="1600" dirty="0" smtClean="0">
                  <a:solidFill>
                    <a:schemeClr val="bg1"/>
                  </a:solidFill>
                </a:rPr>
                <a:t>.</a:t>
              </a:r>
              <a:r>
                <a:rPr lang="en-IN" sz="1600" dirty="0" smtClean="0">
                  <a:solidFill>
                    <a:schemeClr val="accent4">
                      <a:lumMod val="75000"/>
                    </a:schemeClr>
                  </a:solidFill>
                </a:rPr>
                <a:t>model_json_schema())</a:t>
              </a:r>
              <a:endParaRPr lang="en-IN" sz="1600" dirty="0">
                <a:solidFill>
                  <a:schemeClr val="accent4">
                    <a:lumMod val="75000"/>
                  </a:schemeClr>
                </a:solidFill>
              </a:endParaRPr>
            </a:p>
          </p:txBody>
        </p:sp>
        <p:sp>
          <p:nvSpPr>
            <p:cNvPr id="3" name="Flowchart: Connector 2"/>
            <p:cNvSpPr/>
            <p:nvPr/>
          </p:nvSpPr>
          <p:spPr>
            <a:xfrm>
              <a:off x="6026726" y="750603"/>
              <a:ext cx="332509" cy="353943"/>
            </a:xfrm>
            <a:prstGeom prst="flowChartConnector">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Rounded MT Bold" pitchFamily="34" charset="0"/>
                </a:rPr>
                <a:t>1</a:t>
              </a:r>
              <a:endParaRPr lang="en-IN" dirty="0">
                <a:latin typeface="Arial Rounded MT Bold" pitchFamily="34" charset="0"/>
              </a:endParaRPr>
            </a:p>
          </p:txBody>
        </p:sp>
        <p:sp>
          <p:nvSpPr>
            <p:cNvPr id="9" name="Flowchart: Connector 8"/>
            <p:cNvSpPr/>
            <p:nvPr/>
          </p:nvSpPr>
          <p:spPr>
            <a:xfrm>
              <a:off x="6026727" y="2073060"/>
              <a:ext cx="332509" cy="353943"/>
            </a:xfrm>
            <a:prstGeom prst="flowChartConnector">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2</a:t>
              </a:r>
              <a:endParaRPr lang="en-IN" dirty="0">
                <a:latin typeface="Bahnschrift SemiBold" pitchFamily="34" charset="0"/>
              </a:endParaRPr>
            </a:p>
          </p:txBody>
        </p:sp>
        <p:sp>
          <p:nvSpPr>
            <p:cNvPr id="10" name="Flowchart: Connector 9"/>
            <p:cNvSpPr/>
            <p:nvPr/>
          </p:nvSpPr>
          <p:spPr>
            <a:xfrm>
              <a:off x="6192981" y="3437733"/>
              <a:ext cx="332509" cy="353943"/>
            </a:xfrm>
            <a:prstGeom prst="flowChartConnector">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3</a:t>
              </a:r>
              <a:endParaRPr lang="en-IN" dirty="0">
                <a:latin typeface="Bahnschrift SemiBold" pitchFamily="34" charset="0"/>
              </a:endParaRPr>
            </a:p>
          </p:txBody>
        </p:sp>
      </p:grpSp>
    </p:spTree>
    <p:extLst>
      <p:ext uri="{BB962C8B-B14F-4D97-AF65-F5344CB8AC3E}">
        <p14:creationId xmlns:p14="http://schemas.microsoft.com/office/powerpoint/2010/main" val="35138370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96291" y="211994"/>
            <a:ext cx="4520075" cy="467237"/>
            <a:chOff x="1496291" y="211994"/>
            <a:chExt cx="4520075" cy="467237"/>
          </a:xfrm>
        </p:grpSpPr>
        <p:sp>
          <p:nvSpPr>
            <p:cNvPr id="10" name="Rectangle 9"/>
            <p:cNvSpPr/>
            <p:nvPr/>
          </p:nvSpPr>
          <p:spPr>
            <a:xfrm>
              <a:off x="1626959" y="211994"/>
              <a:ext cx="4389407" cy="369332"/>
            </a:xfrm>
            <a:prstGeom prst="rect">
              <a:avLst/>
            </a:prstGeom>
          </p:spPr>
          <p:txBody>
            <a:bodyPr wrap="none">
              <a:spAutoFit/>
            </a:bodyPr>
            <a:lstStyle/>
            <a:p>
              <a:r>
                <a:rPr lang="en-US" dirty="0" smtClean="0">
                  <a:solidFill>
                    <a:srgbClr val="00B050"/>
                  </a:solidFill>
                  <a:latin typeface="Arial Rounded MT Bold" pitchFamily="34" charset="0"/>
                </a:rPr>
                <a:t>Way to Create Custom Tool Decorator</a:t>
              </a:r>
              <a:endParaRPr lang="en-IN" dirty="0">
                <a:solidFill>
                  <a:srgbClr val="00B050"/>
                </a:solidFill>
                <a:latin typeface="Arial Rounded MT Bold" pitchFamily="34" charset="0"/>
              </a:endParaRPr>
            </a:p>
          </p:txBody>
        </p:sp>
        <p:cxnSp>
          <p:nvCxnSpPr>
            <p:cNvPr id="11" name="Straight Connector 10"/>
            <p:cNvCxnSpPr/>
            <p:nvPr/>
          </p:nvCxnSpPr>
          <p:spPr>
            <a:xfrm>
              <a:off x="1496291" y="679231"/>
              <a:ext cx="4496056"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2" name="Flowchart: Process 1"/>
          <p:cNvSpPr/>
          <p:nvPr/>
        </p:nvSpPr>
        <p:spPr>
          <a:xfrm>
            <a:off x="4378035" y="1634836"/>
            <a:ext cx="2854037" cy="612648"/>
          </a:xfrm>
          <a:prstGeom prst="flowChartProcess">
            <a:avLst/>
          </a:prstGeom>
          <a:solidFill>
            <a:srgbClr val="00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Way to create tool</a:t>
            </a:r>
            <a:endParaRPr lang="en-IN" dirty="0">
              <a:latin typeface="Bahnschrift SemiBold" pitchFamily="34" charset="0"/>
            </a:endParaRPr>
          </a:p>
        </p:txBody>
      </p:sp>
      <p:sp>
        <p:nvSpPr>
          <p:cNvPr id="3" name="Flowchart: Process 2"/>
          <p:cNvSpPr/>
          <p:nvPr/>
        </p:nvSpPr>
        <p:spPr>
          <a:xfrm>
            <a:off x="2521526" y="4184073"/>
            <a:ext cx="2355273" cy="612648"/>
          </a:xfrm>
          <a:prstGeom prst="flowChartProcess">
            <a:avLst/>
          </a:prstGeom>
          <a:solidFill>
            <a:srgbClr val="00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SemiBold" pitchFamily="34" charset="0"/>
              </a:rPr>
              <a:t>u</a:t>
            </a:r>
            <a:r>
              <a:rPr lang="en-US" dirty="0" smtClean="0">
                <a:latin typeface="Bahnschrift SemiBold" pitchFamily="34" charset="0"/>
              </a:rPr>
              <a:t>sing @tool decorator</a:t>
            </a:r>
            <a:endParaRPr lang="en-IN" dirty="0">
              <a:latin typeface="Bahnschrift SemiBold" pitchFamily="34" charset="0"/>
            </a:endParaRPr>
          </a:p>
        </p:txBody>
      </p:sp>
      <p:sp>
        <p:nvSpPr>
          <p:cNvPr id="13" name="Flowchart: Process 12"/>
          <p:cNvSpPr/>
          <p:nvPr/>
        </p:nvSpPr>
        <p:spPr>
          <a:xfrm>
            <a:off x="6054435" y="4184073"/>
            <a:ext cx="2355273" cy="612648"/>
          </a:xfrm>
          <a:prstGeom prst="flowChartProcess">
            <a:avLst/>
          </a:prstGeom>
          <a:solidFill>
            <a:srgbClr val="00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SemiBold" pitchFamily="34" charset="0"/>
              </a:rPr>
              <a:t>u</a:t>
            </a:r>
            <a:r>
              <a:rPr lang="en-US" dirty="0" smtClean="0">
                <a:latin typeface="Bahnschrift SemiBold" pitchFamily="34" charset="0"/>
              </a:rPr>
              <a:t>sing Structured tool and pydantic</a:t>
            </a:r>
            <a:endParaRPr lang="en-IN" dirty="0">
              <a:latin typeface="Bahnschrift SemiBold" pitchFamily="34" charset="0"/>
            </a:endParaRPr>
          </a:p>
        </p:txBody>
      </p:sp>
      <p:sp>
        <p:nvSpPr>
          <p:cNvPr id="14" name="Flowchart: Process 13"/>
          <p:cNvSpPr/>
          <p:nvPr/>
        </p:nvSpPr>
        <p:spPr>
          <a:xfrm>
            <a:off x="8853053" y="4170219"/>
            <a:ext cx="2355273" cy="612648"/>
          </a:xfrm>
          <a:prstGeom prst="flowChartProcess">
            <a:avLst/>
          </a:prstGeom>
          <a:solidFill>
            <a:srgbClr val="00CC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Using BaseTool Class</a:t>
            </a:r>
            <a:endParaRPr lang="en-IN" dirty="0">
              <a:latin typeface="Bahnschrift SemiBold" pitchFamily="34" charset="0"/>
            </a:endParaRPr>
          </a:p>
        </p:txBody>
      </p:sp>
      <p:grpSp>
        <p:nvGrpSpPr>
          <p:cNvPr id="21" name="Group 20"/>
          <p:cNvGrpSpPr/>
          <p:nvPr/>
        </p:nvGrpSpPr>
        <p:grpSpPr>
          <a:xfrm>
            <a:off x="4225636" y="2247484"/>
            <a:ext cx="5001491" cy="1714916"/>
            <a:chOff x="4225636" y="2247484"/>
            <a:chExt cx="5001491" cy="1714916"/>
          </a:xfrm>
        </p:grpSpPr>
        <p:cxnSp>
          <p:nvCxnSpPr>
            <p:cNvPr id="15" name="Straight Connector 14"/>
            <p:cNvCxnSpPr/>
            <p:nvPr/>
          </p:nvCxnSpPr>
          <p:spPr>
            <a:xfrm flipH="1">
              <a:off x="4225636" y="2247484"/>
              <a:ext cx="1413164" cy="1562516"/>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638800" y="2247484"/>
              <a:ext cx="1108364" cy="1562516"/>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638800" y="2247484"/>
              <a:ext cx="3588327" cy="1714916"/>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515563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14" name="Group 13"/>
          <p:cNvGrpSpPr/>
          <p:nvPr/>
        </p:nvGrpSpPr>
        <p:grpSpPr>
          <a:xfrm>
            <a:off x="2147453" y="887409"/>
            <a:ext cx="8659092" cy="5755422"/>
            <a:chOff x="2147453" y="386234"/>
            <a:chExt cx="8659092" cy="5755422"/>
          </a:xfrm>
        </p:grpSpPr>
        <p:grpSp>
          <p:nvGrpSpPr>
            <p:cNvPr id="3" name="Group 2"/>
            <p:cNvGrpSpPr/>
            <p:nvPr/>
          </p:nvGrpSpPr>
          <p:grpSpPr>
            <a:xfrm>
              <a:off x="2147453" y="386234"/>
              <a:ext cx="8659092" cy="5755422"/>
              <a:chOff x="3047999" y="58847"/>
              <a:chExt cx="8659092" cy="5755422"/>
            </a:xfrm>
          </p:grpSpPr>
          <p:grpSp>
            <p:nvGrpSpPr>
              <p:cNvPr id="9" name="Group 8"/>
              <p:cNvGrpSpPr/>
              <p:nvPr/>
            </p:nvGrpSpPr>
            <p:grpSpPr>
              <a:xfrm>
                <a:off x="3047999" y="58847"/>
                <a:ext cx="6996546" cy="5755422"/>
                <a:chOff x="3047999" y="58847"/>
                <a:chExt cx="6996546" cy="5755422"/>
              </a:xfrm>
            </p:grpSpPr>
            <p:sp>
              <p:nvSpPr>
                <p:cNvPr id="10" name="Rectangle 9"/>
                <p:cNvSpPr/>
                <p:nvPr/>
              </p:nvSpPr>
              <p:spPr>
                <a:xfrm>
                  <a:off x="3047999" y="58847"/>
                  <a:ext cx="6996546" cy="5755422"/>
                </a:xfrm>
                <a:prstGeom prst="rect">
                  <a:avLst/>
                </a:prstGeom>
                <a:solidFill>
                  <a:schemeClr val="tx1">
                    <a:lumMod val="85000"/>
                    <a:lumOff val="15000"/>
                  </a:schemeClr>
                </a:solidFill>
              </p:spPr>
              <p:txBody>
                <a:bodyPr wrap="square">
                  <a:spAutoFit/>
                </a:bodyPr>
                <a:lstStyle/>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langchain_community.tools</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tool</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#Step 1 - create a function</a:t>
                  </a:r>
                </a:p>
                <a:p>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multiply(a, b):</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   """Multiply two numbers"""</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smtClean="0">
                      <a:solidFill>
                        <a:schemeClr val="accent4">
                          <a:lumMod val="75000"/>
                        </a:schemeClr>
                      </a:solidFill>
                      <a:latin typeface="Cambria Math" pitchFamily="18" charset="0"/>
                      <a:ea typeface="Cambria Math" pitchFamily="18" charset="0"/>
                    </a:rPr>
                    <a:t>a*b</a:t>
                  </a:r>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Step 2 - add type hints</a:t>
                  </a:r>
                </a:p>
                <a:p>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multiply(a:</a:t>
                  </a:r>
                  <a:r>
                    <a:rPr lang="en-IN" sz="1600" dirty="0">
                      <a:solidFill>
                        <a:schemeClr val="accent2">
                          <a:lumMod val="50000"/>
                        </a:schemeClr>
                      </a:solidFill>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int</a:t>
                  </a:r>
                  <a:r>
                    <a:rPr lang="en-IN" sz="1600" dirty="0">
                      <a:latin typeface="Cambria Math" pitchFamily="18" charset="0"/>
                      <a:ea typeface="Cambria Math" pitchFamily="18" charset="0"/>
                    </a:rPr>
                    <a:t>, </a:t>
                  </a:r>
                  <a:r>
                    <a:rPr lang="en-IN" sz="1600" dirty="0">
                      <a:solidFill>
                        <a:schemeClr val="accent2">
                          <a:lumMod val="50000"/>
                        </a:schemeClr>
                      </a:solidFill>
                      <a:latin typeface="Cambria Math" pitchFamily="18" charset="0"/>
                      <a:ea typeface="Cambria Math" pitchFamily="18" charset="0"/>
                    </a:rPr>
                    <a:t>b:</a:t>
                  </a:r>
                  <a:r>
                    <a:rPr lang="en-IN" sz="1600" dirty="0">
                      <a:solidFill>
                        <a:srgbClr val="00CC99"/>
                      </a:solidFill>
                      <a:latin typeface="Cambria Math" pitchFamily="18" charset="0"/>
                      <a:ea typeface="Cambria Math" pitchFamily="18" charset="0"/>
                    </a:rPr>
                    <a:t>int</a:t>
                  </a:r>
                  <a:r>
                    <a:rPr lang="en-IN" sz="1600" dirty="0">
                      <a:solidFill>
                        <a:schemeClr val="accent4">
                          <a:lumMod val="75000"/>
                        </a:schemeClr>
                      </a:solidFill>
                      <a:latin typeface="Cambria Math" pitchFamily="18" charset="0"/>
                      <a:ea typeface="Cambria Math" pitchFamily="18" charset="0"/>
                    </a:rPr>
                    <a:t>) -&gt; </a:t>
                  </a:r>
                  <a:r>
                    <a:rPr lang="en-IN" sz="1600" dirty="0">
                      <a:solidFill>
                        <a:srgbClr val="00CC99"/>
                      </a:solidFill>
                      <a:latin typeface="Cambria Math" pitchFamily="18" charset="0"/>
                      <a:ea typeface="Cambria Math" pitchFamily="18" charset="0"/>
                    </a:rPr>
                    <a:t>int:</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   """Multiply two numbers"""</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a*b</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Step 3 - add tool decorator</a:t>
                  </a:r>
                </a:p>
                <a:p>
                  <a:r>
                    <a:rPr lang="en-IN" sz="1600" dirty="0">
                      <a:solidFill>
                        <a:schemeClr val="accent4">
                          <a:lumMod val="75000"/>
                        </a:schemeClr>
                      </a:solidFill>
                      <a:latin typeface="Cambria Math" pitchFamily="18" charset="0"/>
                      <a:ea typeface="Cambria Math" pitchFamily="18" charset="0"/>
                    </a:rPr>
                    <a:t>@tool</a:t>
                  </a:r>
                </a:p>
                <a:p>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a:t>
                  </a:r>
                  <a:r>
                    <a:rPr lang="en-IN" sz="1600" dirty="0">
                      <a:solidFill>
                        <a:srgbClr val="0070C0"/>
                      </a:solidFill>
                      <a:latin typeface="Cambria Math" pitchFamily="18" charset="0"/>
                      <a:ea typeface="Cambria Math" pitchFamily="18" charset="0"/>
                    </a:rPr>
                    <a:t>(a</a:t>
                  </a:r>
                  <a:r>
                    <a:rPr lang="en-IN" sz="1600" dirty="0">
                      <a:solidFill>
                        <a:schemeClr val="accent4">
                          <a:lumMod val="75000"/>
                        </a:schemeClr>
                      </a:solidFill>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int</a:t>
                  </a:r>
                  <a:r>
                    <a:rPr lang="en-IN" sz="1600" dirty="0">
                      <a:solidFill>
                        <a:schemeClr val="accent4">
                          <a:lumMod val="75000"/>
                        </a:schemeClr>
                      </a:solidFill>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b</a:t>
                  </a:r>
                  <a:r>
                    <a:rPr lang="en-IN" sz="1600" dirty="0">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int</a:t>
                  </a:r>
                  <a:r>
                    <a:rPr lang="en-IN" sz="1600" dirty="0">
                      <a:solidFill>
                        <a:srgbClr val="0070C0"/>
                      </a:solidFill>
                      <a:latin typeface="Cambria Math" pitchFamily="18" charset="0"/>
                      <a:ea typeface="Cambria Math" pitchFamily="18" charset="0"/>
                    </a:rPr>
                    <a:t>) -&gt; </a:t>
                  </a:r>
                  <a:r>
                    <a:rPr lang="en-IN" sz="1600" dirty="0">
                      <a:solidFill>
                        <a:srgbClr val="00CC99"/>
                      </a:solidFill>
                      <a:latin typeface="Cambria Math" pitchFamily="18" charset="0"/>
                      <a:ea typeface="Cambria Math" pitchFamily="18" charset="0"/>
                    </a:rPr>
                    <a:t>int:</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"""Multiply two numbers"""</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a*b</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70C0"/>
                      </a:solidFill>
                      <a:latin typeface="Cambria Math" pitchFamily="18" charset="0"/>
                      <a:ea typeface="Cambria Math" pitchFamily="18" charset="0"/>
                    </a:rPr>
                    <a:t>result</a:t>
                  </a:r>
                  <a:r>
                    <a:rPr lang="en-IN" sz="1600" dirty="0">
                      <a:latin typeface="Cambria Math" pitchFamily="18" charset="0"/>
                      <a:ea typeface="Cambria Math" pitchFamily="18" charset="0"/>
                    </a:rPr>
                    <a:t> </a:t>
                  </a:r>
                  <a:r>
                    <a:rPr lang="en-IN" sz="1600" dirty="0">
                      <a:solidFill>
                        <a:schemeClr val="bg1">
                          <a:lumMod val="95000"/>
                        </a:schemeClr>
                      </a:solidFill>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multiply.invoke({</a:t>
                  </a:r>
                  <a:r>
                    <a:rPr lang="en-IN" sz="1600" dirty="0">
                      <a:solidFill>
                        <a:srgbClr val="FF6600"/>
                      </a:solidFill>
                      <a:latin typeface="Cambria Math" pitchFamily="18" charset="0"/>
                      <a:ea typeface="Cambria Math" pitchFamily="18" charset="0"/>
                    </a:rPr>
                    <a:t>"a"</a:t>
                  </a:r>
                  <a:r>
                    <a:rPr lang="en-IN" sz="1600" dirty="0">
                      <a:solidFill>
                        <a:schemeClr val="accent4">
                          <a:lumMod val="75000"/>
                        </a:schemeClr>
                      </a:solidFill>
                      <a:latin typeface="Cambria Math" pitchFamily="18" charset="0"/>
                      <a:ea typeface="Cambria Math" pitchFamily="18" charset="0"/>
                    </a:rPr>
                    <a:t>:3, </a:t>
                  </a:r>
                  <a:r>
                    <a:rPr lang="en-IN" sz="1600" dirty="0">
                      <a:solidFill>
                        <a:srgbClr val="FF6600"/>
                      </a:solidFill>
                      <a:latin typeface="Cambria Math" pitchFamily="18" charset="0"/>
                      <a:ea typeface="Cambria Math" pitchFamily="18" charset="0"/>
                    </a:rPr>
                    <a:t>"b":</a:t>
                  </a:r>
                  <a:r>
                    <a:rPr lang="en-IN" sz="1600" dirty="0">
                      <a:solidFill>
                        <a:schemeClr val="accent4">
                          <a:lumMod val="75000"/>
                        </a:schemeClr>
                      </a:solidFill>
                      <a:latin typeface="Cambria Math" pitchFamily="18" charset="0"/>
                      <a:ea typeface="Cambria Math" pitchFamily="18" charset="0"/>
                    </a:rPr>
                    <a:t>5})</a:t>
                  </a:r>
                </a:p>
                <a:p>
                  <a:r>
                    <a:rPr lang="en-IN" sz="1600" dirty="0" smtClean="0">
                      <a:solidFill>
                        <a:schemeClr val="accent4">
                          <a:lumMod val="75000"/>
                        </a:schemeClr>
                      </a:solidFill>
                      <a:latin typeface="Cambria Math" pitchFamily="18" charset="0"/>
                      <a:ea typeface="Cambria Math" pitchFamily="18" charset="0"/>
                    </a:rPr>
                    <a:t>print(</a:t>
                  </a:r>
                  <a:r>
                    <a:rPr lang="en-IN" sz="1600" dirty="0" smtClean="0">
                      <a:solidFill>
                        <a:srgbClr val="0070C0"/>
                      </a:solidFill>
                      <a:latin typeface="Cambria Math" pitchFamily="18" charset="0"/>
                      <a:ea typeface="Cambria Math" pitchFamily="18" charset="0"/>
                    </a:rPr>
                    <a:t>result,</a:t>
                  </a:r>
                  <a:r>
                    <a:rPr lang="en-IN" sz="1600" dirty="0">
                      <a:solidFill>
                        <a:schemeClr val="accent4">
                          <a:lumMod val="75000"/>
                        </a:schemeClr>
                      </a:solidFill>
                      <a:latin typeface="Cambria Math" pitchFamily="18" charset="0"/>
                      <a:ea typeface="Cambria Math" pitchFamily="18" charset="0"/>
                    </a:rPr>
                    <a:t> multiply</a:t>
                  </a:r>
                  <a:r>
                    <a:rPr lang="en-IN" sz="1600" dirty="0">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name </a:t>
                  </a:r>
                  <a:r>
                    <a:rPr lang="en-IN" sz="1600" dirty="0" smtClean="0">
                      <a:solidFill>
                        <a:srgbClr val="0070C0"/>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 </a:t>
                  </a:r>
                  <a:r>
                    <a:rPr lang="en-IN" sz="1600" dirty="0" smtClean="0">
                      <a:solidFill>
                        <a:schemeClr val="accent4">
                          <a:lumMod val="75000"/>
                        </a:schemeClr>
                      </a:solidFill>
                      <a:latin typeface="Cambria Math" pitchFamily="18" charset="0"/>
                      <a:ea typeface="Cambria Math" pitchFamily="18" charset="0"/>
                    </a:rPr>
                    <a:t>multiply. Description</a:t>
                  </a:r>
                  <a:r>
                    <a:rPr lang="en-IN" sz="1600" dirty="0" smtClean="0">
                      <a:solidFill>
                        <a:srgbClr val="0070C0"/>
                      </a:solidFill>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 </a:t>
                  </a:r>
                  <a:r>
                    <a:rPr lang="en-IN" sz="1600" dirty="0" smtClean="0">
                      <a:solidFill>
                        <a:schemeClr val="accent4">
                          <a:lumMod val="75000"/>
                        </a:schemeClr>
                      </a:solidFill>
                      <a:latin typeface="Cambria Math" pitchFamily="18" charset="0"/>
                      <a:ea typeface="Cambria Math" pitchFamily="18" charset="0"/>
                    </a:rPr>
                    <a:t>multiply</a:t>
                  </a:r>
                  <a:r>
                    <a:rPr lang="en-IN" sz="1600" dirty="0" smtClean="0">
                      <a:latin typeface="Cambria Math" pitchFamily="18" charset="0"/>
                      <a:ea typeface="Cambria Math" pitchFamily="18" charset="0"/>
                    </a:rPr>
                    <a:t>.</a:t>
                  </a:r>
                  <a:r>
                    <a:rPr lang="en-IN" sz="1600" dirty="0" smtClean="0">
                      <a:solidFill>
                        <a:srgbClr val="0070C0"/>
                      </a:solidFill>
                      <a:latin typeface="Cambria Math" pitchFamily="18" charset="0"/>
                      <a:ea typeface="Cambria Math" pitchFamily="18" charset="0"/>
                    </a:rPr>
                    <a:t>args</a:t>
                  </a:r>
                  <a:r>
                    <a:rPr lang="en-IN" sz="1600" dirty="0" smtClean="0">
                      <a:solidFill>
                        <a:schemeClr val="accent4">
                          <a:lumMod val="75000"/>
                        </a:schemeClr>
                      </a:solidFill>
                      <a:latin typeface="Cambria Math" pitchFamily="18" charset="0"/>
                      <a:ea typeface="Cambria Math" pitchFamily="18" charset="0"/>
                    </a:rPr>
                    <a:t>)</a:t>
                  </a:r>
                  <a:endParaRPr lang="en-IN" sz="1600" dirty="0">
                    <a:solidFill>
                      <a:schemeClr val="accent4">
                        <a:lumMod val="75000"/>
                      </a:schemeClr>
                    </a:solidFill>
                    <a:latin typeface="Cambria Math" pitchFamily="18" charset="0"/>
                    <a:ea typeface="Cambria Math" pitchFamily="18" charset="0"/>
                  </a:endParaRPr>
                </a:p>
                <a:p>
                  <a:endParaRPr lang="en-US" sz="1600" dirty="0" smtClean="0">
                    <a:solidFill>
                      <a:schemeClr val="accent4">
                        <a:lumMod val="75000"/>
                      </a:schemeClr>
                    </a:solidFill>
                    <a:latin typeface="Cambria Math" pitchFamily="18" charset="0"/>
                    <a:ea typeface="Cambria Math" pitchFamily="18" charset="0"/>
                  </a:endParaRPr>
                </a:p>
                <a:p>
                  <a:r>
                    <a:rPr lang="en-US" sz="1600" dirty="0">
                      <a:solidFill>
                        <a:srgbClr val="00B050"/>
                      </a:solidFill>
                      <a:latin typeface="Cambria Math" pitchFamily="18" charset="0"/>
                      <a:ea typeface="Cambria Math" pitchFamily="18" charset="0"/>
                    </a:rPr>
                    <a:t>#Llm see below response </a:t>
                  </a:r>
                  <a:r>
                    <a:rPr lang="en-US" sz="1600" dirty="0" smtClean="0">
                      <a:solidFill>
                        <a:srgbClr val="00B050"/>
                      </a:solidFill>
                      <a:latin typeface="Cambria Math" pitchFamily="18" charset="0"/>
                      <a:ea typeface="Cambria Math" pitchFamily="18" charset="0"/>
                    </a:rPr>
                    <a:t>only from tools  </a:t>
                  </a:r>
                </a:p>
                <a:p>
                  <a:r>
                    <a:rPr lang="en-IN" sz="1600" dirty="0" smtClean="0">
                      <a:solidFill>
                        <a:schemeClr val="accent4">
                          <a:lumMod val="75000"/>
                        </a:schemeClr>
                      </a:solidFill>
                    </a:rPr>
                    <a:t>print( multiply</a:t>
                  </a:r>
                  <a:r>
                    <a:rPr lang="en-IN" sz="1600" dirty="0" smtClean="0">
                      <a:solidFill>
                        <a:schemeClr val="bg1"/>
                      </a:solidFill>
                    </a:rPr>
                    <a:t>.</a:t>
                  </a:r>
                  <a:r>
                    <a:rPr lang="en-IN" sz="1600" dirty="0" smtClean="0">
                      <a:solidFill>
                        <a:srgbClr val="0070C0"/>
                      </a:solidFill>
                    </a:rPr>
                    <a:t>args_schema</a:t>
                  </a:r>
                  <a:r>
                    <a:rPr lang="en-IN" sz="1600" dirty="0" smtClean="0">
                      <a:solidFill>
                        <a:schemeClr val="bg1"/>
                      </a:solidFill>
                    </a:rPr>
                    <a:t>.</a:t>
                  </a:r>
                  <a:r>
                    <a:rPr lang="en-IN" sz="1600" dirty="0" smtClean="0">
                      <a:solidFill>
                        <a:schemeClr val="accent4">
                          <a:lumMod val="75000"/>
                        </a:schemeClr>
                      </a:solidFill>
                    </a:rPr>
                    <a:t>model_json_schema())</a:t>
                  </a:r>
                  <a:endParaRPr lang="en-IN" sz="1600" dirty="0">
                    <a:solidFill>
                      <a:schemeClr val="accent4">
                        <a:lumMod val="75000"/>
                      </a:schemeClr>
                    </a:solidFill>
                  </a:endParaRPr>
                </a:p>
              </p:txBody>
            </p:sp>
            <p:sp>
              <p:nvSpPr>
                <p:cNvPr id="11" name="Flowchart: Connector 10"/>
                <p:cNvSpPr/>
                <p:nvPr/>
              </p:nvSpPr>
              <p:spPr>
                <a:xfrm>
                  <a:off x="6026726" y="750603"/>
                  <a:ext cx="332509" cy="353943"/>
                </a:xfrm>
                <a:prstGeom prst="flowChartConnector">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Rounded MT Bold" pitchFamily="34" charset="0"/>
                    </a:rPr>
                    <a:t>1</a:t>
                  </a:r>
                  <a:endParaRPr lang="en-IN" dirty="0">
                    <a:latin typeface="Arial Rounded MT Bold" pitchFamily="34" charset="0"/>
                  </a:endParaRPr>
                </a:p>
              </p:txBody>
            </p:sp>
            <p:sp>
              <p:nvSpPr>
                <p:cNvPr id="12" name="Flowchart: Connector 11"/>
                <p:cNvSpPr/>
                <p:nvPr/>
              </p:nvSpPr>
              <p:spPr>
                <a:xfrm>
                  <a:off x="6026727" y="2073060"/>
                  <a:ext cx="332509" cy="353943"/>
                </a:xfrm>
                <a:prstGeom prst="flowChartConnector">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2</a:t>
                  </a:r>
                  <a:endParaRPr lang="en-IN" dirty="0">
                    <a:latin typeface="Bahnschrift SemiBold" pitchFamily="34" charset="0"/>
                  </a:endParaRPr>
                </a:p>
              </p:txBody>
            </p:sp>
            <p:sp>
              <p:nvSpPr>
                <p:cNvPr id="13" name="Flowchart: Connector 12"/>
                <p:cNvSpPr/>
                <p:nvPr/>
              </p:nvSpPr>
              <p:spPr>
                <a:xfrm>
                  <a:off x="6192981" y="3437733"/>
                  <a:ext cx="332509" cy="353943"/>
                </a:xfrm>
                <a:prstGeom prst="flowChartConnector">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SemiBold" pitchFamily="34" charset="0"/>
                    </a:rPr>
                    <a:t>3</a:t>
                  </a:r>
                  <a:endParaRPr lang="en-IN" dirty="0">
                    <a:latin typeface="Bahnschrift SemiBold" pitchFamily="34" charset="0"/>
                  </a:endParaRPr>
                </a:p>
              </p:txBody>
            </p:sp>
          </p:grpSp>
          <p:sp>
            <p:nvSpPr>
              <p:cNvPr id="2" name="TextBox 1"/>
              <p:cNvSpPr txBox="1"/>
              <p:nvPr/>
            </p:nvSpPr>
            <p:spPr>
              <a:xfrm>
                <a:off x="10501745" y="2631997"/>
                <a:ext cx="1205346" cy="646331"/>
              </a:xfrm>
              <a:prstGeom prst="rect">
                <a:avLst/>
              </a:prstGeom>
              <a:solidFill>
                <a:srgbClr val="00CC99"/>
              </a:solidFill>
            </p:spPr>
            <p:txBody>
              <a:bodyPr wrap="square" rtlCol="0">
                <a:spAutoFit/>
              </a:bodyPr>
              <a:lstStyle/>
              <a:p>
                <a:r>
                  <a:rPr lang="en-US" dirty="0" smtClean="0">
                    <a:solidFill>
                      <a:schemeClr val="bg1"/>
                    </a:solidFill>
                    <a:latin typeface="Bahnschrift SemiCondensed" pitchFamily="34" charset="0"/>
                  </a:rPr>
                  <a:t>@tool </a:t>
                </a:r>
              </a:p>
              <a:p>
                <a:r>
                  <a:rPr lang="en-US" dirty="0" smtClean="0">
                    <a:solidFill>
                      <a:schemeClr val="bg1"/>
                    </a:solidFill>
                    <a:latin typeface="Bahnschrift SemiCondensed" pitchFamily="34" charset="0"/>
                  </a:rPr>
                  <a:t>Decorator</a:t>
                </a:r>
                <a:endParaRPr lang="en-IN" dirty="0">
                  <a:solidFill>
                    <a:schemeClr val="bg1"/>
                  </a:solidFill>
                  <a:latin typeface="Bahnschrift SemiCondensed" pitchFamily="34" charset="0"/>
                </a:endParaRPr>
              </a:p>
            </p:txBody>
          </p:sp>
        </p:grpSp>
        <p:sp>
          <p:nvSpPr>
            <p:cNvPr id="5" name="Flowchart: Connector 4"/>
            <p:cNvSpPr/>
            <p:nvPr/>
          </p:nvSpPr>
          <p:spPr>
            <a:xfrm>
              <a:off x="9143999" y="3053949"/>
              <a:ext cx="457200" cy="457200"/>
            </a:xfrm>
            <a:prstGeom prst="flowChartConnector">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IN" dirty="0"/>
            </a:p>
          </p:txBody>
        </p:sp>
      </p:grpSp>
      <p:grpSp>
        <p:nvGrpSpPr>
          <p:cNvPr id="15" name="Group 14"/>
          <p:cNvGrpSpPr/>
          <p:nvPr/>
        </p:nvGrpSpPr>
        <p:grpSpPr>
          <a:xfrm>
            <a:off x="1428214" y="381271"/>
            <a:ext cx="3656404" cy="369332"/>
            <a:chOff x="1428214" y="381271"/>
            <a:chExt cx="3656404" cy="369332"/>
          </a:xfrm>
          <a:solidFill>
            <a:srgbClr val="00B050"/>
          </a:solidFill>
        </p:grpSpPr>
        <p:sp>
          <p:nvSpPr>
            <p:cNvPr id="16" name="Rectangle 15"/>
            <p:cNvSpPr/>
            <p:nvPr/>
          </p:nvSpPr>
          <p:spPr>
            <a:xfrm>
              <a:off x="1691450" y="381271"/>
              <a:ext cx="2846933" cy="369332"/>
            </a:xfrm>
            <a:prstGeom prst="rect">
              <a:avLst/>
            </a:prstGeom>
            <a:solidFill>
              <a:srgbClr val="00B050"/>
            </a:solidFill>
          </p:spPr>
          <p:txBody>
            <a:bodyPr wrap="none">
              <a:spAutoFit/>
            </a:bodyPr>
            <a:lstStyle/>
            <a:p>
              <a:r>
                <a:rPr lang="en-IN" dirty="0" smtClean="0">
                  <a:solidFill>
                    <a:schemeClr val="bg1"/>
                  </a:solidFill>
                  <a:latin typeface="Arial Rounded MT Bold" pitchFamily="34" charset="0"/>
                </a:rPr>
                <a:t>Using @tool   Decorator</a:t>
              </a:r>
              <a:endParaRPr lang="en-IN" dirty="0">
                <a:solidFill>
                  <a:schemeClr val="bg1"/>
                </a:solidFill>
                <a:latin typeface="Arial Rounded MT Bold" pitchFamily="34" charset="0"/>
              </a:endParaRPr>
            </a:p>
          </p:txBody>
        </p:sp>
        <p:cxnSp>
          <p:nvCxnSpPr>
            <p:cNvPr id="17" name="Straight Connector 16"/>
            <p:cNvCxnSpPr/>
            <p:nvPr/>
          </p:nvCxnSpPr>
          <p:spPr>
            <a:xfrm flipV="1">
              <a:off x="1428214" y="396660"/>
              <a:ext cx="3656404" cy="1"/>
            </a:xfrm>
            <a:prstGeom prst="line">
              <a:avLst/>
            </a:prstGeom>
            <a:grpFill/>
            <a:ln>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8" name="Flowchart: Process 17"/>
          <p:cNvSpPr/>
          <p:nvPr/>
        </p:nvSpPr>
        <p:spPr>
          <a:xfrm>
            <a:off x="7633855" y="725351"/>
            <a:ext cx="1801091" cy="467764"/>
          </a:xfrm>
          <a:prstGeom prst="flowChartProcess">
            <a:avLst/>
          </a:prstGeom>
          <a:solidFill>
            <a:srgbClr val="FF0066"/>
          </a:solidFill>
          <a:ln>
            <a:solidFill>
              <a:srgbClr val="FF0066"/>
            </a:solidFill>
          </a:ln>
          <a:effectLst>
            <a:glow rad="228600">
              <a:schemeClr val="accent2">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latin typeface="Bahnschrift SemiBold" pitchFamily="34" charset="0"/>
              </a:rPr>
              <a:t>Mostly We Used it</a:t>
            </a:r>
            <a:endParaRPr lang="en-IN" sz="1600" dirty="0">
              <a:solidFill>
                <a:schemeClr val="bg1"/>
              </a:solidFill>
              <a:latin typeface="Bahnschrift SemiBold" pitchFamily="34" charset="0"/>
            </a:endParaRPr>
          </a:p>
        </p:txBody>
      </p:sp>
    </p:spTree>
    <p:extLst>
      <p:ext uri="{BB962C8B-B14F-4D97-AF65-F5344CB8AC3E}">
        <p14:creationId xmlns:p14="http://schemas.microsoft.com/office/powerpoint/2010/main" val="38737824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28214" y="381271"/>
            <a:ext cx="3757654" cy="369332"/>
            <a:chOff x="1428214" y="381271"/>
            <a:chExt cx="3757654" cy="369332"/>
          </a:xfrm>
          <a:solidFill>
            <a:srgbClr val="00B050"/>
          </a:solidFill>
        </p:grpSpPr>
        <p:sp>
          <p:nvSpPr>
            <p:cNvPr id="10" name="Rectangle 9"/>
            <p:cNvSpPr/>
            <p:nvPr/>
          </p:nvSpPr>
          <p:spPr>
            <a:xfrm>
              <a:off x="1691450" y="381271"/>
              <a:ext cx="3494418" cy="369332"/>
            </a:xfrm>
            <a:prstGeom prst="rect">
              <a:avLst/>
            </a:prstGeom>
            <a:grpFill/>
            <a:ln>
              <a:solidFill>
                <a:srgbClr val="00B050"/>
              </a:solidFill>
            </a:ln>
          </p:spPr>
          <p:txBody>
            <a:bodyPr wrap="none">
              <a:spAutoFit/>
            </a:bodyPr>
            <a:lstStyle/>
            <a:p>
              <a:r>
                <a:rPr lang="en-IN" dirty="0" smtClean="0">
                  <a:solidFill>
                    <a:schemeClr val="bg1"/>
                  </a:solidFill>
                  <a:latin typeface="Arial Rounded MT Bold" pitchFamily="34" charset="0"/>
                </a:rPr>
                <a:t>Using StructuredTool   Class?</a:t>
              </a:r>
              <a:endParaRPr lang="en-IN" dirty="0">
                <a:solidFill>
                  <a:schemeClr val="bg1"/>
                </a:solidFill>
                <a:latin typeface="Arial Rounded MT Bold" pitchFamily="34" charset="0"/>
              </a:endParaRPr>
            </a:p>
          </p:txBody>
        </p:sp>
        <p:cxnSp>
          <p:nvCxnSpPr>
            <p:cNvPr id="11" name="Straight Connector 10"/>
            <p:cNvCxnSpPr/>
            <p:nvPr/>
          </p:nvCxnSpPr>
          <p:spPr>
            <a:xfrm flipV="1">
              <a:off x="1428214" y="396660"/>
              <a:ext cx="3656404" cy="1"/>
            </a:xfrm>
            <a:prstGeom prst="line">
              <a:avLst/>
            </a:prstGeom>
            <a:grpFill/>
            <a:ln>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2576945" y="1000956"/>
            <a:ext cx="8520545" cy="5509200"/>
          </a:xfrm>
          <a:prstGeom prst="rect">
            <a:avLst/>
          </a:prstGeom>
          <a:solidFill>
            <a:schemeClr val="bg2">
              <a:lumMod val="25000"/>
            </a:schemeClr>
          </a:solidFill>
          <a:ln>
            <a:solidFill>
              <a:srgbClr val="00B0F0"/>
            </a:solidFill>
          </a:ln>
        </p:spPr>
        <p:txBody>
          <a:bodyPr wrap="square">
            <a:spAutoFit/>
          </a:bodyPr>
          <a:lstStyle/>
          <a:p>
            <a:r>
              <a:rPr lang="en-IN" sz="1600" dirty="0">
                <a:solidFill>
                  <a:srgbClr val="FF0066"/>
                </a:solidFill>
                <a:latin typeface="Cambria Math" pitchFamily="18" charset="0"/>
                <a:ea typeface="Cambria Math" pitchFamily="18" charset="0"/>
              </a:rPr>
              <a:t>from </a:t>
            </a:r>
            <a:r>
              <a:rPr lang="en-IN" sz="1600" dirty="0">
                <a:solidFill>
                  <a:srgbClr val="00CC99"/>
                </a:solidFill>
                <a:latin typeface="Cambria Math" pitchFamily="18" charset="0"/>
                <a:ea typeface="Cambria Math" pitchFamily="18" charset="0"/>
              </a:rPr>
              <a:t>langchain_community.tools</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StructuredTool</a:t>
            </a:r>
          </a:p>
          <a:p>
            <a:r>
              <a:rPr lang="en-IN" sz="1600" dirty="0">
                <a:solidFill>
                  <a:srgbClr val="FF0066"/>
                </a:solidFill>
                <a:latin typeface="Cambria Math" pitchFamily="18" charset="0"/>
                <a:ea typeface="Cambria Math" pitchFamily="18" charset="0"/>
              </a:rPr>
              <a:t>from </a:t>
            </a:r>
            <a:r>
              <a:rPr lang="en-IN" sz="1600" dirty="0">
                <a:solidFill>
                  <a:srgbClr val="00CC99"/>
                </a:solidFill>
                <a:latin typeface="Cambria Math" pitchFamily="18" charset="0"/>
                <a:ea typeface="Cambria Math" pitchFamily="18" charset="0"/>
              </a:rPr>
              <a:t>pydantic</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BaseModel,Field</a:t>
            </a:r>
          </a:p>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typing</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 </a:t>
            </a:r>
            <a:r>
              <a:rPr lang="en-IN" sz="1600" dirty="0">
                <a:solidFill>
                  <a:srgbClr val="00CC99"/>
                </a:solidFill>
                <a:latin typeface="Cambria Math" pitchFamily="18" charset="0"/>
                <a:ea typeface="Cambria Math" pitchFamily="18" charset="0"/>
              </a:rPr>
              <a:t>Type</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#baseModel Used for Pydantic Model</a:t>
            </a:r>
          </a:p>
          <a:p>
            <a:r>
              <a:rPr lang="en-IN" sz="1600" dirty="0">
                <a:solidFill>
                  <a:srgbClr val="0070C0"/>
                </a:solidFill>
                <a:latin typeface="Cambria Math" pitchFamily="18" charset="0"/>
                <a:ea typeface="Cambria Math" pitchFamily="18" charset="0"/>
              </a:rPr>
              <a:t>class</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MultiplyInput</a:t>
            </a:r>
            <a:r>
              <a:rPr lang="en-IN" sz="1600" dirty="0">
                <a:solidFill>
                  <a:srgbClr val="0070C0"/>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BaseMode</a:t>
            </a:r>
            <a:r>
              <a:rPr lang="en-IN" sz="1600" dirty="0">
                <a:solidFill>
                  <a:srgbClr val="00B050"/>
                </a:solidFill>
                <a:latin typeface="Cambria Math" pitchFamily="18" charset="0"/>
                <a:ea typeface="Cambria Math" pitchFamily="18" charset="0"/>
              </a:rPr>
              <a:t>l</a:t>
            </a:r>
            <a:r>
              <a:rPr lang="en-IN" sz="1600" dirty="0">
                <a:solidFill>
                  <a:srgbClr val="0070C0"/>
                </a:solidFill>
                <a:latin typeface="Cambria Math" pitchFamily="18" charset="0"/>
                <a:ea typeface="Cambria Math" pitchFamily="18" charset="0"/>
              </a:rPr>
              <a:t>) :</a:t>
            </a:r>
          </a:p>
          <a:p>
            <a:r>
              <a:rPr lang="en-IN" sz="1600"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a:</a:t>
            </a:r>
            <a:r>
              <a:rPr lang="en-IN" sz="1600" dirty="0">
                <a:solidFill>
                  <a:srgbClr val="00CC99"/>
                </a:solidFill>
                <a:latin typeface="Cambria Math" pitchFamily="18" charset="0"/>
                <a:ea typeface="Cambria Math" pitchFamily="18" charset="0"/>
              </a:rPr>
              <a:t>int</a:t>
            </a:r>
            <a:r>
              <a:rPr lang="en-IN" sz="1600" dirty="0">
                <a:solidFill>
                  <a:schemeClr val="accent4">
                    <a:lumMod val="75000"/>
                  </a:schemeClr>
                </a:solidFill>
                <a:latin typeface="Cambria Math" pitchFamily="18" charset="0"/>
                <a:ea typeface="Cambria Math" pitchFamily="18" charset="0"/>
              </a:rPr>
              <a:t>=Field</a:t>
            </a:r>
            <a:r>
              <a:rPr lang="en-IN" sz="1600" dirty="0">
                <a:solidFill>
                  <a:srgbClr val="00B0F0"/>
                </a:solidFill>
                <a:latin typeface="Cambria Math" pitchFamily="18" charset="0"/>
                <a:ea typeface="Cambria Math" pitchFamily="18" charset="0"/>
              </a:rPr>
              <a:t>( required=</a:t>
            </a:r>
            <a:r>
              <a:rPr lang="en-IN" sz="1600" dirty="0">
                <a:solidFill>
                  <a:srgbClr val="0070C0"/>
                </a:solidFill>
                <a:latin typeface="Cambria Math" pitchFamily="18" charset="0"/>
                <a:ea typeface="Cambria Math" pitchFamily="18" charset="0"/>
              </a:rPr>
              <a:t>True,</a:t>
            </a:r>
            <a:r>
              <a:rPr lang="en-IN" sz="1600" dirty="0">
                <a:solidFill>
                  <a:srgbClr val="15C2FF"/>
                </a:solidFill>
                <a:latin typeface="Cambria Math" pitchFamily="18" charset="0"/>
                <a:ea typeface="Cambria Math" pitchFamily="18" charset="0"/>
              </a:rPr>
              <a:t>description</a:t>
            </a:r>
            <a:r>
              <a:rPr lang="en-IN" sz="1600" dirty="0">
                <a:solidFill>
                  <a:srgbClr val="CC3300"/>
                </a:solidFill>
                <a:latin typeface="Cambria Math" pitchFamily="18" charset="0"/>
                <a:ea typeface="Cambria Math" pitchFamily="18" charset="0"/>
              </a:rPr>
              <a:t>="first number to multiply")</a:t>
            </a:r>
          </a:p>
          <a:p>
            <a:r>
              <a:rPr lang="en-IN" sz="1600" dirty="0">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b:</a:t>
            </a:r>
            <a:r>
              <a:rPr lang="en-IN" sz="1600" dirty="0">
                <a:solidFill>
                  <a:srgbClr val="00CC99"/>
                </a:solidFill>
                <a:latin typeface="Cambria Math" pitchFamily="18" charset="0"/>
                <a:ea typeface="Cambria Math" pitchFamily="18" charset="0"/>
              </a:rPr>
              <a:t>int</a:t>
            </a:r>
            <a:r>
              <a:rPr lang="en-IN" sz="1600" dirty="0">
                <a:solidFill>
                  <a:schemeClr val="accent4">
                    <a:lumMod val="75000"/>
                  </a:schemeClr>
                </a:solidFill>
                <a:latin typeface="Cambria Math" pitchFamily="18" charset="0"/>
                <a:ea typeface="Cambria Math" pitchFamily="18" charset="0"/>
              </a:rPr>
              <a:t>=Field</a:t>
            </a:r>
            <a:r>
              <a:rPr lang="en-IN" sz="1600" dirty="0">
                <a:solidFill>
                  <a:srgbClr val="00B0F0"/>
                </a:solidFill>
                <a:latin typeface="Cambria Math" pitchFamily="18" charset="0"/>
                <a:ea typeface="Cambria Math" pitchFamily="18" charset="0"/>
              </a:rPr>
              <a:t>(required=</a:t>
            </a:r>
            <a:r>
              <a:rPr lang="en-IN" sz="1600" dirty="0">
                <a:solidFill>
                  <a:srgbClr val="0070C0"/>
                </a:solidFill>
                <a:latin typeface="Cambria Math" pitchFamily="18" charset="0"/>
                <a:ea typeface="Cambria Math" pitchFamily="18" charset="0"/>
              </a:rPr>
              <a:t>True,</a:t>
            </a:r>
            <a:r>
              <a:rPr lang="en-IN" sz="1600" dirty="0">
                <a:solidFill>
                  <a:srgbClr val="15C2FF"/>
                </a:solidFill>
                <a:latin typeface="Cambria Math" pitchFamily="18" charset="0"/>
                <a:ea typeface="Cambria Math" pitchFamily="18" charset="0"/>
              </a:rPr>
              <a:t>description</a:t>
            </a:r>
            <a:r>
              <a:rPr lang="en-IN" sz="1600" dirty="0">
                <a:solidFill>
                  <a:srgbClr val="CC3300"/>
                </a:solidFill>
                <a:latin typeface="Cambria Math" pitchFamily="18" charset="0"/>
                <a:ea typeface="Cambria Math" pitchFamily="18" charset="0"/>
              </a:rPr>
              <a:t>="second number to multiply")</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70C0"/>
                </a:solidFill>
                <a:latin typeface="Cambria Math" pitchFamily="18" charset="0"/>
                <a:ea typeface="Cambria Math" pitchFamily="18" charset="0"/>
              </a:rPr>
              <a:t>def </a:t>
            </a:r>
            <a:r>
              <a:rPr lang="en-IN" sz="1600" dirty="0">
                <a:solidFill>
                  <a:schemeClr val="accent4">
                    <a:lumMod val="75000"/>
                  </a:schemeClr>
                </a:solidFill>
                <a:latin typeface="Cambria Math" pitchFamily="18" charset="0"/>
                <a:ea typeface="Cambria Math" pitchFamily="18" charset="0"/>
              </a:rPr>
              <a:t>multiply_fun</a:t>
            </a:r>
            <a:r>
              <a:rPr lang="en-IN" sz="1600" dirty="0">
                <a:solidFill>
                  <a:srgbClr val="0070C0"/>
                </a:solidFill>
                <a:latin typeface="Cambria Math" pitchFamily="18" charset="0"/>
                <a:ea typeface="Cambria Math" pitchFamily="18" charset="0"/>
              </a:rPr>
              <a:t>(a</a:t>
            </a:r>
            <a:r>
              <a:rPr lang="en-IN" sz="1600" dirty="0">
                <a:solidFill>
                  <a:srgbClr val="00CC99"/>
                </a:solidFill>
                <a:latin typeface="Cambria Math" pitchFamily="18" charset="0"/>
                <a:ea typeface="Cambria Math" pitchFamily="18" charset="0"/>
              </a:rPr>
              <a:t>:in</a:t>
            </a:r>
            <a:r>
              <a:rPr lang="en-IN" sz="1600" dirty="0">
                <a:solidFill>
                  <a:srgbClr val="0070C0"/>
                </a:solidFill>
                <a:latin typeface="Cambria Math" pitchFamily="18" charset="0"/>
                <a:ea typeface="Cambria Math" pitchFamily="18" charset="0"/>
              </a:rPr>
              <a:t>t,b</a:t>
            </a:r>
            <a:r>
              <a:rPr lang="en-IN" sz="1600" dirty="0">
                <a:solidFill>
                  <a:srgbClr val="00CC99"/>
                </a:solidFill>
                <a:latin typeface="Cambria Math" pitchFamily="18" charset="0"/>
                <a:ea typeface="Cambria Math" pitchFamily="18" charset="0"/>
              </a:rPr>
              <a:t>:int</a:t>
            </a:r>
            <a:r>
              <a:rPr lang="en-IN" sz="1600" dirty="0">
                <a:solidFill>
                  <a:srgbClr val="0070C0"/>
                </a:solidFill>
                <a:latin typeface="Cambria Math" pitchFamily="18" charset="0"/>
                <a:ea typeface="Cambria Math" pitchFamily="18" charset="0"/>
              </a:rPr>
              <a:t>)</a:t>
            </a:r>
            <a:r>
              <a:rPr lang="en-IN" sz="1600"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-&gt;</a:t>
            </a:r>
            <a:r>
              <a:rPr lang="en-IN" sz="1600" dirty="0">
                <a:solidFill>
                  <a:srgbClr val="00CC99"/>
                </a:solidFill>
                <a:latin typeface="Cambria Math" pitchFamily="18" charset="0"/>
                <a:ea typeface="Cambria Math" pitchFamily="18" charset="0"/>
              </a:rPr>
              <a:t>int:</a:t>
            </a:r>
          </a:p>
          <a:p>
            <a:r>
              <a:rPr lang="en-IN" sz="1600"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a*b</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 StructuredTool</a:t>
            </a:r>
            <a:endParaRPr lang="en-IN" sz="1600" dirty="0">
              <a:solidFill>
                <a:srgbClr val="00B0F0"/>
              </a:solidFill>
              <a:latin typeface="Cambria Math" pitchFamily="18" charset="0"/>
              <a:ea typeface="Cambria Math" pitchFamily="18" charset="0"/>
            </a:endParaRPr>
          </a:p>
          <a:p>
            <a:r>
              <a:rPr lang="en-IN" sz="1600" dirty="0">
                <a:solidFill>
                  <a:srgbClr val="00B0F0"/>
                </a:solidFill>
                <a:latin typeface="Cambria Math" pitchFamily="18" charset="0"/>
                <a:ea typeface="Cambria Math" pitchFamily="18" charset="0"/>
              </a:rPr>
              <a:t>multiply_tool=</a:t>
            </a:r>
            <a:r>
              <a:rPr lang="en-IN" sz="1600" dirty="0">
                <a:solidFill>
                  <a:srgbClr val="00CC99"/>
                </a:solidFill>
                <a:latin typeface="Cambria Math" pitchFamily="18" charset="0"/>
                <a:ea typeface="Cambria Math" pitchFamily="18" charset="0"/>
              </a:rPr>
              <a:t>StructuredTool</a:t>
            </a:r>
            <a:r>
              <a:rPr lang="en-IN" sz="1600" dirty="0">
                <a:solidFill>
                  <a:schemeClr val="accent4">
                    <a:lumMod val="75000"/>
                  </a:schemeClr>
                </a:solidFill>
                <a:latin typeface="Cambria Math" pitchFamily="18" charset="0"/>
                <a:ea typeface="Cambria Math" pitchFamily="18" charset="0"/>
              </a:rPr>
              <a:t>.from_function(</a:t>
            </a:r>
          </a:p>
          <a:p>
            <a:r>
              <a:rPr lang="en-IN" sz="1600" dirty="0">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name=</a:t>
            </a:r>
            <a:r>
              <a:rPr lang="en-IN" sz="1600" dirty="0">
                <a:solidFill>
                  <a:srgbClr val="CC3300"/>
                </a:solidFill>
                <a:latin typeface="Cambria Math" pitchFamily="18" charset="0"/>
                <a:ea typeface="Cambria Math" pitchFamily="18" charset="0"/>
              </a:rPr>
              <a:t>"Multiply",</a:t>
            </a:r>
          </a:p>
          <a:p>
            <a:r>
              <a:rPr lang="en-IN" sz="1600" dirty="0">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description=</a:t>
            </a:r>
            <a:r>
              <a:rPr lang="en-IN" sz="1600" dirty="0">
                <a:solidFill>
                  <a:srgbClr val="CC3300"/>
                </a:solidFill>
                <a:latin typeface="Cambria Math" pitchFamily="18" charset="0"/>
                <a:ea typeface="Cambria Math" pitchFamily="18" charset="0"/>
              </a:rPr>
              <a:t>"Multiply to two number",</a:t>
            </a:r>
          </a:p>
          <a:p>
            <a:r>
              <a:rPr lang="en-IN" sz="1600" dirty="0">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args_schema=</a:t>
            </a:r>
            <a:r>
              <a:rPr lang="en-IN" sz="1600" dirty="0">
                <a:solidFill>
                  <a:srgbClr val="00CC99"/>
                </a:solidFill>
                <a:latin typeface="Cambria Math" pitchFamily="18" charset="0"/>
                <a:ea typeface="Cambria Math" pitchFamily="18" charset="0"/>
              </a:rPr>
              <a:t>MultiplyInput</a:t>
            </a:r>
            <a:r>
              <a:rPr lang="en-IN" sz="1600" dirty="0">
                <a:solidFill>
                  <a:srgbClr val="CC3300"/>
                </a:solidFill>
                <a:latin typeface="Cambria Math" pitchFamily="18" charset="0"/>
                <a:ea typeface="Cambria Math" pitchFamily="18" charset="0"/>
              </a:rPr>
              <a:t>,</a:t>
            </a:r>
          </a:p>
          <a:p>
            <a:r>
              <a:rPr lang="en-IN" sz="1600" dirty="0">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func=</a:t>
            </a:r>
            <a:r>
              <a:rPr lang="en-IN" sz="1600" dirty="0">
                <a:solidFill>
                  <a:schemeClr val="accent4">
                    <a:lumMod val="75000"/>
                  </a:schemeClr>
                </a:solidFill>
                <a:latin typeface="Cambria Math" pitchFamily="18" charset="0"/>
                <a:ea typeface="Cambria Math" pitchFamily="18" charset="0"/>
              </a:rPr>
              <a:t>multiply_fun</a:t>
            </a:r>
          </a:p>
          <a:p>
            <a:r>
              <a:rPr lang="en-IN" sz="1600" dirty="0">
                <a:solidFill>
                  <a:srgbClr val="00B0F0"/>
                </a:solidFill>
                <a:latin typeface="Cambria Math" pitchFamily="18" charset="0"/>
                <a:ea typeface="Cambria Math" pitchFamily="18" charset="0"/>
              </a:rPr>
              <a:t>)</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F0"/>
                </a:solidFill>
                <a:latin typeface="Cambria Math" pitchFamily="18" charset="0"/>
                <a:ea typeface="Cambria Math" pitchFamily="18" charset="0"/>
              </a:rPr>
              <a:t>result=multiply_tool.</a:t>
            </a:r>
            <a:r>
              <a:rPr lang="en-IN" sz="1600" dirty="0">
                <a:solidFill>
                  <a:schemeClr val="accent4">
                    <a:lumMod val="75000"/>
                  </a:schemeClr>
                </a:solidFill>
                <a:latin typeface="Cambria Math" pitchFamily="18" charset="0"/>
                <a:ea typeface="Cambria Math" pitchFamily="18" charset="0"/>
              </a:rPr>
              <a:t>invoke({</a:t>
            </a:r>
            <a:r>
              <a:rPr lang="en-IN" sz="1600" dirty="0">
                <a:solidFill>
                  <a:srgbClr val="CC3300"/>
                </a:solidFill>
                <a:latin typeface="Cambria Math" pitchFamily="18" charset="0"/>
                <a:ea typeface="Cambria Math" pitchFamily="18" charset="0"/>
              </a:rPr>
              <a:t>"a":</a:t>
            </a:r>
            <a:r>
              <a:rPr lang="en-IN" sz="1600" dirty="0" smtClean="0">
                <a:solidFill>
                  <a:srgbClr val="0070C0"/>
                </a:solidFill>
                <a:latin typeface="Cambria Math" pitchFamily="18" charset="0"/>
                <a:ea typeface="Cambria Math" pitchFamily="18" charset="0"/>
              </a:rPr>
              <a:t>22,</a:t>
            </a:r>
            <a:r>
              <a:rPr lang="en-IN" sz="1600" dirty="0" smtClean="0">
                <a:solidFill>
                  <a:srgbClr val="CC3300"/>
                </a:solidFill>
                <a:latin typeface="Cambria Math" pitchFamily="18" charset="0"/>
                <a:ea typeface="Cambria Math" pitchFamily="18" charset="0"/>
              </a:rPr>
              <a:t>"</a:t>
            </a:r>
            <a:r>
              <a:rPr lang="en-IN" sz="1600" dirty="0">
                <a:solidFill>
                  <a:srgbClr val="CC3300"/>
                </a:solidFill>
                <a:latin typeface="Cambria Math" pitchFamily="18" charset="0"/>
                <a:ea typeface="Cambria Math" pitchFamily="18" charset="0"/>
              </a:rPr>
              <a:t>b":</a:t>
            </a:r>
            <a:r>
              <a:rPr lang="en-IN" sz="1600" dirty="0">
                <a:solidFill>
                  <a:srgbClr val="0070C0"/>
                </a:solidFill>
                <a:latin typeface="Cambria Math" pitchFamily="18" charset="0"/>
                <a:ea typeface="Cambria Math" pitchFamily="18" charset="0"/>
              </a:rPr>
              <a:t>2})</a:t>
            </a:r>
          </a:p>
          <a:p>
            <a:r>
              <a:rPr lang="en-IN" sz="1600" dirty="0">
                <a:solidFill>
                  <a:schemeClr val="accent4">
                    <a:lumMod val="75000"/>
                  </a:schemeClr>
                </a:solidFill>
                <a:latin typeface="Cambria Math" pitchFamily="18" charset="0"/>
                <a:ea typeface="Cambria Math" pitchFamily="18" charset="0"/>
              </a:rPr>
              <a:t>print(</a:t>
            </a:r>
            <a:r>
              <a:rPr lang="en-IN" sz="1600" dirty="0">
                <a:solidFill>
                  <a:srgbClr val="00B0F0"/>
                </a:solidFill>
                <a:latin typeface="Cambria Math" pitchFamily="18" charset="0"/>
                <a:ea typeface="Cambria Math" pitchFamily="18" charset="0"/>
              </a:rPr>
              <a:t>result</a:t>
            </a:r>
            <a:r>
              <a:rPr lang="en-IN" sz="1600" dirty="0">
                <a:solidFill>
                  <a:schemeClr val="accent4">
                    <a:lumMod val="75000"/>
                  </a:schemeClr>
                </a:solidFill>
                <a:latin typeface="Cambria Math" pitchFamily="18" charset="0"/>
                <a:ea typeface="Cambria Math" pitchFamily="18" charset="0"/>
              </a:rPr>
              <a:t>)</a:t>
            </a:r>
          </a:p>
        </p:txBody>
      </p:sp>
    </p:spTree>
    <p:extLst>
      <p:ext uri="{BB962C8B-B14F-4D97-AF65-F5344CB8AC3E}">
        <p14:creationId xmlns:p14="http://schemas.microsoft.com/office/powerpoint/2010/main" val="8244571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593274" y="988588"/>
            <a:ext cx="9961416" cy="830997"/>
          </a:xfrm>
          <a:prstGeom prst="rect">
            <a:avLst/>
          </a:prstGeom>
        </p:spPr>
        <p:txBody>
          <a:bodyPr wrap="square">
            <a:spAutoFit/>
          </a:bodyPr>
          <a:lstStyle/>
          <a:p>
            <a:r>
              <a:rPr lang="en-US" sz="1600" dirty="0"/>
              <a:t>BaseTool is the abstract base class for all tools in LangChain.</a:t>
            </a:r>
          </a:p>
          <a:p>
            <a:r>
              <a:rPr lang="en-US" sz="1600" dirty="0"/>
              <a:t>It defines the core structure and interface that any tool must follow, whether it's a simple one-liner or a fully customized function.</a:t>
            </a:r>
            <a:endParaRPr lang="en-IN" sz="1600" dirty="0"/>
          </a:p>
        </p:txBody>
      </p:sp>
      <p:grpSp>
        <p:nvGrpSpPr>
          <p:cNvPr id="9" name="Group 8"/>
          <p:cNvGrpSpPr/>
          <p:nvPr/>
        </p:nvGrpSpPr>
        <p:grpSpPr>
          <a:xfrm>
            <a:off x="1428214" y="381271"/>
            <a:ext cx="3656404" cy="369332"/>
            <a:chOff x="1428214" y="381271"/>
            <a:chExt cx="3656404" cy="369332"/>
          </a:xfrm>
          <a:solidFill>
            <a:srgbClr val="00B050"/>
          </a:solidFill>
        </p:grpSpPr>
        <p:sp>
          <p:nvSpPr>
            <p:cNvPr id="10" name="Rectangle 9"/>
            <p:cNvSpPr/>
            <p:nvPr/>
          </p:nvSpPr>
          <p:spPr>
            <a:xfrm>
              <a:off x="1691450" y="381271"/>
              <a:ext cx="2855141" cy="369332"/>
            </a:xfrm>
            <a:prstGeom prst="rect">
              <a:avLst/>
            </a:prstGeom>
            <a:grpFill/>
            <a:ln>
              <a:solidFill>
                <a:srgbClr val="00B050"/>
              </a:solidFill>
            </a:ln>
          </p:spPr>
          <p:txBody>
            <a:bodyPr wrap="none">
              <a:spAutoFit/>
            </a:bodyPr>
            <a:lstStyle/>
            <a:p>
              <a:r>
                <a:rPr lang="en-IN" dirty="0" smtClean="0">
                  <a:solidFill>
                    <a:schemeClr val="bg1"/>
                  </a:solidFill>
                  <a:latin typeface="Arial Rounded MT Bold" pitchFamily="34" charset="0"/>
                </a:rPr>
                <a:t>Using BaseTool   Class?</a:t>
              </a:r>
              <a:endParaRPr lang="en-IN" dirty="0">
                <a:solidFill>
                  <a:schemeClr val="bg1"/>
                </a:solidFill>
                <a:latin typeface="Arial Rounded MT Bold" pitchFamily="34" charset="0"/>
              </a:endParaRPr>
            </a:p>
          </p:txBody>
        </p:sp>
        <p:cxnSp>
          <p:nvCxnSpPr>
            <p:cNvPr id="11" name="Straight Connector 10"/>
            <p:cNvCxnSpPr/>
            <p:nvPr/>
          </p:nvCxnSpPr>
          <p:spPr>
            <a:xfrm flipV="1">
              <a:off x="1428214" y="396660"/>
              <a:ext cx="3656404" cy="1"/>
            </a:xfrm>
            <a:prstGeom prst="line">
              <a:avLst/>
            </a:prstGeom>
            <a:grpFill/>
            <a:ln>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677595" y="2489630"/>
            <a:ext cx="8089860" cy="338554"/>
            <a:chOff x="1677595" y="2489630"/>
            <a:chExt cx="8089860" cy="338554"/>
          </a:xfrm>
        </p:grpSpPr>
        <p:sp>
          <p:nvSpPr>
            <p:cNvPr id="3" name="Rectangle 2"/>
            <p:cNvSpPr/>
            <p:nvPr/>
          </p:nvSpPr>
          <p:spPr>
            <a:xfrm>
              <a:off x="2479964" y="2489630"/>
              <a:ext cx="7287491" cy="338554"/>
            </a:xfrm>
            <a:prstGeom prst="rect">
              <a:avLst/>
            </a:prstGeom>
            <a:ln>
              <a:solidFill>
                <a:srgbClr val="00D05E"/>
              </a:solidFill>
            </a:ln>
          </p:spPr>
          <p:txBody>
            <a:bodyPr wrap="square">
              <a:spAutoFit/>
            </a:bodyPr>
            <a:lstStyle/>
            <a:p>
              <a:r>
                <a:rPr lang="en-US" sz="1600" dirty="0"/>
                <a:t>All other tool types like @tool, Structured Tool are built on top of BaseTool</a:t>
              </a:r>
              <a:endParaRPr lang="en-IN" sz="1600" dirty="0"/>
            </a:p>
          </p:txBody>
        </p:sp>
        <p:sp>
          <p:nvSpPr>
            <p:cNvPr id="5" name="Flowchart: Process 4"/>
            <p:cNvSpPr/>
            <p:nvPr/>
          </p:nvSpPr>
          <p:spPr>
            <a:xfrm>
              <a:off x="1677595" y="2489630"/>
              <a:ext cx="802369" cy="338554"/>
            </a:xfrm>
            <a:prstGeom prst="flowChartProcess">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Rounded MT Bold" pitchFamily="34" charset="0"/>
                </a:rPr>
                <a:t>N</a:t>
              </a:r>
              <a:r>
                <a:rPr lang="en-US" sz="1600" dirty="0" smtClean="0">
                  <a:latin typeface="Arial Rounded MT Bold" pitchFamily="34" charset="0"/>
                </a:rPr>
                <a:t>otes</a:t>
              </a:r>
              <a:endParaRPr lang="en-IN" sz="1600" dirty="0">
                <a:latin typeface="Arial Rounded MT Bold" pitchFamily="34" charset="0"/>
              </a:endParaRPr>
            </a:p>
          </p:txBody>
        </p:sp>
      </p:grpSp>
    </p:spTree>
    <p:extLst>
      <p:ext uri="{BB962C8B-B14F-4D97-AF65-F5344CB8AC3E}">
        <p14:creationId xmlns:p14="http://schemas.microsoft.com/office/powerpoint/2010/main" val="4442851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648691" y="474345"/>
            <a:ext cx="7495309" cy="5170646"/>
          </a:xfrm>
          <a:prstGeom prst="rect">
            <a:avLst/>
          </a:prstGeom>
          <a:solidFill>
            <a:schemeClr val="tx1"/>
          </a:solidFill>
        </p:spPr>
        <p:txBody>
          <a:bodyPr wrap="square">
            <a:spAutoFit/>
          </a:bodyPr>
          <a:lstStyle/>
          <a:p>
            <a:r>
              <a:rPr lang="en-IN" sz="1600" dirty="0">
                <a:solidFill>
                  <a:srgbClr val="FF0066"/>
                </a:solidFill>
              </a:rPr>
              <a:t>from</a:t>
            </a:r>
            <a:r>
              <a:rPr lang="en-IN" sz="1600" dirty="0">
                <a:solidFill>
                  <a:srgbClr val="00D05E"/>
                </a:solidFill>
              </a:rPr>
              <a:t> </a:t>
            </a:r>
            <a:r>
              <a:rPr lang="en-IN" sz="1600" dirty="0">
                <a:solidFill>
                  <a:srgbClr val="00CC99"/>
                </a:solidFill>
              </a:rPr>
              <a:t>langchain_community.tools </a:t>
            </a:r>
            <a:r>
              <a:rPr lang="en-IN" sz="1600" dirty="0">
                <a:solidFill>
                  <a:srgbClr val="FF0066"/>
                </a:solidFill>
              </a:rPr>
              <a:t>import </a:t>
            </a:r>
            <a:r>
              <a:rPr lang="en-IN" sz="1600" dirty="0">
                <a:solidFill>
                  <a:srgbClr val="00CC99"/>
                </a:solidFill>
              </a:rPr>
              <a:t>tool,BaseTool</a:t>
            </a:r>
          </a:p>
          <a:p>
            <a:r>
              <a:rPr lang="en-IN" sz="1600" dirty="0">
                <a:solidFill>
                  <a:srgbClr val="FF0066"/>
                </a:solidFill>
              </a:rPr>
              <a:t>from</a:t>
            </a:r>
            <a:r>
              <a:rPr lang="en-IN" sz="1600" dirty="0"/>
              <a:t> </a:t>
            </a:r>
            <a:r>
              <a:rPr lang="en-IN" sz="1600" dirty="0">
                <a:solidFill>
                  <a:srgbClr val="00CC99"/>
                </a:solidFill>
              </a:rPr>
              <a:t>pydantic </a:t>
            </a:r>
            <a:r>
              <a:rPr lang="en-IN" sz="1600" dirty="0">
                <a:solidFill>
                  <a:srgbClr val="FF0066"/>
                </a:solidFill>
              </a:rPr>
              <a:t>import</a:t>
            </a:r>
            <a:r>
              <a:rPr lang="en-IN" sz="1600" dirty="0"/>
              <a:t> </a:t>
            </a:r>
            <a:r>
              <a:rPr lang="en-IN" sz="1600" dirty="0">
                <a:solidFill>
                  <a:srgbClr val="00CC99"/>
                </a:solidFill>
              </a:rPr>
              <a:t>BaseModel,Field</a:t>
            </a:r>
          </a:p>
          <a:p>
            <a:r>
              <a:rPr lang="en-IN" sz="1600" dirty="0">
                <a:solidFill>
                  <a:srgbClr val="FF0066"/>
                </a:solidFill>
              </a:rPr>
              <a:t>from</a:t>
            </a:r>
            <a:r>
              <a:rPr lang="en-IN" sz="1600" dirty="0"/>
              <a:t> </a:t>
            </a:r>
            <a:r>
              <a:rPr lang="en-IN" sz="1600" dirty="0">
                <a:solidFill>
                  <a:srgbClr val="00CC99"/>
                </a:solidFill>
              </a:rPr>
              <a:t>typing</a:t>
            </a:r>
            <a:r>
              <a:rPr lang="en-IN" sz="1600" dirty="0"/>
              <a:t> </a:t>
            </a:r>
            <a:r>
              <a:rPr lang="en-IN" sz="1600" dirty="0">
                <a:solidFill>
                  <a:srgbClr val="FF0066"/>
                </a:solidFill>
              </a:rPr>
              <a:t>import</a:t>
            </a:r>
            <a:r>
              <a:rPr lang="en-IN" sz="1600" dirty="0"/>
              <a:t> </a:t>
            </a:r>
            <a:r>
              <a:rPr lang="en-IN" sz="1600" dirty="0">
                <a:solidFill>
                  <a:srgbClr val="00CC99"/>
                </a:solidFill>
              </a:rPr>
              <a:t>Type</a:t>
            </a:r>
          </a:p>
          <a:p>
            <a:r>
              <a:rPr lang="en-IN" sz="1600" dirty="0"/>
              <a:t/>
            </a:r>
            <a:br>
              <a:rPr lang="en-IN" sz="1600" dirty="0"/>
            </a:br>
            <a:r>
              <a:rPr lang="en-IN" sz="1600" dirty="0">
                <a:solidFill>
                  <a:srgbClr val="00B050"/>
                </a:solidFill>
              </a:rPr>
              <a:t>#arg schema by using pydanitic</a:t>
            </a:r>
          </a:p>
          <a:p>
            <a:r>
              <a:rPr lang="en-IN" sz="1600" dirty="0">
                <a:solidFill>
                  <a:srgbClr val="0070C0"/>
                </a:solidFill>
              </a:rPr>
              <a:t>class</a:t>
            </a:r>
            <a:r>
              <a:rPr lang="en-IN" sz="1600" dirty="0"/>
              <a:t> </a:t>
            </a:r>
            <a:r>
              <a:rPr lang="en-IN" sz="1600" dirty="0">
                <a:solidFill>
                  <a:srgbClr val="00CC99"/>
                </a:solidFill>
              </a:rPr>
              <a:t>MultiplyInput</a:t>
            </a:r>
            <a:r>
              <a:rPr lang="en-IN" sz="1600" dirty="0">
                <a:solidFill>
                  <a:schemeClr val="accent4">
                    <a:lumMod val="75000"/>
                  </a:schemeClr>
                </a:solidFill>
              </a:rPr>
              <a:t>(</a:t>
            </a:r>
            <a:r>
              <a:rPr lang="en-IN" sz="1600" dirty="0">
                <a:solidFill>
                  <a:srgbClr val="00CC99"/>
                </a:solidFill>
              </a:rPr>
              <a:t>BaseModel</a:t>
            </a:r>
            <a:r>
              <a:rPr lang="en-IN" sz="1600" dirty="0">
                <a:solidFill>
                  <a:schemeClr val="accent4">
                    <a:lumMod val="75000"/>
                  </a:schemeClr>
                </a:solidFill>
              </a:rPr>
              <a:t>):</a:t>
            </a:r>
          </a:p>
          <a:p>
            <a:r>
              <a:rPr lang="en-IN" sz="1600" dirty="0"/>
              <a:t>    </a:t>
            </a:r>
            <a:r>
              <a:rPr lang="en-IN" sz="1600" dirty="0">
                <a:solidFill>
                  <a:srgbClr val="15C2FF"/>
                </a:solidFill>
              </a:rPr>
              <a:t>a</a:t>
            </a:r>
            <a:r>
              <a:rPr lang="en-IN" sz="1600" dirty="0">
                <a:solidFill>
                  <a:schemeClr val="accent4">
                    <a:lumMod val="75000"/>
                  </a:schemeClr>
                </a:solidFill>
              </a:rPr>
              <a:t>:</a:t>
            </a:r>
            <a:r>
              <a:rPr lang="en-IN" sz="1600" dirty="0">
                <a:solidFill>
                  <a:srgbClr val="00CC99"/>
                </a:solidFill>
              </a:rPr>
              <a:t>int</a:t>
            </a:r>
            <a:r>
              <a:rPr lang="en-IN" sz="1600" dirty="0">
                <a:solidFill>
                  <a:schemeClr val="accent4">
                    <a:lumMod val="75000"/>
                  </a:schemeClr>
                </a:solidFill>
              </a:rPr>
              <a:t>=Field(</a:t>
            </a:r>
            <a:r>
              <a:rPr lang="en-IN" sz="1600" dirty="0">
                <a:solidFill>
                  <a:srgbClr val="00B0F0"/>
                </a:solidFill>
              </a:rPr>
              <a:t>required</a:t>
            </a:r>
            <a:r>
              <a:rPr lang="en-IN" sz="1600" dirty="0"/>
              <a:t>=</a:t>
            </a:r>
            <a:r>
              <a:rPr lang="en-IN" sz="1600" dirty="0">
                <a:solidFill>
                  <a:srgbClr val="0070C0"/>
                </a:solidFill>
              </a:rPr>
              <a:t>True</a:t>
            </a:r>
            <a:r>
              <a:rPr lang="en-IN" sz="1600" dirty="0">
                <a:solidFill>
                  <a:schemeClr val="accent4">
                    <a:lumMod val="75000"/>
                  </a:schemeClr>
                </a:solidFill>
              </a:rPr>
              <a:t>,de</a:t>
            </a:r>
            <a:r>
              <a:rPr lang="en-IN" sz="1600" dirty="0">
                <a:solidFill>
                  <a:srgbClr val="15C2FF"/>
                </a:solidFill>
              </a:rPr>
              <a:t>scription</a:t>
            </a:r>
            <a:r>
              <a:rPr lang="en-IN" sz="1600" dirty="0">
                <a:solidFill>
                  <a:schemeClr val="accent4">
                    <a:lumMod val="75000"/>
                  </a:schemeClr>
                </a:solidFill>
              </a:rPr>
              <a:t>=</a:t>
            </a:r>
            <a:r>
              <a:rPr lang="en-IN" sz="1600" dirty="0">
                <a:solidFill>
                  <a:srgbClr val="CC3300"/>
                </a:solidFill>
              </a:rPr>
              <a:t>"First numbe to add")</a:t>
            </a:r>
          </a:p>
          <a:p>
            <a:r>
              <a:rPr lang="en-IN" sz="1600" dirty="0"/>
              <a:t>    </a:t>
            </a:r>
            <a:r>
              <a:rPr lang="en-IN" sz="1600" dirty="0">
                <a:solidFill>
                  <a:srgbClr val="15C2FF"/>
                </a:solidFill>
              </a:rPr>
              <a:t>b</a:t>
            </a:r>
            <a:r>
              <a:rPr lang="en-IN" sz="1600" dirty="0">
                <a:solidFill>
                  <a:schemeClr val="accent4">
                    <a:lumMod val="75000"/>
                  </a:schemeClr>
                </a:solidFill>
              </a:rPr>
              <a:t>:</a:t>
            </a:r>
            <a:r>
              <a:rPr lang="en-IN" sz="1600" dirty="0">
                <a:solidFill>
                  <a:srgbClr val="00CC99"/>
                </a:solidFill>
              </a:rPr>
              <a:t>int</a:t>
            </a:r>
            <a:r>
              <a:rPr lang="en-IN" sz="1600" dirty="0">
                <a:solidFill>
                  <a:schemeClr val="accent4">
                    <a:lumMod val="75000"/>
                  </a:schemeClr>
                </a:solidFill>
              </a:rPr>
              <a:t>=Field(</a:t>
            </a:r>
            <a:r>
              <a:rPr lang="en-IN" sz="1600" dirty="0">
                <a:solidFill>
                  <a:srgbClr val="00B0F0"/>
                </a:solidFill>
              </a:rPr>
              <a:t>required</a:t>
            </a:r>
            <a:r>
              <a:rPr lang="en-IN" sz="1600" dirty="0"/>
              <a:t>=</a:t>
            </a:r>
            <a:r>
              <a:rPr lang="en-IN" sz="1600" dirty="0">
                <a:solidFill>
                  <a:srgbClr val="0070C0"/>
                </a:solidFill>
              </a:rPr>
              <a:t>True,</a:t>
            </a:r>
            <a:r>
              <a:rPr lang="en-IN" sz="1600" dirty="0">
                <a:solidFill>
                  <a:srgbClr val="15C2FF"/>
                </a:solidFill>
              </a:rPr>
              <a:t>description</a:t>
            </a:r>
            <a:r>
              <a:rPr lang="en-IN" sz="1600" dirty="0">
                <a:solidFill>
                  <a:schemeClr val="accent4">
                    <a:lumMod val="75000"/>
                  </a:schemeClr>
                </a:solidFill>
              </a:rPr>
              <a:t>=</a:t>
            </a:r>
            <a:r>
              <a:rPr lang="en-IN" sz="1600" dirty="0">
                <a:solidFill>
                  <a:srgbClr val="CC3300"/>
                </a:solidFill>
              </a:rPr>
              <a:t>"second number to add"</a:t>
            </a:r>
            <a:r>
              <a:rPr lang="en-IN" sz="1600" dirty="0">
                <a:solidFill>
                  <a:schemeClr val="accent4">
                    <a:lumMod val="75000"/>
                  </a:schemeClr>
                </a:solidFill>
              </a:rPr>
              <a:t>)</a:t>
            </a:r>
          </a:p>
          <a:p>
            <a:r>
              <a:rPr lang="en-IN" sz="1600" dirty="0"/>
              <a:t/>
            </a:r>
            <a:br>
              <a:rPr lang="en-IN" sz="1600" dirty="0"/>
            </a:br>
            <a:r>
              <a:rPr lang="en-IN" sz="1600" dirty="0">
                <a:solidFill>
                  <a:srgbClr val="0070C0"/>
                </a:solidFill>
              </a:rPr>
              <a:t>class</a:t>
            </a:r>
            <a:r>
              <a:rPr lang="en-IN" sz="1600" dirty="0"/>
              <a:t> </a:t>
            </a:r>
            <a:r>
              <a:rPr lang="en-IN" sz="1600" dirty="0">
                <a:solidFill>
                  <a:srgbClr val="00CC99"/>
                </a:solidFill>
              </a:rPr>
              <a:t>MultiplyTool(BaseTool</a:t>
            </a:r>
            <a:r>
              <a:rPr lang="en-IN" sz="1600" dirty="0">
                <a:solidFill>
                  <a:schemeClr val="accent4">
                    <a:lumMod val="75000"/>
                  </a:schemeClr>
                </a:solidFill>
              </a:rPr>
              <a:t>):</a:t>
            </a:r>
          </a:p>
          <a:p>
            <a:r>
              <a:rPr lang="en-IN" sz="1600" dirty="0"/>
              <a:t>    </a:t>
            </a:r>
            <a:r>
              <a:rPr lang="en-IN" sz="1600" dirty="0">
                <a:solidFill>
                  <a:srgbClr val="15C2FF"/>
                </a:solidFill>
              </a:rPr>
              <a:t>name</a:t>
            </a:r>
            <a:r>
              <a:rPr lang="en-IN" sz="1600" dirty="0">
                <a:solidFill>
                  <a:srgbClr val="00CC99"/>
                </a:solidFill>
              </a:rPr>
              <a:t>:str</a:t>
            </a:r>
            <a:r>
              <a:rPr lang="en-IN" sz="1600" dirty="0">
                <a:solidFill>
                  <a:schemeClr val="accent4">
                    <a:lumMod val="75000"/>
                  </a:schemeClr>
                </a:solidFill>
              </a:rPr>
              <a:t>=</a:t>
            </a:r>
            <a:r>
              <a:rPr lang="en-IN" sz="1600" dirty="0">
                <a:solidFill>
                  <a:srgbClr val="CC3300"/>
                </a:solidFill>
              </a:rPr>
              <a:t>"Multiply"</a:t>
            </a:r>
          </a:p>
          <a:p>
            <a:r>
              <a:rPr lang="en-IN" sz="1600" dirty="0"/>
              <a:t>    </a:t>
            </a:r>
            <a:r>
              <a:rPr lang="en-IN" sz="1600" dirty="0">
                <a:solidFill>
                  <a:srgbClr val="15C2FF"/>
                </a:solidFill>
              </a:rPr>
              <a:t>description:</a:t>
            </a:r>
            <a:r>
              <a:rPr lang="en-IN" sz="1600" dirty="0">
                <a:solidFill>
                  <a:srgbClr val="00CC99"/>
                </a:solidFill>
              </a:rPr>
              <a:t>str</a:t>
            </a:r>
            <a:r>
              <a:rPr lang="en-IN" sz="1600" dirty="0">
                <a:solidFill>
                  <a:schemeClr val="accent4">
                    <a:lumMod val="75000"/>
                  </a:schemeClr>
                </a:solidFill>
              </a:rPr>
              <a:t>=</a:t>
            </a:r>
            <a:r>
              <a:rPr lang="en-IN" sz="1600" dirty="0">
                <a:solidFill>
                  <a:srgbClr val="CC3300"/>
                </a:solidFill>
              </a:rPr>
              <a:t>"Multiply tow numbers"</a:t>
            </a:r>
          </a:p>
          <a:p>
            <a:r>
              <a:rPr lang="en-IN" sz="1600" dirty="0"/>
              <a:t>    </a:t>
            </a:r>
            <a:r>
              <a:rPr lang="en-IN" sz="1600" dirty="0">
                <a:solidFill>
                  <a:srgbClr val="15C2FF"/>
                </a:solidFill>
              </a:rPr>
              <a:t>args_schema</a:t>
            </a:r>
            <a:r>
              <a:rPr lang="en-IN" sz="1600" dirty="0">
                <a:solidFill>
                  <a:schemeClr val="accent4">
                    <a:lumMod val="75000"/>
                  </a:schemeClr>
                </a:solidFill>
              </a:rPr>
              <a:t>: type[</a:t>
            </a:r>
            <a:r>
              <a:rPr lang="en-IN" sz="1600" dirty="0">
                <a:solidFill>
                  <a:srgbClr val="00CC99"/>
                </a:solidFill>
              </a:rPr>
              <a:t>BaseModel</a:t>
            </a:r>
            <a:r>
              <a:rPr lang="en-IN" sz="1600" dirty="0">
                <a:solidFill>
                  <a:schemeClr val="accent4">
                    <a:lumMod val="75000"/>
                  </a:schemeClr>
                </a:solidFill>
              </a:rPr>
              <a:t>]=</a:t>
            </a:r>
            <a:r>
              <a:rPr lang="en-IN" sz="1600" dirty="0">
                <a:solidFill>
                  <a:srgbClr val="00CC99"/>
                </a:solidFill>
              </a:rPr>
              <a:t>MultiplyInput</a:t>
            </a:r>
          </a:p>
          <a:p>
            <a:r>
              <a:rPr lang="en-IN" sz="1600" dirty="0"/>
              <a:t/>
            </a:r>
            <a:br>
              <a:rPr lang="en-IN" sz="1600" dirty="0"/>
            </a:br>
            <a:r>
              <a:rPr lang="en-IN" sz="1600" dirty="0"/>
              <a:t>   </a:t>
            </a:r>
            <a:r>
              <a:rPr lang="en-IN" sz="1600" dirty="0">
                <a:solidFill>
                  <a:srgbClr val="0070C0"/>
                </a:solidFill>
              </a:rPr>
              <a:t> def </a:t>
            </a:r>
            <a:r>
              <a:rPr lang="en-IN" sz="1600" dirty="0">
                <a:solidFill>
                  <a:schemeClr val="accent4">
                    <a:lumMod val="75000"/>
                  </a:schemeClr>
                </a:solidFill>
              </a:rPr>
              <a:t>_run(self,</a:t>
            </a:r>
            <a:r>
              <a:rPr lang="en-IN" sz="1600" dirty="0"/>
              <a:t> </a:t>
            </a:r>
            <a:r>
              <a:rPr lang="en-IN" sz="1600" dirty="0">
                <a:solidFill>
                  <a:srgbClr val="15C2FF"/>
                </a:solidFill>
              </a:rPr>
              <a:t>a:</a:t>
            </a:r>
            <a:r>
              <a:rPr lang="en-IN" sz="1600" dirty="0">
                <a:solidFill>
                  <a:srgbClr val="00CC99"/>
                </a:solidFill>
              </a:rPr>
              <a:t>int,</a:t>
            </a:r>
            <a:r>
              <a:rPr lang="en-IN" sz="1600" dirty="0">
                <a:solidFill>
                  <a:srgbClr val="15C2FF"/>
                </a:solidFill>
              </a:rPr>
              <a:t>b:i</a:t>
            </a:r>
            <a:r>
              <a:rPr lang="en-IN" sz="1600" dirty="0">
                <a:solidFill>
                  <a:srgbClr val="00CC99"/>
                </a:solidFill>
              </a:rPr>
              <a:t>nt</a:t>
            </a:r>
            <a:r>
              <a:rPr lang="en-IN" sz="1600" dirty="0">
                <a:solidFill>
                  <a:schemeClr val="accent4">
                    <a:lumMod val="75000"/>
                  </a:schemeClr>
                </a:solidFill>
              </a:rPr>
              <a:t>):</a:t>
            </a:r>
          </a:p>
          <a:p>
            <a:r>
              <a:rPr lang="en-IN" sz="1600" dirty="0"/>
              <a:t>        </a:t>
            </a:r>
            <a:r>
              <a:rPr lang="en-IN" sz="1600" dirty="0">
                <a:solidFill>
                  <a:srgbClr val="0070C0"/>
                </a:solidFill>
              </a:rPr>
              <a:t>return</a:t>
            </a:r>
            <a:r>
              <a:rPr lang="en-IN" sz="1600" dirty="0"/>
              <a:t> </a:t>
            </a:r>
            <a:r>
              <a:rPr lang="en-IN" sz="1600" dirty="0">
                <a:solidFill>
                  <a:srgbClr val="0070C0"/>
                </a:solidFill>
              </a:rPr>
              <a:t>a*b</a:t>
            </a:r>
          </a:p>
          <a:p>
            <a:r>
              <a:rPr lang="en-IN" sz="1600" dirty="0"/>
              <a:t/>
            </a:r>
            <a:br>
              <a:rPr lang="en-IN" sz="1600" dirty="0"/>
            </a:br>
            <a:r>
              <a:rPr lang="en-IN" sz="1600" dirty="0">
                <a:solidFill>
                  <a:srgbClr val="15C2FF"/>
                </a:solidFill>
              </a:rPr>
              <a:t>tool</a:t>
            </a:r>
            <a:r>
              <a:rPr lang="en-IN" sz="1600" dirty="0">
                <a:solidFill>
                  <a:schemeClr val="accent4">
                    <a:lumMod val="75000"/>
                  </a:schemeClr>
                </a:solidFill>
              </a:rPr>
              <a:t>=</a:t>
            </a:r>
            <a:r>
              <a:rPr lang="en-IN" sz="1600" dirty="0">
                <a:solidFill>
                  <a:srgbClr val="00CC99"/>
                </a:solidFill>
              </a:rPr>
              <a:t>MultiplyTool</a:t>
            </a:r>
            <a:r>
              <a:rPr lang="en-IN" sz="1600" dirty="0">
                <a:solidFill>
                  <a:schemeClr val="accent4">
                    <a:lumMod val="75000"/>
                  </a:schemeClr>
                </a:solidFill>
              </a:rPr>
              <a:t>()</a:t>
            </a:r>
          </a:p>
          <a:p>
            <a:r>
              <a:rPr lang="en-IN" sz="1600" dirty="0">
                <a:solidFill>
                  <a:srgbClr val="15C2FF"/>
                </a:solidFill>
              </a:rPr>
              <a:t>result</a:t>
            </a:r>
            <a:r>
              <a:rPr lang="en-IN" sz="1600" dirty="0">
                <a:solidFill>
                  <a:schemeClr val="accent4">
                    <a:lumMod val="75000"/>
                  </a:schemeClr>
                </a:solidFill>
              </a:rPr>
              <a:t>=</a:t>
            </a:r>
            <a:r>
              <a:rPr lang="en-IN" sz="1600" dirty="0">
                <a:solidFill>
                  <a:srgbClr val="15C2FF"/>
                </a:solidFill>
              </a:rPr>
              <a:t>tool.</a:t>
            </a:r>
            <a:r>
              <a:rPr lang="en-IN" sz="1600" dirty="0">
                <a:solidFill>
                  <a:schemeClr val="accent4">
                    <a:lumMod val="75000"/>
                  </a:schemeClr>
                </a:solidFill>
              </a:rPr>
              <a:t>invoke({</a:t>
            </a:r>
            <a:r>
              <a:rPr lang="en-IN" sz="1600" dirty="0">
                <a:solidFill>
                  <a:srgbClr val="CC3300"/>
                </a:solidFill>
              </a:rPr>
              <a:t>"a"</a:t>
            </a:r>
            <a:r>
              <a:rPr lang="en-IN" sz="1600" dirty="0">
                <a:solidFill>
                  <a:schemeClr val="accent4">
                    <a:lumMod val="75000"/>
                  </a:schemeClr>
                </a:solidFill>
              </a:rPr>
              <a:t>:</a:t>
            </a:r>
            <a:r>
              <a:rPr lang="en-IN" sz="1600" dirty="0">
                <a:solidFill>
                  <a:srgbClr val="0070C0"/>
                </a:solidFill>
              </a:rPr>
              <a:t>5</a:t>
            </a:r>
            <a:r>
              <a:rPr lang="en-IN" sz="1600" dirty="0">
                <a:solidFill>
                  <a:schemeClr val="accent4">
                    <a:lumMod val="75000"/>
                  </a:schemeClr>
                </a:solidFill>
              </a:rPr>
              <a:t>,</a:t>
            </a:r>
            <a:r>
              <a:rPr lang="en-IN" sz="1600" dirty="0">
                <a:solidFill>
                  <a:srgbClr val="CC3300"/>
                </a:solidFill>
              </a:rPr>
              <a:t>"b</a:t>
            </a:r>
            <a:r>
              <a:rPr lang="en-IN" sz="1600" dirty="0">
                <a:solidFill>
                  <a:srgbClr val="0070C0"/>
                </a:solidFill>
              </a:rPr>
              <a:t>":4})</a:t>
            </a:r>
          </a:p>
          <a:p>
            <a:r>
              <a:rPr lang="en-IN" sz="1600" dirty="0">
                <a:solidFill>
                  <a:schemeClr val="accent4">
                    <a:lumMod val="75000"/>
                  </a:schemeClr>
                </a:solidFill>
              </a:rPr>
              <a:t>print(</a:t>
            </a:r>
            <a:r>
              <a:rPr lang="en-IN" sz="1600" dirty="0">
                <a:solidFill>
                  <a:srgbClr val="15C2FF"/>
                </a:solidFill>
              </a:rPr>
              <a:t>result</a:t>
            </a:r>
            <a:r>
              <a:rPr lang="en-IN" sz="1600" dirty="0">
                <a:solidFill>
                  <a:schemeClr val="accent4">
                    <a:lumMod val="75000"/>
                  </a:schemeClr>
                </a:solidFill>
              </a:rPr>
              <a:t>) </a:t>
            </a:r>
            <a:r>
              <a:rPr lang="en-IN" sz="1600" dirty="0">
                <a:solidFill>
                  <a:srgbClr val="00B050"/>
                </a:solidFill>
              </a:rPr>
              <a:t>#result:20</a:t>
            </a:r>
          </a:p>
        </p:txBody>
      </p:sp>
      <p:sp>
        <p:nvSpPr>
          <p:cNvPr id="3" name="Flowchart: Process 2"/>
          <p:cNvSpPr/>
          <p:nvPr/>
        </p:nvSpPr>
        <p:spPr>
          <a:xfrm>
            <a:off x="8243454" y="385263"/>
            <a:ext cx="1801091" cy="467764"/>
          </a:xfrm>
          <a:prstGeom prst="flowChartProcess">
            <a:avLst/>
          </a:prstGeom>
          <a:solidFill>
            <a:srgbClr val="FF0066"/>
          </a:solidFill>
          <a:ln>
            <a:solidFill>
              <a:srgbClr val="FF0066"/>
            </a:solidFill>
          </a:ln>
          <a:effectLst>
            <a:glow rad="228600">
              <a:schemeClr val="accent2">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latin typeface="Bahnschrift SemiBold" pitchFamily="34" charset="0"/>
              </a:rPr>
              <a:t>Mostly We Used it</a:t>
            </a:r>
            <a:endParaRPr lang="en-IN" sz="1600" dirty="0">
              <a:solidFill>
                <a:schemeClr val="bg1"/>
              </a:solidFill>
              <a:latin typeface="Bahnschrift SemiBold" pitchFamily="34" charset="0"/>
            </a:endParaRPr>
          </a:p>
        </p:txBody>
      </p:sp>
    </p:spTree>
    <p:extLst>
      <p:ext uri="{BB962C8B-B14F-4D97-AF65-F5344CB8AC3E}">
        <p14:creationId xmlns:p14="http://schemas.microsoft.com/office/powerpoint/2010/main" val="31879587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593273" y="381271"/>
            <a:ext cx="2050472" cy="369332"/>
            <a:chOff x="1593273" y="381271"/>
            <a:chExt cx="2050472" cy="369332"/>
          </a:xfrm>
        </p:grpSpPr>
        <p:sp>
          <p:nvSpPr>
            <p:cNvPr id="2" name="Rectangle 1"/>
            <p:cNvSpPr/>
            <p:nvPr/>
          </p:nvSpPr>
          <p:spPr>
            <a:xfrm>
              <a:off x="2175164" y="381271"/>
              <a:ext cx="1052404" cy="369332"/>
            </a:xfrm>
            <a:prstGeom prst="rect">
              <a:avLst/>
            </a:prstGeom>
            <a:solidFill>
              <a:srgbClr val="00B050"/>
            </a:solidFill>
          </p:spPr>
          <p:txBody>
            <a:bodyPr wrap="none">
              <a:spAutoFit/>
            </a:bodyPr>
            <a:lstStyle/>
            <a:p>
              <a:r>
                <a:rPr lang="en-IN" dirty="0">
                  <a:solidFill>
                    <a:schemeClr val="bg1"/>
                  </a:solidFill>
                  <a:latin typeface="Arial Rounded MT Bold" pitchFamily="34" charset="0"/>
                </a:rPr>
                <a:t>Toolkits</a:t>
              </a:r>
            </a:p>
          </p:txBody>
        </p:sp>
        <p:cxnSp>
          <p:nvCxnSpPr>
            <p:cNvPr id="5" name="Straight Connector 4"/>
            <p:cNvCxnSpPr/>
            <p:nvPr/>
          </p:nvCxnSpPr>
          <p:spPr>
            <a:xfrm>
              <a:off x="1593273" y="750603"/>
              <a:ext cx="2050472"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 name="Rectangle 2"/>
          <p:cNvSpPr/>
          <p:nvPr/>
        </p:nvSpPr>
        <p:spPr>
          <a:xfrm>
            <a:off x="1898073" y="1041553"/>
            <a:ext cx="10002982" cy="584775"/>
          </a:xfrm>
          <a:prstGeom prst="rect">
            <a:avLst/>
          </a:prstGeom>
        </p:spPr>
        <p:txBody>
          <a:bodyPr wrap="square">
            <a:spAutoFit/>
          </a:bodyPr>
          <a:lstStyle/>
          <a:p>
            <a:r>
              <a:rPr lang="en-US" sz="1600" dirty="0"/>
              <a:t>A toolkit is just a collection (bundle) of related tools that serve a common purpose packaged together for convenience and reusability.</a:t>
            </a:r>
            <a:endParaRPr lang="en-IN" sz="1600" dirty="0"/>
          </a:p>
        </p:txBody>
      </p:sp>
      <p:sp>
        <p:nvSpPr>
          <p:cNvPr id="10" name="Rectangle 9"/>
          <p:cNvSpPr/>
          <p:nvPr/>
        </p:nvSpPr>
        <p:spPr>
          <a:xfrm>
            <a:off x="1976648" y="1955861"/>
            <a:ext cx="1561646" cy="338554"/>
          </a:xfrm>
          <a:prstGeom prst="rect">
            <a:avLst/>
          </a:prstGeom>
        </p:spPr>
        <p:txBody>
          <a:bodyPr wrap="none">
            <a:spAutoFit/>
          </a:bodyPr>
          <a:lstStyle/>
          <a:p>
            <a:r>
              <a:rPr lang="en-IN" sz="1600" dirty="0">
                <a:latin typeface="Arial Rounded MT Bold" pitchFamily="34" charset="0"/>
              </a:rPr>
              <a:t>In LangChain:</a:t>
            </a:r>
          </a:p>
        </p:txBody>
      </p:sp>
      <p:sp>
        <p:nvSpPr>
          <p:cNvPr id="11" name="Rectangle 10"/>
          <p:cNvSpPr/>
          <p:nvPr/>
        </p:nvSpPr>
        <p:spPr>
          <a:xfrm>
            <a:off x="2507673" y="2324541"/>
            <a:ext cx="6096000" cy="584775"/>
          </a:xfrm>
          <a:prstGeom prst="rect">
            <a:avLst/>
          </a:prstGeom>
        </p:spPr>
        <p:txBody>
          <a:bodyPr>
            <a:spAutoFit/>
          </a:bodyPr>
          <a:lstStyle/>
          <a:p>
            <a:r>
              <a:rPr lang="en-US" sz="1600" dirty="0"/>
              <a:t> A toolkit might be: </a:t>
            </a:r>
            <a:r>
              <a:rPr lang="en-US" sz="1600" dirty="0">
                <a:solidFill>
                  <a:srgbClr val="00CC99"/>
                </a:solidFill>
              </a:rPr>
              <a:t>GoogleDriveToolkit </a:t>
            </a:r>
          </a:p>
          <a:p>
            <a:r>
              <a:rPr lang="en-US" sz="1600" dirty="0"/>
              <a:t> And it can contain the following tools</a:t>
            </a:r>
            <a:endParaRPr lang="en-IN" sz="1600" dirty="0"/>
          </a:p>
        </p:txBody>
      </p:sp>
      <p:sp>
        <p:nvSpPr>
          <p:cNvPr id="12" name="Rectangle 11"/>
          <p:cNvSpPr/>
          <p:nvPr/>
        </p:nvSpPr>
        <p:spPr>
          <a:xfrm>
            <a:off x="2951018" y="3258280"/>
            <a:ext cx="7301346" cy="830997"/>
          </a:xfrm>
          <a:prstGeom prst="rect">
            <a:avLst/>
          </a:prstGeom>
        </p:spPr>
        <p:txBody>
          <a:bodyPr wrap="square">
            <a:spAutoFit/>
          </a:bodyPr>
          <a:lstStyle/>
          <a:p>
            <a:pPr marL="285750" indent="-285750">
              <a:buFont typeface="Wingdings" pitchFamily="2" charset="2"/>
              <a:buChar char="§"/>
            </a:pPr>
            <a:r>
              <a:rPr lang="en-US" sz="1600" dirty="0">
                <a:solidFill>
                  <a:srgbClr val="0070C0"/>
                </a:solidFill>
                <a:latin typeface="Cambria Math" pitchFamily="18" charset="0"/>
                <a:ea typeface="Cambria Math" pitchFamily="18" charset="0"/>
              </a:rPr>
              <a:t>GoogleDriveCreateFileTool</a:t>
            </a:r>
            <a:r>
              <a:rPr lang="en-US" sz="1600" dirty="0">
                <a:latin typeface="Cambria Math" pitchFamily="18" charset="0"/>
                <a:ea typeface="Cambria Math" pitchFamily="18" charset="0"/>
              </a:rPr>
              <a:t>: </a:t>
            </a:r>
            <a:r>
              <a:rPr lang="en-US" sz="1600" dirty="0" smtClean="0">
                <a:latin typeface="Cambria Math" pitchFamily="18" charset="0"/>
                <a:ea typeface="Cambria Math" pitchFamily="18" charset="0"/>
              </a:rPr>
              <a:t> Upload </a:t>
            </a:r>
            <a:r>
              <a:rPr lang="en-US" sz="1600" dirty="0">
                <a:latin typeface="Cambria Math" pitchFamily="18" charset="0"/>
                <a:ea typeface="Cambria Math" pitchFamily="18" charset="0"/>
              </a:rPr>
              <a:t>a file</a:t>
            </a:r>
          </a:p>
          <a:p>
            <a:pPr marL="285750" indent="-285750">
              <a:buFont typeface="Wingdings" pitchFamily="2" charset="2"/>
              <a:buChar char="§"/>
            </a:pPr>
            <a:r>
              <a:rPr lang="en-US" sz="1600" dirty="0">
                <a:solidFill>
                  <a:srgbClr val="0070C0"/>
                </a:solidFill>
                <a:latin typeface="Cambria Math" pitchFamily="18" charset="0"/>
                <a:ea typeface="Cambria Math" pitchFamily="18" charset="0"/>
              </a:rPr>
              <a:t>GoogleDriveSearchtool</a:t>
            </a:r>
            <a:r>
              <a:rPr lang="en-US" sz="1600" dirty="0">
                <a:latin typeface="Cambria Math" pitchFamily="18" charset="0"/>
                <a:ea typeface="Cambria Math" pitchFamily="18" charset="0"/>
              </a:rPr>
              <a:t>: </a:t>
            </a:r>
            <a:r>
              <a:rPr lang="en-US" sz="1600" dirty="0" smtClean="0">
                <a:latin typeface="Cambria Math" pitchFamily="18" charset="0"/>
                <a:ea typeface="Cambria Math" pitchFamily="18" charset="0"/>
              </a:rPr>
              <a:t>         Search </a:t>
            </a:r>
            <a:r>
              <a:rPr lang="en-US" sz="1600" dirty="0">
                <a:latin typeface="Cambria Math" pitchFamily="18" charset="0"/>
                <a:ea typeface="Cambria Math" pitchFamily="18" charset="0"/>
              </a:rPr>
              <a:t>for a file by name/content</a:t>
            </a:r>
          </a:p>
          <a:p>
            <a:pPr marL="285750" indent="-285750">
              <a:buFont typeface="Wingdings" pitchFamily="2" charset="2"/>
              <a:buChar char="§"/>
            </a:pPr>
            <a:r>
              <a:rPr lang="en-US" sz="1600" dirty="0">
                <a:solidFill>
                  <a:srgbClr val="0070C0"/>
                </a:solidFill>
                <a:latin typeface="Cambria Math" pitchFamily="18" charset="0"/>
                <a:ea typeface="Cambria Math" pitchFamily="18" charset="0"/>
              </a:rPr>
              <a:t>GoogleDriveReadFileTool</a:t>
            </a:r>
            <a:r>
              <a:rPr lang="en-US" sz="1600" dirty="0">
                <a:latin typeface="Cambria Math" pitchFamily="18" charset="0"/>
                <a:ea typeface="Cambria Math" pitchFamily="18" charset="0"/>
              </a:rPr>
              <a:t>: </a:t>
            </a:r>
            <a:r>
              <a:rPr lang="en-US" sz="1600" dirty="0" smtClean="0">
                <a:latin typeface="Cambria Math" pitchFamily="18" charset="0"/>
                <a:ea typeface="Cambria Math" pitchFamily="18" charset="0"/>
              </a:rPr>
              <a:t>    Read </a:t>
            </a:r>
            <a:r>
              <a:rPr lang="en-US" sz="1600" dirty="0">
                <a:latin typeface="Cambria Math" pitchFamily="18" charset="0"/>
                <a:ea typeface="Cambria Math" pitchFamily="18" charset="0"/>
              </a:rPr>
              <a:t>contents of a file</a:t>
            </a:r>
            <a:endParaRPr lang="en-IN" sz="1600" dirty="0">
              <a:latin typeface="Cambria Math" pitchFamily="18" charset="0"/>
              <a:ea typeface="Cambria Math" pitchFamily="18" charset="0"/>
            </a:endParaRPr>
          </a:p>
        </p:txBody>
      </p:sp>
    </p:spTree>
    <p:extLst>
      <p:ext uri="{BB962C8B-B14F-4D97-AF65-F5344CB8AC3E}">
        <p14:creationId xmlns:p14="http://schemas.microsoft.com/office/powerpoint/2010/main" val="37519391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3" name="Group 2"/>
          <p:cNvGrpSpPr/>
          <p:nvPr/>
        </p:nvGrpSpPr>
        <p:grpSpPr>
          <a:xfrm>
            <a:off x="3048000" y="474345"/>
            <a:ext cx="4627418" cy="5386090"/>
            <a:chOff x="3048000" y="474345"/>
            <a:chExt cx="4627418" cy="5386090"/>
          </a:xfrm>
        </p:grpSpPr>
        <p:sp>
          <p:nvSpPr>
            <p:cNvPr id="2" name="Rectangle 1"/>
            <p:cNvSpPr/>
            <p:nvPr/>
          </p:nvSpPr>
          <p:spPr>
            <a:xfrm>
              <a:off x="3048000" y="474345"/>
              <a:ext cx="4627418" cy="5386090"/>
            </a:xfrm>
            <a:prstGeom prst="rect">
              <a:avLst/>
            </a:prstGeom>
            <a:solidFill>
              <a:schemeClr val="bg2">
                <a:lumMod val="25000"/>
              </a:schemeClr>
            </a:solidFill>
          </p:spPr>
          <p:txBody>
            <a:bodyPr wrap="square">
              <a:spAutoFit/>
            </a:bodyPr>
            <a:lstStyle/>
            <a:p>
              <a:r>
                <a:rPr lang="en-IN" sz="1600" dirty="0">
                  <a:solidFill>
                    <a:srgbClr val="FF0066"/>
                  </a:solidFill>
                </a:rPr>
                <a:t>from </a:t>
              </a:r>
              <a:r>
                <a:rPr lang="en-IN" sz="1600" dirty="0">
                  <a:solidFill>
                    <a:srgbClr val="00CC99"/>
                  </a:solidFill>
                </a:rPr>
                <a:t>langchain_core.tools </a:t>
              </a:r>
              <a:r>
                <a:rPr lang="en-IN" sz="1600" dirty="0">
                  <a:solidFill>
                    <a:srgbClr val="FF0066"/>
                  </a:solidFill>
                </a:rPr>
                <a:t>import</a:t>
              </a:r>
              <a:r>
                <a:rPr lang="en-IN" sz="1600" dirty="0"/>
                <a:t> </a:t>
              </a:r>
              <a:r>
                <a:rPr lang="en-IN" sz="1600" dirty="0">
                  <a:solidFill>
                    <a:srgbClr val="00CC99"/>
                  </a:solidFill>
                </a:rPr>
                <a:t>tool</a:t>
              </a:r>
            </a:p>
            <a:p>
              <a:r>
                <a:rPr lang="en-IN" sz="1600" dirty="0"/>
                <a:t/>
              </a:r>
              <a:br>
                <a:rPr lang="en-IN" sz="1600" dirty="0"/>
              </a:br>
              <a:r>
                <a:rPr lang="en-IN" sz="1600" dirty="0">
                  <a:solidFill>
                    <a:srgbClr val="00B050"/>
                  </a:solidFill>
                </a:rPr>
                <a:t># Custom tools</a:t>
              </a:r>
            </a:p>
            <a:p>
              <a:r>
                <a:rPr lang="en-IN" sz="1600" dirty="0">
                  <a:solidFill>
                    <a:schemeClr val="accent4">
                      <a:lumMod val="75000"/>
                    </a:schemeClr>
                  </a:solidFill>
                </a:rPr>
                <a:t>@tool</a:t>
              </a:r>
            </a:p>
            <a:p>
              <a:r>
                <a:rPr lang="en-IN" sz="1600" dirty="0">
                  <a:solidFill>
                    <a:srgbClr val="0070C0"/>
                  </a:solidFill>
                </a:rPr>
                <a:t>def </a:t>
              </a:r>
              <a:r>
                <a:rPr lang="en-IN" sz="1600" dirty="0">
                  <a:solidFill>
                    <a:schemeClr val="accent4">
                      <a:lumMod val="75000"/>
                    </a:schemeClr>
                  </a:solidFill>
                </a:rPr>
                <a:t>add(a: int, b: int) -&gt; int:</a:t>
              </a:r>
            </a:p>
            <a:p>
              <a:r>
                <a:rPr lang="en-IN" sz="1600" dirty="0"/>
                <a:t>   </a:t>
              </a:r>
              <a:r>
                <a:rPr lang="en-IN" sz="1600" dirty="0">
                  <a:solidFill>
                    <a:srgbClr val="CC3300"/>
                  </a:solidFill>
                </a:rPr>
                <a:t> """Add two numbers"""</a:t>
              </a:r>
            </a:p>
            <a:p>
              <a:r>
                <a:rPr lang="en-IN" sz="1600" dirty="0"/>
                <a:t>    </a:t>
              </a:r>
              <a:r>
                <a:rPr lang="en-IN" sz="1600" dirty="0">
                  <a:solidFill>
                    <a:srgbClr val="0070C0"/>
                  </a:solidFill>
                </a:rPr>
                <a:t>return</a:t>
              </a:r>
              <a:r>
                <a:rPr lang="en-IN" sz="1600" dirty="0"/>
                <a:t> </a:t>
              </a:r>
              <a:r>
                <a:rPr lang="en-IN" sz="1600" dirty="0">
                  <a:solidFill>
                    <a:schemeClr val="accent4">
                      <a:lumMod val="75000"/>
                    </a:schemeClr>
                  </a:solidFill>
                </a:rPr>
                <a:t>a + b</a:t>
              </a:r>
            </a:p>
            <a:p>
              <a:r>
                <a:rPr lang="en-IN" sz="1600" dirty="0"/>
                <a:t/>
              </a:r>
              <a:br>
                <a:rPr lang="en-IN" sz="1600" dirty="0"/>
              </a:br>
              <a:r>
                <a:rPr lang="en-IN" sz="1600" dirty="0">
                  <a:solidFill>
                    <a:schemeClr val="accent4">
                      <a:lumMod val="75000"/>
                    </a:schemeClr>
                  </a:solidFill>
                </a:rPr>
                <a:t>@tool</a:t>
              </a:r>
            </a:p>
            <a:p>
              <a:r>
                <a:rPr lang="en-IN" sz="1600" dirty="0">
                  <a:solidFill>
                    <a:srgbClr val="0070C0"/>
                  </a:solidFill>
                </a:rPr>
                <a:t>def </a:t>
              </a:r>
              <a:r>
                <a:rPr lang="en-IN" sz="1600" dirty="0">
                  <a:solidFill>
                    <a:schemeClr val="accent4">
                      <a:lumMod val="75000"/>
                    </a:schemeClr>
                  </a:solidFill>
                </a:rPr>
                <a:t>multiply(</a:t>
              </a:r>
              <a:r>
                <a:rPr lang="en-IN" sz="1600" dirty="0">
                  <a:solidFill>
                    <a:srgbClr val="15C2FF"/>
                  </a:solidFill>
                </a:rPr>
                <a:t>a: int, b: int) -&gt; int:</a:t>
              </a:r>
            </a:p>
            <a:p>
              <a:r>
                <a:rPr lang="en-IN" sz="1600" dirty="0">
                  <a:solidFill>
                    <a:srgbClr val="CC3300"/>
                  </a:solidFill>
                </a:rPr>
                <a:t>    """Multiply two numbers"""</a:t>
              </a:r>
            </a:p>
            <a:p>
              <a:r>
                <a:rPr lang="en-IN" sz="1600" dirty="0"/>
                <a:t>    </a:t>
              </a:r>
              <a:r>
                <a:rPr lang="en-IN" sz="1600" dirty="0">
                  <a:solidFill>
                    <a:srgbClr val="0070C0"/>
                  </a:solidFill>
                </a:rPr>
                <a:t>return</a:t>
              </a:r>
              <a:r>
                <a:rPr lang="en-IN" sz="1600" dirty="0"/>
                <a:t> </a:t>
              </a:r>
              <a:r>
                <a:rPr lang="en-IN" sz="1600" dirty="0">
                  <a:solidFill>
                    <a:schemeClr val="accent4">
                      <a:lumMod val="75000"/>
                    </a:schemeClr>
                  </a:solidFill>
                </a:rPr>
                <a:t>a * b</a:t>
              </a:r>
            </a:p>
            <a:p>
              <a:r>
                <a:rPr lang="en-IN" sz="1600" dirty="0"/>
                <a:t/>
              </a:r>
              <a:br>
                <a:rPr lang="en-IN" sz="1600" dirty="0"/>
              </a:br>
              <a:r>
                <a:rPr lang="en-IN" sz="1600" dirty="0">
                  <a:solidFill>
                    <a:srgbClr val="0070C0"/>
                  </a:solidFill>
                </a:rPr>
                <a:t>class</a:t>
              </a:r>
              <a:r>
                <a:rPr lang="en-IN" sz="1600" dirty="0"/>
                <a:t> </a:t>
              </a:r>
              <a:r>
                <a:rPr lang="en-IN" sz="1600" dirty="0">
                  <a:solidFill>
                    <a:srgbClr val="00CC99"/>
                  </a:solidFill>
                </a:rPr>
                <a:t>MathToolkit</a:t>
              </a:r>
              <a:r>
                <a:rPr lang="en-IN" sz="1600" dirty="0">
                  <a:solidFill>
                    <a:schemeClr val="bg1"/>
                  </a:solidFill>
                </a:rPr>
                <a:t>:</a:t>
              </a:r>
            </a:p>
            <a:p>
              <a:r>
                <a:rPr lang="en-IN" sz="1600" dirty="0"/>
                <a:t>  </a:t>
              </a:r>
              <a:r>
                <a:rPr lang="en-IN" sz="1600" dirty="0">
                  <a:solidFill>
                    <a:srgbClr val="0070C0"/>
                  </a:solidFill>
                </a:rPr>
                <a:t>  def </a:t>
              </a:r>
              <a:r>
                <a:rPr lang="en-IN" sz="1600" dirty="0">
                  <a:solidFill>
                    <a:schemeClr val="accent4">
                      <a:lumMod val="75000"/>
                    </a:schemeClr>
                  </a:solidFill>
                </a:rPr>
                <a:t>get_tools(self):</a:t>
              </a:r>
            </a:p>
            <a:p>
              <a:r>
                <a:rPr lang="en-IN" sz="1600" dirty="0"/>
                <a:t>        </a:t>
              </a:r>
              <a:r>
                <a:rPr lang="en-IN" sz="1600" dirty="0">
                  <a:solidFill>
                    <a:srgbClr val="0070C0"/>
                  </a:solidFill>
                </a:rPr>
                <a:t>return</a:t>
              </a:r>
              <a:r>
                <a:rPr lang="en-IN" sz="1600" dirty="0"/>
                <a:t> </a:t>
              </a:r>
              <a:r>
                <a:rPr lang="en-IN" sz="1600" dirty="0">
                  <a:solidFill>
                    <a:schemeClr val="accent4">
                      <a:lumMod val="75000"/>
                    </a:schemeClr>
                  </a:solidFill>
                </a:rPr>
                <a:t>[add, multiply]</a:t>
              </a:r>
            </a:p>
            <a:p>
              <a:r>
                <a:rPr lang="en-IN" sz="1600" dirty="0"/>
                <a:t>    </a:t>
              </a:r>
            </a:p>
            <a:p>
              <a:r>
                <a:rPr lang="en-IN" sz="1600" dirty="0">
                  <a:solidFill>
                    <a:srgbClr val="15C2FF"/>
                  </a:solidFill>
                </a:rPr>
                <a:t>toolkit =</a:t>
              </a:r>
              <a:r>
                <a:rPr lang="en-IN" sz="1600" dirty="0"/>
                <a:t> </a:t>
              </a:r>
              <a:r>
                <a:rPr lang="en-IN" sz="1600" dirty="0">
                  <a:solidFill>
                    <a:srgbClr val="00CC99"/>
                  </a:solidFill>
                </a:rPr>
                <a:t>MathToolkit()</a:t>
              </a:r>
            </a:p>
            <a:p>
              <a:r>
                <a:rPr lang="en-IN" sz="1600" dirty="0">
                  <a:solidFill>
                    <a:srgbClr val="15C2FF"/>
                  </a:solidFill>
                </a:rPr>
                <a:t>tools = toolkit</a:t>
              </a:r>
              <a:r>
                <a:rPr lang="en-IN" sz="1600" dirty="0">
                  <a:solidFill>
                    <a:schemeClr val="bg1"/>
                  </a:solidFill>
                </a:rPr>
                <a:t>.</a:t>
              </a:r>
              <a:r>
                <a:rPr lang="en-IN" sz="1600" dirty="0">
                  <a:solidFill>
                    <a:schemeClr val="accent4">
                      <a:lumMod val="75000"/>
                    </a:schemeClr>
                  </a:solidFill>
                </a:rPr>
                <a:t>get_tools()</a:t>
              </a:r>
            </a:p>
            <a:p>
              <a:r>
                <a:rPr lang="en-IN" sz="1600" dirty="0"/>
                <a:t/>
              </a:r>
              <a:br>
                <a:rPr lang="en-IN" sz="1600" dirty="0"/>
              </a:br>
              <a:r>
                <a:rPr lang="en-IN" sz="1600" dirty="0">
                  <a:solidFill>
                    <a:schemeClr val="accent4">
                      <a:lumMod val="75000"/>
                    </a:schemeClr>
                  </a:solidFill>
                </a:rPr>
                <a:t>print(</a:t>
              </a:r>
              <a:r>
                <a:rPr lang="en-IN" sz="1600" dirty="0">
                  <a:solidFill>
                    <a:srgbClr val="0070C0"/>
                  </a:solidFill>
                </a:rPr>
                <a:t>tools[0]</a:t>
              </a:r>
              <a:r>
                <a:rPr lang="en-IN" sz="1600" dirty="0">
                  <a:solidFill>
                    <a:schemeClr val="bg1"/>
                  </a:solidFill>
                </a:rPr>
                <a:t>.i</a:t>
              </a:r>
              <a:r>
                <a:rPr lang="en-IN" sz="1600" dirty="0">
                  <a:solidFill>
                    <a:schemeClr val="accent4">
                      <a:lumMod val="75000"/>
                    </a:schemeClr>
                  </a:solidFill>
                </a:rPr>
                <a:t>nvoke({</a:t>
              </a:r>
              <a:r>
                <a:rPr lang="en-IN" sz="1600" dirty="0">
                  <a:solidFill>
                    <a:srgbClr val="CC3300"/>
                  </a:solidFill>
                </a:rPr>
                <a:t>"a"</a:t>
              </a:r>
              <a:r>
                <a:rPr lang="en-IN" sz="1600" dirty="0">
                  <a:solidFill>
                    <a:srgbClr val="0070C0"/>
                  </a:solidFill>
                </a:rPr>
                <a:t>:3</a:t>
              </a:r>
              <a:r>
                <a:rPr lang="en-IN" sz="1600" dirty="0">
                  <a:solidFill>
                    <a:schemeClr val="bg1"/>
                  </a:solidFill>
                </a:rPr>
                <a:t>,</a:t>
              </a:r>
              <a:r>
                <a:rPr lang="en-IN" sz="1600" dirty="0">
                  <a:solidFill>
                    <a:srgbClr val="CC3300"/>
                  </a:solidFill>
                </a:rPr>
                <a:t>"b":</a:t>
              </a:r>
              <a:r>
                <a:rPr lang="en-IN" sz="1600" dirty="0">
                  <a:solidFill>
                    <a:srgbClr val="0070C0"/>
                  </a:solidFill>
                </a:rPr>
                <a:t>5}</a:t>
              </a:r>
              <a:r>
                <a:rPr lang="en-IN" sz="1600" dirty="0">
                  <a:solidFill>
                    <a:schemeClr val="accent4">
                      <a:lumMod val="75000"/>
                    </a:schemeClr>
                  </a:solidFill>
                </a:rPr>
                <a:t>))</a:t>
              </a:r>
            </a:p>
          </p:txBody>
        </p:sp>
        <p:sp>
          <p:nvSpPr>
            <p:cNvPr id="9" name="Rectangle 8"/>
            <p:cNvSpPr/>
            <p:nvPr/>
          </p:nvSpPr>
          <p:spPr>
            <a:xfrm>
              <a:off x="6623014" y="5474678"/>
              <a:ext cx="1052404" cy="369332"/>
            </a:xfrm>
            <a:prstGeom prst="rect">
              <a:avLst/>
            </a:prstGeom>
            <a:solidFill>
              <a:srgbClr val="D7C055"/>
            </a:solidFill>
            <a:effectLst>
              <a:glow rad="228600">
                <a:schemeClr val="accent4">
                  <a:satMod val="175000"/>
                  <a:alpha val="40000"/>
                </a:schemeClr>
              </a:glow>
              <a:outerShdw blurRad="50800" dist="38100" dir="2700000" algn="tl" rotWithShape="0">
                <a:prstClr val="black">
                  <a:alpha val="40000"/>
                </a:prstClr>
              </a:outerShdw>
            </a:effectLst>
          </p:spPr>
          <p:txBody>
            <a:bodyPr wrap="none">
              <a:spAutoFit/>
            </a:bodyPr>
            <a:lstStyle/>
            <a:p>
              <a:r>
                <a:rPr lang="en-IN" dirty="0">
                  <a:solidFill>
                    <a:schemeClr val="bg1"/>
                  </a:solidFill>
                  <a:latin typeface="Arial Rounded MT Bold" pitchFamily="34" charset="0"/>
                </a:rPr>
                <a:t>Toolkits</a:t>
              </a:r>
            </a:p>
          </p:txBody>
        </p:sp>
      </p:grpSp>
    </p:spTree>
    <p:extLst>
      <p:ext uri="{BB962C8B-B14F-4D97-AF65-F5344CB8AC3E}">
        <p14:creationId xmlns:p14="http://schemas.microsoft.com/office/powerpoint/2010/main" val="12206394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236" y="3255216"/>
            <a:ext cx="5747471" cy="2496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703560" y="211994"/>
            <a:ext cx="1331134" cy="369332"/>
          </a:xfrm>
          <a:prstGeom prst="rect">
            <a:avLst/>
          </a:prstGeom>
        </p:spPr>
        <p:txBody>
          <a:bodyPr wrap="none">
            <a:spAutoFit/>
          </a:bodyPr>
          <a:lstStyle/>
          <a:p>
            <a:r>
              <a:rPr lang="en-IN" dirty="0"/>
              <a:t>Tool Binding</a:t>
            </a:r>
          </a:p>
        </p:txBody>
      </p:sp>
      <p:sp>
        <p:nvSpPr>
          <p:cNvPr id="10" name="Rectangle 9"/>
          <p:cNvSpPr/>
          <p:nvPr/>
        </p:nvSpPr>
        <p:spPr>
          <a:xfrm>
            <a:off x="2549236" y="1243271"/>
            <a:ext cx="6096000" cy="1477328"/>
          </a:xfrm>
          <a:prstGeom prst="rect">
            <a:avLst/>
          </a:prstGeom>
        </p:spPr>
        <p:txBody>
          <a:bodyPr>
            <a:spAutoFit/>
          </a:bodyPr>
          <a:lstStyle/>
          <a:p>
            <a:r>
              <a:rPr lang="en-US" dirty="0"/>
              <a:t>Tool Binding is the step where you register tools with a Language Model (LLM) so that:</a:t>
            </a:r>
          </a:p>
          <a:p>
            <a:r>
              <a:rPr lang="en-US" dirty="0"/>
              <a:t>1. The LLM knows what tools are available</a:t>
            </a:r>
          </a:p>
          <a:p>
            <a:r>
              <a:rPr lang="en-US" dirty="0"/>
              <a:t>2. It knows what each tool does (via description)</a:t>
            </a:r>
          </a:p>
          <a:p>
            <a:r>
              <a:rPr lang="en-US" dirty="0"/>
              <a:t>3. It knows what input format to use (via schema)</a:t>
            </a:r>
            <a:endParaRPr lang="en-IN" dirty="0"/>
          </a:p>
        </p:txBody>
      </p:sp>
    </p:spTree>
    <p:extLst>
      <p:ext uri="{BB962C8B-B14F-4D97-AF65-F5344CB8AC3E}">
        <p14:creationId xmlns:p14="http://schemas.microsoft.com/office/powerpoint/2010/main" val="20529964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r>
              <a:rPr lang="en-US" dirty="0" smtClean="0"/>
              <a:t>v</a:t>
            </a:r>
            <a:endParaRPr lang="en-US" dirty="0"/>
          </a:p>
        </p:txBody>
      </p:sp>
      <p:sp>
        <p:nvSpPr>
          <p:cNvPr id="9" name="Rectangle 8"/>
          <p:cNvSpPr/>
          <p:nvPr/>
        </p:nvSpPr>
        <p:spPr>
          <a:xfrm>
            <a:off x="1382982" y="211994"/>
            <a:ext cx="1249381" cy="369332"/>
          </a:xfrm>
          <a:prstGeom prst="rect">
            <a:avLst/>
          </a:prstGeom>
        </p:spPr>
        <p:txBody>
          <a:bodyPr wrap="none">
            <a:spAutoFit/>
          </a:bodyPr>
          <a:lstStyle/>
          <a:p>
            <a:r>
              <a:rPr lang="en-IN" dirty="0" smtClean="0"/>
              <a:t>Tool Calling</a:t>
            </a:r>
            <a:endParaRPr lang="en-IN" dirty="0"/>
          </a:p>
        </p:txBody>
      </p:sp>
      <p:sp>
        <p:nvSpPr>
          <p:cNvPr id="2" name="Rectangle 1"/>
          <p:cNvSpPr/>
          <p:nvPr/>
        </p:nvSpPr>
        <p:spPr>
          <a:xfrm>
            <a:off x="1703561" y="769378"/>
            <a:ext cx="7731384" cy="830997"/>
          </a:xfrm>
          <a:prstGeom prst="rect">
            <a:avLst/>
          </a:prstGeom>
        </p:spPr>
        <p:txBody>
          <a:bodyPr wrap="square">
            <a:spAutoFit/>
          </a:bodyPr>
          <a:lstStyle/>
          <a:p>
            <a:r>
              <a:rPr lang="en-US" sz="1600" dirty="0">
                <a:latin typeface="Cambria Math" pitchFamily="18" charset="0"/>
                <a:ea typeface="Cambria Math" pitchFamily="18" charset="0"/>
              </a:rPr>
              <a:t>Tool Calling is the process where the LLM (language model) decides, during a conversation or task, that it needs to use a specific tool (function) and generates a structured output with:</a:t>
            </a:r>
            <a:endParaRPr lang="en-IN" sz="1600" dirty="0">
              <a:latin typeface="Cambria Math" pitchFamily="18" charset="0"/>
              <a:ea typeface="Cambria Math" pitchFamily="18" charset="0"/>
            </a:endParaRPr>
          </a:p>
        </p:txBody>
      </p:sp>
      <p:sp>
        <p:nvSpPr>
          <p:cNvPr id="3" name="Rectangle 2"/>
          <p:cNvSpPr/>
          <p:nvPr/>
        </p:nvSpPr>
        <p:spPr>
          <a:xfrm>
            <a:off x="2632363" y="1983617"/>
            <a:ext cx="3010761" cy="584775"/>
          </a:xfrm>
          <a:prstGeom prst="rect">
            <a:avLst/>
          </a:prstGeom>
        </p:spPr>
        <p:txBody>
          <a:bodyPr wrap="none">
            <a:spAutoFit/>
          </a:bodyPr>
          <a:lstStyle/>
          <a:p>
            <a:r>
              <a:rPr lang="en-US" sz="1600" dirty="0">
                <a:latin typeface="Cambria Math" pitchFamily="18" charset="0"/>
                <a:ea typeface="Cambria Math" pitchFamily="18" charset="0"/>
              </a:rPr>
              <a:t>the name of the tool</a:t>
            </a:r>
          </a:p>
          <a:p>
            <a:r>
              <a:rPr lang="en-US" sz="1600" dirty="0">
                <a:latin typeface="Cambria Math" pitchFamily="18" charset="0"/>
                <a:ea typeface="Cambria Math" pitchFamily="18" charset="0"/>
              </a:rPr>
              <a:t>and the arguments to call it with</a:t>
            </a:r>
            <a:endParaRPr lang="en-IN" sz="1600" dirty="0">
              <a:latin typeface="Cambria Math" pitchFamily="18" charset="0"/>
              <a:ea typeface="Cambria Math" pitchFamily="18" charset="0"/>
            </a:endParaRPr>
          </a:p>
        </p:txBody>
      </p:sp>
      <p:sp>
        <p:nvSpPr>
          <p:cNvPr id="11" name="Rectangle 10"/>
          <p:cNvSpPr/>
          <p:nvPr/>
        </p:nvSpPr>
        <p:spPr>
          <a:xfrm>
            <a:off x="1588231" y="3125688"/>
            <a:ext cx="5099023" cy="830997"/>
          </a:xfrm>
          <a:prstGeom prst="rect">
            <a:avLst/>
          </a:prstGeom>
        </p:spPr>
        <p:txBody>
          <a:bodyPr wrap="square">
            <a:spAutoFit/>
          </a:bodyPr>
          <a:lstStyle/>
          <a:p>
            <a:r>
              <a:rPr lang="en-US" sz="1600" dirty="0">
                <a:latin typeface="Cambria Math" pitchFamily="18" charset="0"/>
                <a:ea typeface="Cambria Math" pitchFamily="18" charset="0"/>
              </a:rPr>
              <a:t>The LLM does not actually run the tool-it just suggests the tool and the input arguments. The actual execution is handled by LangChain or </a:t>
            </a:r>
            <a:r>
              <a:rPr lang="en-US" sz="1600" dirty="0" smtClean="0">
                <a:latin typeface="Cambria Math" pitchFamily="18" charset="0"/>
                <a:ea typeface="Cambria Math" pitchFamily="18" charset="0"/>
              </a:rPr>
              <a:t>you(programmer).</a:t>
            </a:r>
            <a:endParaRPr lang="en-IN" sz="1600" dirty="0">
              <a:latin typeface="Cambria Math" pitchFamily="18" charset="0"/>
              <a:ea typeface="Cambria Math" pitchFamily="18" charset="0"/>
            </a:endParaRPr>
          </a:p>
        </p:txBody>
      </p:sp>
      <p:sp>
        <p:nvSpPr>
          <p:cNvPr id="12" name="Rectangle 11"/>
          <p:cNvSpPr/>
          <p:nvPr/>
        </p:nvSpPr>
        <p:spPr>
          <a:xfrm>
            <a:off x="8860599" y="1906672"/>
            <a:ext cx="2570127" cy="338554"/>
          </a:xfrm>
          <a:prstGeom prst="rect">
            <a:avLst/>
          </a:prstGeom>
        </p:spPr>
        <p:txBody>
          <a:bodyPr wrap="none">
            <a:spAutoFit/>
          </a:bodyPr>
          <a:lstStyle/>
          <a:p>
            <a:r>
              <a:rPr lang="en-US" sz="1600" dirty="0">
                <a:latin typeface="Cambria Math" pitchFamily="18" charset="0"/>
                <a:ea typeface="Cambria Math" pitchFamily="18" charset="0"/>
              </a:rPr>
              <a:t>"What's 8 multiplied by 7?"</a:t>
            </a:r>
            <a:endParaRPr lang="en-IN" sz="1600" dirty="0">
              <a:latin typeface="Cambria Math" pitchFamily="18" charset="0"/>
              <a:ea typeface="Cambria Math" pitchFamily="18" charset="0"/>
            </a:endParaRPr>
          </a:p>
        </p:txBody>
      </p:sp>
      <p:sp>
        <p:nvSpPr>
          <p:cNvPr id="13" name="Rectangle 12"/>
          <p:cNvSpPr/>
          <p:nvPr/>
        </p:nvSpPr>
        <p:spPr>
          <a:xfrm>
            <a:off x="8553719" y="2787134"/>
            <a:ext cx="3183885" cy="338554"/>
          </a:xfrm>
          <a:prstGeom prst="rect">
            <a:avLst/>
          </a:prstGeom>
        </p:spPr>
        <p:txBody>
          <a:bodyPr wrap="none">
            <a:spAutoFit/>
          </a:bodyPr>
          <a:lstStyle/>
          <a:p>
            <a:r>
              <a:rPr lang="en-US" sz="1600" dirty="0">
                <a:latin typeface="Cambria Math" pitchFamily="18" charset="0"/>
                <a:ea typeface="Cambria Math" pitchFamily="18" charset="0"/>
              </a:rPr>
              <a:t>The LLM responds with a tool call:</a:t>
            </a:r>
            <a:endParaRPr lang="en-IN" sz="1600" dirty="0">
              <a:latin typeface="Cambria Math" pitchFamily="18" charset="0"/>
              <a:ea typeface="Cambria Math" pitchFamily="18" charset="0"/>
            </a:endParaRPr>
          </a:p>
        </p:txBody>
      </p:sp>
      <p:sp>
        <p:nvSpPr>
          <p:cNvPr id="14" name="Rectangle 13"/>
          <p:cNvSpPr/>
          <p:nvPr/>
        </p:nvSpPr>
        <p:spPr>
          <a:xfrm>
            <a:off x="8150607" y="3599158"/>
            <a:ext cx="3280119" cy="1354217"/>
          </a:xfrm>
          <a:prstGeom prst="rect">
            <a:avLst/>
          </a:prstGeom>
          <a:solidFill>
            <a:schemeClr val="accent1">
              <a:lumMod val="20000"/>
              <a:lumOff val="80000"/>
            </a:schemeClr>
          </a:solidFill>
          <a:ln>
            <a:solidFill>
              <a:schemeClr val="bg1">
                <a:lumMod val="85000"/>
              </a:schemeClr>
            </a:solidFill>
          </a:ln>
        </p:spPr>
        <p:txBody>
          <a:bodyPr wrap="square">
            <a:spAutoFit/>
          </a:bodyPr>
          <a:lstStyle/>
          <a:p>
            <a:r>
              <a:rPr lang="en-US" sz="1600" dirty="0" smtClean="0">
                <a:latin typeface="Cambria Math" pitchFamily="18" charset="0"/>
                <a:ea typeface="Cambria Math" pitchFamily="18" charset="0"/>
              </a:rPr>
              <a:t>json</a:t>
            </a:r>
            <a:endParaRPr lang="en-US" sz="1600" dirty="0">
              <a:latin typeface="Cambria Math" pitchFamily="18" charset="0"/>
              <a:ea typeface="Cambria Math" pitchFamily="18" charset="0"/>
            </a:endParaRPr>
          </a:p>
          <a:p>
            <a:r>
              <a:rPr lang="en-US" sz="1600" dirty="0" smtClean="0">
                <a:latin typeface="Cambria Math" pitchFamily="18" charset="0"/>
                <a:ea typeface="Cambria Math" pitchFamily="18" charset="0"/>
              </a:rPr>
              <a:t>{</a:t>
            </a:r>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"tool": "multiply",</a:t>
            </a:r>
          </a:p>
          <a:p>
            <a:r>
              <a:rPr lang="en-US" sz="1600" dirty="0">
                <a:latin typeface="Cambria Math" pitchFamily="18" charset="0"/>
                <a:ea typeface="Cambria Math" pitchFamily="18" charset="0"/>
              </a:rPr>
              <a:t>"args": { "a": 8, "b": 7)</a:t>
            </a:r>
          </a:p>
          <a:p>
            <a:r>
              <a:rPr lang="en-US" sz="1600" dirty="0" smtClean="0">
                <a:latin typeface="Cambria Math" pitchFamily="18" charset="0"/>
                <a:ea typeface="Cambria Math" pitchFamily="18" charset="0"/>
              </a:rPr>
              <a:t>}</a:t>
            </a:r>
            <a:endParaRPr lang="en-IN" sz="1600" dirty="0">
              <a:latin typeface="Cambria Math" pitchFamily="18" charset="0"/>
              <a:ea typeface="Cambria Math"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639" y="4573732"/>
            <a:ext cx="4542126" cy="1924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16133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TextBox 1"/>
          <p:cNvSpPr txBox="1"/>
          <p:nvPr/>
        </p:nvSpPr>
        <p:spPr>
          <a:xfrm>
            <a:off x="1648691" y="285823"/>
            <a:ext cx="1854995" cy="400110"/>
          </a:xfrm>
          <a:prstGeom prst="rect">
            <a:avLst/>
          </a:prstGeom>
          <a:noFill/>
        </p:spPr>
        <p:txBody>
          <a:bodyPr wrap="none" rtlCol="0">
            <a:spAutoFit/>
          </a:bodyPr>
          <a:lstStyle/>
          <a:p>
            <a:r>
              <a:rPr lang="en-US" sz="2000" dirty="0" smtClean="0">
                <a:latin typeface="Bahnschrift SemiBold" pitchFamily="34" charset="0"/>
              </a:rPr>
              <a:t>Tool Execution</a:t>
            </a:r>
          </a:p>
        </p:txBody>
      </p:sp>
      <p:sp>
        <p:nvSpPr>
          <p:cNvPr id="3" name="Rectangle 2"/>
          <p:cNvSpPr/>
          <p:nvPr/>
        </p:nvSpPr>
        <p:spPr>
          <a:xfrm>
            <a:off x="1814944" y="958426"/>
            <a:ext cx="9919855" cy="584775"/>
          </a:xfrm>
          <a:prstGeom prst="rect">
            <a:avLst/>
          </a:prstGeom>
        </p:spPr>
        <p:txBody>
          <a:bodyPr wrap="square">
            <a:spAutoFit/>
          </a:bodyPr>
          <a:lstStyle/>
          <a:p>
            <a:r>
              <a:rPr lang="en-US" sz="1600" dirty="0">
                <a:latin typeface="Cambria Math" pitchFamily="18" charset="0"/>
                <a:ea typeface="Cambria Math" pitchFamily="18" charset="0"/>
              </a:rPr>
              <a:t>Tool Execution is the step where the actual Python function (tool) is run using the input arguments that the LLM suggested during tool calling.</a:t>
            </a:r>
            <a:endParaRPr lang="en-IN" sz="1600" dirty="0">
              <a:latin typeface="Cambria Math" pitchFamily="18" charset="0"/>
              <a:ea typeface="Cambria Math" pitchFamily="18" charset="0"/>
            </a:endParaRPr>
          </a:p>
        </p:txBody>
      </p:sp>
      <p:sp>
        <p:nvSpPr>
          <p:cNvPr id="5" name="Rectangle 4"/>
          <p:cNvSpPr/>
          <p:nvPr/>
        </p:nvSpPr>
        <p:spPr>
          <a:xfrm>
            <a:off x="2238504" y="1803462"/>
            <a:ext cx="1730730" cy="338554"/>
          </a:xfrm>
          <a:prstGeom prst="rect">
            <a:avLst/>
          </a:prstGeom>
        </p:spPr>
        <p:txBody>
          <a:bodyPr wrap="none">
            <a:spAutoFit/>
          </a:bodyPr>
          <a:lstStyle/>
          <a:p>
            <a:r>
              <a:rPr lang="en-IN" sz="1600" dirty="0">
                <a:latin typeface="Cambria Math" pitchFamily="18" charset="0"/>
                <a:ea typeface="Cambria Math" pitchFamily="18" charset="0"/>
              </a:rPr>
              <a:t>In simpler words:</a:t>
            </a:r>
          </a:p>
        </p:txBody>
      </p:sp>
      <p:sp>
        <p:nvSpPr>
          <p:cNvPr id="9" name="Rectangle 8"/>
          <p:cNvSpPr/>
          <p:nvPr/>
        </p:nvSpPr>
        <p:spPr>
          <a:xfrm>
            <a:off x="2576188" y="2385352"/>
            <a:ext cx="1715726" cy="338554"/>
          </a:xfrm>
          <a:prstGeom prst="rect">
            <a:avLst/>
          </a:prstGeom>
        </p:spPr>
        <p:txBody>
          <a:bodyPr wrap="none">
            <a:spAutoFit/>
          </a:bodyPr>
          <a:lstStyle/>
          <a:p>
            <a:pPr marL="285750" indent="-285750">
              <a:buFont typeface="Wingdings" pitchFamily="2" charset="2"/>
              <a:buChar char="§"/>
            </a:pPr>
            <a:r>
              <a:rPr lang="en-IN" sz="1600" dirty="0">
                <a:latin typeface="Cambria Math" pitchFamily="18" charset="0"/>
                <a:ea typeface="Cambria Math" pitchFamily="18" charset="0"/>
              </a:rPr>
              <a:t>The LLM says:</a:t>
            </a:r>
          </a:p>
        </p:txBody>
      </p:sp>
      <p:sp>
        <p:nvSpPr>
          <p:cNvPr id="10" name="Rectangle 9"/>
          <p:cNvSpPr/>
          <p:nvPr/>
        </p:nvSpPr>
        <p:spPr>
          <a:xfrm>
            <a:off x="2953333" y="2753985"/>
            <a:ext cx="4270208" cy="338554"/>
          </a:xfrm>
          <a:prstGeom prst="rect">
            <a:avLst/>
          </a:prstGeom>
        </p:spPr>
        <p:txBody>
          <a:bodyPr wrap="none">
            <a:spAutoFit/>
          </a:bodyPr>
          <a:lstStyle/>
          <a:p>
            <a:r>
              <a:rPr lang="en-US" sz="1600" dirty="0">
                <a:latin typeface="Cambria Math" pitchFamily="18" charset="0"/>
                <a:ea typeface="Cambria Math" pitchFamily="18" charset="0"/>
              </a:rPr>
              <a:t>"Hey, call the multiply tool With </a:t>
            </a:r>
            <a:r>
              <a:rPr lang="en-US" sz="1600" dirty="0" smtClean="0">
                <a:latin typeface="Cambria Math" pitchFamily="18" charset="0"/>
                <a:ea typeface="Cambria Math" pitchFamily="18" charset="0"/>
              </a:rPr>
              <a:t>a=8 </a:t>
            </a:r>
            <a:r>
              <a:rPr lang="en-US" sz="1600" dirty="0">
                <a:latin typeface="Cambria Math" pitchFamily="18" charset="0"/>
                <a:ea typeface="Cambria Math" pitchFamily="18" charset="0"/>
              </a:rPr>
              <a:t>and </a:t>
            </a:r>
            <a:r>
              <a:rPr lang="en-US" sz="1600" dirty="0" smtClean="0">
                <a:latin typeface="Cambria Math" pitchFamily="18" charset="0"/>
                <a:ea typeface="Cambria Math" pitchFamily="18" charset="0"/>
              </a:rPr>
              <a:t>b=7</a:t>
            </a:r>
            <a:r>
              <a:rPr lang="en-US" sz="1600" dirty="0">
                <a:latin typeface="Cambria Math" pitchFamily="18" charset="0"/>
                <a:ea typeface="Cambria Math" pitchFamily="18" charset="0"/>
              </a:rPr>
              <a:t>."</a:t>
            </a:r>
            <a:endParaRPr lang="en-IN" sz="1600" dirty="0">
              <a:latin typeface="Cambria Math" pitchFamily="18" charset="0"/>
              <a:ea typeface="Cambria Math" pitchFamily="18" charset="0"/>
            </a:endParaRPr>
          </a:p>
        </p:txBody>
      </p:sp>
      <p:sp>
        <p:nvSpPr>
          <p:cNvPr id="11" name="Rectangle 10"/>
          <p:cNvSpPr/>
          <p:nvPr/>
        </p:nvSpPr>
        <p:spPr>
          <a:xfrm>
            <a:off x="2576188" y="3428999"/>
            <a:ext cx="5597994" cy="584775"/>
          </a:xfrm>
          <a:prstGeom prst="rect">
            <a:avLst/>
          </a:prstGeom>
        </p:spPr>
        <p:txBody>
          <a:bodyPr wrap="square">
            <a:spAutoFit/>
          </a:bodyPr>
          <a:lstStyle/>
          <a:p>
            <a:pPr marL="285750" indent="-285750">
              <a:buFont typeface="Wingdings" pitchFamily="2" charset="2"/>
              <a:buChar char="§"/>
            </a:pPr>
            <a:r>
              <a:rPr lang="en-US" sz="1600" dirty="0">
                <a:latin typeface="Cambria Math" pitchFamily="18" charset="0"/>
                <a:ea typeface="Cambria Math" pitchFamily="18" charset="0"/>
              </a:rPr>
              <a:t>Tool Execution is when you or LangChain actually run:</a:t>
            </a:r>
          </a:p>
          <a:p>
            <a:r>
              <a:rPr lang="en-US" sz="1600" dirty="0" smtClean="0">
                <a:latin typeface="Cambria Math" pitchFamily="18" charset="0"/>
                <a:ea typeface="Cambria Math" pitchFamily="18" charset="0"/>
              </a:rPr>
              <a:t>multiply(a=8</a:t>
            </a:r>
            <a:r>
              <a:rPr lang="en-US" sz="1600" dirty="0">
                <a:latin typeface="Cambria Math" pitchFamily="18" charset="0"/>
                <a:ea typeface="Cambria Math" pitchFamily="18" charset="0"/>
              </a:rPr>
              <a:t>, </a:t>
            </a:r>
            <a:r>
              <a:rPr lang="en-US" sz="1600" dirty="0" smtClean="0">
                <a:latin typeface="Cambria Math" pitchFamily="18" charset="0"/>
                <a:ea typeface="Cambria Math" pitchFamily="18" charset="0"/>
              </a:rPr>
              <a:t>b=7</a:t>
            </a:r>
            <a:r>
              <a:rPr lang="en-US" sz="1600" dirty="0">
                <a:latin typeface="Cambria Math" pitchFamily="18" charset="0"/>
                <a:ea typeface="Cambria Math" pitchFamily="18" charset="0"/>
              </a:rPr>
              <a:t>)</a:t>
            </a:r>
            <a:endParaRPr lang="en-IN" sz="1600" dirty="0">
              <a:latin typeface="Cambria Math" pitchFamily="18" charset="0"/>
              <a:ea typeface="Cambria Math" pitchFamily="18" charset="0"/>
            </a:endParaRPr>
          </a:p>
        </p:txBody>
      </p:sp>
      <p:sp>
        <p:nvSpPr>
          <p:cNvPr id="12" name="Rectangle 11"/>
          <p:cNvSpPr/>
          <p:nvPr/>
        </p:nvSpPr>
        <p:spPr>
          <a:xfrm>
            <a:off x="2378121" y="4294257"/>
            <a:ext cx="2251129" cy="338554"/>
          </a:xfrm>
          <a:prstGeom prst="rect">
            <a:avLst/>
          </a:prstGeom>
        </p:spPr>
        <p:txBody>
          <a:bodyPr wrap="none">
            <a:spAutoFit/>
          </a:bodyPr>
          <a:lstStyle/>
          <a:p>
            <a:r>
              <a:rPr lang="en-US" sz="1600" dirty="0">
                <a:latin typeface="Cambria Math" pitchFamily="18" charset="0"/>
                <a:ea typeface="Cambria Math" pitchFamily="18" charset="0"/>
              </a:rPr>
              <a:t>→ and get the result: 56</a:t>
            </a:r>
            <a:endParaRPr lang="en-IN" sz="1600" dirty="0">
              <a:latin typeface="Cambria Math" pitchFamily="18" charset="0"/>
              <a:ea typeface="Cambria Math"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9780" y="3721385"/>
            <a:ext cx="5247047" cy="2487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8875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2382981" y="294558"/>
            <a:ext cx="8880764" cy="5724644"/>
          </a:xfrm>
          <a:prstGeom prst="rect">
            <a:avLst/>
          </a:prstGeom>
          <a:solidFill>
            <a:schemeClr val="bg2">
              <a:lumMod val="25000"/>
            </a:schemeClr>
          </a:solidFill>
        </p:spPr>
        <p:txBody>
          <a:bodyPr wrap="square">
            <a:spAutoFit/>
          </a:bodyPr>
          <a:lstStyle/>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langchain_google_genai</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ChatGoogleGenerativeAI</a:t>
            </a:r>
          </a:p>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dotenv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load_dotenv</a:t>
            </a:r>
          </a:p>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langchain_community.tools</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tool</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chemeClr val="accent4">
                    <a:lumMod val="75000"/>
                  </a:schemeClr>
                </a:solidFill>
                <a:latin typeface="Cambria Math" pitchFamily="18" charset="0"/>
                <a:ea typeface="Cambria Math" pitchFamily="18" charset="0"/>
              </a:rPr>
              <a:t>load_dotenv()</a:t>
            </a:r>
          </a:p>
          <a:p>
            <a:r>
              <a:rPr lang="en-IN" sz="1600" dirty="0">
                <a:solidFill>
                  <a:srgbClr val="00B0F0"/>
                </a:solidFill>
                <a:latin typeface="Cambria Math" pitchFamily="18" charset="0"/>
                <a:ea typeface="Cambria Math" pitchFamily="18" charset="0"/>
              </a:rPr>
              <a:t>llm</a:t>
            </a:r>
            <a:r>
              <a:rPr lang="en-IN" sz="1600" dirty="0">
                <a:solidFill>
                  <a:schemeClr val="bg1"/>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ChatGoogleGenerativeAI</a:t>
            </a:r>
            <a:r>
              <a:rPr lang="en-IN" sz="1600" dirty="0">
                <a:solidFill>
                  <a:schemeClr val="bg1"/>
                </a:solidFill>
                <a:latin typeface="Cambria Math" pitchFamily="18" charset="0"/>
                <a:ea typeface="Cambria Math" pitchFamily="18" charset="0"/>
              </a:rPr>
              <a:t>(</a:t>
            </a:r>
            <a:r>
              <a:rPr lang="en-IN" sz="1600" dirty="0">
                <a:solidFill>
                  <a:srgbClr val="00B0F0"/>
                </a:solidFill>
                <a:latin typeface="Cambria Math" pitchFamily="18" charset="0"/>
                <a:ea typeface="Cambria Math" pitchFamily="18" charset="0"/>
              </a:rPr>
              <a:t>model</a:t>
            </a:r>
            <a:r>
              <a:rPr lang="en-IN" sz="1600" dirty="0">
                <a:solidFill>
                  <a:schemeClr val="bg1"/>
                </a:solidFill>
                <a:latin typeface="Cambria Math" pitchFamily="18" charset="0"/>
                <a:ea typeface="Cambria Math" pitchFamily="18" charset="0"/>
              </a:rPr>
              <a:t>=</a:t>
            </a:r>
            <a:r>
              <a:rPr lang="en-IN" sz="1600" dirty="0">
                <a:solidFill>
                  <a:srgbClr val="CC3300"/>
                </a:solidFill>
                <a:latin typeface="Cambria Math" pitchFamily="18" charset="0"/>
                <a:ea typeface="Cambria Math" pitchFamily="18" charset="0"/>
              </a:rPr>
              <a:t>"gemini-2.0-flash"</a:t>
            </a:r>
            <a:r>
              <a:rPr lang="en-IN" sz="1600" dirty="0">
                <a:solidFill>
                  <a:schemeClr val="bg1"/>
                </a:solidFill>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temperature</a:t>
            </a:r>
            <a:r>
              <a:rPr lang="en-IN" sz="1600" dirty="0">
                <a:solidFill>
                  <a:srgbClr val="0070C0"/>
                </a:solidFill>
                <a:latin typeface="Cambria Math" pitchFamily="18" charset="0"/>
                <a:ea typeface="Cambria Math" pitchFamily="18" charset="0"/>
              </a:rPr>
              <a:t>=0</a:t>
            </a:r>
            <a:r>
              <a:rPr lang="en-IN" sz="1600" dirty="0">
                <a:solidFill>
                  <a:schemeClr val="bg1"/>
                </a:solidFill>
                <a:latin typeface="Cambria Math" pitchFamily="18" charset="0"/>
                <a:ea typeface="Cambria Math" pitchFamily="18" charset="0"/>
              </a:rPr>
              <a:t>)</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#tool create</a:t>
            </a:r>
          </a:p>
          <a:p>
            <a:r>
              <a:rPr lang="en-IN" sz="1600" dirty="0">
                <a:solidFill>
                  <a:schemeClr val="accent4">
                    <a:lumMod val="75000"/>
                  </a:schemeClr>
                </a:solidFill>
                <a:latin typeface="Cambria Math" pitchFamily="18" charset="0"/>
                <a:ea typeface="Cambria Math" pitchFamily="18" charset="0"/>
              </a:rPr>
              <a:t>@tool</a:t>
            </a:r>
          </a:p>
          <a:p>
            <a:r>
              <a:rPr lang="en-IN" sz="1600" dirty="0">
                <a:solidFill>
                  <a:srgbClr val="FF0066"/>
                </a:solidFill>
                <a:latin typeface="Cambria Math" pitchFamily="18" charset="0"/>
                <a:ea typeface="Cambria Math" pitchFamily="18" charset="0"/>
              </a:rPr>
              <a:t>def</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multiply</a:t>
            </a:r>
            <a:r>
              <a:rPr lang="en-IN" sz="1600" dirty="0">
                <a:solidFill>
                  <a:schemeClr val="bg1"/>
                </a:solidFill>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a</a:t>
            </a:r>
            <a:r>
              <a:rPr lang="en-IN" sz="1600" dirty="0">
                <a:solidFill>
                  <a:schemeClr val="bg1"/>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int</a:t>
            </a:r>
            <a:r>
              <a:rPr lang="en-IN" sz="1600" dirty="0">
                <a:solidFill>
                  <a:schemeClr val="bg1"/>
                </a:solidFill>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b</a:t>
            </a:r>
            <a:r>
              <a:rPr lang="en-IN" sz="1600" dirty="0">
                <a:solidFill>
                  <a:srgbClr val="00CC99"/>
                </a:solidFill>
                <a:latin typeface="Cambria Math" pitchFamily="18" charset="0"/>
                <a:ea typeface="Cambria Math" pitchFamily="18" charset="0"/>
              </a:rPr>
              <a:t>:int</a:t>
            </a:r>
            <a:r>
              <a:rPr lang="en-IN" sz="1600" dirty="0">
                <a:solidFill>
                  <a:schemeClr val="bg1"/>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-&gt;int:</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"""Given 2 numbers a and b this tool returns their product"""</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a*b</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#tool binding</a:t>
            </a:r>
          </a:p>
          <a:p>
            <a:r>
              <a:rPr lang="en-IN" sz="1600" dirty="0" smtClean="0">
                <a:solidFill>
                  <a:srgbClr val="00B0F0"/>
                </a:solidFill>
              </a:rPr>
              <a:t>llm_with_tools</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llm</a:t>
            </a:r>
            <a:r>
              <a:rPr lang="en-IN" sz="1600" dirty="0" smtClean="0">
                <a:solidFill>
                  <a:schemeClr val="bg1"/>
                </a:solidFill>
                <a:latin typeface="Cambria Math" pitchFamily="18" charset="0"/>
                <a:ea typeface="Cambria Math" pitchFamily="18" charset="0"/>
              </a:rPr>
              <a:t>.</a:t>
            </a:r>
            <a:r>
              <a:rPr lang="en-IN" sz="1600" dirty="0" smtClean="0">
                <a:solidFill>
                  <a:schemeClr val="accent4">
                    <a:lumMod val="75000"/>
                  </a:schemeClr>
                </a:solidFill>
                <a:latin typeface="Cambria Math" pitchFamily="18" charset="0"/>
                <a:ea typeface="Cambria Math" pitchFamily="18" charset="0"/>
              </a:rPr>
              <a:t>bind_tools</a:t>
            </a:r>
            <a:r>
              <a:rPr lang="en-IN" sz="1600" dirty="0">
                <a:solidFill>
                  <a:schemeClr val="bg1"/>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multiply</a:t>
            </a:r>
            <a:r>
              <a:rPr lang="en-IN" sz="1600" dirty="0">
                <a:solidFill>
                  <a:schemeClr val="bg1"/>
                </a:solidFill>
                <a:latin typeface="Cambria Math" pitchFamily="18" charset="0"/>
                <a:ea typeface="Cambria Math" pitchFamily="18" charset="0"/>
              </a:rPr>
              <a:t>])</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#tool calling</a:t>
            </a:r>
          </a:p>
          <a:p>
            <a:r>
              <a:rPr lang="en-IN" sz="1600" dirty="0" smtClean="0">
                <a:solidFill>
                  <a:srgbClr val="00B0F0"/>
                </a:solidFill>
                <a:latin typeface="Cambria Math" pitchFamily="18" charset="0"/>
                <a:ea typeface="Cambria Math" pitchFamily="18" charset="0"/>
              </a:rPr>
              <a:t>result</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l</a:t>
            </a:r>
            <a:r>
              <a:rPr lang="en-IN" sz="1600" dirty="0" smtClean="0">
                <a:solidFill>
                  <a:srgbClr val="00B0F0"/>
                </a:solidFill>
              </a:rPr>
              <a:t>lm_with_tools</a:t>
            </a:r>
            <a:r>
              <a:rPr lang="en-IN" sz="1600" dirty="0" smtClean="0">
                <a:solidFill>
                  <a:schemeClr val="bg1"/>
                </a:solidFill>
                <a:latin typeface="Cambria Math" pitchFamily="18" charset="0"/>
                <a:ea typeface="Cambria Math" pitchFamily="18" charset="0"/>
              </a:rPr>
              <a:t>.</a:t>
            </a:r>
            <a:r>
              <a:rPr lang="en-IN" sz="1600" dirty="0" smtClean="0">
                <a:solidFill>
                  <a:schemeClr val="accent4">
                    <a:lumMod val="75000"/>
                  </a:schemeClr>
                </a:solidFill>
                <a:latin typeface="Cambria Math" pitchFamily="18" charset="0"/>
                <a:ea typeface="Cambria Math" pitchFamily="18" charset="0"/>
              </a:rPr>
              <a:t>invoke</a:t>
            </a:r>
            <a:r>
              <a:rPr lang="en-IN" sz="1600" dirty="0">
                <a:solidFill>
                  <a:schemeClr val="bg1"/>
                </a:solidFill>
                <a:latin typeface="Cambria Math" pitchFamily="18" charset="0"/>
                <a:ea typeface="Cambria Math" pitchFamily="18" charset="0"/>
              </a:rPr>
              <a:t>(</a:t>
            </a:r>
            <a:r>
              <a:rPr lang="en-IN" sz="1600" dirty="0">
                <a:solidFill>
                  <a:srgbClr val="CC3300"/>
                </a:solidFill>
                <a:latin typeface="Cambria Math" pitchFamily="18" charset="0"/>
                <a:ea typeface="Cambria Math" pitchFamily="18" charset="0"/>
              </a:rPr>
              <a:t>"can you multiply 3 with 10"</a:t>
            </a:r>
            <a:r>
              <a:rPr lang="en-IN" sz="1600" dirty="0">
                <a:solidFill>
                  <a:schemeClr val="bg1"/>
                </a:solidFill>
                <a:latin typeface="Cambria Math" pitchFamily="18" charset="0"/>
                <a:ea typeface="Cambria Math" pitchFamily="18" charset="0"/>
              </a:rPr>
              <a:t>)</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rgbClr val="00B050"/>
                </a:solidFill>
                <a:latin typeface="Cambria Math" pitchFamily="18" charset="0"/>
                <a:ea typeface="Cambria Math" pitchFamily="18" charset="0"/>
              </a:rPr>
              <a:t>#tool execution</a:t>
            </a:r>
          </a:p>
          <a:p>
            <a:r>
              <a:rPr lang="en-IN" sz="1600" dirty="0">
                <a:solidFill>
                  <a:srgbClr val="00B0F0"/>
                </a:solidFill>
                <a:latin typeface="Cambria Math" pitchFamily="18" charset="0"/>
                <a:ea typeface="Cambria Math" pitchFamily="18" charset="0"/>
              </a:rPr>
              <a:t>data</a:t>
            </a:r>
            <a:r>
              <a:rPr lang="en-IN" sz="1600" dirty="0">
                <a:solidFill>
                  <a:schemeClr val="bg1"/>
                </a:solidFill>
                <a:latin typeface="Cambria Math" pitchFamily="18" charset="0"/>
                <a:ea typeface="Cambria Math" pitchFamily="18" charset="0"/>
              </a:rPr>
              <a:t>=</a:t>
            </a:r>
            <a:r>
              <a:rPr lang="en-IN" sz="1600" dirty="0">
                <a:solidFill>
                  <a:srgbClr val="00B0F0"/>
                </a:solidFill>
                <a:latin typeface="Cambria Math" pitchFamily="18" charset="0"/>
                <a:ea typeface="Cambria Math" pitchFamily="18" charset="0"/>
              </a:rPr>
              <a:t>multiply</a:t>
            </a:r>
            <a:r>
              <a:rPr lang="en-IN" sz="1600" dirty="0">
                <a:solidFill>
                  <a:schemeClr val="bg1"/>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invoke</a:t>
            </a:r>
            <a:r>
              <a:rPr lang="en-IN" sz="1600" dirty="0">
                <a:solidFill>
                  <a:schemeClr val="bg1"/>
                </a:solidFill>
                <a:latin typeface="Cambria Math" pitchFamily="18" charset="0"/>
                <a:ea typeface="Cambria Math" pitchFamily="18" charset="0"/>
              </a:rPr>
              <a:t>(</a:t>
            </a:r>
            <a:r>
              <a:rPr lang="en-IN" sz="1600" dirty="0">
                <a:solidFill>
                  <a:srgbClr val="00B0F0"/>
                </a:solidFill>
                <a:latin typeface="Cambria Math" pitchFamily="18" charset="0"/>
                <a:ea typeface="Cambria Math" pitchFamily="18" charset="0"/>
              </a:rPr>
              <a:t>result</a:t>
            </a:r>
            <a:r>
              <a:rPr lang="en-IN" sz="1600" dirty="0">
                <a:solidFill>
                  <a:schemeClr val="bg1"/>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tool_calls[0]</a:t>
            </a:r>
            <a:r>
              <a:rPr lang="en-IN" sz="1600" dirty="0">
                <a:solidFill>
                  <a:schemeClr val="bg1"/>
                </a:solidFill>
                <a:latin typeface="Cambria Math" pitchFamily="18" charset="0"/>
                <a:ea typeface="Cambria Math" pitchFamily="18" charset="0"/>
              </a:rPr>
              <a:t>)</a:t>
            </a:r>
          </a:p>
          <a:p>
            <a:r>
              <a:rPr lang="en-IN" sz="1600" dirty="0" smtClean="0">
                <a:solidFill>
                  <a:schemeClr val="accent4">
                    <a:lumMod val="75000"/>
                  </a:schemeClr>
                </a:solidFill>
                <a:latin typeface="Cambria Math" pitchFamily="18" charset="0"/>
                <a:ea typeface="Cambria Math" pitchFamily="18" charset="0"/>
              </a:rPr>
              <a:t>print</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data</a:t>
            </a:r>
            <a:r>
              <a:rPr lang="en-IN" sz="1600" dirty="0" smtClean="0">
                <a:solidFill>
                  <a:schemeClr val="bg1"/>
                </a:solidFill>
                <a:latin typeface="Cambria Math" pitchFamily="18" charset="0"/>
                <a:ea typeface="Cambria Math" pitchFamily="18" charset="0"/>
              </a:rPr>
              <a:t>)</a:t>
            </a:r>
          </a:p>
          <a:p>
            <a:r>
              <a:rPr lang="en-US" sz="1400" dirty="0" smtClean="0">
                <a:solidFill>
                  <a:schemeClr val="bg1"/>
                </a:solidFill>
                <a:latin typeface="Cambria Math" pitchFamily="18" charset="0"/>
                <a:ea typeface="Cambria Math" pitchFamily="18" charset="0"/>
              </a:rPr>
              <a:t># </a:t>
            </a:r>
            <a:r>
              <a:rPr lang="en-IN" sz="1400" dirty="0" smtClean="0">
                <a:solidFill>
                  <a:srgbClr val="00D05E"/>
                </a:solidFill>
                <a:latin typeface="Cambria Math" pitchFamily="18" charset="0"/>
                <a:ea typeface="Cambria Math" pitchFamily="18" charset="0"/>
              </a:rPr>
              <a:t>[</a:t>
            </a:r>
            <a:r>
              <a:rPr lang="en-IN" sz="1400" dirty="0">
                <a:solidFill>
                  <a:srgbClr val="00D05E"/>
                </a:solidFill>
                <a:latin typeface="Cambria Math" pitchFamily="18" charset="0"/>
                <a:ea typeface="Cambria Math" pitchFamily="18" charset="0"/>
              </a:rPr>
              <a:t>ToolMessage(content='30' name='multiply' tool_call_id='89da71e1-0d84-4a14-a247-19f9165b3e55</a:t>
            </a:r>
            <a:r>
              <a:rPr lang="en-IN" sz="1400" dirty="0" smtClean="0">
                <a:solidFill>
                  <a:srgbClr val="00D05E"/>
                </a:solidFill>
                <a:latin typeface="Cambria Math" pitchFamily="18" charset="0"/>
                <a:ea typeface="Cambria Math" pitchFamily="18" charset="0"/>
              </a:rPr>
              <a:t>')]</a:t>
            </a:r>
            <a:endParaRPr lang="en-IN" sz="1400" dirty="0">
              <a:solidFill>
                <a:srgbClr val="00D05E"/>
              </a:solidFill>
              <a:latin typeface="Cambria Math" pitchFamily="18" charset="0"/>
              <a:ea typeface="Cambria Math" pitchFamily="18" charset="0"/>
            </a:endParaRPr>
          </a:p>
        </p:txBody>
      </p:sp>
    </p:spTree>
    <p:extLst>
      <p:ext uri="{BB962C8B-B14F-4D97-AF65-F5344CB8AC3E}">
        <p14:creationId xmlns:p14="http://schemas.microsoft.com/office/powerpoint/2010/main" val="35774466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3" name="Group 2"/>
          <p:cNvGrpSpPr/>
          <p:nvPr/>
        </p:nvGrpSpPr>
        <p:grpSpPr>
          <a:xfrm>
            <a:off x="1745670" y="42717"/>
            <a:ext cx="8750861" cy="6740307"/>
            <a:chOff x="1745670" y="42717"/>
            <a:chExt cx="8750861" cy="6740307"/>
          </a:xfrm>
        </p:grpSpPr>
        <p:sp>
          <p:nvSpPr>
            <p:cNvPr id="9" name="Rectangle 8"/>
            <p:cNvSpPr/>
            <p:nvPr/>
          </p:nvSpPr>
          <p:spPr>
            <a:xfrm>
              <a:off x="1745670" y="42717"/>
              <a:ext cx="7439893" cy="6740307"/>
            </a:xfrm>
            <a:prstGeom prst="rect">
              <a:avLst/>
            </a:prstGeom>
            <a:solidFill>
              <a:schemeClr val="bg2">
                <a:lumMod val="25000"/>
              </a:schemeClr>
            </a:solidFill>
          </p:spPr>
          <p:txBody>
            <a:bodyPr wrap="square">
              <a:spAutoFit/>
            </a:bodyPr>
            <a:lstStyle/>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langchain_google_genai</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ChatGoogleGenerativeAI</a:t>
              </a:r>
            </a:p>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dotenv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load_dotenv</a:t>
              </a:r>
            </a:p>
            <a:p>
              <a:r>
                <a:rPr lang="en-IN" sz="1600" dirty="0">
                  <a:solidFill>
                    <a:srgbClr val="FF0066"/>
                  </a:solidFill>
                  <a:latin typeface="Cambria Math" pitchFamily="18" charset="0"/>
                  <a:ea typeface="Cambria Math" pitchFamily="18" charset="0"/>
                </a:rPr>
                <a:t>from</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langchain_community.tools</a:t>
              </a:r>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import</a:t>
              </a:r>
              <a:r>
                <a:rPr lang="en-IN" sz="1600" dirty="0">
                  <a:latin typeface="Cambria Math" pitchFamily="18" charset="0"/>
                  <a:ea typeface="Cambria Math" pitchFamily="18" charset="0"/>
                </a:rPr>
                <a:t> </a:t>
              </a:r>
              <a:r>
                <a:rPr lang="en-IN" sz="1600" dirty="0">
                  <a:solidFill>
                    <a:srgbClr val="00CC99"/>
                  </a:solidFill>
                  <a:latin typeface="Cambria Math" pitchFamily="18" charset="0"/>
                  <a:ea typeface="Cambria Math" pitchFamily="18" charset="0"/>
                </a:rPr>
                <a:t>tool</a:t>
              </a:r>
            </a:p>
            <a:p>
              <a:r>
                <a:rPr lang="en-IN" sz="1600" dirty="0">
                  <a:solidFill>
                    <a:srgbClr val="FF0066"/>
                  </a:solidFill>
                </a:rPr>
                <a:t>from</a:t>
              </a:r>
              <a:r>
                <a:rPr lang="en-IN" sz="1600" dirty="0"/>
                <a:t> </a:t>
              </a:r>
              <a:r>
                <a:rPr lang="en-IN" sz="1600" dirty="0">
                  <a:solidFill>
                    <a:srgbClr val="00CC99"/>
                  </a:solidFill>
                </a:rPr>
                <a:t>langchain_core.messages </a:t>
              </a:r>
              <a:r>
                <a:rPr lang="en-IN" sz="1600" dirty="0">
                  <a:solidFill>
                    <a:srgbClr val="FF0066"/>
                  </a:solidFill>
                </a:rPr>
                <a:t>import</a:t>
              </a:r>
              <a:r>
                <a:rPr lang="en-IN" sz="1600" dirty="0"/>
                <a:t> </a:t>
              </a:r>
              <a:r>
                <a:rPr lang="en-IN" sz="1600" dirty="0">
                  <a:solidFill>
                    <a:srgbClr val="00CC99"/>
                  </a:solidFill>
                </a:rPr>
                <a:t>ToolMessage,HumanMessage,AIMessage</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a:solidFill>
                    <a:schemeClr val="accent4">
                      <a:lumMod val="75000"/>
                    </a:schemeClr>
                  </a:solidFill>
                  <a:latin typeface="Cambria Math" pitchFamily="18" charset="0"/>
                  <a:ea typeface="Cambria Math" pitchFamily="18" charset="0"/>
                </a:rPr>
                <a:t>load_dotenv()</a:t>
              </a:r>
            </a:p>
            <a:p>
              <a:r>
                <a:rPr lang="en-IN" sz="1600" dirty="0">
                  <a:solidFill>
                    <a:srgbClr val="00B0F0"/>
                  </a:solidFill>
                  <a:latin typeface="Cambria Math" pitchFamily="18" charset="0"/>
                  <a:ea typeface="Cambria Math" pitchFamily="18" charset="0"/>
                </a:rPr>
                <a:t>llm</a:t>
              </a:r>
              <a:r>
                <a:rPr lang="en-IN" sz="1600" dirty="0">
                  <a:solidFill>
                    <a:schemeClr val="bg1"/>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ChatGoogleGenerativeAI</a:t>
              </a:r>
              <a:r>
                <a:rPr lang="en-IN" sz="1600" dirty="0">
                  <a:solidFill>
                    <a:schemeClr val="bg1"/>
                  </a:solidFill>
                  <a:latin typeface="Cambria Math" pitchFamily="18" charset="0"/>
                  <a:ea typeface="Cambria Math" pitchFamily="18" charset="0"/>
                </a:rPr>
                <a:t>(</a:t>
              </a:r>
              <a:r>
                <a:rPr lang="en-IN" sz="1600" dirty="0">
                  <a:solidFill>
                    <a:srgbClr val="00B0F0"/>
                  </a:solidFill>
                  <a:latin typeface="Cambria Math" pitchFamily="18" charset="0"/>
                  <a:ea typeface="Cambria Math" pitchFamily="18" charset="0"/>
                </a:rPr>
                <a:t>model</a:t>
              </a:r>
              <a:r>
                <a:rPr lang="en-IN" sz="1600" dirty="0">
                  <a:solidFill>
                    <a:schemeClr val="bg1"/>
                  </a:solidFill>
                  <a:latin typeface="Cambria Math" pitchFamily="18" charset="0"/>
                  <a:ea typeface="Cambria Math" pitchFamily="18" charset="0"/>
                </a:rPr>
                <a:t>=</a:t>
              </a:r>
              <a:r>
                <a:rPr lang="en-IN" sz="1600" dirty="0">
                  <a:solidFill>
                    <a:srgbClr val="CC3300"/>
                  </a:solidFill>
                  <a:latin typeface="Cambria Math" pitchFamily="18" charset="0"/>
                  <a:ea typeface="Cambria Math" pitchFamily="18" charset="0"/>
                </a:rPr>
                <a:t>"gemini-2.0-flash"</a:t>
              </a:r>
              <a:r>
                <a:rPr lang="en-IN" sz="1600" dirty="0">
                  <a:solidFill>
                    <a:schemeClr val="bg1"/>
                  </a:solidFill>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temperature</a:t>
              </a:r>
              <a:r>
                <a:rPr lang="en-IN" sz="1600" dirty="0">
                  <a:solidFill>
                    <a:srgbClr val="0070C0"/>
                  </a:solidFill>
                  <a:latin typeface="Cambria Math" pitchFamily="18" charset="0"/>
                  <a:ea typeface="Cambria Math" pitchFamily="18" charset="0"/>
                </a:rPr>
                <a:t>=0</a:t>
              </a:r>
              <a:r>
                <a:rPr lang="en-IN" sz="1600" dirty="0">
                  <a:solidFill>
                    <a:schemeClr val="bg1"/>
                  </a:solidFill>
                  <a:latin typeface="Cambria Math" pitchFamily="18" charset="0"/>
                  <a:ea typeface="Cambria Math" pitchFamily="18" charset="0"/>
                </a:rPr>
                <a:t>)</a:t>
              </a:r>
            </a:p>
            <a:p>
              <a:endParaRPr lang="en-IN" sz="1600" dirty="0">
                <a:solidFill>
                  <a:srgbClr val="00B050"/>
                </a:solidFill>
                <a:latin typeface="Cambria Math" pitchFamily="18" charset="0"/>
                <a:ea typeface="Cambria Math" pitchFamily="18" charset="0"/>
              </a:endParaRPr>
            </a:p>
            <a:p>
              <a:r>
                <a:rPr lang="en-IN" sz="1600" dirty="0">
                  <a:solidFill>
                    <a:schemeClr val="accent4">
                      <a:lumMod val="75000"/>
                    </a:schemeClr>
                  </a:solidFill>
                  <a:latin typeface="Cambria Math" pitchFamily="18" charset="0"/>
                  <a:ea typeface="Cambria Math" pitchFamily="18" charset="0"/>
                </a:rPr>
                <a:t>@tool</a:t>
              </a:r>
            </a:p>
            <a:p>
              <a:r>
                <a:rPr lang="en-IN" sz="1600" dirty="0">
                  <a:solidFill>
                    <a:srgbClr val="FF0066"/>
                  </a:solidFill>
                  <a:latin typeface="Cambria Math" pitchFamily="18" charset="0"/>
                  <a:ea typeface="Cambria Math" pitchFamily="18" charset="0"/>
                </a:rPr>
                <a:t>def</a:t>
              </a:r>
              <a:r>
                <a:rPr lang="en-IN" sz="1600" dirty="0">
                  <a:latin typeface="Cambria Math" pitchFamily="18" charset="0"/>
                  <a:ea typeface="Cambria Math" pitchFamily="18" charset="0"/>
                </a:rPr>
                <a:t> </a:t>
              </a:r>
              <a:r>
                <a:rPr lang="en-IN" sz="1600" dirty="0">
                  <a:solidFill>
                    <a:schemeClr val="accent4">
                      <a:lumMod val="75000"/>
                    </a:schemeClr>
                  </a:solidFill>
                  <a:latin typeface="Cambria Math" pitchFamily="18" charset="0"/>
                  <a:ea typeface="Cambria Math" pitchFamily="18" charset="0"/>
                </a:rPr>
                <a:t>multiply</a:t>
              </a:r>
              <a:r>
                <a:rPr lang="en-IN" sz="1600" dirty="0">
                  <a:solidFill>
                    <a:schemeClr val="bg1"/>
                  </a:solidFill>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a</a:t>
              </a:r>
              <a:r>
                <a:rPr lang="en-IN" sz="1600" dirty="0">
                  <a:solidFill>
                    <a:schemeClr val="bg1"/>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int</a:t>
              </a:r>
              <a:r>
                <a:rPr lang="en-IN" sz="1600" dirty="0">
                  <a:solidFill>
                    <a:schemeClr val="bg1"/>
                  </a:solidFill>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b</a:t>
              </a:r>
              <a:r>
                <a:rPr lang="en-IN" sz="1600" dirty="0">
                  <a:solidFill>
                    <a:srgbClr val="00CC99"/>
                  </a:solidFill>
                  <a:latin typeface="Cambria Math" pitchFamily="18" charset="0"/>
                  <a:ea typeface="Cambria Math" pitchFamily="18" charset="0"/>
                </a:rPr>
                <a:t>:int</a:t>
              </a:r>
              <a:r>
                <a:rPr lang="en-IN" sz="1600" dirty="0">
                  <a:solidFill>
                    <a:schemeClr val="bg1"/>
                  </a:solidFill>
                  <a:latin typeface="Cambria Math" pitchFamily="18" charset="0"/>
                  <a:ea typeface="Cambria Math" pitchFamily="18" charset="0"/>
                </a:rPr>
                <a:t>)</a:t>
              </a:r>
              <a:r>
                <a:rPr lang="en-IN" sz="1600" dirty="0">
                  <a:solidFill>
                    <a:srgbClr val="00CC99"/>
                  </a:solidFill>
                  <a:latin typeface="Cambria Math" pitchFamily="18" charset="0"/>
                  <a:ea typeface="Cambria Math" pitchFamily="18" charset="0"/>
                </a:rPr>
                <a:t>-&gt;int:</a:t>
              </a:r>
            </a:p>
            <a:p>
              <a:r>
                <a:rPr lang="en-IN" sz="1600" dirty="0">
                  <a:latin typeface="Cambria Math" pitchFamily="18" charset="0"/>
                  <a:ea typeface="Cambria Math" pitchFamily="18" charset="0"/>
                </a:rPr>
                <a:t>    </a:t>
              </a:r>
              <a:r>
                <a:rPr lang="en-IN" sz="1600" dirty="0">
                  <a:solidFill>
                    <a:srgbClr val="CC3300"/>
                  </a:solidFill>
                  <a:latin typeface="Cambria Math" pitchFamily="18" charset="0"/>
                  <a:ea typeface="Cambria Math" pitchFamily="18" charset="0"/>
                </a:rPr>
                <a:t>"""Given 2 numbers a and b this tool returns their product"""</a:t>
              </a:r>
            </a:p>
            <a:p>
              <a:r>
                <a:rPr lang="en-IN" sz="1600" dirty="0">
                  <a:latin typeface="Cambria Math" pitchFamily="18" charset="0"/>
                  <a:ea typeface="Cambria Math" pitchFamily="18" charset="0"/>
                </a:rPr>
                <a:t>    </a:t>
              </a:r>
              <a:r>
                <a:rPr lang="en-IN" sz="1600" dirty="0">
                  <a:solidFill>
                    <a:srgbClr val="FF0066"/>
                  </a:solidFill>
                  <a:latin typeface="Cambria Math" pitchFamily="18" charset="0"/>
                  <a:ea typeface="Cambria Math" pitchFamily="18" charset="0"/>
                </a:rPr>
                <a:t>return</a:t>
              </a:r>
              <a:r>
                <a:rPr lang="en-IN" sz="1600"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rPr>
                <a:t>a*b</a:t>
              </a:r>
            </a:p>
            <a:p>
              <a:endParaRPr lang="en-IN" sz="1600" dirty="0">
                <a:solidFill>
                  <a:srgbClr val="00B050"/>
                </a:solidFill>
                <a:latin typeface="Cambria Math" pitchFamily="18" charset="0"/>
                <a:ea typeface="Cambria Math" pitchFamily="18" charset="0"/>
              </a:endParaRPr>
            </a:p>
            <a:p>
              <a:r>
                <a:rPr lang="en-IN" sz="1600" dirty="0" smtClean="0">
                  <a:solidFill>
                    <a:srgbClr val="00B0F0"/>
                  </a:solidFill>
                  <a:latin typeface="Cambria Math" pitchFamily="18" charset="0"/>
                  <a:ea typeface="Cambria Math" pitchFamily="18" charset="0"/>
                </a:rPr>
                <a:t>llm_with_tools</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llm</a:t>
              </a:r>
              <a:r>
                <a:rPr lang="en-IN" sz="1600" dirty="0" smtClean="0">
                  <a:solidFill>
                    <a:schemeClr val="bg1"/>
                  </a:solidFill>
                  <a:latin typeface="Cambria Math" pitchFamily="18" charset="0"/>
                  <a:ea typeface="Cambria Math" pitchFamily="18" charset="0"/>
                </a:rPr>
                <a:t>.</a:t>
              </a:r>
              <a:r>
                <a:rPr lang="en-IN" sz="1600" dirty="0" smtClean="0">
                  <a:solidFill>
                    <a:schemeClr val="accent4">
                      <a:lumMod val="75000"/>
                    </a:schemeClr>
                  </a:solidFill>
                  <a:latin typeface="Cambria Math" pitchFamily="18" charset="0"/>
                  <a:ea typeface="Cambria Math" pitchFamily="18" charset="0"/>
                </a:rPr>
                <a:t>bind_tools</a:t>
              </a:r>
              <a:r>
                <a:rPr lang="en-IN" sz="1600" dirty="0">
                  <a:solidFill>
                    <a:schemeClr val="bg1"/>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multiply</a:t>
              </a:r>
              <a:r>
                <a:rPr lang="en-IN" sz="1600" dirty="0">
                  <a:solidFill>
                    <a:schemeClr val="bg1"/>
                  </a:solidFill>
                  <a:latin typeface="Cambria Math" pitchFamily="18" charset="0"/>
                  <a:ea typeface="Cambria Math" pitchFamily="18" charset="0"/>
                </a:rPr>
                <a:t>])</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US" sz="1600" dirty="0">
                  <a:solidFill>
                    <a:srgbClr val="00B0F0"/>
                  </a:solidFill>
                  <a:latin typeface="Cambria Math" pitchFamily="18" charset="0"/>
                  <a:ea typeface="Cambria Math" pitchFamily="18" charset="0"/>
                </a:rPr>
                <a:t>query</a:t>
              </a:r>
              <a:r>
                <a:rPr lang="en-US" sz="1600" dirty="0">
                  <a:latin typeface="Cambria Math" pitchFamily="18" charset="0"/>
                  <a:ea typeface="Cambria Math" pitchFamily="18" charset="0"/>
                </a:rPr>
                <a:t> </a:t>
              </a:r>
              <a:r>
                <a:rPr lang="en-US" sz="1600" dirty="0">
                  <a:solidFill>
                    <a:schemeClr val="bg1"/>
                  </a:solidFill>
                  <a:latin typeface="Cambria Math" pitchFamily="18" charset="0"/>
                  <a:ea typeface="Cambria Math" pitchFamily="18" charset="0"/>
                </a:rPr>
                <a:t>= </a:t>
              </a:r>
              <a:r>
                <a:rPr lang="en-US" sz="1600" dirty="0">
                  <a:solidFill>
                    <a:srgbClr val="00CC99"/>
                  </a:solidFill>
                  <a:latin typeface="Cambria Math" pitchFamily="18" charset="0"/>
                  <a:ea typeface="Cambria Math" pitchFamily="18" charset="0"/>
                </a:rPr>
                <a:t>HumanMessage</a:t>
              </a:r>
              <a:r>
                <a:rPr lang="en-US" sz="1600" dirty="0">
                  <a:solidFill>
                    <a:schemeClr val="bg1"/>
                  </a:solidFill>
                  <a:latin typeface="Cambria Math" pitchFamily="18" charset="0"/>
                  <a:ea typeface="Cambria Math" pitchFamily="18" charset="0"/>
                </a:rPr>
                <a:t>(</a:t>
              </a:r>
              <a:r>
                <a:rPr lang="en-US" sz="1600" dirty="0">
                  <a:solidFill>
                    <a:srgbClr val="CC3300"/>
                  </a:solidFill>
                  <a:latin typeface="Cambria Math" pitchFamily="18" charset="0"/>
                  <a:ea typeface="Cambria Math" pitchFamily="18" charset="0"/>
                </a:rPr>
                <a:t>"can you multiply 3 with 10</a:t>
              </a:r>
              <a:r>
                <a:rPr lang="en-US" sz="1600" dirty="0" smtClean="0">
                  <a:solidFill>
                    <a:srgbClr val="CC3300"/>
                  </a:solidFill>
                  <a:latin typeface="Cambria Math" pitchFamily="18" charset="0"/>
                  <a:ea typeface="Cambria Math" pitchFamily="18" charset="0"/>
                </a:rPr>
                <a:t>"</a:t>
              </a:r>
              <a:r>
                <a:rPr lang="en-US" sz="1600" dirty="0" smtClean="0">
                  <a:solidFill>
                    <a:schemeClr val="bg1"/>
                  </a:solidFill>
                  <a:latin typeface="Cambria Math" pitchFamily="18" charset="0"/>
                  <a:ea typeface="Cambria Math" pitchFamily="18" charset="0"/>
                </a:rPr>
                <a:t>)</a:t>
              </a:r>
            </a:p>
            <a:p>
              <a:r>
                <a:rPr lang="en-IN" sz="1600" dirty="0">
                  <a:solidFill>
                    <a:srgbClr val="00B0F0"/>
                  </a:solidFill>
                  <a:latin typeface="Cambria Math" pitchFamily="18" charset="0"/>
                  <a:ea typeface="Cambria Math" pitchFamily="18" charset="0"/>
                </a:rPr>
                <a:t>messages</a:t>
              </a:r>
              <a:r>
                <a:rPr lang="en-IN" sz="1600" dirty="0">
                  <a:latin typeface="Cambria Math" pitchFamily="18" charset="0"/>
                  <a:ea typeface="Cambria Math" pitchFamily="18" charset="0"/>
                </a:rPr>
                <a:t> </a:t>
              </a:r>
              <a:r>
                <a:rPr lang="en-IN" sz="1600" dirty="0">
                  <a:solidFill>
                    <a:schemeClr val="bg1"/>
                  </a:solidFill>
                  <a:latin typeface="Cambria Math" pitchFamily="18" charset="0"/>
                  <a:ea typeface="Cambria Math" pitchFamily="18" charset="0"/>
                </a:rPr>
                <a:t>= [</a:t>
              </a:r>
              <a:r>
                <a:rPr lang="en-IN" sz="1600" dirty="0">
                  <a:solidFill>
                    <a:srgbClr val="00B0F0"/>
                  </a:solidFill>
                  <a:latin typeface="Cambria Math" pitchFamily="18" charset="0"/>
                  <a:ea typeface="Cambria Math" pitchFamily="18" charset="0"/>
                </a:rPr>
                <a:t>query</a:t>
              </a:r>
              <a:r>
                <a:rPr lang="en-IN" sz="1600" dirty="0" smtClean="0">
                  <a:solidFill>
                    <a:schemeClr val="bg1"/>
                  </a:solidFill>
                  <a:latin typeface="Cambria Math" pitchFamily="18" charset="0"/>
                  <a:ea typeface="Cambria Math" pitchFamily="18" charset="0"/>
                </a:rPr>
                <a:t>]</a:t>
              </a:r>
            </a:p>
            <a:p>
              <a:endParaRPr lang="en-US" sz="1600" dirty="0">
                <a:solidFill>
                  <a:schemeClr val="bg1"/>
                </a:solidFill>
                <a:latin typeface="Cambria Math" pitchFamily="18" charset="0"/>
                <a:ea typeface="Cambria Math" pitchFamily="18" charset="0"/>
              </a:endParaRPr>
            </a:p>
            <a:p>
              <a:r>
                <a:rPr lang="en-IN" sz="1600" dirty="0" smtClean="0">
                  <a:solidFill>
                    <a:srgbClr val="00B0F0"/>
                  </a:solidFill>
                  <a:latin typeface="Cambria Math" pitchFamily="18" charset="0"/>
                  <a:ea typeface="Cambria Math" pitchFamily="18" charset="0"/>
                </a:rPr>
                <a:t>result</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llm_with_tools</a:t>
              </a:r>
              <a:r>
                <a:rPr lang="en-IN" sz="1600" dirty="0" smtClean="0">
                  <a:solidFill>
                    <a:schemeClr val="bg1"/>
                  </a:solidFill>
                  <a:latin typeface="Cambria Math" pitchFamily="18" charset="0"/>
                  <a:ea typeface="Cambria Math" pitchFamily="18" charset="0"/>
                </a:rPr>
                <a:t>.</a:t>
              </a:r>
              <a:r>
                <a:rPr lang="en-IN" sz="1600" dirty="0" smtClean="0">
                  <a:solidFill>
                    <a:schemeClr val="accent4">
                      <a:lumMod val="75000"/>
                    </a:schemeClr>
                  </a:solidFill>
                  <a:latin typeface="Cambria Math" pitchFamily="18" charset="0"/>
                  <a:ea typeface="Cambria Math" pitchFamily="18" charset="0"/>
                </a:rPr>
                <a:t>invoke</a:t>
              </a:r>
              <a:r>
                <a:rPr lang="en-IN" sz="1600" dirty="0" smtClean="0">
                  <a:solidFill>
                    <a:schemeClr val="bg1"/>
                  </a:solidFill>
                  <a:latin typeface="Cambria Math" pitchFamily="18" charset="0"/>
                  <a:ea typeface="Cambria Math" pitchFamily="18" charset="0"/>
                </a:rPr>
                <a:t>(</a:t>
              </a:r>
              <a:r>
                <a:rPr lang="en-IN" sz="1600" dirty="0">
                  <a:solidFill>
                    <a:srgbClr val="00B0F0"/>
                  </a:solidFill>
                  <a:latin typeface="Cambria Math" pitchFamily="18" charset="0"/>
                  <a:ea typeface="Cambria Math" pitchFamily="18" charset="0"/>
                </a:rPr>
                <a:t>messages </a:t>
              </a:r>
              <a:r>
                <a:rPr lang="en-IN" sz="1600" dirty="0" smtClean="0">
                  <a:solidFill>
                    <a:schemeClr val="bg1">
                      <a:lumMod val="95000"/>
                    </a:schemeClr>
                  </a:solidFill>
                  <a:latin typeface="Cambria Math" pitchFamily="18" charset="0"/>
                  <a:ea typeface="Cambria Math" pitchFamily="18" charset="0"/>
                </a:rPr>
                <a:t>)</a:t>
              </a:r>
              <a:endParaRPr lang="en-IN" sz="1600" dirty="0">
                <a:solidFill>
                  <a:schemeClr val="bg1">
                    <a:lumMod val="95000"/>
                  </a:schemeClr>
                </a:solidFill>
                <a:latin typeface="Cambria Math" pitchFamily="18" charset="0"/>
                <a:ea typeface="Cambria Math" pitchFamily="18" charset="0"/>
              </a:endParaRPr>
            </a:p>
            <a:p>
              <a:r>
                <a:rPr lang="en-IN" sz="1600" dirty="0">
                  <a:solidFill>
                    <a:srgbClr val="15C2FF"/>
                  </a:solidFill>
                  <a:latin typeface="Cambria Math" pitchFamily="18" charset="0"/>
                  <a:ea typeface="Cambria Math" pitchFamily="18" charset="0"/>
                </a:rPr>
                <a:t>messages</a:t>
              </a:r>
              <a:r>
                <a:rPr lang="en-IN" sz="1600" dirty="0">
                  <a:solidFill>
                    <a:schemeClr val="bg1"/>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append</a:t>
              </a:r>
              <a:r>
                <a:rPr lang="en-IN" sz="1600" dirty="0">
                  <a:solidFill>
                    <a:srgbClr val="15C2FF"/>
                  </a:solidFill>
                  <a:latin typeface="Cambria Math" pitchFamily="18" charset="0"/>
                  <a:ea typeface="Cambria Math" pitchFamily="18" charset="0"/>
                </a:rPr>
                <a:t>(result)</a:t>
              </a:r>
            </a:p>
            <a:p>
              <a:r>
                <a:rPr lang="en-IN" sz="1600" dirty="0">
                  <a:latin typeface="Cambria Math" pitchFamily="18" charset="0"/>
                  <a:ea typeface="Cambria Math" pitchFamily="18" charset="0"/>
                </a:rPr>
                <a:t/>
              </a:r>
              <a:br>
                <a:rPr lang="en-IN" sz="1600" dirty="0">
                  <a:latin typeface="Cambria Math" pitchFamily="18" charset="0"/>
                  <a:ea typeface="Cambria Math" pitchFamily="18" charset="0"/>
                </a:rPr>
              </a:br>
              <a:r>
                <a:rPr lang="en-IN" sz="1600" dirty="0" smtClean="0">
                  <a:solidFill>
                    <a:srgbClr val="00B0F0"/>
                  </a:solidFill>
                  <a:latin typeface="Cambria Math" pitchFamily="18" charset="0"/>
                  <a:ea typeface="Cambria Math" pitchFamily="18" charset="0"/>
                </a:rPr>
                <a:t>data</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multiply</a:t>
              </a:r>
              <a:r>
                <a:rPr lang="en-IN" sz="1600" dirty="0" smtClean="0">
                  <a:solidFill>
                    <a:schemeClr val="bg1"/>
                  </a:solidFill>
                  <a:latin typeface="Cambria Math" pitchFamily="18" charset="0"/>
                  <a:ea typeface="Cambria Math" pitchFamily="18" charset="0"/>
                </a:rPr>
                <a:t>.</a:t>
              </a:r>
              <a:r>
                <a:rPr lang="en-IN" sz="1600" dirty="0" smtClean="0">
                  <a:solidFill>
                    <a:schemeClr val="accent4">
                      <a:lumMod val="75000"/>
                    </a:schemeClr>
                  </a:solidFill>
                  <a:latin typeface="Cambria Math" pitchFamily="18" charset="0"/>
                  <a:ea typeface="Cambria Math" pitchFamily="18" charset="0"/>
                </a:rPr>
                <a:t>invoke</a:t>
              </a:r>
              <a:r>
                <a:rPr lang="en-IN" sz="1600" dirty="0" smtClean="0">
                  <a:solidFill>
                    <a:schemeClr val="bg1"/>
                  </a:solidFill>
                  <a:latin typeface="Cambria Math" pitchFamily="18" charset="0"/>
                  <a:ea typeface="Cambria Math" pitchFamily="18" charset="0"/>
                </a:rPr>
                <a:t>(</a:t>
              </a:r>
              <a:r>
                <a:rPr lang="en-IN" sz="1600" dirty="0" smtClean="0">
                  <a:solidFill>
                    <a:srgbClr val="00B0F0"/>
                  </a:solidFill>
                  <a:latin typeface="Cambria Math" pitchFamily="18" charset="0"/>
                  <a:ea typeface="Cambria Math" pitchFamily="18" charset="0"/>
                </a:rPr>
                <a:t>result</a:t>
              </a:r>
              <a:r>
                <a:rPr lang="en-IN" sz="1600" dirty="0" smtClean="0">
                  <a:solidFill>
                    <a:schemeClr val="bg1"/>
                  </a:solidFill>
                  <a:latin typeface="Cambria Math" pitchFamily="18" charset="0"/>
                  <a:ea typeface="Cambria Math" pitchFamily="18" charset="0"/>
                </a:rPr>
                <a:t>.</a:t>
              </a:r>
              <a:r>
                <a:rPr lang="en-IN" sz="1600" dirty="0" smtClean="0">
                  <a:solidFill>
                    <a:schemeClr val="accent4">
                      <a:lumMod val="75000"/>
                    </a:schemeClr>
                  </a:solidFill>
                  <a:latin typeface="Cambria Math" pitchFamily="18" charset="0"/>
                  <a:ea typeface="Cambria Math" pitchFamily="18" charset="0"/>
                </a:rPr>
                <a:t>tool_calls[0]</a:t>
              </a:r>
              <a:r>
                <a:rPr lang="en-IN" sz="1600" dirty="0" smtClean="0">
                  <a:solidFill>
                    <a:schemeClr val="bg1"/>
                  </a:solidFill>
                  <a:latin typeface="Cambria Math" pitchFamily="18" charset="0"/>
                  <a:ea typeface="Cambria Math" pitchFamily="18" charset="0"/>
                </a:rPr>
                <a:t>)</a:t>
              </a:r>
            </a:p>
            <a:p>
              <a:r>
                <a:rPr lang="en-IN" sz="1600" dirty="0">
                  <a:solidFill>
                    <a:srgbClr val="15C2FF"/>
                  </a:solidFill>
                  <a:latin typeface="Cambria Math" pitchFamily="18" charset="0"/>
                  <a:ea typeface="Cambria Math" pitchFamily="18" charset="0"/>
                </a:rPr>
                <a:t>messages</a:t>
              </a:r>
              <a:r>
                <a:rPr lang="en-IN" sz="1600" dirty="0">
                  <a:solidFill>
                    <a:schemeClr val="bg1">
                      <a:lumMod val="95000"/>
                    </a:schemeClr>
                  </a:solidFill>
                  <a:latin typeface="Cambria Math" pitchFamily="18" charset="0"/>
                  <a:ea typeface="Cambria Math" pitchFamily="18" charset="0"/>
                </a:rPr>
                <a:t>.</a:t>
              </a:r>
              <a:r>
                <a:rPr lang="en-IN" sz="1600" dirty="0">
                  <a:solidFill>
                    <a:schemeClr val="accent4">
                      <a:lumMod val="75000"/>
                    </a:schemeClr>
                  </a:solidFill>
                  <a:latin typeface="Cambria Math" pitchFamily="18" charset="0"/>
                  <a:ea typeface="Cambria Math" pitchFamily="18" charset="0"/>
                </a:rPr>
                <a:t>append(</a:t>
              </a:r>
              <a:r>
                <a:rPr lang="en-IN" sz="1600" dirty="0">
                  <a:solidFill>
                    <a:srgbClr val="00B0F0"/>
                  </a:solidFill>
                  <a:latin typeface="Cambria Math" pitchFamily="18" charset="0"/>
                  <a:ea typeface="Cambria Math" pitchFamily="18" charset="0"/>
                </a:rPr>
                <a:t>tool_result</a:t>
              </a:r>
              <a:r>
                <a:rPr lang="en-IN" sz="1600" dirty="0">
                  <a:solidFill>
                    <a:schemeClr val="bg1">
                      <a:lumMod val="95000"/>
                    </a:schemeClr>
                  </a:solidFill>
                  <a:latin typeface="Cambria Math" pitchFamily="18" charset="0"/>
                  <a:ea typeface="Cambria Math" pitchFamily="18" charset="0"/>
                </a:rPr>
                <a:t>)</a:t>
              </a:r>
            </a:p>
            <a:p>
              <a:r>
                <a:rPr lang="en-IN" sz="1600" dirty="0">
                  <a:solidFill>
                    <a:srgbClr val="15C2FF"/>
                  </a:solidFill>
                  <a:latin typeface="Cambria Math" pitchFamily="18" charset="0"/>
                  <a:ea typeface="Cambria Math" pitchFamily="18" charset="0"/>
                </a:rPr>
                <a:t>resp</a:t>
              </a:r>
              <a:r>
                <a:rPr lang="en-IN" sz="1600" dirty="0">
                  <a:solidFill>
                    <a:schemeClr val="bg1"/>
                  </a:solidFill>
                  <a:latin typeface="Cambria Math" pitchFamily="18" charset="0"/>
                  <a:ea typeface="Cambria Math" pitchFamily="18" charset="0"/>
                </a:rPr>
                <a:t>=</a:t>
              </a:r>
              <a:r>
                <a:rPr lang="en-IN" sz="1600" dirty="0">
                  <a:solidFill>
                    <a:srgbClr val="15C2FF"/>
                  </a:solidFill>
                  <a:latin typeface="Cambria Math" pitchFamily="18" charset="0"/>
                  <a:ea typeface="Cambria Math" pitchFamily="18" charset="0"/>
                </a:rPr>
                <a:t>llm_with_tools</a:t>
              </a:r>
              <a:r>
                <a:rPr lang="en-IN" sz="1600" dirty="0">
                  <a:solidFill>
                    <a:schemeClr val="accent4">
                      <a:lumMod val="75000"/>
                    </a:schemeClr>
                  </a:solidFill>
                  <a:latin typeface="Cambria Math" pitchFamily="18" charset="0"/>
                  <a:ea typeface="Cambria Math" pitchFamily="18" charset="0"/>
                </a:rPr>
                <a:t>.invoke(</a:t>
              </a:r>
              <a:r>
                <a:rPr lang="en-IN" sz="1600" dirty="0">
                  <a:solidFill>
                    <a:srgbClr val="00B0F0"/>
                  </a:solidFill>
                  <a:latin typeface="Cambria Math" pitchFamily="18" charset="0"/>
                  <a:ea typeface="Cambria Math" pitchFamily="18" charset="0"/>
                </a:rPr>
                <a:t>messages</a:t>
              </a:r>
              <a:r>
                <a:rPr lang="en-IN" sz="1600" dirty="0">
                  <a:solidFill>
                    <a:schemeClr val="bg1"/>
                  </a:solidFill>
                  <a:latin typeface="Cambria Math" pitchFamily="18" charset="0"/>
                  <a:ea typeface="Cambria Math" pitchFamily="18" charset="0"/>
                </a:rPr>
                <a:t>)</a:t>
              </a:r>
              <a:r>
                <a:rPr lang="en-IN" sz="1600" dirty="0">
                  <a:solidFill>
                    <a:srgbClr val="0070C0"/>
                  </a:solidFill>
                  <a:latin typeface="Cambria Math" pitchFamily="18" charset="0"/>
                  <a:ea typeface="Cambria Math" pitchFamily="18" charset="0"/>
                </a:rPr>
                <a:t>.content</a:t>
              </a:r>
            </a:p>
            <a:p>
              <a:r>
                <a:rPr lang="en-IN" sz="1600" dirty="0">
                  <a:solidFill>
                    <a:srgbClr val="D7C055"/>
                  </a:solidFill>
                  <a:latin typeface="Cambria Math" pitchFamily="18" charset="0"/>
                  <a:ea typeface="Cambria Math" pitchFamily="18" charset="0"/>
                </a:rPr>
                <a:t>print(</a:t>
              </a:r>
              <a:r>
                <a:rPr lang="en-IN" sz="1600" dirty="0">
                  <a:solidFill>
                    <a:srgbClr val="0070C0"/>
                  </a:solidFill>
                  <a:latin typeface="Cambria Math" pitchFamily="18" charset="0"/>
                  <a:ea typeface="Cambria Math" pitchFamily="18" charset="0"/>
                </a:rPr>
                <a:t>resp</a:t>
              </a:r>
              <a:r>
                <a:rPr lang="en-IN" sz="1600" dirty="0" smtClean="0">
                  <a:solidFill>
                    <a:schemeClr val="bg1"/>
                  </a:solidFill>
                  <a:latin typeface="Cambria Math" pitchFamily="18" charset="0"/>
                  <a:ea typeface="Cambria Math" pitchFamily="18" charset="0"/>
                </a:rPr>
                <a:t>)</a:t>
              </a:r>
            </a:p>
            <a:p>
              <a:endParaRPr lang="en-US" sz="1600" dirty="0">
                <a:solidFill>
                  <a:schemeClr val="bg1"/>
                </a:solidFill>
                <a:latin typeface="Cambria Math" pitchFamily="18" charset="0"/>
                <a:ea typeface="Cambria Math" pitchFamily="18" charset="0"/>
              </a:endParaRPr>
            </a:p>
            <a:p>
              <a:r>
                <a:rPr lang="en-US" sz="1600" dirty="0">
                  <a:solidFill>
                    <a:srgbClr val="00B050"/>
                  </a:solidFill>
                  <a:latin typeface="Cambria Math" pitchFamily="18" charset="0"/>
                  <a:ea typeface="Cambria Math" pitchFamily="18" charset="0"/>
                </a:rPr>
                <a:t># 3 multiplied by 10 is 30.</a:t>
              </a:r>
              <a:endParaRPr lang="en-IN" sz="1600" dirty="0">
                <a:solidFill>
                  <a:srgbClr val="00B050"/>
                </a:solidFill>
                <a:latin typeface="Cambria Math" pitchFamily="18" charset="0"/>
                <a:ea typeface="Cambria Math" pitchFamily="18" charset="0"/>
              </a:endParaRPr>
            </a:p>
          </p:txBody>
        </p:sp>
        <p:sp>
          <p:nvSpPr>
            <p:cNvPr id="2" name="TextBox 1"/>
            <p:cNvSpPr txBox="1"/>
            <p:nvPr/>
          </p:nvSpPr>
          <p:spPr>
            <a:xfrm>
              <a:off x="7874595" y="3059668"/>
              <a:ext cx="2621936" cy="369332"/>
            </a:xfrm>
            <a:prstGeom prst="rect">
              <a:avLst/>
            </a:prstGeom>
            <a:solidFill>
              <a:srgbClr val="92D050"/>
            </a:solidFill>
            <a:ln>
              <a:solidFill>
                <a:srgbClr val="92D050"/>
              </a:solidFill>
            </a:ln>
            <a:effectLst>
              <a:glow rad="63500">
                <a:schemeClr val="accent6">
                  <a:satMod val="175000"/>
                  <a:alpha val="40000"/>
                </a:schemeClr>
              </a:glow>
              <a:outerShdw blurRad="50800" dist="38100" dir="2700000" algn="tl" rotWithShape="0">
                <a:prstClr val="black">
                  <a:alpha val="40000"/>
                </a:prstClr>
              </a:outerShdw>
            </a:effectLst>
          </p:spPr>
          <p:txBody>
            <a:bodyPr wrap="none" rtlCol="0">
              <a:spAutoFit/>
            </a:bodyPr>
            <a:lstStyle/>
            <a:p>
              <a:r>
                <a:rPr lang="en-US" dirty="0" smtClean="0">
                  <a:solidFill>
                    <a:schemeClr val="tx1">
                      <a:lumMod val="65000"/>
                      <a:lumOff val="35000"/>
                    </a:schemeClr>
                  </a:solidFill>
                </a:rPr>
                <a:t>Maintain Message History</a:t>
              </a:r>
              <a:endParaRPr lang="en-IN" dirty="0">
                <a:solidFill>
                  <a:schemeClr val="tx1">
                    <a:lumMod val="65000"/>
                    <a:lumOff val="35000"/>
                  </a:schemeClr>
                </a:solidFill>
              </a:endParaRPr>
            </a:p>
          </p:txBody>
        </p:sp>
      </p:grpSp>
    </p:spTree>
    <p:extLst>
      <p:ext uri="{BB962C8B-B14F-4D97-AF65-F5344CB8AC3E}">
        <p14:creationId xmlns:p14="http://schemas.microsoft.com/office/powerpoint/2010/main" val="19547815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596632" y="211994"/>
            <a:ext cx="3145413" cy="441109"/>
            <a:chOff x="1596632" y="211994"/>
            <a:chExt cx="3145413" cy="441109"/>
          </a:xfrm>
        </p:grpSpPr>
        <p:sp>
          <p:nvSpPr>
            <p:cNvPr id="2" name="Rectangle 1"/>
            <p:cNvSpPr/>
            <p:nvPr/>
          </p:nvSpPr>
          <p:spPr>
            <a:xfrm>
              <a:off x="1596632" y="211994"/>
              <a:ext cx="3145413" cy="400110"/>
            </a:xfrm>
            <a:prstGeom prst="rect">
              <a:avLst/>
            </a:prstGeom>
          </p:spPr>
          <p:txBody>
            <a:bodyPr wrap="none">
              <a:spAutoFit/>
            </a:bodyPr>
            <a:lstStyle/>
            <a:p>
              <a:r>
                <a:rPr lang="en-IN" sz="2000" dirty="0" smtClean="0">
                  <a:solidFill>
                    <a:srgbClr val="002060"/>
                  </a:solidFill>
                  <a:latin typeface="Bahnschrift SemiBold" pitchFamily="34" charset="0"/>
                </a:rPr>
                <a:t>Currency </a:t>
              </a:r>
              <a:r>
                <a:rPr lang="en-IN" sz="2000" dirty="0">
                  <a:solidFill>
                    <a:srgbClr val="002060"/>
                  </a:solidFill>
                  <a:latin typeface="Bahnschrift SemiBold" pitchFamily="34" charset="0"/>
                </a:rPr>
                <a:t>Conversion Tool</a:t>
              </a:r>
            </a:p>
          </p:txBody>
        </p:sp>
        <p:cxnSp>
          <p:nvCxnSpPr>
            <p:cNvPr id="5" name="Straight Connector 4"/>
            <p:cNvCxnSpPr/>
            <p:nvPr/>
          </p:nvCxnSpPr>
          <p:spPr>
            <a:xfrm>
              <a:off x="1596632" y="653103"/>
              <a:ext cx="3145413"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42464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41480358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96292" y="350493"/>
            <a:ext cx="10515600" cy="338554"/>
            <a:chOff x="1496291" y="350493"/>
            <a:chExt cx="10695709" cy="338554"/>
          </a:xfrm>
          <a:solidFill>
            <a:srgbClr val="002060"/>
          </a:solidFill>
        </p:grpSpPr>
        <p:sp>
          <p:nvSpPr>
            <p:cNvPr id="10" name="TextBox 9"/>
            <p:cNvSpPr txBox="1"/>
            <p:nvPr/>
          </p:nvSpPr>
          <p:spPr>
            <a:xfrm>
              <a:off x="1690255" y="350493"/>
              <a:ext cx="1053277" cy="338554"/>
            </a:xfrm>
            <a:prstGeom prst="rect">
              <a:avLst/>
            </a:prstGeom>
            <a:solidFill>
              <a:srgbClr val="00B0F0"/>
            </a:solidFill>
          </p:spPr>
          <p:txBody>
            <a:bodyPr wrap="none" rtlCol="0">
              <a:spAutoFit/>
            </a:bodyPr>
            <a:lstStyle/>
            <a:p>
              <a:r>
                <a:rPr lang="en-US" sz="1600" dirty="0" smtClean="0">
                  <a:solidFill>
                    <a:schemeClr val="bg1"/>
                  </a:solidFill>
                  <a:latin typeface="Arial Rounded MT Bold" pitchFamily="34" charset="0"/>
                </a:rPr>
                <a:t>AI Agent</a:t>
              </a:r>
              <a:endParaRPr lang="en-IN" sz="1600" dirty="0">
                <a:solidFill>
                  <a:schemeClr val="bg1"/>
                </a:solidFill>
                <a:latin typeface="Arial Rounded MT Bold" pitchFamily="34" charset="0"/>
              </a:endParaRPr>
            </a:p>
          </p:txBody>
        </p:sp>
        <p:cxnSp>
          <p:nvCxnSpPr>
            <p:cNvPr id="11" name="Straight Connector 10"/>
            <p:cNvCxnSpPr/>
            <p:nvPr/>
          </p:nvCxnSpPr>
          <p:spPr>
            <a:xfrm>
              <a:off x="1496291" y="689047"/>
              <a:ext cx="10695709" cy="0"/>
            </a:xfrm>
            <a:prstGeom prst="line">
              <a:avLst/>
            </a:prstGeom>
            <a:grpFill/>
            <a:ln>
              <a:solidFill>
                <a:srgbClr val="15C2FF"/>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3550722" y="997527"/>
            <a:ext cx="6103917" cy="2036759"/>
            <a:chOff x="3550722" y="1298305"/>
            <a:chExt cx="6103917" cy="1932135"/>
          </a:xfrm>
        </p:grpSpPr>
        <p:sp>
          <p:nvSpPr>
            <p:cNvPr id="2" name="Rectangle 1"/>
            <p:cNvSpPr/>
            <p:nvPr/>
          </p:nvSpPr>
          <p:spPr>
            <a:xfrm>
              <a:off x="3550722" y="1298305"/>
              <a:ext cx="6103917" cy="1932135"/>
            </a:xfrm>
            <a:prstGeom prst="rect">
              <a:avLst/>
            </a:prstGeom>
            <a:solidFill>
              <a:schemeClr val="accent5">
                <a:lumMod val="60000"/>
                <a:lumOff val="40000"/>
              </a:schemeClr>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1" name="Group 20"/>
            <p:cNvGrpSpPr/>
            <p:nvPr/>
          </p:nvGrpSpPr>
          <p:grpSpPr>
            <a:xfrm>
              <a:off x="3859481" y="1923806"/>
              <a:ext cx="2468332" cy="1264369"/>
              <a:chOff x="3859481" y="1923806"/>
              <a:chExt cx="2468332" cy="1264369"/>
            </a:xfrm>
          </p:grpSpPr>
          <p:grpSp>
            <p:nvGrpSpPr>
              <p:cNvPr id="19" name="Group 18"/>
              <p:cNvGrpSpPr/>
              <p:nvPr/>
            </p:nvGrpSpPr>
            <p:grpSpPr>
              <a:xfrm>
                <a:off x="3859481" y="1923806"/>
                <a:ext cx="2244435" cy="914400"/>
                <a:chOff x="3859481" y="1923806"/>
                <a:chExt cx="2244435" cy="914400"/>
              </a:xfrm>
            </p:grpSpPr>
            <p:sp>
              <p:nvSpPr>
                <p:cNvPr id="3" name="Rectangle 2"/>
                <p:cNvSpPr/>
                <p:nvPr/>
              </p:nvSpPr>
              <p:spPr>
                <a:xfrm>
                  <a:off x="3859481" y="1923806"/>
                  <a:ext cx="2244435" cy="914400"/>
                </a:xfrm>
                <a:prstGeom prst="rect">
                  <a:avLst/>
                </a:prstGeom>
                <a:solidFill>
                  <a:srgbClr val="00B0F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4381994" y="2066306"/>
                  <a:ext cx="1721922" cy="523220"/>
                </a:xfrm>
                <a:prstGeom prst="rect">
                  <a:avLst/>
                </a:prstGeom>
                <a:noFill/>
              </p:spPr>
              <p:txBody>
                <a:bodyPr wrap="square" rtlCol="0">
                  <a:spAutoFit/>
                </a:bodyPr>
                <a:lstStyle/>
                <a:p>
                  <a:r>
                    <a:rPr lang="en-US" sz="1400" dirty="0" smtClean="0">
                      <a:latin typeface="Cambria Math" pitchFamily="18" charset="0"/>
                      <a:ea typeface="Cambria Math" pitchFamily="18" charset="0"/>
                    </a:rPr>
                    <a:t>Reasoning &amp;</a:t>
                  </a:r>
                </a:p>
                <a:p>
                  <a:r>
                    <a:rPr lang="en-US" sz="1400" dirty="0" smtClean="0">
                      <a:latin typeface="Cambria Math" pitchFamily="18" charset="0"/>
                      <a:ea typeface="Cambria Math" pitchFamily="18" charset="0"/>
                    </a:rPr>
                    <a:t>Decision making</a:t>
                  </a:r>
                  <a:endParaRPr lang="en-IN" sz="1400" dirty="0">
                    <a:latin typeface="Cambria Math" pitchFamily="18" charset="0"/>
                    <a:ea typeface="Cambria Math" pitchFamily="18" charset="0"/>
                  </a:endParaRPr>
                </a:p>
              </p:txBody>
            </p:sp>
          </p:grpSp>
          <p:sp>
            <p:nvSpPr>
              <p:cNvPr id="14" name="TextBox 13"/>
              <p:cNvSpPr txBox="1"/>
              <p:nvPr/>
            </p:nvSpPr>
            <p:spPr>
              <a:xfrm>
                <a:off x="4605891" y="2880398"/>
                <a:ext cx="1721922" cy="307777"/>
              </a:xfrm>
              <a:prstGeom prst="rect">
                <a:avLst/>
              </a:prstGeom>
              <a:noFill/>
            </p:spPr>
            <p:txBody>
              <a:bodyPr wrap="square" rtlCol="0">
                <a:spAutoFit/>
              </a:bodyPr>
              <a:lstStyle/>
              <a:p>
                <a:r>
                  <a:rPr lang="en-US" sz="1400" dirty="0" smtClean="0">
                    <a:latin typeface="Cambria Math" pitchFamily="18" charset="0"/>
                    <a:ea typeface="Cambria Math" pitchFamily="18" charset="0"/>
                  </a:rPr>
                  <a:t>LLM</a:t>
                </a:r>
              </a:p>
            </p:txBody>
          </p:sp>
        </p:grpSp>
        <p:sp>
          <p:nvSpPr>
            <p:cNvPr id="16" name="TextBox 15"/>
            <p:cNvSpPr txBox="1"/>
            <p:nvPr/>
          </p:nvSpPr>
          <p:spPr>
            <a:xfrm>
              <a:off x="6192981" y="1388428"/>
              <a:ext cx="1721922" cy="369332"/>
            </a:xfrm>
            <a:prstGeom prst="rect">
              <a:avLst/>
            </a:prstGeom>
            <a:noFill/>
          </p:spPr>
          <p:txBody>
            <a:bodyPr wrap="square" rtlCol="0">
              <a:spAutoFit/>
            </a:bodyPr>
            <a:lstStyle/>
            <a:p>
              <a:r>
                <a:rPr lang="en-US" dirty="0" smtClean="0">
                  <a:latin typeface="Algerian" pitchFamily="82" charset="0"/>
                  <a:ea typeface="Cambria Math" pitchFamily="18" charset="0"/>
                </a:rPr>
                <a:t>Agent</a:t>
              </a:r>
            </a:p>
          </p:txBody>
        </p:sp>
        <p:sp>
          <p:nvSpPr>
            <p:cNvPr id="17" name="Plus 16"/>
            <p:cNvSpPr/>
            <p:nvPr/>
          </p:nvSpPr>
          <p:spPr>
            <a:xfrm>
              <a:off x="6305797" y="2042314"/>
              <a:ext cx="593765" cy="653631"/>
            </a:xfrm>
            <a:prstGeom prst="mathPlus">
              <a:avLst/>
            </a:prstGeom>
            <a:solidFill>
              <a:srgbClr val="FF33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3" name="Group 22"/>
            <p:cNvGrpSpPr/>
            <p:nvPr/>
          </p:nvGrpSpPr>
          <p:grpSpPr>
            <a:xfrm>
              <a:off x="7053942" y="1911930"/>
              <a:ext cx="2141763" cy="1222177"/>
              <a:chOff x="7053942" y="1911930"/>
              <a:chExt cx="2141763" cy="1222177"/>
            </a:xfrm>
          </p:grpSpPr>
          <p:sp>
            <p:nvSpPr>
              <p:cNvPr id="15" name="TextBox 14"/>
              <p:cNvSpPr txBox="1"/>
              <p:nvPr/>
            </p:nvSpPr>
            <p:spPr>
              <a:xfrm>
                <a:off x="7263862" y="2826330"/>
                <a:ext cx="1721922" cy="307777"/>
              </a:xfrm>
              <a:prstGeom prst="rect">
                <a:avLst/>
              </a:prstGeom>
              <a:noFill/>
            </p:spPr>
            <p:txBody>
              <a:bodyPr wrap="square" rtlCol="0">
                <a:spAutoFit/>
              </a:bodyPr>
              <a:lstStyle/>
              <a:p>
                <a:r>
                  <a:rPr lang="en-US" sz="1400" dirty="0" smtClean="0">
                    <a:latin typeface="Cambria Math" pitchFamily="18" charset="0"/>
                    <a:ea typeface="Cambria Math" pitchFamily="18" charset="0"/>
                  </a:rPr>
                  <a:t>Tools</a:t>
                </a:r>
              </a:p>
            </p:txBody>
          </p:sp>
          <p:grpSp>
            <p:nvGrpSpPr>
              <p:cNvPr id="22" name="Group 21"/>
              <p:cNvGrpSpPr/>
              <p:nvPr/>
            </p:nvGrpSpPr>
            <p:grpSpPr>
              <a:xfrm>
                <a:off x="7053942" y="1911930"/>
                <a:ext cx="2141763" cy="914400"/>
                <a:chOff x="7053942" y="1911930"/>
                <a:chExt cx="2141763" cy="914400"/>
              </a:xfrm>
            </p:grpSpPr>
            <p:sp>
              <p:nvSpPr>
                <p:cNvPr id="5" name="Rectangle 4"/>
                <p:cNvSpPr/>
                <p:nvPr/>
              </p:nvSpPr>
              <p:spPr>
                <a:xfrm>
                  <a:off x="7053942" y="1911930"/>
                  <a:ext cx="2141763" cy="914400"/>
                </a:xfrm>
                <a:prstGeom prst="rect">
                  <a:avLst/>
                </a:prstGeom>
                <a:solidFill>
                  <a:srgbClr val="00B0F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7263862" y="2174027"/>
                  <a:ext cx="1721922" cy="307777"/>
                </a:xfrm>
                <a:prstGeom prst="rect">
                  <a:avLst/>
                </a:prstGeom>
                <a:noFill/>
              </p:spPr>
              <p:txBody>
                <a:bodyPr wrap="square" rtlCol="0">
                  <a:spAutoFit/>
                </a:bodyPr>
                <a:lstStyle/>
                <a:p>
                  <a:r>
                    <a:rPr lang="en-US" sz="1400" dirty="0" smtClean="0">
                      <a:latin typeface="Cambria Math" pitchFamily="18" charset="0"/>
                      <a:ea typeface="Cambria Math" pitchFamily="18" charset="0"/>
                    </a:rPr>
                    <a:t>Action</a:t>
                  </a:r>
                </a:p>
              </p:txBody>
            </p:sp>
          </p:grpSp>
        </p:grpSp>
      </p:grpSp>
      <p:sp>
        <p:nvSpPr>
          <p:cNvPr id="26" name="Rectangle 25"/>
          <p:cNvSpPr/>
          <p:nvPr/>
        </p:nvSpPr>
        <p:spPr>
          <a:xfrm>
            <a:off x="2648197" y="3242346"/>
            <a:ext cx="9413816" cy="523220"/>
          </a:xfrm>
          <a:prstGeom prst="rect">
            <a:avLst/>
          </a:prstGeom>
        </p:spPr>
        <p:txBody>
          <a:bodyPr wrap="square">
            <a:spAutoFit/>
          </a:bodyPr>
          <a:lstStyle/>
          <a:p>
            <a:r>
              <a:rPr lang="en-US" sz="1400" dirty="0" smtClean="0">
                <a:latin typeface="Cambria Math" pitchFamily="18" charset="0"/>
                <a:ea typeface="Cambria Math" pitchFamily="18" charset="0"/>
              </a:rPr>
              <a:t>AI </a:t>
            </a:r>
            <a:r>
              <a:rPr lang="en-US" sz="1400" dirty="0">
                <a:latin typeface="Cambria Math" pitchFamily="18" charset="0"/>
                <a:ea typeface="Cambria Math" pitchFamily="18" charset="0"/>
              </a:rPr>
              <a:t>Agent is LLM Powered system that can </a:t>
            </a:r>
            <a:r>
              <a:rPr lang="en-US" sz="1400" dirty="0" smtClean="0">
                <a:latin typeface="Cambria Math" pitchFamily="18" charset="0"/>
                <a:ea typeface="Cambria Math" pitchFamily="18" charset="0"/>
              </a:rPr>
              <a:t>independently </a:t>
            </a:r>
            <a:r>
              <a:rPr lang="en-US" sz="1400" dirty="0">
                <a:latin typeface="Cambria Math" pitchFamily="18" charset="0"/>
                <a:ea typeface="Cambria Math" pitchFamily="18" charset="0"/>
              </a:rPr>
              <a:t>thick </a:t>
            </a:r>
            <a:r>
              <a:rPr lang="en-US" sz="1400" dirty="0" smtClean="0">
                <a:latin typeface="Cambria Math" pitchFamily="18" charset="0"/>
                <a:ea typeface="Cambria Math" pitchFamily="18" charset="0"/>
              </a:rPr>
              <a:t>,decide </a:t>
            </a:r>
            <a:r>
              <a:rPr lang="en-US" sz="1400" dirty="0">
                <a:latin typeface="Cambria Math" pitchFamily="18" charset="0"/>
                <a:ea typeface="Cambria Math" pitchFamily="18" charset="0"/>
              </a:rPr>
              <a:t>and take  action using external tools or </a:t>
            </a:r>
            <a:r>
              <a:rPr lang="en-US" sz="1400" dirty="0" smtClean="0">
                <a:latin typeface="Cambria Math" pitchFamily="18" charset="0"/>
                <a:ea typeface="Cambria Math" pitchFamily="18" charset="0"/>
              </a:rPr>
              <a:t>api calls </a:t>
            </a:r>
            <a:r>
              <a:rPr lang="en-US" sz="1400" dirty="0">
                <a:latin typeface="Cambria Math" pitchFamily="18" charset="0"/>
                <a:ea typeface="Cambria Math" pitchFamily="18" charset="0"/>
              </a:rPr>
              <a:t>to achieve a goal</a:t>
            </a:r>
            <a:endParaRPr lang="en-IN" sz="1400" dirty="0">
              <a:latin typeface="Cambria Math" pitchFamily="18" charset="0"/>
              <a:ea typeface="Cambria Math" pitchFamily="18" charset="0"/>
            </a:endParaRPr>
          </a:p>
        </p:txBody>
      </p:sp>
      <p:sp>
        <p:nvSpPr>
          <p:cNvPr id="27" name="Flowchart: Connector 26"/>
          <p:cNvSpPr/>
          <p:nvPr/>
        </p:nvSpPr>
        <p:spPr>
          <a:xfrm>
            <a:off x="3046020" y="4191990"/>
            <a:ext cx="2196935" cy="1888176"/>
          </a:xfrm>
          <a:prstGeom prst="flowChartConnector">
            <a:avLst/>
          </a:prstGeom>
          <a:solidFill>
            <a:srgbClr val="00206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2" name="Group 31"/>
          <p:cNvGrpSpPr/>
          <p:nvPr/>
        </p:nvGrpSpPr>
        <p:grpSpPr>
          <a:xfrm>
            <a:off x="3763837" y="4397414"/>
            <a:ext cx="3290105" cy="1354217"/>
            <a:chOff x="3763837" y="4397414"/>
            <a:chExt cx="3290105" cy="1354217"/>
          </a:xfrm>
        </p:grpSpPr>
        <p:sp>
          <p:nvSpPr>
            <p:cNvPr id="28" name="TextBox 27"/>
            <p:cNvSpPr txBox="1"/>
            <p:nvPr/>
          </p:nvSpPr>
          <p:spPr>
            <a:xfrm>
              <a:off x="3763837" y="4397414"/>
              <a:ext cx="663964" cy="1354217"/>
            </a:xfrm>
            <a:prstGeom prst="rect">
              <a:avLst/>
            </a:prstGeom>
            <a:noFill/>
          </p:spPr>
          <p:txBody>
            <a:bodyPr wrap="none" rtlCol="0">
              <a:spAutoFit/>
            </a:bodyPr>
            <a:lstStyle/>
            <a:p>
              <a:r>
                <a:rPr lang="en-US" sz="1400" dirty="0" smtClean="0">
                  <a:solidFill>
                    <a:schemeClr val="bg1"/>
                  </a:solidFill>
                  <a:latin typeface="Bahnschrift Light SemiCondensed" pitchFamily="34" charset="0"/>
                </a:rPr>
                <a:t>LLM</a:t>
              </a:r>
            </a:p>
            <a:p>
              <a:endParaRPr lang="en-US" dirty="0" smtClean="0">
                <a:solidFill>
                  <a:schemeClr val="bg1"/>
                </a:solidFill>
                <a:latin typeface="Bahnschrift Light SemiCondensed" pitchFamily="34" charset="0"/>
              </a:endParaRPr>
            </a:p>
            <a:p>
              <a:r>
                <a:rPr lang="en-US" sz="1600" i="1" dirty="0" smtClean="0">
                  <a:solidFill>
                    <a:schemeClr val="bg1"/>
                  </a:solidFill>
                  <a:latin typeface="Bahnschrift Light SemiCondensed" pitchFamily="34" charset="0"/>
                </a:rPr>
                <a:t>Weds</a:t>
              </a:r>
              <a:r>
                <a:rPr lang="en-US" i="1" dirty="0" smtClean="0">
                  <a:solidFill>
                    <a:schemeClr val="bg1"/>
                  </a:solidFill>
                  <a:latin typeface="Bahnschrift Light SemiCondensed" pitchFamily="34" charset="0"/>
                </a:rPr>
                <a:t> </a:t>
              </a:r>
            </a:p>
            <a:p>
              <a:endParaRPr lang="en-US" dirty="0">
                <a:solidFill>
                  <a:schemeClr val="bg1"/>
                </a:solidFill>
                <a:latin typeface="Bahnschrift Light SemiCondensed" pitchFamily="34" charset="0"/>
              </a:endParaRPr>
            </a:p>
            <a:p>
              <a:r>
                <a:rPr lang="en-US" sz="1400" dirty="0" smtClean="0">
                  <a:solidFill>
                    <a:schemeClr val="bg1"/>
                  </a:solidFill>
                  <a:latin typeface="Bahnschrift Light SemiCondensed" pitchFamily="34" charset="0"/>
                </a:rPr>
                <a:t>Tools</a:t>
              </a:r>
              <a:endParaRPr lang="en-IN" sz="1400" dirty="0">
                <a:solidFill>
                  <a:schemeClr val="bg1"/>
                </a:solidFill>
                <a:latin typeface="Bahnschrift Light SemiCondensed" pitchFamily="34" charset="0"/>
              </a:endParaRPr>
            </a:p>
          </p:txBody>
        </p:sp>
        <p:sp>
          <p:nvSpPr>
            <p:cNvPr id="29" name="TextBox 28"/>
            <p:cNvSpPr txBox="1"/>
            <p:nvPr/>
          </p:nvSpPr>
          <p:spPr>
            <a:xfrm>
              <a:off x="5905871" y="4982189"/>
              <a:ext cx="1148071" cy="307777"/>
            </a:xfrm>
            <a:prstGeom prst="rect">
              <a:avLst/>
            </a:prstGeom>
            <a:noFill/>
          </p:spPr>
          <p:txBody>
            <a:bodyPr wrap="none" rtlCol="0">
              <a:spAutoFit/>
            </a:bodyPr>
            <a:lstStyle/>
            <a:p>
              <a:r>
                <a:rPr lang="en-US" sz="1400" dirty="0" smtClean="0">
                  <a:latin typeface="Cambria Math" pitchFamily="18" charset="0"/>
                  <a:ea typeface="Cambria Math" pitchFamily="18" charset="0"/>
                </a:rPr>
                <a:t>Called Agent</a:t>
              </a:r>
              <a:endParaRPr lang="en-IN" sz="1400" dirty="0">
                <a:latin typeface="Cambria Math" pitchFamily="18" charset="0"/>
                <a:ea typeface="Cambria Math" pitchFamily="18" charset="0"/>
              </a:endParaRPr>
            </a:p>
          </p:txBody>
        </p:sp>
        <p:cxnSp>
          <p:nvCxnSpPr>
            <p:cNvPr id="31" name="Elbow Connector 30"/>
            <p:cNvCxnSpPr>
              <a:endCxn id="29" idx="1"/>
            </p:cNvCxnSpPr>
            <p:nvPr/>
          </p:nvCxnSpPr>
          <p:spPr>
            <a:xfrm flipV="1">
              <a:off x="5118265" y="5136078"/>
              <a:ext cx="787606" cy="469075"/>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40166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884219" y="288938"/>
            <a:ext cx="9943604" cy="523220"/>
          </a:xfrm>
          <a:prstGeom prst="rect">
            <a:avLst/>
          </a:prstGeom>
        </p:spPr>
        <p:txBody>
          <a:bodyPr wrap="square">
            <a:spAutoFit/>
          </a:bodyPr>
          <a:lstStyle/>
          <a:p>
            <a:r>
              <a:rPr lang="en-US" sz="1400" dirty="0">
                <a:latin typeface="Cambria Math" pitchFamily="18" charset="0"/>
                <a:ea typeface="Cambria Math" pitchFamily="18" charset="0"/>
              </a:rPr>
              <a:t>LLM is Just like human body with only brain </a:t>
            </a:r>
            <a:r>
              <a:rPr lang="en-US" sz="1400" dirty="0" smtClean="0">
                <a:latin typeface="Cambria Math" pitchFamily="18" charset="0"/>
                <a:ea typeface="Cambria Math" pitchFamily="18" charset="0"/>
              </a:rPr>
              <a:t>but there </a:t>
            </a:r>
            <a:r>
              <a:rPr lang="en-US" sz="1400" dirty="0">
                <a:latin typeface="Cambria Math" pitchFamily="18" charset="0"/>
                <a:ea typeface="Cambria Math" pitchFamily="18" charset="0"/>
              </a:rPr>
              <a:t>is not hands and legs.</a:t>
            </a:r>
          </a:p>
          <a:p>
            <a:r>
              <a:rPr lang="en-US" sz="1400" dirty="0">
                <a:latin typeface="Cambria Math" pitchFamily="18" charset="0"/>
                <a:ea typeface="Cambria Math" pitchFamily="18" charset="0"/>
              </a:rPr>
              <a:t>means it can think and speak but can not perform any task</a:t>
            </a:r>
            <a:endParaRPr lang="en-IN" sz="1400" dirty="0">
              <a:latin typeface="Cambria Math" pitchFamily="18" charset="0"/>
              <a:ea typeface="Cambria Math" pitchFamily="18" charset="0"/>
            </a:endParaRPr>
          </a:p>
        </p:txBody>
      </p:sp>
      <p:sp>
        <p:nvSpPr>
          <p:cNvPr id="3" name="Rectangle 2"/>
          <p:cNvSpPr/>
          <p:nvPr/>
        </p:nvSpPr>
        <p:spPr>
          <a:xfrm>
            <a:off x="1884218" y="1003902"/>
            <a:ext cx="7580415" cy="307777"/>
          </a:xfrm>
          <a:prstGeom prst="rect">
            <a:avLst/>
          </a:prstGeom>
        </p:spPr>
        <p:txBody>
          <a:bodyPr wrap="square">
            <a:spAutoFit/>
          </a:bodyPr>
          <a:lstStyle/>
          <a:p>
            <a:r>
              <a:rPr lang="en-US" sz="1400" dirty="0">
                <a:latin typeface="Cambria Math" pitchFamily="18" charset="0"/>
                <a:ea typeface="Cambria Math" pitchFamily="18" charset="0"/>
              </a:rPr>
              <a:t>Just like if we ask how many difference way to we can go from </a:t>
            </a:r>
            <a:r>
              <a:rPr lang="en-US" sz="1400" dirty="0" smtClean="0">
                <a:latin typeface="Cambria Math" pitchFamily="18" charset="0"/>
                <a:ea typeface="Cambria Math" pitchFamily="18" charset="0"/>
              </a:rPr>
              <a:t>Delhi </a:t>
            </a:r>
            <a:r>
              <a:rPr lang="en-US" sz="1400" dirty="0">
                <a:latin typeface="Cambria Math" pitchFamily="18" charset="0"/>
                <a:ea typeface="Cambria Math" pitchFamily="18" charset="0"/>
              </a:rPr>
              <a:t>to </a:t>
            </a:r>
            <a:r>
              <a:rPr lang="en-US" sz="1400" dirty="0" smtClean="0">
                <a:latin typeface="Cambria Math" pitchFamily="18" charset="0"/>
                <a:ea typeface="Cambria Math" pitchFamily="18" charset="0"/>
              </a:rPr>
              <a:t>Bombay</a:t>
            </a:r>
            <a:endParaRPr lang="en-IN" sz="1400" dirty="0">
              <a:latin typeface="Cambria Math" pitchFamily="18" charset="0"/>
              <a:ea typeface="Cambria Math" pitchFamily="18" charset="0"/>
            </a:endParaRPr>
          </a:p>
        </p:txBody>
      </p:sp>
      <p:sp>
        <p:nvSpPr>
          <p:cNvPr id="5" name="Rectangle 4"/>
          <p:cNvSpPr/>
          <p:nvPr/>
        </p:nvSpPr>
        <p:spPr>
          <a:xfrm>
            <a:off x="2531784" y="1510537"/>
            <a:ext cx="1207382" cy="307777"/>
          </a:xfrm>
          <a:prstGeom prst="rect">
            <a:avLst/>
          </a:prstGeom>
        </p:spPr>
        <p:txBody>
          <a:bodyPr wrap="none">
            <a:spAutoFit/>
          </a:bodyPr>
          <a:lstStyle/>
          <a:p>
            <a:r>
              <a:rPr lang="en-IN" sz="1400" i="1" dirty="0">
                <a:solidFill>
                  <a:srgbClr val="0070C0"/>
                </a:solidFill>
                <a:latin typeface="Cambria Math" pitchFamily="18" charset="0"/>
                <a:ea typeface="Cambria Math" pitchFamily="18" charset="0"/>
              </a:rPr>
              <a:t>it can answer</a:t>
            </a:r>
          </a:p>
        </p:txBody>
      </p:sp>
      <p:sp>
        <p:nvSpPr>
          <p:cNvPr id="14" name="Rectangle 13"/>
          <p:cNvSpPr/>
          <p:nvPr/>
        </p:nvSpPr>
        <p:spPr>
          <a:xfrm>
            <a:off x="2484283" y="3246704"/>
            <a:ext cx="3359125" cy="307777"/>
          </a:xfrm>
          <a:prstGeom prst="rect">
            <a:avLst/>
          </a:prstGeom>
        </p:spPr>
        <p:txBody>
          <a:bodyPr wrap="none">
            <a:spAutoFit/>
          </a:bodyPr>
          <a:lstStyle/>
          <a:p>
            <a:r>
              <a:rPr lang="en-US" sz="1400" dirty="0">
                <a:latin typeface="Cambria Math" pitchFamily="18" charset="0"/>
                <a:ea typeface="Cambria Math" pitchFamily="18" charset="0"/>
              </a:rPr>
              <a:t>Ok.If </a:t>
            </a:r>
            <a:r>
              <a:rPr lang="en-US" sz="1400" dirty="0">
                <a:latin typeface="Cambria Math" pitchFamily="18" charset="0"/>
                <a:ea typeface="Cambria Math" pitchFamily="18" charset="0"/>
              </a:rPr>
              <a:t>we again ask can you book my ticket</a:t>
            </a:r>
            <a:endParaRPr lang="en-IN" sz="1400" dirty="0">
              <a:latin typeface="Cambria Math" pitchFamily="18" charset="0"/>
              <a:ea typeface="Cambria Math" pitchFamily="18" charset="0"/>
            </a:endParaRPr>
          </a:p>
        </p:txBody>
      </p:sp>
      <p:sp>
        <p:nvSpPr>
          <p:cNvPr id="15" name="Rectangle 14"/>
          <p:cNvSpPr/>
          <p:nvPr/>
        </p:nvSpPr>
        <p:spPr>
          <a:xfrm>
            <a:off x="2531784" y="3654032"/>
            <a:ext cx="1529586" cy="307777"/>
          </a:xfrm>
          <a:prstGeom prst="rect">
            <a:avLst/>
          </a:prstGeom>
        </p:spPr>
        <p:txBody>
          <a:bodyPr wrap="none">
            <a:spAutoFit/>
          </a:bodyPr>
          <a:lstStyle/>
          <a:p>
            <a:r>
              <a:rPr lang="en-IN" sz="1400" dirty="0">
                <a:latin typeface="Cambria Math" pitchFamily="18" charset="0"/>
                <a:ea typeface="Cambria Math" pitchFamily="18" charset="0"/>
              </a:rPr>
              <a:t>LLM </a:t>
            </a:r>
            <a:r>
              <a:rPr lang="en-IN" sz="1400" dirty="0">
                <a:latin typeface="Cambria Math" pitchFamily="18" charset="0"/>
                <a:ea typeface="Cambria Math" pitchFamily="18" charset="0"/>
              </a:rPr>
              <a:t>is no answer</a:t>
            </a:r>
          </a:p>
        </p:txBody>
      </p:sp>
      <p:sp>
        <p:nvSpPr>
          <p:cNvPr id="16" name="Rectangle 15"/>
          <p:cNvSpPr/>
          <p:nvPr/>
        </p:nvSpPr>
        <p:spPr>
          <a:xfrm>
            <a:off x="1930157" y="4384503"/>
            <a:ext cx="6096000" cy="954107"/>
          </a:xfrm>
          <a:prstGeom prst="rect">
            <a:avLst/>
          </a:prstGeom>
        </p:spPr>
        <p:txBody>
          <a:bodyPr>
            <a:spAutoFit/>
          </a:bodyPr>
          <a:lstStyle/>
          <a:p>
            <a:r>
              <a:rPr lang="en-US" sz="1400" dirty="0">
                <a:solidFill>
                  <a:srgbClr val="00B050"/>
                </a:solidFill>
                <a:latin typeface="Cambria Math" pitchFamily="18" charset="0"/>
                <a:ea typeface="Cambria Math" pitchFamily="18" charset="0"/>
              </a:rPr>
              <a:t>Because </a:t>
            </a:r>
            <a:r>
              <a:rPr lang="en-US" sz="1400" dirty="0">
                <a:solidFill>
                  <a:srgbClr val="00B050"/>
                </a:solidFill>
                <a:latin typeface="Cambria Math" pitchFamily="18" charset="0"/>
                <a:ea typeface="Cambria Math" pitchFamily="18" charset="0"/>
              </a:rPr>
              <a:t>it odes not have capability to perform </a:t>
            </a:r>
            <a:r>
              <a:rPr lang="en-US" sz="1400" dirty="0" smtClean="0">
                <a:solidFill>
                  <a:srgbClr val="00B050"/>
                </a:solidFill>
                <a:latin typeface="Cambria Math" pitchFamily="18" charset="0"/>
                <a:ea typeface="Cambria Math" pitchFamily="18" charset="0"/>
              </a:rPr>
              <a:t>any </a:t>
            </a:r>
            <a:r>
              <a:rPr lang="en-US" sz="1400" dirty="0">
                <a:solidFill>
                  <a:srgbClr val="00B050"/>
                </a:solidFill>
                <a:latin typeface="Cambria Math" pitchFamily="18" charset="0"/>
                <a:ea typeface="Cambria Math" pitchFamily="18" charset="0"/>
              </a:rPr>
              <a:t>task</a:t>
            </a:r>
          </a:p>
          <a:p>
            <a:r>
              <a:rPr lang="en-US" sz="1400" dirty="0">
                <a:latin typeface="Cambria Math" pitchFamily="18" charset="0"/>
                <a:ea typeface="Cambria Math" pitchFamily="18" charset="0"/>
              </a:rPr>
              <a:t>    It can not call api</a:t>
            </a:r>
          </a:p>
          <a:p>
            <a:r>
              <a:rPr lang="en-US" sz="1400" dirty="0">
                <a:latin typeface="Cambria Math" pitchFamily="18" charset="0"/>
                <a:ea typeface="Cambria Math" pitchFamily="18" charset="0"/>
              </a:rPr>
              <a:t>    it can not </a:t>
            </a:r>
            <a:r>
              <a:rPr lang="en-US" sz="1400" dirty="0">
                <a:latin typeface="Cambria Math" pitchFamily="18" charset="0"/>
                <a:ea typeface="Cambria Math" pitchFamily="18" charset="0"/>
              </a:rPr>
              <a:t>tweet </a:t>
            </a:r>
            <a:r>
              <a:rPr lang="en-US" sz="1400" dirty="0">
                <a:latin typeface="Cambria Math" pitchFamily="18" charset="0"/>
                <a:ea typeface="Cambria Math" pitchFamily="18" charset="0"/>
              </a:rPr>
              <a:t>on my behalf</a:t>
            </a:r>
          </a:p>
          <a:p>
            <a:r>
              <a:rPr lang="en-US" sz="1400" dirty="0">
                <a:latin typeface="Cambria Math" pitchFamily="18" charset="0"/>
                <a:ea typeface="Cambria Math" pitchFamily="18" charset="0"/>
              </a:rPr>
              <a:t>    it can not connect to </a:t>
            </a:r>
            <a:r>
              <a:rPr lang="en-US" sz="1400" dirty="0">
                <a:latin typeface="Cambria Math" pitchFamily="18" charset="0"/>
                <a:ea typeface="Cambria Math" pitchFamily="18" charset="0"/>
              </a:rPr>
              <a:t>db.</a:t>
            </a:r>
            <a:endParaRPr lang="en-IN" sz="1400" dirty="0">
              <a:latin typeface="Cambria Math" pitchFamily="18" charset="0"/>
              <a:ea typeface="Cambria Math" pitchFamily="18" charset="0"/>
            </a:endParaRPr>
          </a:p>
        </p:txBody>
      </p:sp>
      <p:sp>
        <p:nvSpPr>
          <p:cNvPr id="17" name="Rectangle 16"/>
          <p:cNvSpPr/>
          <p:nvPr/>
        </p:nvSpPr>
        <p:spPr>
          <a:xfrm>
            <a:off x="1884217" y="5837160"/>
            <a:ext cx="9100457" cy="307777"/>
          </a:xfrm>
          <a:prstGeom prst="rect">
            <a:avLst/>
          </a:prstGeom>
        </p:spPr>
        <p:txBody>
          <a:bodyPr wrap="square">
            <a:spAutoFit/>
          </a:bodyPr>
          <a:lstStyle/>
          <a:p>
            <a:r>
              <a:rPr lang="en-US" sz="1400" dirty="0">
                <a:latin typeface="Cambria Math" pitchFamily="18" charset="0"/>
                <a:ea typeface="Cambria Math" pitchFamily="18" charset="0"/>
              </a:rPr>
              <a:t>means it is </a:t>
            </a:r>
            <a:r>
              <a:rPr lang="en-US" sz="1400" dirty="0">
                <a:latin typeface="Cambria Math" pitchFamily="18" charset="0"/>
                <a:ea typeface="Cambria Math" pitchFamily="18" charset="0"/>
              </a:rPr>
              <a:t>human </a:t>
            </a:r>
            <a:r>
              <a:rPr lang="en-US" sz="1400" dirty="0">
                <a:latin typeface="Cambria Math" pitchFamily="18" charset="0"/>
                <a:ea typeface="Cambria Math" pitchFamily="18" charset="0"/>
              </a:rPr>
              <a:t>body with only brain that can think and speak but not perform any task</a:t>
            </a:r>
            <a:endParaRPr lang="en-IN" sz="1400" dirty="0">
              <a:latin typeface="Cambria Math" pitchFamily="18" charset="0"/>
              <a:ea typeface="Cambria Math" pitchFamily="18" charset="0"/>
            </a:endParaRPr>
          </a:p>
        </p:txBody>
      </p:sp>
      <p:sp>
        <p:nvSpPr>
          <p:cNvPr id="18" name="Rectangle 17"/>
          <p:cNvSpPr/>
          <p:nvPr/>
        </p:nvSpPr>
        <p:spPr>
          <a:xfrm>
            <a:off x="3122613" y="1849091"/>
            <a:ext cx="3048000" cy="738664"/>
          </a:xfrm>
          <a:prstGeom prst="rect">
            <a:avLst/>
          </a:prstGeom>
        </p:spPr>
        <p:txBody>
          <a:bodyPr>
            <a:spAutoFit/>
          </a:bodyPr>
          <a:lstStyle/>
          <a:p>
            <a:pPr lvl="0"/>
            <a:r>
              <a:rPr lang="en-US" sz="1400" dirty="0">
                <a:latin typeface="Cambria Math" pitchFamily="18" charset="0"/>
                <a:ea typeface="Cambria Math" pitchFamily="18" charset="0"/>
              </a:rPr>
              <a:t>By Flight</a:t>
            </a:r>
          </a:p>
          <a:p>
            <a:pPr lvl="0"/>
            <a:r>
              <a:rPr lang="en-US" sz="1400" dirty="0">
                <a:latin typeface="Cambria Math" pitchFamily="18" charset="0"/>
                <a:ea typeface="Cambria Math" pitchFamily="18" charset="0"/>
              </a:rPr>
              <a:t>By Train</a:t>
            </a:r>
          </a:p>
          <a:p>
            <a:pPr lvl="0"/>
            <a:r>
              <a:rPr lang="en-US" sz="1400" dirty="0">
                <a:latin typeface="Cambria Math" pitchFamily="18" charset="0"/>
                <a:ea typeface="Cambria Math" pitchFamily="18" charset="0"/>
              </a:rPr>
              <a:t>By Bus another way</a:t>
            </a:r>
            <a:endParaRPr lang="en-IN" sz="1400" dirty="0">
              <a:latin typeface="Cambria Math" pitchFamily="18" charset="0"/>
              <a:ea typeface="Cambria Math" pitchFamily="18" charset="0"/>
            </a:endParaRPr>
          </a:p>
        </p:txBody>
      </p:sp>
    </p:spTree>
    <p:extLst>
      <p:ext uri="{BB962C8B-B14F-4D97-AF65-F5344CB8AC3E}">
        <p14:creationId xmlns:p14="http://schemas.microsoft.com/office/powerpoint/2010/main" val="23595570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2052" name="Picture 4" descr="C:\Users\User\Desktop\Capt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3844" y="320843"/>
            <a:ext cx="5334395" cy="6251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46181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3588" y="1419225"/>
            <a:ext cx="8124825"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674420" y="519770"/>
            <a:ext cx="2132635" cy="461665"/>
          </a:xfrm>
          <a:prstGeom prst="rect">
            <a:avLst/>
          </a:prstGeom>
          <a:noFill/>
        </p:spPr>
        <p:txBody>
          <a:bodyPr wrap="none" rtlCol="0">
            <a:spAutoFit/>
          </a:bodyPr>
          <a:lstStyle/>
          <a:p>
            <a:r>
              <a:rPr lang="en-US" sz="2400" dirty="0" smtClean="0">
                <a:latin typeface="Arial Rounded MT Bold" pitchFamily="34" charset="0"/>
              </a:rPr>
              <a:t>Characteries</a:t>
            </a:r>
            <a:endParaRPr lang="en-IN" sz="2400" dirty="0">
              <a:latin typeface="Arial Rounded MT Bold" pitchFamily="34" charset="0"/>
            </a:endParaRPr>
          </a:p>
        </p:txBody>
      </p:sp>
    </p:spTree>
    <p:extLst>
      <p:ext uri="{BB962C8B-B14F-4D97-AF65-F5344CB8AC3E}">
        <p14:creationId xmlns:p14="http://schemas.microsoft.com/office/powerpoint/2010/main" val="38189023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27064095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96292" y="350493"/>
            <a:ext cx="10515600" cy="400110"/>
            <a:chOff x="1496291" y="350493"/>
            <a:chExt cx="10695709" cy="400110"/>
          </a:xfrm>
        </p:grpSpPr>
        <p:sp>
          <p:nvSpPr>
            <p:cNvPr id="2" name="TextBox 1"/>
            <p:cNvSpPr txBox="1"/>
            <p:nvPr/>
          </p:nvSpPr>
          <p:spPr>
            <a:xfrm>
              <a:off x="1690255" y="350493"/>
              <a:ext cx="1909398" cy="400110"/>
            </a:xfrm>
            <a:prstGeom prst="rect">
              <a:avLst/>
            </a:prstGeom>
            <a:solidFill>
              <a:srgbClr val="0070C0"/>
            </a:solidFill>
          </p:spPr>
          <p:txBody>
            <a:bodyPr wrap="none" rtlCol="0">
              <a:spAutoFit/>
            </a:bodyPr>
            <a:lstStyle/>
            <a:p>
              <a:r>
                <a:rPr lang="en-US" sz="2000" dirty="0" smtClean="0">
                  <a:solidFill>
                    <a:schemeClr val="bg1"/>
                  </a:solidFill>
                  <a:latin typeface="Arial Rounded MT Bold" pitchFamily="34" charset="0"/>
                </a:rPr>
                <a:t>Generative AI</a:t>
              </a:r>
              <a:endParaRPr lang="en-IN" sz="2000" dirty="0">
                <a:solidFill>
                  <a:schemeClr val="bg1"/>
                </a:solidFill>
                <a:latin typeface="Arial Rounded MT Bold" pitchFamily="34" charset="0"/>
              </a:endParaRPr>
            </a:p>
          </p:txBody>
        </p:sp>
        <p:cxnSp>
          <p:nvCxnSpPr>
            <p:cNvPr id="5" name="Straight Connector 4"/>
            <p:cNvCxnSpPr/>
            <p:nvPr/>
          </p:nvCxnSpPr>
          <p:spPr>
            <a:xfrm>
              <a:off x="1496291" y="750603"/>
              <a:ext cx="1069570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2244436" y="826716"/>
            <a:ext cx="8452635" cy="369332"/>
          </a:xfrm>
          <a:prstGeom prst="rect">
            <a:avLst/>
          </a:prstGeom>
          <a:noFill/>
        </p:spPr>
        <p:txBody>
          <a:bodyPr wrap="none" rtlCol="0">
            <a:spAutoFit/>
          </a:bodyPr>
          <a:lstStyle/>
          <a:p>
            <a:r>
              <a:rPr lang="en-US" dirty="0" smtClean="0"/>
              <a:t>Generative AI generate  new content ,does not take any decision base upon input query </a:t>
            </a:r>
            <a:endParaRPr lang="en-IN" dirty="0"/>
          </a:p>
        </p:txBody>
      </p:sp>
    </p:spTree>
    <p:extLst>
      <p:ext uri="{BB962C8B-B14F-4D97-AF65-F5344CB8AC3E}">
        <p14:creationId xmlns:p14="http://schemas.microsoft.com/office/powerpoint/2010/main" val="5504361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96292" y="350493"/>
            <a:ext cx="10515600" cy="400110"/>
            <a:chOff x="1496291" y="350493"/>
            <a:chExt cx="10695709" cy="400110"/>
          </a:xfrm>
        </p:grpSpPr>
        <p:sp>
          <p:nvSpPr>
            <p:cNvPr id="10" name="TextBox 9"/>
            <p:cNvSpPr txBox="1"/>
            <p:nvPr/>
          </p:nvSpPr>
          <p:spPr>
            <a:xfrm>
              <a:off x="1690255" y="350493"/>
              <a:ext cx="1272084" cy="400110"/>
            </a:xfrm>
            <a:prstGeom prst="rect">
              <a:avLst/>
            </a:prstGeom>
            <a:solidFill>
              <a:srgbClr val="FF3300"/>
            </a:solidFill>
            <a:ln>
              <a:solidFill>
                <a:srgbClr val="FF0000"/>
              </a:solidFill>
            </a:ln>
          </p:spPr>
          <p:txBody>
            <a:bodyPr wrap="none" rtlCol="0">
              <a:spAutoFit/>
            </a:bodyPr>
            <a:lstStyle/>
            <a:p>
              <a:r>
                <a:rPr lang="en-US" sz="2000" dirty="0" smtClean="0">
                  <a:solidFill>
                    <a:schemeClr val="bg1"/>
                  </a:solidFill>
                  <a:latin typeface="Arial Rounded MT Bold" pitchFamily="34" charset="0"/>
                </a:rPr>
                <a:t>AI Agent</a:t>
              </a:r>
              <a:endParaRPr lang="en-IN" sz="2000" dirty="0">
                <a:solidFill>
                  <a:schemeClr val="bg1"/>
                </a:solidFill>
                <a:latin typeface="Arial Rounded MT Bold" pitchFamily="34" charset="0"/>
              </a:endParaRPr>
            </a:p>
          </p:txBody>
        </p:sp>
        <p:cxnSp>
          <p:nvCxnSpPr>
            <p:cNvPr id="11" name="Straight Connector 10"/>
            <p:cNvCxnSpPr/>
            <p:nvPr/>
          </p:nvCxnSpPr>
          <p:spPr>
            <a:xfrm>
              <a:off x="1496291" y="750603"/>
              <a:ext cx="1069570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TextBox 1"/>
          <p:cNvSpPr txBox="1"/>
          <p:nvPr/>
        </p:nvSpPr>
        <p:spPr>
          <a:xfrm>
            <a:off x="2312321" y="1039091"/>
            <a:ext cx="6998006" cy="369332"/>
          </a:xfrm>
          <a:prstGeom prst="rect">
            <a:avLst/>
          </a:prstGeom>
          <a:noFill/>
        </p:spPr>
        <p:txBody>
          <a:bodyPr wrap="none" rtlCol="0">
            <a:spAutoFit/>
          </a:bodyPr>
          <a:lstStyle/>
          <a:p>
            <a:r>
              <a:rPr lang="en-US" dirty="0" smtClean="0"/>
              <a:t>Main focuses  on decision  making  to complete or perform a specific task</a:t>
            </a:r>
            <a:endParaRPr lang="en-IN" dirty="0"/>
          </a:p>
        </p:txBody>
      </p:sp>
      <p:sp>
        <p:nvSpPr>
          <p:cNvPr id="3" name="Rectangle 2"/>
          <p:cNvSpPr/>
          <p:nvPr/>
        </p:nvSpPr>
        <p:spPr>
          <a:xfrm>
            <a:off x="2701637" y="2062415"/>
            <a:ext cx="8853054" cy="923330"/>
          </a:xfrm>
          <a:prstGeom prst="rect">
            <a:avLst/>
          </a:prstGeom>
        </p:spPr>
        <p:txBody>
          <a:bodyPr wrap="square">
            <a:spAutoFit/>
          </a:bodyPr>
          <a:lstStyle/>
          <a:p>
            <a:pPr marL="285750" indent="-285750">
              <a:buFont typeface="Wingdings" pitchFamily="2" charset="2"/>
              <a:buChar char="§"/>
            </a:pPr>
            <a:r>
              <a:rPr lang="en-US" dirty="0"/>
              <a:t>When multiple AI agents work together, their capabilities can grow exponentially. in place of focusing on just one task, multiple AI agents (or, an agentic AI system) can collaborate to handle complex workflows and achieve more advanced goals.</a:t>
            </a:r>
            <a:endParaRPr lang="en-I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337" y="3255818"/>
            <a:ext cx="3276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9524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96292" y="350493"/>
            <a:ext cx="10515600" cy="400110"/>
            <a:chOff x="1496291" y="350493"/>
            <a:chExt cx="10695709" cy="400110"/>
          </a:xfrm>
          <a:solidFill>
            <a:srgbClr val="FF3300"/>
          </a:solidFill>
        </p:grpSpPr>
        <p:sp>
          <p:nvSpPr>
            <p:cNvPr id="10" name="TextBox 9"/>
            <p:cNvSpPr txBox="1"/>
            <p:nvPr/>
          </p:nvSpPr>
          <p:spPr>
            <a:xfrm>
              <a:off x="1690255" y="350493"/>
              <a:ext cx="1497088" cy="400110"/>
            </a:xfrm>
            <a:prstGeom prst="rect">
              <a:avLst/>
            </a:prstGeom>
            <a:grpFill/>
            <a:ln>
              <a:solidFill>
                <a:srgbClr val="FF0000"/>
              </a:solidFill>
            </a:ln>
          </p:spPr>
          <p:txBody>
            <a:bodyPr wrap="none" rtlCol="0">
              <a:spAutoFit/>
            </a:bodyPr>
            <a:lstStyle/>
            <a:p>
              <a:r>
                <a:rPr lang="en-US" sz="2000" dirty="0" smtClean="0">
                  <a:solidFill>
                    <a:schemeClr val="bg1"/>
                  </a:solidFill>
                  <a:latin typeface="Arial Rounded MT Bold" pitchFamily="34" charset="0"/>
                </a:rPr>
                <a:t>Agentic AI</a:t>
              </a:r>
              <a:endParaRPr lang="en-IN" sz="2000" dirty="0">
                <a:solidFill>
                  <a:schemeClr val="bg1"/>
                </a:solidFill>
                <a:latin typeface="Arial Rounded MT Bold" pitchFamily="34" charset="0"/>
              </a:endParaRPr>
            </a:p>
          </p:txBody>
        </p:sp>
        <p:cxnSp>
          <p:nvCxnSpPr>
            <p:cNvPr id="11" name="Straight Connector 10"/>
            <p:cNvCxnSpPr/>
            <p:nvPr/>
          </p:nvCxnSpPr>
          <p:spPr>
            <a:xfrm>
              <a:off x="1496291" y="750603"/>
              <a:ext cx="10695709" cy="0"/>
            </a:xfrm>
            <a:prstGeom prst="line">
              <a:avLst/>
            </a:prstGeom>
            <a:grpFill/>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2078182" y="916908"/>
            <a:ext cx="9698182" cy="923330"/>
          </a:xfrm>
          <a:prstGeom prst="rect">
            <a:avLst/>
          </a:prstGeom>
        </p:spPr>
        <p:txBody>
          <a:bodyPr wrap="square">
            <a:spAutoFit/>
          </a:bodyPr>
          <a:lstStyle/>
          <a:p>
            <a:r>
              <a:rPr lang="en-US" dirty="0"/>
              <a:t>AI agents can be considered as the building blocks,So agentic AI is a more complex setup or </a:t>
            </a:r>
            <a:r>
              <a:rPr lang="en-US" dirty="0" smtClean="0"/>
              <a:t>workflow </a:t>
            </a:r>
            <a:r>
              <a:rPr lang="en-US" dirty="0"/>
              <a:t>that puts all of the building blocks together, allowing multiple agents to work together to achieve complex goals for an organization.</a:t>
            </a:r>
            <a:endParaRPr lang="en-IN" dirty="0"/>
          </a:p>
        </p:txBody>
      </p:sp>
    </p:spTree>
    <p:extLst>
      <p:ext uri="{BB962C8B-B14F-4D97-AF65-F5344CB8AC3E}">
        <p14:creationId xmlns:p14="http://schemas.microsoft.com/office/powerpoint/2010/main" val="9313257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24214956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4788746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4169422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3259557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A71D7A-4199-9593-FD85-54477FAC331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551A5A6E-8DE1-A78F-3109-B3761C23467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0DA8959A-E255-AE1F-0F9F-C2E9C266E36C}"/>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173BC4F8-EC58-D42C-1EF3-1F4EF61CAC3A}"/>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2" name="Footer Placeholder 1">
            <a:extLst>
              <a:ext uri="{FF2B5EF4-FFF2-40B4-BE49-F238E27FC236}">
                <a16:creationId xmlns:a16="http://schemas.microsoft.com/office/drawing/2014/main" xmlns="" id="{6122EB64-047D-D5A5-455B-C998BAAF3FE1}"/>
              </a:ext>
            </a:extLst>
          </p:cNvPr>
          <p:cNvSpPr>
            <a:spLocks noGrp="1"/>
          </p:cNvSpPr>
          <p:nvPr>
            <p:ph type="ftr" sz="quarter" idx="11"/>
          </p:nvPr>
        </p:nvSpPr>
        <p:spPr/>
        <p:txBody>
          <a:bodyPr/>
          <a:lstStyle/>
          <a:p>
            <a:r>
              <a:rPr lang="en-US" dirty="0"/>
              <a:t>Navigating the Future of Learning​</a:t>
            </a:r>
          </a:p>
        </p:txBody>
      </p:sp>
      <p:pic>
        <p:nvPicPr>
          <p:cNvPr id="5" name="Picture 4" descr="A logo with lines in a black background&#10;&#10;Description automatically generated">
            <a:extLst>
              <a:ext uri="{FF2B5EF4-FFF2-40B4-BE49-F238E27FC236}">
                <a16:creationId xmlns:a16="http://schemas.microsoft.com/office/drawing/2014/main" xmlns="" id="{79550B0D-F382-8A19-8040-0525CFEE4C45}"/>
              </a:ext>
            </a:extLst>
          </p:cNvPr>
          <p:cNvPicPr>
            <a:picLocks noChangeAspect="1"/>
          </p:cNvPicPr>
          <p:nvPr/>
        </p:nvPicPr>
        <p:blipFill>
          <a:blip r:embed="rId2"/>
          <a:stretch>
            <a:fillRect/>
          </a:stretch>
        </p:blipFill>
        <p:spPr>
          <a:xfrm>
            <a:off x="10968135" y="-83878"/>
            <a:ext cx="1219200" cy="1209675"/>
          </a:xfrm>
          <a:prstGeom prst="rect">
            <a:avLst/>
          </a:prstGeom>
        </p:spPr>
      </p:pic>
      <p:pic>
        <p:nvPicPr>
          <p:cNvPr id="9" name="Picture 8" descr="A group of people sitting at desks in a classroom with computers&#10;&#10;Description automatically generated">
            <a:extLst>
              <a:ext uri="{FF2B5EF4-FFF2-40B4-BE49-F238E27FC236}">
                <a16:creationId xmlns:a16="http://schemas.microsoft.com/office/drawing/2014/main" xmlns="" id="{E8BDAAE7-2946-663A-E1B7-103303202792}"/>
              </a:ext>
            </a:extLst>
          </p:cNvPr>
          <p:cNvPicPr>
            <a:picLocks noChangeAspect="1"/>
          </p:cNvPicPr>
          <p:nvPr/>
        </p:nvPicPr>
        <p:blipFill>
          <a:blip r:embed="rId3"/>
          <a:stretch>
            <a:fillRect/>
          </a:stretch>
        </p:blipFill>
        <p:spPr>
          <a:xfrm>
            <a:off x="6858000" y="1376266"/>
            <a:ext cx="4113245" cy="4105469"/>
          </a:xfrm>
          <a:prstGeom prst="rect">
            <a:avLst/>
          </a:prstGeom>
        </p:spPr>
      </p:pic>
      <p:sp>
        <p:nvSpPr>
          <p:cNvPr id="12" name="Google Shape;232;g2b25827427c_0_1215">
            <a:extLst>
              <a:ext uri="{FF2B5EF4-FFF2-40B4-BE49-F238E27FC236}">
                <a16:creationId xmlns:a16="http://schemas.microsoft.com/office/drawing/2014/main" xmlns="" id="{76539FC0-FE01-2A0D-C752-8C9F4AF1D331}"/>
              </a:ext>
            </a:extLst>
          </p:cNvPr>
          <p:cNvSpPr txBox="1">
            <a:spLocks noGrp="1"/>
          </p:cNvSpPr>
          <p:nvPr/>
        </p:nvSpPr>
        <p:spPr>
          <a:xfrm>
            <a:off x="1550879" y="2158440"/>
            <a:ext cx="4966047" cy="161657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36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5400" b="1" dirty="0">
                <a:solidFill>
                  <a:schemeClr val="tx1"/>
                </a:solidFill>
              </a:rPr>
              <a:t>Q &amp; A</a:t>
            </a:r>
            <a:endParaRPr lang="en-US" dirty="0">
              <a:solidFill>
                <a:schemeClr val="tx1"/>
              </a:solidFill>
            </a:endParaRPr>
          </a:p>
        </p:txBody>
      </p:sp>
    </p:spTree>
    <p:extLst>
      <p:ext uri="{BB962C8B-B14F-4D97-AF65-F5344CB8AC3E}">
        <p14:creationId xmlns:p14="http://schemas.microsoft.com/office/powerpoint/2010/main" val="3993727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24219</TotalTime>
  <Words>1690</Words>
  <Application>Microsoft Office PowerPoint</Application>
  <PresentationFormat>Custom</PresentationFormat>
  <Paragraphs>452</Paragraphs>
  <Slides>37</Slides>
  <Notes>34</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1045</cp:revision>
  <dcterms:created xsi:type="dcterms:W3CDTF">2024-01-26T15:11:46Z</dcterms:created>
  <dcterms:modified xsi:type="dcterms:W3CDTF">2025-06-04T06:50:59Z</dcterms:modified>
</cp:coreProperties>
</file>