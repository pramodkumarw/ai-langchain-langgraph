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447" r:id="rId2"/>
    <p:sldId id="439" r:id="rId3"/>
    <p:sldId id="440" r:id="rId4"/>
    <p:sldId id="449" r:id="rId5"/>
    <p:sldId id="448" r:id="rId6"/>
    <p:sldId id="450" r:id="rId7"/>
    <p:sldId id="453" r:id="rId8"/>
    <p:sldId id="45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pendix" id="{6AD96EF0-A050-476C-A760-CA4586567F17}">
          <p14:sldIdLst>
            <p14:sldId id="447"/>
          </p14:sldIdLst>
        </p14:section>
        <p14:section name="TypedDict" id="{56BDF5AA-C27F-414A-AF2E-141D40E89E5A}">
          <p14:sldIdLst>
            <p14:sldId id="439"/>
          </p14:sldIdLst>
        </p14:section>
        <p14:section name="Pydantic" id="{19812E16-3838-432F-B382-2B4AEFF22CA5}">
          <p14:sldIdLst>
            <p14:sldId id="440"/>
          </p14:sldIdLst>
        </p14:section>
        <p14:section name="Structured Output - Basics" id="{835526F1-28FB-4EB3-917F-D355533B4070}">
          <p14:sldIdLst>
            <p14:sldId id="449"/>
            <p14:sldId id="448"/>
            <p14:sldId id="450"/>
            <p14:sldId id="453"/>
            <p14:sldId id="454"/>
          </p14:sldIdLst>
        </p14:section>
      </p14:sectionLst>
    </p:ex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CC3300"/>
    <a:srgbClr val="D7C055"/>
    <a:srgbClr val="F2DB5B"/>
    <a:srgbClr val="000000"/>
    <a:srgbClr val="64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9639D9-3454-46DB-98F0-5734C90B24A8}" v="162" dt="2024-02-29T03:48:59.932"/>
    <p1510:client id="{51280DD5-E729-4BD7-8A9F-98443B307215}" v="2" dt="2024-02-29T02:44:09.918"/>
    <p1510:client id="{F06999DA-40BE-4997-8D18-97380D22DED5}" v="101" dt="2024-02-29T15:35:34.9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33" autoAdjust="0"/>
    <p:restoredTop sz="86073" autoAdjust="0"/>
  </p:normalViewPr>
  <p:slideViewPr>
    <p:cSldViewPr snapToGrid="0">
      <p:cViewPr>
        <p:scale>
          <a:sx n="70" d="100"/>
          <a:sy n="70" d="100"/>
        </p:scale>
        <p:origin x="-660" y="-13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28"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58C147-18C2-4D33-BF56-E30CA9229223}" type="datetimeFigureOut">
              <a:rPr lang="en-IN" smtClean="0"/>
              <a:t>25-02-2026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A3E4B8-F9DF-4F9A-BB59-93920507C31C}" type="slidenum">
              <a:rPr lang="en-IN" smtClean="0"/>
              <a:t>‹#›</a:t>
            </a:fld>
            <a:endParaRPr lang="en-IN" dirty="0"/>
          </a:p>
        </p:txBody>
      </p:sp>
    </p:spTree>
    <p:extLst>
      <p:ext uri="{BB962C8B-B14F-4D97-AF65-F5344CB8AC3E}">
        <p14:creationId xmlns:p14="http://schemas.microsoft.com/office/powerpoint/2010/main" val="1417987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1</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2</a:t>
            </a:fld>
            <a:endParaRPr lang="en-IN" dirty="0"/>
          </a:p>
        </p:txBody>
      </p:sp>
    </p:spTree>
    <p:extLst>
      <p:ext uri="{BB962C8B-B14F-4D97-AF65-F5344CB8AC3E}">
        <p14:creationId xmlns:p14="http://schemas.microsoft.com/office/powerpoint/2010/main" val="2032212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Content: https://www.linkedin.com/pulse/chunking-strategies-ai-data-kash-kashyap-0lghe/</a:t>
            </a:r>
          </a:p>
          <a:p>
            <a:endParaRPr lang="en-IN" dirty="0"/>
          </a:p>
        </p:txBody>
      </p:sp>
      <p:sp>
        <p:nvSpPr>
          <p:cNvPr id="4" name="Slide Number Placeholder 3"/>
          <p:cNvSpPr>
            <a:spLocks noGrp="1"/>
          </p:cNvSpPr>
          <p:nvPr>
            <p:ph type="sldNum" sz="quarter" idx="5"/>
          </p:nvPr>
        </p:nvSpPr>
        <p:spPr/>
        <p:txBody>
          <a:bodyPr/>
          <a:lstStyle/>
          <a:p>
            <a:fld id="{37A3E4B8-F9DF-4F9A-BB59-93920507C31C}" type="slidenum">
              <a:rPr lang="en-IN" smtClean="0"/>
              <a:t>3</a:t>
            </a:fld>
            <a:endParaRPr lang="en-IN" dirty="0"/>
          </a:p>
        </p:txBody>
      </p:sp>
    </p:spTree>
    <p:extLst>
      <p:ext uri="{BB962C8B-B14F-4D97-AF65-F5344CB8AC3E}">
        <p14:creationId xmlns:p14="http://schemas.microsoft.com/office/powerpoint/2010/main" val="2032212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AFE4333-EDCB-768D-D694-4FA374C887C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xmlns="" id="{6FB8F6BA-A771-5199-B454-4137B42B82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xmlns="" id="{AB8C62A8-5E14-FA7C-D2D9-A91C5617AEE2}"/>
              </a:ext>
            </a:extLst>
          </p:cNvPr>
          <p:cNvSpPr>
            <a:spLocks noGrp="1"/>
          </p:cNvSpPr>
          <p:nvPr>
            <p:ph type="dt" sz="half" idx="10"/>
          </p:nvPr>
        </p:nvSpPr>
        <p:spPr/>
        <p:txBody>
          <a:bodyPr/>
          <a:lstStyle/>
          <a:p>
            <a:fld id="{617C7221-54BD-4A63-8AE7-749436A8A0E0}" type="datetime1">
              <a:rPr lang="en-US" smtClean="0"/>
              <a:t>2/25/2026</a:t>
            </a:fld>
            <a:endParaRPr lang="en-US" dirty="0"/>
          </a:p>
        </p:txBody>
      </p:sp>
      <p:sp>
        <p:nvSpPr>
          <p:cNvPr id="5" name="Footer Placeholder 4">
            <a:extLst>
              <a:ext uri="{FF2B5EF4-FFF2-40B4-BE49-F238E27FC236}">
                <a16:creationId xmlns:a16="http://schemas.microsoft.com/office/drawing/2014/main" xmlns="" id="{EA5CADB1-111D-22D3-EDB1-E043DC323ABF}"/>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a16="http://schemas.microsoft.com/office/drawing/2014/main" xmlns="" id="{D733105E-4498-96A3-0C5F-A5E579283B92}"/>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600095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AE6418-E00D-D82B-5A6A-A2532DB41F1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F63E6B97-B778-7455-F70C-FD8D34E3F3D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34537FB2-C318-A7C1-BABA-0AC6FA5B35AC}"/>
              </a:ext>
            </a:extLst>
          </p:cNvPr>
          <p:cNvSpPr>
            <a:spLocks noGrp="1"/>
          </p:cNvSpPr>
          <p:nvPr>
            <p:ph type="dt" sz="half" idx="10"/>
          </p:nvPr>
        </p:nvSpPr>
        <p:spPr/>
        <p:txBody>
          <a:bodyPr/>
          <a:lstStyle/>
          <a:p>
            <a:fld id="{15296570-B1EA-4487-BE32-F708B8E167B2}" type="datetime1">
              <a:rPr lang="en-US" smtClean="0"/>
              <a:t>2/25/2026</a:t>
            </a:fld>
            <a:endParaRPr lang="en-US" dirty="0"/>
          </a:p>
        </p:txBody>
      </p:sp>
      <p:sp>
        <p:nvSpPr>
          <p:cNvPr id="5" name="Footer Placeholder 4">
            <a:extLst>
              <a:ext uri="{FF2B5EF4-FFF2-40B4-BE49-F238E27FC236}">
                <a16:creationId xmlns:a16="http://schemas.microsoft.com/office/drawing/2014/main" xmlns="" id="{914FC2A1-527D-0AA9-D04D-3D2766CE0E10}"/>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a16="http://schemas.microsoft.com/office/drawing/2014/main" xmlns="" id="{81000CB2-5293-8DFA-B3B2-A0B592B4651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806395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C1FA87-C082-E0DD-3D37-67F1640E676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xmlns="" id="{1B5F515E-EB4A-D143-3D90-D5CB688823B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xmlns="" id="{88B15D29-75FB-CFE9-A973-A208274B95BA}"/>
              </a:ext>
            </a:extLst>
          </p:cNvPr>
          <p:cNvSpPr>
            <a:spLocks noGrp="1"/>
          </p:cNvSpPr>
          <p:nvPr>
            <p:ph type="dt" sz="half" idx="10"/>
          </p:nvPr>
        </p:nvSpPr>
        <p:spPr/>
        <p:txBody>
          <a:bodyPr/>
          <a:lstStyle/>
          <a:p>
            <a:fld id="{4F9442CB-DE38-41A3-9AEC-FC7F477AE398}" type="datetime1">
              <a:rPr lang="en-US" smtClean="0"/>
              <a:t>2/25/2026</a:t>
            </a:fld>
            <a:endParaRPr lang="en-US" dirty="0"/>
          </a:p>
        </p:txBody>
      </p:sp>
      <p:sp>
        <p:nvSpPr>
          <p:cNvPr id="5" name="Footer Placeholder 4">
            <a:extLst>
              <a:ext uri="{FF2B5EF4-FFF2-40B4-BE49-F238E27FC236}">
                <a16:creationId xmlns:a16="http://schemas.microsoft.com/office/drawing/2014/main" xmlns="" id="{E9168659-4604-1E12-A046-E65E9BFA0D3E}"/>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a16="http://schemas.microsoft.com/office/drawing/2014/main" xmlns="" id="{86A55C1A-5CB6-A517-F4CC-78B642B353A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4085473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F354BD7-8381-6AF7-2A34-97F11643219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745D5CF0-745C-8F39-DDFC-095163A6D86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xmlns="" id="{D6F0486A-0B81-6F67-77F7-3933C250588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xmlns="" id="{D29CEC8B-FF84-E5F1-CD4B-B7DEE25F0DBA}"/>
              </a:ext>
            </a:extLst>
          </p:cNvPr>
          <p:cNvSpPr>
            <a:spLocks noGrp="1"/>
          </p:cNvSpPr>
          <p:nvPr>
            <p:ph type="dt" sz="half" idx="10"/>
          </p:nvPr>
        </p:nvSpPr>
        <p:spPr/>
        <p:txBody>
          <a:bodyPr/>
          <a:lstStyle/>
          <a:p>
            <a:fld id="{4259B145-4D2C-4B0D-B0F3-3793104D85F9}" type="datetime1">
              <a:rPr lang="en-US" smtClean="0"/>
              <a:t>2/25/2026</a:t>
            </a:fld>
            <a:endParaRPr lang="en-US" dirty="0"/>
          </a:p>
        </p:txBody>
      </p:sp>
      <p:sp>
        <p:nvSpPr>
          <p:cNvPr id="6" name="Footer Placeholder 5">
            <a:extLst>
              <a:ext uri="{FF2B5EF4-FFF2-40B4-BE49-F238E27FC236}">
                <a16:creationId xmlns:a16="http://schemas.microsoft.com/office/drawing/2014/main" xmlns="" id="{083D1157-B890-E7C2-8551-9CFA55DF17F2}"/>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a16="http://schemas.microsoft.com/office/drawing/2014/main" xmlns="" id="{A6834098-4893-052D-13DF-57AA3726911C}"/>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503845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95ED4B-5B6D-B5E5-67B7-D97BFC6B16D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28083AD3-D8DD-C9C8-4A8D-6E90DEEDCC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xmlns="" id="{F610F8FC-1E86-8328-5873-1F1FD4540F2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xmlns="" id="{7171E56A-9B29-8C99-0F9B-DFA73577B4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xmlns="" id="{31551D20-42E2-AA82-6A29-ED75844F6FA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xmlns="" id="{12806B38-A61F-CFF2-455E-2A0DB1CBD281}"/>
              </a:ext>
            </a:extLst>
          </p:cNvPr>
          <p:cNvSpPr>
            <a:spLocks noGrp="1"/>
          </p:cNvSpPr>
          <p:nvPr>
            <p:ph type="dt" sz="half" idx="10"/>
          </p:nvPr>
        </p:nvSpPr>
        <p:spPr/>
        <p:txBody>
          <a:bodyPr/>
          <a:lstStyle/>
          <a:p>
            <a:fld id="{041CBCE3-C8C5-4329-ADE4-5F8D67D78882}" type="datetime1">
              <a:rPr lang="en-US" smtClean="0"/>
              <a:t>2/25/2026</a:t>
            </a:fld>
            <a:endParaRPr lang="en-US" dirty="0"/>
          </a:p>
        </p:txBody>
      </p:sp>
      <p:sp>
        <p:nvSpPr>
          <p:cNvPr id="8" name="Footer Placeholder 7">
            <a:extLst>
              <a:ext uri="{FF2B5EF4-FFF2-40B4-BE49-F238E27FC236}">
                <a16:creationId xmlns:a16="http://schemas.microsoft.com/office/drawing/2014/main" xmlns="" id="{0A1ADB39-BBED-F460-3284-9B01BBA78120}"/>
              </a:ext>
            </a:extLst>
          </p:cNvPr>
          <p:cNvSpPr>
            <a:spLocks noGrp="1"/>
          </p:cNvSpPr>
          <p:nvPr>
            <p:ph type="ftr" sz="quarter" idx="11"/>
          </p:nvPr>
        </p:nvSpPr>
        <p:spPr/>
        <p:txBody>
          <a:bodyPr/>
          <a:lstStyle/>
          <a:p>
            <a:r>
              <a:rPr lang="en-US" dirty="0"/>
              <a:t>Navigating the Future of Learning​</a:t>
            </a:r>
          </a:p>
        </p:txBody>
      </p:sp>
      <p:sp>
        <p:nvSpPr>
          <p:cNvPr id="9" name="Slide Number Placeholder 8">
            <a:extLst>
              <a:ext uri="{FF2B5EF4-FFF2-40B4-BE49-F238E27FC236}">
                <a16:creationId xmlns:a16="http://schemas.microsoft.com/office/drawing/2014/main" xmlns="" id="{BAE78CB4-F5B2-2F08-FCB4-B7EFC7D9B5DD}"/>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742097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207DB33-3161-3CA7-5DA9-9AEFA7BE3D9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xmlns="" id="{1B459199-60FE-8A27-4D17-58FA57F038D5}"/>
              </a:ext>
            </a:extLst>
          </p:cNvPr>
          <p:cNvSpPr>
            <a:spLocks noGrp="1"/>
          </p:cNvSpPr>
          <p:nvPr>
            <p:ph type="dt" sz="half" idx="10"/>
          </p:nvPr>
        </p:nvSpPr>
        <p:spPr/>
        <p:txBody>
          <a:bodyPr/>
          <a:lstStyle/>
          <a:p>
            <a:fld id="{EA95BDD6-391D-4D68-9A24-8E7CE46A4DC4}" type="datetime1">
              <a:rPr lang="en-US" smtClean="0"/>
              <a:t>2/25/2026</a:t>
            </a:fld>
            <a:endParaRPr lang="en-US" dirty="0"/>
          </a:p>
        </p:txBody>
      </p:sp>
      <p:sp>
        <p:nvSpPr>
          <p:cNvPr id="4" name="Footer Placeholder 3">
            <a:extLst>
              <a:ext uri="{FF2B5EF4-FFF2-40B4-BE49-F238E27FC236}">
                <a16:creationId xmlns:a16="http://schemas.microsoft.com/office/drawing/2014/main" xmlns="" id="{9B5772E0-839B-C3B1-7E64-0C8677352A57}"/>
              </a:ext>
            </a:extLst>
          </p:cNvPr>
          <p:cNvSpPr>
            <a:spLocks noGrp="1"/>
          </p:cNvSpPr>
          <p:nvPr>
            <p:ph type="ftr" sz="quarter" idx="11"/>
          </p:nvPr>
        </p:nvSpPr>
        <p:spPr/>
        <p:txBody>
          <a:bodyPr/>
          <a:lstStyle/>
          <a:p>
            <a:r>
              <a:rPr lang="en-US" dirty="0"/>
              <a:t>Navigating the Future of Learning​</a:t>
            </a:r>
          </a:p>
        </p:txBody>
      </p:sp>
      <p:sp>
        <p:nvSpPr>
          <p:cNvPr id="5" name="Slide Number Placeholder 4">
            <a:extLst>
              <a:ext uri="{FF2B5EF4-FFF2-40B4-BE49-F238E27FC236}">
                <a16:creationId xmlns:a16="http://schemas.microsoft.com/office/drawing/2014/main" xmlns="" id="{4F5A1759-598D-988C-8124-2E5044B1744E}"/>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461273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F271F3F0-F2B3-F675-7BAB-1AD2134ACD0F}"/>
              </a:ext>
            </a:extLst>
          </p:cNvPr>
          <p:cNvSpPr>
            <a:spLocks noGrp="1"/>
          </p:cNvSpPr>
          <p:nvPr>
            <p:ph type="dt" sz="half" idx="10"/>
          </p:nvPr>
        </p:nvSpPr>
        <p:spPr/>
        <p:txBody>
          <a:bodyPr/>
          <a:lstStyle/>
          <a:p>
            <a:fld id="{1B3E1E7A-3F60-43E8-97A9-E03FDFF3291A}" type="datetime1">
              <a:rPr lang="en-US" smtClean="0"/>
              <a:t>2/25/2026</a:t>
            </a:fld>
            <a:endParaRPr lang="en-US" dirty="0"/>
          </a:p>
        </p:txBody>
      </p:sp>
      <p:sp>
        <p:nvSpPr>
          <p:cNvPr id="3" name="Footer Placeholder 2">
            <a:extLst>
              <a:ext uri="{FF2B5EF4-FFF2-40B4-BE49-F238E27FC236}">
                <a16:creationId xmlns:a16="http://schemas.microsoft.com/office/drawing/2014/main" xmlns="" id="{1A44FB0A-DFB7-0737-F37C-440DCA486D73}"/>
              </a:ext>
            </a:extLst>
          </p:cNvPr>
          <p:cNvSpPr>
            <a:spLocks noGrp="1"/>
          </p:cNvSpPr>
          <p:nvPr>
            <p:ph type="ftr" sz="quarter" idx="11"/>
          </p:nvPr>
        </p:nvSpPr>
        <p:spPr/>
        <p:txBody>
          <a:bodyPr/>
          <a:lstStyle/>
          <a:p>
            <a:r>
              <a:rPr lang="en-US" dirty="0"/>
              <a:t>Navigating the Future of Learning​</a:t>
            </a:r>
          </a:p>
        </p:txBody>
      </p:sp>
      <p:sp>
        <p:nvSpPr>
          <p:cNvPr id="4" name="Slide Number Placeholder 3">
            <a:extLst>
              <a:ext uri="{FF2B5EF4-FFF2-40B4-BE49-F238E27FC236}">
                <a16:creationId xmlns:a16="http://schemas.microsoft.com/office/drawing/2014/main" xmlns="" id="{9E497C01-947E-5E24-DB3F-90342EF0A210}"/>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3104625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F41832-2691-E74A-0F3A-2DE9A6E44D8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xmlns="" id="{C94BD6CD-D7DC-A4E9-FD78-EA239F4F55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xmlns="" id="{54C0C722-544A-95F1-1DAD-FAD83B6633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xmlns="" id="{215BCDEF-8A4D-1FA5-888F-D5A3A2CEE9D4}"/>
              </a:ext>
            </a:extLst>
          </p:cNvPr>
          <p:cNvSpPr>
            <a:spLocks noGrp="1"/>
          </p:cNvSpPr>
          <p:nvPr>
            <p:ph type="dt" sz="half" idx="10"/>
          </p:nvPr>
        </p:nvSpPr>
        <p:spPr/>
        <p:txBody>
          <a:bodyPr/>
          <a:lstStyle/>
          <a:p>
            <a:fld id="{041F2EE0-C06F-41F5-AFE0-7056E3A01EDC}" type="datetime1">
              <a:rPr lang="en-US" smtClean="0"/>
              <a:t>2/25/2026</a:t>
            </a:fld>
            <a:endParaRPr lang="en-US" dirty="0"/>
          </a:p>
        </p:txBody>
      </p:sp>
      <p:sp>
        <p:nvSpPr>
          <p:cNvPr id="6" name="Footer Placeholder 5">
            <a:extLst>
              <a:ext uri="{FF2B5EF4-FFF2-40B4-BE49-F238E27FC236}">
                <a16:creationId xmlns:a16="http://schemas.microsoft.com/office/drawing/2014/main" xmlns="" id="{81C4BD8F-AAAC-F32F-ABC2-37A3D3BC6296}"/>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a16="http://schemas.microsoft.com/office/drawing/2014/main" xmlns="" id="{3DA79EF9-CB21-BEC5-2A25-591C945DD131}"/>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16712768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BACBD3-5050-C329-F415-3714918842F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xmlns="" id="{C4B2BE8C-8AFF-7B97-17DD-E10D476C82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xmlns="" id="{B6B1A6C9-352E-F0FC-857A-200063A76E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xmlns="" id="{996AEC32-A02D-AF36-A64E-290A392B42FC}"/>
              </a:ext>
            </a:extLst>
          </p:cNvPr>
          <p:cNvSpPr>
            <a:spLocks noGrp="1"/>
          </p:cNvSpPr>
          <p:nvPr>
            <p:ph type="dt" sz="half" idx="10"/>
          </p:nvPr>
        </p:nvSpPr>
        <p:spPr/>
        <p:txBody>
          <a:bodyPr/>
          <a:lstStyle/>
          <a:p>
            <a:fld id="{93A105E1-88D0-4311-A599-0C8A6973053A}" type="datetime1">
              <a:rPr lang="en-US" smtClean="0"/>
              <a:t>2/25/2026</a:t>
            </a:fld>
            <a:endParaRPr lang="en-US" dirty="0"/>
          </a:p>
        </p:txBody>
      </p:sp>
      <p:sp>
        <p:nvSpPr>
          <p:cNvPr id="6" name="Footer Placeholder 5">
            <a:extLst>
              <a:ext uri="{FF2B5EF4-FFF2-40B4-BE49-F238E27FC236}">
                <a16:creationId xmlns:a16="http://schemas.microsoft.com/office/drawing/2014/main" xmlns="" id="{26B0ECF5-F111-F43D-1DD0-2623EE225A1F}"/>
              </a:ext>
            </a:extLst>
          </p:cNvPr>
          <p:cNvSpPr>
            <a:spLocks noGrp="1"/>
          </p:cNvSpPr>
          <p:nvPr>
            <p:ph type="ftr" sz="quarter" idx="11"/>
          </p:nvPr>
        </p:nvSpPr>
        <p:spPr/>
        <p:txBody>
          <a:bodyPr/>
          <a:lstStyle/>
          <a:p>
            <a:r>
              <a:rPr lang="en-US" dirty="0"/>
              <a:t>Navigating the Future of Learning​</a:t>
            </a:r>
          </a:p>
        </p:txBody>
      </p:sp>
      <p:sp>
        <p:nvSpPr>
          <p:cNvPr id="7" name="Slide Number Placeholder 6">
            <a:extLst>
              <a:ext uri="{FF2B5EF4-FFF2-40B4-BE49-F238E27FC236}">
                <a16:creationId xmlns:a16="http://schemas.microsoft.com/office/drawing/2014/main" xmlns="" id="{A3ED8375-499D-DCA7-5D7B-91DD95B7F87A}"/>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4160511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AE933A4-C03D-26A7-C451-392D04E6A23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xmlns="" id="{C339E290-0E60-50DC-3A6D-AFC921C4E83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B1DDBB31-5065-A920-BCE3-A6379F318E85}"/>
              </a:ext>
            </a:extLst>
          </p:cNvPr>
          <p:cNvSpPr>
            <a:spLocks noGrp="1"/>
          </p:cNvSpPr>
          <p:nvPr>
            <p:ph type="dt" sz="half" idx="10"/>
          </p:nvPr>
        </p:nvSpPr>
        <p:spPr/>
        <p:txBody>
          <a:bodyPr/>
          <a:lstStyle/>
          <a:p>
            <a:fld id="{159EA562-091E-45D6-BEDF-3C68FB2023F1}" type="datetime1">
              <a:rPr lang="en-US" smtClean="0"/>
              <a:t>2/25/2026</a:t>
            </a:fld>
            <a:endParaRPr lang="en-US" dirty="0"/>
          </a:p>
        </p:txBody>
      </p:sp>
      <p:sp>
        <p:nvSpPr>
          <p:cNvPr id="5" name="Footer Placeholder 4">
            <a:extLst>
              <a:ext uri="{FF2B5EF4-FFF2-40B4-BE49-F238E27FC236}">
                <a16:creationId xmlns:a16="http://schemas.microsoft.com/office/drawing/2014/main" xmlns="" id="{8650F398-CC52-3E67-DDF6-C862313CC410}"/>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a16="http://schemas.microsoft.com/office/drawing/2014/main" xmlns="" id="{4272AE45-AD9E-08FA-1F71-75DFC9E00C85}"/>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2718351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0AF91D67-8C5B-5055-B5D2-6BAAE7E9503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xmlns="" id="{04D31080-7646-1B9C-C36F-D2F6BB87473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BDA404C4-6EA5-D815-E9B2-7CDBB94E9D0D}"/>
              </a:ext>
            </a:extLst>
          </p:cNvPr>
          <p:cNvSpPr>
            <a:spLocks noGrp="1"/>
          </p:cNvSpPr>
          <p:nvPr>
            <p:ph type="dt" sz="half" idx="10"/>
          </p:nvPr>
        </p:nvSpPr>
        <p:spPr/>
        <p:txBody>
          <a:bodyPr/>
          <a:lstStyle/>
          <a:p>
            <a:fld id="{DDF14D94-52B8-43E9-A8F3-BD9E24437DA3}" type="datetime1">
              <a:rPr lang="en-US" smtClean="0"/>
              <a:t>2/25/2026</a:t>
            </a:fld>
            <a:endParaRPr lang="en-US" dirty="0"/>
          </a:p>
        </p:txBody>
      </p:sp>
      <p:sp>
        <p:nvSpPr>
          <p:cNvPr id="5" name="Footer Placeholder 4">
            <a:extLst>
              <a:ext uri="{FF2B5EF4-FFF2-40B4-BE49-F238E27FC236}">
                <a16:creationId xmlns:a16="http://schemas.microsoft.com/office/drawing/2014/main" xmlns="" id="{97EFDD0D-44E3-A86F-6F17-A722DA9F5AB5}"/>
              </a:ext>
            </a:extLst>
          </p:cNvPr>
          <p:cNvSpPr>
            <a:spLocks noGrp="1"/>
          </p:cNvSpPr>
          <p:nvPr>
            <p:ph type="ftr" sz="quarter" idx="11"/>
          </p:nvPr>
        </p:nvSpPr>
        <p:spPr/>
        <p:txBody>
          <a:bodyPr/>
          <a:lstStyle/>
          <a:p>
            <a:r>
              <a:rPr lang="en-US" dirty="0"/>
              <a:t>Navigating the Future of Learning​</a:t>
            </a:r>
          </a:p>
        </p:txBody>
      </p:sp>
      <p:sp>
        <p:nvSpPr>
          <p:cNvPr id="6" name="Slide Number Placeholder 5">
            <a:extLst>
              <a:ext uri="{FF2B5EF4-FFF2-40B4-BE49-F238E27FC236}">
                <a16:creationId xmlns:a16="http://schemas.microsoft.com/office/drawing/2014/main" xmlns="" id="{83E417A5-F8F0-AA31-71DF-34D6584981BA}"/>
              </a:ext>
            </a:extLst>
          </p:cNvPr>
          <p:cNvSpPr>
            <a:spLocks noGrp="1"/>
          </p:cNvSpPr>
          <p:nvPr>
            <p:ph type="sldNum" sz="quarter" idx="12"/>
          </p:nvPr>
        </p:nvSpPr>
        <p:spPr/>
        <p:txBody>
          <a:bodyPr/>
          <a:lstStyle/>
          <a:p>
            <a:fld id="{BA3362F8-88F8-1F49-86F0-D11B2D99FEE0}" type="slidenum">
              <a:rPr lang="en-US" smtClean="0"/>
              <a:t>‹#›</a:t>
            </a:fld>
            <a:endParaRPr lang="en-US" dirty="0"/>
          </a:p>
        </p:txBody>
      </p:sp>
    </p:spTree>
    <p:extLst>
      <p:ext uri="{BB962C8B-B14F-4D97-AF65-F5344CB8AC3E}">
        <p14:creationId xmlns:p14="http://schemas.microsoft.com/office/powerpoint/2010/main" val="32997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39A89A0B-DE9F-F1C6-643E-DCA32D53C3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xmlns="" id="{3953DDAA-3094-DBCE-F38B-123FB91FDD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xmlns="" id="{8AF0BF9E-5E8A-1649-84DC-281A5BAAC4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BC827E-01D8-46AF-B9E0-11E08B19BA59}" type="datetime1">
              <a:rPr lang="en-US" smtClean="0"/>
              <a:t>2/25/2026</a:t>
            </a:fld>
            <a:endParaRPr lang="en-US" dirty="0"/>
          </a:p>
        </p:txBody>
      </p:sp>
      <p:sp>
        <p:nvSpPr>
          <p:cNvPr id="5" name="Footer Placeholder 4">
            <a:extLst>
              <a:ext uri="{FF2B5EF4-FFF2-40B4-BE49-F238E27FC236}">
                <a16:creationId xmlns:a16="http://schemas.microsoft.com/office/drawing/2014/main" xmlns="" id="{5BDEDD1E-16D6-9C67-B90A-3F23927ED3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Navigating the Future of Learning​</a:t>
            </a:r>
          </a:p>
        </p:txBody>
      </p:sp>
      <p:sp>
        <p:nvSpPr>
          <p:cNvPr id="6" name="Slide Number Placeholder 5">
            <a:extLst>
              <a:ext uri="{FF2B5EF4-FFF2-40B4-BE49-F238E27FC236}">
                <a16:creationId xmlns:a16="http://schemas.microsoft.com/office/drawing/2014/main" xmlns="" id="{B5FC0268-EDD9-BFDA-9A07-5241871BF4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A3362F8-88F8-1F49-86F0-D11B2D99FEE0}" type="slidenum">
              <a:rPr lang="en-US" smtClean="0"/>
              <a:t>‹#›</a:t>
            </a:fld>
            <a:endParaRPr lang="en-US" dirty="0"/>
          </a:p>
        </p:txBody>
      </p:sp>
    </p:spTree>
    <p:extLst>
      <p:ext uri="{BB962C8B-B14F-4D97-AF65-F5344CB8AC3E}">
        <p14:creationId xmlns:p14="http://schemas.microsoft.com/office/powerpoint/2010/main" val="20553676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9A00AC01-0D1B-4670-B29D-784BF9417E63}"/>
            </a:ext>
          </a:extLst>
        </p:cNvPr>
        <p:cNvGrpSpPr/>
        <p:nvPr/>
      </p:nvGrpSpPr>
      <p:grpSpPr>
        <a:xfrm>
          <a:off x="0" y="0"/>
          <a:ext cx="0" cy="0"/>
          <a:chOff x="0" y="0"/>
          <a:chExt cx="0" cy="0"/>
        </a:xfrm>
      </p:grpSpPr>
      <p:sp>
        <p:nvSpPr>
          <p:cNvPr id="6" name="Rectangle 5">
            <a:extLst>
              <a:ext uri="{FF2B5EF4-FFF2-40B4-BE49-F238E27FC236}">
                <a16:creationId xmlns="" xmlns:a16="http://schemas.microsoft.com/office/drawing/2014/main" id="{F42AC56F-B988-068F-5073-41D324EA661F}"/>
              </a:ext>
            </a:extLst>
          </p:cNvPr>
          <p:cNvSpPr/>
          <p:nvPr/>
        </p:nvSpPr>
        <p:spPr>
          <a:xfrm>
            <a:off x="0" y="0"/>
            <a:ext cx="1126638" cy="6858000"/>
          </a:xfrm>
          <a:prstGeom prst="rect">
            <a:avLst/>
          </a:prstGeom>
          <a:solidFill>
            <a:srgbClr val="D7C05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 xmlns:a16="http://schemas.microsoft.com/office/drawing/2014/main" id="{1C7ED88D-99A7-E7D0-D563-319B47D0A7A8}"/>
              </a:ext>
            </a:extLst>
          </p:cNvPr>
          <p:cNvSpPr/>
          <p:nvPr/>
        </p:nvSpPr>
        <p:spPr>
          <a:xfrm>
            <a:off x="565288" y="-1"/>
            <a:ext cx="549447" cy="685800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 xmlns:a16="http://schemas.microsoft.com/office/drawing/2014/main" id="{86D9703F-8E7B-39E7-D187-C45F9BE29396}"/>
              </a:ext>
            </a:extLst>
          </p:cNvPr>
          <p:cNvSpPr txBox="1"/>
          <p:nvPr/>
        </p:nvSpPr>
        <p:spPr>
          <a:xfrm>
            <a:off x="601006" y="42717"/>
            <a:ext cx="442291" cy="707886"/>
          </a:xfrm>
          <a:prstGeom prst="rect">
            <a:avLst/>
          </a:prstGeom>
          <a:noFill/>
        </p:spPr>
        <p:txBody>
          <a:bodyPr wrap="square" rtlCol="0">
            <a:spAutoFit/>
          </a:bodyPr>
          <a:lstStyle/>
          <a:p>
            <a:r>
              <a:rPr lang="el-GR" sz="4000">
                <a:solidFill>
                  <a:srgbClr val="D7C055"/>
                </a:solidFill>
              </a:rPr>
              <a:t>π</a:t>
            </a:r>
            <a:endParaRPr lang="en-US" sz="4000" dirty="0">
              <a:solidFill>
                <a:srgbClr val="D7C055"/>
              </a:solidFill>
            </a:endParaRPr>
          </a:p>
        </p:txBody>
      </p:sp>
      <p:cxnSp>
        <p:nvCxnSpPr>
          <p:cNvPr id="3" name="Straight Connector 2"/>
          <p:cNvCxnSpPr/>
          <p:nvPr/>
        </p:nvCxnSpPr>
        <p:spPr>
          <a:xfrm>
            <a:off x="6141493" y="1535723"/>
            <a:ext cx="13648" cy="5322277"/>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126638" y="1038851"/>
            <a:ext cx="10936408"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3" name="Google Shape;143;p1">
            <a:extLst>
              <a:ext uri="{FF2B5EF4-FFF2-40B4-BE49-F238E27FC236}">
                <a16:creationId xmlns="" xmlns:a16="http://schemas.microsoft.com/office/drawing/2014/main" id="{E4949A97-DC03-56A5-2E5A-3DD3913AA0EF}"/>
              </a:ext>
            </a:extLst>
          </p:cNvPr>
          <p:cNvSpPr txBox="1">
            <a:spLocks noGrp="1"/>
          </p:cNvSpPr>
          <p:nvPr/>
        </p:nvSpPr>
        <p:spPr>
          <a:xfrm>
            <a:off x="1218079" y="1"/>
            <a:ext cx="3911146" cy="769318"/>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5400"/>
              <a:buFont typeface="Arial"/>
              <a:buNone/>
              <a:defRPr sz="54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3600" b="1" dirty="0" smtClean="0">
                <a:latin typeface="Bahnschrift" pitchFamily="34" charset="0"/>
              </a:rPr>
              <a:t>Structured Output</a:t>
            </a:r>
            <a:endParaRPr lang="it-IT" sz="3200" b="1" dirty="0">
              <a:solidFill>
                <a:schemeClr val="tx1"/>
              </a:solidFill>
              <a:latin typeface="Bahnschrift" pitchFamily="34" charset="0"/>
            </a:endParaRPr>
          </a:p>
        </p:txBody>
      </p:sp>
      <p:pic>
        <p:nvPicPr>
          <p:cNvPr id="2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1" y="1"/>
            <a:ext cx="1407439" cy="1166386"/>
          </a:xfrm>
          <a:prstGeom prst="rect">
            <a:avLst/>
          </a:prstGeom>
          <a:noFill/>
          <a:ln>
            <a:noFill/>
          </a:ln>
          <a:effectLst>
            <a:outerShdw dist="35921" dir="2700000" algn="ctr" rotWithShape="0">
              <a:schemeClr val="bg2"/>
            </a:outerShdw>
            <a:softEdge rad="317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24">
            <a:extLst>
              <a:ext uri="{FF2B5EF4-FFF2-40B4-BE49-F238E27FC236}">
                <a16:creationId xmlns="" xmlns:a16="http://schemas.microsoft.com/office/drawing/2014/main" id="{8E4B4487-5609-54AF-1FCA-AB3F6B737A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40480" y="68926"/>
            <a:ext cx="2422566" cy="93841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411165" y="677208"/>
            <a:ext cx="1204176" cy="338554"/>
          </a:xfrm>
          <a:prstGeom prst="rect">
            <a:avLst/>
          </a:prstGeom>
          <a:solidFill>
            <a:schemeClr val="bg1"/>
          </a:solidFill>
        </p:spPr>
        <p:txBody>
          <a:bodyPr wrap="none" rtlCol="0">
            <a:spAutoFit/>
          </a:bodyPr>
          <a:lstStyle/>
          <a:p>
            <a:r>
              <a:rPr lang="it-IT" sz="1600" b="1" dirty="0">
                <a:latin typeface="Segoe UI Black" pitchFamily="34" charset="0"/>
                <a:ea typeface="Segoe UI Black" pitchFamily="34" charset="0"/>
              </a:rPr>
              <a:t>Langchain</a:t>
            </a:r>
            <a:endParaRPr lang="en-IN" sz="1600" dirty="0">
              <a:latin typeface="Arial Rounded MT Bold" pitchFamily="34" charset="0"/>
            </a:endParaRPr>
          </a:p>
        </p:txBody>
      </p:sp>
      <p:grpSp>
        <p:nvGrpSpPr>
          <p:cNvPr id="2" name="Group 1"/>
          <p:cNvGrpSpPr/>
          <p:nvPr/>
        </p:nvGrpSpPr>
        <p:grpSpPr>
          <a:xfrm>
            <a:off x="1506797" y="1315060"/>
            <a:ext cx="2474730" cy="885399"/>
            <a:chOff x="1506796" y="2638893"/>
            <a:chExt cx="2474730" cy="885399"/>
          </a:xfrm>
        </p:grpSpPr>
        <p:sp>
          <p:nvSpPr>
            <p:cNvPr id="17" name="TextBox 16"/>
            <p:cNvSpPr txBox="1"/>
            <p:nvPr/>
          </p:nvSpPr>
          <p:spPr>
            <a:xfrm>
              <a:off x="1506796" y="2638893"/>
              <a:ext cx="2474729" cy="276999"/>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r>
                <a:rPr lang="en-US" sz="1200" dirty="0" smtClean="0">
                  <a:latin typeface="Bahnschrift SemiLight" pitchFamily="34" charset="0"/>
                </a:rPr>
                <a:t>TypedDict</a:t>
              </a:r>
              <a:endParaRPr lang="en-IN" sz="1200" dirty="0">
                <a:latin typeface="Bahnschrift Light" pitchFamily="34" charset="0"/>
                <a:ea typeface="Arial Unicode MS" pitchFamily="34" charset="-128"/>
                <a:cs typeface="Arial Unicode MS" pitchFamily="34" charset="-128"/>
              </a:endParaRPr>
            </a:p>
          </p:txBody>
        </p:sp>
        <p:sp>
          <p:nvSpPr>
            <p:cNvPr id="19" name="TextBox 18"/>
            <p:cNvSpPr txBox="1"/>
            <p:nvPr/>
          </p:nvSpPr>
          <p:spPr>
            <a:xfrm>
              <a:off x="1506797" y="2943813"/>
              <a:ext cx="2474729" cy="276999"/>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r>
                <a:rPr lang="en-US" sz="1200" dirty="0" smtClean="0">
                  <a:latin typeface="Bahnschrift SemiLight" pitchFamily="34" charset="0"/>
                </a:rPr>
                <a:t>Pydantic</a:t>
              </a:r>
              <a:endParaRPr lang="en-IN" sz="1200" dirty="0">
                <a:latin typeface="Bahnschrift Light" pitchFamily="34" charset="0"/>
                <a:ea typeface="Arial Unicode MS" pitchFamily="34" charset="-128"/>
                <a:cs typeface="Arial Unicode MS" pitchFamily="34" charset="-128"/>
              </a:endParaRPr>
            </a:p>
          </p:txBody>
        </p:sp>
        <p:sp>
          <p:nvSpPr>
            <p:cNvPr id="20" name="TextBox 19"/>
            <p:cNvSpPr txBox="1"/>
            <p:nvPr/>
          </p:nvSpPr>
          <p:spPr>
            <a:xfrm>
              <a:off x="1506797" y="3247293"/>
              <a:ext cx="2474729" cy="276999"/>
            </a:xfrm>
            <a:prstGeom prst="rect">
              <a:avLst/>
            </a:prstGeom>
            <a:solidFill>
              <a:schemeClr val="accent1">
                <a:lumMod val="20000"/>
                <a:lumOff val="80000"/>
              </a:schemeClr>
            </a:solidFill>
            <a:ln>
              <a:solidFill>
                <a:schemeClr val="bg1">
                  <a:lumMod val="75000"/>
                </a:schemeClr>
              </a:solidFill>
            </a:ln>
          </p:spPr>
          <p:txBody>
            <a:bodyPr wrap="square" rtlCol="0">
              <a:spAutoFit/>
            </a:bodyPr>
            <a:lstStyle/>
            <a:p>
              <a:r>
                <a:rPr lang="en-US" sz="1200" dirty="0" smtClean="0">
                  <a:latin typeface="Bahnschrift SemiLight" pitchFamily="34" charset="0"/>
                </a:rPr>
                <a:t>Structuredoutput</a:t>
              </a:r>
              <a:endParaRPr lang="en-IN" sz="1200" dirty="0">
                <a:latin typeface="Bahnschrift Light" pitchFamily="34" charset="0"/>
                <a:ea typeface="Arial Unicode MS" pitchFamily="34" charset="-128"/>
                <a:cs typeface="Arial Unicode MS" pitchFamily="34" charset="-128"/>
              </a:endParaRPr>
            </a:p>
          </p:txBody>
        </p:sp>
      </p:grpSp>
    </p:spTree>
    <p:extLst>
      <p:ext uri="{BB962C8B-B14F-4D97-AF65-F5344CB8AC3E}">
        <p14:creationId xmlns:p14="http://schemas.microsoft.com/office/powerpoint/2010/main" val="30536787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2" name="Google Shape;149;p2">
            <a:extLst>
              <a:ext uri="{FF2B5EF4-FFF2-40B4-BE49-F238E27FC236}">
                <a16:creationId xmlns:a16="http://schemas.microsoft.com/office/drawing/2014/main" xmlns="" id="{038532CF-66C3-65D3-7D34-1709FB126FDA}"/>
              </a:ext>
            </a:extLst>
          </p:cNvPr>
          <p:cNvSpPr txBox="1">
            <a:spLocks noGrp="1"/>
          </p:cNvSpPr>
          <p:nvPr/>
        </p:nvSpPr>
        <p:spPr>
          <a:xfrm>
            <a:off x="181609" y="39183"/>
            <a:ext cx="2215227" cy="752908"/>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1800"/>
              <a:buFont typeface="Arial"/>
              <a:buNone/>
              <a:defRPr sz="36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3600"/>
            </a:pPr>
            <a:r>
              <a:rPr lang="en-IN" b="1" dirty="0">
                <a:solidFill>
                  <a:srgbClr val="7030A0"/>
                </a:solidFill>
                <a:latin typeface="Bahnschrift" pitchFamily="34" charset="0"/>
                <a:ea typeface="+mj-ea"/>
                <a:cs typeface="+mj-cs"/>
              </a:rPr>
              <a:t>TypedDict</a:t>
            </a:r>
          </a:p>
        </p:txBody>
      </p:sp>
      <p:grpSp>
        <p:nvGrpSpPr>
          <p:cNvPr id="3" name="Group 2"/>
          <p:cNvGrpSpPr/>
          <p:nvPr/>
        </p:nvGrpSpPr>
        <p:grpSpPr>
          <a:xfrm>
            <a:off x="1985693" y="3352880"/>
            <a:ext cx="8822508" cy="1613991"/>
            <a:chOff x="2193510" y="2440786"/>
            <a:chExt cx="8822508" cy="1613991"/>
          </a:xfrm>
        </p:grpSpPr>
        <p:sp>
          <p:nvSpPr>
            <p:cNvPr id="5" name="Rectangle 4"/>
            <p:cNvSpPr/>
            <p:nvPr/>
          </p:nvSpPr>
          <p:spPr>
            <a:xfrm>
              <a:off x="2207364" y="2440786"/>
              <a:ext cx="8808654" cy="369332"/>
            </a:xfrm>
            <a:prstGeom prst="rect">
              <a:avLst/>
            </a:prstGeom>
            <a:solidFill>
              <a:schemeClr val="bg2">
                <a:lumMod val="25000"/>
              </a:schemeClr>
            </a:solidFill>
            <a:ln>
              <a:noFill/>
            </a:ln>
          </p:spPr>
          <p:txBody>
            <a:bodyPr wrap="square">
              <a:spAutoFit/>
            </a:bodyPr>
            <a:lstStyle/>
            <a:p>
              <a:r>
                <a:rPr lang="en-IN" dirty="0">
                  <a:solidFill>
                    <a:schemeClr val="bg1"/>
                  </a:solidFill>
                </a:rPr>
                <a:t>from</a:t>
              </a:r>
              <a:r>
                <a:rPr lang="en-IN" dirty="0">
                  <a:solidFill>
                    <a:srgbClr val="7030A0"/>
                  </a:solidFill>
                </a:rPr>
                <a:t> </a:t>
              </a:r>
              <a:r>
                <a:rPr lang="en-IN" dirty="0">
                  <a:solidFill>
                    <a:schemeClr val="accent5"/>
                  </a:solidFill>
                </a:rPr>
                <a:t>typing </a:t>
              </a:r>
              <a:r>
                <a:rPr lang="en-IN" dirty="0">
                  <a:solidFill>
                    <a:schemeClr val="bg1"/>
                  </a:solidFill>
                </a:rPr>
                <a:t>import </a:t>
              </a:r>
              <a:r>
                <a:rPr lang="en-IN" dirty="0" smtClean="0">
                  <a:solidFill>
                    <a:schemeClr val="bg1"/>
                  </a:solidFill>
                </a:rPr>
                <a:t> </a:t>
              </a:r>
              <a:r>
                <a:rPr lang="en-IN" dirty="0" smtClean="0">
                  <a:solidFill>
                    <a:schemeClr val="accent5"/>
                  </a:solidFill>
                </a:rPr>
                <a:t>TypedDict , Annotated , Literal</a:t>
              </a:r>
              <a:endParaRPr lang="en-IN" dirty="0">
                <a:solidFill>
                  <a:schemeClr val="accent5"/>
                </a:solidFill>
              </a:endParaRPr>
            </a:p>
          </p:txBody>
        </p:sp>
        <p:sp>
          <p:nvSpPr>
            <p:cNvPr id="9" name="Rectangle 8"/>
            <p:cNvSpPr/>
            <p:nvPr/>
          </p:nvSpPr>
          <p:spPr>
            <a:xfrm>
              <a:off x="2193510" y="2854448"/>
              <a:ext cx="8808654" cy="1200329"/>
            </a:xfrm>
            <a:prstGeom prst="rect">
              <a:avLst/>
            </a:prstGeom>
            <a:solidFill>
              <a:schemeClr val="bg2">
                <a:lumMod val="25000"/>
              </a:schemeClr>
            </a:solidFill>
            <a:ln>
              <a:solidFill>
                <a:schemeClr val="accent3">
                  <a:lumMod val="20000"/>
                  <a:lumOff val="80000"/>
                </a:schemeClr>
              </a:solidFill>
            </a:ln>
          </p:spPr>
          <p:txBody>
            <a:bodyPr wrap="square">
              <a:spAutoFit/>
            </a:bodyPr>
            <a:lstStyle/>
            <a:p>
              <a:r>
                <a:rPr lang="en-US" dirty="0">
                  <a:solidFill>
                    <a:srgbClr val="00B0F0"/>
                  </a:solidFill>
                </a:rPr>
                <a:t>class</a:t>
              </a:r>
              <a:r>
                <a:rPr lang="en-US" dirty="0"/>
                <a:t> </a:t>
              </a:r>
              <a:r>
                <a:rPr lang="en-US" dirty="0">
                  <a:solidFill>
                    <a:srgbClr val="0070C0"/>
                  </a:solidFill>
                </a:rPr>
                <a:t>review</a:t>
              </a:r>
              <a:r>
                <a:rPr lang="en-US" dirty="0">
                  <a:solidFill>
                    <a:schemeClr val="accent2"/>
                  </a:solidFill>
                </a:rPr>
                <a:t>(</a:t>
              </a:r>
              <a:r>
                <a:rPr lang="en-US" dirty="0">
                  <a:solidFill>
                    <a:srgbClr val="0070C0"/>
                  </a:solidFill>
                </a:rPr>
                <a:t>TypedDict</a:t>
              </a:r>
              <a:r>
                <a:rPr lang="en-US" dirty="0">
                  <a:solidFill>
                    <a:schemeClr val="accent2"/>
                  </a:solidFill>
                </a:rPr>
                <a:t>):</a:t>
              </a:r>
            </a:p>
            <a:p>
              <a:r>
                <a:rPr lang="en-US" dirty="0"/>
                <a:t>    </a:t>
              </a:r>
              <a:r>
                <a:rPr lang="en-US" dirty="0">
                  <a:solidFill>
                    <a:srgbClr val="00B0F0"/>
                  </a:solidFill>
                </a:rPr>
                <a:t>summary</a:t>
              </a:r>
              <a:r>
                <a:rPr lang="en-US" dirty="0" smtClean="0">
                  <a:solidFill>
                    <a:schemeClr val="bg1"/>
                  </a:solidFill>
                </a:rPr>
                <a:t>: </a:t>
              </a:r>
              <a:r>
                <a:rPr lang="en-US" dirty="0" smtClean="0">
                  <a:solidFill>
                    <a:srgbClr val="0070C0"/>
                  </a:solidFill>
                </a:rPr>
                <a:t>str</a:t>
              </a:r>
              <a:endParaRPr lang="en-US" dirty="0">
                <a:solidFill>
                  <a:srgbClr val="0070C0"/>
                </a:solidFill>
              </a:endParaRPr>
            </a:p>
            <a:p>
              <a:r>
                <a:rPr lang="en-US" dirty="0"/>
                <a:t>    </a:t>
              </a:r>
              <a:r>
                <a:rPr lang="en-US" dirty="0">
                  <a:solidFill>
                    <a:srgbClr val="00B0F0"/>
                  </a:solidFill>
                </a:rPr>
                <a:t>sentiment</a:t>
              </a:r>
              <a:r>
                <a:rPr lang="en-US" dirty="0" smtClean="0">
                  <a:solidFill>
                    <a:schemeClr val="bg1"/>
                  </a:solidFill>
                </a:rPr>
                <a:t>:</a:t>
              </a:r>
              <a:r>
                <a:rPr lang="en-US" dirty="0" smtClean="0"/>
                <a:t> </a:t>
              </a:r>
              <a:r>
                <a:rPr lang="en-US" dirty="0" smtClean="0">
                  <a:solidFill>
                    <a:srgbClr val="0070C0"/>
                  </a:solidFill>
                </a:rPr>
                <a:t>str</a:t>
              </a:r>
              <a:endParaRPr lang="en-US" dirty="0">
                <a:solidFill>
                  <a:srgbClr val="0070C0"/>
                </a:solidFill>
              </a:endParaRPr>
            </a:p>
            <a:p>
              <a:r>
                <a:rPr lang="en-US" dirty="0"/>
                <a:t>    </a:t>
              </a:r>
              <a:r>
                <a:rPr lang="en-US" dirty="0">
                  <a:solidFill>
                    <a:srgbClr val="00B0F0"/>
                  </a:solidFill>
                </a:rPr>
                <a:t>IsokorNot</a:t>
              </a:r>
              <a:r>
                <a:rPr lang="en-US" dirty="0">
                  <a:solidFill>
                    <a:schemeClr val="bg1"/>
                  </a:solidFill>
                </a:rPr>
                <a:t>:</a:t>
              </a:r>
              <a:r>
                <a:rPr lang="en-US" dirty="0"/>
                <a:t> </a:t>
              </a:r>
              <a:r>
                <a:rPr lang="en-US" dirty="0">
                  <a:solidFill>
                    <a:srgbClr val="0070C0"/>
                  </a:solidFill>
                </a:rPr>
                <a:t>Annotated</a:t>
              </a:r>
              <a:r>
                <a:rPr lang="en-US" dirty="0">
                  <a:solidFill>
                    <a:schemeClr val="accent2"/>
                  </a:solidFill>
                </a:rPr>
                <a:t>[</a:t>
              </a:r>
              <a:r>
                <a:rPr lang="en-US" dirty="0">
                  <a:solidFill>
                    <a:srgbClr val="0070C0"/>
                  </a:solidFill>
                </a:rPr>
                <a:t>Literal</a:t>
              </a:r>
              <a:r>
                <a:rPr lang="en-US" dirty="0">
                  <a:solidFill>
                    <a:schemeClr val="accent2">
                      <a:lumMod val="60000"/>
                      <a:lumOff val="40000"/>
                    </a:schemeClr>
                  </a:solidFill>
                </a:rPr>
                <a:t>["yes","no"],"Provide sentiment in either Yes or No "]</a:t>
              </a:r>
            </a:p>
          </p:txBody>
        </p:sp>
      </p:grpSp>
      <p:sp>
        <p:nvSpPr>
          <p:cNvPr id="6" name="Rectangle 5"/>
          <p:cNvSpPr/>
          <p:nvPr/>
        </p:nvSpPr>
        <p:spPr>
          <a:xfrm>
            <a:off x="501837" y="936254"/>
            <a:ext cx="11011290" cy="584775"/>
          </a:xfrm>
          <a:prstGeom prst="rect">
            <a:avLst/>
          </a:prstGeom>
        </p:spPr>
        <p:txBody>
          <a:bodyPr wrap="square">
            <a:spAutoFit/>
          </a:bodyPr>
          <a:lstStyle/>
          <a:p>
            <a:r>
              <a:rPr lang="en-US" sz="1600" b="1" dirty="0">
                <a:solidFill>
                  <a:schemeClr val="accent1"/>
                </a:solidFill>
              </a:rPr>
              <a:t>TypedDict</a:t>
            </a:r>
            <a:r>
              <a:rPr lang="en-US" sz="1600" dirty="0"/>
              <a:t> is a way to define a dictionary in Python where you specify what keys and values should exist. It </a:t>
            </a:r>
            <a:r>
              <a:rPr lang="en-US" sz="1600" dirty="0" smtClean="0"/>
              <a:t>just ensure </a:t>
            </a:r>
            <a:r>
              <a:rPr lang="en-US" sz="1600" dirty="0"/>
              <a:t>that your dictionary follows a specific structure.</a:t>
            </a:r>
            <a:endParaRPr lang="en-IN" sz="1600" dirty="0"/>
          </a:p>
        </p:txBody>
      </p:sp>
      <p:grpSp>
        <p:nvGrpSpPr>
          <p:cNvPr id="10" name="Group 9"/>
          <p:cNvGrpSpPr/>
          <p:nvPr/>
        </p:nvGrpSpPr>
        <p:grpSpPr>
          <a:xfrm>
            <a:off x="1122247" y="1747244"/>
            <a:ext cx="9532646" cy="986308"/>
            <a:chOff x="1122247" y="1747244"/>
            <a:chExt cx="9532646" cy="986308"/>
          </a:xfrm>
        </p:grpSpPr>
        <p:sp>
          <p:nvSpPr>
            <p:cNvPr id="7" name="Rectangle 6"/>
            <p:cNvSpPr/>
            <p:nvPr/>
          </p:nvSpPr>
          <p:spPr>
            <a:xfrm>
              <a:off x="1122247" y="1747244"/>
              <a:ext cx="2042547" cy="338554"/>
            </a:xfrm>
            <a:prstGeom prst="rect">
              <a:avLst/>
            </a:prstGeom>
          </p:spPr>
          <p:txBody>
            <a:bodyPr wrap="none">
              <a:spAutoFit/>
            </a:bodyPr>
            <a:lstStyle/>
            <a:p>
              <a:r>
                <a:rPr lang="en-IN" sz="1600" dirty="0">
                  <a:solidFill>
                    <a:srgbClr val="0070C0"/>
                  </a:solidFill>
                  <a:latin typeface="Bahnschrift" pitchFamily="34" charset="0"/>
                </a:rPr>
                <a:t>Why use </a:t>
              </a:r>
              <a:r>
                <a:rPr lang="en-IN" sz="1600" dirty="0" smtClean="0">
                  <a:solidFill>
                    <a:srgbClr val="0070C0"/>
                  </a:solidFill>
                  <a:latin typeface="Bahnschrift" pitchFamily="34" charset="0"/>
                </a:rPr>
                <a:t>TypedDict ?</a:t>
              </a:r>
              <a:endParaRPr lang="en-IN" sz="1600" dirty="0">
                <a:solidFill>
                  <a:srgbClr val="0070C0"/>
                </a:solidFill>
                <a:latin typeface="Bahnschrift" pitchFamily="34" charset="0"/>
              </a:endParaRPr>
            </a:p>
          </p:txBody>
        </p:sp>
        <p:sp>
          <p:nvSpPr>
            <p:cNvPr id="8" name="Rectangle 1"/>
            <p:cNvSpPr>
              <a:spLocks noChangeArrowheads="1"/>
            </p:cNvSpPr>
            <p:nvPr/>
          </p:nvSpPr>
          <p:spPr bwMode="auto">
            <a:xfrm rot="10800000" flipV="1">
              <a:off x="1676398" y="2148777"/>
              <a:ext cx="897849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1" fontAlgn="base" latinLnBrk="0" hangingPunct="1">
                <a:lnSpc>
                  <a:spcPct val="100000"/>
                </a:lnSpc>
                <a:spcBef>
                  <a:spcPct val="0"/>
                </a:spcBef>
                <a:spcAft>
                  <a:spcPct val="0"/>
                </a:spcAft>
                <a:buClrTx/>
                <a:buSzTx/>
                <a:buFont typeface="Wingdings" pitchFamily="2" charset="2"/>
                <a:buChar char="§"/>
                <a:tabLst/>
              </a:pPr>
              <a:r>
                <a:rPr lang="en-US" sz="1600" dirty="0"/>
                <a:t>It tells Python what keys are required and what types of values they should have.</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
                <a:tabLst/>
              </a:pPr>
              <a:r>
                <a:rPr lang="en-US" sz="1600" dirty="0"/>
                <a:t>It does not validate data at runtime (it just helps with type hints for better coding).</a:t>
              </a:r>
            </a:p>
          </p:txBody>
        </p:sp>
      </p:grpSp>
    </p:spTree>
    <p:extLst>
      <p:ext uri="{BB962C8B-B14F-4D97-AF65-F5344CB8AC3E}">
        <p14:creationId xmlns:p14="http://schemas.microsoft.com/office/powerpoint/2010/main" val="4228965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A00AC01-0D1B-4670-B29D-784BF9417E63}"/>
            </a:ext>
          </a:extLst>
        </p:cNvPr>
        <p:cNvGrpSpPr/>
        <p:nvPr/>
      </p:nvGrpSpPr>
      <p:grpSpPr>
        <a:xfrm>
          <a:off x="0" y="0"/>
          <a:ext cx="0" cy="0"/>
          <a:chOff x="0" y="0"/>
          <a:chExt cx="0" cy="0"/>
        </a:xfrm>
      </p:grpSpPr>
      <p:sp>
        <p:nvSpPr>
          <p:cNvPr id="2" name="Google Shape;149;p2">
            <a:extLst>
              <a:ext uri="{FF2B5EF4-FFF2-40B4-BE49-F238E27FC236}">
                <a16:creationId xmlns:a16="http://schemas.microsoft.com/office/drawing/2014/main" xmlns="" id="{038532CF-66C3-65D3-7D34-1709FB126FDA}"/>
              </a:ext>
            </a:extLst>
          </p:cNvPr>
          <p:cNvSpPr txBox="1">
            <a:spLocks noGrp="1"/>
          </p:cNvSpPr>
          <p:nvPr/>
        </p:nvSpPr>
        <p:spPr>
          <a:xfrm>
            <a:off x="597274" y="2554"/>
            <a:ext cx="2078929" cy="778599"/>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343F49"/>
              </a:buClr>
              <a:buSzPts val="1800"/>
              <a:buFont typeface="Arial"/>
              <a:buNone/>
              <a:defRPr sz="3600" b="0" i="0" u="none" strike="noStrike" cap="none">
                <a:solidFill>
                  <a:srgbClr val="343F49"/>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3600"/>
            </a:pPr>
            <a:r>
              <a:rPr lang="en-IN" b="1" dirty="0" smtClean="0">
                <a:solidFill>
                  <a:srgbClr val="0070C0"/>
                </a:solidFill>
                <a:latin typeface="Bahnschrift" pitchFamily="34" charset="0"/>
              </a:rPr>
              <a:t>Pydantic</a:t>
            </a:r>
            <a:endParaRPr lang="en-IN" b="1" dirty="0">
              <a:solidFill>
                <a:schemeClr val="tx1"/>
              </a:solidFill>
              <a:latin typeface="+mj-lt"/>
              <a:ea typeface="+mj-ea"/>
              <a:cs typeface="+mj-cs"/>
            </a:endParaRPr>
          </a:p>
        </p:txBody>
      </p:sp>
      <p:sp>
        <p:nvSpPr>
          <p:cNvPr id="3" name="Rectangle 2"/>
          <p:cNvSpPr/>
          <p:nvPr/>
        </p:nvSpPr>
        <p:spPr>
          <a:xfrm>
            <a:off x="2826328" y="1772148"/>
            <a:ext cx="6096000" cy="646331"/>
          </a:xfrm>
          <a:prstGeom prst="rect">
            <a:avLst/>
          </a:prstGeom>
          <a:ln>
            <a:solidFill>
              <a:schemeClr val="bg1">
                <a:lumMod val="95000"/>
              </a:schemeClr>
            </a:solidFill>
          </a:ln>
        </p:spPr>
        <p:txBody>
          <a:bodyPr>
            <a:spAutoFit/>
          </a:bodyPr>
          <a:lstStyle/>
          <a:p>
            <a:r>
              <a:rPr lang="en-US" dirty="0">
                <a:solidFill>
                  <a:srgbClr val="FF0066"/>
                </a:solidFill>
              </a:rPr>
              <a:t>from</a:t>
            </a:r>
            <a:r>
              <a:rPr lang="en-US" dirty="0"/>
              <a:t> </a:t>
            </a:r>
            <a:r>
              <a:rPr lang="en-US" dirty="0" smtClean="0"/>
              <a:t> </a:t>
            </a:r>
            <a:r>
              <a:rPr lang="en-US" dirty="0" smtClean="0">
                <a:solidFill>
                  <a:srgbClr val="7030A0"/>
                </a:solidFill>
              </a:rPr>
              <a:t>pydantic</a:t>
            </a:r>
            <a:r>
              <a:rPr lang="en-US" dirty="0" smtClean="0"/>
              <a:t>   </a:t>
            </a:r>
            <a:r>
              <a:rPr lang="en-US" dirty="0" smtClean="0">
                <a:solidFill>
                  <a:srgbClr val="FF0066"/>
                </a:solidFill>
              </a:rPr>
              <a:t>import  </a:t>
            </a:r>
            <a:r>
              <a:rPr lang="en-US" dirty="0">
                <a:solidFill>
                  <a:srgbClr val="0070C0"/>
                </a:solidFill>
              </a:rPr>
              <a:t>BaseModel,Field</a:t>
            </a:r>
          </a:p>
          <a:p>
            <a:r>
              <a:rPr lang="en-US" dirty="0">
                <a:solidFill>
                  <a:srgbClr val="FF0066"/>
                </a:solidFill>
              </a:rPr>
              <a:t>from </a:t>
            </a:r>
            <a:r>
              <a:rPr lang="en-US" dirty="0" smtClean="0">
                <a:solidFill>
                  <a:srgbClr val="FF0066"/>
                </a:solidFill>
              </a:rPr>
              <a:t> </a:t>
            </a:r>
            <a:r>
              <a:rPr lang="en-US" dirty="0" smtClean="0">
                <a:solidFill>
                  <a:srgbClr val="7030A0"/>
                </a:solidFill>
              </a:rPr>
              <a:t>typing</a:t>
            </a:r>
            <a:r>
              <a:rPr lang="en-US" dirty="0" smtClean="0"/>
              <a:t>  </a:t>
            </a:r>
            <a:r>
              <a:rPr lang="en-US" dirty="0">
                <a:solidFill>
                  <a:srgbClr val="FF0066"/>
                </a:solidFill>
              </a:rPr>
              <a:t>import </a:t>
            </a:r>
            <a:r>
              <a:rPr lang="en-US" dirty="0" smtClean="0">
                <a:solidFill>
                  <a:srgbClr val="FF0066"/>
                </a:solidFill>
              </a:rPr>
              <a:t> </a:t>
            </a:r>
            <a:r>
              <a:rPr lang="en-US" dirty="0">
                <a:solidFill>
                  <a:srgbClr val="0070C0"/>
                </a:solidFill>
              </a:rPr>
              <a:t>Optional</a:t>
            </a:r>
          </a:p>
        </p:txBody>
      </p:sp>
      <p:sp>
        <p:nvSpPr>
          <p:cNvPr id="5" name="Rectangle 4"/>
          <p:cNvSpPr/>
          <p:nvPr/>
        </p:nvSpPr>
        <p:spPr>
          <a:xfrm>
            <a:off x="2826328" y="2439416"/>
            <a:ext cx="6096000" cy="2585323"/>
          </a:xfrm>
          <a:prstGeom prst="rect">
            <a:avLst/>
          </a:prstGeom>
          <a:ln>
            <a:solidFill>
              <a:schemeClr val="bg1">
                <a:lumMod val="95000"/>
              </a:schemeClr>
            </a:solidFill>
          </a:ln>
        </p:spPr>
        <p:txBody>
          <a:bodyPr>
            <a:spAutoFit/>
          </a:bodyPr>
          <a:lstStyle/>
          <a:p>
            <a:r>
              <a:rPr lang="en-IN" dirty="0">
                <a:solidFill>
                  <a:schemeClr val="accent1"/>
                </a:solidFill>
              </a:rPr>
              <a:t>class </a:t>
            </a:r>
            <a:r>
              <a:rPr lang="en-IN" dirty="0">
                <a:solidFill>
                  <a:srgbClr val="00B0F0"/>
                </a:solidFill>
              </a:rPr>
              <a:t>User</a:t>
            </a:r>
            <a:r>
              <a:rPr lang="en-IN" dirty="0" smtClean="0"/>
              <a:t>( </a:t>
            </a:r>
            <a:r>
              <a:rPr lang="en-IN" dirty="0" smtClean="0">
                <a:solidFill>
                  <a:srgbClr val="0070C0"/>
                </a:solidFill>
              </a:rPr>
              <a:t>BaseModel</a:t>
            </a:r>
            <a:r>
              <a:rPr lang="en-IN" dirty="0"/>
              <a:t>):   </a:t>
            </a:r>
          </a:p>
          <a:p>
            <a:r>
              <a:rPr lang="en-IN" dirty="0"/>
              <a:t>    name: </a:t>
            </a:r>
            <a:r>
              <a:rPr lang="en-IN" dirty="0">
                <a:solidFill>
                  <a:srgbClr val="0070C0"/>
                </a:solidFill>
              </a:rPr>
              <a:t>str</a:t>
            </a:r>
          </a:p>
          <a:p>
            <a:r>
              <a:rPr lang="en-IN" dirty="0"/>
              <a:t>    mobile: Optional[int] = None</a:t>
            </a:r>
          </a:p>
          <a:p>
            <a:r>
              <a:rPr lang="en-IN" dirty="0"/>
              <a:t>    email: </a:t>
            </a:r>
            <a:r>
              <a:rPr lang="en-IN" dirty="0">
                <a:solidFill>
                  <a:srgbClr val="0070C0"/>
                </a:solidFill>
              </a:rPr>
              <a:t>str</a:t>
            </a:r>
            <a:r>
              <a:rPr lang="en-IN" dirty="0"/>
              <a:t> = </a:t>
            </a:r>
            <a:r>
              <a:rPr lang="en-IN" dirty="0">
                <a:solidFill>
                  <a:srgbClr val="CC3300"/>
                </a:solidFill>
              </a:rPr>
              <a:t>"ram@gmail.com"</a:t>
            </a:r>
          </a:p>
          <a:p>
            <a:r>
              <a:rPr lang="en-IN" dirty="0"/>
              <a:t>    cgpa: </a:t>
            </a:r>
            <a:r>
              <a:rPr lang="en-IN" dirty="0">
                <a:solidFill>
                  <a:srgbClr val="0070C0"/>
                </a:solidFill>
              </a:rPr>
              <a:t>float</a:t>
            </a:r>
            <a:r>
              <a:rPr lang="en-IN" dirty="0"/>
              <a:t> = Field(gt=0, le=10)</a:t>
            </a:r>
          </a:p>
          <a:p>
            <a:r>
              <a:rPr lang="en-IN" dirty="0"/>
              <a:t>    </a:t>
            </a:r>
          </a:p>
          <a:p>
            <a:r>
              <a:rPr lang="en-IN" dirty="0"/>
              <a:t>data1 = </a:t>
            </a:r>
            <a:r>
              <a:rPr lang="en-IN" dirty="0" smtClean="0"/>
              <a:t>{  </a:t>
            </a:r>
            <a:r>
              <a:rPr lang="en-IN" dirty="0" smtClean="0">
                <a:solidFill>
                  <a:srgbClr val="CC3300"/>
                </a:solidFill>
              </a:rPr>
              <a:t>"name“ :  "</a:t>
            </a:r>
            <a:r>
              <a:rPr lang="en-IN" dirty="0">
                <a:solidFill>
                  <a:srgbClr val="CC3300"/>
                </a:solidFill>
              </a:rPr>
              <a:t>ram</a:t>
            </a:r>
            <a:r>
              <a:rPr lang="en-IN" dirty="0" smtClean="0">
                <a:solidFill>
                  <a:srgbClr val="CC3300"/>
                </a:solidFill>
              </a:rPr>
              <a:t>", "cgpa“ : 5</a:t>
            </a:r>
            <a:r>
              <a:rPr lang="en-IN" dirty="0" smtClean="0"/>
              <a:t>  }</a:t>
            </a:r>
            <a:endParaRPr lang="en-IN" dirty="0"/>
          </a:p>
          <a:p>
            <a:r>
              <a:rPr lang="en-IN" dirty="0">
                <a:solidFill>
                  <a:srgbClr val="00B050"/>
                </a:solidFill>
              </a:rPr>
              <a:t># Example usage</a:t>
            </a:r>
          </a:p>
          <a:p>
            <a:r>
              <a:rPr lang="en-IN" dirty="0"/>
              <a:t>user = </a:t>
            </a:r>
            <a:r>
              <a:rPr lang="en-IN" dirty="0">
                <a:solidFill>
                  <a:srgbClr val="0070C0"/>
                </a:solidFill>
              </a:rPr>
              <a:t>User</a:t>
            </a:r>
            <a:r>
              <a:rPr lang="en-IN" dirty="0"/>
              <a:t>(**data1)</a:t>
            </a:r>
          </a:p>
        </p:txBody>
      </p:sp>
      <p:sp>
        <p:nvSpPr>
          <p:cNvPr id="4" name="Rectangle 3"/>
          <p:cNvSpPr/>
          <p:nvPr/>
        </p:nvSpPr>
        <p:spPr>
          <a:xfrm>
            <a:off x="450376" y="961114"/>
            <a:ext cx="11546005" cy="646331"/>
          </a:xfrm>
          <a:prstGeom prst="rect">
            <a:avLst/>
          </a:prstGeom>
        </p:spPr>
        <p:txBody>
          <a:bodyPr wrap="square">
            <a:spAutoFit/>
          </a:bodyPr>
          <a:lstStyle/>
          <a:p>
            <a:r>
              <a:rPr lang="en-US" dirty="0">
                <a:solidFill>
                  <a:srgbClr val="0070C0"/>
                </a:solidFill>
              </a:rPr>
              <a:t>Pydantic</a:t>
            </a:r>
            <a:r>
              <a:rPr lang="en-US" dirty="0"/>
              <a:t> </a:t>
            </a:r>
            <a:r>
              <a:rPr lang="en-US" dirty="0" smtClean="0"/>
              <a:t>is very powerful Python library  </a:t>
            </a:r>
            <a:r>
              <a:rPr lang="en-US" dirty="0">
                <a:solidFill>
                  <a:srgbClr val="00B050"/>
                </a:solidFill>
              </a:rPr>
              <a:t>data validation </a:t>
            </a:r>
            <a:r>
              <a:rPr lang="en-US" dirty="0"/>
              <a:t>and </a:t>
            </a:r>
            <a:r>
              <a:rPr lang="en-US" dirty="0">
                <a:solidFill>
                  <a:srgbClr val="00B050"/>
                </a:solidFill>
              </a:rPr>
              <a:t>data parsing </a:t>
            </a:r>
            <a:r>
              <a:rPr lang="en-US" dirty="0" smtClean="0"/>
              <a:t>. </a:t>
            </a:r>
            <a:r>
              <a:rPr lang="en-US" dirty="0"/>
              <a:t>It </a:t>
            </a:r>
            <a:r>
              <a:rPr lang="en-US" dirty="0" smtClean="0"/>
              <a:t>makes sure that </a:t>
            </a:r>
            <a:r>
              <a:rPr lang="en-US" dirty="0"/>
              <a:t>the data </a:t>
            </a:r>
            <a:r>
              <a:rPr lang="en-US" dirty="0" smtClean="0"/>
              <a:t>which </a:t>
            </a:r>
            <a:r>
              <a:rPr lang="en-US" smtClean="0"/>
              <a:t>we use is </a:t>
            </a:r>
            <a:r>
              <a:rPr lang="en-US" dirty="0"/>
              <a:t>correct, structured, and type-safe.</a:t>
            </a:r>
            <a:endParaRPr lang="en-IN" dirty="0"/>
          </a:p>
        </p:txBody>
      </p:sp>
      <p:cxnSp>
        <p:nvCxnSpPr>
          <p:cNvPr id="7" name="Straight Connector 6"/>
          <p:cNvCxnSpPr/>
          <p:nvPr/>
        </p:nvCxnSpPr>
        <p:spPr>
          <a:xfrm>
            <a:off x="597274" y="781153"/>
            <a:ext cx="2078929" cy="0"/>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1"/>
          <p:cNvSpPr>
            <a:spLocks noChangeArrowheads="1"/>
          </p:cNvSpPr>
          <p:nvPr/>
        </p:nvSpPr>
        <p:spPr bwMode="auto">
          <a:xfrm>
            <a:off x="597274" y="5615311"/>
            <a:ext cx="803675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0070C0"/>
                </a:solidFill>
                <a:effectLst/>
                <a:cs typeface="Arial" pitchFamily="34" charset="0"/>
              </a:rPr>
              <a:t>** tells Python:  </a:t>
            </a:r>
            <a:r>
              <a:rPr kumimoji="0" lang="en-US" sz="1600" b="0" i="0" u="none" strike="noStrike" cap="none" normalizeH="0" baseline="0" dirty="0" smtClean="0">
                <a:ln>
                  <a:noFill/>
                </a:ln>
                <a:solidFill>
                  <a:schemeClr val="accent2">
                    <a:lumMod val="75000"/>
                  </a:schemeClr>
                </a:solidFill>
                <a:effectLst/>
                <a:cs typeface="Arial" pitchFamily="34" charset="0"/>
              </a:rPr>
              <a:t>"take each key-value pair in this dictionary and treat it as a named argument."</a:t>
            </a:r>
            <a:r>
              <a:rPr kumimoji="0" lang="en-US" sz="1600" b="0" i="0" u="none" strike="noStrike" cap="none" normalizeH="0" baseline="0" dirty="0" smtClean="0">
                <a:ln>
                  <a:noFill/>
                </a:ln>
                <a:solidFill>
                  <a:srgbClr val="0070C0"/>
                </a:solidFill>
                <a:effectLst/>
                <a:cs typeface="Arial" pitchFamily="34" charset="0"/>
              </a:rPr>
              <a:t> </a:t>
            </a:r>
          </a:p>
        </p:txBody>
      </p:sp>
      <p:sp>
        <p:nvSpPr>
          <p:cNvPr id="15" name="Rectangle 8"/>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dirty="0"/>
          </a:p>
        </p:txBody>
      </p:sp>
      <p:sp>
        <p:nvSpPr>
          <p:cNvPr id="17" name="Rectangle 9"/>
          <p:cNvSpPr>
            <a:spLocks noChangeArrowheads="1"/>
          </p:cNvSpPr>
          <p:nvPr/>
        </p:nvSpPr>
        <p:spPr bwMode="auto">
          <a:xfrm>
            <a:off x="1191355" y="5953865"/>
            <a:ext cx="8063003" cy="338554"/>
          </a:xfrm>
          <a:prstGeom prst="rect">
            <a:avLst/>
          </a:prstGeom>
          <a:solidFill>
            <a:schemeClr val="accent5">
              <a:lumMod val="20000"/>
              <a:lumOff val="80000"/>
            </a:schemeClr>
          </a:solidFill>
          <a:ln w="9525">
            <a:solidFill>
              <a:srgbClr val="00B050"/>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smtClean="0">
                <a:ln>
                  <a:noFill/>
                </a:ln>
                <a:solidFill>
                  <a:schemeClr val="tx1"/>
                </a:solidFill>
                <a:effectLst/>
                <a:cs typeface="Arial" pitchFamily="34" charset="0"/>
              </a:rPr>
              <a:t>user = User(id='123', signup_ts='2017-06-01 12:22', friends=[1, '2', b'3'])</a:t>
            </a:r>
          </a:p>
        </p:txBody>
      </p:sp>
      <p:cxnSp>
        <p:nvCxnSpPr>
          <p:cNvPr id="19" name="Straight Connector 18"/>
          <p:cNvCxnSpPr/>
          <p:nvPr/>
        </p:nvCxnSpPr>
        <p:spPr>
          <a:xfrm flipV="1">
            <a:off x="136478" y="5431809"/>
            <a:ext cx="11859903" cy="54591"/>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04058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smtClean="0"/>
              <a:t>Navigating the Future of Learning​</a:t>
            </a:r>
            <a:endParaRPr lang="en-US" dirty="0"/>
          </a:p>
        </p:txBody>
      </p:sp>
      <p:sp>
        <p:nvSpPr>
          <p:cNvPr id="5" name="Rectangle 4"/>
          <p:cNvSpPr/>
          <p:nvPr/>
        </p:nvSpPr>
        <p:spPr>
          <a:xfrm>
            <a:off x="686626" y="321025"/>
            <a:ext cx="5660524" cy="400110"/>
          </a:xfrm>
          <a:prstGeom prst="rect">
            <a:avLst/>
          </a:prstGeom>
        </p:spPr>
        <p:txBody>
          <a:bodyPr wrap="none">
            <a:spAutoFit/>
          </a:bodyPr>
          <a:lstStyle/>
          <a:p>
            <a:r>
              <a:rPr lang="en-US" sz="2000" b="1" dirty="0">
                <a:latin typeface="Bahnschrift" pitchFamily="34" charset="0"/>
              </a:rPr>
              <a:t>Structured output is a very powerful technique.</a:t>
            </a:r>
            <a:r>
              <a:rPr lang="en-US" sz="2000" dirty="0">
                <a:latin typeface="Bahnschrift" pitchFamily="34" charset="0"/>
              </a:rPr>
              <a:t> </a:t>
            </a:r>
            <a:endParaRPr lang="en-IN" sz="2000" dirty="0">
              <a:latin typeface="Bahnschrift" pitchFamily="34" charset="0"/>
            </a:endParaRPr>
          </a:p>
        </p:txBody>
      </p:sp>
      <p:sp>
        <p:nvSpPr>
          <p:cNvPr id="6" name="Rectangle 5"/>
          <p:cNvSpPr/>
          <p:nvPr/>
        </p:nvSpPr>
        <p:spPr>
          <a:xfrm>
            <a:off x="1149926" y="751261"/>
            <a:ext cx="10737273" cy="338554"/>
          </a:xfrm>
          <a:prstGeom prst="rect">
            <a:avLst/>
          </a:prstGeom>
        </p:spPr>
        <p:txBody>
          <a:bodyPr wrap="square">
            <a:spAutoFit/>
          </a:bodyPr>
          <a:lstStyle/>
          <a:p>
            <a:r>
              <a:rPr lang="en-US" sz="1600" dirty="0"/>
              <a:t>LLMs to interact with humans. Humans wrote messages, LLMs replied with messages, and both could understand each other.</a:t>
            </a:r>
            <a:endParaRPr lang="en-IN" sz="1600" dirty="0"/>
          </a:p>
        </p:txBody>
      </p:sp>
      <p:sp>
        <p:nvSpPr>
          <p:cNvPr id="7" name="Rectangle 6"/>
          <p:cNvSpPr/>
          <p:nvPr/>
        </p:nvSpPr>
        <p:spPr>
          <a:xfrm>
            <a:off x="1149926" y="1443427"/>
            <a:ext cx="10626438" cy="615553"/>
          </a:xfrm>
          <a:prstGeom prst="rect">
            <a:avLst/>
          </a:prstGeom>
        </p:spPr>
        <p:txBody>
          <a:bodyPr wrap="square">
            <a:spAutoFit/>
          </a:bodyPr>
          <a:lstStyle/>
          <a:p>
            <a:r>
              <a:rPr lang="en-US" sz="1600" dirty="0"/>
              <a:t>The </a:t>
            </a:r>
            <a:r>
              <a:rPr lang="en-US" dirty="0">
                <a:solidFill>
                  <a:schemeClr val="accent2"/>
                </a:solidFill>
                <a:latin typeface="Bahnschrift" pitchFamily="34" charset="0"/>
              </a:rPr>
              <a:t>only problem was that </a:t>
            </a:r>
            <a:r>
              <a:rPr lang="en-US" sz="1600" dirty="0"/>
              <a:t>since LLMs give textual, unstructured output, we couldn’t connect them with other systems — systems like databases or APIs. Because the output of LLMs was unstructured and textual, integration wasn’t possible.</a:t>
            </a:r>
            <a:endParaRPr lang="en-IN" sz="1600" dirty="0"/>
          </a:p>
        </p:txBody>
      </p:sp>
      <p:sp>
        <p:nvSpPr>
          <p:cNvPr id="8" name="Rectangle 7"/>
          <p:cNvSpPr/>
          <p:nvPr/>
        </p:nvSpPr>
        <p:spPr>
          <a:xfrm>
            <a:off x="1149926" y="2343881"/>
            <a:ext cx="10626438" cy="584775"/>
          </a:xfrm>
          <a:prstGeom prst="rect">
            <a:avLst/>
          </a:prstGeom>
        </p:spPr>
        <p:txBody>
          <a:bodyPr wrap="square">
            <a:spAutoFit/>
          </a:bodyPr>
          <a:lstStyle/>
          <a:p>
            <a:r>
              <a:rPr lang="en-US" sz="1600" dirty="0"/>
              <a:t>With the help of </a:t>
            </a:r>
            <a:r>
              <a:rPr lang="en-US" sz="1600" dirty="0">
                <a:solidFill>
                  <a:srgbClr val="0070C0"/>
                </a:solidFill>
                <a:latin typeface="Bahnschrift" pitchFamily="34" charset="0"/>
              </a:rPr>
              <a:t>structured output</a:t>
            </a:r>
            <a:r>
              <a:rPr lang="en-US" sz="1600" dirty="0"/>
              <a:t>, we gave the LLM’s output a structure, a data format. Now that we have provided this data format, LLMs can also communicate with other systems. This is the main benefit of having structured output.</a:t>
            </a:r>
            <a:endParaRPr lang="en-IN" sz="1600" dirty="0"/>
          </a:p>
        </p:txBody>
      </p:sp>
    </p:spTree>
    <p:extLst>
      <p:ext uri="{BB962C8B-B14F-4D97-AF65-F5344CB8AC3E}">
        <p14:creationId xmlns:p14="http://schemas.microsoft.com/office/powerpoint/2010/main" val="29685008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2174070" y="446258"/>
            <a:ext cx="6360489" cy="2131415"/>
            <a:chOff x="2107686" y="2103518"/>
            <a:chExt cx="6360489" cy="2131415"/>
          </a:xfrm>
        </p:grpSpPr>
        <p:sp>
          <p:nvSpPr>
            <p:cNvPr id="6" name="TextBox 5"/>
            <p:cNvSpPr txBox="1"/>
            <p:nvPr/>
          </p:nvSpPr>
          <p:spPr>
            <a:xfrm>
              <a:off x="6999408" y="3210061"/>
              <a:ext cx="696024" cy="369332"/>
            </a:xfrm>
            <a:prstGeom prst="rect">
              <a:avLst/>
            </a:prstGeom>
            <a:solidFill>
              <a:schemeClr val="accent1"/>
            </a:solidFill>
          </p:spPr>
          <p:txBody>
            <a:bodyPr wrap="none" rtlCol="0">
              <a:spAutoFit/>
            </a:bodyPr>
            <a:lstStyle/>
            <a:p>
              <a:r>
                <a:rPr lang="en-US" dirty="0">
                  <a:solidFill>
                    <a:schemeClr val="bg1"/>
                  </a:solidFill>
                  <a:latin typeface="Bahnschrift" pitchFamily="34" charset="0"/>
                </a:rPr>
                <a:t>Can’t</a:t>
              </a:r>
              <a:endParaRPr lang="en-IN" dirty="0">
                <a:solidFill>
                  <a:schemeClr val="bg1"/>
                </a:solidFill>
                <a:latin typeface="Bahnschrift" pitchFamily="34" charset="0"/>
              </a:endParaRPr>
            </a:p>
          </p:txBody>
        </p:sp>
        <p:sp>
          <p:nvSpPr>
            <p:cNvPr id="10" name="TextBox 9"/>
            <p:cNvSpPr txBox="1"/>
            <p:nvPr/>
          </p:nvSpPr>
          <p:spPr>
            <a:xfrm>
              <a:off x="6651831" y="3667261"/>
              <a:ext cx="1616148" cy="369332"/>
            </a:xfrm>
            <a:prstGeom prst="rect">
              <a:avLst/>
            </a:prstGeom>
            <a:solidFill>
              <a:schemeClr val="accent1"/>
            </a:solidFill>
          </p:spPr>
          <p:txBody>
            <a:bodyPr wrap="none" rtlCol="0">
              <a:spAutoFit/>
            </a:bodyPr>
            <a:lstStyle/>
            <a:p>
              <a:r>
                <a:rPr lang="en-US" dirty="0">
                  <a:solidFill>
                    <a:schemeClr val="bg1"/>
                  </a:solidFill>
                  <a:latin typeface="Bahnschrift" pitchFamily="34" charset="0"/>
                </a:rPr>
                <a:t>Output</a:t>
              </a:r>
              <a:r>
                <a:rPr lang="en-US" dirty="0">
                  <a:latin typeface="Bahnschrift" pitchFamily="34" charset="0"/>
                </a:rPr>
                <a:t> </a:t>
              </a:r>
              <a:r>
                <a:rPr lang="en-US" dirty="0">
                  <a:solidFill>
                    <a:schemeClr val="bg1"/>
                  </a:solidFill>
                  <a:latin typeface="Bahnschrift" pitchFamily="34" charset="0"/>
                </a:rPr>
                <a:t>parser</a:t>
              </a:r>
              <a:endParaRPr lang="en-IN" dirty="0">
                <a:solidFill>
                  <a:schemeClr val="bg1"/>
                </a:solidFill>
                <a:latin typeface="Bahnschrift" pitchFamily="34" charset="0"/>
              </a:endParaRPr>
            </a:p>
          </p:txBody>
        </p:sp>
        <p:cxnSp>
          <p:nvCxnSpPr>
            <p:cNvPr id="14" name="Straight Arrow Connector 13"/>
            <p:cNvCxnSpPr/>
            <p:nvPr/>
          </p:nvCxnSpPr>
          <p:spPr>
            <a:xfrm>
              <a:off x="5252432" y="2103518"/>
              <a:ext cx="1634022" cy="103234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18" name="Group 17"/>
            <p:cNvGrpSpPr/>
            <p:nvPr/>
          </p:nvGrpSpPr>
          <p:grpSpPr>
            <a:xfrm>
              <a:off x="2107686" y="2103518"/>
              <a:ext cx="3144746" cy="2131415"/>
              <a:chOff x="2107686" y="2103518"/>
              <a:chExt cx="3144746" cy="2131415"/>
            </a:xfrm>
          </p:grpSpPr>
          <p:sp>
            <p:nvSpPr>
              <p:cNvPr id="8" name="TextBox 7"/>
              <p:cNvSpPr txBox="1"/>
              <p:nvPr/>
            </p:nvSpPr>
            <p:spPr>
              <a:xfrm>
                <a:off x="2263134" y="3692418"/>
                <a:ext cx="2587568" cy="369332"/>
              </a:xfrm>
              <a:prstGeom prst="rect">
                <a:avLst/>
              </a:prstGeom>
              <a:solidFill>
                <a:schemeClr val="accent1"/>
              </a:solidFill>
            </p:spPr>
            <p:txBody>
              <a:bodyPr wrap="none" rtlCol="0">
                <a:spAutoFit/>
              </a:bodyPr>
              <a:lstStyle/>
              <a:p>
                <a:r>
                  <a:rPr lang="en-US" dirty="0">
                    <a:solidFill>
                      <a:schemeClr val="bg1"/>
                    </a:solidFill>
                    <a:latin typeface="Bahnschrift" pitchFamily="34" charset="0"/>
                  </a:rPr>
                  <a:t>With_structured_output</a:t>
                </a:r>
                <a:endParaRPr lang="en-IN" dirty="0">
                  <a:solidFill>
                    <a:schemeClr val="bg1"/>
                  </a:solidFill>
                  <a:latin typeface="Bahnschrift" pitchFamily="34" charset="0"/>
                </a:endParaRPr>
              </a:p>
            </p:txBody>
          </p:sp>
          <p:grpSp>
            <p:nvGrpSpPr>
              <p:cNvPr id="12" name="Group 11"/>
              <p:cNvGrpSpPr/>
              <p:nvPr/>
            </p:nvGrpSpPr>
            <p:grpSpPr>
              <a:xfrm>
                <a:off x="3426800" y="2103518"/>
                <a:ext cx="1825632" cy="1401681"/>
                <a:chOff x="2828934" y="3689865"/>
                <a:chExt cx="1825632" cy="1401681"/>
              </a:xfrm>
            </p:grpSpPr>
            <p:sp>
              <p:nvSpPr>
                <p:cNvPr id="5" name="TextBox 4"/>
                <p:cNvSpPr txBox="1"/>
                <p:nvPr/>
              </p:nvSpPr>
              <p:spPr>
                <a:xfrm>
                  <a:off x="4024265" y="3689865"/>
                  <a:ext cx="630301" cy="369332"/>
                </a:xfrm>
                <a:prstGeom prst="rect">
                  <a:avLst/>
                </a:prstGeom>
                <a:solidFill>
                  <a:schemeClr val="accent1"/>
                </a:solidFill>
              </p:spPr>
              <p:txBody>
                <a:bodyPr wrap="none" rtlCol="0">
                  <a:spAutoFit/>
                </a:bodyPr>
                <a:lstStyle/>
                <a:p>
                  <a:r>
                    <a:rPr lang="en-US" dirty="0" smtClean="0">
                      <a:solidFill>
                        <a:schemeClr val="bg1"/>
                      </a:solidFill>
                      <a:latin typeface="Bahnschrift" pitchFamily="34" charset="0"/>
                    </a:rPr>
                    <a:t>LLM</a:t>
                  </a:r>
                  <a:endParaRPr lang="en-IN" dirty="0">
                    <a:solidFill>
                      <a:schemeClr val="bg1"/>
                    </a:solidFill>
                    <a:latin typeface="Bahnschrift" pitchFamily="34" charset="0"/>
                  </a:endParaRPr>
                </a:p>
              </p:txBody>
            </p:sp>
            <p:sp>
              <p:nvSpPr>
                <p:cNvPr id="7" name="Rectangle 6"/>
                <p:cNvSpPr/>
                <p:nvPr/>
              </p:nvSpPr>
              <p:spPr>
                <a:xfrm>
                  <a:off x="2828934" y="4722214"/>
                  <a:ext cx="579005" cy="369332"/>
                </a:xfrm>
                <a:prstGeom prst="rect">
                  <a:avLst/>
                </a:prstGeom>
                <a:solidFill>
                  <a:schemeClr val="accent1"/>
                </a:solidFill>
              </p:spPr>
              <p:txBody>
                <a:bodyPr wrap="none" rtlCol="0">
                  <a:spAutoFit/>
                </a:bodyPr>
                <a:lstStyle/>
                <a:p>
                  <a:r>
                    <a:rPr lang="en-US" dirty="0">
                      <a:solidFill>
                        <a:schemeClr val="bg1"/>
                      </a:solidFill>
                      <a:latin typeface="Bahnschrift" pitchFamily="34" charset="0"/>
                    </a:rPr>
                    <a:t>Can</a:t>
                  </a:r>
                  <a:endParaRPr lang="en-IN" dirty="0">
                    <a:solidFill>
                      <a:schemeClr val="bg1"/>
                    </a:solidFill>
                    <a:latin typeface="Bahnschrift" pitchFamily="34" charset="0"/>
                  </a:endParaRPr>
                </a:p>
              </p:txBody>
            </p:sp>
            <p:cxnSp>
              <p:nvCxnSpPr>
                <p:cNvPr id="11" name="Straight Arrow Connector 10"/>
                <p:cNvCxnSpPr/>
                <p:nvPr/>
              </p:nvCxnSpPr>
              <p:spPr>
                <a:xfrm flipH="1">
                  <a:off x="3118437" y="3689865"/>
                  <a:ext cx="905828" cy="9470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16" name="Left Brace 15"/>
              <p:cNvSpPr/>
              <p:nvPr/>
            </p:nvSpPr>
            <p:spPr>
              <a:xfrm>
                <a:off x="2107686" y="3320533"/>
                <a:ext cx="155448" cy="914400"/>
              </a:xfrm>
              <a:prstGeom prst="leftBrace">
                <a:avLst/>
              </a:prstGeom>
              <a:ln>
                <a:solidFill>
                  <a:srgbClr val="FF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7" name="Right Brace 16"/>
              <p:cNvSpPr/>
              <p:nvPr/>
            </p:nvSpPr>
            <p:spPr>
              <a:xfrm>
                <a:off x="4850702" y="3235218"/>
                <a:ext cx="155448" cy="914400"/>
              </a:xfrm>
              <a:prstGeom prst="rightBrace">
                <a:avLst/>
              </a:prstGeom>
              <a:ln>
                <a:solidFill>
                  <a:srgbClr val="FF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grpSp>
        <p:sp>
          <p:nvSpPr>
            <p:cNvPr id="19" name="Left Brace 18"/>
            <p:cNvSpPr/>
            <p:nvPr/>
          </p:nvSpPr>
          <p:spPr>
            <a:xfrm>
              <a:off x="6330128" y="3210061"/>
              <a:ext cx="155448" cy="914400"/>
            </a:xfrm>
            <a:prstGeom prst="leftBrace">
              <a:avLst/>
            </a:prstGeom>
            <a:ln>
              <a:solidFill>
                <a:srgbClr val="FF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20" name="Right Brace 19"/>
            <p:cNvSpPr/>
            <p:nvPr/>
          </p:nvSpPr>
          <p:spPr>
            <a:xfrm>
              <a:off x="8312727" y="3210061"/>
              <a:ext cx="155448" cy="914400"/>
            </a:xfrm>
            <a:prstGeom prst="rightBrace">
              <a:avLst/>
            </a:prstGeom>
            <a:ln>
              <a:solidFill>
                <a:srgbClr val="FF006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grpSp>
      <p:sp>
        <p:nvSpPr>
          <p:cNvPr id="28" name="Rectangle 27"/>
          <p:cNvSpPr/>
          <p:nvPr/>
        </p:nvSpPr>
        <p:spPr>
          <a:xfrm>
            <a:off x="138545" y="2872492"/>
            <a:ext cx="1754711" cy="338554"/>
          </a:xfrm>
          <a:prstGeom prst="rect">
            <a:avLst/>
          </a:prstGeom>
        </p:spPr>
        <p:txBody>
          <a:bodyPr wrap="none">
            <a:spAutoFit/>
          </a:bodyPr>
          <a:lstStyle/>
          <a:p>
            <a:r>
              <a:rPr lang="en-IN" sz="1600" dirty="0" smtClean="0"/>
              <a:t>Two </a:t>
            </a:r>
            <a:r>
              <a:rPr lang="en-IN" sz="1600" dirty="0"/>
              <a:t>kinds of LLMs.</a:t>
            </a:r>
          </a:p>
        </p:txBody>
      </p:sp>
      <p:sp>
        <p:nvSpPr>
          <p:cNvPr id="29" name="Rectangle 28"/>
          <p:cNvSpPr/>
          <p:nvPr/>
        </p:nvSpPr>
        <p:spPr>
          <a:xfrm>
            <a:off x="138545" y="3305889"/>
            <a:ext cx="12186413" cy="584775"/>
          </a:xfrm>
          <a:prstGeom prst="rect">
            <a:avLst/>
          </a:prstGeom>
        </p:spPr>
        <p:txBody>
          <a:bodyPr wrap="none">
            <a:spAutoFit/>
          </a:bodyPr>
          <a:lstStyle/>
          <a:p>
            <a:r>
              <a:rPr lang="en-US" sz="1600" dirty="0"/>
              <a:t>One type of LLMs can, by default, generate structured output. For example, OpenAI’s GPT models are trained in such a way that if you ask them, </a:t>
            </a:r>
            <a:endParaRPr lang="en-US" sz="1600" dirty="0" smtClean="0"/>
          </a:p>
          <a:p>
            <a:r>
              <a:rPr lang="en-US" sz="1600" dirty="0" smtClean="0"/>
              <a:t>they </a:t>
            </a:r>
            <a:r>
              <a:rPr lang="en-US" sz="1600" dirty="0"/>
              <a:t>can generate structured output for you.</a:t>
            </a:r>
            <a:endParaRPr lang="en-IN" sz="1600" dirty="0"/>
          </a:p>
        </p:txBody>
      </p:sp>
      <p:sp>
        <p:nvSpPr>
          <p:cNvPr id="30" name="Rectangle 29"/>
          <p:cNvSpPr/>
          <p:nvPr/>
        </p:nvSpPr>
        <p:spPr>
          <a:xfrm>
            <a:off x="138545" y="3890664"/>
            <a:ext cx="11762510" cy="584775"/>
          </a:xfrm>
          <a:prstGeom prst="rect">
            <a:avLst/>
          </a:prstGeom>
        </p:spPr>
        <p:txBody>
          <a:bodyPr wrap="square">
            <a:spAutoFit/>
          </a:bodyPr>
          <a:lstStyle/>
          <a:p>
            <a:r>
              <a:rPr lang="en-US" sz="1600" dirty="0"/>
              <a:t>At the same time, there are some LLMs that do not have this capability at all — they cannot produce structured output directly. In LangChain, you can work with both types of models to generate structured output.</a:t>
            </a:r>
            <a:endParaRPr lang="en-IN" sz="1600" dirty="0"/>
          </a:p>
        </p:txBody>
      </p:sp>
      <p:sp>
        <p:nvSpPr>
          <p:cNvPr id="31" name="Rectangle 3"/>
          <p:cNvSpPr>
            <a:spLocks noChangeArrowheads="1"/>
          </p:cNvSpPr>
          <p:nvPr/>
        </p:nvSpPr>
        <p:spPr bwMode="auto">
          <a:xfrm rot="10800000" flipV="1">
            <a:off x="138544" y="4685667"/>
            <a:ext cx="1188719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600" dirty="0"/>
              <a:t>For models that can generate structured output by default, LangChain provides a function called </a:t>
            </a:r>
            <a:r>
              <a:rPr lang="en-US" sz="1600" b="1" dirty="0">
                <a:solidFill>
                  <a:srgbClr val="0070C0"/>
                </a:solidFill>
              </a:rPr>
              <a:t>with_structured_output</a:t>
            </a:r>
            <a:r>
              <a:rPr lang="en-US" sz="1600" dirty="0"/>
              <a:t>. This function simplifies everything. Using it, you can easily tell your LLM in which data format you want the output, and the LLM will give you the output in that format. </a:t>
            </a:r>
          </a:p>
        </p:txBody>
      </p:sp>
      <p:sp>
        <p:nvSpPr>
          <p:cNvPr id="1024" name="Rectangle 1023"/>
          <p:cNvSpPr/>
          <p:nvPr/>
        </p:nvSpPr>
        <p:spPr>
          <a:xfrm>
            <a:off x="138545" y="5574637"/>
            <a:ext cx="11762510" cy="584775"/>
          </a:xfrm>
          <a:prstGeom prst="rect">
            <a:avLst/>
          </a:prstGeom>
        </p:spPr>
        <p:txBody>
          <a:bodyPr wrap="square">
            <a:spAutoFit/>
          </a:bodyPr>
          <a:lstStyle/>
          <a:p>
            <a:r>
              <a:rPr lang="en-US" sz="1600" dirty="0"/>
              <a:t>For models that cannot generate structured output by default, LangChain also has a way. That method is called Output Parsers. </a:t>
            </a:r>
            <a:r>
              <a:rPr lang="en-US" sz="1600" dirty="0">
                <a:solidFill>
                  <a:srgbClr val="00B050"/>
                </a:solidFill>
                <a:latin typeface="Bahnschrift" pitchFamily="34" charset="0"/>
              </a:rPr>
              <a:t>Output Parsers </a:t>
            </a:r>
            <a:r>
              <a:rPr lang="en-US" sz="1600" dirty="0"/>
              <a:t>are classes written in LangChain that help you take any LLM’s unstructured output and give it structure.</a:t>
            </a:r>
            <a:endParaRPr lang="en-IN" sz="1600" dirty="0"/>
          </a:p>
        </p:txBody>
      </p:sp>
    </p:spTree>
    <p:extLst>
      <p:ext uri="{BB962C8B-B14F-4D97-AF65-F5344CB8AC3E}">
        <p14:creationId xmlns:p14="http://schemas.microsoft.com/office/powerpoint/2010/main" val="2736942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526473" y="93981"/>
            <a:ext cx="11028218" cy="5062924"/>
            <a:chOff x="706582" y="412636"/>
            <a:chExt cx="10169236" cy="5062924"/>
          </a:xfrm>
        </p:grpSpPr>
        <p:sp>
          <p:nvSpPr>
            <p:cNvPr id="2" name="Rectangle 1"/>
            <p:cNvSpPr>
              <a:spLocks noChangeArrowheads="1"/>
            </p:cNvSpPr>
            <p:nvPr/>
          </p:nvSpPr>
          <p:spPr bwMode="auto">
            <a:xfrm>
              <a:off x="706582" y="412636"/>
              <a:ext cx="10169236" cy="5062924"/>
            </a:xfrm>
            <a:prstGeom prst="rect">
              <a:avLst/>
            </a:prstGeom>
            <a:solidFill>
              <a:schemeClr val="bg2">
                <a:lumMod val="25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dirty="0" smtClean="0">
                  <a:ln>
                    <a:noFill/>
                  </a:ln>
                  <a:solidFill>
                    <a:srgbClr val="C586C0"/>
                  </a:solidFill>
                  <a:effectLst/>
                  <a:cs typeface="Arial" pitchFamily="34" charset="0"/>
                </a:rPr>
                <a:t>from</a:t>
              </a:r>
              <a:r>
                <a:rPr kumimoji="0" lang="en-US" sz="1700" b="0" i="0" u="none" strike="noStrike" cap="none" normalizeH="0" baseline="0" dirty="0" smtClean="0">
                  <a:ln>
                    <a:noFill/>
                  </a:ln>
                  <a:solidFill>
                    <a:srgbClr val="D4D4D4"/>
                  </a:solidFill>
                  <a:effectLst/>
                  <a:cs typeface="Arial" pitchFamily="34" charset="0"/>
                </a:rPr>
                <a:t> typing </a:t>
              </a:r>
              <a:r>
                <a:rPr kumimoji="0" lang="en-US" sz="1700" b="0" i="0" u="none" strike="noStrike" cap="none" normalizeH="0" baseline="0" dirty="0" smtClean="0">
                  <a:ln>
                    <a:noFill/>
                  </a:ln>
                  <a:solidFill>
                    <a:srgbClr val="569CD6"/>
                  </a:solidFill>
                  <a:effectLst/>
                  <a:cs typeface="Arial" pitchFamily="34" charset="0"/>
                </a:rPr>
                <a:t>import</a:t>
              </a:r>
              <a:r>
                <a:rPr kumimoji="0" lang="en-US" sz="1700" b="0" i="0" u="none" strike="noStrike" cap="none" normalizeH="0" baseline="0" dirty="0" smtClean="0">
                  <a:ln>
                    <a:noFill/>
                  </a:ln>
                  <a:solidFill>
                    <a:srgbClr val="D4D4D4"/>
                  </a:solidFill>
                  <a:effectLst/>
                  <a:cs typeface="Arial" pitchFamily="34" charset="0"/>
                </a:rPr>
                <a:t> TypedDict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dirty="0" smtClean="0">
                  <a:ln>
                    <a:noFill/>
                  </a:ln>
                  <a:solidFill>
                    <a:srgbClr val="C586C0"/>
                  </a:solidFill>
                  <a:effectLst/>
                  <a:cs typeface="Arial" pitchFamily="34" charset="0"/>
                </a:rPr>
                <a:t>import</a:t>
              </a:r>
              <a:r>
                <a:rPr kumimoji="0" lang="en-US" sz="1700" b="0" i="0" u="none" strike="noStrike" cap="none" normalizeH="0" baseline="0" dirty="0" smtClean="0">
                  <a:ln>
                    <a:noFill/>
                  </a:ln>
                  <a:solidFill>
                    <a:srgbClr val="D4D4D4"/>
                  </a:solidFill>
                  <a:effectLst/>
                  <a:cs typeface="Arial" pitchFamily="34" charset="0"/>
                </a:rPr>
                <a:t> os </a:t>
              </a:r>
              <a:r>
                <a:rPr kumimoji="0" lang="en-US" sz="1700" b="0" i="0" u="none" strike="noStrike" cap="none" normalizeH="0" baseline="0" dirty="0" smtClean="0">
                  <a:ln>
                    <a:noFill/>
                  </a:ln>
                  <a:solidFill>
                    <a:srgbClr val="C586C0"/>
                  </a:solidFill>
                  <a:effectLst/>
                  <a:cs typeface="Arial" pitchFamily="34" charset="0"/>
                </a:rPr>
                <a:t>from</a:t>
              </a:r>
              <a:r>
                <a:rPr kumimoji="0" lang="en-US" sz="1700" b="0" i="0" u="none" strike="noStrike" cap="none" normalizeH="0" baseline="0" dirty="0" smtClean="0">
                  <a:ln>
                    <a:noFill/>
                  </a:ln>
                  <a:solidFill>
                    <a:srgbClr val="D4D4D4"/>
                  </a:solidFill>
                  <a:effectLst/>
                  <a:cs typeface="Arial" pitchFamily="34" charset="0"/>
                </a:rPr>
                <a:t> dotenv </a:t>
              </a:r>
              <a:r>
                <a:rPr kumimoji="0" lang="en-US" sz="1700" b="0" i="0" u="none" strike="noStrike" cap="none" normalizeH="0" baseline="0" dirty="0" smtClean="0">
                  <a:ln>
                    <a:noFill/>
                  </a:ln>
                  <a:solidFill>
                    <a:srgbClr val="569CD6"/>
                  </a:solidFill>
                  <a:effectLst/>
                  <a:cs typeface="Arial" pitchFamily="34" charset="0"/>
                </a:rPr>
                <a:t>import</a:t>
              </a:r>
              <a:r>
                <a:rPr kumimoji="0" lang="en-US" sz="1700" b="0" i="0" u="none" strike="noStrike" cap="none" normalizeH="0" baseline="0" dirty="0" smtClean="0">
                  <a:ln>
                    <a:noFill/>
                  </a:ln>
                  <a:solidFill>
                    <a:srgbClr val="D4D4D4"/>
                  </a:solidFill>
                  <a:effectLst/>
                  <a:cs typeface="Arial" pitchFamily="34" charset="0"/>
                </a:rPr>
                <a:t> load_dotenv, find_dotenv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dirty="0" smtClean="0">
                  <a:ln>
                    <a:noFill/>
                  </a:ln>
                  <a:solidFill>
                    <a:srgbClr val="C586C0"/>
                  </a:solidFill>
                  <a:effectLst/>
                  <a:cs typeface="Arial" pitchFamily="34" charset="0"/>
                </a:rPr>
                <a:t>from</a:t>
              </a:r>
              <a:r>
                <a:rPr kumimoji="0" lang="en-US" sz="1700" b="0" i="0" u="none" strike="noStrike" cap="none" normalizeH="0" baseline="0" dirty="0" smtClean="0">
                  <a:ln>
                    <a:noFill/>
                  </a:ln>
                  <a:solidFill>
                    <a:srgbClr val="D4D4D4"/>
                  </a:solidFill>
                  <a:effectLst/>
                  <a:cs typeface="Arial" pitchFamily="34" charset="0"/>
                </a:rPr>
                <a:t> langchain_openai </a:t>
              </a:r>
              <a:r>
                <a:rPr kumimoji="0" lang="en-US" sz="1700" b="0" i="0" u="none" strike="noStrike" cap="none" normalizeH="0" baseline="0" dirty="0" smtClean="0">
                  <a:ln>
                    <a:noFill/>
                  </a:ln>
                  <a:solidFill>
                    <a:srgbClr val="569CD6"/>
                  </a:solidFill>
                  <a:effectLst/>
                  <a:cs typeface="Arial" pitchFamily="34" charset="0"/>
                </a:rPr>
                <a:t>import</a:t>
              </a:r>
              <a:r>
                <a:rPr kumimoji="0" lang="en-US" sz="1700" b="0" i="0" u="none" strike="noStrike" cap="none" normalizeH="0" baseline="0" dirty="0" smtClean="0">
                  <a:ln>
                    <a:noFill/>
                  </a:ln>
                  <a:solidFill>
                    <a:srgbClr val="D4D4D4"/>
                  </a:solidFill>
                  <a:effectLst/>
                  <a:cs typeface="Arial" pitchFamily="34" charset="0"/>
                </a:rPr>
                <a:t> AzureOpenAIEmbeddings, AzureChatOpenAI </a:t>
              </a:r>
            </a:p>
            <a:p>
              <a:pPr marL="0" marR="0" lvl="0" indent="0" algn="l" defTabSz="914400" rtl="0" eaLnBrk="1" fontAlgn="base" latinLnBrk="0" hangingPunct="1">
                <a:lnSpc>
                  <a:spcPct val="100000"/>
                </a:lnSpc>
                <a:spcBef>
                  <a:spcPct val="0"/>
                </a:spcBef>
                <a:spcAft>
                  <a:spcPct val="0"/>
                </a:spcAft>
                <a:buClrTx/>
                <a:buSzTx/>
                <a:buFontTx/>
                <a:buNone/>
                <a:tabLst/>
              </a:pPr>
              <a:endParaRPr lang="en-US" sz="1700" dirty="0">
                <a:solidFill>
                  <a:srgbClr val="D4D4D4"/>
                </a:solidFill>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dirty="0" smtClean="0">
                  <a:ln>
                    <a:noFill/>
                  </a:ln>
                  <a:solidFill>
                    <a:srgbClr val="D4D4D4"/>
                  </a:solidFill>
                  <a:effectLst/>
                  <a:cs typeface="Arial" pitchFamily="34" charset="0"/>
                </a:rPr>
                <a:t>load_dotenv(find_dotenv(), override=</a:t>
              </a:r>
              <a:r>
                <a:rPr kumimoji="0" lang="en-US" sz="1700" b="0" i="0" u="none" strike="noStrike" cap="none" normalizeH="0" baseline="0" dirty="0" smtClean="0">
                  <a:ln>
                    <a:noFill/>
                  </a:ln>
                  <a:solidFill>
                    <a:srgbClr val="569CD6"/>
                  </a:solidFill>
                  <a:effectLst/>
                  <a:cs typeface="Arial" pitchFamily="34" charset="0"/>
                </a:rPr>
                <a:t>True</a:t>
              </a:r>
              <a:r>
                <a:rPr kumimoji="0" lang="en-US" sz="1700" b="0" i="0" u="none" strike="noStrike" cap="none" normalizeH="0" baseline="0" dirty="0" smtClean="0">
                  <a:ln>
                    <a:noFill/>
                  </a:ln>
                  <a:solidFill>
                    <a:srgbClr val="D4D4D4"/>
                  </a:solidFill>
                  <a:effectLst/>
                  <a:cs typeface="Arial"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pPr>
              <a:endParaRPr lang="en-US" sz="1700" dirty="0">
                <a:solidFill>
                  <a:srgbClr val="D4D4D4"/>
                </a:solidFill>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dirty="0" smtClean="0">
                  <a:ln>
                    <a:noFill/>
                  </a:ln>
                  <a:solidFill>
                    <a:srgbClr val="569CD6"/>
                  </a:solidFill>
                  <a:effectLst/>
                  <a:cs typeface="Arial" pitchFamily="34" charset="0"/>
                </a:rPr>
                <a:t>class</a:t>
              </a:r>
              <a:r>
                <a:rPr kumimoji="0" lang="en-US" sz="1700" b="0" i="0" u="none" strike="noStrike" cap="none" normalizeH="0" baseline="0" dirty="0" smtClean="0">
                  <a:ln>
                    <a:noFill/>
                  </a:ln>
                  <a:solidFill>
                    <a:srgbClr val="D4D4D4"/>
                  </a:solidFill>
                  <a:effectLst/>
                  <a:cs typeface="Arial" pitchFamily="34" charset="0"/>
                </a:rPr>
                <a:t> </a:t>
              </a:r>
              <a:r>
                <a:rPr kumimoji="0" lang="en-US" sz="1700" b="0" i="0" u="none" strike="noStrike" cap="none" normalizeH="0" baseline="0" dirty="0" smtClean="0">
                  <a:ln>
                    <a:noFill/>
                  </a:ln>
                  <a:solidFill>
                    <a:srgbClr val="4EC9B0"/>
                  </a:solidFill>
                  <a:effectLst/>
                  <a:cs typeface="Arial" pitchFamily="34" charset="0"/>
                </a:rPr>
                <a:t>ProductReview</a:t>
              </a:r>
              <a:r>
                <a:rPr kumimoji="0" lang="en-US" sz="1700" b="0" i="0" u="none" strike="noStrike" cap="none" normalizeH="0" baseline="0" dirty="0" smtClean="0">
                  <a:ln>
                    <a:noFill/>
                  </a:ln>
                  <a:solidFill>
                    <a:srgbClr val="D4D4D4"/>
                  </a:solidFill>
                  <a:effectLst/>
                  <a:cs typeface="Arial" pitchFamily="34" charset="0"/>
                </a:rPr>
                <a:t>(TypedDict): </a:t>
              </a:r>
            </a:p>
            <a:p>
              <a:pPr lvl="1" fontAlgn="base">
                <a:spcBef>
                  <a:spcPct val="0"/>
                </a:spcBef>
                <a:spcAft>
                  <a:spcPct val="0"/>
                </a:spcAft>
              </a:pPr>
              <a:r>
                <a:rPr kumimoji="0" lang="en-US" sz="1700" b="0" i="0" u="none" strike="noStrike" cap="none" normalizeH="0" baseline="0" dirty="0" smtClean="0">
                  <a:ln>
                    <a:noFill/>
                  </a:ln>
                  <a:solidFill>
                    <a:srgbClr val="D4D4D4"/>
                  </a:solidFill>
                  <a:effectLst/>
                  <a:cs typeface="Arial" pitchFamily="34" charset="0"/>
                </a:rPr>
                <a:t>Summary: </a:t>
              </a:r>
              <a:r>
                <a:rPr kumimoji="0" lang="en-US" sz="1700" b="0" i="0" u="none" strike="noStrike" cap="none" normalizeH="0" baseline="0" dirty="0" smtClean="0">
                  <a:ln>
                    <a:noFill/>
                  </a:ln>
                  <a:solidFill>
                    <a:srgbClr val="4EC9B0"/>
                  </a:solidFill>
                  <a:effectLst/>
                  <a:cs typeface="Arial" pitchFamily="34" charset="0"/>
                </a:rPr>
                <a:t>str</a:t>
              </a:r>
              <a:r>
                <a:rPr kumimoji="0" lang="en-US" sz="1700" b="0" i="0" u="none" strike="noStrike" cap="none" normalizeH="0" baseline="0" dirty="0" smtClean="0">
                  <a:ln>
                    <a:noFill/>
                  </a:ln>
                  <a:solidFill>
                    <a:srgbClr val="D4D4D4"/>
                  </a:solidFill>
                  <a:effectLst/>
                  <a:cs typeface="Arial" pitchFamily="34" charset="0"/>
                </a:rPr>
                <a:t> </a:t>
              </a:r>
            </a:p>
            <a:p>
              <a:pPr lvl="1" fontAlgn="base">
                <a:spcBef>
                  <a:spcPct val="0"/>
                </a:spcBef>
                <a:spcAft>
                  <a:spcPct val="0"/>
                </a:spcAft>
              </a:pPr>
              <a:r>
                <a:rPr kumimoji="0" lang="en-US" sz="1700" b="0" i="0" u="none" strike="noStrike" cap="none" normalizeH="0" baseline="0" dirty="0" smtClean="0">
                  <a:ln>
                    <a:noFill/>
                  </a:ln>
                  <a:solidFill>
                    <a:srgbClr val="D4D4D4"/>
                  </a:solidFill>
                  <a:effectLst/>
                  <a:cs typeface="Arial" pitchFamily="34" charset="0"/>
                </a:rPr>
                <a:t>Sentiment: </a:t>
              </a:r>
              <a:r>
                <a:rPr kumimoji="0" lang="en-US" sz="1700" b="0" i="0" u="none" strike="noStrike" cap="none" normalizeH="0" baseline="0" dirty="0" smtClean="0">
                  <a:ln>
                    <a:noFill/>
                  </a:ln>
                  <a:solidFill>
                    <a:srgbClr val="4EC9B0"/>
                  </a:solidFill>
                  <a:effectLst/>
                  <a:cs typeface="Arial" pitchFamily="34" charset="0"/>
                </a:rPr>
                <a:t>str</a:t>
              </a:r>
              <a:r>
                <a:rPr kumimoji="0" lang="en-US" sz="1700" b="0" i="0" u="none" strike="noStrike" cap="none" normalizeH="0" baseline="0" dirty="0" smtClean="0">
                  <a:ln>
                    <a:noFill/>
                  </a:ln>
                  <a:solidFill>
                    <a:srgbClr val="D4D4D4"/>
                  </a:solidFill>
                  <a:effectLst/>
                  <a:cs typeface="Arial"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pPr>
              <a:endParaRPr lang="en-US" sz="1700" dirty="0">
                <a:solidFill>
                  <a:srgbClr val="D4D4D4"/>
                </a:solidFill>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dirty="0" smtClean="0">
                  <a:ln>
                    <a:noFill/>
                  </a:ln>
                  <a:solidFill>
                    <a:srgbClr val="D4D4D4"/>
                  </a:solidFill>
                  <a:effectLst/>
                  <a:cs typeface="Arial" pitchFamily="34" charset="0"/>
                </a:rPr>
                <a:t>llm = </a:t>
              </a:r>
              <a:r>
                <a:rPr kumimoji="0" lang="en-US" sz="1700" b="0" i="0" u="none" strike="noStrike" cap="none" normalizeH="0" baseline="0" dirty="0" smtClean="0">
                  <a:ln>
                    <a:noFill/>
                  </a:ln>
                  <a:solidFill>
                    <a:srgbClr val="4EC9B0"/>
                  </a:solidFill>
                  <a:effectLst/>
                  <a:cs typeface="Arial" pitchFamily="34" charset="0"/>
                </a:rPr>
                <a:t>AzureChatOpenAI</a:t>
              </a:r>
              <a:r>
                <a:rPr kumimoji="0" lang="en-US" sz="1700" b="0" i="0" u="none" strike="noStrike" cap="none" normalizeH="0" baseline="0" dirty="0" smtClean="0">
                  <a:ln>
                    <a:noFill/>
                  </a:ln>
                  <a:solidFill>
                    <a:srgbClr val="D4D4D4"/>
                  </a:solidFill>
                  <a:effectLst/>
                  <a:cs typeface="Arial" pitchFamily="34" charset="0"/>
                </a:rPr>
                <a:t>( </a:t>
              </a:r>
            </a:p>
            <a:p>
              <a:pPr lvl="1" fontAlgn="base">
                <a:spcBef>
                  <a:spcPct val="0"/>
                </a:spcBef>
                <a:spcAft>
                  <a:spcPct val="0"/>
                </a:spcAft>
              </a:pPr>
              <a:r>
                <a:rPr kumimoji="0" lang="en-US" sz="1700" b="0" i="0" u="none" strike="noStrike" cap="none" normalizeH="0" baseline="0" dirty="0" smtClean="0">
                  <a:ln>
                    <a:noFill/>
                  </a:ln>
                  <a:solidFill>
                    <a:srgbClr val="D4D4D4"/>
                  </a:solidFill>
                  <a:effectLst/>
                  <a:cs typeface="Arial" pitchFamily="34" charset="0"/>
                </a:rPr>
                <a:t>azure_endpoint=os.getenv(</a:t>
              </a:r>
              <a:r>
                <a:rPr kumimoji="0" lang="en-US" sz="1700" b="0" i="0" u="none" strike="noStrike" cap="none" normalizeH="0" baseline="0" dirty="0" smtClean="0">
                  <a:ln>
                    <a:noFill/>
                  </a:ln>
                  <a:solidFill>
                    <a:srgbClr val="CE9178"/>
                  </a:solidFill>
                  <a:effectLst/>
                  <a:cs typeface="Arial" pitchFamily="34" charset="0"/>
                </a:rPr>
                <a:t>"ENDPOINT_URL"</a:t>
              </a:r>
              <a:r>
                <a:rPr kumimoji="0" lang="en-US" sz="1700" b="0" i="0" u="none" strike="noStrike" cap="none" normalizeH="0" baseline="0" dirty="0" smtClean="0">
                  <a:ln>
                    <a:noFill/>
                  </a:ln>
                  <a:solidFill>
                    <a:srgbClr val="D4D4D4"/>
                  </a:solidFill>
                  <a:effectLst/>
                  <a:cs typeface="Arial" pitchFamily="34" charset="0"/>
                </a:rPr>
                <a:t>), </a:t>
              </a:r>
            </a:p>
            <a:p>
              <a:pPr lvl="1" fontAlgn="base">
                <a:spcBef>
                  <a:spcPct val="0"/>
                </a:spcBef>
                <a:spcAft>
                  <a:spcPct val="0"/>
                </a:spcAft>
              </a:pPr>
              <a:r>
                <a:rPr kumimoji="0" lang="en-US" sz="1700" b="0" i="0" u="none" strike="noStrike" cap="none" normalizeH="0" baseline="0" dirty="0" smtClean="0">
                  <a:ln>
                    <a:noFill/>
                  </a:ln>
                  <a:solidFill>
                    <a:srgbClr val="D4D4D4"/>
                  </a:solidFill>
                  <a:effectLst/>
                  <a:cs typeface="Arial" pitchFamily="34" charset="0"/>
                </a:rPr>
                <a:t>api_key=os.getenv(</a:t>
              </a:r>
              <a:r>
                <a:rPr kumimoji="0" lang="en-US" sz="1700" b="0" i="0" u="none" strike="noStrike" cap="none" normalizeH="0" baseline="0" dirty="0" smtClean="0">
                  <a:ln>
                    <a:noFill/>
                  </a:ln>
                  <a:solidFill>
                    <a:srgbClr val="CE9178"/>
                  </a:solidFill>
                  <a:effectLst/>
                  <a:cs typeface="Arial" pitchFamily="34" charset="0"/>
                </a:rPr>
                <a:t>"AZURE_OPENAI_API_KEY"</a:t>
              </a:r>
              <a:r>
                <a:rPr kumimoji="0" lang="en-US" sz="1700" b="0" i="0" u="none" strike="noStrike" cap="none" normalizeH="0" baseline="0" dirty="0" smtClean="0">
                  <a:ln>
                    <a:noFill/>
                  </a:ln>
                  <a:solidFill>
                    <a:srgbClr val="D4D4D4"/>
                  </a:solidFill>
                  <a:effectLst/>
                  <a:cs typeface="Arial" pitchFamily="34" charset="0"/>
                </a:rPr>
                <a:t>), </a:t>
              </a:r>
            </a:p>
            <a:p>
              <a:pPr lvl="1" fontAlgn="base">
                <a:spcBef>
                  <a:spcPct val="0"/>
                </a:spcBef>
                <a:spcAft>
                  <a:spcPct val="0"/>
                </a:spcAft>
              </a:pPr>
              <a:r>
                <a:rPr kumimoji="0" lang="en-US" sz="1700" b="0" i="0" u="none" strike="noStrike" cap="none" normalizeH="0" baseline="0" dirty="0" smtClean="0">
                  <a:ln>
                    <a:noFill/>
                  </a:ln>
                  <a:solidFill>
                    <a:srgbClr val="D4D4D4"/>
                  </a:solidFill>
                  <a:effectLst/>
                  <a:cs typeface="Arial" pitchFamily="34" charset="0"/>
                </a:rPr>
                <a:t>api_version=os.getenv(</a:t>
              </a:r>
              <a:r>
                <a:rPr kumimoji="0" lang="en-US" sz="1700" b="0" i="0" u="none" strike="noStrike" cap="none" normalizeH="0" baseline="0" dirty="0" smtClean="0">
                  <a:ln>
                    <a:noFill/>
                  </a:ln>
                  <a:solidFill>
                    <a:srgbClr val="CE9178"/>
                  </a:solidFill>
                  <a:effectLst/>
                  <a:cs typeface="Arial" pitchFamily="34" charset="0"/>
                </a:rPr>
                <a:t>"API_VERSION"</a:t>
              </a:r>
              <a:r>
                <a:rPr kumimoji="0" lang="en-US" sz="1700" b="0" i="0" u="none" strike="noStrike" cap="none" normalizeH="0" baseline="0" dirty="0" smtClean="0">
                  <a:ln>
                    <a:noFill/>
                  </a:ln>
                  <a:solidFill>
                    <a:srgbClr val="D4D4D4"/>
                  </a:solidFill>
                  <a:effectLst/>
                  <a:cs typeface="Arial"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dirty="0" smtClean="0">
                  <a:ln>
                    <a:noFill/>
                  </a:ln>
                  <a:solidFill>
                    <a:srgbClr val="D4D4D4"/>
                  </a:solidFill>
                  <a:effectLst/>
                  <a:cs typeface="Arial"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700" b="0" i="0" u="none" strike="noStrike" cap="none" normalizeH="0" baseline="0" dirty="0" smtClean="0">
                <a:ln>
                  <a:noFill/>
                </a:ln>
                <a:solidFill>
                  <a:srgbClr val="D4D4D4"/>
                </a:solidFill>
                <a:effectLst/>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dirty="0" smtClean="0">
                  <a:ln>
                    <a:noFill/>
                  </a:ln>
                  <a:solidFill>
                    <a:srgbClr val="D4D4D4"/>
                  </a:solidFill>
                  <a:effectLst/>
                  <a:cs typeface="Arial" pitchFamily="34" charset="0"/>
                </a:rPr>
                <a:t>structured_llm = llm.with_structured_output(</a:t>
              </a:r>
              <a:r>
                <a:rPr kumimoji="0" lang="en-US" sz="1700" b="0" i="0" u="none" strike="noStrike" cap="none" normalizeH="0" baseline="0" dirty="0" smtClean="0">
                  <a:ln>
                    <a:noFill/>
                  </a:ln>
                  <a:solidFill>
                    <a:srgbClr val="4EC9B0"/>
                  </a:solidFill>
                  <a:effectLst/>
                  <a:cs typeface="Arial" pitchFamily="34" charset="0"/>
                </a:rPr>
                <a:t>ProductReview</a:t>
              </a:r>
              <a:r>
                <a:rPr kumimoji="0" lang="en-US" sz="1700" b="0" i="0" u="none" strike="noStrike" cap="none" normalizeH="0" baseline="0" dirty="0" smtClean="0">
                  <a:ln>
                    <a:noFill/>
                  </a:ln>
                  <a:solidFill>
                    <a:srgbClr val="D4D4D4"/>
                  </a:solidFill>
                  <a:effectLst/>
                  <a:cs typeface="Arial" pitchFamily="34"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dirty="0" smtClean="0">
                  <a:ln>
                    <a:noFill/>
                  </a:ln>
                  <a:solidFill>
                    <a:srgbClr val="D4D4D4"/>
                  </a:solidFill>
                  <a:effectLst/>
                  <a:cs typeface="Arial" pitchFamily="34" charset="0"/>
                </a:rPr>
                <a:t>structured_llm.invoke( </a:t>
              </a:r>
              <a:r>
                <a:rPr kumimoji="0" lang="en-US" sz="1700" b="0" i="0" u="none" strike="noStrike" cap="none" normalizeH="0" baseline="0" dirty="0" smtClean="0">
                  <a:ln>
                    <a:noFill/>
                  </a:ln>
                  <a:solidFill>
                    <a:srgbClr val="CE9178"/>
                  </a:solidFill>
                  <a:effectLst/>
                  <a:cs typeface="Arial" pitchFamily="34" charset="0"/>
                </a:rPr>
                <a:t>"I’ve been using these XYZ Wireless Earbuds for two weeks, and I’m impressed! The sound quality is deep and clear, and they are lightweight enough for long gym sessions"</a:t>
              </a:r>
              <a:r>
                <a:rPr kumimoji="0" lang="en-US" sz="1700" b="0" i="0" u="none" strike="noStrike" cap="none" normalizeH="0" baseline="0" dirty="0" smtClean="0">
                  <a:ln>
                    <a:noFill/>
                  </a:ln>
                  <a:solidFill>
                    <a:srgbClr val="D4D4D4"/>
                  </a:solidFill>
                  <a:effectLst/>
                  <a:cs typeface="Arial" pitchFamily="34" charset="0"/>
                </a:rPr>
                <a:t> )</a:t>
              </a:r>
              <a:r>
                <a:rPr kumimoji="0" lang="en-US" sz="1700" b="0" i="0" u="none" strike="noStrike" cap="none" normalizeH="0" baseline="0" dirty="0" smtClean="0">
                  <a:ln>
                    <a:noFill/>
                  </a:ln>
                  <a:solidFill>
                    <a:schemeClr val="tx1"/>
                  </a:solidFill>
                  <a:effectLst/>
                  <a:cs typeface="Arial" pitchFamily="34" charset="0"/>
                </a:rPr>
                <a:t> </a:t>
              </a:r>
            </a:p>
          </p:txBody>
        </p:sp>
        <p:sp>
          <p:nvSpPr>
            <p:cNvPr id="3" name="Rectangle 2"/>
            <p:cNvSpPr/>
            <p:nvPr/>
          </p:nvSpPr>
          <p:spPr>
            <a:xfrm>
              <a:off x="8799609" y="412636"/>
              <a:ext cx="2076209" cy="369332"/>
            </a:xfrm>
            <a:prstGeom prst="rect">
              <a:avLst/>
            </a:prstGeom>
            <a:solidFill>
              <a:srgbClr val="00B0F0"/>
            </a:solidFill>
          </p:spPr>
          <p:txBody>
            <a:bodyPr wrap="none">
              <a:spAutoFit/>
            </a:bodyPr>
            <a:lstStyle/>
            <a:p>
              <a:r>
                <a:rPr lang="en-US" b="1" dirty="0">
                  <a:solidFill>
                    <a:schemeClr val="bg1"/>
                  </a:solidFill>
                  <a:latin typeface="Bahnschrift" pitchFamily="34" charset="0"/>
                </a:rPr>
                <a:t>Structured output </a:t>
              </a:r>
              <a:endParaRPr lang="en-IN" dirty="0">
                <a:solidFill>
                  <a:schemeClr val="bg1"/>
                </a:solidFill>
              </a:endParaRPr>
            </a:p>
          </p:txBody>
        </p:sp>
      </p:grpSp>
      <p:sp>
        <p:nvSpPr>
          <p:cNvPr id="13" name="Rectangle 12"/>
          <p:cNvSpPr/>
          <p:nvPr/>
        </p:nvSpPr>
        <p:spPr>
          <a:xfrm>
            <a:off x="526473" y="5297959"/>
            <a:ext cx="11028218" cy="1323439"/>
          </a:xfrm>
          <a:prstGeom prst="rect">
            <a:avLst/>
          </a:prstGeom>
          <a:solidFill>
            <a:schemeClr val="bg2">
              <a:lumMod val="25000"/>
            </a:schemeClr>
          </a:solidFill>
        </p:spPr>
        <p:txBody>
          <a:bodyPr wrap="square">
            <a:spAutoFit/>
          </a:bodyPr>
          <a:lstStyle/>
          <a:p>
            <a:r>
              <a:rPr lang="en-US" sz="1600" dirty="0" smtClean="0">
                <a:solidFill>
                  <a:schemeClr val="accent6">
                    <a:lumMod val="60000"/>
                    <a:lumOff val="40000"/>
                  </a:schemeClr>
                </a:solidFill>
              </a:rPr>
              <a:t>{</a:t>
            </a:r>
          </a:p>
          <a:p>
            <a:pPr lvl="1"/>
            <a:r>
              <a:rPr lang="en-US" sz="1600" dirty="0" smtClean="0">
                <a:solidFill>
                  <a:schemeClr val="accent6">
                    <a:lumMod val="60000"/>
                    <a:lumOff val="40000"/>
                  </a:schemeClr>
                </a:solidFill>
              </a:rPr>
              <a:t>'Summary</a:t>
            </a:r>
            <a:r>
              <a:rPr lang="en-US" sz="1600" dirty="0">
                <a:solidFill>
                  <a:schemeClr val="accent6">
                    <a:lumMod val="60000"/>
                    <a:lumOff val="40000"/>
                  </a:schemeClr>
                </a:solidFill>
              </a:rPr>
              <a:t>': 'The XYZ Wireless Earbuds offer deep and clear sound quality and are comfortable enough for lengthy gym use, making them a great choice for fitness enthusiasts and music lovers alike.', </a:t>
            </a:r>
            <a:endParaRPr lang="en-US" sz="1600" dirty="0" smtClean="0">
              <a:solidFill>
                <a:schemeClr val="accent6">
                  <a:lumMod val="60000"/>
                  <a:lumOff val="40000"/>
                </a:schemeClr>
              </a:solidFill>
            </a:endParaRPr>
          </a:p>
          <a:p>
            <a:pPr lvl="1"/>
            <a:r>
              <a:rPr lang="en-US" sz="1600" dirty="0" smtClean="0">
                <a:solidFill>
                  <a:schemeClr val="accent6">
                    <a:lumMod val="60000"/>
                    <a:lumOff val="40000"/>
                  </a:schemeClr>
                </a:solidFill>
              </a:rPr>
              <a:t>'Sentiment</a:t>
            </a:r>
            <a:r>
              <a:rPr lang="en-US" sz="1600" dirty="0">
                <a:solidFill>
                  <a:schemeClr val="accent6">
                    <a:lumMod val="60000"/>
                    <a:lumOff val="40000"/>
                  </a:schemeClr>
                </a:solidFill>
              </a:rPr>
              <a:t>': </a:t>
            </a:r>
            <a:r>
              <a:rPr lang="en-US" sz="1600" dirty="0" smtClean="0">
                <a:solidFill>
                  <a:schemeClr val="accent6">
                    <a:lumMod val="60000"/>
                    <a:lumOff val="40000"/>
                  </a:schemeClr>
                </a:solidFill>
              </a:rPr>
              <a:t>'Positive‘</a:t>
            </a:r>
          </a:p>
          <a:p>
            <a:r>
              <a:rPr lang="en-US" sz="1600" dirty="0" smtClean="0">
                <a:solidFill>
                  <a:schemeClr val="accent6">
                    <a:lumMod val="60000"/>
                    <a:lumOff val="40000"/>
                  </a:schemeClr>
                </a:solidFill>
              </a:rPr>
              <a:t>}</a:t>
            </a:r>
            <a:endParaRPr lang="en-IN" sz="1600" dirty="0">
              <a:solidFill>
                <a:schemeClr val="accent6">
                  <a:lumMod val="60000"/>
                  <a:lumOff val="40000"/>
                </a:schemeClr>
              </a:solidFill>
            </a:endParaRPr>
          </a:p>
        </p:txBody>
      </p:sp>
    </p:spTree>
    <p:extLst>
      <p:ext uri="{BB962C8B-B14F-4D97-AF65-F5344CB8AC3E}">
        <p14:creationId xmlns:p14="http://schemas.microsoft.com/office/powerpoint/2010/main" val="131120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dirty="0"/>
          </a:p>
        </p:txBody>
      </p:sp>
      <p:sp>
        <p:nvSpPr>
          <p:cNvPr id="3" name="Rectangle 2"/>
          <p:cNvSpPr>
            <a:spLocks noChangeArrowheads="1"/>
          </p:cNvSpPr>
          <p:nvPr/>
        </p:nvSpPr>
        <p:spPr bwMode="auto">
          <a:xfrm>
            <a:off x="-89638188"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Unicode MS" pitchFamily="34" charset="-128"/>
                <a:cs typeface="Arial" pitchFamily="34" charset="0"/>
              </a:rPr>
              <a:t>summary: Annotated[str, "A brief summary of the review"] sentiment: Annotated[str, "Return sentiment of the review either negative, positive or neutral"]</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4" name="Rectangle 3"/>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dirty="0"/>
          </a:p>
        </p:txBody>
      </p:sp>
      <p:sp>
        <p:nvSpPr>
          <p:cNvPr id="5" name="Rectangle 4"/>
          <p:cNvSpPr>
            <a:spLocks noChangeArrowheads="1"/>
          </p:cNvSpPr>
          <p:nvPr/>
        </p:nvSpPr>
        <p:spPr bwMode="auto">
          <a:xfrm>
            <a:off x="-89485788" y="609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Unicode MS" pitchFamily="34" charset="-128"/>
                <a:cs typeface="Arial" pitchFamily="34" charset="0"/>
              </a:rPr>
              <a:t>summary: Annotated[str, "A brief summary of the review"] sentiment: Annotated[str, "Return sentiment of the review either negative, positive or neutral"]</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6" name="Rectangle 5"/>
          <p:cNvSpPr>
            <a:spLocks noChangeArrowheads="1"/>
          </p:cNvSpPr>
          <p:nvPr/>
        </p:nvSpPr>
        <p:spPr bwMode="auto">
          <a:xfrm>
            <a:off x="304800"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dirty="0"/>
          </a:p>
        </p:txBody>
      </p:sp>
      <p:sp>
        <p:nvSpPr>
          <p:cNvPr id="7" name="Rectangle 6"/>
          <p:cNvSpPr>
            <a:spLocks noChangeArrowheads="1"/>
          </p:cNvSpPr>
          <p:nvPr/>
        </p:nvSpPr>
        <p:spPr bwMode="auto">
          <a:xfrm>
            <a:off x="-89333388" y="762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000" b="0" i="0" u="none" strike="noStrike" cap="none" normalizeH="0" baseline="0" dirty="0" smtClean="0">
                <a:ln>
                  <a:noFill/>
                </a:ln>
                <a:solidFill>
                  <a:schemeClr val="tx1"/>
                </a:solidFill>
                <a:effectLst/>
                <a:latin typeface="Arial Unicode MS" pitchFamily="34" charset="-128"/>
                <a:cs typeface="Arial" pitchFamily="34" charset="0"/>
              </a:rPr>
              <a:t>summary: Annotated[str, "A brief summary of the review"] sentiment: Annotated[str, "Return sentiment of the review either negative, positive or neutral"]</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9" name="Rectangle 8"/>
          <p:cNvSpPr/>
          <p:nvPr/>
        </p:nvSpPr>
        <p:spPr>
          <a:xfrm>
            <a:off x="1614984" y="1762121"/>
            <a:ext cx="8880143" cy="1138773"/>
          </a:xfrm>
          <a:prstGeom prst="rect">
            <a:avLst/>
          </a:prstGeom>
          <a:solidFill>
            <a:schemeClr val="bg2">
              <a:lumMod val="25000"/>
            </a:schemeClr>
          </a:solidFill>
        </p:spPr>
        <p:txBody>
          <a:bodyPr wrap="square">
            <a:spAutoFit/>
          </a:bodyPr>
          <a:lstStyle/>
          <a:p>
            <a:pPr lvl="0" fontAlgn="base">
              <a:spcBef>
                <a:spcPct val="0"/>
              </a:spcBef>
              <a:spcAft>
                <a:spcPct val="0"/>
              </a:spcAft>
            </a:pPr>
            <a:r>
              <a:rPr lang="en-US" sz="1700" dirty="0">
                <a:solidFill>
                  <a:srgbClr val="569CD6"/>
                </a:solidFill>
                <a:cs typeface="Arial" pitchFamily="34" charset="0"/>
              </a:rPr>
              <a:t>class</a:t>
            </a:r>
            <a:r>
              <a:rPr lang="en-US" sz="1700" dirty="0">
                <a:solidFill>
                  <a:srgbClr val="D4D4D4"/>
                </a:solidFill>
                <a:cs typeface="Arial" pitchFamily="34" charset="0"/>
              </a:rPr>
              <a:t> </a:t>
            </a:r>
            <a:r>
              <a:rPr lang="en-US" sz="1700" dirty="0">
                <a:solidFill>
                  <a:srgbClr val="4EC9B0"/>
                </a:solidFill>
                <a:cs typeface="Arial" pitchFamily="34" charset="0"/>
              </a:rPr>
              <a:t>ProductReview</a:t>
            </a:r>
            <a:r>
              <a:rPr lang="en-US" sz="1700" dirty="0">
                <a:solidFill>
                  <a:srgbClr val="D4D4D4"/>
                </a:solidFill>
                <a:cs typeface="Arial" pitchFamily="34" charset="0"/>
              </a:rPr>
              <a:t>(TypedDict): </a:t>
            </a:r>
          </a:p>
          <a:p>
            <a:pPr lvl="1" fontAlgn="base">
              <a:spcBef>
                <a:spcPct val="0"/>
              </a:spcBef>
              <a:spcAft>
                <a:spcPct val="0"/>
              </a:spcAft>
            </a:pPr>
            <a:r>
              <a:rPr lang="en-US" sz="1700" dirty="0">
                <a:solidFill>
                  <a:srgbClr val="D4D4D4"/>
                </a:solidFill>
                <a:cs typeface="Arial" pitchFamily="34" charset="0"/>
              </a:rPr>
              <a:t>Summary: </a:t>
            </a:r>
            <a:r>
              <a:rPr lang="en-US" sz="1600" dirty="0">
                <a:solidFill>
                  <a:srgbClr val="00B0F0"/>
                </a:solidFill>
              </a:rPr>
              <a:t>Annotated</a:t>
            </a:r>
            <a:r>
              <a:rPr lang="en-US" sz="1600" dirty="0" smtClean="0">
                <a:solidFill>
                  <a:schemeClr val="accent2"/>
                </a:solidFill>
              </a:rPr>
              <a:t>[ </a:t>
            </a:r>
            <a:r>
              <a:rPr lang="en-US" sz="1600" dirty="0" smtClean="0">
                <a:solidFill>
                  <a:schemeClr val="accent1"/>
                </a:solidFill>
              </a:rPr>
              <a:t>str</a:t>
            </a:r>
            <a:r>
              <a:rPr lang="en-US" sz="1600" dirty="0" smtClean="0">
                <a:solidFill>
                  <a:schemeClr val="accent2"/>
                </a:solidFill>
              </a:rPr>
              <a:t> , </a:t>
            </a:r>
            <a:r>
              <a:rPr lang="en-US" sz="1600" dirty="0">
                <a:solidFill>
                  <a:schemeClr val="accent2"/>
                </a:solidFill>
              </a:rPr>
              <a:t>"A brief summary of the review"] </a:t>
            </a:r>
            <a:endParaRPr lang="en-US" sz="1700" dirty="0">
              <a:solidFill>
                <a:schemeClr val="accent2"/>
              </a:solidFill>
              <a:cs typeface="Arial" pitchFamily="34" charset="0"/>
            </a:endParaRPr>
          </a:p>
          <a:p>
            <a:pPr lvl="1" fontAlgn="base">
              <a:spcBef>
                <a:spcPct val="0"/>
              </a:spcBef>
              <a:spcAft>
                <a:spcPct val="0"/>
              </a:spcAft>
            </a:pPr>
            <a:r>
              <a:rPr lang="en-US" sz="1700" dirty="0">
                <a:solidFill>
                  <a:srgbClr val="D4D4D4"/>
                </a:solidFill>
                <a:cs typeface="Arial" pitchFamily="34" charset="0"/>
              </a:rPr>
              <a:t>Sentiment: </a:t>
            </a:r>
            <a:r>
              <a:rPr lang="en-US" sz="1600" dirty="0">
                <a:solidFill>
                  <a:srgbClr val="00B0F0"/>
                </a:solidFill>
              </a:rPr>
              <a:t>Annotated</a:t>
            </a:r>
            <a:r>
              <a:rPr lang="en-US" sz="1600" dirty="0" smtClean="0">
                <a:solidFill>
                  <a:schemeClr val="accent2"/>
                </a:solidFill>
              </a:rPr>
              <a:t>[ </a:t>
            </a:r>
            <a:r>
              <a:rPr lang="en-US" sz="1600" dirty="0">
                <a:solidFill>
                  <a:schemeClr val="accent1"/>
                </a:solidFill>
              </a:rPr>
              <a:t>str</a:t>
            </a:r>
            <a:r>
              <a:rPr lang="en-US" sz="1600" dirty="0" smtClean="0">
                <a:solidFill>
                  <a:schemeClr val="accent2"/>
                </a:solidFill>
              </a:rPr>
              <a:t> , </a:t>
            </a:r>
            <a:r>
              <a:rPr lang="en-US" sz="1600" dirty="0">
                <a:solidFill>
                  <a:schemeClr val="accent2"/>
                </a:solidFill>
              </a:rPr>
              <a:t>"Return sentiment of the review either negative, positive or </a:t>
            </a:r>
            <a:r>
              <a:rPr lang="en-US" sz="1600" dirty="0" smtClean="0">
                <a:solidFill>
                  <a:schemeClr val="accent2"/>
                </a:solidFill>
              </a:rPr>
              <a:t>neutral“]</a:t>
            </a:r>
            <a:endParaRPr lang="en-IN" sz="1600" dirty="0">
              <a:solidFill>
                <a:schemeClr val="accent2"/>
              </a:solidFill>
            </a:endParaRPr>
          </a:p>
          <a:p>
            <a:pPr lvl="1" fontAlgn="base">
              <a:spcBef>
                <a:spcPct val="0"/>
              </a:spcBef>
              <a:spcAft>
                <a:spcPct val="0"/>
              </a:spcAft>
            </a:pPr>
            <a:endParaRPr lang="en-US" sz="1700" dirty="0">
              <a:solidFill>
                <a:srgbClr val="D4D4D4"/>
              </a:solidFill>
              <a:cs typeface="Arial" pitchFamily="34" charset="0"/>
            </a:endParaRPr>
          </a:p>
        </p:txBody>
      </p:sp>
      <p:sp>
        <p:nvSpPr>
          <p:cNvPr id="10" name="Rectangle 9"/>
          <p:cNvSpPr/>
          <p:nvPr/>
        </p:nvSpPr>
        <p:spPr>
          <a:xfrm>
            <a:off x="636510" y="762000"/>
            <a:ext cx="4988866" cy="338554"/>
          </a:xfrm>
          <a:prstGeom prst="rect">
            <a:avLst/>
          </a:prstGeom>
        </p:spPr>
        <p:txBody>
          <a:bodyPr wrap="none">
            <a:spAutoFit/>
          </a:bodyPr>
          <a:lstStyle/>
          <a:p>
            <a:r>
              <a:rPr lang="en-US" sz="1600" dirty="0">
                <a:solidFill>
                  <a:srgbClr val="FF0066"/>
                </a:solidFill>
                <a:latin typeface="Bahnschrift" pitchFamily="34" charset="0"/>
              </a:rPr>
              <a:t>Avoid </a:t>
            </a:r>
            <a:r>
              <a:rPr lang="en-US" sz="1600" dirty="0" smtClean="0">
                <a:solidFill>
                  <a:srgbClr val="FF0066"/>
                </a:solidFill>
                <a:latin typeface="Bahnschrift" pitchFamily="34" charset="0"/>
              </a:rPr>
              <a:t>confusion </a:t>
            </a:r>
            <a:r>
              <a:rPr lang="en-US" sz="1600" dirty="0">
                <a:solidFill>
                  <a:srgbClr val="FF0066"/>
                </a:solidFill>
                <a:latin typeface="Bahnschrift" pitchFamily="34" charset="0"/>
              </a:rPr>
              <a:t>for LLM for understanding purpose</a:t>
            </a:r>
            <a:endParaRPr lang="en-IN" sz="1600" dirty="0">
              <a:solidFill>
                <a:srgbClr val="FF0066"/>
              </a:solidFill>
              <a:latin typeface="Bahnschrift" pitchFamily="34" charset="0"/>
            </a:endParaRPr>
          </a:p>
        </p:txBody>
      </p:sp>
    </p:spTree>
    <p:extLst>
      <p:ext uri="{BB962C8B-B14F-4D97-AF65-F5344CB8AC3E}">
        <p14:creationId xmlns:p14="http://schemas.microsoft.com/office/powerpoint/2010/main" val="1659420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4404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20280</TotalTime>
  <Words>761</Words>
  <Application>Microsoft Office PowerPoint</Application>
  <PresentationFormat>Custom</PresentationFormat>
  <Paragraphs>83</Paragraphs>
  <Slides>8</Slides>
  <Notes>3</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Naman Narula</dc:creator>
  <cp:lastModifiedBy>User</cp:lastModifiedBy>
  <cp:revision>970</cp:revision>
  <dcterms:created xsi:type="dcterms:W3CDTF">2024-01-26T15:11:46Z</dcterms:created>
  <dcterms:modified xsi:type="dcterms:W3CDTF">2026-02-25T07:41:01Z</dcterms:modified>
</cp:coreProperties>
</file>