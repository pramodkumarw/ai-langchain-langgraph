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85" r:id="rId2"/>
    <p:sldId id="405" r:id="rId3"/>
    <p:sldId id="406" r:id="rId4"/>
    <p:sldId id="403" r:id="rId5"/>
    <p:sldId id="404" r:id="rId6"/>
    <p:sldId id="407" r:id="rId7"/>
    <p:sldId id="408" r:id="rId8"/>
    <p:sldId id="409" r:id="rId9"/>
    <p:sldId id="411" r:id="rId10"/>
    <p:sldId id="410" r:id="rId11"/>
    <p:sldId id="412" r:id="rId12"/>
    <p:sldId id="413" r:id="rId13"/>
    <p:sldId id="41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pendix" id="{53F305DE-E919-46C9-8C7C-4B59AF1E2526}">
          <p14:sldIdLst>
            <p14:sldId id="285"/>
          </p14:sldIdLst>
        </p14:section>
        <p14:section name="Chains" id="{4964DB67-648E-47D0-8BF9-A5CA7C73EDBF}">
          <p14:sldIdLst>
            <p14:sldId id="405"/>
            <p14:sldId id="406"/>
            <p14:sldId id="403"/>
            <p14:sldId id="404"/>
            <p14:sldId id="407"/>
          </p14:sldIdLst>
        </p14:section>
        <p14:section name="Langchain tools" id="{13511C7A-868A-4E58-8F94-0F08C4D53490}">
          <p14:sldIdLst>
            <p14:sldId id="408"/>
            <p14:sldId id="409"/>
            <p14:sldId id="411"/>
            <p14:sldId id="410"/>
            <p14:sldId id="412"/>
            <p14:sldId id="413"/>
            <p14:sldId id="414"/>
          </p14:sldIdLst>
        </p14:section>
      </p14:sectionLst>
    </p:ex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743"/>
    <a:srgbClr val="FF0066"/>
    <a:srgbClr val="15C2FF"/>
    <a:srgbClr val="00D05E"/>
    <a:srgbClr val="FF4B21"/>
    <a:srgbClr val="CC3300"/>
    <a:srgbClr val="00CC99"/>
    <a:srgbClr val="FFCC29"/>
    <a:srgbClr val="F5E47F"/>
    <a:srgbClr val="F2DB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9639D9-3454-46DB-98F0-5734C90B24A8}" v="162" dt="2024-02-29T03:48:59.932"/>
    <p1510:client id="{51280DD5-E729-4BD7-8A9F-98443B307215}" v="2" dt="2024-02-29T02:44:09.918"/>
    <p1510:client id="{F06999DA-40BE-4997-8D18-97380D22DED5}" v="101" dt="2024-02-29T15:35:34.9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89" autoAdjust="0"/>
    <p:restoredTop sz="98577" autoAdjust="0"/>
  </p:normalViewPr>
  <p:slideViewPr>
    <p:cSldViewPr snapToGrid="0">
      <p:cViewPr>
        <p:scale>
          <a:sx n="77" d="100"/>
          <a:sy n="77" d="100"/>
        </p:scale>
        <p:origin x="-240" y="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90"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58C147-18C2-4D33-BF56-E30CA9229223}" type="datetimeFigureOut">
              <a:rPr lang="en-IN" smtClean="0"/>
              <a:t>18-02-2026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A3E4B8-F9DF-4F9A-BB59-93920507C31C}" type="slidenum">
              <a:rPr lang="en-IN" smtClean="0"/>
              <a:t>‹#›</a:t>
            </a:fld>
            <a:endParaRPr lang="en-IN" dirty="0"/>
          </a:p>
        </p:txBody>
      </p:sp>
    </p:spTree>
    <p:extLst>
      <p:ext uri="{BB962C8B-B14F-4D97-AF65-F5344CB8AC3E}">
        <p14:creationId xmlns:p14="http://schemas.microsoft.com/office/powerpoint/2010/main" val="1417987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4</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5</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6</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7</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8</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9</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10</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11</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12</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13</a:t>
            </a:fld>
            <a:endParaRPr lang="en-IN" dirty="0"/>
          </a:p>
        </p:txBody>
      </p:sp>
    </p:spTree>
    <p:extLst>
      <p:ext uri="{BB962C8B-B14F-4D97-AF65-F5344CB8AC3E}">
        <p14:creationId xmlns:p14="http://schemas.microsoft.com/office/powerpoint/2010/main" val="2032212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AFE4333-EDCB-768D-D694-4FA374C887C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 xmlns:a16="http://schemas.microsoft.com/office/drawing/2014/main" id="{6FB8F6BA-A771-5199-B454-4137B42B82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 xmlns:a16="http://schemas.microsoft.com/office/drawing/2014/main" id="{AB8C62A8-5E14-FA7C-D2D9-A91C5617AEE2}"/>
              </a:ext>
            </a:extLst>
          </p:cNvPr>
          <p:cNvSpPr>
            <a:spLocks noGrp="1"/>
          </p:cNvSpPr>
          <p:nvPr>
            <p:ph type="dt" sz="half" idx="10"/>
          </p:nvPr>
        </p:nvSpPr>
        <p:spPr/>
        <p:txBody>
          <a:bodyPr/>
          <a:lstStyle/>
          <a:p>
            <a:fld id="{617C7221-54BD-4A63-8AE7-749436A8A0E0}" type="datetime1">
              <a:rPr lang="en-US" smtClean="0"/>
              <a:t>2/18/2026</a:t>
            </a:fld>
            <a:endParaRPr lang="en-US" dirty="0"/>
          </a:p>
        </p:txBody>
      </p:sp>
      <p:sp>
        <p:nvSpPr>
          <p:cNvPr id="5" name="Footer Placeholder 4">
            <a:extLst>
              <a:ext uri="{FF2B5EF4-FFF2-40B4-BE49-F238E27FC236}">
                <a16:creationId xmlns="" xmlns:a16="http://schemas.microsoft.com/office/drawing/2014/main" id="{EA5CADB1-111D-22D3-EDB1-E043DC323ABF}"/>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D733105E-4498-96A3-0C5F-A5E579283B92}"/>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600095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EAE6418-E00D-D82B-5A6A-A2532DB41F1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F63E6B97-B778-7455-F70C-FD8D34E3F3D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34537FB2-C318-A7C1-BABA-0AC6FA5B35AC}"/>
              </a:ext>
            </a:extLst>
          </p:cNvPr>
          <p:cNvSpPr>
            <a:spLocks noGrp="1"/>
          </p:cNvSpPr>
          <p:nvPr>
            <p:ph type="dt" sz="half" idx="10"/>
          </p:nvPr>
        </p:nvSpPr>
        <p:spPr/>
        <p:txBody>
          <a:bodyPr/>
          <a:lstStyle/>
          <a:p>
            <a:fld id="{15296570-B1EA-4487-BE32-F708B8E167B2}" type="datetime1">
              <a:rPr lang="en-US" smtClean="0"/>
              <a:t>2/18/2026</a:t>
            </a:fld>
            <a:endParaRPr lang="en-US" dirty="0"/>
          </a:p>
        </p:txBody>
      </p:sp>
      <p:sp>
        <p:nvSpPr>
          <p:cNvPr id="5" name="Footer Placeholder 4">
            <a:extLst>
              <a:ext uri="{FF2B5EF4-FFF2-40B4-BE49-F238E27FC236}">
                <a16:creationId xmlns="" xmlns:a16="http://schemas.microsoft.com/office/drawing/2014/main" id="{914FC2A1-527D-0AA9-D04D-3D2766CE0E10}"/>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81000CB2-5293-8DFA-B3B2-A0B592B4651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806395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EC1FA87-C082-E0DD-3D37-67F1640E676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 xmlns:a16="http://schemas.microsoft.com/office/drawing/2014/main" id="{1B5F515E-EB4A-D143-3D90-D5CB688823B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 xmlns:a16="http://schemas.microsoft.com/office/drawing/2014/main" id="{88B15D29-75FB-CFE9-A973-A208274B95BA}"/>
              </a:ext>
            </a:extLst>
          </p:cNvPr>
          <p:cNvSpPr>
            <a:spLocks noGrp="1"/>
          </p:cNvSpPr>
          <p:nvPr>
            <p:ph type="dt" sz="half" idx="10"/>
          </p:nvPr>
        </p:nvSpPr>
        <p:spPr/>
        <p:txBody>
          <a:bodyPr/>
          <a:lstStyle/>
          <a:p>
            <a:fld id="{4F9442CB-DE38-41A3-9AEC-FC7F477AE398}" type="datetime1">
              <a:rPr lang="en-US" smtClean="0"/>
              <a:t>2/18/2026</a:t>
            </a:fld>
            <a:endParaRPr lang="en-US" dirty="0"/>
          </a:p>
        </p:txBody>
      </p:sp>
      <p:sp>
        <p:nvSpPr>
          <p:cNvPr id="5" name="Footer Placeholder 4">
            <a:extLst>
              <a:ext uri="{FF2B5EF4-FFF2-40B4-BE49-F238E27FC236}">
                <a16:creationId xmlns="" xmlns:a16="http://schemas.microsoft.com/office/drawing/2014/main" id="{E9168659-4604-1E12-A046-E65E9BFA0D3E}"/>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86A55C1A-5CB6-A517-F4CC-78B642B353A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4085473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F354BD7-8381-6AF7-2A34-97F11643219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745D5CF0-745C-8F39-DDFC-095163A6D86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 xmlns:a16="http://schemas.microsoft.com/office/drawing/2014/main" id="{D6F0486A-0B81-6F67-77F7-3933C250588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 xmlns:a16="http://schemas.microsoft.com/office/drawing/2014/main" id="{D29CEC8B-FF84-E5F1-CD4B-B7DEE25F0DBA}"/>
              </a:ext>
            </a:extLst>
          </p:cNvPr>
          <p:cNvSpPr>
            <a:spLocks noGrp="1"/>
          </p:cNvSpPr>
          <p:nvPr>
            <p:ph type="dt" sz="half" idx="10"/>
          </p:nvPr>
        </p:nvSpPr>
        <p:spPr/>
        <p:txBody>
          <a:bodyPr/>
          <a:lstStyle/>
          <a:p>
            <a:fld id="{4259B145-4D2C-4B0D-B0F3-3793104D85F9}" type="datetime1">
              <a:rPr lang="en-US" smtClean="0"/>
              <a:t>2/18/2026</a:t>
            </a:fld>
            <a:endParaRPr lang="en-US" dirty="0"/>
          </a:p>
        </p:txBody>
      </p:sp>
      <p:sp>
        <p:nvSpPr>
          <p:cNvPr id="6" name="Footer Placeholder 5">
            <a:extLst>
              <a:ext uri="{FF2B5EF4-FFF2-40B4-BE49-F238E27FC236}">
                <a16:creationId xmlns="" xmlns:a16="http://schemas.microsoft.com/office/drawing/2014/main" id="{083D1157-B890-E7C2-8551-9CFA55DF17F2}"/>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 xmlns:a16="http://schemas.microsoft.com/office/drawing/2014/main" id="{A6834098-4893-052D-13DF-57AA3726911C}"/>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503845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195ED4B-5B6D-B5E5-67B7-D97BFC6B16D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 xmlns:a16="http://schemas.microsoft.com/office/drawing/2014/main" id="{28083AD3-D8DD-C9C8-4A8D-6E90DEEDCC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 xmlns:a16="http://schemas.microsoft.com/office/drawing/2014/main" id="{F610F8FC-1E86-8328-5873-1F1FD4540F2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 xmlns:a16="http://schemas.microsoft.com/office/drawing/2014/main" id="{7171E56A-9B29-8C99-0F9B-DFA73577B4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 xmlns:a16="http://schemas.microsoft.com/office/drawing/2014/main" id="{31551D20-42E2-AA82-6A29-ED75844F6FA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 xmlns:a16="http://schemas.microsoft.com/office/drawing/2014/main" id="{12806B38-A61F-CFF2-455E-2A0DB1CBD281}"/>
              </a:ext>
            </a:extLst>
          </p:cNvPr>
          <p:cNvSpPr>
            <a:spLocks noGrp="1"/>
          </p:cNvSpPr>
          <p:nvPr>
            <p:ph type="dt" sz="half" idx="10"/>
          </p:nvPr>
        </p:nvSpPr>
        <p:spPr/>
        <p:txBody>
          <a:bodyPr/>
          <a:lstStyle/>
          <a:p>
            <a:fld id="{041CBCE3-C8C5-4329-ADE4-5F8D67D78882}" type="datetime1">
              <a:rPr lang="en-US" smtClean="0"/>
              <a:t>2/18/2026</a:t>
            </a:fld>
            <a:endParaRPr lang="en-US" dirty="0"/>
          </a:p>
        </p:txBody>
      </p:sp>
      <p:sp>
        <p:nvSpPr>
          <p:cNvPr id="8" name="Footer Placeholder 7">
            <a:extLst>
              <a:ext uri="{FF2B5EF4-FFF2-40B4-BE49-F238E27FC236}">
                <a16:creationId xmlns="" xmlns:a16="http://schemas.microsoft.com/office/drawing/2014/main" id="{0A1ADB39-BBED-F460-3284-9B01BBA78120}"/>
              </a:ext>
            </a:extLst>
          </p:cNvPr>
          <p:cNvSpPr>
            <a:spLocks noGrp="1"/>
          </p:cNvSpPr>
          <p:nvPr>
            <p:ph type="ftr" sz="quarter" idx="11"/>
          </p:nvPr>
        </p:nvSpPr>
        <p:spPr/>
        <p:txBody>
          <a:bodyPr/>
          <a:lstStyle/>
          <a:p>
            <a:r>
              <a:rPr lang="en-US" dirty="0"/>
              <a:t>Navigating the Future of Learning​</a:t>
            </a:r>
          </a:p>
        </p:txBody>
      </p:sp>
      <p:sp>
        <p:nvSpPr>
          <p:cNvPr id="9" name="Slide Number Placeholder 8">
            <a:extLst>
              <a:ext uri="{FF2B5EF4-FFF2-40B4-BE49-F238E27FC236}">
                <a16:creationId xmlns="" xmlns:a16="http://schemas.microsoft.com/office/drawing/2014/main" id="{BAE78CB4-F5B2-2F08-FCB4-B7EFC7D9B5DD}"/>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742097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207DB33-3161-3CA7-5DA9-9AEFA7BE3D9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 xmlns:a16="http://schemas.microsoft.com/office/drawing/2014/main" id="{1B459199-60FE-8A27-4D17-58FA57F038D5}"/>
              </a:ext>
            </a:extLst>
          </p:cNvPr>
          <p:cNvSpPr>
            <a:spLocks noGrp="1"/>
          </p:cNvSpPr>
          <p:nvPr>
            <p:ph type="dt" sz="half" idx="10"/>
          </p:nvPr>
        </p:nvSpPr>
        <p:spPr/>
        <p:txBody>
          <a:bodyPr/>
          <a:lstStyle/>
          <a:p>
            <a:fld id="{EA95BDD6-391D-4D68-9A24-8E7CE46A4DC4}" type="datetime1">
              <a:rPr lang="en-US" smtClean="0"/>
              <a:t>2/18/2026</a:t>
            </a:fld>
            <a:endParaRPr lang="en-US" dirty="0"/>
          </a:p>
        </p:txBody>
      </p:sp>
      <p:sp>
        <p:nvSpPr>
          <p:cNvPr id="4" name="Footer Placeholder 3">
            <a:extLst>
              <a:ext uri="{FF2B5EF4-FFF2-40B4-BE49-F238E27FC236}">
                <a16:creationId xmlns="" xmlns:a16="http://schemas.microsoft.com/office/drawing/2014/main" id="{9B5772E0-839B-C3B1-7E64-0C8677352A57}"/>
              </a:ext>
            </a:extLst>
          </p:cNvPr>
          <p:cNvSpPr>
            <a:spLocks noGrp="1"/>
          </p:cNvSpPr>
          <p:nvPr>
            <p:ph type="ftr" sz="quarter" idx="11"/>
          </p:nvPr>
        </p:nvSpPr>
        <p:spPr/>
        <p:txBody>
          <a:bodyPr/>
          <a:lstStyle/>
          <a:p>
            <a:r>
              <a:rPr lang="en-US" dirty="0"/>
              <a:t>Navigating the Future of Learning​</a:t>
            </a:r>
          </a:p>
        </p:txBody>
      </p:sp>
      <p:sp>
        <p:nvSpPr>
          <p:cNvPr id="5" name="Slide Number Placeholder 4">
            <a:extLst>
              <a:ext uri="{FF2B5EF4-FFF2-40B4-BE49-F238E27FC236}">
                <a16:creationId xmlns="" xmlns:a16="http://schemas.microsoft.com/office/drawing/2014/main" id="{4F5A1759-598D-988C-8124-2E5044B1744E}"/>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461273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F271F3F0-F2B3-F675-7BAB-1AD2134ACD0F}"/>
              </a:ext>
            </a:extLst>
          </p:cNvPr>
          <p:cNvSpPr>
            <a:spLocks noGrp="1"/>
          </p:cNvSpPr>
          <p:nvPr>
            <p:ph type="dt" sz="half" idx="10"/>
          </p:nvPr>
        </p:nvSpPr>
        <p:spPr/>
        <p:txBody>
          <a:bodyPr/>
          <a:lstStyle/>
          <a:p>
            <a:fld id="{1B3E1E7A-3F60-43E8-97A9-E03FDFF3291A}" type="datetime1">
              <a:rPr lang="en-US" smtClean="0"/>
              <a:t>2/18/2026</a:t>
            </a:fld>
            <a:endParaRPr lang="en-US" dirty="0"/>
          </a:p>
        </p:txBody>
      </p:sp>
      <p:sp>
        <p:nvSpPr>
          <p:cNvPr id="3" name="Footer Placeholder 2">
            <a:extLst>
              <a:ext uri="{FF2B5EF4-FFF2-40B4-BE49-F238E27FC236}">
                <a16:creationId xmlns="" xmlns:a16="http://schemas.microsoft.com/office/drawing/2014/main" id="{1A44FB0A-DFB7-0737-F37C-440DCA486D73}"/>
              </a:ext>
            </a:extLst>
          </p:cNvPr>
          <p:cNvSpPr>
            <a:spLocks noGrp="1"/>
          </p:cNvSpPr>
          <p:nvPr>
            <p:ph type="ftr" sz="quarter" idx="11"/>
          </p:nvPr>
        </p:nvSpPr>
        <p:spPr/>
        <p:txBody>
          <a:bodyPr/>
          <a:lstStyle/>
          <a:p>
            <a:r>
              <a:rPr lang="en-US" dirty="0"/>
              <a:t>Navigating the Future of Learning​</a:t>
            </a:r>
          </a:p>
        </p:txBody>
      </p:sp>
      <p:sp>
        <p:nvSpPr>
          <p:cNvPr id="4" name="Slide Number Placeholder 3">
            <a:extLst>
              <a:ext uri="{FF2B5EF4-FFF2-40B4-BE49-F238E27FC236}">
                <a16:creationId xmlns="" xmlns:a16="http://schemas.microsoft.com/office/drawing/2014/main" id="{9E497C01-947E-5E24-DB3F-90342EF0A210}"/>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3104625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F41832-2691-E74A-0F3A-2DE9A6E44D8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C94BD6CD-D7DC-A4E9-FD78-EA239F4F55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 xmlns:a16="http://schemas.microsoft.com/office/drawing/2014/main" id="{54C0C722-544A-95F1-1DAD-FAD83B6633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 xmlns:a16="http://schemas.microsoft.com/office/drawing/2014/main" id="{215BCDEF-8A4D-1FA5-888F-D5A3A2CEE9D4}"/>
              </a:ext>
            </a:extLst>
          </p:cNvPr>
          <p:cNvSpPr>
            <a:spLocks noGrp="1"/>
          </p:cNvSpPr>
          <p:nvPr>
            <p:ph type="dt" sz="half" idx="10"/>
          </p:nvPr>
        </p:nvSpPr>
        <p:spPr/>
        <p:txBody>
          <a:bodyPr/>
          <a:lstStyle/>
          <a:p>
            <a:fld id="{041F2EE0-C06F-41F5-AFE0-7056E3A01EDC}" type="datetime1">
              <a:rPr lang="en-US" smtClean="0"/>
              <a:t>2/18/2026</a:t>
            </a:fld>
            <a:endParaRPr lang="en-US" dirty="0"/>
          </a:p>
        </p:txBody>
      </p:sp>
      <p:sp>
        <p:nvSpPr>
          <p:cNvPr id="6" name="Footer Placeholder 5">
            <a:extLst>
              <a:ext uri="{FF2B5EF4-FFF2-40B4-BE49-F238E27FC236}">
                <a16:creationId xmlns="" xmlns:a16="http://schemas.microsoft.com/office/drawing/2014/main" id="{81C4BD8F-AAAC-F32F-ABC2-37A3D3BC6296}"/>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 xmlns:a16="http://schemas.microsoft.com/office/drawing/2014/main" id="{3DA79EF9-CB21-BEC5-2A25-591C945DD13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671276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BACBD3-5050-C329-F415-3714918842F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 xmlns:a16="http://schemas.microsoft.com/office/drawing/2014/main" id="{C4B2BE8C-8AFF-7B97-17DD-E10D476C82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 xmlns:a16="http://schemas.microsoft.com/office/drawing/2014/main" id="{B6B1A6C9-352E-F0FC-857A-200063A76E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 xmlns:a16="http://schemas.microsoft.com/office/drawing/2014/main" id="{996AEC32-A02D-AF36-A64E-290A392B42FC}"/>
              </a:ext>
            </a:extLst>
          </p:cNvPr>
          <p:cNvSpPr>
            <a:spLocks noGrp="1"/>
          </p:cNvSpPr>
          <p:nvPr>
            <p:ph type="dt" sz="half" idx="10"/>
          </p:nvPr>
        </p:nvSpPr>
        <p:spPr/>
        <p:txBody>
          <a:bodyPr/>
          <a:lstStyle/>
          <a:p>
            <a:fld id="{93A105E1-88D0-4311-A599-0C8A6973053A}" type="datetime1">
              <a:rPr lang="en-US" smtClean="0"/>
              <a:t>2/18/2026</a:t>
            </a:fld>
            <a:endParaRPr lang="en-US" dirty="0"/>
          </a:p>
        </p:txBody>
      </p:sp>
      <p:sp>
        <p:nvSpPr>
          <p:cNvPr id="6" name="Footer Placeholder 5">
            <a:extLst>
              <a:ext uri="{FF2B5EF4-FFF2-40B4-BE49-F238E27FC236}">
                <a16:creationId xmlns="" xmlns:a16="http://schemas.microsoft.com/office/drawing/2014/main" id="{26B0ECF5-F111-F43D-1DD0-2623EE225A1F}"/>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 xmlns:a16="http://schemas.microsoft.com/office/drawing/2014/main" id="{A3ED8375-499D-DCA7-5D7B-91DD95B7F87A}"/>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4160511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AE933A4-C03D-26A7-C451-392D04E6A23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 xmlns:a16="http://schemas.microsoft.com/office/drawing/2014/main" id="{C339E290-0E60-50DC-3A6D-AFC921C4E83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B1DDBB31-5065-A920-BCE3-A6379F318E85}"/>
              </a:ext>
            </a:extLst>
          </p:cNvPr>
          <p:cNvSpPr>
            <a:spLocks noGrp="1"/>
          </p:cNvSpPr>
          <p:nvPr>
            <p:ph type="dt" sz="half" idx="10"/>
          </p:nvPr>
        </p:nvSpPr>
        <p:spPr/>
        <p:txBody>
          <a:bodyPr/>
          <a:lstStyle/>
          <a:p>
            <a:fld id="{159EA562-091E-45D6-BEDF-3C68FB2023F1}" type="datetime1">
              <a:rPr lang="en-US" smtClean="0"/>
              <a:t>2/18/2026</a:t>
            </a:fld>
            <a:endParaRPr lang="en-US" dirty="0"/>
          </a:p>
        </p:txBody>
      </p:sp>
      <p:sp>
        <p:nvSpPr>
          <p:cNvPr id="5" name="Footer Placeholder 4">
            <a:extLst>
              <a:ext uri="{FF2B5EF4-FFF2-40B4-BE49-F238E27FC236}">
                <a16:creationId xmlns="" xmlns:a16="http://schemas.microsoft.com/office/drawing/2014/main" id="{8650F398-CC52-3E67-DDF6-C862313CC410}"/>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4272AE45-AD9E-08FA-1F71-75DFC9E00C85}"/>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718351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0AF91D67-8C5B-5055-B5D2-6BAAE7E9503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 xmlns:a16="http://schemas.microsoft.com/office/drawing/2014/main" id="{04D31080-7646-1B9C-C36F-D2F6BB87473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BDA404C4-6EA5-D815-E9B2-7CDBB94E9D0D}"/>
              </a:ext>
            </a:extLst>
          </p:cNvPr>
          <p:cNvSpPr>
            <a:spLocks noGrp="1"/>
          </p:cNvSpPr>
          <p:nvPr>
            <p:ph type="dt" sz="half" idx="10"/>
          </p:nvPr>
        </p:nvSpPr>
        <p:spPr/>
        <p:txBody>
          <a:bodyPr/>
          <a:lstStyle/>
          <a:p>
            <a:fld id="{DDF14D94-52B8-43E9-A8F3-BD9E24437DA3}" type="datetime1">
              <a:rPr lang="en-US" smtClean="0"/>
              <a:t>2/18/2026</a:t>
            </a:fld>
            <a:endParaRPr lang="en-US" dirty="0"/>
          </a:p>
        </p:txBody>
      </p:sp>
      <p:sp>
        <p:nvSpPr>
          <p:cNvPr id="5" name="Footer Placeholder 4">
            <a:extLst>
              <a:ext uri="{FF2B5EF4-FFF2-40B4-BE49-F238E27FC236}">
                <a16:creationId xmlns="" xmlns:a16="http://schemas.microsoft.com/office/drawing/2014/main" id="{97EFDD0D-44E3-A86F-6F17-A722DA9F5AB5}"/>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83E417A5-F8F0-AA31-71DF-34D6584981BA}"/>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32997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39A89A0B-DE9F-F1C6-643E-DCA32D53C3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 xmlns:a16="http://schemas.microsoft.com/office/drawing/2014/main" id="{3953DDAA-3094-DBCE-F38B-123FB91FDD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8AF0BF9E-5E8A-1649-84DC-281A5BAAC4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BC827E-01D8-46AF-B9E0-11E08B19BA59}" type="datetime1">
              <a:rPr lang="en-US" smtClean="0"/>
              <a:t>2/18/2026</a:t>
            </a:fld>
            <a:endParaRPr lang="en-US" dirty="0"/>
          </a:p>
        </p:txBody>
      </p:sp>
      <p:sp>
        <p:nvSpPr>
          <p:cNvPr id="5" name="Footer Placeholder 4">
            <a:extLst>
              <a:ext uri="{FF2B5EF4-FFF2-40B4-BE49-F238E27FC236}">
                <a16:creationId xmlns="" xmlns:a16="http://schemas.microsoft.com/office/drawing/2014/main" id="{5BDEDD1E-16D6-9C67-B90A-3F23927ED3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Navigating the Future of Learning​</a:t>
            </a:r>
          </a:p>
        </p:txBody>
      </p:sp>
      <p:sp>
        <p:nvSpPr>
          <p:cNvPr id="6" name="Slide Number Placeholder 5">
            <a:extLst>
              <a:ext uri="{FF2B5EF4-FFF2-40B4-BE49-F238E27FC236}">
                <a16:creationId xmlns="" xmlns:a16="http://schemas.microsoft.com/office/drawing/2014/main" id="{B5FC0268-EDD9-BFDA-9A07-5241871BF4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3362F8-88F8-1F49-86F0-D11B2D99FEE0}" type="slidenum">
              <a:rPr lang="en-US" smtClean="0"/>
              <a:t>‹#›</a:t>
            </a:fld>
            <a:endParaRPr lang="en-US" dirty="0"/>
          </a:p>
        </p:txBody>
      </p:sp>
    </p:spTree>
    <p:extLst>
      <p:ext uri="{BB962C8B-B14F-4D97-AF65-F5344CB8AC3E}">
        <p14:creationId xmlns:p14="http://schemas.microsoft.com/office/powerpoint/2010/main" val="20553676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cxnSp>
        <p:nvCxnSpPr>
          <p:cNvPr id="3" name="Straight Connector 2"/>
          <p:cNvCxnSpPr/>
          <p:nvPr/>
        </p:nvCxnSpPr>
        <p:spPr>
          <a:xfrm>
            <a:off x="6141493" y="1535723"/>
            <a:ext cx="13648" cy="532227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126638" y="1038851"/>
            <a:ext cx="10936408"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3" name="Google Shape;143;p1">
            <a:extLst>
              <a:ext uri="{FF2B5EF4-FFF2-40B4-BE49-F238E27FC236}">
                <a16:creationId xmlns:a16="http://schemas.microsoft.com/office/drawing/2014/main" xmlns="" id="{E4949A97-DC03-56A5-2E5A-3DD3913AA0EF}"/>
              </a:ext>
            </a:extLst>
          </p:cNvPr>
          <p:cNvSpPr txBox="1">
            <a:spLocks noGrp="1"/>
          </p:cNvSpPr>
          <p:nvPr/>
        </p:nvSpPr>
        <p:spPr>
          <a:xfrm>
            <a:off x="1401288" y="103948"/>
            <a:ext cx="4951915" cy="1113692"/>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5400"/>
              <a:buFont typeface="Arial"/>
              <a:buNone/>
              <a:defRPr sz="54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it-IT" sz="4400" b="1" dirty="0" smtClean="0">
                <a:solidFill>
                  <a:schemeClr val="tx1"/>
                </a:solidFill>
                <a:latin typeface="Segoe UI Black" pitchFamily="34" charset="0"/>
                <a:ea typeface="Segoe UI Black" pitchFamily="34" charset="0"/>
              </a:rPr>
              <a:t>Chains </a:t>
            </a:r>
          </a:p>
          <a:p>
            <a:endParaRPr lang="it-IT" sz="4000" b="1" dirty="0">
              <a:solidFill>
                <a:schemeClr val="tx1"/>
              </a:solidFill>
            </a:endParaRPr>
          </a:p>
        </p:txBody>
      </p:sp>
      <p:pic>
        <p:nvPicPr>
          <p:cNvPr id="2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1" y="1"/>
            <a:ext cx="1407439" cy="1166386"/>
          </a:xfrm>
          <a:prstGeom prst="rect">
            <a:avLst/>
          </a:prstGeom>
          <a:noFill/>
          <a:ln>
            <a:noFill/>
          </a:ln>
          <a:effectLst>
            <a:outerShdw dist="35921" dir="2700000" algn="ctr" rotWithShape="0">
              <a:schemeClr val="bg2"/>
            </a:outerShdw>
            <a:softEdge rad="317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24">
            <a:extLst>
              <a:ext uri="{FF2B5EF4-FFF2-40B4-BE49-F238E27FC236}">
                <a16:creationId xmlns:a16="http://schemas.microsoft.com/office/drawing/2014/main" xmlns="" id="{8E4B4487-5609-54AF-1FCA-AB3F6B737A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40480" y="68926"/>
            <a:ext cx="2422566" cy="93841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809077" y="659589"/>
            <a:ext cx="1204176" cy="338554"/>
          </a:xfrm>
          <a:prstGeom prst="rect">
            <a:avLst/>
          </a:prstGeom>
          <a:solidFill>
            <a:schemeClr val="bg1"/>
          </a:solidFill>
        </p:spPr>
        <p:txBody>
          <a:bodyPr wrap="none" rtlCol="0">
            <a:spAutoFit/>
          </a:bodyPr>
          <a:lstStyle/>
          <a:p>
            <a:r>
              <a:rPr lang="it-IT" sz="1600" b="1" dirty="0">
                <a:latin typeface="Segoe UI Black" pitchFamily="34" charset="0"/>
                <a:ea typeface="Segoe UI Black" pitchFamily="34" charset="0"/>
              </a:rPr>
              <a:t>Langchain</a:t>
            </a:r>
            <a:endParaRPr lang="en-IN" sz="1600" dirty="0">
              <a:latin typeface="Arial Rounded MT Bold" pitchFamily="34" charset="0"/>
            </a:endParaRPr>
          </a:p>
        </p:txBody>
      </p:sp>
      <p:grpSp>
        <p:nvGrpSpPr>
          <p:cNvPr id="10" name="Group 9"/>
          <p:cNvGrpSpPr/>
          <p:nvPr/>
        </p:nvGrpSpPr>
        <p:grpSpPr>
          <a:xfrm>
            <a:off x="1506796" y="1542342"/>
            <a:ext cx="2474731" cy="1899290"/>
            <a:chOff x="1506796" y="1542342"/>
            <a:chExt cx="2474731" cy="1899290"/>
          </a:xfrm>
        </p:grpSpPr>
        <p:grpSp>
          <p:nvGrpSpPr>
            <p:cNvPr id="4" name="Group 3"/>
            <p:cNvGrpSpPr/>
            <p:nvPr/>
          </p:nvGrpSpPr>
          <p:grpSpPr>
            <a:xfrm>
              <a:off x="1506796" y="1542342"/>
              <a:ext cx="2474730" cy="925166"/>
              <a:chOff x="1522475" y="1942475"/>
              <a:chExt cx="2474730" cy="925166"/>
            </a:xfrm>
          </p:grpSpPr>
          <p:sp>
            <p:nvSpPr>
              <p:cNvPr id="9" name="TextBox 8"/>
              <p:cNvSpPr txBox="1"/>
              <p:nvPr/>
            </p:nvSpPr>
            <p:spPr>
              <a:xfrm>
                <a:off x="1522476" y="1942475"/>
                <a:ext cx="2474729" cy="276999"/>
              </a:xfrm>
              <a:prstGeom prst="rect">
                <a:avLst/>
              </a:prstGeom>
              <a:solidFill>
                <a:schemeClr val="accent1">
                  <a:lumMod val="20000"/>
                  <a:lumOff val="80000"/>
                </a:schemeClr>
              </a:solidFill>
              <a:ln>
                <a:solidFill>
                  <a:schemeClr val="bg1">
                    <a:lumMod val="75000"/>
                  </a:schemeClr>
                </a:solidFill>
              </a:ln>
            </p:spPr>
            <p:txBody>
              <a:bodyPr wrap="square" rtlCol="0">
                <a:spAutoFit/>
              </a:bodyPr>
              <a:lstStyle/>
              <a:p>
                <a:endParaRPr lang="en-IN" sz="1200" dirty="0">
                  <a:latin typeface="Bahnschrift Light" pitchFamily="34" charset="0"/>
                  <a:ea typeface="Arial Unicode MS" pitchFamily="34" charset="-128"/>
                  <a:cs typeface="Arial Unicode MS" pitchFamily="34" charset="-128"/>
                </a:endParaRPr>
              </a:p>
            </p:txBody>
          </p:sp>
          <p:sp>
            <p:nvSpPr>
              <p:cNvPr id="26" name="TextBox 25"/>
              <p:cNvSpPr txBox="1"/>
              <p:nvPr/>
            </p:nvSpPr>
            <p:spPr>
              <a:xfrm>
                <a:off x="1522475" y="2262356"/>
                <a:ext cx="2474729" cy="276999"/>
              </a:xfrm>
              <a:prstGeom prst="rect">
                <a:avLst/>
              </a:prstGeom>
              <a:solidFill>
                <a:schemeClr val="accent1">
                  <a:lumMod val="20000"/>
                  <a:lumOff val="80000"/>
                </a:schemeClr>
              </a:solidFill>
              <a:ln>
                <a:solidFill>
                  <a:schemeClr val="bg1">
                    <a:lumMod val="75000"/>
                  </a:schemeClr>
                </a:solidFill>
              </a:ln>
            </p:spPr>
            <p:txBody>
              <a:bodyPr wrap="square" rtlCol="0">
                <a:spAutoFit/>
              </a:bodyPr>
              <a:lstStyle/>
              <a:p>
                <a:endParaRPr lang="en-IN" sz="1200" dirty="0">
                  <a:latin typeface="Bahnschrift Light" pitchFamily="34" charset="0"/>
                  <a:ea typeface="Arial Unicode MS" pitchFamily="34" charset="-128"/>
                  <a:cs typeface="Arial Unicode MS" pitchFamily="34" charset="-128"/>
                </a:endParaRPr>
              </a:p>
            </p:txBody>
          </p:sp>
          <p:sp>
            <p:nvSpPr>
              <p:cNvPr id="27" name="TextBox 26"/>
              <p:cNvSpPr txBox="1"/>
              <p:nvPr/>
            </p:nvSpPr>
            <p:spPr>
              <a:xfrm>
                <a:off x="1522476" y="2590642"/>
                <a:ext cx="2474729" cy="276999"/>
              </a:xfrm>
              <a:prstGeom prst="rect">
                <a:avLst/>
              </a:prstGeom>
              <a:solidFill>
                <a:schemeClr val="accent1">
                  <a:lumMod val="20000"/>
                  <a:lumOff val="80000"/>
                </a:schemeClr>
              </a:solidFill>
              <a:ln>
                <a:solidFill>
                  <a:schemeClr val="bg1">
                    <a:lumMod val="75000"/>
                  </a:schemeClr>
                </a:solidFill>
              </a:ln>
            </p:spPr>
            <p:txBody>
              <a:bodyPr wrap="square" rtlCol="0">
                <a:spAutoFit/>
              </a:bodyPr>
              <a:lstStyle/>
              <a:p>
                <a:endParaRPr lang="en-IN" sz="1200" dirty="0">
                  <a:latin typeface="Bahnschrift Light" pitchFamily="34" charset="0"/>
                  <a:ea typeface="Arial Unicode MS" pitchFamily="34" charset="-128"/>
                  <a:cs typeface="Arial Unicode MS" pitchFamily="34" charset="-128"/>
                </a:endParaRPr>
              </a:p>
            </p:txBody>
          </p:sp>
        </p:grpSp>
        <p:grpSp>
          <p:nvGrpSpPr>
            <p:cNvPr id="15" name="Group 14"/>
            <p:cNvGrpSpPr/>
            <p:nvPr/>
          </p:nvGrpSpPr>
          <p:grpSpPr>
            <a:xfrm>
              <a:off x="1506797" y="2516466"/>
              <a:ext cx="2474730" cy="925166"/>
              <a:chOff x="1522475" y="1942475"/>
              <a:chExt cx="2474730" cy="925166"/>
            </a:xfrm>
          </p:grpSpPr>
          <p:sp>
            <p:nvSpPr>
              <p:cNvPr id="16" name="TextBox 15"/>
              <p:cNvSpPr txBox="1"/>
              <p:nvPr/>
            </p:nvSpPr>
            <p:spPr>
              <a:xfrm>
                <a:off x="1522476" y="1942475"/>
                <a:ext cx="2474729" cy="276999"/>
              </a:xfrm>
              <a:prstGeom prst="rect">
                <a:avLst/>
              </a:prstGeom>
              <a:solidFill>
                <a:schemeClr val="accent1">
                  <a:lumMod val="20000"/>
                  <a:lumOff val="80000"/>
                </a:schemeClr>
              </a:solidFill>
              <a:ln>
                <a:solidFill>
                  <a:schemeClr val="bg1">
                    <a:lumMod val="75000"/>
                  </a:schemeClr>
                </a:solidFill>
              </a:ln>
            </p:spPr>
            <p:txBody>
              <a:bodyPr wrap="square" rtlCol="0">
                <a:spAutoFit/>
              </a:bodyPr>
              <a:lstStyle/>
              <a:p>
                <a:endParaRPr lang="en-IN" sz="1200" dirty="0">
                  <a:latin typeface="Bahnschrift Light" pitchFamily="34" charset="0"/>
                  <a:ea typeface="Arial Unicode MS" pitchFamily="34" charset="-128"/>
                  <a:cs typeface="Arial Unicode MS" pitchFamily="34" charset="-128"/>
                </a:endParaRPr>
              </a:p>
            </p:txBody>
          </p:sp>
          <p:sp>
            <p:nvSpPr>
              <p:cNvPr id="17" name="TextBox 16"/>
              <p:cNvSpPr txBox="1"/>
              <p:nvPr/>
            </p:nvSpPr>
            <p:spPr>
              <a:xfrm>
                <a:off x="1522475" y="2262356"/>
                <a:ext cx="2474729" cy="276999"/>
              </a:xfrm>
              <a:prstGeom prst="rect">
                <a:avLst/>
              </a:prstGeom>
              <a:solidFill>
                <a:schemeClr val="accent1">
                  <a:lumMod val="20000"/>
                  <a:lumOff val="80000"/>
                </a:schemeClr>
              </a:solidFill>
              <a:ln>
                <a:solidFill>
                  <a:schemeClr val="bg1">
                    <a:lumMod val="75000"/>
                  </a:schemeClr>
                </a:solidFill>
              </a:ln>
            </p:spPr>
            <p:txBody>
              <a:bodyPr wrap="square" rtlCol="0">
                <a:spAutoFit/>
              </a:bodyPr>
              <a:lstStyle/>
              <a:p>
                <a:endParaRPr lang="en-IN" sz="1200" dirty="0">
                  <a:latin typeface="Bahnschrift Light" pitchFamily="34" charset="0"/>
                  <a:ea typeface="Arial Unicode MS" pitchFamily="34" charset="-128"/>
                  <a:cs typeface="Arial Unicode MS" pitchFamily="34" charset="-128"/>
                </a:endParaRPr>
              </a:p>
            </p:txBody>
          </p:sp>
          <p:sp>
            <p:nvSpPr>
              <p:cNvPr id="19" name="TextBox 18"/>
              <p:cNvSpPr txBox="1"/>
              <p:nvPr/>
            </p:nvSpPr>
            <p:spPr>
              <a:xfrm>
                <a:off x="1522476" y="2590642"/>
                <a:ext cx="2474729" cy="276999"/>
              </a:xfrm>
              <a:prstGeom prst="rect">
                <a:avLst/>
              </a:prstGeom>
              <a:solidFill>
                <a:schemeClr val="accent1">
                  <a:lumMod val="20000"/>
                  <a:lumOff val="80000"/>
                </a:schemeClr>
              </a:solidFill>
              <a:ln>
                <a:solidFill>
                  <a:schemeClr val="bg1">
                    <a:lumMod val="75000"/>
                  </a:schemeClr>
                </a:solidFill>
              </a:ln>
            </p:spPr>
            <p:txBody>
              <a:bodyPr wrap="square" rtlCol="0">
                <a:spAutoFit/>
              </a:bodyPr>
              <a:lstStyle/>
              <a:p>
                <a:endParaRPr lang="en-IN" sz="1200" dirty="0">
                  <a:latin typeface="Bahnschrift Light" pitchFamily="34" charset="0"/>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8045807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pic>
        <p:nvPicPr>
          <p:cNvPr id="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77266" y="98855"/>
            <a:ext cx="1314734" cy="1089559"/>
          </a:xfrm>
          <a:prstGeom prst="rect">
            <a:avLst/>
          </a:prstGeom>
          <a:noFill/>
          <a:ln>
            <a:noFill/>
          </a:ln>
          <a:effectLst>
            <a:outerShdw dist="35921" dir="2700000" algn="ctr" rotWithShape="0">
              <a:schemeClr val="bg2"/>
            </a:outerShdw>
            <a:softEdge rad="317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1355123" y="1063764"/>
            <a:ext cx="9667103" cy="1200329"/>
          </a:xfrm>
          <a:prstGeom prst="rect">
            <a:avLst/>
          </a:prstGeom>
          <a:noFill/>
        </p:spPr>
        <p:txBody>
          <a:bodyPr wrap="square">
            <a:spAutoFit/>
          </a:bodyPr>
          <a:lstStyle/>
          <a:p>
            <a:r>
              <a:rPr lang="en-US" sz="2400" dirty="0">
                <a:solidFill>
                  <a:srgbClr val="0070C0"/>
                </a:solidFill>
                <a:latin typeface="Bahnschrift SemiBold" pitchFamily="34" charset="0"/>
              </a:rPr>
              <a:t>Chaining</a:t>
            </a:r>
            <a:r>
              <a:rPr lang="en-US" dirty="0">
                <a:latin typeface="Bahnschrift Light" pitchFamily="34" charset="0"/>
              </a:rPr>
              <a:t> </a:t>
            </a:r>
            <a:r>
              <a:rPr lang="en-US" sz="1600" dirty="0" smtClean="0">
                <a:latin typeface="Bahnschrift Light" pitchFamily="34" charset="0"/>
              </a:rPr>
              <a:t>means </a:t>
            </a:r>
            <a:r>
              <a:rPr lang="en-US" sz="1600" dirty="0">
                <a:latin typeface="Bahnschrift Light" pitchFamily="34" charset="0"/>
              </a:rPr>
              <a:t>connecting different components to build complex </a:t>
            </a:r>
            <a:r>
              <a:rPr lang="en-US" sz="1600" dirty="0">
                <a:solidFill>
                  <a:srgbClr val="FF0066"/>
                </a:solidFill>
                <a:latin typeface="Bahnschrift Light" pitchFamily="34" charset="0"/>
              </a:rPr>
              <a:t>LLM-powered applications</a:t>
            </a:r>
            <a:r>
              <a:rPr lang="en-US" sz="1600" dirty="0" smtClean="0">
                <a:latin typeface="Bahnschrift Light" pitchFamily="34" charset="0"/>
              </a:rPr>
              <a:t>.</a:t>
            </a:r>
          </a:p>
          <a:p>
            <a:r>
              <a:rPr lang="en-US" sz="1600" dirty="0" smtClean="0">
                <a:latin typeface="Bahnschrift Light" pitchFamily="34" charset="0"/>
              </a:rPr>
              <a:t>Each </a:t>
            </a:r>
            <a:r>
              <a:rPr lang="en-US" sz="1600" dirty="0">
                <a:latin typeface="Bahnschrift Light" pitchFamily="34" charset="0"/>
              </a:rPr>
              <a:t>component takes some input, processes it and passes the output to the next component. </a:t>
            </a:r>
            <a:endParaRPr lang="en-US" sz="1600" dirty="0" smtClean="0">
              <a:latin typeface="Bahnschrift Light" pitchFamily="34" charset="0"/>
            </a:endParaRPr>
          </a:p>
          <a:p>
            <a:r>
              <a:rPr lang="en-US" sz="1600" dirty="0" smtClean="0">
                <a:latin typeface="Bahnschrift Light" pitchFamily="34" charset="0"/>
              </a:rPr>
              <a:t>This </a:t>
            </a:r>
            <a:r>
              <a:rPr lang="en-US" sz="1600" dirty="0">
                <a:latin typeface="Bahnschrift Light" pitchFamily="34" charset="0"/>
              </a:rPr>
              <a:t>helps in building sophisticated and complex applications. </a:t>
            </a:r>
            <a:endParaRPr lang="en-US" sz="1600" dirty="0" smtClean="0">
              <a:latin typeface="Bahnschrift Light" pitchFamily="34" charset="0"/>
            </a:endParaRPr>
          </a:p>
          <a:p>
            <a:r>
              <a:rPr lang="en-US" sz="1600" dirty="0" smtClean="0">
                <a:latin typeface="Bahnschrift Light" pitchFamily="34" charset="0"/>
              </a:rPr>
              <a:t>Chains </a:t>
            </a:r>
            <a:r>
              <a:rPr lang="en-US" sz="1600" dirty="0">
                <a:latin typeface="Bahnschrift Light" pitchFamily="34" charset="0"/>
              </a:rPr>
              <a:t>help in building pipelines.</a:t>
            </a:r>
            <a:endParaRPr lang="en-IN" sz="1600" dirty="0">
              <a:latin typeface="Bahnschrift Light" pitchFamily="34" charset="0"/>
            </a:endParaRPr>
          </a:p>
        </p:txBody>
      </p:sp>
      <p:grpSp>
        <p:nvGrpSpPr>
          <p:cNvPr id="6" name="Group 5"/>
          <p:cNvGrpSpPr/>
          <p:nvPr/>
        </p:nvGrpSpPr>
        <p:grpSpPr>
          <a:xfrm>
            <a:off x="4830303" y="3089874"/>
            <a:ext cx="863056" cy="769442"/>
            <a:chOff x="4560831" y="3089874"/>
            <a:chExt cx="863056" cy="769442"/>
          </a:xfrm>
        </p:grpSpPr>
        <p:sp>
          <p:nvSpPr>
            <p:cNvPr id="3" name="Rectangle 2"/>
            <p:cNvSpPr/>
            <p:nvPr/>
          </p:nvSpPr>
          <p:spPr>
            <a:xfrm>
              <a:off x="4770183" y="3274540"/>
              <a:ext cx="444352" cy="400110"/>
            </a:xfrm>
            <a:prstGeom prst="rect">
              <a:avLst/>
            </a:prstGeom>
          </p:spPr>
          <p:txBody>
            <a:bodyPr wrap="none">
              <a:spAutoFit/>
            </a:bodyPr>
            <a:lstStyle/>
            <a:p>
              <a:r>
                <a:rPr lang="en-IN" sz="2000" dirty="0"/>
                <a:t>🔗</a:t>
              </a:r>
              <a:r>
                <a:rPr lang="en-IN" sz="2000" dirty="0" smtClean="0"/>
                <a:t>‍</a:t>
              </a:r>
              <a:endParaRPr lang="en-IN" sz="2000" dirty="0"/>
            </a:p>
          </p:txBody>
        </p:sp>
        <p:sp>
          <p:nvSpPr>
            <p:cNvPr id="4" name="Rectangle 3"/>
            <p:cNvSpPr/>
            <p:nvPr/>
          </p:nvSpPr>
          <p:spPr>
            <a:xfrm>
              <a:off x="4560831" y="3459206"/>
              <a:ext cx="444352" cy="400110"/>
            </a:xfrm>
            <a:prstGeom prst="rect">
              <a:avLst/>
            </a:prstGeom>
          </p:spPr>
          <p:txBody>
            <a:bodyPr wrap="none">
              <a:spAutoFit/>
            </a:bodyPr>
            <a:lstStyle/>
            <a:p>
              <a:r>
                <a:rPr lang="en-IN" sz="2000" dirty="0"/>
                <a:t>🔗</a:t>
              </a:r>
              <a:r>
                <a:rPr lang="en-IN" sz="2000" dirty="0" smtClean="0"/>
                <a:t>‍</a:t>
              </a:r>
              <a:endParaRPr lang="en-IN" sz="2000" dirty="0"/>
            </a:p>
          </p:txBody>
        </p:sp>
        <p:sp>
          <p:nvSpPr>
            <p:cNvPr id="5" name="Rectangle 4"/>
            <p:cNvSpPr/>
            <p:nvPr/>
          </p:nvSpPr>
          <p:spPr>
            <a:xfrm>
              <a:off x="4979535" y="3089874"/>
              <a:ext cx="444352" cy="400110"/>
            </a:xfrm>
            <a:prstGeom prst="rect">
              <a:avLst/>
            </a:prstGeom>
          </p:spPr>
          <p:txBody>
            <a:bodyPr wrap="none">
              <a:spAutoFit/>
            </a:bodyPr>
            <a:lstStyle/>
            <a:p>
              <a:r>
                <a:rPr lang="en-IN" sz="2000" dirty="0"/>
                <a:t>🔗</a:t>
              </a:r>
              <a:r>
                <a:rPr lang="en-IN" sz="2000" dirty="0" smtClean="0"/>
                <a:t>‍</a:t>
              </a:r>
              <a:endParaRPr lang="en-IN" sz="2000" dirty="0"/>
            </a:p>
          </p:txBody>
        </p:sp>
      </p:grpSp>
    </p:spTree>
    <p:extLst>
      <p:ext uri="{BB962C8B-B14F-4D97-AF65-F5344CB8AC3E}">
        <p14:creationId xmlns:p14="http://schemas.microsoft.com/office/powerpoint/2010/main" val="340691388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3" name="Rectangle 2"/>
          <p:cNvSpPr/>
          <p:nvPr/>
        </p:nvSpPr>
        <p:spPr>
          <a:xfrm>
            <a:off x="593124" y="879495"/>
            <a:ext cx="11405287" cy="4154984"/>
          </a:xfrm>
          <a:prstGeom prst="rect">
            <a:avLst/>
          </a:prstGeom>
        </p:spPr>
        <p:txBody>
          <a:bodyPr wrap="square">
            <a:spAutoFit/>
          </a:bodyPr>
          <a:lstStyle/>
          <a:p>
            <a:r>
              <a:rPr lang="en-US" dirty="0">
                <a:latin typeface="Bahnschrift" pitchFamily="34" charset="0"/>
              </a:rPr>
              <a:t>1. Simplify Data Flow</a:t>
            </a:r>
          </a:p>
          <a:p>
            <a:pPr lvl="1"/>
            <a:r>
              <a:rPr lang="en-US" sz="1600" dirty="0">
                <a:latin typeface="Bahnschrift Light" pitchFamily="34" charset="0"/>
              </a:rPr>
              <a:t>Chains handle how data moves between steps for you, so we don’t have to manually wire everything together. This makes our code cleaner, easier to understand, and less prone to errors.</a:t>
            </a:r>
          </a:p>
          <a:p>
            <a:endParaRPr lang="en-US" sz="1600" dirty="0">
              <a:latin typeface="Bahnschrift Light" pitchFamily="34" charset="0"/>
            </a:endParaRPr>
          </a:p>
          <a:p>
            <a:r>
              <a:rPr lang="en-US" dirty="0">
                <a:latin typeface="Bahnschrift" pitchFamily="34" charset="0"/>
              </a:rPr>
              <a:t>2. Multi-step application logic</a:t>
            </a:r>
          </a:p>
          <a:p>
            <a:pPr lvl="1"/>
            <a:r>
              <a:rPr lang="en-US" sz="1600" dirty="0">
                <a:latin typeface="Bahnschrift Light" pitchFamily="34" charset="0"/>
              </a:rPr>
              <a:t>Real-world applications often require multiple LLM calls and various prompt templates to handle complex tasks. Manually managing this can get messy and error-prone, but chains simplify the process by organizing it into a clear, structured flow.</a:t>
            </a:r>
          </a:p>
          <a:p>
            <a:endParaRPr lang="en-US" dirty="0"/>
          </a:p>
          <a:p>
            <a:r>
              <a:rPr lang="en-US" dirty="0">
                <a:latin typeface="Bahnschrift" pitchFamily="34" charset="0"/>
              </a:rPr>
              <a:t>3. Scaling Becomes Easier</a:t>
            </a:r>
          </a:p>
          <a:p>
            <a:pPr lvl="1"/>
            <a:r>
              <a:rPr lang="en-US" sz="1600" dirty="0">
                <a:latin typeface="Bahnschrift Light" pitchFamily="34" charset="0"/>
              </a:rPr>
              <a:t>Chaining makes each component reusable, so we can easily switch between models or services without reworking your entire app. This flexibility is key when our project grows or needs to adapt quickly. For example — we can just switch between LLM models Gemini to OpenAI with a single line of code, without needing to make any modifications in other components.</a:t>
            </a:r>
          </a:p>
          <a:p>
            <a:pPr lvl="1"/>
            <a:r>
              <a:rPr lang="en-US" sz="1600" dirty="0">
                <a:latin typeface="Bahnschrift Light" pitchFamily="34" charset="0"/>
              </a:rPr>
              <a:t>Now we know why we need chains in the first place. So we can move towards the coding part wherein we will understand different types of chaining with their Python implementation.</a:t>
            </a:r>
          </a:p>
        </p:txBody>
      </p:sp>
      <p:grpSp>
        <p:nvGrpSpPr>
          <p:cNvPr id="6" name="Group 5"/>
          <p:cNvGrpSpPr/>
          <p:nvPr/>
        </p:nvGrpSpPr>
        <p:grpSpPr>
          <a:xfrm>
            <a:off x="146701" y="278712"/>
            <a:ext cx="3001143" cy="400110"/>
            <a:chOff x="146701" y="278712"/>
            <a:chExt cx="3001143" cy="400110"/>
          </a:xfrm>
        </p:grpSpPr>
        <p:sp>
          <p:nvSpPr>
            <p:cNvPr id="2" name="Rectangle 1"/>
            <p:cNvSpPr/>
            <p:nvPr/>
          </p:nvSpPr>
          <p:spPr>
            <a:xfrm>
              <a:off x="146701" y="278712"/>
              <a:ext cx="3001143" cy="400110"/>
            </a:xfrm>
            <a:prstGeom prst="rect">
              <a:avLst/>
            </a:prstGeom>
          </p:spPr>
          <p:txBody>
            <a:bodyPr wrap="none">
              <a:spAutoFit/>
            </a:bodyPr>
            <a:lstStyle/>
            <a:p>
              <a:r>
                <a:rPr lang="en-US" sz="2000" b="1" dirty="0">
                  <a:solidFill>
                    <a:schemeClr val="accent1"/>
                  </a:solidFill>
                  <a:latin typeface="Bahnschrift" pitchFamily="34" charset="0"/>
                </a:rPr>
                <a:t>Why do we need Chains?</a:t>
              </a:r>
            </a:p>
          </p:txBody>
        </p:sp>
        <p:cxnSp>
          <p:nvCxnSpPr>
            <p:cNvPr id="5" name="Straight Connector 4"/>
            <p:cNvCxnSpPr/>
            <p:nvPr/>
          </p:nvCxnSpPr>
          <p:spPr>
            <a:xfrm>
              <a:off x="259492" y="678822"/>
              <a:ext cx="2014151"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0691388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pic>
        <p:nvPicPr>
          <p:cNvPr id="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77266" y="98855"/>
            <a:ext cx="1314734" cy="1089559"/>
          </a:xfrm>
          <a:prstGeom prst="rect">
            <a:avLst/>
          </a:prstGeom>
          <a:noFill/>
          <a:ln>
            <a:noFill/>
          </a:ln>
          <a:effectLst>
            <a:outerShdw dist="35921" dir="2700000" algn="ctr" rotWithShape="0">
              <a:schemeClr val="bg2"/>
            </a:outerShdw>
            <a:softEdge rad="317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 name="Group 2"/>
          <p:cNvGrpSpPr/>
          <p:nvPr/>
        </p:nvGrpSpPr>
        <p:grpSpPr>
          <a:xfrm>
            <a:off x="248672" y="178130"/>
            <a:ext cx="2074398" cy="338450"/>
            <a:chOff x="248672" y="195940"/>
            <a:chExt cx="2074398" cy="338450"/>
          </a:xfrm>
        </p:grpSpPr>
        <p:cxnSp>
          <p:nvCxnSpPr>
            <p:cNvPr id="4" name="Straight Connector 3"/>
            <p:cNvCxnSpPr/>
            <p:nvPr/>
          </p:nvCxnSpPr>
          <p:spPr>
            <a:xfrm flipV="1">
              <a:off x="248672" y="528455"/>
              <a:ext cx="2074398" cy="5935"/>
            </a:xfrm>
            <a:prstGeom prst="line">
              <a:avLst/>
            </a:prstGeom>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391176" y="195940"/>
              <a:ext cx="894696" cy="332515"/>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dirty="0">
                  <a:latin typeface="Bahnschrift" pitchFamily="34" charset="0"/>
                </a:rPr>
                <a:t>Chains</a:t>
              </a:r>
            </a:p>
          </p:txBody>
        </p:sp>
      </p:grpSp>
      <p:sp>
        <p:nvSpPr>
          <p:cNvPr id="2" name="TextBox 1"/>
          <p:cNvSpPr txBox="1"/>
          <p:nvPr/>
        </p:nvSpPr>
        <p:spPr>
          <a:xfrm>
            <a:off x="1285872" y="643634"/>
            <a:ext cx="3711272" cy="369332"/>
          </a:xfrm>
          <a:prstGeom prst="rect">
            <a:avLst/>
          </a:prstGeom>
          <a:noFill/>
        </p:spPr>
        <p:txBody>
          <a:bodyPr wrap="none" rtlCol="0">
            <a:spAutoFit/>
          </a:bodyPr>
          <a:lstStyle/>
          <a:p>
            <a:r>
              <a:rPr lang="en-US" dirty="0" smtClean="0">
                <a:solidFill>
                  <a:schemeClr val="bg2">
                    <a:lumMod val="25000"/>
                  </a:schemeClr>
                </a:solidFill>
                <a:latin typeface="+mj-lt"/>
              </a:rPr>
              <a:t>Chains are a series of steps and action</a:t>
            </a:r>
            <a:endParaRPr lang="en-IN" dirty="0">
              <a:solidFill>
                <a:schemeClr val="bg2">
                  <a:lumMod val="25000"/>
                </a:schemeClr>
              </a:solidFill>
              <a:latin typeface="+mj-lt"/>
            </a:endParaRPr>
          </a:p>
        </p:txBody>
      </p:sp>
      <p:sp>
        <p:nvSpPr>
          <p:cNvPr id="6" name="TextBox 5"/>
          <p:cNvSpPr txBox="1"/>
          <p:nvPr/>
        </p:nvSpPr>
        <p:spPr>
          <a:xfrm>
            <a:off x="1568666" y="1234580"/>
            <a:ext cx="10442102" cy="338554"/>
          </a:xfrm>
          <a:prstGeom prst="rect">
            <a:avLst/>
          </a:prstGeom>
          <a:noFill/>
        </p:spPr>
        <p:txBody>
          <a:bodyPr wrap="square" rtlCol="0">
            <a:spAutoFit/>
          </a:bodyPr>
          <a:lstStyle/>
          <a:p>
            <a:r>
              <a:rPr lang="en-US" sz="1600" dirty="0" smtClean="0"/>
              <a:t>Chains allow us to combine multiple component together to solve a specific task and build an entire LLM Application</a:t>
            </a:r>
            <a:endParaRPr lang="en-IN" sz="1600" dirty="0"/>
          </a:p>
        </p:txBody>
      </p:sp>
      <p:sp>
        <p:nvSpPr>
          <p:cNvPr id="9" name="Rectangle 2"/>
          <p:cNvSpPr>
            <a:spLocks noChangeArrowheads="1"/>
          </p:cNvSpPr>
          <p:nvPr/>
        </p:nvSpPr>
        <p:spPr bwMode="auto">
          <a:xfrm>
            <a:off x="1667519" y="1802981"/>
            <a:ext cx="7513551" cy="3600986"/>
          </a:xfrm>
          <a:prstGeom prst="rect">
            <a:avLst/>
          </a:prstGeom>
          <a:solidFill>
            <a:schemeClr val="tx1">
              <a:lumMod val="75000"/>
              <a:lumOff val="25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500" b="1" i="0" u="none" strike="noStrike" cap="none" normalizeH="0" baseline="0" dirty="0" smtClean="0">
                <a:ln>
                  <a:noFill/>
                </a:ln>
                <a:solidFill>
                  <a:srgbClr val="FF7B72"/>
                </a:solidFill>
                <a:effectLst/>
                <a:latin typeface="Bahnschrift Light" pitchFamily="34" charset="0"/>
                <a:cs typeface="Arial" pitchFamily="34" charset="0"/>
              </a:rPr>
              <a:t>from</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 </a:t>
            </a:r>
            <a:r>
              <a:rPr kumimoji="0" lang="en-US" sz="1500" b="0" i="0" u="none" strike="noStrike" cap="none" normalizeH="0" baseline="0" dirty="0" smtClean="0">
                <a:ln>
                  <a:noFill/>
                </a:ln>
                <a:solidFill>
                  <a:srgbClr val="00B0F0"/>
                </a:solidFill>
                <a:effectLst/>
                <a:latin typeface="Bahnschrift Light" pitchFamily="34" charset="0"/>
                <a:cs typeface="Arial" pitchFamily="34" charset="0"/>
              </a:rPr>
              <a:t>langchain_google_gena</a:t>
            </a:r>
            <a:r>
              <a:rPr kumimoji="0" lang="en-US" sz="1500" b="0" i="0" u="none" strike="noStrike" cap="none" normalizeH="0" baseline="0" dirty="0" smtClean="0">
                <a:ln>
                  <a:noFill/>
                </a:ln>
                <a:solidFill>
                  <a:srgbClr val="0070C0"/>
                </a:solidFill>
                <a:effectLst/>
                <a:latin typeface="Bahnschrift Light" pitchFamily="34" charset="0"/>
                <a:cs typeface="Arial" pitchFamily="34" charset="0"/>
              </a:rPr>
              <a:t>i</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 </a:t>
            </a:r>
            <a:r>
              <a:rPr kumimoji="0" lang="en-US" sz="1500" b="1" i="0" u="none" strike="noStrike" cap="none" normalizeH="0" baseline="0" dirty="0" smtClean="0">
                <a:ln>
                  <a:noFill/>
                </a:ln>
                <a:solidFill>
                  <a:srgbClr val="FF7B72"/>
                </a:solidFill>
                <a:effectLst/>
                <a:latin typeface="Bahnschrift Light" pitchFamily="34" charset="0"/>
                <a:cs typeface="Arial" pitchFamily="34" charset="0"/>
              </a:rPr>
              <a:t>import</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 </a:t>
            </a:r>
            <a:r>
              <a:rPr kumimoji="0" lang="en-US" sz="1500" b="0" i="0" u="none" strike="noStrike" cap="none" normalizeH="0" baseline="0" dirty="0" smtClean="0">
                <a:ln>
                  <a:noFill/>
                </a:ln>
                <a:solidFill>
                  <a:srgbClr val="00B0F0"/>
                </a:solidFill>
                <a:effectLst/>
                <a:latin typeface="Bahnschrift Light" pitchFamily="34" charset="0"/>
                <a:cs typeface="Arial" pitchFamily="34" charset="0"/>
              </a:rPr>
              <a:t>ChatGoogleGenerativeAI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500" b="1" i="0" u="none" strike="noStrike" cap="none" normalizeH="0" baseline="0" dirty="0" smtClean="0">
                <a:ln>
                  <a:noFill/>
                </a:ln>
                <a:solidFill>
                  <a:srgbClr val="FF7B72"/>
                </a:solidFill>
                <a:effectLst/>
                <a:latin typeface="Bahnschrift Light" pitchFamily="34" charset="0"/>
                <a:cs typeface="Arial" pitchFamily="34" charset="0"/>
              </a:rPr>
              <a:t>from</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 </a:t>
            </a:r>
            <a:r>
              <a:rPr kumimoji="0" lang="en-US" sz="1500" b="0" i="0" u="none" strike="noStrike" cap="none" normalizeH="0" baseline="0" dirty="0" smtClean="0">
                <a:ln>
                  <a:noFill/>
                </a:ln>
                <a:solidFill>
                  <a:srgbClr val="00B0F0"/>
                </a:solidFill>
                <a:effectLst/>
                <a:latin typeface="Bahnschrift Light" pitchFamily="34" charset="0"/>
                <a:cs typeface="Arial" pitchFamily="34" charset="0"/>
              </a:rPr>
              <a:t>langchain.prompts</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 </a:t>
            </a:r>
            <a:r>
              <a:rPr kumimoji="0" lang="en-US" sz="1500" b="1" i="0" u="none" strike="noStrike" cap="none" normalizeH="0" baseline="0" dirty="0" smtClean="0">
                <a:ln>
                  <a:noFill/>
                </a:ln>
                <a:solidFill>
                  <a:srgbClr val="FF7B72"/>
                </a:solidFill>
                <a:effectLst/>
                <a:latin typeface="Bahnschrift Light" pitchFamily="34" charset="0"/>
                <a:cs typeface="Arial" pitchFamily="34" charset="0"/>
              </a:rPr>
              <a:t>import</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 </a:t>
            </a:r>
            <a:r>
              <a:rPr kumimoji="0" lang="en-US" sz="1500" b="0" i="0" u="none" strike="noStrike" cap="none" normalizeH="0" baseline="0" dirty="0" smtClean="0">
                <a:ln>
                  <a:noFill/>
                </a:ln>
                <a:solidFill>
                  <a:srgbClr val="00B0F0"/>
                </a:solidFill>
                <a:effectLst/>
                <a:latin typeface="Bahnschrift Light" pitchFamily="34" charset="0"/>
                <a:cs typeface="Arial" pitchFamily="34" charset="0"/>
              </a:rPr>
              <a:t>PromptTemplate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500" b="1" i="0" u="none" strike="noStrike" cap="none" normalizeH="0" baseline="0" dirty="0" smtClean="0">
                <a:ln>
                  <a:noFill/>
                </a:ln>
                <a:solidFill>
                  <a:srgbClr val="FF7B72"/>
                </a:solidFill>
                <a:effectLst/>
                <a:latin typeface="Bahnschrift Light" pitchFamily="34" charset="0"/>
                <a:cs typeface="Arial" pitchFamily="34" charset="0"/>
              </a:rPr>
              <a:t>from</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 </a:t>
            </a:r>
            <a:r>
              <a:rPr kumimoji="0" lang="en-US" sz="1500" b="0" i="0" u="none" strike="noStrike" cap="none" normalizeH="0" baseline="0" dirty="0" smtClean="0">
                <a:ln>
                  <a:noFill/>
                </a:ln>
                <a:solidFill>
                  <a:srgbClr val="00B0F0"/>
                </a:solidFill>
                <a:effectLst/>
                <a:latin typeface="Bahnschrift Light" pitchFamily="34" charset="0"/>
                <a:cs typeface="Arial" pitchFamily="34" charset="0"/>
              </a:rPr>
              <a:t>dotenv</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 </a:t>
            </a:r>
            <a:r>
              <a:rPr kumimoji="0" lang="en-US" sz="1500" b="1" i="0" u="none" strike="noStrike" cap="none" normalizeH="0" baseline="0" dirty="0" smtClean="0">
                <a:ln>
                  <a:noFill/>
                </a:ln>
                <a:solidFill>
                  <a:srgbClr val="FF7B72"/>
                </a:solidFill>
                <a:effectLst/>
                <a:latin typeface="Bahnschrift Light" pitchFamily="34" charset="0"/>
                <a:cs typeface="Arial" pitchFamily="34" charset="0"/>
              </a:rPr>
              <a:t>import</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 </a:t>
            </a:r>
            <a:r>
              <a:rPr kumimoji="0" lang="en-US" sz="1500" b="0" i="0" u="none" strike="noStrike" cap="none" normalizeH="0" baseline="0" dirty="0" smtClean="0">
                <a:ln>
                  <a:noFill/>
                </a:ln>
                <a:solidFill>
                  <a:srgbClr val="00B0F0"/>
                </a:solidFill>
                <a:effectLst/>
                <a:latin typeface="Bahnschrift Light" pitchFamily="34" charset="0"/>
                <a:cs typeface="Arial" pitchFamily="34" charset="0"/>
              </a:rPr>
              <a:t>load_dotenv, find_dotenv </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500" b="0" i="0" u="none" strike="noStrike" cap="none" normalizeH="0" baseline="0" dirty="0" smtClean="0">
              <a:ln>
                <a:noFill/>
              </a:ln>
              <a:solidFill>
                <a:srgbClr val="E0E0E0"/>
              </a:solidFill>
              <a:effectLst/>
              <a:latin typeface="Bahnschrift Light"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smtClean="0">
                <a:ln>
                  <a:noFill/>
                </a:ln>
                <a:solidFill>
                  <a:schemeClr val="accent4"/>
                </a:solidFill>
                <a:effectLst/>
                <a:latin typeface="Bahnschrift Light" pitchFamily="34" charset="0"/>
                <a:cs typeface="Arial" pitchFamily="34" charset="0"/>
              </a:rPr>
              <a:t>load_doten</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v(</a:t>
            </a:r>
            <a:r>
              <a:rPr kumimoji="0" lang="en-US" sz="1500" b="0" i="0" u="none" strike="noStrike" cap="none" normalizeH="0" baseline="0" dirty="0" smtClean="0">
                <a:ln>
                  <a:noFill/>
                </a:ln>
                <a:solidFill>
                  <a:schemeClr val="accent4"/>
                </a:solidFill>
                <a:effectLst/>
                <a:latin typeface="Bahnschrift Light" pitchFamily="34" charset="0"/>
                <a:cs typeface="Arial" pitchFamily="34" charset="0"/>
              </a:rPr>
              <a:t>find_doten</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v(), override=</a:t>
            </a:r>
            <a:r>
              <a:rPr kumimoji="0" lang="en-US" sz="1500" b="1" i="0" u="none" strike="noStrike" cap="none" normalizeH="0" baseline="0" dirty="0" smtClean="0">
                <a:ln>
                  <a:noFill/>
                </a:ln>
                <a:solidFill>
                  <a:srgbClr val="FF7B72"/>
                </a:solidFill>
                <a:effectLst/>
                <a:latin typeface="Bahnschrift Light" pitchFamily="34" charset="0"/>
                <a:cs typeface="Arial" pitchFamily="34" charset="0"/>
              </a:rPr>
              <a:t>True</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a:t>
            </a:r>
            <a:endParaRPr kumimoji="0" lang="en-US" sz="1500" b="0" i="0" u="none" strike="noStrike" cap="none" normalizeH="0" baseline="0" dirty="0" smtClean="0">
              <a:ln>
                <a:noFill/>
              </a:ln>
              <a:solidFill>
                <a:schemeClr val="tx1"/>
              </a:solidFill>
              <a:effectLst/>
              <a:latin typeface="Bahnschrift Light"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llm = ChatGoogleGenerativeAI( model=</a:t>
            </a:r>
            <a:r>
              <a:rPr kumimoji="0" lang="en-US" sz="1500" b="0" i="0" u="none" strike="noStrike" cap="none" normalizeH="0" baseline="0" dirty="0" smtClean="0">
                <a:ln>
                  <a:noFill/>
                </a:ln>
                <a:solidFill>
                  <a:srgbClr val="7EE787"/>
                </a:solidFill>
                <a:effectLst/>
                <a:latin typeface="Bahnschrift Light" pitchFamily="34" charset="0"/>
                <a:cs typeface="Arial" pitchFamily="34" charset="0"/>
              </a:rPr>
              <a:t>"gemini-2.5-flash"</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 temperature=</a:t>
            </a:r>
            <a:r>
              <a:rPr kumimoji="0" lang="en-US" sz="1500" b="0" i="0" u="none" strike="noStrike" cap="none" normalizeH="0" baseline="0" dirty="0" smtClean="0">
                <a:ln>
                  <a:noFill/>
                </a:ln>
                <a:solidFill>
                  <a:srgbClr val="F85149"/>
                </a:solidFill>
                <a:effectLst/>
                <a:latin typeface="Bahnschrift Light" pitchFamily="34" charset="0"/>
                <a:cs typeface="Arial" pitchFamily="34" charset="0"/>
              </a:rPr>
              <a:t>0.7</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500" b="0" i="0" u="none" strike="noStrike" cap="none" normalizeH="0" baseline="0" dirty="0" smtClean="0">
              <a:ln>
                <a:noFill/>
              </a:ln>
              <a:solidFill>
                <a:srgbClr val="E0E0E0"/>
              </a:solidFill>
              <a:effectLst/>
              <a:latin typeface="Bahnschrift Light"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template = </a:t>
            </a:r>
            <a:r>
              <a:rPr kumimoji="0" lang="en-US" sz="1500" b="0" i="0" u="none" strike="noStrike" cap="none" normalizeH="0" baseline="0" dirty="0" smtClean="0">
                <a:ln>
                  <a:noFill/>
                </a:ln>
                <a:solidFill>
                  <a:srgbClr val="7EE787"/>
                </a:solidFill>
                <a:effectLst/>
                <a:latin typeface="Bahnschrift Light" pitchFamily="34" charset="0"/>
                <a:cs typeface="Arial" pitchFamily="34" charset="0"/>
              </a:rPr>
              <a:t>"Give me 5 creative names for {item}"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prompt_template = PromptTemplate( template=template, input_variables=[</a:t>
            </a:r>
            <a:r>
              <a:rPr kumimoji="0" lang="en-US" sz="1500" b="0" i="0" u="none" strike="noStrike" cap="none" normalizeH="0" baseline="0" dirty="0" smtClean="0">
                <a:ln>
                  <a:noFill/>
                </a:ln>
                <a:solidFill>
                  <a:srgbClr val="7EE787"/>
                </a:solidFill>
                <a:effectLst/>
                <a:latin typeface="Bahnschrift Light" pitchFamily="34" charset="0"/>
                <a:cs typeface="Arial" pitchFamily="34" charset="0"/>
              </a:rPr>
              <a:t>"item"</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 )</a:t>
            </a:r>
            <a:endParaRPr kumimoji="0" lang="en-US" sz="1500" b="0" i="0" u="none" strike="noStrike" cap="none" normalizeH="0" baseline="0" dirty="0" smtClean="0">
              <a:ln>
                <a:noFill/>
              </a:ln>
              <a:solidFill>
                <a:schemeClr val="tx1"/>
              </a:solidFill>
              <a:effectLst/>
              <a:latin typeface="Bahnschrift Light"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500" b="0" i="0" u="none" strike="noStrike" cap="none" normalizeH="0" baseline="0" dirty="0" smtClean="0">
              <a:ln>
                <a:noFill/>
              </a:ln>
              <a:solidFill>
                <a:srgbClr val="E0E0E0"/>
              </a:solidFill>
              <a:effectLst/>
              <a:latin typeface="Bahnschrift Light" pitchFamily="34" charset="0"/>
              <a:cs typeface="Arial" pitchFamily="34" charset="0"/>
            </a:endParaRPr>
          </a:p>
          <a:p>
            <a:pPr lvl="0" eaLnBrk="0" fontAlgn="base" hangingPunct="0">
              <a:spcBef>
                <a:spcPct val="0"/>
              </a:spcBef>
              <a:spcAft>
                <a:spcPct val="0"/>
              </a:spcAft>
            </a:pPr>
            <a:r>
              <a:rPr lang="en-US" sz="1600" dirty="0" smtClean="0">
                <a:solidFill>
                  <a:srgbClr val="E0E0E0"/>
                </a:solidFill>
                <a:latin typeface="Bahnschrift Light" pitchFamily="34" charset="0"/>
                <a:cs typeface="Arial" pitchFamily="34" charset="0"/>
              </a:rPr>
              <a:t>prompt= </a:t>
            </a:r>
            <a:r>
              <a:rPr lang="en-US" sz="1600" dirty="0">
                <a:solidFill>
                  <a:srgbClr val="E0E0E0"/>
                </a:solidFill>
                <a:latin typeface="Bahnschrift Light" pitchFamily="34" charset="0"/>
                <a:cs typeface="Arial" pitchFamily="34" charset="0"/>
              </a:rPr>
              <a:t>chain.</a:t>
            </a:r>
            <a:r>
              <a:rPr lang="en-US" sz="1600" dirty="0">
                <a:solidFill>
                  <a:schemeClr val="accent4"/>
                </a:solidFill>
                <a:latin typeface="Bahnschrift Light" pitchFamily="34" charset="0"/>
                <a:cs typeface="Arial" pitchFamily="34" charset="0"/>
              </a:rPr>
              <a:t>invoke</a:t>
            </a:r>
            <a:r>
              <a:rPr lang="en-US" sz="1600" dirty="0">
                <a:solidFill>
                  <a:srgbClr val="E0E0E0"/>
                </a:solidFill>
                <a:latin typeface="Bahnschrift Light" pitchFamily="34" charset="0"/>
                <a:cs typeface="Arial" pitchFamily="34" charset="0"/>
              </a:rPr>
              <a:t>({</a:t>
            </a:r>
            <a:r>
              <a:rPr lang="en-US" sz="1600" dirty="0">
                <a:solidFill>
                  <a:srgbClr val="7EE787"/>
                </a:solidFill>
                <a:latin typeface="Bahnschrift Light" pitchFamily="34" charset="0"/>
                <a:cs typeface="Arial" pitchFamily="34" charset="0"/>
              </a:rPr>
              <a:t>"item"</a:t>
            </a:r>
            <a:r>
              <a:rPr lang="en-US" sz="1600" dirty="0">
                <a:solidFill>
                  <a:srgbClr val="E0E0E0"/>
                </a:solidFill>
                <a:latin typeface="Bahnschrift Light" pitchFamily="34" charset="0"/>
                <a:cs typeface="Arial" pitchFamily="34" charset="0"/>
              </a:rPr>
              <a:t>: </a:t>
            </a:r>
            <a:r>
              <a:rPr lang="en-US" sz="1600" dirty="0">
                <a:solidFill>
                  <a:srgbClr val="7EE787"/>
                </a:solidFill>
                <a:latin typeface="Bahnschrift Light" pitchFamily="34" charset="0"/>
                <a:cs typeface="Arial" pitchFamily="34" charset="0"/>
              </a:rPr>
              <a:t>"US startups</a:t>
            </a:r>
            <a:r>
              <a:rPr lang="en-US" sz="1600" dirty="0" smtClean="0">
                <a:solidFill>
                  <a:srgbClr val="7EE787"/>
                </a:solidFill>
                <a:latin typeface="Bahnschrift Light" pitchFamily="34" charset="0"/>
                <a:cs typeface="Arial" pitchFamily="34" charset="0"/>
              </a:rPr>
              <a:t>"</a:t>
            </a:r>
            <a:r>
              <a:rPr lang="en-US" sz="1600" dirty="0" smtClean="0">
                <a:solidFill>
                  <a:srgbClr val="E0E0E0"/>
                </a:solidFill>
                <a:latin typeface="Bahnschrift Light" pitchFamily="34" charset="0"/>
                <a:cs typeface="Arial" pitchFamily="34" charset="0"/>
              </a:rPr>
              <a:t>})</a:t>
            </a:r>
          </a:p>
          <a:p>
            <a:pPr lvl="0" eaLnBrk="0" fontAlgn="base" hangingPunct="0">
              <a:spcBef>
                <a:spcPct val="0"/>
              </a:spcBef>
              <a:spcAft>
                <a:spcPct val="0"/>
              </a:spcAft>
            </a:pPr>
            <a:endParaRPr lang="en-US" sz="1600" dirty="0">
              <a:solidFill>
                <a:srgbClr val="E0E0E0"/>
              </a:solidFill>
              <a:latin typeface="Bahnschrift Light" pitchFamily="34" charset="0"/>
              <a:cs typeface="Arial" pitchFamily="34" charset="0"/>
            </a:endParaRPr>
          </a:p>
          <a:p>
            <a:r>
              <a:rPr lang="en-US" sz="1600" dirty="0">
                <a:solidFill>
                  <a:srgbClr val="E0E0E0"/>
                </a:solidFill>
                <a:latin typeface="Bahnschrift Light" pitchFamily="34" charset="0"/>
                <a:cs typeface="Arial" pitchFamily="34" charset="0"/>
              </a:rPr>
              <a:t>response</a:t>
            </a:r>
            <a:r>
              <a:rPr lang="en-US" sz="1600" dirty="0" smtClean="0">
                <a:solidFill>
                  <a:srgbClr val="E0E0E0"/>
                </a:solidFill>
                <a:latin typeface="Bahnschrift Light" pitchFamily="34" charset="0"/>
                <a:cs typeface="Arial" pitchFamily="34" charset="0"/>
              </a:rPr>
              <a:t>= llm.</a:t>
            </a:r>
            <a:r>
              <a:rPr lang="en-US" sz="1600" dirty="0" smtClean="0">
                <a:solidFill>
                  <a:schemeClr val="accent4"/>
                </a:solidFill>
                <a:latin typeface="Bahnschrift Light" pitchFamily="34" charset="0"/>
                <a:cs typeface="Arial" pitchFamily="34" charset="0"/>
              </a:rPr>
              <a:t>invok</a:t>
            </a:r>
            <a:r>
              <a:rPr lang="en-US" sz="1600" dirty="0" smtClean="0">
                <a:solidFill>
                  <a:schemeClr val="accent4"/>
                </a:solidFill>
              </a:rPr>
              <a:t>e</a:t>
            </a:r>
            <a:r>
              <a:rPr lang="en-US" sz="1600" dirty="0" smtClean="0">
                <a:solidFill>
                  <a:srgbClr val="E0E0E0"/>
                </a:solidFill>
                <a:latin typeface="Bahnschrift Light" pitchFamily="34" charset="0"/>
                <a:cs typeface="Arial" pitchFamily="34" charset="0"/>
              </a:rPr>
              <a:t>(</a:t>
            </a:r>
            <a:r>
              <a:rPr lang="en-US" sz="1600" dirty="0">
                <a:solidFill>
                  <a:srgbClr val="E0E0E0"/>
                </a:solidFill>
                <a:latin typeface="Bahnschrift Light" pitchFamily="34" charset="0"/>
                <a:cs typeface="Arial" pitchFamily="34" charset="0"/>
              </a:rPr>
              <a:t>prompt</a:t>
            </a:r>
            <a:r>
              <a:rPr lang="en-US" sz="1600" dirty="0" smtClean="0">
                <a:solidFill>
                  <a:srgbClr val="E0E0E0"/>
                </a:solidFill>
                <a:latin typeface="Bahnschrift Light" pitchFamily="34" charset="0"/>
                <a:cs typeface="Arial" pitchFamily="34" charset="0"/>
              </a:rPr>
              <a:t>)</a:t>
            </a:r>
            <a:endParaRPr lang="en-US" sz="1600" dirty="0">
              <a:solidFill>
                <a:srgbClr val="E0E0E0"/>
              </a:solidFill>
              <a:latin typeface="Bahnschrift Light"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500" b="0" i="1" u="none" strike="noStrike" cap="none" normalizeH="0" baseline="0" dirty="0" smtClean="0">
              <a:ln>
                <a:noFill/>
              </a:ln>
              <a:solidFill>
                <a:srgbClr val="8B949E"/>
              </a:solidFill>
              <a:effectLst/>
              <a:latin typeface="Bahnschrift Light"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print( </a:t>
            </a:r>
            <a:r>
              <a:rPr kumimoji="0" lang="en-US" sz="1500" b="0" i="0" u="none" strike="noStrike" cap="none" normalizeH="0" baseline="0" dirty="0" smtClean="0">
                <a:ln>
                  <a:noFill/>
                </a:ln>
                <a:solidFill>
                  <a:schemeClr val="accent6"/>
                </a:solidFill>
                <a:effectLst/>
                <a:latin typeface="Bahnschrift Light" pitchFamily="34" charset="0"/>
                <a:cs typeface="Arial" pitchFamily="34" charset="0"/>
              </a:rPr>
              <a:t>result.content</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 )</a:t>
            </a:r>
            <a:endParaRPr kumimoji="0" lang="en-US" sz="1500" b="0" i="0" u="none" strike="noStrike" cap="none" normalizeH="0" baseline="0" dirty="0" smtClean="0">
              <a:ln>
                <a:noFill/>
              </a:ln>
              <a:solidFill>
                <a:schemeClr val="tx1"/>
              </a:solidFill>
              <a:effectLst/>
              <a:latin typeface="Bahnschrift Light" pitchFamily="34" charset="0"/>
              <a:cs typeface="Arial" pitchFamily="34" charset="0"/>
            </a:endParaRPr>
          </a:p>
        </p:txBody>
      </p:sp>
    </p:spTree>
    <p:extLst>
      <p:ext uri="{BB962C8B-B14F-4D97-AF65-F5344CB8AC3E}">
        <p14:creationId xmlns:p14="http://schemas.microsoft.com/office/powerpoint/2010/main" val="34069138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pic>
        <p:nvPicPr>
          <p:cNvPr id="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77266" y="98855"/>
            <a:ext cx="1314734" cy="1089559"/>
          </a:xfrm>
          <a:prstGeom prst="rect">
            <a:avLst/>
          </a:prstGeom>
          <a:noFill/>
          <a:ln>
            <a:noFill/>
          </a:ln>
          <a:effectLst>
            <a:outerShdw dist="35921" dir="2700000" algn="ctr" rotWithShape="0">
              <a:schemeClr val="bg2"/>
            </a:outerShdw>
            <a:softEdge rad="317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1837037" y="4684924"/>
            <a:ext cx="9407611" cy="707886"/>
          </a:xfrm>
          <a:prstGeom prst="rect">
            <a:avLst/>
          </a:prstGeom>
        </p:spPr>
        <p:txBody>
          <a:bodyPr wrap="square">
            <a:spAutoFit/>
          </a:bodyPr>
          <a:lstStyle/>
          <a:p>
            <a:r>
              <a:rPr lang="en-US" sz="2400" b="1" dirty="0" smtClean="0">
                <a:solidFill>
                  <a:srgbClr val="FF6743"/>
                </a:solidFill>
                <a:latin typeface="Bahnschrift" pitchFamily="34" charset="0"/>
              </a:rPr>
              <a:t>In Sequential Chain</a:t>
            </a:r>
            <a:r>
              <a:rPr lang="en-US" dirty="0" smtClean="0"/>
              <a:t>, </a:t>
            </a:r>
          </a:p>
          <a:p>
            <a:r>
              <a:rPr lang="en-US" sz="1600" dirty="0">
                <a:latin typeface="Bahnschrift Light" pitchFamily="34" charset="0"/>
              </a:rPr>
              <a:t>we  pass the output of the current component serves as an input to the next component.</a:t>
            </a:r>
            <a:endParaRPr lang="en-IN" sz="1600" dirty="0">
              <a:latin typeface="Bahnschrift Light" pitchFamily="34" charset="0"/>
            </a:endParaRPr>
          </a:p>
        </p:txBody>
      </p:sp>
      <p:grpSp>
        <p:nvGrpSpPr>
          <p:cNvPr id="5" name="Group 4"/>
          <p:cNvGrpSpPr/>
          <p:nvPr/>
        </p:nvGrpSpPr>
        <p:grpSpPr>
          <a:xfrm>
            <a:off x="1667518" y="512829"/>
            <a:ext cx="8205531" cy="3631763"/>
            <a:chOff x="1667518" y="512829"/>
            <a:chExt cx="8205531" cy="3631763"/>
          </a:xfrm>
        </p:grpSpPr>
        <p:sp>
          <p:nvSpPr>
            <p:cNvPr id="3" name="Rectangle 2"/>
            <p:cNvSpPr>
              <a:spLocks noChangeArrowheads="1"/>
            </p:cNvSpPr>
            <p:nvPr/>
          </p:nvSpPr>
          <p:spPr bwMode="auto">
            <a:xfrm>
              <a:off x="1667518" y="512829"/>
              <a:ext cx="8205531" cy="3631763"/>
            </a:xfrm>
            <a:prstGeom prst="rect">
              <a:avLst/>
            </a:prstGeom>
            <a:solidFill>
              <a:schemeClr val="tx1">
                <a:lumMod val="75000"/>
                <a:lumOff val="25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500" b="1" i="0" u="none" strike="noStrike" cap="none" normalizeH="0" baseline="0" dirty="0" smtClean="0">
                  <a:ln>
                    <a:noFill/>
                  </a:ln>
                  <a:solidFill>
                    <a:srgbClr val="FF7B72"/>
                  </a:solidFill>
                  <a:effectLst/>
                  <a:latin typeface="Bahnschrift Light" pitchFamily="34" charset="0"/>
                  <a:cs typeface="Arial" pitchFamily="34" charset="0"/>
                </a:rPr>
                <a:t>from</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 </a:t>
              </a:r>
              <a:r>
                <a:rPr kumimoji="0" lang="en-US" sz="1500" b="0" i="0" u="none" strike="noStrike" cap="none" normalizeH="0" baseline="0" dirty="0" smtClean="0">
                  <a:ln>
                    <a:noFill/>
                  </a:ln>
                  <a:solidFill>
                    <a:srgbClr val="00B0F0"/>
                  </a:solidFill>
                  <a:effectLst/>
                  <a:latin typeface="Bahnschrift Light" pitchFamily="34" charset="0"/>
                  <a:cs typeface="Arial" pitchFamily="34" charset="0"/>
                </a:rPr>
                <a:t>langchain_google_gena</a:t>
              </a:r>
              <a:r>
                <a:rPr kumimoji="0" lang="en-US" sz="1500" b="0" i="0" u="none" strike="noStrike" cap="none" normalizeH="0" baseline="0" dirty="0" smtClean="0">
                  <a:ln>
                    <a:noFill/>
                  </a:ln>
                  <a:solidFill>
                    <a:srgbClr val="0070C0"/>
                  </a:solidFill>
                  <a:effectLst/>
                  <a:latin typeface="Bahnschrift Light" pitchFamily="34" charset="0"/>
                  <a:cs typeface="Arial" pitchFamily="34" charset="0"/>
                </a:rPr>
                <a:t>i</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 </a:t>
              </a:r>
              <a:r>
                <a:rPr kumimoji="0" lang="en-US" sz="1500" b="1" i="0" u="none" strike="noStrike" cap="none" normalizeH="0" baseline="0" dirty="0" smtClean="0">
                  <a:ln>
                    <a:noFill/>
                  </a:ln>
                  <a:solidFill>
                    <a:srgbClr val="FF7B72"/>
                  </a:solidFill>
                  <a:effectLst/>
                  <a:latin typeface="Bahnschrift Light" pitchFamily="34" charset="0"/>
                  <a:cs typeface="Arial" pitchFamily="34" charset="0"/>
                </a:rPr>
                <a:t>import</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 </a:t>
              </a:r>
              <a:r>
                <a:rPr kumimoji="0" lang="en-US" sz="1500" b="0" i="0" u="none" strike="noStrike" cap="none" normalizeH="0" baseline="0" dirty="0" smtClean="0">
                  <a:ln>
                    <a:noFill/>
                  </a:ln>
                  <a:solidFill>
                    <a:srgbClr val="00B0F0"/>
                  </a:solidFill>
                  <a:effectLst/>
                  <a:latin typeface="Bahnschrift Light" pitchFamily="34" charset="0"/>
                  <a:cs typeface="Arial" pitchFamily="34" charset="0"/>
                </a:rPr>
                <a:t>ChatGoogleGenerativeAI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500" b="1" i="0" u="none" strike="noStrike" cap="none" normalizeH="0" baseline="0" dirty="0" smtClean="0">
                  <a:ln>
                    <a:noFill/>
                  </a:ln>
                  <a:solidFill>
                    <a:srgbClr val="FF7B72"/>
                  </a:solidFill>
                  <a:effectLst/>
                  <a:latin typeface="Bahnschrift Light" pitchFamily="34" charset="0"/>
                  <a:cs typeface="Arial" pitchFamily="34" charset="0"/>
                </a:rPr>
                <a:t>from</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 </a:t>
              </a:r>
              <a:r>
                <a:rPr kumimoji="0" lang="en-US" sz="1500" b="0" i="0" u="none" strike="noStrike" cap="none" normalizeH="0" baseline="0" dirty="0" smtClean="0">
                  <a:ln>
                    <a:noFill/>
                  </a:ln>
                  <a:solidFill>
                    <a:srgbClr val="00B0F0"/>
                  </a:solidFill>
                  <a:effectLst/>
                  <a:latin typeface="Bahnschrift Light" pitchFamily="34" charset="0"/>
                  <a:cs typeface="Arial" pitchFamily="34" charset="0"/>
                </a:rPr>
                <a:t>langchain.prompts</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 </a:t>
              </a:r>
              <a:r>
                <a:rPr kumimoji="0" lang="en-US" sz="1500" b="1" i="0" u="none" strike="noStrike" cap="none" normalizeH="0" baseline="0" dirty="0" smtClean="0">
                  <a:ln>
                    <a:noFill/>
                  </a:ln>
                  <a:solidFill>
                    <a:srgbClr val="FF7B72"/>
                  </a:solidFill>
                  <a:effectLst/>
                  <a:latin typeface="Bahnschrift Light" pitchFamily="34" charset="0"/>
                  <a:cs typeface="Arial" pitchFamily="34" charset="0"/>
                </a:rPr>
                <a:t>import</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 </a:t>
              </a:r>
              <a:r>
                <a:rPr kumimoji="0" lang="en-US" sz="1500" b="0" i="0" u="none" strike="noStrike" cap="none" normalizeH="0" baseline="0" dirty="0" smtClean="0">
                  <a:ln>
                    <a:noFill/>
                  </a:ln>
                  <a:solidFill>
                    <a:srgbClr val="00B0F0"/>
                  </a:solidFill>
                  <a:effectLst/>
                  <a:latin typeface="Bahnschrift Light" pitchFamily="34" charset="0"/>
                  <a:cs typeface="Arial" pitchFamily="34" charset="0"/>
                </a:rPr>
                <a:t>PromptTemplate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500" b="1" i="0" u="none" strike="noStrike" cap="none" normalizeH="0" baseline="0" dirty="0" smtClean="0">
                  <a:ln>
                    <a:noFill/>
                  </a:ln>
                  <a:solidFill>
                    <a:srgbClr val="FF7B72"/>
                  </a:solidFill>
                  <a:effectLst/>
                  <a:latin typeface="Bahnschrift Light" pitchFamily="34" charset="0"/>
                  <a:cs typeface="Arial" pitchFamily="34" charset="0"/>
                </a:rPr>
                <a:t>from</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 </a:t>
              </a:r>
              <a:r>
                <a:rPr kumimoji="0" lang="en-US" sz="1500" b="0" i="0" u="none" strike="noStrike" cap="none" normalizeH="0" baseline="0" dirty="0" smtClean="0">
                  <a:ln>
                    <a:noFill/>
                  </a:ln>
                  <a:solidFill>
                    <a:srgbClr val="00B0F0"/>
                  </a:solidFill>
                  <a:effectLst/>
                  <a:latin typeface="Bahnschrift Light" pitchFamily="34" charset="0"/>
                  <a:cs typeface="Arial" pitchFamily="34" charset="0"/>
                </a:rPr>
                <a:t>dotenv</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 </a:t>
              </a:r>
              <a:r>
                <a:rPr kumimoji="0" lang="en-US" sz="1500" b="1" i="0" u="none" strike="noStrike" cap="none" normalizeH="0" baseline="0" dirty="0" smtClean="0">
                  <a:ln>
                    <a:noFill/>
                  </a:ln>
                  <a:solidFill>
                    <a:srgbClr val="FF7B72"/>
                  </a:solidFill>
                  <a:effectLst/>
                  <a:latin typeface="Bahnschrift Light" pitchFamily="34" charset="0"/>
                  <a:cs typeface="Arial" pitchFamily="34" charset="0"/>
                </a:rPr>
                <a:t>import</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 </a:t>
              </a:r>
              <a:r>
                <a:rPr kumimoji="0" lang="en-US" sz="1500" b="0" i="0" u="none" strike="noStrike" cap="none" normalizeH="0" baseline="0" dirty="0" smtClean="0">
                  <a:ln>
                    <a:noFill/>
                  </a:ln>
                  <a:solidFill>
                    <a:srgbClr val="00B0F0"/>
                  </a:solidFill>
                  <a:effectLst/>
                  <a:latin typeface="Bahnschrift Light" pitchFamily="34" charset="0"/>
                  <a:cs typeface="Arial" pitchFamily="34" charset="0"/>
                </a:rPr>
                <a:t>load_dotenv, find_dotenv </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500" b="0" i="0" u="none" strike="noStrike" cap="none" normalizeH="0" baseline="0" dirty="0" smtClean="0">
                <a:ln>
                  <a:noFill/>
                </a:ln>
                <a:solidFill>
                  <a:srgbClr val="E0E0E0"/>
                </a:solidFill>
                <a:effectLst/>
                <a:latin typeface="Bahnschrift Light"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smtClean="0">
                  <a:ln>
                    <a:noFill/>
                  </a:ln>
                  <a:solidFill>
                    <a:schemeClr val="accent4"/>
                  </a:solidFill>
                  <a:effectLst/>
                  <a:latin typeface="Bahnschrift Light" pitchFamily="34" charset="0"/>
                  <a:cs typeface="Arial" pitchFamily="34" charset="0"/>
                </a:rPr>
                <a:t>load_doten</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v(</a:t>
              </a:r>
              <a:r>
                <a:rPr kumimoji="0" lang="en-US" sz="1500" b="0" i="0" u="none" strike="noStrike" cap="none" normalizeH="0" baseline="0" dirty="0" smtClean="0">
                  <a:ln>
                    <a:noFill/>
                  </a:ln>
                  <a:solidFill>
                    <a:schemeClr val="accent4"/>
                  </a:solidFill>
                  <a:effectLst/>
                  <a:latin typeface="Bahnschrift Light" pitchFamily="34" charset="0"/>
                  <a:cs typeface="Arial" pitchFamily="34" charset="0"/>
                </a:rPr>
                <a:t>find_doten</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v(), override=</a:t>
              </a:r>
              <a:r>
                <a:rPr kumimoji="0" lang="en-US" sz="1500" b="1" i="0" u="none" strike="noStrike" cap="none" normalizeH="0" baseline="0" dirty="0" smtClean="0">
                  <a:ln>
                    <a:noFill/>
                  </a:ln>
                  <a:solidFill>
                    <a:srgbClr val="FF7B72"/>
                  </a:solidFill>
                  <a:effectLst/>
                  <a:latin typeface="Bahnschrift Light" pitchFamily="34" charset="0"/>
                  <a:cs typeface="Arial" pitchFamily="34" charset="0"/>
                </a:rPr>
                <a:t>True</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a:t>
              </a:r>
              <a:endParaRPr kumimoji="0" lang="en-US" sz="1500" b="0" i="0" u="none" strike="noStrike" cap="none" normalizeH="0" baseline="0" dirty="0" smtClean="0">
                <a:ln>
                  <a:noFill/>
                </a:ln>
                <a:solidFill>
                  <a:schemeClr val="tx1"/>
                </a:solidFill>
                <a:effectLst/>
                <a:latin typeface="Bahnschrift Light"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llm = ChatGoogleGenerativeAI( model=</a:t>
              </a:r>
              <a:r>
                <a:rPr kumimoji="0" lang="en-US" sz="1500" b="0" i="0" u="none" strike="noStrike" cap="none" normalizeH="0" baseline="0" dirty="0" smtClean="0">
                  <a:ln>
                    <a:noFill/>
                  </a:ln>
                  <a:solidFill>
                    <a:srgbClr val="7EE787"/>
                  </a:solidFill>
                  <a:effectLst/>
                  <a:latin typeface="Bahnschrift Light" pitchFamily="34" charset="0"/>
                  <a:cs typeface="Arial" pitchFamily="34" charset="0"/>
                </a:rPr>
                <a:t>"gemini-2.5-flash"</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 temperature=</a:t>
              </a:r>
              <a:r>
                <a:rPr kumimoji="0" lang="en-US" sz="1500" b="0" i="0" u="none" strike="noStrike" cap="none" normalizeH="0" baseline="0" dirty="0" smtClean="0">
                  <a:ln>
                    <a:noFill/>
                  </a:ln>
                  <a:solidFill>
                    <a:srgbClr val="F85149"/>
                  </a:solidFill>
                  <a:effectLst/>
                  <a:latin typeface="Bahnschrift Light" pitchFamily="34" charset="0"/>
                  <a:cs typeface="Arial" pitchFamily="34" charset="0"/>
                </a:rPr>
                <a:t>0.7</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500" b="0" i="0" u="none" strike="noStrike" cap="none" normalizeH="0" baseline="0" dirty="0" smtClean="0">
                <a:ln>
                  <a:noFill/>
                </a:ln>
                <a:solidFill>
                  <a:srgbClr val="E0E0E0"/>
                </a:solidFill>
                <a:effectLst/>
                <a:latin typeface="Bahnschrift Light"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template = </a:t>
              </a:r>
              <a:r>
                <a:rPr kumimoji="0" lang="en-US" sz="1500" b="0" i="0" u="none" strike="noStrike" cap="none" normalizeH="0" baseline="0" dirty="0" smtClean="0">
                  <a:ln>
                    <a:noFill/>
                  </a:ln>
                  <a:solidFill>
                    <a:srgbClr val="7EE787"/>
                  </a:solidFill>
                  <a:effectLst/>
                  <a:latin typeface="Bahnschrift Light" pitchFamily="34" charset="0"/>
                  <a:cs typeface="Arial" pitchFamily="34" charset="0"/>
                </a:rPr>
                <a:t>"Give me 5 creative names for {item}"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prompt_template = PromptTemplate( template=template, input_variables=[</a:t>
              </a:r>
              <a:r>
                <a:rPr kumimoji="0" lang="en-US" sz="1500" b="0" i="0" u="none" strike="noStrike" cap="none" normalizeH="0" baseline="0" dirty="0" smtClean="0">
                  <a:ln>
                    <a:noFill/>
                  </a:ln>
                  <a:solidFill>
                    <a:srgbClr val="7EE787"/>
                  </a:solidFill>
                  <a:effectLst/>
                  <a:latin typeface="Bahnschrift Light" pitchFamily="34" charset="0"/>
                  <a:cs typeface="Arial" pitchFamily="34" charset="0"/>
                </a:rPr>
                <a:t>"item"</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 )</a:t>
              </a:r>
              <a:endParaRPr kumimoji="0" lang="en-US" sz="1500" b="0" i="0" u="none" strike="noStrike" cap="none" normalizeH="0" baseline="0" dirty="0" smtClean="0">
                <a:ln>
                  <a:noFill/>
                </a:ln>
                <a:solidFill>
                  <a:schemeClr val="tx1"/>
                </a:solidFill>
                <a:effectLst/>
                <a:latin typeface="Bahnschrift Light"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500" b="0" i="0" u="none" strike="noStrike" cap="none" normalizeH="0" baseline="0" dirty="0" smtClean="0">
                <a:ln>
                  <a:noFill/>
                </a:ln>
                <a:solidFill>
                  <a:srgbClr val="E0E0E0"/>
                </a:solidFill>
                <a:effectLst/>
                <a:latin typeface="Bahnschrift Light"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E0E0E0"/>
                  </a:solidFill>
                  <a:effectLst/>
                  <a:latin typeface="Bahnschrift Light" pitchFamily="34" charset="0"/>
                  <a:cs typeface="Arial" pitchFamily="34" charset="0"/>
                </a:rPr>
                <a:t>chain = prompt_template | llm</a:t>
              </a:r>
            </a:p>
            <a:p>
              <a:pPr eaLnBrk="0" fontAlgn="base" hangingPunct="0">
                <a:spcBef>
                  <a:spcPct val="0"/>
                </a:spcBef>
                <a:spcAft>
                  <a:spcPct val="0"/>
                </a:spcAft>
              </a:pPr>
              <a:r>
                <a:rPr lang="en-IN" sz="1500" dirty="0">
                  <a:solidFill>
                    <a:srgbClr val="7EE787"/>
                  </a:solidFill>
                  <a:latin typeface="Bahnschrift Light" pitchFamily="34" charset="0"/>
                  <a:cs typeface="Arial" pitchFamily="34" charset="0"/>
                </a:rPr>
                <a:t>#chain</a:t>
              </a:r>
              <a:r>
                <a:rPr lang="en-IN" sz="1500" dirty="0" smtClean="0">
                  <a:solidFill>
                    <a:srgbClr val="7EE787"/>
                  </a:solidFill>
                  <a:latin typeface="Bahnschrift Light" pitchFamily="34" charset="0"/>
                  <a:cs typeface="Arial" pitchFamily="34" charset="0"/>
                </a:rPr>
                <a:t>= RunnableSequence( prompt_template, llm</a:t>
              </a:r>
              <a:r>
                <a:rPr lang="en-IN" sz="1500" dirty="0">
                  <a:solidFill>
                    <a:srgbClr val="7EE787"/>
                  </a:solidFill>
                  <a:latin typeface="Bahnschrift Light" pitchFamily="34" charset="0"/>
                  <a:cs typeface="Arial"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500" b="0" i="1" u="none" strike="noStrike" cap="none" normalizeH="0" baseline="0" dirty="0" smtClean="0">
                <a:ln>
                  <a:noFill/>
                </a:ln>
                <a:solidFill>
                  <a:srgbClr val="8B949E"/>
                </a:solidFill>
                <a:effectLst/>
                <a:latin typeface="Bahnschrift Light"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result = chain.</a:t>
              </a:r>
              <a:r>
                <a:rPr kumimoji="0" lang="en-US" sz="1500" b="0" i="0" u="none" strike="noStrike" cap="none" normalizeH="0" baseline="0" dirty="0" smtClean="0">
                  <a:ln>
                    <a:noFill/>
                  </a:ln>
                  <a:solidFill>
                    <a:schemeClr val="accent4"/>
                  </a:solidFill>
                  <a:effectLst/>
                  <a:latin typeface="Bahnschrift Light" pitchFamily="34" charset="0"/>
                  <a:cs typeface="Arial" pitchFamily="34" charset="0"/>
                </a:rPr>
                <a:t>invoke</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a:t>
              </a:r>
              <a:r>
                <a:rPr kumimoji="0" lang="en-US" sz="1500" b="0" i="0" u="none" strike="noStrike" cap="none" normalizeH="0" baseline="0" dirty="0" smtClean="0">
                  <a:ln>
                    <a:noFill/>
                  </a:ln>
                  <a:solidFill>
                    <a:srgbClr val="7EE787"/>
                  </a:solidFill>
                  <a:effectLst/>
                  <a:latin typeface="Bahnschrift Light" pitchFamily="34" charset="0"/>
                  <a:cs typeface="Arial" pitchFamily="34" charset="0"/>
                </a:rPr>
                <a:t>"item"</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 </a:t>
              </a:r>
              <a:r>
                <a:rPr kumimoji="0" lang="en-US" sz="1500" b="0" i="0" u="none" strike="noStrike" cap="none" normalizeH="0" baseline="0" dirty="0" smtClean="0">
                  <a:ln>
                    <a:noFill/>
                  </a:ln>
                  <a:solidFill>
                    <a:srgbClr val="7EE787"/>
                  </a:solidFill>
                  <a:effectLst/>
                  <a:latin typeface="Bahnschrift Light" pitchFamily="34" charset="0"/>
                  <a:cs typeface="Arial" pitchFamily="34" charset="0"/>
                </a:rPr>
                <a:t>"US startups"</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print( </a:t>
              </a:r>
              <a:r>
                <a:rPr kumimoji="0" lang="en-US" sz="1500" b="0" i="0" u="none" strike="noStrike" cap="none" normalizeH="0" baseline="0" dirty="0" smtClean="0">
                  <a:ln>
                    <a:noFill/>
                  </a:ln>
                  <a:solidFill>
                    <a:schemeClr val="accent6"/>
                  </a:solidFill>
                  <a:effectLst/>
                  <a:latin typeface="Bahnschrift Light" pitchFamily="34" charset="0"/>
                  <a:cs typeface="Arial" pitchFamily="34" charset="0"/>
                </a:rPr>
                <a:t>result.content</a:t>
              </a:r>
              <a:r>
                <a:rPr kumimoji="0" lang="en-US" sz="1500" b="0" i="0" u="none" strike="noStrike" cap="none" normalizeH="0" baseline="0" dirty="0" smtClean="0">
                  <a:ln>
                    <a:noFill/>
                  </a:ln>
                  <a:solidFill>
                    <a:srgbClr val="E0E0E0"/>
                  </a:solidFill>
                  <a:effectLst/>
                  <a:latin typeface="Bahnschrift Light" pitchFamily="34" charset="0"/>
                  <a:cs typeface="Arial" pitchFamily="34" charset="0"/>
                </a:rPr>
                <a:t> )</a:t>
              </a:r>
              <a:endParaRPr kumimoji="0" lang="en-US" sz="1500" b="0" i="0" u="none" strike="noStrike" cap="none" normalizeH="0" baseline="0" dirty="0" smtClean="0">
                <a:ln>
                  <a:noFill/>
                </a:ln>
                <a:solidFill>
                  <a:schemeClr val="tx1"/>
                </a:solidFill>
                <a:effectLst/>
                <a:latin typeface="Bahnschrift Light" pitchFamily="34" charset="0"/>
                <a:cs typeface="Arial" pitchFamily="34" charset="0"/>
              </a:endParaRPr>
            </a:p>
          </p:txBody>
        </p:sp>
        <p:sp>
          <p:nvSpPr>
            <p:cNvPr id="4" name="Rectangle 3"/>
            <p:cNvSpPr/>
            <p:nvPr/>
          </p:nvSpPr>
          <p:spPr>
            <a:xfrm>
              <a:off x="7950728" y="3775260"/>
              <a:ext cx="1922321" cy="369332"/>
            </a:xfrm>
            <a:prstGeom prst="rect">
              <a:avLst/>
            </a:prstGeom>
            <a:solidFill>
              <a:schemeClr val="accent1"/>
            </a:solidFill>
          </p:spPr>
          <p:txBody>
            <a:bodyPr wrap="none">
              <a:spAutoFit/>
            </a:bodyPr>
            <a:lstStyle/>
            <a:p>
              <a:r>
                <a:rPr lang="en-US" b="1" dirty="0">
                  <a:solidFill>
                    <a:schemeClr val="bg1"/>
                  </a:solidFill>
                  <a:latin typeface="Bahnschrift" pitchFamily="34" charset="0"/>
                </a:rPr>
                <a:t>Sequential Chain</a:t>
              </a:r>
              <a:endParaRPr lang="en-IN" dirty="0">
                <a:solidFill>
                  <a:schemeClr val="bg1"/>
                </a:solidFill>
              </a:endParaRPr>
            </a:p>
          </p:txBody>
        </p:sp>
      </p:grpSp>
    </p:spTree>
    <p:extLst>
      <p:ext uri="{BB962C8B-B14F-4D97-AF65-F5344CB8AC3E}">
        <p14:creationId xmlns:p14="http://schemas.microsoft.com/office/powerpoint/2010/main" val="34069138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pic>
        <p:nvPicPr>
          <p:cNvPr id="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77266" y="98855"/>
            <a:ext cx="1314734" cy="1089559"/>
          </a:xfrm>
          <a:prstGeom prst="rect">
            <a:avLst/>
          </a:prstGeom>
          <a:noFill/>
          <a:ln>
            <a:noFill/>
          </a:ln>
          <a:effectLst>
            <a:outerShdw dist="35921" dir="2700000" algn="ctr" rotWithShape="0">
              <a:schemeClr val="bg2"/>
            </a:outerShdw>
            <a:softEdge rad="317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885567" y="542083"/>
            <a:ext cx="6096000" cy="707886"/>
          </a:xfrm>
          <a:prstGeom prst="rect">
            <a:avLst/>
          </a:prstGeom>
        </p:spPr>
        <p:txBody>
          <a:bodyPr>
            <a:spAutoFit/>
          </a:bodyPr>
          <a:lstStyle/>
          <a:p>
            <a:r>
              <a:rPr lang="en-IN" sz="2000" dirty="0">
                <a:latin typeface="Bahnschrift" pitchFamily="34" charset="0"/>
              </a:rPr>
              <a:t>Parallel Chain</a:t>
            </a:r>
          </a:p>
          <a:p>
            <a:r>
              <a:rPr lang="en-IN" sz="2000" dirty="0">
                <a:latin typeface="Bahnschrift" pitchFamily="34" charset="0"/>
              </a:rPr>
              <a:t>Conditional Chain</a:t>
            </a:r>
          </a:p>
        </p:txBody>
      </p:sp>
    </p:spTree>
    <p:extLst>
      <p:ext uri="{BB962C8B-B14F-4D97-AF65-F5344CB8AC3E}">
        <p14:creationId xmlns:p14="http://schemas.microsoft.com/office/powerpoint/2010/main" val="34069138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pic>
        <p:nvPicPr>
          <p:cNvPr id="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77266" y="98855"/>
            <a:ext cx="1314734" cy="1089559"/>
          </a:xfrm>
          <a:prstGeom prst="rect">
            <a:avLst/>
          </a:prstGeom>
          <a:noFill/>
          <a:ln>
            <a:noFill/>
          </a:ln>
          <a:effectLst>
            <a:outerShdw dist="35921" dir="2700000" algn="ctr" rotWithShape="0">
              <a:schemeClr val="bg2"/>
            </a:outerShdw>
            <a:softEdge rad="317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2784" y="828675"/>
            <a:ext cx="6105525" cy="2600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069138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pic>
        <p:nvPicPr>
          <p:cNvPr id="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77266" y="98855"/>
            <a:ext cx="1314734" cy="1089559"/>
          </a:xfrm>
          <a:prstGeom prst="rect">
            <a:avLst/>
          </a:prstGeom>
          <a:noFill/>
          <a:ln>
            <a:noFill/>
          </a:ln>
          <a:effectLst>
            <a:outerShdw dist="35921" dir="2700000" algn="ctr" rotWithShape="0">
              <a:schemeClr val="bg2"/>
            </a:outerShdw>
            <a:softEdge rad="317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0691388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pic>
        <p:nvPicPr>
          <p:cNvPr id="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77266" y="98855"/>
            <a:ext cx="1314734" cy="1089559"/>
          </a:xfrm>
          <a:prstGeom prst="rect">
            <a:avLst/>
          </a:prstGeom>
          <a:noFill/>
          <a:ln>
            <a:noFill/>
          </a:ln>
          <a:effectLst>
            <a:outerShdw dist="35921" dir="2700000" algn="ctr" rotWithShape="0">
              <a:schemeClr val="bg2"/>
            </a:outerShdw>
            <a:softEdge rad="317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2275" y="1966913"/>
            <a:ext cx="6267450" cy="292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421124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pic>
        <p:nvPicPr>
          <p:cNvPr id="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77266" y="98855"/>
            <a:ext cx="1314734" cy="1089559"/>
          </a:xfrm>
          <a:prstGeom prst="rect">
            <a:avLst/>
          </a:prstGeom>
          <a:noFill/>
          <a:ln>
            <a:noFill/>
          </a:ln>
          <a:effectLst>
            <a:outerShdw dist="35921" dir="2700000" algn="ctr" rotWithShape="0">
              <a:schemeClr val="bg2"/>
            </a:outerShdw>
            <a:softEdge rad="317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979894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pic>
        <p:nvPicPr>
          <p:cNvPr id="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77266" y="98855"/>
            <a:ext cx="1314734" cy="1089559"/>
          </a:xfrm>
          <a:prstGeom prst="rect">
            <a:avLst/>
          </a:prstGeom>
          <a:noFill/>
          <a:ln>
            <a:noFill/>
          </a:ln>
          <a:effectLst>
            <a:outerShdw dist="35921" dir="2700000" algn="ctr" rotWithShape="0">
              <a:schemeClr val="bg2"/>
            </a:outerShdw>
            <a:softEdge rad="317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2421896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pic>
        <p:nvPicPr>
          <p:cNvPr id="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77266" y="98855"/>
            <a:ext cx="1314734" cy="1089559"/>
          </a:xfrm>
          <a:prstGeom prst="rect">
            <a:avLst/>
          </a:prstGeom>
          <a:noFill/>
          <a:ln>
            <a:noFill/>
          </a:ln>
          <a:effectLst>
            <a:outerShdw dist="35921" dir="2700000" algn="ctr" rotWithShape="0">
              <a:schemeClr val="bg2"/>
            </a:outerShdw>
            <a:softEdge rad="317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2137975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pic>
        <p:nvPicPr>
          <p:cNvPr id="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77266" y="98855"/>
            <a:ext cx="1314734" cy="1089559"/>
          </a:xfrm>
          <a:prstGeom prst="rect">
            <a:avLst/>
          </a:prstGeom>
          <a:noFill/>
          <a:ln>
            <a:noFill/>
          </a:ln>
          <a:effectLst>
            <a:outerShdw dist="35921" dir="2700000" algn="ctr" rotWithShape="0">
              <a:schemeClr val="bg2"/>
            </a:outerShdw>
            <a:softEdge rad="317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2310478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39695</TotalTime>
  <Words>525</Words>
  <Application>Microsoft Office PowerPoint</Application>
  <PresentationFormat>Custom</PresentationFormat>
  <Paragraphs>84</Paragraphs>
  <Slides>13</Slides>
  <Notes>13</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Naman Narula</dc:creator>
  <cp:lastModifiedBy>User</cp:lastModifiedBy>
  <cp:revision>1677</cp:revision>
  <dcterms:created xsi:type="dcterms:W3CDTF">2024-01-26T15:11:46Z</dcterms:created>
  <dcterms:modified xsi:type="dcterms:W3CDTF">2026-02-17T19:19:45Z</dcterms:modified>
</cp:coreProperties>
</file>