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23" r:id="rId2"/>
    <p:sldId id="427" r:id="rId3"/>
    <p:sldId id="256" r:id="rId4"/>
    <p:sldId id="422" r:id="rId5"/>
    <p:sldId id="439" r:id="rId6"/>
    <p:sldId id="440" r:id="rId7"/>
    <p:sldId id="442" r:id="rId8"/>
    <p:sldId id="443" r:id="rId9"/>
    <p:sldId id="444" r:id="rId10"/>
    <p:sldId id="441" r:id="rId11"/>
    <p:sldId id="445" r:id="rId12"/>
    <p:sldId id="447" r:id="rId13"/>
    <p:sldId id="446" r:id="rId14"/>
    <p:sldId id="451" r:id="rId15"/>
    <p:sldId id="450" r:id="rId16"/>
    <p:sldId id="449" r:id="rId17"/>
    <p:sldId id="448" r:id="rId18"/>
    <p:sldId id="452" r:id="rId19"/>
    <p:sldId id="41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323"/>
            <p14:sldId id="427"/>
            <p14:sldId id="256"/>
          </p14:sldIdLst>
        </p14:section>
        <p14:section name="Basics" id="{FEB3B35D-C60A-4223-8E10-10DFC2E07C67}">
          <p14:sldIdLst>
            <p14:sldId id="422"/>
            <p14:sldId id="439"/>
            <p14:sldId id="440"/>
          </p14:sldIdLst>
        </p14:section>
        <p14:section name="RunnableSequence" id="{04A46BC3-0350-4D5E-80AC-2810B3FA2E93}">
          <p14:sldIdLst>
            <p14:sldId id="442"/>
            <p14:sldId id="443"/>
          </p14:sldIdLst>
        </p14:section>
        <p14:section name="RunnableParallel" id="{C2B0810C-595A-4E65-B677-01F5DF21875D}">
          <p14:sldIdLst>
            <p14:sldId id="444"/>
            <p14:sldId id="441"/>
          </p14:sldIdLst>
        </p14:section>
        <p14:section name="RunnablePassthrough" id="{482BDFEE-8D2B-4649-A6C9-28545E6915CE}">
          <p14:sldIdLst>
            <p14:sldId id="445"/>
            <p14:sldId id="447"/>
          </p14:sldIdLst>
        </p14:section>
        <p14:section name="RunnableLambda" id="{E42543C5-3BAC-4E47-842E-846393F0A44F}">
          <p14:sldIdLst>
            <p14:sldId id="446"/>
            <p14:sldId id="451"/>
          </p14:sldIdLst>
        </p14:section>
        <p14:section name="RunnableBranch" id="{FEDD310B-9535-480D-9E8F-C236A2251CD2}">
          <p14:sldIdLst>
            <p14:sldId id="450"/>
            <p14:sldId id="449"/>
            <p14:sldId id="448"/>
            <p14:sldId id="452"/>
          </p14:sldIdLst>
        </p14:section>
        <p14:section name="Q&amp;A" id="{1564124F-F372-4CB6-8FA8-28282C184CBB}">
          <p14:sldIdLst>
            <p14:sldId id="41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0CC99"/>
    <a:srgbClr val="15C2FF"/>
    <a:srgbClr val="00D05E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24-05-2025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226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187369" y="1600200"/>
            <a:ext cx="9903831" cy="268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/>
              <a:t>Runnables 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May 2024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5" name="Title 1">
            <a:extLst>
              <a:ext uri="{FF2B5EF4-FFF2-40B4-BE49-F238E27FC236}">
                <a16:creationId xmlns="" xmlns:a16="http://schemas.microsoft.com/office/drawing/2014/main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93436" y="286921"/>
            <a:ext cx="978280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/>
              <a:t>Tools We will cover?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638300"/>
            <a:ext cx="92456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2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26D0CFA-48B8-3E4B-1A49-D1519B52371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FF0842-65B7-CA57-2F5A-D61967EF9A86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86E1CFB-A153-D93E-36A4-626934EA70A2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FD0E1369-B664-5A34-37EB-F2E23636CCE2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16A07B-D1C1-CCF8-D7C5-0E48127EB26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5C46304-707F-3EF8-C7C9-2F0B0A921B4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2289667" y="999911"/>
            <a:ext cx="9903831" cy="101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</a:rPr>
              <a:t>Runnables</a:t>
            </a:r>
            <a:r>
              <a:rPr lang="en-US" sz="4600" b="1" dirty="0">
                <a:solidFill>
                  <a:schemeClr val="tx1"/>
                </a:solidFill>
              </a:rPr>
              <a:t> </a:t>
            </a:r>
            <a:endParaRPr sz="4600" b="1" dirty="0">
              <a:solidFill>
                <a:schemeClr val="tx1"/>
              </a:solidFill>
            </a:endParaRPr>
          </a:p>
        </p:txBody>
      </p:sp>
      <p:sp>
        <p:nvSpPr>
          <p:cNvPr id="16" name="Google Shape;144;p1">
            <a:extLst>
              <a:ext uri="{FF2B5EF4-FFF2-40B4-BE49-F238E27FC236}">
                <a16:creationId xmlns="" xmlns:a16="http://schemas.microsoft.com/office/drawing/2014/main" id="{BBED11E4-2954-95E1-DDA9-5E0CD86221C7}"/>
              </a:ext>
            </a:extLst>
          </p:cNvPr>
          <p:cNvSpPr txBox="1">
            <a:spLocks noGrp="1"/>
          </p:cNvSpPr>
          <p:nvPr/>
        </p:nvSpPr>
        <p:spPr>
          <a:xfrm>
            <a:off x="2427515" y="2380180"/>
            <a:ext cx="7718487" cy="2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Basics </a:t>
            </a:r>
            <a:r>
              <a:rPr lang="en-US" sz="2000" dirty="0" smtClean="0">
                <a:latin typeface="Bahnschrift SemiLight" pitchFamily="34" charset="0"/>
              </a:rPr>
              <a:t>?</a:t>
            </a:r>
            <a:endParaRPr lang="en-US" sz="2000" dirty="0">
              <a:latin typeface="Bahnschrift SemiLight" pitchFamily="34" charset="0"/>
            </a:endParaRP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Bahnschrift SemiLight" pitchFamily="34" charset="0"/>
              </a:rPr>
              <a:t>typeDictionary</a:t>
            </a: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  <a:latin typeface="Bahnschrift SemiLight" pitchFamily="34" charset="0"/>
              </a:rPr>
              <a:t>Pydantic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JsonOutputParser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StructuredoutputParser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Pydanticoutparser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buFont typeface="Arial" panose="020B0604020202020204" pitchFamily="34" charset="0"/>
              <a:buChar char="•"/>
            </a:pPr>
            <a:endParaRPr lang="en-US" sz="2000" dirty="0">
              <a:latin typeface="Bahnschrift SemiLigh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D2D9B059-AD2D-F678-3DA7-C8E03693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035956-D152-CBA4-26F1-D6ED7ADD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</p:spTree>
    <p:extLst>
      <p:ext uri="{BB962C8B-B14F-4D97-AF65-F5344CB8AC3E}">
        <p14:creationId xmlns:p14="http://schemas.microsoft.com/office/powerpoint/2010/main" val="272436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5" name="Title 1">
            <a:extLst>
              <a:ext uri="{FF2B5EF4-FFF2-40B4-BE49-F238E27FC236}">
                <a16:creationId xmlns="" xmlns:a16="http://schemas.microsoft.com/office/drawing/2014/main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93436" y="286921"/>
            <a:ext cx="978280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Runnable</a:t>
            </a:r>
            <a:endParaRPr lang="en-IN" sz="4000" b="1" dirty="0"/>
          </a:p>
        </p:txBody>
      </p:sp>
      <p:sp>
        <p:nvSpPr>
          <p:cNvPr id="3" name="Rectangle 2"/>
          <p:cNvSpPr/>
          <p:nvPr/>
        </p:nvSpPr>
        <p:spPr>
          <a:xfrm>
            <a:off x="2175164" y="1845163"/>
            <a:ext cx="9027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Langchian        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2" name="Google Shape;149;p2">
            <a:extLst>
              <a:ext uri="{FF2B5EF4-FFF2-40B4-BE49-F238E27FC236}">
                <a16:creationId xmlns="" xmlns:a16="http://schemas.microsoft.com/office/drawing/2014/main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4308928" y="756444"/>
            <a:ext cx="2327400" cy="61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Runnables type</a:t>
            </a:r>
            <a:endParaRPr lang="en-IN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2582" y="3131127"/>
            <a:ext cx="2316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 specfic Runnables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661564" y="3315793"/>
            <a:ext cx="2237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Premitive-</a:t>
            </a:r>
            <a:r>
              <a:rPr lang="en-US" dirty="0" err="1" smtClean="0"/>
              <a:t>Runnables</a:t>
            </a:r>
            <a:r>
              <a:rPr lang="en-US" dirty="0" smtClean="0"/>
              <a:t> 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070764" y="1524000"/>
            <a:ext cx="942109" cy="14408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012873" y="1524000"/>
            <a:ext cx="2327563" cy="16071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4888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123" y="261505"/>
            <a:ext cx="57531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908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6643" y="750603"/>
            <a:ext cx="8498521" cy="5062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RunnableSequence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langchain_core.output_parsers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sz="1700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parser=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temp=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template="</a:t>
            </a:r>
            <a:r>
              <a:rPr lang="en-IN" sz="1700" dirty="0" smtClean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generate a joke about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{topic}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,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input_variables=[“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topic”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])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chain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temp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|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model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|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parser</a:t>
            </a:r>
            <a:endParaRPr lang="en-IN" sz="1700" dirty="0">
              <a:solidFill>
                <a:srgbClr val="0070C0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r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es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chain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.</a:t>
            </a:r>
            <a:r>
              <a:rPr lang="en-IN" sz="1700" dirty="0" smtClean="0">
                <a:solidFill>
                  <a:schemeClr val="accent4">
                    <a:lumMod val="50000"/>
                  </a:schemeClr>
                </a:solidFill>
                <a:latin typeface="Calibri Light" pitchFamily="34" charset="0"/>
                <a:cs typeface="Calibri Light" pitchFamily="34" charset="0"/>
              </a:rPr>
              <a:t>invoke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({ </a:t>
            </a:r>
            <a:r>
              <a:rPr lang="en-IN" sz="1700" dirty="0" smtClean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“topic”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: 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“monkey”})</a:t>
            </a:r>
          </a:p>
          <a:p>
            <a:r>
              <a:rPr lang="en-IN" sz="1700" dirty="0">
                <a:solidFill>
                  <a:schemeClr val="accent4">
                    <a:lumMod val="50000"/>
                  </a:schemeClr>
                </a:solidFill>
                <a:latin typeface="Calibri Light" pitchFamily="34" charset="0"/>
                <a:cs typeface="Calibri Light" pitchFamily="34" charset="0"/>
              </a:rPr>
              <a:t>print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</a:t>
            </a:r>
            <a:r>
              <a:rPr lang="en-IN" sz="1700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res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126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074" y="1085849"/>
            <a:ext cx="3971925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835314" y="381271"/>
            <a:ext cx="3037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latin typeface="Arial Black" pitchFamily="34" charset="0"/>
              </a:rPr>
              <a:t>RunnableParallel</a:t>
            </a:r>
          </a:p>
        </p:txBody>
      </p:sp>
    </p:spTree>
    <p:extLst>
      <p:ext uri="{BB962C8B-B14F-4D97-AF65-F5344CB8AC3E}">
        <p14:creationId xmlns:p14="http://schemas.microsoft.com/office/powerpoint/2010/main" val="324715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6642" y="175750"/>
            <a:ext cx="10064084" cy="5493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RunnableSequence, RunnableParallel</a:t>
            </a:r>
            <a:endParaRPr lang="en-IN" sz="1700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langchain_core.output_parsers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B0F0"/>
                </a:solidFill>
                <a:latin typeface="Calibri Light" pitchFamily="34" charset="0"/>
                <a:cs typeface="Calibri Light" pitchFamily="34" charset="0"/>
              </a:rPr>
              <a:t>parser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B0F0"/>
                </a:solidFill>
                <a:latin typeface="Calibri Light" pitchFamily="34" charset="0"/>
                <a:cs typeface="Calibri Light" pitchFamily="34" charset="0"/>
              </a:rPr>
              <a:t>promp1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    template="</a:t>
            </a:r>
            <a:r>
              <a:rPr lang="en-IN" sz="1700" dirty="0" smtClean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generate a joke about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{topic}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,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input_variables=[“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topic”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])</a:t>
            </a:r>
          </a:p>
          <a:p>
            <a:endParaRPr lang="en-US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B0F0"/>
                </a:solidFill>
                <a:latin typeface="Calibri Light" pitchFamily="34" charset="0"/>
                <a:cs typeface="Calibri Light" pitchFamily="34" charset="0"/>
              </a:rPr>
              <a:t>prompt2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   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template="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generate a joke about </a:t>
            </a:r>
            <a:r>
              <a:rPr lang="en-IN" sz="1700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{topic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}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,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input_variables=[“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topic”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])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US" sz="1600" dirty="0">
                <a:solidFill>
                  <a:srgbClr val="00B0F0"/>
                </a:solidFill>
              </a:rPr>
              <a:t>parallel_chain</a:t>
            </a:r>
            <a:r>
              <a:rPr lang="en-US" sz="1600" dirty="0"/>
              <a:t>=</a:t>
            </a:r>
            <a:r>
              <a:rPr lang="en-US" sz="1600" dirty="0">
                <a:solidFill>
                  <a:srgbClr val="00D05E"/>
                </a:solidFill>
              </a:rPr>
              <a:t>RunnableParallel</a:t>
            </a:r>
            <a:r>
              <a:rPr lang="en-US" sz="1600" dirty="0"/>
              <a:t>({</a:t>
            </a:r>
          </a:p>
          <a:p>
            <a:r>
              <a:rPr lang="en-US" sz="1600" dirty="0"/>
              <a:t>    "</a:t>
            </a:r>
            <a:r>
              <a:rPr lang="en-US" sz="1600" dirty="0" smtClean="0">
                <a:solidFill>
                  <a:srgbClr val="CC3300"/>
                </a:solidFill>
              </a:rPr>
              <a:t>tweet</a:t>
            </a:r>
            <a:r>
              <a:rPr lang="en-US" sz="1600" dirty="0" smtClean="0"/>
              <a:t>“ : </a:t>
            </a:r>
            <a:r>
              <a:rPr lang="en-US" sz="1600" dirty="0">
                <a:solidFill>
                  <a:srgbClr val="00D05E"/>
                </a:solidFill>
              </a:rPr>
              <a:t>RunnableSequence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B0F0"/>
                </a:solidFill>
              </a:rPr>
              <a:t>prompt1</a:t>
            </a:r>
            <a:r>
              <a:rPr lang="en-US" sz="1600" dirty="0"/>
              <a:t>,</a:t>
            </a:r>
            <a:r>
              <a:rPr lang="en-US" sz="1600" dirty="0">
                <a:solidFill>
                  <a:srgbClr val="00B0F0"/>
                </a:solidFill>
              </a:rPr>
              <a:t>model,parser</a:t>
            </a:r>
            <a:r>
              <a:rPr lang="en-US" sz="1600" dirty="0"/>
              <a:t>),</a:t>
            </a:r>
          </a:p>
          <a:p>
            <a:r>
              <a:rPr lang="en-US" sz="1600" dirty="0"/>
              <a:t>    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CC3300"/>
                </a:solidFill>
              </a:rPr>
              <a:t>LinkedIn</a:t>
            </a:r>
            <a:r>
              <a:rPr lang="en-US" sz="1600" dirty="0" smtClean="0"/>
              <a:t>": </a:t>
            </a:r>
            <a:r>
              <a:rPr lang="en-US" sz="1600" dirty="0" smtClean="0">
                <a:solidFill>
                  <a:srgbClr val="00D05E"/>
                </a:solidFill>
              </a:rPr>
              <a:t>RunnableSequence(</a:t>
            </a:r>
            <a:r>
              <a:rPr lang="en-US" sz="1600" dirty="0" smtClean="0">
                <a:solidFill>
                  <a:srgbClr val="00B0F0"/>
                </a:solidFill>
              </a:rPr>
              <a:t>prompt1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F0"/>
                </a:solidFill>
              </a:rPr>
              <a:t>model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F0"/>
                </a:solidFill>
              </a:rPr>
              <a:t>parser</a:t>
            </a:r>
            <a:r>
              <a:rPr lang="en-US" sz="1600" dirty="0"/>
              <a:t>)</a:t>
            </a:r>
          </a:p>
          <a:p>
            <a:r>
              <a:rPr lang="en-US" sz="1600" dirty="0"/>
              <a:t>})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print(</a:t>
            </a:r>
            <a:r>
              <a:rPr lang="en-US" sz="1600" dirty="0">
                <a:solidFill>
                  <a:srgbClr val="00B0F0"/>
                </a:solidFill>
              </a:rPr>
              <a:t>parallel_chain</a:t>
            </a:r>
            <a:r>
              <a:rPr lang="en-US" sz="1600" dirty="0"/>
              <a:t>.</a:t>
            </a:r>
            <a:r>
              <a:rPr lang="en-US" sz="1600" dirty="0">
                <a:solidFill>
                  <a:srgbClr val="92D050"/>
                </a:solidFill>
              </a:rPr>
              <a:t>invo</a:t>
            </a:r>
            <a:r>
              <a:rPr lang="en-US" sz="1700" dirty="0">
                <a:solidFill>
                  <a:srgbClr val="92D050"/>
                </a:solidFill>
                <a:latin typeface="Calibri Light" pitchFamily="34" charset="0"/>
                <a:cs typeface="Calibri Light" pitchFamily="34" charset="0"/>
              </a:rPr>
              <a:t>ke</a:t>
            </a:r>
            <a:r>
              <a:rPr lang="en-US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(</a:t>
            </a:r>
            <a:r>
              <a:rPr lang="en-US" sz="1600" dirty="0"/>
              <a:t>{"</a:t>
            </a:r>
            <a:r>
              <a:rPr lang="en-US" sz="1600" dirty="0">
                <a:solidFill>
                  <a:srgbClr val="CC3300"/>
                </a:solidFill>
              </a:rPr>
              <a:t>topic</a:t>
            </a:r>
            <a:r>
              <a:rPr lang="en-US" sz="1600" dirty="0"/>
              <a:t>":"</a:t>
            </a:r>
            <a:r>
              <a:rPr lang="en-US" sz="1600" dirty="0">
                <a:solidFill>
                  <a:srgbClr val="CC3300"/>
                </a:solidFill>
              </a:rPr>
              <a:t>AI</a:t>
            </a:r>
            <a:r>
              <a:rPr lang="en-US" sz="1600" dirty="0" smtClean="0"/>
              <a:t>"}))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6642" y="5814583"/>
            <a:ext cx="1051461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{</a:t>
            </a:r>
          </a:p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'tweet': 'AI is rapidly evolving, and the possibilities are endless! ', </a:t>
            </a:r>
          </a:p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'linkkedin': 'AI is rapidly evolving, and the possibilities are endless!'</a:t>
            </a:r>
          </a:p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}</a:t>
            </a:r>
            <a:endParaRPr lang="en-IN" sz="1200" dirty="0">
              <a:latin typeface="Calibri Light" pitchFamily="34" charset="0"/>
              <a:cs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14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2257425"/>
            <a:ext cx="43148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62263" y="399616"/>
            <a:ext cx="2904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RunnablePassthrough</a:t>
            </a:r>
          </a:p>
        </p:txBody>
      </p:sp>
    </p:spTree>
    <p:extLst>
      <p:ext uri="{BB962C8B-B14F-4D97-AF65-F5344CB8AC3E}">
        <p14:creationId xmlns:p14="http://schemas.microsoft.com/office/powerpoint/2010/main" val="128019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634835" y="988517"/>
            <a:ext cx="8548255" cy="369331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RunnableSequence, RunnableParallel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langchain_core.output_parsers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>
                <a:solidFill>
                  <a:srgbClr val="00B0F0"/>
                </a:solidFill>
              </a:rPr>
              <a:t>chain</a:t>
            </a:r>
            <a:r>
              <a:rPr lang="en-IN" dirty="0" smtClean="0"/>
              <a:t>=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RunnablePassthrough</a:t>
            </a:r>
            <a:r>
              <a:rPr lang="en-IN" dirty="0"/>
              <a:t>()</a:t>
            </a:r>
          </a:p>
          <a:p>
            <a:r>
              <a:rPr lang="en-IN" dirty="0">
                <a:solidFill>
                  <a:srgbClr val="00B0F0"/>
                </a:solidFill>
              </a:rPr>
              <a:t>res</a:t>
            </a:r>
            <a:r>
              <a:rPr lang="en-IN" dirty="0"/>
              <a:t>=</a:t>
            </a:r>
            <a:r>
              <a:rPr lang="en-IN" dirty="0">
                <a:solidFill>
                  <a:srgbClr val="00B0F0"/>
                </a:solidFill>
              </a:rPr>
              <a:t>chain.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invoke(</a:t>
            </a:r>
            <a:r>
              <a:rPr lang="en-IN" dirty="0"/>
              <a:t>777)</a:t>
            </a:r>
          </a:p>
          <a:p>
            <a:r>
              <a:rPr lang="en-IN" dirty="0"/>
              <a:t>print(</a:t>
            </a:r>
            <a:r>
              <a:rPr lang="en-IN" dirty="0">
                <a:solidFill>
                  <a:srgbClr val="00B0F0"/>
                </a:solidFill>
              </a:rPr>
              <a:t>res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63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77" y="750603"/>
            <a:ext cx="9174154" cy="36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634835" y="988517"/>
            <a:ext cx="8548255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RunnableLambda</a:t>
            </a:r>
          </a:p>
          <a:p>
            <a:r>
              <a:rPr lang="en-IN" dirty="0" smtClean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langchain_core.output_parsers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dirty="0" smtClean="0"/>
          </a:p>
          <a:p>
            <a:r>
              <a:rPr lang="en-IN" dirty="0"/>
              <a:t>def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toUpperCase</a:t>
            </a:r>
            <a:r>
              <a:rPr lang="en-IN" dirty="0"/>
              <a:t>(x:str):</a:t>
            </a:r>
          </a:p>
          <a:p>
            <a:r>
              <a:rPr lang="en-IN" dirty="0"/>
              <a:t>    return x.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upper</a:t>
            </a:r>
            <a:r>
              <a:rPr lang="en-IN" dirty="0"/>
              <a:t>()</a:t>
            </a:r>
          </a:p>
          <a:p>
            <a:endParaRPr lang="en-IN" dirty="0" smtClean="0"/>
          </a:p>
          <a:p>
            <a:r>
              <a:rPr lang="en-US" dirty="0">
                <a:solidFill>
                  <a:srgbClr val="00B0F0"/>
                </a:solidFill>
              </a:rPr>
              <a:t>chain</a:t>
            </a:r>
            <a:r>
              <a:rPr lang="en-US" dirty="0"/>
              <a:t>=</a:t>
            </a:r>
            <a:r>
              <a:rPr lang="en-US" dirty="0">
                <a:solidFill>
                  <a:srgbClr val="0070C0"/>
                </a:solidFill>
              </a:rPr>
              <a:t>RunnableLambda</a:t>
            </a:r>
            <a:r>
              <a:rPr lang="en-US" dirty="0"/>
              <a:t>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toUpperCase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00B0F0"/>
                </a:solidFill>
              </a:rPr>
              <a:t>res</a:t>
            </a:r>
            <a:r>
              <a:rPr lang="en-US" dirty="0"/>
              <a:t>=</a:t>
            </a:r>
            <a:r>
              <a:rPr lang="en-US" dirty="0">
                <a:solidFill>
                  <a:srgbClr val="00B0F0"/>
                </a:solidFill>
              </a:rPr>
              <a:t>chain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invoke(</a:t>
            </a:r>
            <a:r>
              <a:rPr lang="en-US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"</a:t>
            </a:r>
            <a:r>
              <a:rPr lang="en-US" dirty="0">
                <a:solidFill>
                  <a:srgbClr val="CC3300"/>
                </a:solidFill>
              </a:rPr>
              <a:t>hello world")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print(</a:t>
            </a:r>
            <a:r>
              <a:rPr lang="en-US" dirty="0">
                <a:solidFill>
                  <a:srgbClr val="00B0F0"/>
                </a:solidFill>
              </a:rPr>
              <a:t>res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13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698880" y="381271"/>
            <a:ext cx="2239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RunnableBranch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2382982" y="1166198"/>
            <a:ext cx="77308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Runnable that </a:t>
            </a:r>
            <a:r>
              <a:rPr lang="en-US" b="1" dirty="0"/>
              <a:t>selects which branch to run based on a condition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93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865" y="1247774"/>
            <a:ext cx="6512935" cy="372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99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558894" y="545340"/>
            <a:ext cx="10231323" cy="590931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dirty="0"/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 </a:t>
            </a:r>
            <a:r>
              <a:rPr lang="en-IN" dirty="0"/>
              <a:t>import </a:t>
            </a:r>
            <a:r>
              <a:rPr lang="en-IN" dirty="0" smtClean="0"/>
              <a:t>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RunnableBranch</a:t>
            </a:r>
            <a:endParaRPr lang="en-IN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dirty="0" smtClean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langchain_core.output_parsers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US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load_dotenv</a:t>
            </a:r>
            <a:r>
              <a:rPr lang="en-IN" dirty="0"/>
              <a:t>()</a:t>
            </a:r>
          </a:p>
          <a:p>
            <a:r>
              <a:rPr lang="en-IN" dirty="0">
                <a:solidFill>
                  <a:srgbClr val="15C2FF"/>
                </a:solidFill>
              </a:rPr>
              <a:t>model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ChatGoogleGenerativeAI</a:t>
            </a:r>
            <a:r>
              <a:rPr lang="en-IN" dirty="0"/>
              <a:t>(</a:t>
            </a:r>
            <a:r>
              <a:rPr lang="en-IN" dirty="0">
                <a:solidFill>
                  <a:srgbClr val="15C2FF"/>
                </a:solidFill>
              </a:rPr>
              <a:t>model</a:t>
            </a:r>
            <a:r>
              <a:rPr lang="en-IN" dirty="0"/>
              <a:t>=</a:t>
            </a:r>
            <a:r>
              <a:rPr lang="en-IN" dirty="0">
                <a:solidFill>
                  <a:srgbClr val="C00000"/>
                </a:solidFill>
              </a:rPr>
              <a:t>"gemini-2.0-flash", </a:t>
            </a:r>
            <a:r>
              <a:rPr lang="en-IN" dirty="0">
                <a:solidFill>
                  <a:srgbClr val="15C2FF"/>
                </a:solidFill>
              </a:rPr>
              <a:t>temperature</a:t>
            </a:r>
            <a:r>
              <a:rPr lang="en-IN" dirty="0"/>
              <a:t>=0)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70C0"/>
                </a:solidFill>
              </a:rPr>
              <a:t>class</a:t>
            </a:r>
            <a:r>
              <a:rPr lang="en-IN" dirty="0"/>
              <a:t> </a:t>
            </a:r>
            <a:r>
              <a:rPr lang="en-IN" dirty="0">
                <a:solidFill>
                  <a:srgbClr val="00CC99"/>
                </a:solidFill>
              </a:rPr>
              <a:t>Review</a:t>
            </a:r>
            <a:r>
              <a:rPr lang="en-IN" dirty="0"/>
              <a:t>(</a:t>
            </a:r>
            <a:r>
              <a:rPr lang="en-IN" dirty="0">
                <a:solidFill>
                  <a:srgbClr val="00CC99"/>
                </a:solidFill>
              </a:rPr>
              <a:t>BaseModel</a:t>
            </a:r>
            <a:r>
              <a:rPr lang="en-IN" dirty="0"/>
              <a:t>):</a:t>
            </a:r>
          </a:p>
          <a:p>
            <a:pPr lvl="1"/>
            <a:r>
              <a:rPr lang="en-IN" dirty="0"/>
              <a:t>    </a:t>
            </a:r>
            <a:r>
              <a:rPr lang="en-IN" dirty="0">
                <a:solidFill>
                  <a:srgbClr val="00B0F0"/>
                </a:solidFill>
              </a:rPr>
              <a:t>sentiment:</a:t>
            </a:r>
            <a:r>
              <a:rPr lang="en-IN" dirty="0">
                <a:solidFill>
                  <a:srgbClr val="00CC99"/>
                </a:solidFill>
              </a:rPr>
              <a:t>Literal[</a:t>
            </a:r>
            <a:r>
              <a:rPr lang="en-IN" dirty="0">
                <a:solidFill>
                  <a:srgbClr val="C00000"/>
                </a:solidFill>
              </a:rPr>
              <a:t>"positive"</a:t>
            </a:r>
            <a:r>
              <a:rPr lang="en-IN" dirty="0"/>
              <a:t>,</a:t>
            </a:r>
            <a:r>
              <a:rPr lang="en-IN" dirty="0">
                <a:solidFill>
                  <a:srgbClr val="C00000"/>
                </a:solidFill>
              </a:rPr>
              <a:t>"negative"</a:t>
            </a:r>
            <a:r>
              <a:rPr lang="en-IN" dirty="0"/>
              <a:t>]=Field(</a:t>
            </a:r>
            <a:r>
              <a:rPr lang="en-IN" dirty="0">
                <a:solidFill>
                  <a:srgbClr val="15C2FF"/>
                </a:solidFill>
              </a:rPr>
              <a:t>description</a:t>
            </a:r>
            <a:r>
              <a:rPr lang="en-IN" dirty="0"/>
              <a:t>=</a:t>
            </a:r>
            <a:r>
              <a:rPr lang="en-IN" dirty="0">
                <a:solidFill>
                  <a:srgbClr val="C00000"/>
                </a:solidFill>
              </a:rPr>
              <a:t>"give me sentiment of feedback"</a:t>
            </a:r>
            <a:r>
              <a:rPr lang="en-IN" dirty="0"/>
              <a:t>)</a:t>
            </a:r>
          </a:p>
          <a:p>
            <a:r>
              <a:rPr lang="en-IN" dirty="0"/>
              <a:t>   </a:t>
            </a:r>
            <a:br>
              <a:rPr lang="en-IN" dirty="0"/>
            </a:br>
            <a:r>
              <a:rPr lang="en-IN" dirty="0">
                <a:solidFill>
                  <a:srgbClr val="15C2FF"/>
                </a:solidFill>
              </a:rPr>
              <a:t>parser_pydantic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PydanticOutputParser(</a:t>
            </a:r>
            <a:r>
              <a:rPr lang="en-IN" dirty="0">
                <a:solidFill>
                  <a:srgbClr val="15C2FF"/>
                </a:solidFill>
              </a:rPr>
              <a:t>pydantic_object</a:t>
            </a:r>
            <a:r>
              <a:rPr lang="en-IN" dirty="0"/>
              <a:t>=Review)</a:t>
            </a:r>
          </a:p>
          <a:p>
            <a:r>
              <a:rPr lang="en-IN" dirty="0">
                <a:solidFill>
                  <a:srgbClr val="15C2FF"/>
                </a:solidFill>
              </a:rPr>
              <a:t>parser_str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StrOutputParser</a:t>
            </a:r>
            <a:r>
              <a:rPr lang="en-IN" dirty="0" smtClean="0">
                <a:solidFill>
                  <a:srgbClr val="00CC99"/>
                </a:solidFill>
              </a:rPr>
              <a:t>()</a:t>
            </a:r>
          </a:p>
          <a:p>
            <a:endParaRPr lang="en-US" dirty="0">
              <a:solidFill>
                <a:srgbClr val="00CC99"/>
              </a:solidFill>
            </a:endParaRPr>
          </a:p>
          <a:p>
            <a:r>
              <a:rPr lang="en-IN" dirty="0">
                <a:solidFill>
                  <a:srgbClr val="15C2FF"/>
                </a:solidFill>
              </a:rPr>
              <a:t>prompt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PromptTemplate</a:t>
            </a:r>
            <a:r>
              <a:rPr lang="en-IN" dirty="0"/>
              <a:t>(</a:t>
            </a:r>
          </a:p>
          <a:p>
            <a:r>
              <a:rPr lang="en-IN" dirty="0"/>
              <a:t>    </a:t>
            </a:r>
            <a:r>
              <a:rPr lang="en-IN" dirty="0">
                <a:solidFill>
                  <a:srgbClr val="15C2FF"/>
                </a:solidFill>
              </a:rPr>
              <a:t>template</a:t>
            </a:r>
            <a:r>
              <a:rPr lang="en-IN" dirty="0"/>
              <a:t>=</a:t>
            </a:r>
            <a:r>
              <a:rPr lang="en-IN" dirty="0">
                <a:solidFill>
                  <a:srgbClr val="CC3300"/>
                </a:solidFill>
              </a:rPr>
              <a:t>"classify a sentiment of following feedback into positive or negative</a:t>
            </a:r>
            <a:r>
              <a:rPr lang="en-IN" dirty="0"/>
              <a:t>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\n </a:t>
            </a:r>
            <a:r>
              <a:rPr lang="en-IN" dirty="0">
                <a:solidFill>
                  <a:srgbClr val="0070C0"/>
                </a:solidFill>
              </a:rPr>
              <a:t>{feedback}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\n </a:t>
            </a:r>
            <a:r>
              <a:rPr lang="en-IN" dirty="0">
                <a:solidFill>
                  <a:srgbClr val="0070C0"/>
                </a:solidFill>
              </a:rPr>
              <a:t>{format_instruction}</a:t>
            </a:r>
            <a:r>
              <a:rPr lang="en-IN" dirty="0">
                <a:solidFill>
                  <a:srgbClr val="CC3300"/>
                </a:solidFill>
              </a:rPr>
              <a:t>"</a:t>
            </a:r>
            <a:r>
              <a:rPr lang="en-IN" dirty="0">
                <a:solidFill>
                  <a:srgbClr val="0070C0"/>
                </a:solidFill>
              </a:rPr>
              <a:t>,</a:t>
            </a:r>
          </a:p>
          <a:p>
            <a:r>
              <a:rPr lang="en-IN" dirty="0"/>
              <a:t>   </a:t>
            </a:r>
            <a:r>
              <a:rPr lang="en-IN" dirty="0">
                <a:solidFill>
                  <a:srgbClr val="15C2FF"/>
                </a:solidFill>
              </a:rPr>
              <a:t> input_variables</a:t>
            </a:r>
            <a:r>
              <a:rPr lang="en-IN" dirty="0"/>
              <a:t>=[</a:t>
            </a:r>
            <a:r>
              <a:rPr lang="en-IN" dirty="0">
                <a:solidFill>
                  <a:srgbClr val="CC3300"/>
                </a:solidFill>
              </a:rPr>
              <a:t>"feedback"</a:t>
            </a:r>
            <a:r>
              <a:rPr lang="en-IN" dirty="0"/>
              <a:t>],</a:t>
            </a:r>
          </a:p>
          <a:p>
            <a:r>
              <a:rPr lang="en-IN" dirty="0"/>
              <a:t>    </a:t>
            </a:r>
            <a:r>
              <a:rPr lang="en-IN" dirty="0">
                <a:solidFill>
                  <a:srgbClr val="15C2FF"/>
                </a:solidFill>
              </a:rPr>
              <a:t>partial_variables</a:t>
            </a:r>
            <a:r>
              <a:rPr lang="en-IN" dirty="0"/>
              <a:t>={</a:t>
            </a:r>
            <a:r>
              <a:rPr lang="en-IN" dirty="0">
                <a:solidFill>
                  <a:srgbClr val="CC3300"/>
                </a:solidFill>
              </a:rPr>
              <a:t>"format_instruction"</a:t>
            </a:r>
            <a:r>
              <a:rPr lang="en-IN" dirty="0"/>
              <a:t>:</a:t>
            </a:r>
            <a:r>
              <a:rPr lang="en-IN" dirty="0">
                <a:solidFill>
                  <a:srgbClr val="15C2FF"/>
                </a:solidFill>
              </a:rPr>
              <a:t>parser_pydantic.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get_format_instructions</a:t>
            </a:r>
            <a:r>
              <a:rPr lang="en-IN" dirty="0"/>
              <a:t> },</a:t>
            </a:r>
          </a:p>
          <a:p>
            <a:r>
              <a:rPr lang="en-IN" dirty="0" smtClean="0"/>
              <a:t>)</a:t>
            </a:r>
            <a:endParaRPr lang="en-IN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8895" y="4767894"/>
            <a:ext cx="100722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18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8206" y="414668"/>
            <a:ext cx="10438158" cy="618630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prompt1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PromptTemplate</a:t>
            </a:r>
            <a:r>
              <a:rPr lang="en-IN" dirty="0"/>
              <a:t>(</a:t>
            </a:r>
          </a:p>
          <a:p>
            <a:pPr lvl="1"/>
            <a:r>
              <a:rPr lang="en-IN" dirty="0"/>
              <a:t>    </a:t>
            </a:r>
            <a:r>
              <a:rPr lang="en-IN" dirty="0">
                <a:solidFill>
                  <a:srgbClr val="00B0F0"/>
                </a:solidFill>
              </a:rPr>
              <a:t>template</a:t>
            </a:r>
            <a:r>
              <a:rPr lang="en-IN" dirty="0" smtClean="0"/>
              <a:t>=</a:t>
            </a:r>
            <a:r>
              <a:rPr lang="en-IN" dirty="0" smtClean="0">
                <a:solidFill>
                  <a:srgbClr val="CC3300"/>
                </a:solidFill>
              </a:rPr>
              <a:t>"generate </a:t>
            </a:r>
            <a:r>
              <a:rPr lang="en-IN" dirty="0">
                <a:solidFill>
                  <a:srgbClr val="CC3300"/>
                </a:solidFill>
              </a:rPr>
              <a:t>two line response for this positive </a:t>
            </a:r>
            <a:r>
              <a:rPr lang="en-IN" dirty="0" smtClean="0">
                <a:solidFill>
                  <a:srgbClr val="CC3300"/>
                </a:solidFill>
              </a:rPr>
              <a:t>feedback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\n </a:t>
            </a:r>
            <a:r>
              <a:rPr lang="en-IN" dirty="0">
                <a:solidFill>
                  <a:srgbClr val="0070C0"/>
                </a:solidFill>
              </a:rPr>
              <a:t>{feedback}</a:t>
            </a:r>
            <a:r>
              <a:rPr lang="en-IN" dirty="0"/>
              <a:t>" ,</a:t>
            </a:r>
          </a:p>
          <a:p>
            <a:pPr lvl="1"/>
            <a:r>
              <a:rPr lang="en-IN" dirty="0"/>
              <a:t>   </a:t>
            </a:r>
            <a:r>
              <a:rPr lang="en-IN" dirty="0">
                <a:solidFill>
                  <a:srgbClr val="00B0F0"/>
                </a:solidFill>
              </a:rPr>
              <a:t> input_variables</a:t>
            </a:r>
            <a:r>
              <a:rPr lang="en-IN" dirty="0"/>
              <a:t>=[</a:t>
            </a:r>
            <a:r>
              <a:rPr lang="en-IN" dirty="0">
                <a:solidFill>
                  <a:srgbClr val="CC3300"/>
                </a:solidFill>
              </a:rPr>
              <a:t>"feedback"</a:t>
            </a:r>
            <a:r>
              <a:rPr lang="en-IN" dirty="0"/>
              <a:t>]  </a:t>
            </a:r>
          </a:p>
          <a:p>
            <a:r>
              <a:rPr lang="en-IN" dirty="0"/>
              <a:t>)</a:t>
            </a:r>
          </a:p>
          <a:p>
            <a:r>
              <a:rPr lang="en-IN" dirty="0">
                <a:solidFill>
                  <a:srgbClr val="00B0F0"/>
                </a:solidFill>
              </a:rPr>
              <a:t>prompt2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PromptTemplate</a:t>
            </a:r>
            <a:r>
              <a:rPr lang="en-IN" dirty="0"/>
              <a:t>(</a:t>
            </a:r>
          </a:p>
          <a:p>
            <a:pPr lvl="1"/>
            <a:r>
              <a:rPr lang="en-IN" dirty="0"/>
              <a:t>    </a:t>
            </a:r>
            <a:r>
              <a:rPr lang="en-IN" dirty="0">
                <a:solidFill>
                  <a:srgbClr val="00B0F0"/>
                </a:solidFill>
              </a:rPr>
              <a:t>template</a:t>
            </a:r>
            <a:r>
              <a:rPr lang="en-IN" dirty="0" smtClean="0"/>
              <a:t>=</a:t>
            </a:r>
            <a:r>
              <a:rPr lang="en-IN" dirty="0" smtClean="0">
                <a:solidFill>
                  <a:srgbClr val="CC3300"/>
                </a:solidFill>
              </a:rPr>
              <a:t>"generate </a:t>
            </a:r>
            <a:r>
              <a:rPr lang="en-IN" dirty="0">
                <a:solidFill>
                  <a:srgbClr val="CC3300"/>
                </a:solidFill>
              </a:rPr>
              <a:t>two line response for this negative </a:t>
            </a:r>
            <a:r>
              <a:rPr lang="en-IN" dirty="0" smtClean="0">
                <a:solidFill>
                  <a:srgbClr val="CC3300"/>
                </a:solidFill>
              </a:rPr>
              <a:t>feedback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\n </a:t>
            </a:r>
            <a:r>
              <a:rPr lang="en-IN" dirty="0">
                <a:solidFill>
                  <a:srgbClr val="0070C0"/>
                </a:solidFill>
              </a:rPr>
              <a:t>{feedback}</a:t>
            </a:r>
            <a:r>
              <a:rPr lang="en-IN" dirty="0"/>
              <a:t>" ,</a:t>
            </a:r>
          </a:p>
          <a:p>
            <a:pPr lvl="1"/>
            <a:r>
              <a:rPr lang="en-IN" dirty="0"/>
              <a:t>    </a:t>
            </a:r>
            <a:r>
              <a:rPr lang="en-IN" dirty="0">
                <a:solidFill>
                  <a:srgbClr val="00B0F0"/>
                </a:solidFill>
              </a:rPr>
              <a:t>input_variables=[</a:t>
            </a:r>
            <a:r>
              <a:rPr lang="en-IN" dirty="0">
                <a:solidFill>
                  <a:srgbClr val="CC3300"/>
                </a:solidFill>
              </a:rPr>
              <a:t>"feedback"</a:t>
            </a:r>
            <a:r>
              <a:rPr lang="en-IN" dirty="0"/>
              <a:t>]  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B0F0"/>
                </a:solidFill>
              </a:rPr>
              <a:t>classfier_chain</a:t>
            </a:r>
            <a:r>
              <a:rPr lang="en-IN" dirty="0"/>
              <a:t>=</a:t>
            </a:r>
            <a:r>
              <a:rPr lang="en-IN" dirty="0">
                <a:solidFill>
                  <a:srgbClr val="00B0F0"/>
                </a:solidFill>
              </a:rPr>
              <a:t>prompt</a:t>
            </a:r>
            <a:r>
              <a:rPr lang="en-IN" dirty="0"/>
              <a:t>|</a:t>
            </a:r>
            <a:r>
              <a:rPr lang="en-IN" dirty="0">
                <a:solidFill>
                  <a:srgbClr val="00B0F0"/>
                </a:solidFill>
              </a:rPr>
              <a:t>model</a:t>
            </a:r>
            <a:r>
              <a:rPr lang="en-IN" dirty="0"/>
              <a:t>|</a:t>
            </a:r>
            <a:r>
              <a:rPr lang="en-IN" dirty="0">
                <a:solidFill>
                  <a:srgbClr val="00B0F0"/>
                </a:solidFill>
              </a:rPr>
              <a:t>parser_pydantic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B0F0"/>
                </a:solidFill>
              </a:rPr>
              <a:t>branch_chain </a:t>
            </a:r>
            <a:r>
              <a:rPr lang="en-IN" dirty="0"/>
              <a:t>= </a:t>
            </a:r>
            <a:r>
              <a:rPr lang="en-IN" dirty="0">
                <a:solidFill>
                  <a:srgbClr val="00CC99"/>
                </a:solidFill>
              </a:rPr>
              <a:t>RunnableBranch</a:t>
            </a:r>
            <a:r>
              <a:rPr lang="en-IN" dirty="0"/>
              <a:t>(</a:t>
            </a:r>
          </a:p>
          <a:p>
            <a:pPr lvl="1"/>
            <a:r>
              <a:rPr lang="en-IN" dirty="0"/>
              <a:t>    </a:t>
            </a:r>
            <a:r>
              <a:rPr lang="en-IN" dirty="0" smtClean="0"/>
              <a:t>( </a:t>
            </a:r>
            <a:r>
              <a:rPr lang="en-IN" dirty="0" smtClean="0">
                <a:solidFill>
                  <a:srgbClr val="0070C0"/>
                </a:solidFill>
              </a:rPr>
              <a:t>lambda</a:t>
            </a:r>
            <a:r>
              <a:rPr lang="en-IN" dirty="0" smtClean="0"/>
              <a:t> </a:t>
            </a:r>
            <a:r>
              <a:rPr lang="en-IN" dirty="0"/>
              <a:t>x:x.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sentiment</a:t>
            </a:r>
            <a:r>
              <a:rPr lang="en-IN" dirty="0"/>
              <a:t>== </a:t>
            </a:r>
            <a:r>
              <a:rPr lang="en-IN" dirty="0">
                <a:solidFill>
                  <a:srgbClr val="CC3300"/>
                </a:solidFill>
              </a:rPr>
              <a:t>'positive'</a:t>
            </a:r>
            <a:r>
              <a:rPr lang="en-IN" dirty="0"/>
              <a:t>, </a:t>
            </a:r>
            <a:r>
              <a:rPr lang="en-IN" dirty="0">
                <a:solidFill>
                  <a:srgbClr val="00B0F0"/>
                </a:solidFill>
              </a:rPr>
              <a:t>prompt1</a:t>
            </a:r>
            <a:r>
              <a:rPr lang="en-IN" dirty="0"/>
              <a:t> | </a:t>
            </a:r>
            <a:r>
              <a:rPr lang="en-IN" dirty="0">
                <a:solidFill>
                  <a:srgbClr val="00B0F0"/>
                </a:solidFill>
              </a:rPr>
              <a:t>model </a:t>
            </a:r>
            <a:r>
              <a:rPr lang="en-IN" dirty="0"/>
              <a:t>| </a:t>
            </a:r>
            <a:r>
              <a:rPr lang="en-IN" dirty="0" smtClean="0">
                <a:solidFill>
                  <a:srgbClr val="00B0F0"/>
                </a:solidFill>
              </a:rPr>
              <a:t>parser_str </a:t>
            </a:r>
            <a:r>
              <a:rPr lang="en-IN" dirty="0" smtClean="0"/>
              <a:t>),</a:t>
            </a:r>
            <a:endParaRPr lang="en-IN" dirty="0"/>
          </a:p>
          <a:p>
            <a:pPr lvl="1"/>
            <a:r>
              <a:rPr lang="en-IN" dirty="0"/>
              <a:t>    </a:t>
            </a:r>
            <a:r>
              <a:rPr lang="en-IN" dirty="0" smtClean="0"/>
              <a:t>( </a:t>
            </a:r>
            <a:r>
              <a:rPr lang="en-IN" dirty="0" smtClean="0">
                <a:solidFill>
                  <a:srgbClr val="0070C0"/>
                </a:solidFill>
              </a:rPr>
              <a:t>lambda</a:t>
            </a:r>
            <a:r>
              <a:rPr lang="en-IN" dirty="0" smtClean="0"/>
              <a:t> </a:t>
            </a:r>
            <a:r>
              <a:rPr lang="en-IN" dirty="0"/>
              <a:t>x:x.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sentiment </a:t>
            </a:r>
            <a:r>
              <a:rPr lang="en-IN" dirty="0"/>
              <a:t>== </a:t>
            </a:r>
            <a:r>
              <a:rPr lang="en-IN" dirty="0">
                <a:solidFill>
                  <a:srgbClr val="CC3300"/>
                </a:solidFill>
              </a:rPr>
              <a:t>'negative'</a:t>
            </a:r>
            <a:r>
              <a:rPr lang="en-IN" dirty="0"/>
              <a:t>, </a:t>
            </a:r>
            <a:r>
              <a:rPr lang="en-IN" dirty="0">
                <a:solidFill>
                  <a:srgbClr val="00B0F0"/>
                </a:solidFill>
              </a:rPr>
              <a:t>prompt2</a:t>
            </a:r>
            <a:r>
              <a:rPr lang="en-IN" dirty="0"/>
              <a:t> | </a:t>
            </a:r>
            <a:r>
              <a:rPr lang="en-IN" dirty="0">
                <a:solidFill>
                  <a:srgbClr val="00B0F0"/>
                </a:solidFill>
              </a:rPr>
              <a:t>model</a:t>
            </a:r>
            <a:r>
              <a:rPr lang="en-IN" dirty="0"/>
              <a:t> | </a:t>
            </a:r>
            <a:r>
              <a:rPr lang="en-IN" dirty="0" smtClean="0">
                <a:solidFill>
                  <a:srgbClr val="00B0F0"/>
                </a:solidFill>
              </a:rPr>
              <a:t>parser_str</a:t>
            </a:r>
            <a:r>
              <a:rPr lang="en-IN" dirty="0" smtClean="0"/>
              <a:t> ),</a:t>
            </a:r>
            <a:endParaRPr lang="en-IN" dirty="0"/>
          </a:p>
          <a:p>
            <a:pPr lvl="1"/>
            <a:r>
              <a:rPr lang="en-IN" dirty="0"/>
              <a:t>    </a:t>
            </a:r>
            <a:r>
              <a:rPr lang="en-IN" dirty="0">
                <a:solidFill>
                  <a:srgbClr val="00CC99"/>
                </a:solidFill>
              </a:rPr>
              <a:t>RunnableLambda(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lambda x</a:t>
            </a:r>
            <a:r>
              <a:rPr lang="en-IN" dirty="0"/>
              <a:t>: </a:t>
            </a:r>
            <a:r>
              <a:rPr lang="en-IN" dirty="0" smtClean="0">
                <a:solidFill>
                  <a:srgbClr val="CC3300"/>
                </a:solidFill>
              </a:rPr>
              <a:t>“could not find sentiment"</a:t>
            </a:r>
            <a:r>
              <a:rPr lang="en-IN" dirty="0" smtClean="0"/>
              <a:t>)</a:t>
            </a:r>
            <a:endParaRPr lang="en-IN" dirty="0"/>
          </a:p>
          <a:p>
            <a:r>
              <a:rPr lang="en-IN" dirty="0"/>
              <a:t>)</a:t>
            </a:r>
          </a:p>
          <a:p>
            <a:r>
              <a:rPr lang="en-IN" dirty="0">
                <a:solidFill>
                  <a:srgbClr val="15C2FF"/>
                </a:solidFill>
              </a:rPr>
              <a:t>chain</a:t>
            </a:r>
            <a:r>
              <a:rPr lang="en-IN" dirty="0"/>
              <a:t>=</a:t>
            </a:r>
            <a:r>
              <a:rPr lang="en-IN" dirty="0">
                <a:solidFill>
                  <a:srgbClr val="15C2FF"/>
                </a:solidFill>
              </a:rPr>
              <a:t>classfier_chain</a:t>
            </a:r>
            <a:r>
              <a:rPr lang="en-IN" dirty="0"/>
              <a:t> | </a:t>
            </a:r>
            <a:r>
              <a:rPr lang="en-IN" dirty="0">
                <a:solidFill>
                  <a:srgbClr val="15C2FF"/>
                </a:solidFill>
              </a:rPr>
              <a:t>branch_chain</a:t>
            </a:r>
          </a:p>
          <a:p>
            <a:r>
              <a:rPr lang="en-IN" dirty="0">
                <a:solidFill>
                  <a:srgbClr val="15C2FF"/>
                </a:solidFill>
              </a:rPr>
              <a:t>result</a:t>
            </a:r>
            <a:r>
              <a:rPr lang="en-IN" dirty="0"/>
              <a:t>=</a:t>
            </a:r>
            <a:r>
              <a:rPr lang="en-IN" dirty="0">
                <a:solidFill>
                  <a:srgbClr val="15C2FF"/>
                </a:solidFill>
              </a:rPr>
              <a:t>chain</a:t>
            </a:r>
            <a:r>
              <a:rPr lang="en-IN" dirty="0"/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invoke</a:t>
            </a:r>
            <a:r>
              <a:rPr lang="en-IN" dirty="0" smtClean="0"/>
              <a:t>({ </a:t>
            </a:r>
            <a:r>
              <a:rPr lang="en-IN" dirty="0" smtClean="0">
                <a:solidFill>
                  <a:srgbClr val="CC3300"/>
                </a:solidFill>
              </a:rPr>
              <a:t>"feedback“ </a:t>
            </a:r>
            <a:r>
              <a:rPr lang="en-IN" dirty="0" smtClean="0"/>
              <a:t>: </a:t>
            </a:r>
            <a:r>
              <a:rPr lang="en-IN" dirty="0" smtClean="0">
                <a:solidFill>
                  <a:srgbClr val="CC3300"/>
                </a:solidFill>
              </a:rPr>
              <a:t>"</a:t>
            </a:r>
            <a:r>
              <a:rPr lang="en-IN" dirty="0">
                <a:solidFill>
                  <a:srgbClr val="CC3300"/>
                </a:solidFill>
              </a:rPr>
              <a:t>The product is amazing and great </a:t>
            </a:r>
            <a:r>
              <a:rPr lang="en-IN" dirty="0" smtClean="0">
                <a:solidFill>
                  <a:srgbClr val="CC3300"/>
                </a:solidFill>
              </a:rPr>
              <a:t>!“</a:t>
            </a:r>
            <a:r>
              <a:rPr lang="en-IN" dirty="0" smtClean="0"/>
              <a:t> })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dirty="0"/>
              <a:t>(</a:t>
            </a:r>
            <a:r>
              <a:rPr lang="en-IN" dirty="0">
                <a:solidFill>
                  <a:srgbClr val="00CC99"/>
                </a:solidFill>
              </a:rPr>
              <a:t>result</a:t>
            </a:r>
            <a:r>
              <a:rPr lang="en-IN" dirty="0"/>
              <a:t>)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24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A71D7A-4199-9593-FD85-54477FAC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51A5A6E-8DE1-A78F-3109-B3761C23467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DA8959A-E255-AE1F-0F9F-C2E9C266E36C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3BC4F8-EC58-D42C-1EF3-1F4EF61CAC3A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6122EB64-047D-D5A5-455B-C998BAAF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5" name="Picture 4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79550B0D-F382-8A19-8040-0525CFEE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135" y="-83878"/>
            <a:ext cx="1219200" cy="1209675"/>
          </a:xfrm>
          <a:prstGeom prst="rect">
            <a:avLst/>
          </a:prstGeom>
        </p:spPr>
      </p:pic>
      <p:pic>
        <p:nvPicPr>
          <p:cNvPr id="9" name="Picture 8" descr="A group of people sitting at desks in a classroom with computers&#10;&#10;Description automatically generated">
            <a:extLst>
              <a:ext uri="{FF2B5EF4-FFF2-40B4-BE49-F238E27FC236}">
                <a16:creationId xmlns="" xmlns:a16="http://schemas.microsoft.com/office/drawing/2014/main" id="{E8BDAAE7-2946-663A-E1B7-10330320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6266"/>
            <a:ext cx="4113245" cy="4105469"/>
          </a:xfrm>
          <a:prstGeom prst="rect">
            <a:avLst/>
          </a:prstGeom>
        </p:spPr>
      </p:pic>
      <p:sp>
        <p:nvSpPr>
          <p:cNvPr id="12" name="Google Shape;232;g2b25827427c_0_1215">
            <a:extLst>
              <a:ext uri="{FF2B5EF4-FFF2-40B4-BE49-F238E27FC236}">
                <a16:creationId xmlns="" xmlns:a16="http://schemas.microsoft.com/office/drawing/2014/main" id="{76539FC0-FE01-2A0D-C752-8C9F4AF1D331}"/>
              </a:ext>
            </a:extLst>
          </p:cNvPr>
          <p:cNvSpPr txBox="1">
            <a:spLocks noGrp="1"/>
          </p:cNvSpPr>
          <p:nvPr/>
        </p:nvSpPr>
        <p:spPr>
          <a:xfrm>
            <a:off x="1550879" y="2158440"/>
            <a:ext cx="4966047" cy="161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b="1" dirty="0">
                <a:solidFill>
                  <a:schemeClr val="tx1"/>
                </a:solidFill>
              </a:rPr>
              <a:t>Q &amp; 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727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20429</TotalTime>
  <Words>508</Words>
  <Application>Microsoft Office PowerPoint</Application>
  <PresentationFormat>Custom</PresentationFormat>
  <Paragraphs>197</Paragraphs>
  <Slides>19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953</cp:revision>
  <dcterms:created xsi:type="dcterms:W3CDTF">2024-01-26T15:11:46Z</dcterms:created>
  <dcterms:modified xsi:type="dcterms:W3CDTF">2025-05-24T06:29:27Z</dcterms:modified>
</cp:coreProperties>
</file>