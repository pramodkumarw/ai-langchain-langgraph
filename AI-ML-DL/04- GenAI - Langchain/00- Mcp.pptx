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463" r:id="rId2"/>
    <p:sldId id="465" r:id="rId3"/>
    <p:sldId id="466" r:id="rId4"/>
    <p:sldId id="467" r:id="rId5"/>
    <p:sldId id="444" r:id="rId6"/>
    <p:sldId id="422" r:id="rId7"/>
    <p:sldId id="452" r:id="rId8"/>
    <p:sldId id="461" r:id="rId9"/>
    <p:sldId id="462" r:id="rId10"/>
    <p:sldId id="458" r:id="rId11"/>
    <p:sldId id="446" r:id="rId12"/>
    <p:sldId id="450" r:id="rId13"/>
    <p:sldId id="451" r:id="rId14"/>
    <p:sldId id="459" r:id="rId15"/>
    <p:sldId id="460" r:id="rId16"/>
    <p:sldId id="457" r:id="rId17"/>
    <p:sldId id="453" r:id="rId18"/>
    <p:sldId id="454" r:id="rId19"/>
    <p:sldId id="455" r:id="rId20"/>
    <p:sldId id="45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F9408A23-EE1F-445F-AB08-FF3A440EB9FA}">
          <p14:sldIdLst>
            <p14:sldId id="463"/>
          </p14:sldIdLst>
        </p14:section>
        <p14:section name="Untitled Section" id="{A17981B0-57A7-4B26-8262-BDC51FB30CE9}">
          <p14:sldIdLst>
            <p14:sldId id="465"/>
            <p14:sldId id="466"/>
            <p14:sldId id="467"/>
          </p14:sldIdLst>
        </p14:section>
        <p14:section name="MCP" id="{8A82EA64-717B-4742-B6E1-4FA4D54DDF6E}">
          <p14:sldIdLst>
            <p14:sldId id="444"/>
            <p14:sldId id="422"/>
            <p14:sldId id="452"/>
            <p14:sldId id="461"/>
            <p14:sldId id="462"/>
            <p14:sldId id="458"/>
            <p14:sldId id="446"/>
            <p14:sldId id="450"/>
            <p14:sldId id="451"/>
            <p14:sldId id="459"/>
            <p14:sldId id="460"/>
            <p14:sldId id="457"/>
            <p14:sldId id="453"/>
            <p14:sldId id="454"/>
            <p14:sldId id="455"/>
            <p14:sldId id="456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52D"/>
    <a:srgbClr val="15C2FF"/>
    <a:srgbClr val="FF3300"/>
    <a:srgbClr val="CC3300"/>
    <a:srgbClr val="00CC99"/>
    <a:srgbClr val="00D05E"/>
    <a:srgbClr val="FF0066"/>
    <a:srgbClr val="D7C055"/>
    <a:srgbClr val="F2DB5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3" autoAdjust="0"/>
    <p:restoredTop sz="86073" autoAdjust="0"/>
  </p:normalViewPr>
  <p:slideViewPr>
    <p:cSldViewPr snapToGrid="0">
      <p:cViewPr>
        <p:scale>
          <a:sx n="69" d="100"/>
          <a:sy n="69" d="100"/>
        </p:scale>
        <p:origin x="-696" y="-2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4662A70-DFBD-127F-D5CC-9B0F1A56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F420B84-9022-B7D2-9C67-0FDA0433D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3AC76129-7A35-2EDC-3B76-87ED8A841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BF5D66A-BD02-F7EA-3FAB-C98B27E37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004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141493" y="1535723"/>
            <a:ext cx="13648" cy="532227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126638" y="1038851"/>
            <a:ext cx="1093640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143;p1">
            <a:extLst>
              <a:ext uri="{FF2B5EF4-FFF2-40B4-BE49-F238E27FC236}">
                <a16:creationId xmlns="" xmlns:a16="http://schemas.microsoft.com/office/drawing/2014/main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1401288" y="103948"/>
            <a:ext cx="7446150" cy="111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3600" b="1" dirty="0" smtClean="0">
                <a:solidFill>
                  <a:schemeClr val="tx1"/>
                </a:solidFill>
                <a:latin typeface="Segoe UI Black" pitchFamily="34" charset="0"/>
                <a:ea typeface="Segoe UI Black" pitchFamily="34" charset="0"/>
              </a:rPr>
              <a:t>Model Context Protocol(Mcp)</a:t>
            </a:r>
          </a:p>
          <a:p>
            <a:endParaRPr lang="it-IT" sz="4000" b="1" dirty="0">
              <a:solidFill>
                <a:schemeClr val="tx1"/>
              </a:solidFill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51" y="1"/>
            <a:ext cx="1407439" cy="116638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480" y="68926"/>
            <a:ext cx="2422566" cy="938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1506796" y="1542342"/>
            <a:ext cx="2474730" cy="925166"/>
            <a:chOff x="1522475" y="1942475"/>
            <a:chExt cx="2474730" cy="925166"/>
          </a:xfrm>
        </p:grpSpPr>
        <p:sp>
          <p:nvSpPr>
            <p:cNvPr id="9" name="TextBox 8"/>
            <p:cNvSpPr txBox="1"/>
            <p:nvPr/>
          </p:nvSpPr>
          <p:spPr>
            <a:xfrm>
              <a:off x="1522476" y="1942475"/>
              <a:ext cx="24747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522475" y="2262356"/>
              <a:ext cx="24747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522476" y="2590642"/>
              <a:ext cx="24747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364234" y="700297"/>
            <a:ext cx="120417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1600" b="1" dirty="0">
                <a:latin typeface="Segoe UI Black" pitchFamily="34" charset="0"/>
                <a:ea typeface="Segoe UI Black" pitchFamily="34" charset="0"/>
              </a:rPr>
              <a:t>Langchain</a:t>
            </a:r>
            <a:endParaRPr lang="en-IN" sz="1600" dirty="0"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18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248672" y="178130"/>
            <a:ext cx="3297717" cy="338453"/>
            <a:chOff x="248672" y="195940"/>
            <a:chExt cx="3297717" cy="338453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248672" y="534392"/>
              <a:ext cx="3297717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/>
            <p:cNvSpPr/>
            <p:nvPr/>
          </p:nvSpPr>
          <p:spPr>
            <a:xfrm>
              <a:off x="391176" y="195940"/>
              <a:ext cx="2566692" cy="33251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400" dirty="0" smtClean="0">
                  <a:latin typeface="Bahnschrift" pitchFamily="34" charset="0"/>
                </a:rPr>
                <a:t>MCP(Model Context Protocol)</a:t>
              </a:r>
              <a:endParaRPr lang="en-IN" sz="1400" dirty="0">
                <a:latin typeface="Bahnschrift" pitchFamily="34" charset="0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285872" y="643634"/>
            <a:ext cx="33439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Chains are a series of steps and action</a:t>
            </a:r>
            <a:endParaRPr lang="en-IN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1019" y="1303035"/>
            <a:ext cx="7248525" cy="349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396314" y="5326333"/>
            <a:ext cx="9020432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MCP provides a standardized way to connect AI applications to external systems.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05141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713" y="2362200"/>
            <a:ext cx="6886575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9581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664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0362" y="750603"/>
            <a:ext cx="2105891" cy="773398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ahnschrift" pitchFamily="34" charset="0"/>
                <a:ea typeface="Arial Unicode MS" pitchFamily="34" charset="-128"/>
                <a:cs typeface="Arial Unicode MS" pitchFamily="34" charset="-128"/>
              </a:rPr>
              <a:t>open-source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00944" y="693171"/>
            <a:ext cx="2092036" cy="887476"/>
          </a:xfrm>
          <a:prstGeom prst="roundRect">
            <a:avLst/>
          </a:prstGeom>
          <a:solidFill>
            <a:srgbClr val="00206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Bahnschrift SemiBold" pitchFamily="34" charset="0"/>
                <a:ea typeface="Cambria" pitchFamily="18" charset="0"/>
              </a:rPr>
              <a:t>introduced by Anthropic in </a:t>
            </a:r>
            <a:r>
              <a:rPr lang="en-US" sz="1600" dirty="0" smtClean="0">
                <a:latin typeface="Bahnschrift SemiBold" pitchFamily="34" charset="0"/>
                <a:ea typeface="Cambria" pitchFamily="18" charset="0"/>
              </a:rPr>
              <a:t>Nov2024</a:t>
            </a:r>
            <a:endParaRPr lang="en-IN" sz="1600" dirty="0">
              <a:latin typeface="Bahnschrift SemiBold" pitchFamily="34" charset="0"/>
              <a:ea typeface="Cambria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99853" y="1780310"/>
            <a:ext cx="6373092" cy="71350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 SemiLight" pitchFamily="34" charset="0"/>
              </a:rPr>
              <a:t>MCP provides a universal interface for reading files, executing functions, and handling contextual prompts</a:t>
            </a:r>
            <a:endParaRPr lang="en-IN" dirty="0">
              <a:latin typeface="Bahnschrift SemiLight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17673" y="680102"/>
            <a:ext cx="5514109" cy="914400"/>
          </a:xfrm>
          <a:prstGeom prst="roundRect">
            <a:avLst/>
          </a:prstGeom>
          <a:solidFill>
            <a:srgbClr val="7030A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Bahnschrift SemiLight" pitchFamily="34" charset="0"/>
                <a:ea typeface="Arial Unicode MS" pitchFamily="34" charset="-128"/>
                <a:cs typeface="Arial Unicode MS" pitchFamily="34" charset="-128"/>
              </a:rPr>
              <a:t>standardize the way how large language models (LLMs) integrate and share data with external tools, systems, and data sources</a:t>
            </a:r>
            <a:endParaRPr lang="en-IN" sz="1600" dirty="0">
              <a:latin typeface="Bahnschrift Semi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299853" y="2701636"/>
            <a:ext cx="7162800" cy="727363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Bahnschrift SemiLight" pitchFamily="34" charset="0"/>
                <a:ea typeface="Arial Unicode MS" pitchFamily="34" charset="-128"/>
                <a:cs typeface="Arial Unicode MS" pitchFamily="34" charset="-128"/>
              </a:rPr>
              <a:t>MCP enables developers to expose their data via </a:t>
            </a:r>
            <a:r>
              <a:rPr lang="en-US" dirty="0">
                <a:solidFill>
                  <a:srgbClr val="15C2FF"/>
                </a:solidFill>
                <a:latin typeface="Bahnschrift SemiBold" pitchFamily="34" charset="0"/>
                <a:ea typeface="Arial Unicode MS" pitchFamily="34" charset="-128"/>
                <a:cs typeface="Arial Unicode MS" pitchFamily="34" charset="-128"/>
              </a:rPr>
              <a:t>MCP servers </a:t>
            </a:r>
            <a:r>
              <a:rPr lang="en-US" dirty="0">
                <a:latin typeface="Bahnschrift SemiLight" pitchFamily="34" charset="0"/>
                <a:ea typeface="Arial Unicode MS" pitchFamily="34" charset="-128"/>
                <a:cs typeface="Arial Unicode MS" pitchFamily="34" charset="-128"/>
              </a:rPr>
              <a:t>to develop AI applications—referred to as </a:t>
            </a:r>
            <a:r>
              <a:rPr lang="en-US" dirty="0">
                <a:solidFill>
                  <a:srgbClr val="15C2FF"/>
                </a:solidFill>
                <a:latin typeface="Bahnschrift SemiBold" pitchFamily="34" charset="0"/>
                <a:ea typeface="Arial Unicode MS" pitchFamily="34" charset="-128"/>
                <a:cs typeface="Arial Unicode MS" pitchFamily="34" charset="-128"/>
              </a:rPr>
              <a:t>MCP clients</a:t>
            </a:r>
            <a:endParaRPr lang="en-IN" dirty="0">
              <a:solidFill>
                <a:srgbClr val="15C2FF"/>
              </a:solidFill>
              <a:latin typeface="Bahnschrift SemiBold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299853" y="3532909"/>
            <a:ext cx="7384474" cy="803564"/>
          </a:xfrm>
          <a:prstGeom prst="roundRect">
            <a:avLst/>
          </a:prstGeom>
          <a:solidFill>
            <a:srgbClr val="FF552D"/>
          </a:solidFill>
          <a:ln>
            <a:solidFill>
              <a:srgbClr val="FF55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Bahnschrift SemiLight" pitchFamily="34" charset="0"/>
              </a:rPr>
              <a:t>MCP also plays a critical role in multi-tool agent workflows, allowing agentic AI systems to coordinate multiple tools</a:t>
            </a:r>
            <a:endParaRPr lang="en-IN" dirty="0">
              <a:latin typeface="Bahnschrift Semi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5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5CE01EE-9B82-1A8D-6A71-28923D9F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9B3BB1EE-8F0D-D402-9B66-38C94EBDCD27}"/>
              </a:ext>
            </a:extLst>
          </p:cNvPr>
          <p:cNvSpPr/>
          <p:nvPr/>
        </p:nvSpPr>
        <p:spPr>
          <a:xfrm>
            <a:off x="0" y="1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B92D285-0982-C7FC-2CCB-555CC4555729}"/>
              </a:ext>
            </a:extLst>
          </p:cNvPr>
          <p:cNvSpPr/>
          <p:nvPr/>
        </p:nvSpPr>
        <p:spPr>
          <a:xfrm>
            <a:off x="565288" y="0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5A501CB-25F7-430E-26A9-AC8C6F18EA43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33" name="Footer Placeholder 32">
            <a:extLst>
              <a:ext uri="{FF2B5EF4-FFF2-40B4-BE49-F238E27FC236}">
                <a16:creationId xmlns="" xmlns:a16="http://schemas.microsoft.com/office/drawing/2014/main" id="{9EFE9F1A-54D1-5FC8-F649-AA5659503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4746" y="6492875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316182" y="217317"/>
            <a:ext cx="10349346" cy="378428"/>
            <a:chOff x="1316182" y="259080"/>
            <a:chExt cx="10349346" cy="378428"/>
          </a:xfrm>
        </p:grpSpPr>
        <p:sp>
          <p:nvSpPr>
            <p:cNvPr id="35" name="Title 1">
              <a:extLst>
                <a:ext uri="{FF2B5EF4-FFF2-40B4-BE49-F238E27FC236}">
                  <a16:creationId xmlns="" xmlns:a16="http://schemas.microsoft.com/office/drawing/2014/main" id="{8E4945F9-351B-FE06-B4C4-5E27ED97FD2B}"/>
                </a:ext>
              </a:extLst>
            </p:cNvPr>
            <p:cNvSpPr txBox="1">
              <a:spLocks/>
            </p:cNvSpPr>
            <p:nvPr/>
          </p:nvSpPr>
          <p:spPr>
            <a:xfrm>
              <a:off x="1510310" y="273001"/>
              <a:ext cx="2646054" cy="364507"/>
            </a:xfrm>
            <a:prstGeom prst="rect">
              <a:avLst/>
            </a:prstGeom>
            <a:solidFill>
              <a:srgbClr val="FF552D"/>
            </a:solidFill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800" dirty="0" smtClean="0">
                  <a:solidFill>
                    <a:schemeClr val="bg1"/>
                  </a:solidFill>
                  <a:latin typeface="Bahnschrift" pitchFamily="34" charset="0"/>
                </a:rPr>
                <a:t>Model Context Protocol</a:t>
              </a:r>
              <a:endParaRPr lang="en-IN" sz="1800" dirty="0">
                <a:solidFill>
                  <a:schemeClr val="bg1"/>
                </a:solidFill>
                <a:latin typeface="Bahnschrift" pitchFamily="34" charset="0"/>
              </a:endParaRPr>
            </a:p>
          </p:txBody>
        </p:sp>
        <p:cxnSp>
          <p:nvCxnSpPr>
            <p:cNvPr id="3" name="Straight Connector 2"/>
            <p:cNvCxnSpPr/>
            <p:nvPr/>
          </p:nvCxnSpPr>
          <p:spPr>
            <a:xfrm>
              <a:off x="1316182" y="259080"/>
              <a:ext cx="10349346" cy="13921"/>
            </a:xfrm>
            <a:prstGeom prst="line">
              <a:avLst/>
            </a:prstGeom>
            <a:ln>
              <a:solidFill>
                <a:srgbClr val="FF552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674" y="2208068"/>
            <a:ext cx="8270361" cy="2441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1704108" y="750604"/>
            <a:ext cx="101969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MCP provides a standardized way to connect AI models to different data sources and tools to help us build agents and complex workflows on top of LLMs.</a:t>
            </a:r>
            <a:endParaRPr lang="en-IN" dirty="0"/>
          </a:p>
        </p:txBody>
      </p:sp>
      <p:grpSp>
        <p:nvGrpSpPr>
          <p:cNvPr id="19" name="Group 18"/>
          <p:cNvGrpSpPr/>
          <p:nvPr/>
        </p:nvGrpSpPr>
        <p:grpSpPr>
          <a:xfrm>
            <a:off x="2355673" y="5059371"/>
            <a:ext cx="9697781" cy="646331"/>
            <a:chOff x="2355673" y="5059371"/>
            <a:chExt cx="9697781" cy="646331"/>
          </a:xfrm>
        </p:grpSpPr>
        <p:sp>
          <p:nvSpPr>
            <p:cNvPr id="14" name="Rectangle 13"/>
            <p:cNvSpPr/>
            <p:nvPr/>
          </p:nvSpPr>
          <p:spPr>
            <a:xfrm>
              <a:off x="2355673" y="5059371"/>
              <a:ext cx="9697781" cy="646331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/>
                <a:t>When we use LLMs, they'll need to integrate with a variety of different tools and data sources. MCP provides a list of pre-built integrations that we can integrate with LLMs. </a:t>
              </a:r>
              <a:endParaRPr lang="en-IN" dirty="0"/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2355673" y="5059371"/>
              <a:ext cx="1" cy="646331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3678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613" y="1258166"/>
            <a:ext cx="6200775" cy="306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8E4945F9-351B-FE06-B4C4-5E27ED97FD2B}"/>
              </a:ext>
            </a:extLst>
          </p:cNvPr>
          <p:cNvSpPr txBox="1">
            <a:spLocks/>
          </p:cNvSpPr>
          <p:nvPr/>
        </p:nvSpPr>
        <p:spPr>
          <a:xfrm>
            <a:off x="1510310" y="231238"/>
            <a:ext cx="2161145" cy="364507"/>
          </a:xfrm>
          <a:prstGeom prst="rect">
            <a:avLst/>
          </a:prstGeom>
          <a:solidFill>
            <a:srgbClr val="FF552D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dirty="0" smtClean="0">
                <a:solidFill>
                  <a:schemeClr val="bg1"/>
                </a:solidFill>
                <a:latin typeface="Bahnschrift" pitchFamily="34" charset="0"/>
              </a:rPr>
              <a:t>MCP Architecture</a:t>
            </a:r>
            <a:endParaRPr lang="en-IN" sz="1800" dirty="0">
              <a:solidFill>
                <a:schemeClr val="bg1"/>
              </a:solidFill>
              <a:latin typeface="Bahnschrif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180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386" y="232821"/>
            <a:ext cx="6418796" cy="3711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506003" y="4048775"/>
            <a:ext cx="96053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Host are LLM applications like </a:t>
            </a:r>
            <a:r>
              <a:rPr lang="en-US" dirty="0" smtClean="0"/>
              <a:t>Claude desktop </a:t>
            </a:r>
            <a:r>
              <a:rPr lang="en-US" dirty="0"/>
              <a:t>that provide the environment for connections.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506004" y="4646105"/>
            <a:ext cx="101179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Clients are components within the host that establish and maintain one to one connections with external servers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506004" y="5419589"/>
            <a:ext cx="101179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Servers are </a:t>
            </a:r>
            <a:r>
              <a:rPr lang="en-US" dirty="0" smtClean="0"/>
              <a:t>separates </a:t>
            </a:r>
            <a:r>
              <a:rPr lang="en-US" dirty="0"/>
              <a:t>processes that provide </a:t>
            </a:r>
            <a:r>
              <a:rPr lang="en-US" dirty="0" smtClean="0"/>
              <a:t>context, tools </a:t>
            </a:r>
            <a:r>
              <a:rPr lang="en-US" dirty="0"/>
              <a:t>and prompts to </a:t>
            </a:r>
            <a:r>
              <a:rPr lang="en-US" dirty="0" smtClean="0"/>
              <a:t>theses </a:t>
            </a:r>
            <a:r>
              <a:rPr lang="en-US" dirty="0"/>
              <a:t>clients ,exposing specific capabilities through the standardized protocol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0322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1848829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579872" y="211994"/>
            <a:ext cx="3352346" cy="461665"/>
            <a:chOff x="1579872" y="211994"/>
            <a:chExt cx="3352346" cy="461665"/>
          </a:xfrm>
        </p:grpSpPr>
        <p:sp>
          <p:nvSpPr>
            <p:cNvPr id="2" name="Rectangle 1"/>
            <p:cNvSpPr/>
            <p:nvPr/>
          </p:nvSpPr>
          <p:spPr>
            <a:xfrm>
              <a:off x="1579872" y="211994"/>
              <a:ext cx="272382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2400" dirty="0">
                  <a:solidFill>
                    <a:schemeClr val="accent5">
                      <a:lumMod val="50000"/>
                    </a:schemeClr>
                  </a:solidFill>
                  <a:latin typeface="Bahnschrift SemiBold" pitchFamily="34" charset="0"/>
                </a:rPr>
                <a:t>How does it work?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1579872" y="673659"/>
              <a:ext cx="3352346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/>
          <p:cNvSpPr/>
          <p:nvPr/>
        </p:nvSpPr>
        <p:spPr>
          <a:xfrm>
            <a:off x="1884217" y="753020"/>
            <a:ext cx="97674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MCP follows a client-server architecture where a host can connect to multiple servers. Take a look at the diagram below:</a:t>
            </a:r>
            <a:endParaRPr lang="en-IN" dirty="0"/>
          </a:p>
        </p:txBody>
      </p:sp>
      <p:pic>
        <p:nvPicPr>
          <p:cNvPr id="2050" name="Picture 2" descr="C:\Users\User\AppData\Local\Temp\{798E06E5-1F68-472E-8E6A-DA8B5BBBEDA7}.t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783" y="1399351"/>
            <a:ext cx="6784108" cy="4587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828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1260761" y="396660"/>
            <a:ext cx="1080654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MCP hosts </a:t>
            </a:r>
            <a:r>
              <a:rPr lang="en-US" dirty="0">
                <a:latin typeface="Cambria" pitchFamily="18" charset="0"/>
                <a:ea typeface="Cambria" pitchFamily="18" charset="0"/>
              </a:rPr>
              <a:t>like Claude Desktop, IDEs, or other AI tools act as </a:t>
            </a:r>
            <a:r>
              <a:rPr lang="en-US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clients</a:t>
            </a:r>
            <a:r>
              <a:rPr lang="en-US" dirty="0">
                <a:latin typeface="Cambria" pitchFamily="18" charset="0"/>
                <a:ea typeface="Cambria" pitchFamily="18" charset="0"/>
              </a:rPr>
              <a:t> that maintain connections to MCP Servers that expose capabilities through the MCP Protocol.</a:t>
            </a:r>
          </a:p>
          <a:p>
            <a:endParaRPr lang="en-US" dirty="0">
              <a:latin typeface="Cambria" pitchFamily="18" charset="0"/>
              <a:ea typeface="Cambria" pitchFamily="18" charset="0"/>
            </a:endParaRPr>
          </a:p>
          <a:p>
            <a:r>
              <a:rPr lang="en-US" dirty="0">
                <a:latin typeface="Cambria" pitchFamily="18" charset="0"/>
                <a:ea typeface="Cambria" pitchFamily="18" charset="0"/>
              </a:rPr>
              <a:t>Clients maintain 1-to-1 connections with servers inside the host application.</a:t>
            </a:r>
          </a:p>
          <a:p>
            <a:endParaRPr lang="en-US" dirty="0">
              <a:latin typeface="Cambria" pitchFamily="18" charset="0"/>
              <a:ea typeface="Cambria" pitchFamily="18" charset="0"/>
            </a:endParaRPr>
          </a:p>
          <a:p>
            <a:r>
              <a:rPr lang="en-US" dirty="0">
                <a:latin typeface="Cambria" pitchFamily="18" charset="0"/>
                <a:ea typeface="Cambria" pitchFamily="18" charset="0"/>
              </a:rPr>
              <a:t>MCP servers can connect to data that's hosted locally (like your filesystem, databases etc.) or remotely (such as API's or remote databases) over the internet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.</a:t>
            </a:r>
            <a:endParaRPr lang="en-US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27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9" name="Rectangle 8"/>
          <p:cNvSpPr/>
          <p:nvPr/>
        </p:nvSpPr>
        <p:spPr>
          <a:xfrm>
            <a:off x="1385454" y="288938"/>
            <a:ext cx="1068185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MCP has a protocol layer that handles message framing, request/response linking, and high-level communication patterns, and a transport layer that handles communication between clients and servers.</a:t>
            </a:r>
            <a:endParaRPr lang="en-IN" sz="2000" dirty="0"/>
          </a:p>
        </p:txBody>
      </p:sp>
      <p:sp>
        <p:nvSpPr>
          <p:cNvPr id="2" name="Rectangle 1"/>
          <p:cNvSpPr/>
          <p:nvPr/>
        </p:nvSpPr>
        <p:spPr>
          <a:xfrm>
            <a:off x="1938852" y="1387825"/>
            <a:ext cx="61118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There are two transport mechanisms that MCP supports:</a:t>
            </a:r>
            <a:endParaRPr lang="en-IN" sz="2000" dirty="0"/>
          </a:p>
        </p:txBody>
      </p:sp>
      <p:sp>
        <p:nvSpPr>
          <p:cNvPr id="3" name="Rectangle 2"/>
          <p:cNvSpPr/>
          <p:nvPr/>
        </p:nvSpPr>
        <p:spPr>
          <a:xfrm>
            <a:off x="2603891" y="1997425"/>
            <a:ext cx="1808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i="1" dirty="0" smtClean="0"/>
              <a:t>1. Stdio </a:t>
            </a:r>
            <a:r>
              <a:rPr lang="en-IN" i="1" dirty="0"/>
              <a:t>transport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200399" y="2459504"/>
            <a:ext cx="83542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This uses standard input/output transport for communication, which is ideal for local processes.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2603891" y="3431370"/>
            <a:ext cx="26180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i="1" dirty="0" smtClean="0"/>
              <a:t>2.HTTP </a:t>
            </a:r>
            <a:r>
              <a:rPr lang="en-IN" i="1" dirty="0"/>
              <a:t>with SSE transport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3200398" y="3844682"/>
            <a:ext cx="83542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This uses Server-Sent Events (SSE) for server-to-client messages, and HTTP POST for client-to-server messages.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2785651" y="5410384"/>
            <a:ext cx="5540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Both transports use JSON-RPC 2.0 to exchange messages.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35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551709" y="381271"/>
            <a:ext cx="1745673" cy="400110"/>
            <a:chOff x="1551709" y="381271"/>
            <a:chExt cx="1745673" cy="400110"/>
          </a:xfrm>
        </p:grpSpPr>
        <p:sp>
          <p:nvSpPr>
            <p:cNvPr id="2" name="Rectangle 1"/>
            <p:cNvSpPr/>
            <p:nvPr/>
          </p:nvSpPr>
          <p:spPr>
            <a:xfrm>
              <a:off x="1705034" y="381271"/>
              <a:ext cx="1412566" cy="400110"/>
            </a:xfrm>
            <a:prstGeom prst="rect">
              <a:avLst/>
            </a:prstGeom>
            <a:solidFill>
              <a:srgbClr val="002060"/>
            </a:solidFill>
          </p:spPr>
          <p:txBody>
            <a:bodyPr wrap="none">
              <a:spAutoFit/>
            </a:bodyPr>
            <a:lstStyle/>
            <a:p>
              <a:r>
                <a:rPr lang="en-IN" sz="2000" dirty="0">
                  <a:solidFill>
                    <a:schemeClr val="bg1"/>
                  </a:solidFill>
                  <a:latin typeface="Bahnschrift SemiBold" pitchFamily="34" charset="0"/>
                </a:rPr>
                <a:t>Resources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1551709" y="781381"/>
              <a:ext cx="1745673" cy="0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/>
          <p:cNvSpPr/>
          <p:nvPr/>
        </p:nvSpPr>
        <p:spPr>
          <a:xfrm>
            <a:off x="2064326" y="972281"/>
            <a:ext cx="9906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Resources in MCP allow servers to expose data and content that can be read by clients and </a:t>
            </a:r>
            <a:r>
              <a:rPr lang="en-US" dirty="0" smtClean="0"/>
              <a:t>that is used </a:t>
            </a:r>
            <a:r>
              <a:rPr lang="en-US" dirty="0"/>
              <a:t>as context for LLM interactions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2521854" y="2094452"/>
            <a:ext cx="92683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They represent any kind of data that an MCP server want to make available to clients, including: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IN" dirty="0"/>
              <a:t>File contents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dirty="0"/>
              <a:t>API responses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dirty="0"/>
              <a:t>Database records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dirty="0"/>
              <a:t>Images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dirty="0"/>
              <a:t>and more!</a:t>
            </a:r>
          </a:p>
        </p:txBody>
      </p:sp>
    </p:spTree>
    <p:extLst>
      <p:ext uri="{BB962C8B-B14F-4D97-AF65-F5344CB8AC3E}">
        <p14:creationId xmlns:p14="http://schemas.microsoft.com/office/powerpoint/2010/main" val="2704458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558422" y="381271"/>
            <a:ext cx="1745673" cy="415499"/>
            <a:chOff x="1558422" y="381271"/>
            <a:chExt cx="1745673" cy="415499"/>
          </a:xfrm>
        </p:grpSpPr>
        <p:grpSp>
          <p:nvGrpSpPr>
            <p:cNvPr id="14" name="Group 13"/>
            <p:cNvGrpSpPr/>
            <p:nvPr/>
          </p:nvGrpSpPr>
          <p:grpSpPr>
            <a:xfrm>
              <a:off x="1558422" y="381271"/>
              <a:ext cx="1745673" cy="415499"/>
              <a:chOff x="1558422" y="381271"/>
              <a:chExt cx="1745673" cy="415499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1705034" y="381271"/>
                <a:ext cx="4571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IN" sz="2000" dirty="0">
                  <a:latin typeface="Bahnschrift SemiBold" pitchFamily="34" charset="0"/>
                </a:endParaRPr>
              </a:p>
            </p:txBody>
          </p:sp>
          <p:cxnSp>
            <p:nvCxnSpPr>
              <p:cNvPr id="5" name="Straight Connector 4"/>
              <p:cNvCxnSpPr/>
              <p:nvPr/>
            </p:nvCxnSpPr>
            <p:spPr>
              <a:xfrm>
                <a:off x="1558422" y="796770"/>
                <a:ext cx="1745673" cy="0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Rectangle 12"/>
            <p:cNvSpPr/>
            <p:nvPr/>
          </p:nvSpPr>
          <p:spPr>
            <a:xfrm>
              <a:off x="1889765" y="396660"/>
              <a:ext cx="1158235" cy="400110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>
              <a:spAutoFit/>
            </a:bodyPr>
            <a:lstStyle/>
            <a:p>
              <a:r>
                <a:rPr lang="en-IN" sz="2000" b="1" dirty="0">
                  <a:solidFill>
                    <a:schemeClr val="bg1"/>
                  </a:solidFill>
                </a:rPr>
                <a:t>Prompts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2036617" y="1235655"/>
            <a:ext cx="957349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Prompts enable servers to define reusable prompt templates and workflows that clients can surface to users and LLMs. This provides a mechanism to standardize common interactions with LLMs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Prompts in MCP can accept dynamic arguments, include context from resources, and chain multiple interactions.</a:t>
            </a:r>
          </a:p>
        </p:txBody>
      </p:sp>
    </p:spTree>
    <p:extLst>
      <p:ext uri="{BB962C8B-B14F-4D97-AF65-F5344CB8AC3E}">
        <p14:creationId xmlns:p14="http://schemas.microsoft.com/office/powerpoint/2010/main" val="157859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558422" y="381271"/>
            <a:ext cx="1745673" cy="415499"/>
            <a:chOff x="1558422" y="381271"/>
            <a:chExt cx="1745673" cy="415499"/>
          </a:xfrm>
        </p:grpSpPr>
        <p:grpSp>
          <p:nvGrpSpPr>
            <p:cNvPr id="14" name="Group 13"/>
            <p:cNvGrpSpPr/>
            <p:nvPr/>
          </p:nvGrpSpPr>
          <p:grpSpPr>
            <a:xfrm>
              <a:off x="1558422" y="381271"/>
              <a:ext cx="1745673" cy="415499"/>
              <a:chOff x="1558422" y="381271"/>
              <a:chExt cx="1745673" cy="415499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1705034" y="381271"/>
                <a:ext cx="4571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IN" sz="2000" dirty="0">
                  <a:latin typeface="Bahnschrift SemiBold" pitchFamily="34" charset="0"/>
                </a:endParaRPr>
              </a:p>
            </p:txBody>
          </p:sp>
          <p:cxnSp>
            <p:nvCxnSpPr>
              <p:cNvPr id="5" name="Straight Connector 4"/>
              <p:cNvCxnSpPr/>
              <p:nvPr/>
            </p:nvCxnSpPr>
            <p:spPr>
              <a:xfrm>
                <a:off x="1558422" y="796770"/>
                <a:ext cx="1745673" cy="0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Rectangle 12"/>
            <p:cNvSpPr/>
            <p:nvPr/>
          </p:nvSpPr>
          <p:spPr>
            <a:xfrm>
              <a:off x="1889765" y="396660"/>
              <a:ext cx="1158235" cy="400110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>
              <a:spAutoFit/>
            </a:bodyPr>
            <a:lstStyle/>
            <a:p>
              <a:r>
                <a:rPr lang="en-IN" sz="2000" b="1" dirty="0" smtClean="0">
                  <a:solidFill>
                    <a:schemeClr val="bg1"/>
                  </a:solidFill>
                </a:rPr>
                <a:t>Tools</a:t>
              </a:r>
              <a:endParaRPr lang="en-IN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2036616" y="1083255"/>
            <a:ext cx="9573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Tools enable LLMs to perform actions through your MCP server. They expose functionality to clients, and allow LLMs to interact with external systems, perform computations, and take actions.</a:t>
            </a:r>
          </a:p>
        </p:txBody>
      </p:sp>
      <p:sp>
        <p:nvSpPr>
          <p:cNvPr id="3" name="Rectangle 2"/>
          <p:cNvSpPr/>
          <p:nvPr/>
        </p:nvSpPr>
        <p:spPr>
          <a:xfrm>
            <a:off x="2563088" y="1858926"/>
            <a:ext cx="85205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Tools are exposed from servers to clients to enable LLMs to directly invoke them.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2189017" y="2505669"/>
            <a:ext cx="94210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Tools can be discovered by </a:t>
            </a:r>
            <a:r>
              <a:rPr lang="en-US" dirty="0" smtClean="0"/>
              <a:t>clients, </a:t>
            </a:r>
            <a:r>
              <a:rPr lang="en-US" dirty="0"/>
              <a:t>and invoked to perform operations. Tools can range in complexity, from performing simple calculations to complex API interactions.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977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121236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2855397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203169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350923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3877154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31659</TotalTime>
  <Words>832</Words>
  <Application>Microsoft Office PowerPoint</Application>
  <PresentationFormat>Custom</PresentationFormat>
  <Paragraphs>120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1016</cp:revision>
  <dcterms:created xsi:type="dcterms:W3CDTF">2024-01-26T15:11:46Z</dcterms:created>
  <dcterms:modified xsi:type="dcterms:W3CDTF">2026-02-24T17:01:52Z</dcterms:modified>
</cp:coreProperties>
</file>