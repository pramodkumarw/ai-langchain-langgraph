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323" r:id="rId2"/>
    <p:sldId id="256" r:id="rId3"/>
    <p:sldId id="439" r:id="rId4"/>
    <p:sldId id="441" r:id="rId5"/>
    <p:sldId id="443" r:id="rId6"/>
    <p:sldId id="440" r:id="rId7"/>
    <p:sldId id="442" r:id="rId8"/>
    <p:sldId id="446" r:id="rId9"/>
    <p:sldId id="445" r:id="rId10"/>
    <p:sldId id="44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" id="{F7019FAC-E7A5-43E9-B9F1-CAF1DA55EE0C}">
          <p14:sldIdLst>
            <p14:sldId id="323"/>
            <p14:sldId id="256"/>
          </p14:sldIdLst>
        </p14:section>
        <p14:section name="Supervised Learning" id="{FEB3B35D-C60A-4223-8E10-10DFC2E07C67}">
          <p14:sldIdLst>
            <p14:sldId id="439"/>
            <p14:sldId id="441"/>
            <p14:sldId id="443"/>
            <p14:sldId id="440"/>
          </p14:sldIdLst>
        </p14:section>
        <p14:section name="Untitled Section" id="{51A59BC7-92F0-4280-85A6-965C7BD6DEAC}">
          <p14:sldIdLst>
            <p14:sldId id="442"/>
            <p14:sldId id="446"/>
            <p14:sldId id="445"/>
            <p14:sldId id="444"/>
          </p14:sldIdLst>
        </p14:section>
      </p14:sectionLst>
    </p:ex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05E"/>
    <a:srgbClr val="CC3300"/>
    <a:srgbClr val="00CC99"/>
    <a:srgbClr val="15C2FF"/>
    <a:srgbClr val="FF0066"/>
    <a:srgbClr val="D7C055"/>
    <a:srgbClr val="F2DB5B"/>
    <a:srgbClr val="000000"/>
    <a:srgbClr val="6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639D9-3454-46DB-98F0-5734C90B24A8}" v="162" dt="2024-02-29T03:48:59.932"/>
    <p1510:client id="{51280DD5-E729-4BD7-8A9F-98443B307215}" v="2" dt="2024-02-29T02:44:09.918"/>
    <p1510:client id="{F06999DA-40BE-4997-8D18-97380D22DED5}" v="101" dt="2024-02-29T15:35:34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3" autoAdjust="0"/>
    <p:restoredTop sz="86073" autoAdjust="0"/>
  </p:normalViewPr>
  <p:slideViewPr>
    <p:cSldViewPr snapToGrid="0">
      <p:cViewPr>
        <p:scale>
          <a:sx n="69" d="100"/>
          <a:sy n="69" d="100"/>
        </p:scale>
        <p:origin x="-696" y="-20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8C147-18C2-4D33-BF56-E30CA9229223}" type="datetimeFigureOut">
              <a:rPr lang="en-IN" smtClean="0"/>
              <a:t>02-08-2025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3E4B8-F9DF-4F9A-BB59-93920507C3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98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AFE4333-EDCB-768D-D694-4FA374C88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FB8F6BA-A771-5199-B454-4137B42B8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B8C62A8-5E14-FA7C-D2D9-A91C5617A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C7221-54BD-4A63-8AE7-749436A8A0E0}" type="datetime1">
              <a:rPr lang="en-US" smtClean="0"/>
              <a:t>8/2/2025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A5CADB1-111D-22D3-EDB1-E043DC32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733105E-4498-96A3-0C5F-A5E57928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95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AE6418-E00D-D82B-5A6A-A2532DB41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63E6B97-B778-7455-F70C-FD8D34E3F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4537FB2-C318-A7C1-BABA-0AC6FA5B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6570-B1EA-4487-BE32-F708B8E167B2}" type="datetime1">
              <a:rPr lang="en-US" smtClean="0"/>
              <a:t>8/2/2025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14FC2A1-527D-0AA9-D04D-3D2766CE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1000CB2-5293-8DFA-B3B2-A0B592B4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39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EC1FA87-C082-E0DD-3D37-67F1640E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B5F515E-EB4A-D143-3D90-D5CB68882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8B15D29-75FB-CFE9-A973-A208274B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42CB-DE38-41A3-9AEC-FC7F477AE398}" type="datetime1">
              <a:rPr lang="en-US" smtClean="0"/>
              <a:t>8/2/2025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9168659-4604-1E12-A046-E65E9BFA0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6A55C1A-5CB6-A517-F4CC-78B642B3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47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354BD7-8381-6AF7-2A34-97F11643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45D5CF0-745C-8F39-DDFC-095163A6D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6F0486A-0B81-6F67-77F7-3933C2505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29CEC8B-FF84-E5F1-CD4B-B7DEE25F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9B145-4D2C-4B0D-B0F3-3793104D85F9}" type="datetime1">
              <a:rPr lang="en-US" smtClean="0"/>
              <a:t>8/2/2025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83D1157-B890-E7C2-8551-9CFA55DF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6834098-4893-052D-13DF-57AA3726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84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95ED4B-5B6D-B5E5-67B7-D97BFC6B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8083AD3-D8DD-C9C8-4A8D-6E90DEEDC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610F8FC-1E86-8328-5873-1F1FD4540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7171E56A-9B29-8C99-0F9B-DFA73577B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31551D20-42E2-AA82-6A29-ED75844F6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12806B38-A61F-CFF2-455E-2A0DB1CB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CBCE3-C8C5-4329-ADE4-5F8D67D78882}" type="datetime1">
              <a:rPr lang="en-US" smtClean="0"/>
              <a:t>8/2/2025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0A1ADB39-BBED-F460-3284-9B01BBA7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BAE78CB4-F5B2-2F08-FCB4-B7EFC7D9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09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07DB33-3161-3CA7-5DA9-9AEFA7BE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B459199-60FE-8A27-4D17-58FA57F03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BDD6-391D-4D68-9A24-8E7CE46A4DC4}" type="datetime1">
              <a:rPr lang="en-US" smtClean="0"/>
              <a:t>8/2/2025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9B5772E0-839B-C3B1-7E64-0C867735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F5A1759-598D-988C-8124-2E5044B1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27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F271F3F0-F2B3-F675-7BAB-1AD2134A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1E7A-3F60-43E8-97A9-E03FDFF3291A}" type="datetime1">
              <a:rPr lang="en-US" smtClean="0"/>
              <a:t>8/2/2025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A44FB0A-DFB7-0737-F37C-440DCA48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E497C01-947E-5E24-DB3F-90342EF0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62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F41832-2691-E74A-0F3A-2DE9A6E4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94BD6CD-D7DC-A4E9-FD78-EA239F4F5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4C0C722-544A-95F1-1DAD-FAD83B663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15BCDEF-8A4D-1FA5-888F-D5A3A2C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2EE0-C06F-41F5-AFE0-7056E3A01EDC}" type="datetime1">
              <a:rPr lang="en-US" smtClean="0"/>
              <a:t>8/2/2025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1C4BD8F-AAAC-F32F-ABC2-37A3D3BC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DA79EF9-CB21-BEC5-2A25-591C945D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76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BACBD3-5050-C329-F415-37149188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C4B2BE8C-8AFF-7B97-17DD-E10D476C8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6B1A6C9-352E-F0FC-857A-200063A76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96AEC32-A02D-AF36-A64E-290A392B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05E1-88D0-4311-A599-0C8A6973053A}" type="datetime1">
              <a:rPr lang="en-US" smtClean="0"/>
              <a:t>8/2/2025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6B0ECF5-F111-F43D-1DD0-2623EE22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3ED8375-499D-DCA7-5D7B-91DD95B7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1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AE933A4-C03D-26A7-C451-392D04E6A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339E290-0E60-50DC-3A6D-AFC921C4E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1DDBB31-5065-A920-BCE3-A6379F318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EA562-091E-45D6-BEDF-3C68FB2023F1}" type="datetime1">
              <a:rPr lang="en-US" smtClean="0"/>
              <a:t>8/2/2025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650F398-CC52-3E67-DDF6-C862313C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272AE45-AD9E-08FA-1F71-75DFC9E0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35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AF91D67-8C5B-5055-B5D2-6BAAE7E95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4D31080-7646-1B9C-C36F-D2F6BB874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DA404C4-6EA5-D815-E9B2-7CDBB94E9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4D94-52B8-43E9-A8F3-BD9E24437DA3}" type="datetime1">
              <a:rPr lang="en-US" smtClean="0"/>
              <a:t>8/2/2025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7EFDD0D-44E3-A86F-6F17-A722DA9F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3E417A5-F8F0-AA31-71DF-34D65849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39A89A0B-DE9F-F1C6-643E-DCA32D53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953DDAA-3094-DBCE-F38B-123FB91F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AF0BF9E-5E8A-1649-84DC-281A5BAAC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C827E-01D8-46AF-B9E0-11E08B19BA59}" type="datetime1">
              <a:rPr lang="en-US" smtClean="0"/>
              <a:t>8/2/2025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BDEDD1E-16D6-9C67-B90A-3F23927ED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5FC0268-EDD9-BFDA-9A07-5241871BF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67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5D93965-B794-0D3F-19B2-6E5CEF590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929A6F4B-4B22-0928-2DBA-1E63C9DE5B47}"/>
              </a:ext>
            </a:extLst>
          </p:cNvPr>
          <p:cNvSpPr/>
          <p:nvPr/>
        </p:nvSpPr>
        <p:spPr>
          <a:xfrm>
            <a:off x="0" y="1"/>
            <a:ext cx="1948169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6745C555-155A-8408-E6E3-22A172F35158}"/>
              </a:ext>
            </a:extLst>
          </p:cNvPr>
          <p:cNvSpPr txBox="1"/>
          <p:nvPr/>
        </p:nvSpPr>
        <p:spPr>
          <a:xfrm>
            <a:off x="601006" y="42718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2462335E-6BA0-9E39-D941-3E40EF2A0890}"/>
              </a:ext>
            </a:extLst>
          </p:cNvPr>
          <p:cNvSpPr/>
          <p:nvPr/>
        </p:nvSpPr>
        <p:spPr>
          <a:xfrm>
            <a:off x="0" y="5572125"/>
            <a:ext cx="12187542" cy="1285876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3352634E-F25A-906D-E090-61E107EA9685}"/>
              </a:ext>
            </a:extLst>
          </p:cNvPr>
          <p:cNvSpPr/>
          <p:nvPr/>
        </p:nvSpPr>
        <p:spPr>
          <a:xfrm>
            <a:off x="-260" y="5572124"/>
            <a:ext cx="12193758" cy="58340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F78D711A-98A9-0CA9-87DC-706B4F2660DA}"/>
              </a:ext>
            </a:extLst>
          </p:cNvPr>
          <p:cNvSpPr/>
          <p:nvPr/>
        </p:nvSpPr>
        <p:spPr>
          <a:xfrm>
            <a:off x="1291568" y="-1"/>
            <a:ext cx="656603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3863E5A6-EF6F-E241-ED54-B76BF0108961}"/>
              </a:ext>
            </a:extLst>
          </p:cNvPr>
          <p:cNvSpPr txBox="1"/>
          <p:nvPr/>
        </p:nvSpPr>
        <p:spPr>
          <a:xfrm>
            <a:off x="1396344" y="5505306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15" name="Google Shape;143;p1">
            <a:extLst>
              <a:ext uri="{FF2B5EF4-FFF2-40B4-BE49-F238E27FC236}">
                <a16:creationId xmlns="" xmlns:a16="http://schemas.microsoft.com/office/drawing/2014/main" id="{E4949A97-DC03-56A5-2E5A-3DD3913AA0EF}"/>
              </a:ext>
            </a:extLst>
          </p:cNvPr>
          <p:cNvSpPr txBox="1">
            <a:spLocks noGrp="1"/>
          </p:cNvSpPr>
          <p:nvPr/>
        </p:nvSpPr>
        <p:spPr>
          <a:xfrm>
            <a:off x="2187369" y="750604"/>
            <a:ext cx="9145650" cy="1637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b="1" dirty="0" smtClean="0">
                <a:solidFill>
                  <a:schemeClr val="tx1"/>
                </a:solidFill>
              </a:rPr>
              <a:t>Supervised learning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sz="1800" dirty="0" smtClean="0">
                <a:solidFill>
                  <a:schemeClr val="tx1"/>
                </a:solidFill>
                <a:latin typeface="Bahnschrift" pitchFamily="34" charset="0"/>
              </a:rPr>
              <a:t>June 2024</a:t>
            </a:r>
            <a:endParaRPr sz="1800" dirty="0">
              <a:solidFill>
                <a:schemeClr val="tx1"/>
              </a:solidFill>
              <a:latin typeface="Bahnschrift" pitchFamily="34" charset="0"/>
            </a:endParaRPr>
          </a:p>
        </p:txBody>
      </p:sp>
      <p:pic>
        <p:nvPicPr>
          <p:cNvPr id="4" name="Picture 3" descr="A logo with lines in a black background&#10;&#10;Description automatically generated">
            <a:extLst>
              <a:ext uri="{FF2B5EF4-FFF2-40B4-BE49-F238E27FC236}">
                <a16:creationId xmlns="" xmlns:a16="http://schemas.microsoft.com/office/drawing/2014/main" id="{B769A9BB-68EA-F9F6-0ECB-37D6968A9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2642" y="-205416"/>
            <a:ext cx="1217233" cy="120532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D627D9A-CDBE-20A9-3FA1-63D5E507D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3299" y="2656466"/>
            <a:ext cx="2657475" cy="249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1876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626D0CFA-48B8-3E4B-1A49-D1519B523717}"/>
              </a:ext>
            </a:extLst>
          </p:cNvPr>
          <p:cNvSpPr/>
          <p:nvPr/>
        </p:nvSpPr>
        <p:spPr>
          <a:xfrm>
            <a:off x="0" y="1"/>
            <a:ext cx="1948169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54FF0842-65B7-CA57-2F5A-D61967EF9A86}"/>
              </a:ext>
            </a:extLst>
          </p:cNvPr>
          <p:cNvSpPr txBox="1"/>
          <p:nvPr/>
        </p:nvSpPr>
        <p:spPr>
          <a:xfrm>
            <a:off x="601006" y="42718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086E1CFB-A153-D93E-36A4-626934EA70A2}"/>
              </a:ext>
            </a:extLst>
          </p:cNvPr>
          <p:cNvSpPr/>
          <p:nvPr/>
        </p:nvSpPr>
        <p:spPr>
          <a:xfrm>
            <a:off x="0" y="5572125"/>
            <a:ext cx="12187542" cy="1285876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FD0E1369-B664-5A34-37EB-F2E23636CCE2}"/>
              </a:ext>
            </a:extLst>
          </p:cNvPr>
          <p:cNvSpPr/>
          <p:nvPr/>
        </p:nvSpPr>
        <p:spPr>
          <a:xfrm>
            <a:off x="-260" y="5572124"/>
            <a:ext cx="12193758" cy="58340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1416A07B-D1C1-CCF8-D7C5-0E48127EB26A}"/>
              </a:ext>
            </a:extLst>
          </p:cNvPr>
          <p:cNvSpPr/>
          <p:nvPr/>
        </p:nvSpPr>
        <p:spPr>
          <a:xfrm>
            <a:off x="1291568" y="-1"/>
            <a:ext cx="656603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E5C46304-707F-3EF8-C7C9-2F0B0A921B41}"/>
              </a:ext>
            </a:extLst>
          </p:cNvPr>
          <p:cNvSpPr txBox="1"/>
          <p:nvPr/>
        </p:nvSpPr>
        <p:spPr>
          <a:xfrm>
            <a:off x="1396344" y="5505306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15" name="Google Shape;143;p1">
            <a:extLst>
              <a:ext uri="{FF2B5EF4-FFF2-40B4-BE49-F238E27FC236}">
                <a16:creationId xmlns="" xmlns:a16="http://schemas.microsoft.com/office/drawing/2014/main" id="{C9764481-C48B-F71F-0C2D-6C544B78BD03}"/>
              </a:ext>
            </a:extLst>
          </p:cNvPr>
          <p:cNvSpPr txBox="1">
            <a:spLocks noGrp="1"/>
          </p:cNvSpPr>
          <p:nvPr/>
        </p:nvSpPr>
        <p:spPr>
          <a:xfrm>
            <a:off x="2289667" y="999911"/>
            <a:ext cx="9903831" cy="1015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4600" b="1" dirty="0" smtClean="0">
                <a:solidFill>
                  <a:schemeClr val="tx1"/>
                </a:solidFill>
              </a:rPr>
              <a:t>Index</a:t>
            </a:r>
            <a:r>
              <a:rPr lang="en-US" sz="4600" b="1" dirty="0">
                <a:solidFill>
                  <a:schemeClr val="tx1"/>
                </a:solidFill>
              </a:rPr>
              <a:t> </a:t>
            </a:r>
            <a:endParaRPr sz="4600" b="1" dirty="0">
              <a:solidFill>
                <a:schemeClr val="tx1"/>
              </a:solidFill>
            </a:endParaRPr>
          </a:p>
        </p:txBody>
      </p:sp>
      <p:sp>
        <p:nvSpPr>
          <p:cNvPr id="16" name="Google Shape;144;p1">
            <a:extLst>
              <a:ext uri="{FF2B5EF4-FFF2-40B4-BE49-F238E27FC236}">
                <a16:creationId xmlns="" xmlns:a16="http://schemas.microsoft.com/office/drawing/2014/main" id="{BBED11E4-2954-95E1-DDA9-5E0CD86221C7}"/>
              </a:ext>
            </a:extLst>
          </p:cNvPr>
          <p:cNvSpPr txBox="1">
            <a:spLocks noGrp="1"/>
          </p:cNvSpPr>
          <p:nvPr/>
        </p:nvSpPr>
        <p:spPr>
          <a:xfrm>
            <a:off x="2427515" y="2380180"/>
            <a:ext cx="7718487" cy="2924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ahnschrift SemiLight" pitchFamily="34" charset="0"/>
              </a:rPr>
              <a:t>Basics </a:t>
            </a:r>
            <a:r>
              <a:rPr lang="en-US" sz="2000" dirty="0" smtClean="0">
                <a:latin typeface="Bahnschrift SemiLight" pitchFamily="34" charset="0"/>
              </a:rPr>
              <a:t>?</a:t>
            </a:r>
            <a:endParaRPr lang="en-US" sz="2000" dirty="0">
              <a:latin typeface="Bahnschrift SemiLight" pitchFamily="34" charset="0"/>
            </a:endParaRPr>
          </a:p>
          <a:p>
            <a:pPr lvl="1" indent="-457200" algn="l">
              <a:lnSpc>
                <a:spcPct val="10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Bahnschrift SemiLight" pitchFamily="34" charset="0"/>
              </a:rPr>
              <a:t>typeDictionary</a:t>
            </a:r>
          </a:p>
          <a:p>
            <a:pPr lvl="1" indent="-457200" algn="l">
              <a:lnSpc>
                <a:spcPct val="100000"/>
              </a:lnSpc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dk1"/>
                </a:solidFill>
                <a:latin typeface="Bahnschrift SemiLight" pitchFamily="34" charset="0"/>
              </a:rPr>
              <a:t>Pydantic</a:t>
            </a:r>
            <a:endParaRPr lang="en-US" sz="2000" dirty="0">
              <a:latin typeface="Bahnschrift SemiLight" pitchFamily="34" charset="0"/>
            </a:endParaRPr>
          </a:p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Bahnschrift SemiLight" pitchFamily="34" charset="0"/>
              </a:rPr>
              <a:t>JsonOutputParser</a:t>
            </a:r>
            <a:endParaRPr lang="en-US" sz="2000" dirty="0">
              <a:latin typeface="Bahnschrift SemiLight" pitchFamily="34" charset="0"/>
            </a:endParaRPr>
          </a:p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Bahnschrift SemiLight" pitchFamily="34" charset="0"/>
              </a:rPr>
              <a:t>StructuredoutputParser</a:t>
            </a:r>
            <a:endParaRPr lang="en-US" sz="2000" dirty="0">
              <a:latin typeface="Bahnschrift SemiLight" pitchFamily="34" charset="0"/>
            </a:endParaRPr>
          </a:p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Bahnschrift SemiLight" pitchFamily="34" charset="0"/>
              </a:rPr>
              <a:t>Pydanticoutparser</a:t>
            </a:r>
            <a:endParaRPr lang="en-US" sz="2000" dirty="0">
              <a:latin typeface="Bahnschrift SemiLight" pitchFamily="34" charset="0"/>
            </a:endParaRPr>
          </a:p>
          <a:p>
            <a:pPr indent="-457200">
              <a:buFont typeface="Arial" panose="020B0604020202020204" pitchFamily="34" charset="0"/>
              <a:buChar char="•"/>
            </a:pPr>
            <a:endParaRPr lang="en-US" sz="2000" dirty="0">
              <a:latin typeface="Bahnschrift SemiLight" pitchFamily="34" charset="0"/>
            </a:endParaRPr>
          </a:p>
        </p:txBody>
      </p:sp>
      <p:pic>
        <p:nvPicPr>
          <p:cNvPr id="4" name="Picture 3" descr="A logo with lines in a black background&#10;&#10;Description automatically generated">
            <a:extLst>
              <a:ext uri="{FF2B5EF4-FFF2-40B4-BE49-F238E27FC236}">
                <a16:creationId xmlns="" xmlns:a16="http://schemas.microsoft.com/office/drawing/2014/main" id="{D2D9B059-AD2D-F678-3DA7-C8E036931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2642" y="-205416"/>
            <a:ext cx="1217233" cy="120532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E035956-D152-CBA4-26F1-D6ED7ADD0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</p:spTree>
    <p:extLst>
      <p:ext uri="{BB962C8B-B14F-4D97-AF65-F5344CB8AC3E}">
        <p14:creationId xmlns:p14="http://schemas.microsoft.com/office/powerpoint/2010/main" val="2724362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440873" y="211994"/>
            <a:ext cx="3699163" cy="400110"/>
            <a:chOff x="1440873" y="211994"/>
            <a:chExt cx="3699163" cy="400110"/>
          </a:xfrm>
        </p:grpSpPr>
        <p:sp>
          <p:nvSpPr>
            <p:cNvPr id="2" name="Rectangle 1"/>
            <p:cNvSpPr/>
            <p:nvPr/>
          </p:nvSpPr>
          <p:spPr>
            <a:xfrm>
              <a:off x="1565491" y="211994"/>
              <a:ext cx="2560316" cy="400110"/>
            </a:xfrm>
            <a:prstGeom prst="rect">
              <a:avLst/>
            </a:prstGeom>
            <a:solidFill>
              <a:schemeClr val="accent1"/>
            </a:solidFill>
          </p:spPr>
          <p:txBody>
            <a:bodyPr wrap="none">
              <a:spAutoFit/>
            </a:bodyPr>
            <a:lstStyle/>
            <a:p>
              <a:r>
                <a:rPr lang="en-IN" sz="2000" dirty="0">
                  <a:solidFill>
                    <a:schemeClr val="bg1"/>
                  </a:solidFill>
                  <a:latin typeface="Bahnschrift" pitchFamily="34" charset="0"/>
                </a:rPr>
                <a:t>Supervised Learning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1440873" y="612104"/>
              <a:ext cx="369916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2896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2327564" y="967070"/>
            <a:ext cx="7869381" cy="3577221"/>
            <a:chOff x="2327564" y="967070"/>
            <a:chExt cx="7869381" cy="3577221"/>
          </a:xfrm>
        </p:grpSpPr>
        <p:grpSp>
          <p:nvGrpSpPr>
            <p:cNvPr id="21" name="Group 20"/>
            <p:cNvGrpSpPr/>
            <p:nvPr/>
          </p:nvGrpSpPr>
          <p:grpSpPr>
            <a:xfrm>
              <a:off x="2327564" y="967070"/>
              <a:ext cx="7869381" cy="3577221"/>
              <a:chOff x="2327564" y="967070"/>
              <a:chExt cx="7869381" cy="3577221"/>
            </a:xfrm>
          </p:grpSpPr>
          <p:sp>
            <p:nvSpPr>
              <p:cNvPr id="2" name="TextBox 1"/>
              <p:cNvSpPr txBox="1"/>
              <p:nvPr/>
            </p:nvSpPr>
            <p:spPr>
              <a:xfrm>
                <a:off x="4861015" y="967070"/>
                <a:ext cx="1787669" cy="40011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lgDash"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 smtClean="0">
                    <a:latin typeface="Bahnschrift" pitchFamily="34" charset="0"/>
                  </a:rPr>
                  <a:t>House Pricing</a:t>
                </a:r>
                <a:endParaRPr lang="en-IN" sz="2000" b="1" dirty="0">
                  <a:latin typeface="Bahnschrift" pitchFamily="34" charset="0"/>
                </a:endParaRPr>
              </a:p>
            </p:txBody>
          </p:sp>
          <p:cxnSp>
            <p:nvCxnSpPr>
              <p:cNvPr id="5" name="Straight Connector 4"/>
              <p:cNvCxnSpPr/>
              <p:nvPr/>
            </p:nvCxnSpPr>
            <p:spPr>
              <a:xfrm>
                <a:off x="6089290" y="1519121"/>
                <a:ext cx="0" cy="3025170"/>
              </a:xfrm>
              <a:prstGeom prst="line">
                <a:avLst/>
              </a:prstGeom>
              <a:ln w="317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>
              <a:xfrm>
                <a:off x="2991024" y="1545480"/>
                <a:ext cx="1356462" cy="369332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latin typeface="Bahnschrift" pitchFamily="34" charset="0"/>
                  </a:rPr>
                  <a:t>Regression</a:t>
                </a:r>
                <a:endParaRPr lang="en-IN" dirty="0">
                  <a:latin typeface="Bahnschrift" pitchFamily="34" charset="0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7024255" y="1534740"/>
                <a:ext cx="1572866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latin typeface="Bahnschrift" pitchFamily="34" charset="0"/>
                  </a:rPr>
                  <a:t>Classification</a:t>
                </a:r>
                <a:endParaRPr lang="en-IN" dirty="0">
                  <a:latin typeface="Bahnschrift" pitchFamily="34" charset="0"/>
                </a:endParaRPr>
              </a:p>
            </p:txBody>
          </p:sp>
          <p:cxnSp>
            <p:nvCxnSpPr>
              <p:cNvPr id="14" name="Straight Connector 13"/>
              <p:cNvCxnSpPr/>
              <p:nvPr/>
            </p:nvCxnSpPr>
            <p:spPr>
              <a:xfrm>
                <a:off x="2327564" y="1524000"/>
                <a:ext cx="7869381" cy="21480"/>
              </a:xfrm>
              <a:prstGeom prst="line">
                <a:avLst/>
              </a:prstGeom>
              <a:ln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Rectangle 15"/>
              <p:cNvSpPr/>
              <p:nvPr/>
            </p:nvSpPr>
            <p:spPr>
              <a:xfrm>
                <a:off x="2741384" y="2791177"/>
                <a:ext cx="2522701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/>
                  <a:t>Exact price of House in Numbers</a:t>
                </a:r>
                <a:endParaRPr lang="en-IN" sz="1600" dirty="0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3504558" y="2267589"/>
                <a:ext cx="6896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rgbClr val="0070C0"/>
                    </a:solidFill>
                    <a:latin typeface="Bahnschrift Condensed" pitchFamily="34" charset="0"/>
                  </a:rPr>
                  <a:t>RS  / $</a:t>
                </a:r>
                <a:endParaRPr lang="en-IN" dirty="0">
                  <a:solidFill>
                    <a:srgbClr val="0070C0"/>
                  </a:solidFill>
                  <a:latin typeface="Bahnschrift Condensed" pitchFamily="34" charset="0"/>
                </a:endParaRPr>
              </a:p>
            </p:txBody>
          </p:sp>
          <p:grpSp>
            <p:nvGrpSpPr>
              <p:cNvPr id="20" name="Group 19"/>
              <p:cNvGrpSpPr/>
              <p:nvPr/>
            </p:nvGrpSpPr>
            <p:grpSpPr>
              <a:xfrm>
                <a:off x="6990262" y="2116586"/>
                <a:ext cx="2500477" cy="1505587"/>
                <a:chOff x="6698674" y="2178417"/>
                <a:chExt cx="2500477" cy="1505587"/>
              </a:xfrm>
            </p:grpSpPr>
            <p:sp>
              <p:nvSpPr>
                <p:cNvPr id="18" name="Rectangle 17"/>
                <p:cNvSpPr/>
                <p:nvPr/>
              </p:nvSpPr>
              <p:spPr>
                <a:xfrm>
                  <a:off x="6698674" y="2178417"/>
                  <a:ext cx="1806905" cy="33855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IN" sz="1600" dirty="0"/>
                    <a:t>House's Category</a:t>
                  </a:r>
                </a:p>
              </p:txBody>
            </p:sp>
            <p:sp>
              <p:nvSpPr>
                <p:cNvPr id="19" name="Rectangle 18"/>
                <p:cNvSpPr/>
                <p:nvPr/>
              </p:nvSpPr>
              <p:spPr>
                <a:xfrm>
                  <a:off x="7411915" y="2606786"/>
                  <a:ext cx="1787236" cy="107721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IN" sz="1600" dirty="0"/>
                    <a:t>- affordable</a:t>
                  </a:r>
                </a:p>
                <a:p>
                  <a:r>
                    <a:rPr lang="en-IN" sz="1600" dirty="0"/>
                    <a:t>- mid range</a:t>
                  </a:r>
                </a:p>
                <a:p>
                  <a:r>
                    <a:rPr lang="en-IN" sz="1600" dirty="0"/>
                    <a:t>- luxury</a:t>
                  </a:r>
                </a:p>
                <a:p>
                  <a:r>
                    <a:rPr lang="en-IN" sz="1600" dirty="0"/>
                    <a:t>- ultra luxury</a:t>
                  </a:r>
                </a:p>
              </p:txBody>
            </p:sp>
          </p:grpSp>
        </p:grpSp>
        <p:sp>
          <p:nvSpPr>
            <p:cNvPr id="22" name="Rectangle 21"/>
            <p:cNvSpPr/>
            <p:nvPr/>
          </p:nvSpPr>
          <p:spPr>
            <a:xfrm>
              <a:off x="2327564" y="967070"/>
              <a:ext cx="7869381" cy="3577221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3171133" y="22675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1238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576946" y="952401"/>
            <a:ext cx="7869381" cy="3577221"/>
            <a:chOff x="2327564" y="967070"/>
            <a:chExt cx="7869381" cy="3577221"/>
          </a:xfrm>
        </p:grpSpPr>
        <p:grpSp>
          <p:nvGrpSpPr>
            <p:cNvPr id="21" name="Group 20"/>
            <p:cNvGrpSpPr/>
            <p:nvPr/>
          </p:nvGrpSpPr>
          <p:grpSpPr>
            <a:xfrm>
              <a:off x="2327564" y="967070"/>
              <a:ext cx="7869381" cy="3577221"/>
              <a:chOff x="2327564" y="967070"/>
              <a:chExt cx="7869381" cy="3577221"/>
            </a:xfrm>
          </p:grpSpPr>
          <p:sp>
            <p:nvSpPr>
              <p:cNvPr id="2" name="TextBox 1"/>
              <p:cNvSpPr txBox="1"/>
              <p:nvPr/>
            </p:nvSpPr>
            <p:spPr>
              <a:xfrm>
                <a:off x="4861015" y="967070"/>
                <a:ext cx="2226892" cy="40011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  <a:prstDash val="lgDash"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 smtClean="0">
                    <a:latin typeface="Bahnschrift" pitchFamily="34" charset="0"/>
                  </a:rPr>
                  <a:t>Weather Forecast</a:t>
                </a:r>
                <a:endParaRPr lang="en-IN" sz="2000" b="1" dirty="0">
                  <a:latin typeface="Bahnschrift" pitchFamily="34" charset="0"/>
                </a:endParaRPr>
              </a:p>
            </p:txBody>
          </p:sp>
          <p:cxnSp>
            <p:nvCxnSpPr>
              <p:cNvPr id="5" name="Straight Connector 4"/>
              <p:cNvCxnSpPr/>
              <p:nvPr/>
            </p:nvCxnSpPr>
            <p:spPr>
              <a:xfrm>
                <a:off x="6089290" y="1519121"/>
                <a:ext cx="0" cy="3025170"/>
              </a:xfrm>
              <a:prstGeom prst="line">
                <a:avLst/>
              </a:prstGeom>
              <a:ln w="317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>
              <a:xfrm>
                <a:off x="3171133" y="1545480"/>
                <a:ext cx="1356462" cy="369332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rgbClr val="00D05E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latin typeface="Bahnschrift" pitchFamily="34" charset="0"/>
                  </a:rPr>
                  <a:t>Regression</a:t>
                </a:r>
                <a:endParaRPr lang="en-IN" dirty="0">
                  <a:latin typeface="Bahnschrift" pitchFamily="34" charset="0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6747164" y="1519121"/>
                <a:ext cx="1572866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latin typeface="Bahnschrift" pitchFamily="34" charset="0"/>
                  </a:rPr>
                  <a:t>Classification</a:t>
                </a:r>
                <a:endParaRPr lang="en-IN" dirty="0">
                  <a:latin typeface="Bahnschrift" pitchFamily="34" charset="0"/>
                </a:endParaRPr>
              </a:p>
            </p:txBody>
          </p:sp>
          <p:cxnSp>
            <p:nvCxnSpPr>
              <p:cNvPr id="14" name="Straight Connector 13"/>
              <p:cNvCxnSpPr/>
              <p:nvPr/>
            </p:nvCxnSpPr>
            <p:spPr>
              <a:xfrm>
                <a:off x="2327564" y="1524000"/>
                <a:ext cx="7869381" cy="21480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Rectangle 15"/>
              <p:cNvSpPr/>
              <p:nvPr/>
            </p:nvSpPr>
            <p:spPr>
              <a:xfrm>
                <a:off x="3266244" y="3491594"/>
                <a:ext cx="2522701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dirty="0" smtClean="0">
                    <a:latin typeface="Arial Unicode MS" pitchFamily="34" charset="-128"/>
                    <a:ea typeface="Arial Unicode MS" pitchFamily="34" charset="-128"/>
                    <a:cs typeface="Arial Unicode MS" pitchFamily="34" charset="-128"/>
                  </a:rPr>
                  <a:t>In degree  Celsius</a:t>
                </a:r>
                <a:endParaRPr lang="en-IN" sz="1600" dirty="0">
                  <a:latin typeface="Arial Unicode MS" pitchFamily="34" charset="-128"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grpSp>
            <p:nvGrpSpPr>
              <p:cNvPr id="20" name="Group 19"/>
              <p:cNvGrpSpPr/>
              <p:nvPr/>
            </p:nvGrpSpPr>
            <p:grpSpPr>
              <a:xfrm>
                <a:off x="6747163" y="2156238"/>
                <a:ext cx="2382981" cy="1477328"/>
                <a:chOff x="6455575" y="2218069"/>
                <a:chExt cx="2382981" cy="1477328"/>
              </a:xfrm>
            </p:grpSpPr>
            <p:sp>
              <p:nvSpPr>
                <p:cNvPr id="18" name="Rectangle 17"/>
                <p:cNvSpPr/>
                <p:nvPr/>
              </p:nvSpPr>
              <p:spPr>
                <a:xfrm>
                  <a:off x="6455575" y="2218069"/>
                  <a:ext cx="2382981" cy="64633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IN" dirty="0">
                      <a:solidFill>
                        <a:srgbClr val="0070C0"/>
                      </a:solidFill>
                      <a:latin typeface="Bahnschrift" pitchFamily="34" charset="0"/>
                    </a:rPr>
                    <a:t>Predicting weather condition</a:t>
                  </a:r>
                </a:p>
              </p:txBody>
            </p:sp>
            <p:sp>
              <p:nvSpPr>
                <p:cNvPr id="19" name="Rectangle 18"/>
                <p:cNvSpPr/>
                <p:nvPr/>
              </p:nvSpPr>
              <p:spPr>
                <a:xfrm>
                  <a:off x="6753447" y="2864400"/>
                  <a:ext cx="1787236" cy="83099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IN" sz="1600" dirty="0"/>
                    <a:t>- </a:t>
                  </a:r>
                  <a:r>
                    <a:rPr lang="en-IN" sz="1600" dirty="0" smtClean="0"/>
                    <a:t>sunny</a:t>
                  </a:r>
                  <a:endParaRPr lang="en-IN" sz="1600" dirty="0"/>
                </a:p>
                <a:p>
                  <a:r>
                    <a:rPr lang="en-IN" sz="1600" dirty="0"/>
                    <a:t>- </a:t>
                  </a:r>
                  <a:r>
                    <a:rPr lang="en-IN" sz="1600" dirty="0" smtClean="0"/>
                    <a:t>rainy</a:t>
                  </a:r>
                  <a:endParaRPr lang="en-IN" sz="1600" dirty="0"/>
                </a:p>
                <a:p>
                  <a:r>
                    <a:rPr lang="en-IN" sz="1600" dirty="0"/>
                    <a:t>- </a:t>
                  </a:r>
                  <a:r>
                    <a:rPr lang="en-IN" sz="1600" dirty="0" smtClean="0"/>
                    <a:t>cloudy</a:t>
                  </a:r>
                  <a:endParaRPr lang="en-IN" sz="1600" dirty="0"/>
                </a:p>
              </p:txBody>
            </p:sp>
          </p:grpSp>
        </p:grpSp>
        <p:sp>
          <p:nvSpPr>
            <p:cNvPr id="22" name="Rectangle 21"/>
            <p:cNvSpPr/>
            <p:nvPr/>
          </p:nvSpPr>
          <p:spPr>
            <a:xfrm>
              <a:off x="2327564" y="967070"/>
              <a:ext cx="7869381" cy="3577221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171133" y="2205758"/>
            <a:ext cx="2143536" cy="1068655"/>
            <a:chOff x="3171133" y="2205758"/>
            <a:chExt cx="2143536" cy="106865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86325" y="2741013"/>
              <a:ext cx="781050" cy="533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" name="TextBox 2"/>
            <p:cNvSpPr txBox="1"/>
            <p:nvPr/>
          </p:nvSpPr>
          <p:spPr>
            <a:xfrm>
              <a:off x="3171133" y="2205758"/>
              <a:ext cx="21435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0070C0"/>
                  </a:solidFill>
                  <a:latin typeface="Bahnschrift" pitchFamily="34" charset="0"/>
                </a:rPr>
                <a:t>Exact Temperature</a:t>
              </a:r>
              <a:endParaRPr lang="en-IN" dirty="0">
                <a:solidFill>
                  <a:srgbClr val="0070C0"/>
                </a:solidFill>
                <a:latin typeface="Bahnschrift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1138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3825729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162421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355" y="3650673"/>
            <a:ext cx="6118946" cy="1806546"/>
          </a:xfrm>
          <a:prstGeom prst="rect">
            <a:avLst/>
          </a:prstGeom>
          <a:noFill/>
          <a:ln w="9525">
            <a:solidFill>
              <a:schemeClr val="bg1">
                <a:lumMod val="9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355" y="396660"/>
            <a:ext cx="6118946" cy="3029673"/>
          </a:xfrm>
          <a:prstGeom prst="rect">
            <a:avLst/>
          </a:prstGeom>
          <a:noFill/>
          <a:ln w="9525">
            <a:solidFill>
              <a:schemeClr val="bg1">
                <a:lumMod val="9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6230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876206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1255159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21166</TotalTime>
  <Words>177</Words>
  <Application>Microsoft Office PowerPoint</Application>
  <PresentationFormat>Custom</PresentationFormat>
  <Paragraphs>68</Paragraphs>
  <Slides>10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Naman Narula</dc:creator>
  <cp:lastModifiedBy>User</cp:lastModifiedBy>
  <cp:revision>968</cp:revision>
  <dcterms:created xsi:type="dcterms:W3CDTF">2024-01-26T15:11:46Z</dcterms:created>
  <dcterms:modified xsi:type="dcterms:W3CDTF">2025-08-02T19:13:13Z</dcterms:modified>
</cp:coreProperties>
</file>