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323" r:id="rId2"/>
    <p:sldId id="422" r:id="rId3"/>
    <p:sldId id="439" r:id="rId4"/>
    <p:sldId id="441" r:id="rId5"/>
    <p:sldId id="44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F7019FAC-E7A5-43E9-B9F1-CAF1DA55EE0C}">
          <p14:sldIdLst>
            <p14:sldId id="323"/>
          </p14:sldIdLst>
        </p14:section>
        <p14:section name="Basics" id="{FEB3B35D-C60A-4223-8E10-10DFC2E07C67}">
          <p14:sldIdLst>
            <p14:sldId id="422"/>
            <p14:sldId id="439"/>
            <p14:sldId id="441"/>
            <p14:sldId id="442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05E"/>
    <a:srgbClr val="CC3300"/>
    <a:srgbClr val="00CC99"/>
    <a:srgbClr val="15C2FF"/>
    <a:srgbClr val="FF0066"/>
    <a:srgbClr val="D7C055"/>
    <a:srgbClr val="F2DB5B"/>
    <a:srgbClr val="000000"/>
    <a:srgbClr val="6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3" autoAdjust="0"/>
    <p:restoredTop sz="86073" autoAdjust="0"/>
  </p:normalViewPr>
  <p:slideViewPr>
    <p:cSldViewPr snapToGrid="0">
      <p:cViewPr>
        <p:scale>
          <a:sx n="69" d="100"/>
          <a:sy n="69" d="100"/>
        </p:scale>
        <p:origin x="-696" y="-2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28" Type="http://schemas.microsoft.com/office/2015/10/relationships/revisionInfo" Target="revisionInfo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05-08-2025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4662A70-DFBD-127F-D5CC-9B0F1A56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6F420B84-9022-B7D2-9C67-0FDA0433D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3AC76129-7A35-2EDC-3B76-87ED8A841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BF5D66A-BD02-F7EA-3FAB-C98B27E37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004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8/5/2025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8/5/2025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8/5/2025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8/5/2025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8/5/2025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8/5/2025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8/5/2025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8/5/2025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8/5/2025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8/5/2025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8/5/2025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8/5/2025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5D93965-B794-0D3F-19B2-6E5CEF590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929A6F4B-4B22-0928-2DBA-1E63C9DE5B47}"/>
              </a:ext>
            </a:extLst>
          </p:cNvPr>
          <p:cNvSpPr/>
          <p:nvPr/>
        </p:nvSpPr>
        <p:spPr>
          <a:xfrm>
            <a:off x="0" y="1"/>
            <a:ext cx="1948169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745C555-155A-8408-E6E3-22A172F35158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2462335E-6BA0-9E39-D941-3E40EF2A0890}"/>
              </a:ext>
            </a:extLst>
          </p:cNvPr>
          <p:cNvSpPr/>
          <p:nvPr/>
        </p:nvSpPr>
        <p:spPr>
          <a:xfrm>
            <a:off x="0" y="5572125"/>
            <a:ext cx="12187542" cy="1285876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3352634E-F25A-906D-E090-61E107EA9685}"/>
              </a:ext>
            </a:extLst>
          </p:cNvPr>
          <p:cNvSpPr/>
          <p:nvPr/>
        </p:nvSpPr>
        <p:spPr>
          <a:xfrm>
            <a:off x="-260" y="5572124"/>
            <a:ext cx="12193758" cy="5834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F78D711A-98A9-0CA9-87DC-706B4F2660DA}"/>
              </a:ext>
            </a:extLst>
          </p:cNvPr>
          <p:cNvSpPr/>
          <p:nvPr/>
        </p:nvSpPr>
        <p:spPr>
          <a:xfrm>
            <a:off x="1291568" y="-1"/>
            <a:ext cx="656603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3863E5A6-EF6F-E241-ED54-B76BF0108961}"/>
              </a:ext>
            </a:extLst>
          </p:cNvPr>
          <p:cNvSpPr txBox="1"/>
          <p:nvPr/>
        </p:nvSpPr>
        <p:spPr>
          <a:xfrm>
            <a:off x="1396344" y="5505306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15" name="Google Shape;143;p1">
            <a:extLst>
              <a:ext uri="{FF2B5EF4-FFF2-40B4-BE49-F238E27FC236}">
                <a16:creationId xmlns="" xmlns:a16="http://schemas.microsoft.com/office/drawing/2014/main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2187369" y="750604"/>
            <a:ext cx="9145650" cy="1637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b="1" dirty="0" smtClean="0">
                <a:solidFill>
                  <a:schemeClr val="tx1"/>
                </a:solidFill>
              </a:rPr>
              <a:t>numpy,pandas,sklearn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sz="1800" dirty="0" smtClean="0">
                <a:solidFill>
                  <a:schemeClr val="tx1"/>
                </a:solidFill>
                <a:latin typeface="Bahnschrift" pitchFamily="34" charset="0"/>
              </a:rPr>
              <a:t>June 2024</a:t>
            </a:r>
            <a:endParaRPr sz="1800" dirty="0">
              <a:solidFill>
                <a:schemeClr val="tx1"/>
              </a:solidFill>
              <a:latin typeface="Bahnschrift" pitchFamily="34" charset="0"/>
            </a:endParaRPr>
          </a:p>
        </p:txBody>
      </p:sp>
      <p:pic>
        <p:nvPicPr>
          <p:cNvPr id="4" name="Picture 3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B769A9BB-68EA-F9F6-0ECB-37D6968A9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D627D9A-CDBE-20A9-3FA1-63D5E507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3299" y="2656466"/>
            <a:ext cx="2657475" cy="249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1876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5CE01EE-9B82-1A8D-6A71-28923D9F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9B3BB1EE-8F0D-D402-9B66-38C94EBDCD27}"/>
              </a:ext>
            </a:extLst>
          </p:cNvPr>
          <p:cNvSpPr/>
          <p:nvPr/>
        </p:nvSpPr>
        <p:spPr>
          <a:xfrm>
            <a:off x="0" y="1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B92D285-0982-C7FC-2CCB-555CC4555729}"/>
              </a:ext>
            </a:extLst>
          </p:cNvPr>
          <p:cNvSpPr/>
          <p:nvPr/>
        </p:nvSpPr>
        <p:spPr>
          <a:xfrm>
            <a:off x="565288" y="0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5A501CB-25F7-430E-26A9-AC8C6F18EA43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33" name="Footer Placeholder 32">
            <a:extLst>
              <a:ext uri="{FF2B5EF4-FFF2-40B4-BE49-F238E27FC236}">
                <a16:creationId xmlns="" xmlns:a16="http://schemas.microsoft.com/office/drawing/2014/main" id="{9EFE9F1A-54D1-5FC8-F649-AA5659503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35382" y="1385455"/>
            <a:ext cx="5259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 AI+ML all the data is represented in numeric format</a:t>
            </a:r>
            <a:endParaRPr lang="en-IN" dirty="0"/>
          </a:p>
        </p:txBody>
      </p:sp>
      <p:grpSp>
        <p:nvGrpSpPr>
          <p:cNvPr id="24" name="Group 23"/>
          <p:cNvGrpSpPr/>
          <p:nvPr/>
        </p:nvGrpSpPr>
        <p:grpSpPr>
          <a:xfrm>
            <a:off x="1797380" y="554182"/>
            <a:ext cx="838692" cy="831273"/>
            <a:chOff x="1797380" y="554182"/>
            <a:chExt cx="838692" cy="831273"/>
          </a:xfrm>
        </p:grpSpPr>
        <p:sp>
          <p:nvSpPr>
            <p:cNvPr id="2" name="TextBox 1"/>
            <p:cNvSpPr txBox="1"/>
            <p:nvPr/>
          </p:nvSpPr>
          <p:spPr>
            <a:xfrm>
              <a:off x="1797381" y="554182"/>
              <a:ext cx="8386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Bahnschrift" pitchFamily="34" charset="0"/>
                </a:rPr>
                <a:t>AI ML</a:t>
              </a:r>
              <a:endParaRPr lang="en-IN" sz="2000" dirty="0">
                <a:latin typeface="Bahnschrift" pitchFamily="34" charset="0"/>
              </a:endParaRPr>
            </a:p>
          </p:txBody>
        </p:sp>
        <p:cxnSp>
          <p:nvCxnSpPr>
            <p:cNvPr id="12" name="Curved Connector 11"/>
            <p:cNvCxnSpPr>
              <a:stCxn id="2" idx="1"/>
            </p:cNvCxnSpPr>
            <p:nvPr/>
          </p:nvCxnSpPr>
          <p:spPr>
            <a:xfrm rot="10800000" flipH="1" flipV="1">
              <a:off x="1797380" y="754237"/>
              <a:ext cx="738001" cy="631218"/>
            </a:xfrm>
            <a:prstGeom prst="curvedConnector3">
              <a:avLst>
                <a:gd name="adj1" fmla="val -30976"/>
              </a:avLst>
            </a:prstGeom>
            <a:ln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3768436" y="2133600"/>
            <a:ext cx="1716909" cy="923330"/>
            <a:chOff x="3768436" y="2133600"/>
            <a:chExt cx="1716909" cy="923330"/>
          </a:xfrm>
        </p:grpSpPr>
        <p:sp>
          <p:nvSpPr>
            <p:cNvPr id="17" name="TextBox 16"/>
            <p:cNvSpPr txBox="1"/>
            <p:nvPr/>
          </p:nvSpPr>
          <p:spPr>
            <a:xfrm>
              <a:off x="4627418" y="2133600"/>
              <a:ext cx="85792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Bahnschrift Light" pitchFamily="34" charset="0"/>
                </a:rPr>
                <a:t>Array</a:t>
              </a:r>
            </a:p>
            <a:p>
              <a:r>
                <a:rPr lang="en-US" dirty="0" smtClean="0">
                  <a:latin typeface="Bahnschrift Light" pitchFamily="34" charset="0"/>
                </a:rPr>
                <a:t>Vector</a:t>
              </a:r>
            </a:p>
            <a:p>
              <a:endParaRPr lang="en-IN" dirty="0">
                <a:latin typeface="Bahnschrift Light" pitchFamily="34" charset="0"/>
              </a:endParaRPr>
            </a:p>
          </p:txBody>
        </p:sp>
        <p:cxnSp>
          <p:nvCxnSpPr>
            <p:cNvPr id="19" name="Straight Arrow Connector 18"/>
            <p:cNvCxnSpPr>
              <a:endCxn id="17" idx="1"/>
            </p:cNvCxnSpPr>
            <p:nvPr/>
          </p:nvCxnSpPr>
          <p:spPr>
            <a:xfrm>
              <a:off x="3768436" y="2355273"/>
              <a:ext cx="858982" cy="239992"/>
            </a:xfrm>
            <a:prstGeom prst="straightConnector1">
              <a:avLst/>
            </a:prstGeom>
            <a:ln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3768436" y="2355273"/>
              <a:ext cx="914400" cy="0"/>
            </a:xfrm>
            <a:prstGeom prst="straightConnector1">
              <a:avLst/>
            </a:prstGeom>
            <a:ln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Curved Connector 25"/>
          <p:cNvCxnSpPr>
            <a:endCxn id="29" idx="1"/>
          </p:cNvCxnSpPr>
          <p:nvPr/>
        </p:nvCxnSpPr>
        <p:spPr>
          <a:xfrm rot="16200000" flipH="1">
            <a:off x="1904999" y="2385167"/>
            <a:ext cx="2244436" cy="983675"/>
          </a:xfrm>
          <a:prstGeom prst="curvedConnector2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19055" y="3814557"/>
            <a:ext cx="4871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Even image  is also represented in numeric format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678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20467" y="922338"/>
            <a:ext cx="5547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  <a:latin typeface="Bahnschrift" pitchFamily="34" charset="0"/>
              </a:rPr>
              <a:t>Numpy</a:t>
            </a:r>
            <a:r>
              <a:rPr lang="en-US" dirty="0" smtClean="0"/>
              <a:t> is used to perform   fast mathematical operation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420468" y="2715014"/>
            <a:ext cx="87837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Bahnschrift" pitchFamily="34" charset="0"/>
              </a:rPr>
              <a:t>pandas</a:t>
            </a:r>
            <a:r>
              <a:rPr lang="en-US" dirty="0"/>
              <a:t> is built on top of numpy and it makes data </a:t>
            </a:r>
            <a:r>
              <a:rPr lang="en-US" dirty="0" smtClean="0"/>
              <a:t>manipulation </a:t>
            </a:r>
            <a:r>
              <a:rPr lang="en-US" dirty="0"/>
              <a:t>easy.</a:t>
            </a:r>
          </a:p>
          <a:p>
            <a:r>
              <a:rPr lang="en-US" dirty="0"/>
              <a:t>if we have lots of messy  </a:t>
            </a:r>
            <a:r>
              <a:rPr lang="en-US" dirty="0" smtClean="0"/>
              <a:t>data, we </a:t>
            </a:r>
            <a:r>
              <a:rPr lang="en-US" dirty="0"/>
              <a:t>can eaisly clean filter and organize it</a:t>
            </a:r>
            <a:endParaRPr lang="en-IN" dirty="0"/>
          </a:p>
        </p:txBody>
      </p:sp>
      <p:grpSp>
        <p:nvGrpSpPr>
          <p:cNvPr id="13" name="Group 12"/>
          <p:cNvGrpSpPr/>
          <p:nvPr/>
        </p:nvGrpSpPr>
        <p:grpSpPr>
          <a:xfrm>
            <a:off x="1925781" y="522228"/>
            <a:ext cx="989374" cy="6017117"/>
            <a:chOff x="1925781" y="522228"/>
            <a:chExt cx="989374" cy="6017117"/>
          </a:xfrm>
        </p:grpSpPr>
        <p:sp>
          <p:nvSpPr>
            <p:cNvPr id="2" name="TextBox 1"/>
            <p:cNvSpPr txBox="1"/>
            <p:nvPr/>
          </p:nvSpPr>
          <p:spPr>
            <a:xfrm>
              <a:off x="1925782" y="522228"/>
              <a:ext cx="989373" cy="400110"/>
            </a:xfrm>
            <a:prstGeom prst="rect">
              <a:avLst/>
            </a:prstGeom>
            <a:solidFill>
              <a:srgbClr val="002060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chemeClr val="bg1"/>
                  </a:solidFill>
                  <a:latin typeface="Bahnschrift" pitchFamily="34" charset="0"/>
                </a:rPr>
                <a:t>Numpy</a:t>
              </a:r>
              <a:endParaRPr lang="en-IN" sz="2000" dirty="0">
                <a:solidFill>
                  <a:schemeClr val="bg1"/>
                </a:solidFill>
                <a:latin typeface="Bahnschrift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925781" y="2087140"/>
              <a:ext cx="989373" cy="400110"/>
            </a:xfrm>
            <a:prstGeom prst="rect">
              <a:avLst/>
            </a:prstGeom>
            <a:solidFill>
              <a:srgbClr val="7030A0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chemeClr val="bg1"/>
                  </a:solidFill>
                  <a:latin typeface="Bahnschrift" pitchFamily="34" charset="0"/>
                </a:rPr>
                <a:t>Numpy</a:t>
              </a:r>
              <a:endParaRPr lang="en-IN" sz="2000" dirty="0">
                <a:solidFill>
                  <a:schemeClr val="bg1"/>
                </a:solidFill>
                <a:latin typeface="Bahnschrift" pitchFamily="34" charset="0"/>
              </a:endParaRP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1925781" y="522228"/>
              <a:ext cx="0" cy="601711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3629891" y="3726873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Cascadia Code" pitchFamily="49" charset="0"/>
                <a:cs typeface="Cascadia Code" pitchFamily="49" charset="0"/>
              </a:rPr>
              <a:t>Once data is ready</a:t>
            </a:r>
            <a:endParaRPr lang="en-IN" i="1" dirty="0">
              <a:latin typeface="Cascadia Code" pitchFamily="49" charset="0"/>
              <a:cs typeface="Cascadia Code" pitchFamily="49" charset="0"/>
            </a:endParaRPr>
          </a:p>
        </p:txBody>
      </p:sp>
      <p:sp>
        <p:nvSpPr>
          <p:cNvPr id="15" name="Flowchart: Terminator 14"/>
          <p:cNvSpPr/>
          <p:nvPr/>
        </p:nvSpPr>
        <p:spPr>
          <a:xfrm>
            <a:off x="1935558" y="4433454"/>
            <a:ext cx="1209423" cy="568036"/>
          </a:xfrm>
          <a:prstGeom prst="flowChartTerminator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Bahnschrift" pitchFamily="34" charset="0"/>
              </a:rPr>
              <a:t>Sci kit learn</a:t>
            </a:r>
            <a:endParaRPr lang="en-IN" dirty="0">
              <a:latin typeface="Bahnschrift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196323" y="4539779"/>
            <a:ext cx="87878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we run algorithm for task like regression ,classficiation.all of these provided by </a:t>
            </a:r>
            <a:r>
              <a:rPr lang="en-US" dirty="0" smtClean="0"/>
              <a:t>sci-kit </a:t>
            </a:r>
            <a:r>
              <a:rPr lang="en-US" dirty="0"/>
              <a:t>learn .</a:t>
            </a:r>
            <a:endParaRPr lang="en-IN" dirty="0"/>
          </a:p>
        </p:txBody>
      </p:sp>
      <p:sp>
        <p:nvSpPr>
          <p:cNvPr id="17" name="Rectangle 16"/>
          <p:cNvSpPr/>
          <p:nvPr/>
        </p:nvSpPr>
        <p:spPr>
          <a:xfrm>
            <a:off x="2319639" y="5114697"/>
            <a:ext cx="45576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i="1" dirty="0">
                <a:latin typeface="Bahnschrift Light" pitchFamily="34" charset="0"/>
              </a:rPr>
              <a:t>we can say that it is a machine learning tool kit </a:t>
            </a:r>
            <a:endParaRPr lang="en-IN" sz="1600" i="1" dirty="0">
              <a:latin typeface="Bahnschrift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9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71133" y="22675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pSp>
        <p:nvGrpSpPr>
          <p:cNvPr id="10" name="Group 9"/>
          <p:cNvGrpSpPr/>
          <p:nvPr/>
        </p:nvGrpSpPr>
        <p:grpSpPr>
          <a:xfrm>
            <a:off x="1434408" y="130980"/>
            <a:ext cx="1473974" cy="619624"/>
            <a:chOff x="1512668" y="72611"/>
            <a:chExt cx="1473974" cy="619624"/>
          </a:xfrm>
        </p:grpSpPr>
        <p:sp>
          <p:nvSpPr>
            <p:cNvPr id="2" name="Rectangle 1"/>
            <p:cNvSpPr/>
            <p:nvPr/>
          </p:nvSpPr>
          <p:spPr>
            <a:xfrm>
              <a:off x="1590392" y="171266"/>
              <a:ext cx="1317990" cy="400110"/>
            </a:xfrm>
            <a:prstGeom prst="rect">
              <a:avLst/>
            </a:prstGeom>
            <a:solidFill>
              <a:srgbClr val="0070C0"/>
            </a:solidFill>
          </p:spPr>
          <p:txBody>
            <a:bodyPr wrap="none">
              <a:spAutoFit/>
            </a:bodyPr>
            <a:lstStyle/>
            <a:p>
              <a:r>
                <a:rPr lang="en-IN" sz="2000" dirty="0">
                  <a:solidFill>
                    <a:schemeClr val="bg1"/>
                  </a:solidFill>
                  <a:latin typeface="Bahnschrift" pitchFamily="34" charset="0"/>
                </a:rPr>
                <a:t>Matplotlib</a:t>
              </a:r>
            </a:p>
          </p:txBody>
        </p:sp>
        <p:sp>
          <p:nvSpPr>
            <p:cNvPr id="3" name="Left Brace 2"/>
            <p:cNvSpPr/>
            <p:nvPr/>
          </p:nvSpPr>
          <p:spPr>
            <a:xfrm>
              <a:off x="1512668" y="83399"/>
              <a:ext cx="155448" cy="60883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ight Brace 4"/>
            <p:cNvSpPr/>
            <p:nvPr/>
          </p:nvSpPr>
          <p:spPr>
            <a:xfrm>
              <a:off x="2830122" y="72611"/>
              <a:ext cx="156520" cy="619623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2171127" y="1006824"/>
            <a:ext cx="5301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It is python library and used for data visualization </a:t>
            </a:r>
            <a:endParaRPr lang="en-IN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1123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71133" y="22675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4056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20900</TotalTime>
  <Words>164</Words>
  <Application>Microsoft Office PowerPoint</Application>
  <PresentationFormat>Custom</PresentationFormat>
  <Paragraphs>37</Paragraphs>
  <Slides>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977</cp:revision>
  <dcterms:created xsi:type="dcterms:W3CDTF">2024-01-26T15:11:46Z</dcterms:created>
  <dcterms:modified xsi:type="dcterms:W3CDTF">2025-08-05T13:36:28Z</dcterms:modified>
</cp:coreProperties>
</file>