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6"/>
  </p:notesMasterIdLst>
  <p:sldIdLst>
    <p:sldId id="323" r:id="rId2"/>
    <p:sldId id="422" r:id="rId3"/>
    <p:sldId id="465" r:id="rId4"/>
    <p:sldId id="472" r:id="rId5"/>
    <p:sldId id="471" r:id="rId6"/>
    <p:sldId id="473" r:id="rId7"/>
    <p:sldId id="421" r:id="rId8"/>
    <p:sldId id="256" r:id="rId9"/>
    <p:sldId id="464" r:id="rId10"/>
    <p:sldId id="424" r:id="rId11"/>
    <p:sldId id="428" r:id="rId12"/>
    <p:sldId id="474" r:id="rId13"/>
    <p:sldId id="475" r:id="rId14"/>
    <p:sldId id="476" r:id="rId15"/>
    <p:sldId id="477" r:id="rId16"/>
    <p:sldId id="462" r:id="rId17"/>
    <p:sldId id="453" r:id="rId18"/>
    <p:sldId id="455" r:id="rId19"/>
    <p:sldId id="460" r:id="rId20"/>
    <p:sldId id="437" r:id="rId21"/>
    <p:sldId id="457" r:id="rId22"/>
    <p:sldId id="441" r:id="rId23"/>
    <p:sldId id="458" r:id="rId24"/>
    <p:sldId id="439"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dex" id="{4AF63CAD-5AC8-4C27-8037-7CE6C2A54643}">
          <p14:sldIdLst>
            <p14:sldId id="323"/>
          </p14:sldIdLst>
        </p14:section>
        <p14:section name="Terminalogy" id="{247C6F1E-E022-47F2-A898-33E3DC3F3B43}">
          <p14:sldIdLst>
            <p14:sldId id="422"/>
            <p14:sldId id="465"/>
            <p14:sldId id="472"/>
            <p14:sldId id="471"/>
            <p14:sldId id="473"/>
          </p14:sldIdLst>
        </p14:section>
        <p14:section name="Limitations of Prompt Engineering" id="{CF6CD599-4DA7-42FA-8924-ED652779A5F4}">
          <p14:sldIdLst>
            <p14:sldId id="421"/>
          </p14:sldIdLst>
        </p14:section>
        <p14:section name="Retrieval Augmented Generation" id="{F3D175E1-3114-4D09-9A8E-3B57DFC148A9}">
          <p14:sldIdLst>
            <p14:sldId id="256"/>
            <p14:sldId id="464"/>
            <p14:sldId id="424"/>
          </p14:sldIdLst>
        </p14:section>
        <p14:section name="What problems RAG can Resolve" id="{EB82F113-03F9-48AC-A692-03704DDA6E9A}">
          <p14:sldIdLst>
            <p14:sldId id="428"/>
            <p14:sldId id="474"/>
            <p14:sldId id="475"/>
            <p14:sldId id="476"/>
          </p14:sldIdLst>
        </p14:section>
        <p14:section name="Demerits" id="{FA74080F-F1AC-4000-B433-881F5E420F42}">
          <p14:sldIdLst>
            <p14:sldId id="477"/>
          </p14:sldIdLst>
        </p14:section>
        <p14:section name="Step by Step Approach" id="{3DD339C8-E996-44FA-8B9F-81C9D35DCC4F}">
          <p14:sldIdLst>
            <p14:sldId id="462"/>
          </p14:sldIdLst>
        </p14:section>
        <p14:section name="Chunking" id="{10720E01-23F0-4CB7-AC18-1C25D4B5C8DA}">
          <p14:sldIdLst>
            <p14:sldId id="453"/>
            <p14:sldId id="455"/>
            <p14:sldId id="460"/>
            <p14:sldId id="437"/>
            <p14:sldId id="457"/>
            <p14:sldId id="441"/>
            <p14:sldId id="458"/>
            <p14:sldId id="439"/>
          </p14:sldIdLst>
        </p14:section>
      </p14:sectionLst>
    </p:ext>
    <p:ext uri="{EFAFB233-063F-42B5-8137-9DF3F51BA10A}">
      <p15:sldGuideLst xmlns=""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D7C055"/>
    <a:srgbClr val="F2DB5B"/>
    <a:srgbClr val="64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59639D9-3454-46DB-98F0-5734C90B24A8}" v="162" dt="2024-02-29T03:48:59.932"/>
    <p1510:client id="{51280DD5-E729-4BD7-8A9F-98443B307215}" v="2" dt="2024-02-29T02:44:09.918"/>
    <p1510:client id="{F06999DA-40BE-4997-8D18-97380D22DED5}" v="101" dt="2024-02-29T15:35:34.92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633" autoAdjust="0"/>
    <p:restoredTop sz="86073" autoAdjust="0"/>
  </p:normalViewPr>
  <p:slideViewPr>
    <p:cSldViewPr snapToGrid="0">
      <p:cViewPr>
        <p:scale>
          <a:sx n="69" d="100"/>
          <a:sy n="69" d="100"/>
        </p:scale>
        <p:origin x="-696" y="-204"/>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F58C147-18C2-4D33-BF56-E30CA9229223}" type="datetimeFigureOut">
              <a:rPr lang="en-IN" smtClean="0"/>
              <a:t>30-10-2025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7A3E4B8-F9DF-4F9A-BB59-93920507C31C}" type="slidenum">
              <a:rPr lang="en-IN" smtClean="0"/>
              <a:t>‹#›</a:t>
            </a:fld>
            <a:endParaRPr lang="en-IN"/>
          </a:p>
        </p:txBody>
      </p:sp>
    </p:spTree>
    <p:extLst>
      <p:ext uri="{BB962C8B-B14F-4D97-AF65-F5344CB8AC3E}">
        <p14:creationId xmlns:p14="http://schemas.microsoft.com/office/powerpoint/2010/main" val="14179874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44662A70-DFBD-127F-D5CC-9B0F1A56272C}"/>
            </a:ext>
          </a:extLst>
        </p:cNvPr>
        <p:cNvGrpSpPr/>
        <p:nvPr/>
      </p:nvGrpSpPr>
      <p:grpSpPr>
        <a:xfrm>
          <a:off x="0" y="0"/>
          <a:ext cx="0" cy="0"/>
          <a:chOff x="0" y="0"/>
          <a:chExt cx="0" cy="0"/>
        </a:xfrm>
      </p:grpSpPr>
      <p:sp>
        <p:nvSpPr>
          <p:cNvPr id="2" name="Slide Image Placeholder 1">
            <a:extLst>
              <a:ext uri="{FF2B5EF4-FFF2-40B4-BE49-F238E27FC236}">
                <a16:creationId xmlns="" xmlns:a16="http://schemas.microsoft.com/office/drawing/2014/main" id="{6F420B84-9022-B7D2-9C67-0FDA0433D49D}"/>
              </a:ext>
            </a:extLst>
          </p:cNvPr>
          <p:cNvSpPr>
            <a:spLocks noGrp="1" noRot="1" noChangeAspect="1"/>
          </p:cNvSpPr>
          <p:nvPr>
            <p:ph type="sldImg"/>
          </p:nvPr>
        </p:nvSpPr>
        <p:spPr/>
      </p:sp>
      <p:sp>
        <p:nvSpPr>
          <p:cNvPr id="3" name="Notes Placeholder 2">
            <a:extLst>
              <a:ext uri="{FF2B5EF4-FFF2-40B4-BE49-F238E27FC236}">
                <a16:creationId xmlns="" xmlns:a16="http://schemas.microsoft.com/office/drawing/2014/main" id="{3AC76129-7A35-2EDC-3B76-87ED8A84114D}"/>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 xmlns:a16="http://schemas.microsoft.com/office/drawing/2014/main" id="{2BF5D66A-BD02-F7EA-3FAB-C98B27E37E51}"/>
              </a:ext>
            </a:extLst>
          </p:cNvPr>
          <p:cNvSpPr>
            <a:spLocks noGrp="1"/>
          </p:cNvSpPr>
          <p:nvPr>
            <p:ph type="sldNum" sz="quarter" idx="5"/>
          </p:nvPr>
        </p:nvSpPr>
        <p:spPr/>
        <p:txBody>
          <a:bodyPr/>
          <a:lstStyle/>
          <a:p>
            <a:fld id="{37A3E4B8-F9DF-4F9A-BB59-93920507C31C}" type="slidenum">
              <a:rPr lang="en-IN" smtClean="0"/>
              <a:t>2</a:t>
            </a:fld>
            <a:endParaRPr lang="en-IN"/>
          </a:p>
        </p:txBody>
      </p:sp>
    </p:spTree>
    <p:extLst>
      <p:ext uri="{BB962C8B-B14F-4D97-AF65-F5344CB8AC3E}">
        <p14:creationId xmlns:p14="http://schemas.microsoft.com/office/powerpoint/2010/main" val="18470044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44662A70-DFBD-127F-D5CC-9B0F1A56272C}"/>
            </a:ext>
          </a:extLst>
        </p:cNvPr>
        <p:cNvGrpSpPr/>
        <p:nvPr/>
      </p:nvGrpSpPr>
      <p:grpSpPr>
        <a:xfrm>
          <a:off x="0" y="0"/>
          <a:ext cx="0" cy="0"/>
          <a:chOff x="0" y="0"/>
          <a:chExt cx="0" cy="0"/>
        </a:xfrm>
      </p:grpSpPr>
      <p:sp>
        <p:nvSpPr>
          <p:cNvPr id="2" name="Slide Image Placeholder 1">
            <a:extLst>
              <a:ext uri="{FF2B5EF4-FFF2-40B4-BE49-F238E27FC236}">
                <a16:creationId xmlns="" xmlns:a16="http://schemas.microsoft.com/office/drawing/2014/main" id="{6F420B84-9022-B7D2-9C67-0FDA0433D49D}"/>
              </a:ext>
            </a:extLst>
          </p:cNvPr>
          <p:cNvSpPr>
            <a:spLocks noGrp="1" noRot="1" noChangeAspect="1"/>
          </p:cNvSpPr>
          <p:nvPr>
            <p:ph type="sldImg"/>
          </p:nvPr>
        </p:nvSpPr>
        <p:spPr/>
      </p:sp>
      <p:sp>
        <p:nvSpPr>
          <p:cNvPr id="3" name="Notes Placeholder 2">
            <a:extLst>
              <a:ext uri="{FF2B5EF4-FFF2-40B4-BE49-F238E27FC236}">
                <a16:creationId xmlns="" xmlns:a16="http://schemas.microsoft.com/office/drawing/2014/main" id="{3AC76129-7A35-2EDC-3B76-87ED8A84114D}"/>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 xmlns:a16="http://schemas.microsoft.com/office/drawing/2014/main" id="{2BF5D66A-BD02-F7EA-3FAB-C98B27E37E51}"/>
              </a:ext>
            </a:extLst>
          </p:cNvPr>
          <p:cNvSpPr>
            <a:spLocks noGrp="1"/>
          </p:cNvSpPr>
          <p:nvPr>
            <p:ph type="sldNum" sz="quarter" idx="5"/>
          </p:nvPr>
        </p:nvSpPr>
        <p:spPr/>
        <p:txBody>
          <a:bodyPr/>
          <a:lstStyle/>
          <a:p>
            <a:fld id="{37A3E4B8-F9DF-4F9A-BB59-93920507C31C}" type="slidenum">
              <a:rPr lang="en-IN" smtClean="0"/>
              <a:t>3</a:t>
            </a:fld>
            <a:endParaRPr lang="en-IN"/>
          </a:p>
        </p:txBody>
      </p:sp>
    </p:spTree>
    <p:extLst>
      <p:ext uri="{BB962C8B-B14F-4D97-AF65-F5344CB8AC3E}">
        <p14:creationId xmlns:p14="http://schemas.microsoft.com/office/powerpoint/2010/main" val="18470044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44662A70-DFBD-127F-D5CC-9B0F1A56272C}"/>
            </a:ext>
          </a:extLst>
        </p:cNvPr>
        <p:cNvGrpSpPr/>
        <p:nvPr/>
      </p:nvGrpSpPr>
      <p:grpSpPr>
        <a:xfrm>
          <a:off x="0" y="0"/>
          <a:ext cx="0" cy="0"/>
          <a:chOff x="0" y="0"/>
          <a:chExt cx="0" cy="0"/>
        </a:xfrm>
      </p:grpSpPr>
      <p:sp>
        <p:nvSpPr>
          <p:cNvPr id="2" name="Slide Image Placeholder 1">
            <a:extLst>
              <a:ext uri="{FF2B5EF4-FFF2-40B4-BE49-F238E27FC236}">
                <a16:creationId xmlns="" xmlns:a16="http://schemas.microsoft.com/office/drawing/2014/main" id="{6F420B84-9022-B7D2-9C67-0FDA0433D49D}"/>
              </a:ext>
            </a:extLst>
          </p:cNvPr>
          <p:cNvSpPr>
            <a:spLocks noGrp="1" noRot="1" noChangeAspect="1"/>
          </p:cNvSpPr>
          <p:nvPr>
            <p:ph type="sldImg"/>
          </p:nvPr>
        </p:nvSpPr>
        <p:spPr/>
      </p:sp>
      <p:sp>
        <p:nvSpPr>
          <p:cNvPr id="3" name="Notes Placeholder 2">
            <a:extLst>
              <a:ext uri="{FF2B5EF4-FFF2-40B4-BE49-F238E27FC236}">
                <a16:creationId xmlns="" xmlns:a16="http://schemas.microsoft.com/office/drawing/2014/main" id="{3AC76129-7A35-2EDC-3B76-87ED8A84114D}"/>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 xmlns:a16="http://schemas.microsoft.com/office/drawing/2014/main" id="{2BF5D66A-BD02-F7EA-3FAB-C98B27E37E51}"/>
              </a:ext>
            </a:extLst>
          </p:cNvPr>
          <p:cNvSpPr>
            <a:spLocks noGrp="1"/>
          </p:cNvSpPr>
          <p:nvPr>
            <p:ph type="sldNum" sz="quarter" idx="5"/>
          </p:nvPr>
        </p:nvSpPr>
        <p:spPr/>
        <p:txBody>
          <a:bodyPr/>
          <a:lstStyle/>
          <a:p>
            <a:fld id="{37A3E4B8-F9DF-4F9A-BB59-93920507C31C}" type="slidenum">
              <a:rPr lang="en-IN" smtClean="0"/>
              <a:t>4</a:t>
            </a:fld>
            <a:endParaRPr lang="en-IN"/>
          </a:p>
        </p:txBody>
      </p:sp>
    </p:spTree>
    <p:extLst>
      <p:ext uri="{BB962C8B-B14F-4D97-AF65-F5344CB8AC3E}">
        <p14:creationId xmlns:p14="http://schemas.microsoft.com/office/powerpoint/2010/main" val="18470044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44662A70-DFBD-127F-D5CC-9B0F1A56272C}"/>
            </a:ext>
          </a:extLst>
        </p:cNvPr>
        <p:cNvGrpSpPr/>
        <p:nvPr/>
      </p:nvGrpSpPr>
      <p:grpSpPr>
        <a:xfrm>
          <a:off x="0" y="0"/>
          <a:ext cx="0" cy="0"/>
          <a:chOff x="0" y="0"/>
          <a:chExt cx="0" cy="0"/>
        </a:xfrm>
      </p:grpSpPr>
      <p:sp>
        <p:nvSpPr>
          <p:cNvPr id="2" name="Slide Image Placeholder 1">
            <a:extLst>
              <a:ext uri="{FF2B5EF4-FFF2-40B4-BE49-F238E27FC236}">
                <a16:creationId xmlns="" xmlns:a16="http://schemas.microsoft.com/office/drawing/2014/main" id="{6F420B84-9022-B7D2-9C67-0FDA0433D49D}"/>
              </a:ext>
            </a:extLst>
          </p:cNvPr>
          <p:cNvSpPr>
            <a:spLocks noGrp="1" noRot="1" noChangeAspect="1"/>
          </p:cNvSpPr>
          <p:nvPr>
            <p:ph type="sldImg"/>
          </p:nvPr>
        </p:nvSpPr>
        <p:spPr/>
      </p:sp>
      <p:sp>
        <p:nvSpPr>
          <p:cNvPr id="3" name="Notes Placeholder 2">
            <a:extLst>
              <a:ext uri="{FF2B5EF4-FFF2-40B4-BE49-F238E27FC236}">
                <a16:creationId xmlns="" xmlns:a16="http://schemas.microsoft.com/office/drawing/2014/main" id="{3AC76129-7A35-2EDC-3B76-87ED8A84114D}"/>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 xmlns:a16="http://schemas.microsoft.com/office/drawing/2014/main" id="{2BF5D66A-BD02-F7EA-3FAB-C98B27E37E51}"/>
              </a:ext>
            </a:extLst>
          </p:cNvPr>
          <p:cNvSpPr>
            <a:spLocks noGrp="1"/>
          </p:cNvSpPr>
          <p:nvPr>
            <p:ph type="sldNum" sz="quarter" idx="5"/>
          </p:nvPr>
        </p:nvSpPr>
        <p:spPr/>
        <p:txBody>
          <a:bodyPr/>
          <a:lstStyle/>
          <a:p>
            <a:fld id="{37A3E4B8-F9DF-4F9A-BB59-93920507C31C}" type="slidenum">
              <a:rPr lang="en-IN" smtClean="0"/>
              <a:t>5</a:t>
            </a:fld>
            <a:endParaRPr lang="en-IN"/>
          </a:p>
        </p:txBody>
      </p:sp>
    </p:spTree>
    <p:extLst>
      <p:ext uri="{BB962C8B-B14F-4D97-AF65-F5344CB8AC3E}">
        <p14:creationId xmlns:p14="http://schemas.microsoft.com/office/powerpoint/2010/main" val="18470044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44662A70-DFBD-127F-D5CC-9B0F1A56272C}"/>
            </a:ext>
          </a:extLst>
        </p:cNvPr>
        <p:cNvGrpSpPr/>
        <p:nvPr/>
      </p:nvGrpSpPr>
      <p:grpSpPr>
        <a:xfrm>
          <a:off x="0" y="0"/>
          <a:ext cx="0" cy="0"/>
          <a:chOff x="0" y="0"/>
          <a:chExt cx="0" cy="0"/>
        </a:xfrm>
      </p:grpSpPr>
      <p:sp>
        <p:nvSpPr>
          <p:cNvPr id="2" name="Slide Image Placeholder 1">
            <a:extLst>
              <a:ext uri="{FF2B5EF4-FFF2-40B4-BE49-F238E27FC236}">
                <a16:creationId xmlns="" xmlns:a16="http://schemas.microsoft.com/office/drawing/2014/main" id="{6F420B84-9022-B7D2-9C67-0FDA0433D49D}"/>
              </a:ext>
            </a:extLst>
          </p:cNvPr>
          <p:cNvSpPr>
            <a:spLocks noGrp="1" noRot="1" noChangeAspect="1"/>
          </p:cNvSpPr>
          <p:nvPr>
            <p:ph type="sldImg"/>
          </p:nvPr>
        </p:nvSpPr>
        <p:spPr/>
      </p:sp>
      <p:sp>
        <p:nvSpPr>
          <p:cNvPr id="3" name="Notes Placeholder 2">
            <a:extLst>
              <a:ext uri="{FF2B5EF4-FFF2-40B4-BE49-F238E27FC236}">
                <a16:creationId xmlns="" xmlns:a16="http://schemas.microsoft.com/office/drawing/2014/main" id="{3AC76129-7A35-2EDC-3B76-87ED8A84114D}"/>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 xmlns:a16="http://schemas.microsoft.com/office/drawing/2014/main" id="{2BF5D66A-BD02-F7EA-3FAB-C98B27E37E51}"/>
              </a:ext>
            </a:extLst>
          </p:cNvPr>
          <p:cNvSpPr>
            <a:spLocks noGrp="1"/>
          </p:cNvSpPr>
          <p:nvPr>
            <p:ph type="sldNum" sz="quarter" idx="5"/>
          </p:nvPr>
        </p:nvSpPr>
        <p:spPr/>
        <p:txBody>
          <a:bodyPr/>
          <a:lstStyle/>
          <a:p>
            <a:fld id="{37A3E4B8-F9DF-4F9A-BB59-93920507C31C}" type="slidenum">
              <a:rPr lang="en-IN" smtClean="0"/>
              <a:t>6</a:t>
            </a:fld>
            <a:endParaRPr lang="en-IN"/>
          </a:p>
        </p:txBody>
      </p:sp>
    </p:spTree>
    <p:extLst>
      <p:ext uri="{BB962C8B-B14F-4D97-AF65-F5344CB8AC3E}">
        <p14:creationId xmlns:p14="http://schemas.microsoft.com/office/powerpoint/2010/main" val="184700443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44662A70-DFBD-127F-D5CC-9B0F1A56272C}"/>
            </a:ext>
          </a:extLst>
        </p:cNvPr>
        <p:cNvGrpSpPr/>
        <p:nvPr/>
      </p:nvGrpSpPr>
      <p:grpSpPr>
        <a:xfrm>
          <a:off x="0" y="0"/>
          <a:ext cx="0" cy="0"/>
          <a:chOff x="0" y="0"/>
          <a:chExt cx="0" cy="0"/>
        </a:xfrm>
      </p:grpSpPr>
      <p:sp>
        <p:nvSpPr>
          <p:cNvPr id="2" name="Slide Image Placeholder 1">
            <a:extLst>
              <a:ext uri="{FF2B5EF4-FFF2-40B4-BE49-F238E27FC236}">
                <a16:creationId xmlns="" xmlns:a16="http://schemas.microsoft.com/office/drawing/2014/main" id="{6F420B84-9022-B7D2-9C67-0FDA0433D49D}"/>
              </a:ext>
            </a:extLst>
          </p:cNvPr>
          <p:cNvSpPr>
            <a:spLocks noGrp="1" noRot="1" noChangeAspect="1"/>
          </p:cNvSpPr>
          <p:nvPr>
            <p:ph type="sldImg"/>
          </p:nvPr>
        </p:nvSpPr>
        <p:spPr/>
      </p:sp>
      <p:sp>
        <p:nvSpPr>
          <p:cNvPr id="3" name="Notes Placeholder 2">
            <a:extLst>
              <a:ext uri="{FF2B5EF4-FFF2-40B4-BE49-F238E27FC236}">
                <a16:creationId xmlns="" xmlns:a16="http://schemas.microsoft.com/office/drawing/2014/main" id="{3AC76129-7A35-2EDC-3B76-87ED8A84114D}"/>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 xmlns:a16="http://schemas.microsoft.com/office/drawing/2014/main" id="{2BF5D66A-BD02-F7EA-3FAB-C98B27E37E51}"/>
              </a:ext>
            </a:extLst>
          </p:cNvPr>
          <p:cNvSpPr>
            <a:spLocks noGrp="1"/>
          </p:cNvSpPr>
          <p:nvPr>
            <p:ph type="sldNum" sz="quarter" idx="5"/>
          </p:nvPr>
        </p:nvSpPr>
        <p:spPr/>
        <p:txBody>
          <a:bodyPr/>
          <a:lstStyle/>
          <a:p>
            <a:fld id="{37A3E4B8-F9DF-4F9A-BB59-93920507C31C}" type="slidenum">
              <a:rPr lang="en-IN" smtClean="0"/>
              <a:t>7</a:t>
            </a:fld>
            <a:endParaRPr lang="en-IN"/>
          </a:p>
        </p:txBody>
      </p:sp>
    </p:spTree>
    <p:extLst>
      <p:ext uri="{BB962C8B-B14F-4D97-AF65-F5344CB8AC3E}">
        <p14:creationId xmlns:p14="http://schemas.microsoft.com/office/powerpoint/2010/main" val="344282644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44662A70-DFBD-127F-D5CC-9B0F1A56272C}"/>
            </a:ext>
          </a:extLst>
        </p:cNvPr>
        <p:cNvGrpSpPr/>
        <p:nvPr/>
      </p:nvGrpSpPr>
      <p:grpSpPr>
        <a:xfrm>
          <a:off x="0" y="0"/>
          <a:ext cx="0" cy="0"/>
          <a:chOff x="0" y="0"/>
          <a:chExt cx="0" cy="0"/>
        </a:xfrm>
      </p:grpSpPr>
      <p:sp>
        <p:nvSpPr>
          <p:cNvPr id="2" name="Slide Image Placeholder 1">
            <a:extLst>
              <a:ext uri="{FF2B5EF4-FFF2-40B4-BE49-F238E27FC236}">
                <a16:creationId xmlns="" xmlns:a16="http://schemas.microsoft.com/office/drawing/2014/main" id="{6F420B84-9022-B7D2-9C67-0FDA0433D49D}"/>
              </a:ext>
            </a:extLst>
          </p:cNvPr>
          <p:cNvSpPr>
            <a:spLocks noGrp="1" noRot="1" noChangeAspect="1"/>
          </p:cNvSpPr>
          <p:nvPr>
            <p:ph type="sldImg"/>
          </p:nvPr>
        </p:nvSpPr>
        <p:spPr/>
      </p:sp>
      <p:sp>
        <p:nvSpPr>
          <p:cNvPr id="3" name="Notes Placeholder 2">
            <a:extLst>
              <a:ext uri="{FF2B5EF4-FFF2-40B4-BE49-F238E27FC236}">
                <a16:creationId xmlns="" xmlns:a16="http://schemas.microsoft.com/office/drawing/2014/main" id="{3AC76129-7A35-2EDC-3B76-87ED8A84114D}"/>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 xmlns:a16="http://schemas.microsoft.com/office/drawing/2014/main" id="{2BF5D66A-BD02-F7EA-3FAB-C98B27E37E51}"/>
              </a:ext>
            </a:extLst>
          </p:cNvPr>
          <p:cNvSpPr>
            <a:spLocks noGrp="1"/>
          </p:cNvSpPr>
          <p:nvPr>
            <p:ph type="sldNum" sz="quarter" idx="5"/>
          </p:nvPr>
        </p:nvSpPr>
        <p:spPr/>
        <p:txBody>
          <a:bodyPr/>
          <a:lstStyle/>
          <a:p>
            <a:fld id="{37A3E4B8-F9DF-4F9A-BB59-93920507C31C}" type="slidenum">
              <a:rPr lang="en-IN" smtClean="0"/>
              <a:t>9</a:t>
            </a:fld>
            <a:endParaRPr lang="en-IN"/>
          </a:p>
        </p:txBody>
      </p:sp>
    </p:spTree>
    <p:extLst>
      <p:ext uri="{BB962C8B-B14F-4D97-AF65-F5344CB8AC3E}">
        <p14:creationId xmlns:p14="http://schemas.microsoft.com/office/powerpoint/2010/main" val="184700443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44662A70-DFBD-127F-D5CC-9B0F1A56272C}"/>
            </a:ext>
          </a:extLst>
        </p:cNvPr>
        <p:cNvGrpSpPr/>
        <p:nvPr/>
      </p:nvGrpSpPr>
      <p:grpSpPr>
        <a:xfrm>
          <a:off x="0" y="0"/>
          <a:ext cx="0" cy="0"/>
          <a:chOff x="0" y="0"/>
          <a:chExt cx="0" cy="0"/>
        </a:xfrm>
      </p:grpSpPr>
      <p:sp>
        <p:nvSpPr>
          <p:cNvPr id="2" name="Slide Image Placeholder 1">
            <a:extLst>
              <a:ext uri="{FF2B5EF4-FFF2-40B4-BE49-F238E27FC236}">
                <a16:creationId xmlns="" xmlns:a16="http://schemas.microsoft.com/office/drawing/2014/main" id="{6F420B84-9022-B7D2-9C67-0FDA0433D49D}"/>
              </a:ext>
            </a:extLst>
          </p:cNvPr>
          <p:cNvSpPr>
            <a:spLocks noGrp="1" noRot="1" noChangeAspect="1"/>
          </p:cNvSpPr>
          <p:nvPr>
            <p:ph type="sldImg"/>
          </p:nvPr>
        </p:nvSpPr>
        <p:spPr/>
      </p:sp>
      <p:sp>
        <p:nvSpPr>
          <p:cNvPr id="3" name="Notes Placeholder 2">
            <a:extLst>
              <a:ext uri="{FF2B5EF4-FFF2-40B4-BE49-F238E27FC236}">
                <a16:creationId xmlns="" xmlns:a16="http://schemas.microsoft.com/office/drawing/2014/main" id="{3AC76129-7A35-2EDC-3B76-87ED8A84114D}"/>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 xmlns:a16="http://schemas.microsoft.com/office/drawing/2014/main" id="{2BF5D66A-BD02-F7EA-3FAB-C98B27E37E51}"/>
              </a:ext>
            </a:extLst>
          </p:cNvPr>
          <p:cNvSpPr>
            <a:spLocks noGrp="1"/>
          </p:cNvSpPr>
          <p:nvPr>
            <p:ph type="sldNum" sz="quarter" idx="5"/>
          </p:nvPr>
        </p:nvSpPr>
        <p:spPr/>
        <p:txBody>
          <a:bodyPr/>
          <a:lstStyle/>
          <a:p>
            <a:fld id="{37A3E4B8-F9DF-4F9A-BB59-93920507C31C}" type="slidenum">
              <a:rPr lang="en-IN" smtClean="0"/>
              <a:t>10</a:t>
            </a:fld>
            <a:endParaRPr lang="en-IN"/>
          </a:p>
        </p:txBody>
      </p:sp>
    </p:spTree>
    <p:extLst>
      <p:ext uri="{BB962C8B-B14F-4D97-AF65-F5344CB8AC3E}">
        <p14:creationId xmlns:p14="http://schemas.microsoft.com/office/powerpoint/2010/main" val="346230351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44662A70-DFBD-127F-D5CC-9B0F1A56272C}"/>
            </a:ext>
          </a:extLst>
        </p:cNvPr>
        <p:cNvGrpSpPr/>
        <p:nvPr/>
      </p:nvGrpSpPr>
      <p:grpSpPr>
        <a:xfrm>
          <a:off x="0" y="0"/>
          <a:ext cx="0" cy="0"/>
          <a:chOff x="0" y="0"/>
          <a:chExt cx="0" cy="0"/>
        </a:xfrm>
      </p:grpSpPr>
      <p:sp>
        <p:nvSpPr>
          <p:cNvPr id="2" name="Slide Image Placeholder 1">
            <a:extLst>
              <a:ext uri="{FF2B5EF4-FFF2-40B4-BE49-F238E27FC236}">
                <a16:creationId xmlns="" xmlns:a16="http://schemas.microsoft.com/office/drawing/2014/main" id="{6F420B84-9022-B7D2-9C67-0FDA0433D49D}"/>
              </a:ext>
            </a:extLst>
          </p:cNvPr>
          <p:cNvSpPr>
            <a:spLocks noGrp="1" noRot="1" noChangeAspect="1"/>
          </p:cNvSpPr>
          <p:nvPr>
            <p:ph type="sldImg"/>
          </p:nvPr>
        </p:nvSpPr>
        <p:spPr/>
      </p:sp>
      <p:sp>
        <p:nvSpPr>
          <p:cNvPr id="3" name="Notes Placeholder 2">
            <a:extLst>
              <a:ext uri="{FF2B5EF4-FFF2-40B4-BE49-F238E27FC236}">
                <a16:creationId xmlns="" xmlns:a16="http://schemas.microsoft.com/office/drawing/2014/main" id="{3AC76129-7A35-2EDC-3B76-87ED8A84114D}"/>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 xmlns:a16="http://schemas.microsoft.com/office/drawing/2014/main" id="{2BF5D66A-BD02-F7EA-3FAB-C98B27E37E51}"/>
              </a:ext>
            </a:extLst>
          </p:cNvPr>
          <p:cNvSpPr>
            <a:spLocks noGrp="1"/>
          </p:cNvSpPr>
          <p:nvPr>
            <p:ph type="sldNum" sz="quarter" idx="5"/>
          </p:nvPr>
        </p:nvSpPr>
        <p:spPr/>
        <p:txBody>
          <a:bodyPr/>
          <a:lstStyle/>
          <a:p>
            <a:fld id="{37A3E4B8-F9DF-4F9A-BB59-93920507C31C}" type="slidenum">
              <a:rPr lang="en-IN" smtClean="0"/>
              <a:t>11</a:t>
            </a:fld>
            <a:endParaRPr lang="en-IN"/>
          </a:p>
        </p:txBody>
      </p:sp>
    </p:spTree>
    <p:extLst>
      <p:ext uri="{BB962C8B-B14F-4D97-AF65-F5344CB8AC3E}">
        <p14:creationId xmlns:p14="http://schemas.microsoft.com/office/powerpoint/2010/main" val="17749669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44662A70-DFBD-127F-D5CC-9B0F1A56272C}"/>
            </a:ext>
          </a:extLst>
        </p:cNvPr>
        <p:cNvGrpSpPr/>
        <p:nvPr/>
      </p:nvGrpSpPr>
      <p:grpSpPr>
        <a:xfrm>
          <a:off x="0" y="0"/>
          <a:ext cx="0" cy="0"/>
          <a:chOff x="0" y="0"/>
          <a:chExt cx="0" cy="0"/>
        </a:xfrm>
      </p:grpSpPr>
      <p:sp>
        <p:nvSpPr>
          <p:cNvPr id="2" name="Slide Image Placeholder 1">
            <a:extLst>
              <a:ext uri="{FF2B5EF4-FFF2-40B4-BE49-F238E27FC236}">
                <a16:creationId xmlns="" xmlns:a16="http://schemas.microsoft.com/office/drawing/2014/main" id="{6F420B84-9022-B7D2-9C67-0FDA0433D49D}"/>
              </a:ext>
            </a:extLst>
          </p:cNvPr>
          <p:cNvSpPr>
            <a:spLocks noGrp="1" noRot="1" noChangeAspect="1"/>
          </p:cNvSpPr>
          <p:nvPr>
            <p:ph type="sldImg"/>
          </p:nvPr>
        </p:nvSpPr>
        <p:spPr/>
      </p:sp>
      <p:sp>
        <p:nvSpPr>
          <p:cNvPr id="3" name="Notes Placeholder 2">
            <a:extLst>
              <a:ext uri="{FF2B5EF4-FFF2-40B4-BE49-F238E27FC236}">
                <a16:creationId xmlns="" xmlns:a16="http://schemas.microsoft.com/office/drawing/2014/main" id="{3AC76129-7A35-2EDC-3B76-87ED8A84114D}"/>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 xmlns:a16="http://schemas.microsoft.com/office/drawing/2014/main" id="{2BF5D66A-BD02-F7EA-3FAB-C98B27E37E51}"/>
              </a:ext>
            </a:extLst>
          </p:cNvPr>
          <p:cNvSpPr>
            <a:spLocks noGrp="1"/>
          </p:cNvSpPr>
          <p:nvPr>
            <p:ph type="sldNum" sz="quarter" idx="5"/>
          </p:nvPr>
        </p:nvSpPr>
        <p:spPr/>
        <p:txBody>
          <a:bodyPr/>
          <a:lstStyle/>
          <a:p>
            <a:fld id="{37A3E4B8-F9DF-4F9A-BB59-93920507C31C}" type="slidenum">
              <a:rPr lang="en-IN" smtClean="0"/>
              <a:t>12</a:t>
            </a:fld>
            <a:endParaRPr lang="en-IN"/>
          </a:p>
        </p:txBody>
      </p:sp>
    </p:spTree>
    <p:extLst>
      <p:ext uri="{BB962C8B-B14F-4D97-AF65-F5344CB8AC3E}">
        <p14:creationId xmlns:p14="http://schemas.microsoft.com/office/powerpoint/2010/main" val="17749669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44662A70-DFBD-127F-D5CC-9B0F1A56272C}"/>
            </a:ext>
          </a:extLst>
        </p:cNvPr>
        <p:cNvGrpSpPr/>
        <p:nvPr/>
      </p:nvGrpSpPr>
      <p:grpSpPr>
        <a:xfrm>
          <a:off x="0" y="0"/>
          <a:ext cx="0" cy="0"/>
          <a:chOff x="0" y="0"/>
          <a:chExt cx="0" cy="0"/>
        </a:xfrm>
      </p:grpSpPr>
      <p:sp>
        <p:nvSpPr>
          <p:cNvPr id="2" name="Slide Image Placeholder 1">
            <a:extLst>
              <a:ext uri="{FF2B5EF4-FFF2-40B4-BE49-F238E27FC236}">
                <a16:creationId xmlns="" xmlns:a16="http://schemas.microsoft.com/office/drawing/2014/main" id="{6F420B84-9022-B7D2-9C67-0FDA0433D49D}"/>
              </a:ext>
            </a:extLst>
          </p:cNvPr>
          <p:cNvSpPr>
            <a:spLocks noGrp="1" noRot="1" noChangeAspect="1"/>
          </p:cNvSpPr>
          <p:nvPr>
            <p:ph type="sldImg"/>
          </p:nvPr>
        </p:nvSpPr>
        <p:spPr/>
      </p:sp>
      <p:sp>
        <p:nvSpPr>
          <p:cNvPr id="3" name="Notes Placeholder 2">
            <a:extLst>
              <a:ext uri="{FF2B5EF4-FFF2-40B4-BE49-F238E27FC236}">
                <a16:creationId xmlns="" xmlns:a16="http://schemas.microsoft.com/office/drawing/2014/main" id="{3AC76129-7A35-2EDC-3B76-87ED8A84114D}"/>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 xmlns:a16="http://schemas.microsoft.com/office/drawing/2014/main" id="{2BF5D66A-BD02-F7EA-3FAB-C98B27E37E51}"/>
              </a:ext>
            </a:extLst>
          </p:cNvPr>
          <p:cNvSpPr>
            <a:spLocks noGrp="1"/>
          </p:cNvSpPr>
          <p:nvPr>
            <p:ph type="sldNum" sz="quarter" idx="5"/>
          </p:nvPr>
        </p:nvSpPr>
        <p:spPr/>
        <p:txBody>
          <a:bodyPr/>
          <a:lstStyle/>
          <a:p>
            <a:fld id="{37A3E4B8-F9DF-4F9A-BB59-93920507C31C}" type="slidenum">
              <a:rPr lang="en-IN" smtClean="0"/>
              <a:t>13</a:t>
            </a:fld>
            <a:endParaRPr lang="en-IN"/>
          </a:p>
        </p:txBody>
      </p:sp>
    </p:spTree>
    <p:extLst>
      <p:ext uri="{BB962C8B-B14F-4D97-AF65-F5344CB8AC3E}">
        <p14:creationId xmlns:p14="http://schemas.microsoft.com/office/powerpoint/2010/main" val="17749669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44662A70-DFBD-127F-D5CC-9B0F1A56272C}"/>
            </a:ext>
          </a:extLst>
        </p:cNvPr>
        <p:cNvGrpSpPr/>
        <p:nvPr/>
      </p:nvGrpSpPr>
      <p:grpSpPr>
        <a:xfrm>
          <a:off x="0" y="0"/>
          <a:ext cx="0" cy="0"/>
          <a:chOff x="0" y="0"/>
          <a:chExt cx="0" cy="0"/>
        </a:xfrm>
      </p:grpSpPr>
      <p:sp>
        <p:nvSpPr>
          <p:cNvPr id="2" name="Slide Image Placeholder 1">
            <a:extLst>
              <a:ext uri="{FF2B5EF4-FFF2-40B4-BE49-F238E27FC236}">
                <a16:creationId xmlns="" xmlns:a16="http://schemas.microsoft.com/office/drawing/2014/main" id="{6F420B84-9022-B7D2-9C67-0FDA0433D49D}"/>
              </a:ext>
            </a:extLst>
          </p:cNvPr>
          <p:cNvSpPr>
            <a:spLocks noGrp="1" noRot="1" noChangeAspect="1"/>
          </p:cNvSpPr>
          <p:nvPr>
            <p:ph type="sldImg"/>
          </p:nvPr>
        </p:nvSpPr>
        <p:spPr/>
      </p:sp>
      <p:sp>
        <p:nvSpPr>
          <p:cNvPr id="3" name="Notes Placeholder 2">
            <a:extLst>
              <a:ext uri="{FF2B5EF4-FFF2-40B4-BE49-F238E27FC236}">
                <a16:creationId xmlns="" xmlns:a16="http://schemas.microsoft.com/office/drawing/2014/main" id="{3AC76129-7A35-2EDC-3B76-87ED8A84114D}"/>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 xmlns:a16="http://schemas.microsoft.com/office/drawing/2014/main" id="{2BF5D66A-BD02-F7EA-3FAB-C98B27E37E51}"/>
              </a:ext>
            </a:extLst>
          </p:cNvPr>
          <p:cNvSpPr>
            <a:spLocks noGrp="1"/>
          </p:cNvSpPr>
          <p:nvPr>
            <p:ph type="sldNum" sz="quarter" idx="5"/>
          </p:nvPr>
        </p:nvSpPr>
        <p:spPr/>
        <p:txBody>
          <a:bodyPr/>
          <a:lstStyle/>
          <a:p>
            <a:fld id="{37A3E4B8-F9DF-4F9A-BB59-93920507C31C}" type="slidenum">
              <a:rPr lang="en-IN" smtClean="0"/>
              <a:t>14</a:t>
            </a:fld>
            <a:endParaRPr lang="en-IN"/>
          </a:p>
        </p:txBody>
      </p:sp>
    </p:spTree>
    <p:extLst>
      <p:ext uri="{BB962C8B-B14F-4D97-AF65-F5344CB8AC3E}">
        <p14:creationId xmlns:p14="http://schemas.microsoft.com/office/powerpoint/2010/main" val="17749669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44662A70-DFBD-127F-D5CC-9B0F1A56272C}"/>
            </a:ext>
          </a:extLst>
        </p:cNvPr>
        <p:cNvGrpSpPr/>
        <p:nvPr/>
      </p:nvGrpSpPr>
      <p:grpSpPr>
        <a:xfrm>
          <a:off x="0" y="0"/>
          <a:ext cx="0" cy="0"/>
          <a:chOff x="0" y="0"/>
          <a:chExt cx="0" cy="0"/>
        </a:xfrm>
      </p:grpSpPr>
      <p:sp>
        <p:nvSpPr>
          <p:cNvPr id="2" name="Slide Image Placeholder 1">
            <a:extLst>
              <a:ext uri="{FF2B5EF4-FFF2-40B4-BE49-F238E27FC236}">
                <a16:creationId xmlns="" xmlns:a16="http://schemas.microsoft.com/office/drawing/2014/main" id="{6F420B84-9022-B7D2-9C67-0FDA0433D49D}"/>
              </a:ext>
            </a:extLst>
          </p:cNvPr>
          <p:cNvSpPr>
            <a:spLocks noGrp="1" noRot="1" noChangeAspect="1"/>
          </p:cNvSpPr>
          <p:nvPr>
            <p:ph type="sldImg"/>
          </p:nvPr>
        </p:nvSpPr>
        <p:spPr/>
      </p:sp>
      <p:sp>
        <p:nvSpPr>
          <p:cNvPr id="3" name="Notes Placeholder 2">
            <a:extLst>
              <a:ext uri="{FF2B5EF4-FFF2-40B4-BE49-F238E27FC236}">
                <a16:creationId xmlns="" xmlns:a16="http://schemas.microsoft.com/office/drawing/2014/main" id="{3AC76129-7A35-2EDC-3B76-87ED8A84114D}"/>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 xmlns:a16="http://schemas.microsoft.com/office/drawing/2014/main" id="{2BF5D66A-BD02-F7EA-3FAB-C98B27E37E51}"/>
              </a:ext>
            </a:extLst>
          </p:cNvPr>
          <p:cNvSpPr>
            <a:spLocks noGrp="1"/>
          </p:cNvSpPr>
          <p:nvPr>
            <p:ph type="sldNum" sz="quarter" idx="5"/>
          </p:nvPr>
        </p:nvSpPr>
        <p:spPr/>
        <p:txBody>
          <a:bodyPr/>
          <a:lstStyle/>
          <a:p>
            <a:fld id="{37A3E4B8-F9DF-4F9A-BB59-93920507C31C}" type="slidenum">
              <a:rPr lang="en-IN" smtClean="0"/>
              <a:t>15</a:t>
            </a:fld>
            <a:endParaRPr lang="en-IN"/>
          </a:p>
        </p:txBody>
      </p:sp>
    </p:spTree>
    <p:extLst>
      <p:ext uri="{BB962C8B-B14F-4D97-AF65-F5344CB8AC3E}">
        <p14:creationId xmlns:p14="http://schemas.microsoft.com/office/powerpoint/2010/main" val="17749669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44662A70-DFBD-127F-D5CC-9B0F1A56272C}"/>
            </a:ext>
          </a:extLst>
        </p:cNvPr>
        <p:cNvGrpSpPr/>
        <p:nvPr/>
      </p:nvGrpSpPr>
      <p:grpSpPr>
        <a:xfrm>
          <a:off x="0" y="0"/>
          <a:ext cx="0" cy="0"/>
          <a:chOff x="0" y="0"/>
          <a:chExt cx="0" cy="0"/>
        </a:xfrm>
      </p:grpSpPr>
      <p:sp>
        <p:nvSpPr>
          <p:cNvPr id="2" name="Slide Image Placeholder 1">
            <a:extLst>
              <a:ext uri="{FF2B5EF4-FFF2-40B4-BE49-F238E27FC236}">
                <a16:creationId xmlns="" xmlns:a16="http://schemas.microsoft.com/office/drawing/2014/main" id="{6F420B84-9022-B7D2-9C67-0FDA0433D49D}"/>
              </a:ext>
            </a:extLst>
          </p:cNvPr>
          <p:cNvSpPr>
            <a:spLocks noGrp="1" noRot="1" noChangeAspect="1"/>
          </p:cNvSpPr>
          <p:nvPr>
            <p:ph type="sldImg"/>
          </p:nvPr>
        </p:nvSpPr>
        <p:spPr/>
      </p:sp>
      <p:sp>
        <p:nvSpPr>
          <p:cNvPr id="3" name="Notes Placeholder 2">
            <a:extLst>
              <a:ext uri="{FF2B5EF4-FFF2-40B4-BE49-F238E27FC236}">
                <a16:creationId xmlns="" xmlns:a16="http://schemas.microsoft.com/office/drawing/2014/main" id="{3AC76129-7A35-2EDC-3B76-87ED8A84114D}"/>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 xmlns:a16="http://schemas.microsoft.com/office/drawing/2014/main" id="{2BF5D66A-BD02-F7EA-3FAB-C98B27E37E51}"/>
              </a:ext>
            </a:extLst>
          </p:cNvPr>
          <p:cNvSpPr>
            <a:spLocks noGrp="1"/>
          </p:cNvSpPr>
          <p:nvPr>
            <p:ph type="sldNum" sz="quarter" idx="5"/>
          </p:nvPr>
        </p:nvSpPr>
        <p:spPr/>
        <p:txBody>
          <a:bodyPr/>
          <a:lstStyle/>
          <a:p>
            <a:fld id="{37A3E4B8-F9DF-4F9A-BB59-93920507C31C}" type="slidenum">
              <a:rPr lang="en-IN" smtClean="0"/>
              <a:t>16</a:t>
            </a:fld>
            <a:endParaRPr lang="en-IN"/>
          </a:p>
        </p:txBody>
      </p:sp>
    </p:spTree>
    <p:extLst>
      <p:ext uri="{BB962C8B-B14F-4D97-AF65-F5344CB8AC3E}">
        <p14:creationId xmlns:p14="http://schemas.microsoft.com/office/powerpoint/2010/main" val="177549122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Modify this diagram</a:t>
            </a:r>
          </a:p>
        </p:txBody>
      </p:sp>
      <p:sp>
        <p:nvSpPr>
          <p:cNvPr id="4" name="Slide Number Placeholder 3"/>
          <p:cNvSpPr>
            <a:spLocks noGrp="1"/>
          </p:cNvSpPr>
          <p:nvPr>
            <p:ph type="sldNum" sz="quarter" idx="5"/>
          </p:nvPr>
        </p:nvSpPr>
        <p:spPr/>
        <p:txBody>
          <a:bodyPr/>
          <a:lstStyle/>
          <a:p>
            <a:fld id="{37A3E4B8-F9DF-4F9A-BB59-93920507C31C}" type="slidenum">
              <a:rPr lang="en-IN" smtClean="0"/>
              <a:t>17</a:t>
            </a:fld>
            <a:endParaRPr lang="en-IN"/>
          </a:p>
        </p:txBody>
      </p:sp>
    </p:spTree>
    <p:extLst>
      <p:ext uri="{BB962C8B-B14F-4D97-AF65-F5344CB8AC3E}">
        <p14:creationId xmlns:p14="http://schemas.microsoft.com/office/powerpoint/2010/main" val="150106559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Modify this diagram</a:t>
            </a:r>
          </a:p>
        </p:txBody>
      </p:sp>
      <p:sp>
        <p:nvSpPr>
          <p:cNvPr id="4" name="Slide Number Placeholder 3"/>
          <p:cNvSpPr>
            <a:spLocks noGrp="1"/>
          </p:cNvSpPr>
          <p:nvPr>
            <p:ph type="sldNum" sz="quarter" idx="5"/>
          </p:nvPr>
        </p:nvSpPr>
        <p:spPr/>
        <p:txBody>
          <a:bodyPr/>
          <a:lstStyle/>
          <a:p>
            <a:fld id="{37A3E4B8-F9DF-4F9A-BB59-93920507C31C}" type="slidenum">
              <a:rPr lang="en-IN" smtClean="0"/>
              <a:t>18</a:t>
            </a:fld>
            <a:endParaRPr lang="en-IN"/>
          </a:p>
        </p:txBody>
      </p:sp>
    </p:spTree>
    <p:extLst>
      <p:ext uri="{BB962C8B-B14F-4D97-AF65-F5344CB8AC3E}">
        <p14:creationId xmlns:p14="http://schemas.microsoft.com/office/powerpoint/2010/main" val="2629447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Modify this diagram</a:t>
            </a:r>
          </a:p>
        </p:txBody>
      </p:sp>
      <p:sp>
        <p:nvSpPr>
          <p:cNvPr id="4" name="Slide Number Placeholder 3"/>
          <p:cNvSpPr>
            <a:spLocks noGrp="1"/>
          </p:cNvSpPr>
          <p:nvPr>
            <p:ph type="sldNum" sz="quarter" idx="5"/>
          </p:nvPr>
        </p:nvSpPr>
        <p:spPr/>
        <p:txBody>
          <a:bodyPr/>
          <a:lstStyle/>
          <a:p>
            <a:fld id="{37A3E4B8-F9DF-4F9A-BB59-93920507C31C}" type="slidenum">
              <a:rPr lang="en-IN" smtClean="0"/>
              <a:t>19</a:t>
            </a:fld>
            <a:endParaRPr lang="en-IN"/>
          </a:p>
        </p:txBody>
      </p:sp>
    </p:spTree>
    <p:extLst>
      <p:ext uri="{BB962C8B-B14F-4D97-AF65-F5344CB8AC3E}">
        <p14:creationId xmlns:p14="http://schemas.microsoft.com/office/powerpoint/2010/main" val="272986840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Content: https://www.linkedin.com/pulse/chunking-strategies-ai-data-kash-kashyap-0lghe/</a:t>
            </a:r>
          </a:p>
          <a:p>
            <a:r>
              <a:rPr lang="en-IN" dirty="0"/>
              <a:t>Code: https://medium.com/@thallyscostalat/chunking-strategies-optimization-for-retrieval-augmented-generation-rag-in-the-context-of-e47cc949931d</a:t>
            </a:r>
          </a:p>
        </p:txBody>
      </p:sp>
      <p:sp>
        <p:nvSpPr>
          <p:cNvPr id="4" name="Slide Number Placeholder 3"/>
          <p:cNvSpPr>
            <a:spLocks noGrp="1"/>
          </p:cNvSpPr>
          <p:nvPr>
            <p:ph type="sldNum" sz="quarter" idx="5"/>
          </p:nvPr>
        </p:nvSpPr>
        <p:spPr/>
        <p:txBody>
          <a:bodyPr/>
          <a:lstStyle/>
          <a:p>
            <a:fld id="{37A3E4B8-F9DF-4F9A-BB59-93920507C31C}" type="slidenum">
              <a:rPr lang="en-IN" smtClean="0"/>
              <a:t>20</a:t>
            </a:fld>
            <a:endParaRPr lang="en-IN"/>
          </a:p>
        </p:txBody>
      </p:sp>
    </p:spTree>
    <p:extLst>
      <p:ext uri="{BB962C8B-B14F-4D97-AF65-F5344CB8AC3E}">
        <p14:creationId xmlns:p14="http://schemas.microsoft.com/office/powerpoint/2010/main" val="54753862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Modify this diagram</a:t>
            </a:r>
          </a:p>
        </p:txBody>
      </p:sp>
      <p:sp>
        <p:nvSpPr>
          <p:cNvPr id="4" name="Slide Number Placeholder 3"/>
          <p:cNvSpPr>
            <a:spLocks noGrp="1"/>
          </p:cNvSpPr>
          <p:nvPr>
            <p:ph type="sldNum" sz="quarter" idx="5"/>
          </p:nvPr>
        </p:nvSpPr>
        <p:spPr/>
        <p:txBody>
          <a:bodyPr/>
          <a:lstStyle/>
          <a:p>
            <a:fld id="{37A3E4B8-F9DF-4F9A-BB59-93920507C31C}" type="slidenum">
              <a:rPr lang="en-IN" smtClean="0"/>
              <a:t>21</a:t>
            </a:fld>
            <a:endParaRPr lang="en-IN"/>
          </a:p>
        </p:txBody>
      </p:sp>
    </p:spTree>
    <p:extLst>
      <p:ext uri="{BB962C8B-B14F-4D97-AF65-F5344CB8AC3E}">
        <p14:creationId xmlns:p14="http://schemas.microsoft.com/office/powerpoint/2010/main" val="17020737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Content: https://www.linkedin.com/pulse/chunking-strategies-ai-data-kash-kashyap-0lghe/</a:t>
            </a:r>
          </a:p>
          <a:p>
            <a:endParaRPr lang="en-IN" dirty="0"/>
          </a:p>
        </p:txBody>
      </p:sp>
      <p:sp>
        <p:nvSpPr>
          <p:cNvPr id="4" name="Slide Number Placeholder 3"/>
          <p:cNvSpPr>
            <a:spLocks noGrp="1"/>
          </p:cNvSpPr>
          <p:nvPr>
            <p:ph type="sldNum" sz="quarter" idx="5"/>
          </p:nvPr>
        </p:nvSpPr>
        <p:spPr/>
        <p:txBody>
          <a:bodyPr/>
          <a:lstStyle/>
          <a:p>
            <a:fld id="{37A3E4B8-F9DF-4F9A-BB59-93920507C31C}" type="slidenum">
              <a:rPr lang="en-IN" smtClean="0"/>
              <a:t>22</a:t>
            </a:fld>
            <a:endParaRPr lang="en-IN"/>
          </a:p>
        </p:txBody>
      </p:sp>
    </p:spTree>
    <p:extLst>
      <p:ext uri="{BB962C8B-B14F-4D97-AF65-F5344CB8AC3E}">
        <p14:creationId xmlns:p14="http://schemas.microsoft.com/office/powerpoint/2010/main" val="296957672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Modify this diagram</a:t>
            </a:r>
          </a:p>
        </p:txBody>
      </p:sp>
      <p:sp>
        <p:nvSpPr>
          <p:cNvPr id="4" name="Slide Number Placeholder 3"/>
          <p:cNvSpPr>
            <a:spLocks noGrp="1"/>
          </p:cNvSpPr>
          <p:nvPr>
            <p:ph type="sldNum" sz="quarter" idx="5"/>
          </p:nvPr>
        </p:nvSpPr>
        <p:spPr/>
        <p:txBody>
          <a:bodyPr/>
          <a:lstStyle/>
          <a:p>
            <a:fld id="{37A3E4B8-F9DF-4F9A-BB59-93920507C31C}" type="slidenum">
              <a:rPr lang="en-IN" smtClean="0"/>
              <a:t>23</a:t>
            </a:fld>
            <a:endParaRPr lang="en-IN"/>
          </a:p>
        </p:txBody>
      </p:sp>
    </p:spTree>
    <p:extLst>
      <p:ext uri="{BB962C8B-B14F-4D97-AF65-F5344CB8AC3E}">
        <p14:creationId xmlns:p14="http://schemas.microsoft.com/office/powerpoint/2010/main" val="356970745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Content: https://www.linkedin.com/pulse/chunking-strategies-ai-data-kash-kashyap-0lghe/</a:t>
            </a:r>
          </a:p>
          <a:p>
            <a:endParaRPr lang="en-IN" dirty="0"/>
          </a:p>
        </p:txBody>
      </p:sp>
      <p:sp>
        <p:nvSpPr>
          <p:cNvPr id="4" name="Slide Number Placeholder 3"/>
          <p:cNvSpPr>
            <a:spLocks noGrp="1"/>
          </p:cNvSpPr>
          <p:nvPr>
            <p:ph type="sldNum" sz="quarter" idx="5"/>
          </p:nvPr>
        </p:nvSpPr>
        <p:spPr/>
        <p:txBody>
          <a:bodyPr/>
          <a:lstStyle/>
          <a:p>
            <a:fld id="{37A3E4B8-F9DF-4F9A-BB59-93920507C31C}" type="slidenum">
              <a:rPr lang="en-IN" smtClean="0"/>
              <a:t>24</a:t>
            </a:fld>
            <a:endParaRPr lang="en-IN"/>
          </a:p>
        </p:txBody>
      </p:sp>
    </p:spTree>
    <p:extLst>
      <p:ext uri="{BB962C8B-B14F-4D97-AF65-F5344CB8AC3E}">
        <p14:creationId xmlns:p14="http://schemas.microsoft.com/office/powerpoint/2010/main" val="20322123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AFE4333-EDCB-768D-D694-4FA374C887CA}"/>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 xmlns:a16="http://schemas.microsoft.com/office/drawing/2014/main" id="{6FB8F6BA-A771-5199-B454-4137B42B826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 xmlns:a16="http://schemas.microsoft.com/office/drawing/2014/main" id="{AB8C62A8-5E14-FA7C-D2D9-A91C5617AEE2}"/>
              </a:ext>
            </a:extLst>
          </p:cNvPr>
          <p:cNvSpPr>
            <a:spLocks noGrp="1"/>
          </p:cNvSpPr>
          <p:nvPr>
            <p:ph type="dt" sz="half" idx="10"/>
          </p:nvPr>
        </p:nvSpPr>
        <p:spPr/>
        <p:txBody>
          <a:bodyPr/>
          <a:lstStyle/>
          <a:p>
            <a:fld id="{617C7221-54BD-4A63-8AE7-749436A8A0E0}" type="datetime1">
              <a:rPr lang="en-US" smtClean="0"/>
              <a:t>10/30/2025</a:t>
            </a:fld>
            <a:endParaRPr lang="en-US"/>
          </a:p>
        </p:txBody>
      </p:sp>
      <p:sp>
        <p:nvSpPr>
          <p:cNvPr id="5" name="Footer Placeholder 4">
            <a:extLst>
              <a:ext uri="{FF2B5EF4-FFF2-40B4-BE49-F238E27FC236}">
                <a16:creationId xmlns="" xmlns:a16="http://schemas.microsoft.com/office/drawing/2014/main" id="{EA5CADB1-111D-22D3-EDB1-E043DC323ABF}"/>
              </a:ext>
            </a:extLst>
          </p:cNvPr>
          <p:cNvSpPr>
            <a:spLocks noGrp="1"/>
          </p:cNvSpPr>
          <p:nvPr>
            <p:ph type="ftr" sz="quarter" idx="11"/>
          </p:nvPr>
        </p:nvSpPr>
        <p:spPr/>
        <p:txBody>
          <a:bodyPr/>
          <a:lstStyle/>
          <a:p>
            <a:r>
              <a:rPr lang="en-US"/>
              <a:t>Navigating the Future of Learning​</a:t>
            </a:r>
          </a:p>
        </p:txBody>
      </p:sp>
      <p:sp>
        <p:nvSpPr>
          <p:cNvPr id="6" name="Slide Number Placeholder 5">
            <a:extLst>
              <a:ext uri="{FF2B5EF4-FFF2-40B4-BE49-F238E27FC236}">
                <a16:creationId xmlns="" xmlns:a16="http://schemas.microsoft.com/office/drawing/2014/main" id="{D733105E-4498-96A3-0C5F-A5E579283B92}"/>
              </a:ext>
            </a:extLst>
          </p:cNvPr>
          <p:cNvSpPr>
            <a:spLocks noGrp="1"/>
          </p:cNvSpPr>
          <p:nvPr>
            <p:ph type="sldNum" sz="quarter" idx="12"/>
          </p:nvPr>
        </p:nvSpPr>
        <p:spPr/>
        <p:txBody>
          <a:bodyPr/>
          <a:lstStyle/>
          <a:p>
            <a:fld id="{BA3362F8-88F8-1F49-86F0-D11B2D99FEE0}" type="slidenum">
              <a:rPr lang="en-US" smtClean="0"/>
              <a:t>‹#›</a:t>
            </a:fld>
            <a:endParaRPr lang="en-US"/>
          </a:p>
        </p:txBody>
      </p:sp>
    </p:spTree>
    <p:extLst>
      <p:ext uri="{BB962C8B-B14F-4D97-AF65-F5344CB8AC3E}">
        <p14:creationId xmlns:p14="http://schemas.microsoft.com/office/powerpoint/2010/main" val="26000954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EAE6418-E00D-D82B-5A6A-A2532DB41F10}"/>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 xmlns:a16="http://schemas.microsoft.com/office/drawing/2014/main" id="{F63E6B97-B778-7455-F70C-FD8D34E3F3DF}"/>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 xmlns:a16="http://schemas.microsoft.com/office/drawing/2014/main" id="{34537FB2-C318-A7C1-BABA-0AC6FA5B35AC}"/>
              </a:ext>
            </a:extLst>
          </p:cNvPr>
          <p:cNvSpPr>
            <a:spLocks noGrp="1"/>
          </p:cNvSpPr>
          <p:nvPr>
            <p:ph type="dt" sz="half" idx="10"/>
          </p:nvPr>
        </p:nvSpPr>
        <p:spPr/>
        <p:txBody>
          <a:bodyPr/>
          <a:lstStyle/>
          <a:p>
            <a:fld id="{15296570-B1EA-4487-BE32-F708B8E167B2}" type="datetime1">
              <a:rPr lang="en-US" smtClean="0"/>
              <a:t>10/30/2025</a:t>
            </a:fld>
            <a:endParaRPr lang="en-US"/>
          </a:p>
        </p:txBody>
      </p:sp>
      <p:sp>
        <p:nvSpPr>
          <p:cNvPr id="5" name="Footer Placeholder 4">
            <a:extLst>
              <a:ext uri="{FF2B5EF4-FFF2-40B4-BE49-F238E27FC236}">
                <a16:creationId xmlns="" xmlns:a16="http://schemas.microsoft.com/office/drawing/2014/main" id="{914FC2A1-527D-0AA9-D04D-3D2766CE0E10}"/>
              </a:ext>
            </a:extLst>
          </p:cNvPr>
          <p:cNvSpPr>
            <a:spLocks noGrp="1"/>
          </p:cNvSpPr>
          <p:nvPr>
            <p:ph type="ftr" sz="quarter" idx="11"/>
          </p:nvPr>
        </p:nvSpPr>
        <p:spPr/>
        <p:txBody>
          <a:bodyPr/>
          <a:lstStyle/>
          <a:p>
            <a:r>
              <a:rPr lang="en-US"/>
              <a:t>Navigating the Future of Learning​</a:t>
            </a:r>
          </a:p>
        </p:txBody>
      </p:sp>
      <p:sp>
        <p:nvSpPr>
          <p:cNvPr id="6" name="Slide Number Placeholder 5">
            <a:extLst>
              <a:ext uri="{FF2B5EF4-FFF2-40B4-BE49-F238E27FC236}">
                <a16:creationId xmlns="" xmlns:a16="http://schemas.microsoft.com/office/drawing/2014/main" id="{81000CB2-5293-8DFA-B3B2-A0B592B46511}"/>
              </a:ext>
            </a:extLst>
          </p:cNvPr>
          <p:cNvSpPr>
            <a:spLocks noGrp="1"/>
          </p:cNvSpPr>
          <p:nvPr>
            <p:ph type="sldNum" sz="quarter" idx="12"/>
          </p:nvPr>
        </p:nvSpPr>
        <p:spPr/>
        <p:txBody>
          <a:bodyPr/>
          <a:lstStyle/>
          <a:p>
            <a:fld id="{BA3362F8-88F8-1F49-86F0-D11B2D99FEE0}" type="slidenum">
              <a:rPr lang="en-US" smtClean="0"/>
              <a:t>‹#›</a:t>
            </a:fld>
            <a:endParaRPr lang="en-US"/>
          </a:p>
        </p:txBody>
      </p:sp>
    </p:spTree>
    <p:extLst>
      <p:ext uri="{BB962C8B-B14F-4D97-AF65-F5344CB8AC3E}">
        <p14:creationId xmlns:p14="http://schemas.microsoft.com/office/powerpoint/2010/main" val="28063955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EC1FA87-C082-E0DD-3D37-67F1640E6768}"/>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 xmlns:a16="http://schemas.microsoft.com/office/drawing/2014/main" id="{1B5F515E-EB4A-D143-3D90-D5CB688823B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 xmlns:a16="http://schemas.microsoft.com/office/drawing/2014/main" id="{88B15D29-75FB-CFE9-A973-A208274B95BA}"/>
              </a:ext>
            </a:extLst>
          </p:cNvPr>
          <p:cNvSpPr>
            <a:spLocks noGrp="1"/>
          </p:cNvSpPr>
          <p:nvPr>
            <p:ph type="dt" sz="half" idx="10"/>
          </p:nvPr>
        </p:nvSpPr>
        <p:spPr/>
        <p:txBody>
          <a:bodyPr/>
          <a:lstStyle/>
          <a:p>
            <a:fld id="{4F9442CB-DE38-41A3-9AEC-FC7F477AE398}" type="datetime1">
              <a:rPr lang="en-US" smtClean="0"/>
              <a:t>10/30/2025</a:t>
            </a:fld>
            <a:endParaRPr lang="en-US"/>
          </a:p>
        </p:txBody>
      </p:sp>
      <p:sp>
        <p:nvSpPr>
          <p:cNvPr id="5" name="Footer Placeholder 4">
            <a:extLst>
              <a:ext uri="{FF2B5EF4-FFF2-40B4-BE49-F238E27FC236}">
                <a16:creationId xmlns="" xmlns:a16="http://schemas.microsoft.com/office/drawing/2014/main" id="{E9168659-4604-1E12-A046-E65E9BFA0D3E}"/>
              </a:ext>
            </a:extLst>
          </p:cNvPr>
          <p:cNvSpPr>
            <a:spLocks noGrp="1"/>
          </p:cNvSpPr>
          <p:nvPr>
            <p:ph type="ftr" sz="quarter" idx="11"/>
          </p:nvPr>
        </p:nvSpPr>
        <p:spPr/>
        <p:txBody>
          <a:bodyPr/>
          <a:lstStyle/>
          <a:p>
            <a:r>
              <a:rPr lang="en-US"/>
              <a:t>Navigating the Future of Learning​</a:t>
            </a:r>
          </a:p>
        </p:txBody>
      </p:sp>
      <p:sp>
        <p:nvSpPr>
          <p:cNvPr id="6" name="Slide Number Placeholder 5">
            <a:extLst>
              <a:ext uri="{FF2B5EF4-FFF2-40B4-BE49-F238E27FC236}">
                <a16:creationId xmlns="" xmlns:a16="http://schemas.microsoft.com/office/drawing/2014/main" id="{86A55C1A-5CB6-A517-F4CC-78B642B353A1}"/>
              </a:ext>
            </a:extLst>
          </p:cNvPr>
          <p:cNvSpPr>
            <a:spLocks noGrp="1"/>
          </p:cNvSpPr>
          <p:nvPr>
            <p:ph type="sldNum" sz="quarter" idx="12"/>
          </p:nvPr>
        </p:nvSpPr>
        <p:spPr/>
        <p:txBody>
          <a:bodyPr/>
          <a:lstStyle/>
          <a:p>
            <a:fld id="{BA3362F8-88F8-1F49-86F0-D11B2D99FEE0}" type="slidenum">
              <a:rPr lang="en-US" smtClean="0"/>
              <a:t>‹#›</a:t>
            </a:fld>
            <a:endParaRPr lang="en-US"/>
          </a:p>
        </p:txBody>
      </p:sp>
    </p:spTree>
    <p:extLst>
      <p:ext uri="{BB962C8B-B14F-4D97-AF65-F5344CB8AC3E}">
        <p14:creationId xmlns:p14="http://schemas.microsoft.com/office/powerpoint/2010/main" val="40854734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F354BD7-8381-6AF7-2A34-97F116432198}"/>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 xmlns:a16="http://schemas.microsoft.com/office/drawing/2014/main" id="{745D5CF0-745C-8F39-DDFC-095163A6D86D}"/>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 xmlns:a16="http://schemas.microsoft.com/office/drawing/2014/main" id="{D6F0486A-0B81-6F67-77F7-3933C2505882}"/>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 xmlns:a16="http://schemas.microsoft.com/office/drawing/2014/main" id="{D29CEC8B-FF84-E5F1-CD4B-B7DEE25F0DBA}"/>
              </a:ext>
            </a:extLst>
          </p:cNvPr>
          <p:cNvSpPr>
            <a:spLocks noGrp="1"/>
          </p:cNvSpPr>
          <p:nvPr>
            <p:ph type="dt" sz="half" idx="10"/>
          </p:nvPr>
        </p:nvSpPr>
        <p:spPr/>
        <p:txBody>
          <a:bodyPr/>
          <a:lstStyle/>
          <a:p>
            <a:fld id="{4259B145-4D2C-4B0D-B0F3-3793104D85F9}" type="datetime1">
              <a:rPr lang="en-US" smtClean="0"/>
              <a:t>10/30/2025</a:t>
            </a:fld>
            <a:endParaRPr lang="en-US"/>
          </a:p>
        </p:txBody>
      </p:sp>
      <p:sp>
        <p:nvSpPr>
          <p:cNvPr id="6" name="Footer Placeholder 5">
            <a:extLst>
              <a:ext uri="{FF2B5EF4-FFF2-40B4-BE49-F238E27FC236}">
                <a16:creationId xmlns="" xmlns:a16="http://schemas.microsoft.com/office/drawing/2014/main" id="{083D1157-B890-E7C2-8551-9CFA55DF17F2}"/>
              </a:ext>
            </a:extLst>
          </p:cNvPr>
          <p:cNvSpPr>
            <a:spLocks noGrp="1"/>
          </p:cNvSpPr>
          <p:nvPr>
            <p:ph type="ftr" sz="quarter" idx="11"/>
          </p:nvPr>
        </p:nvSpPr>
        <p:spPr/>
        <p:txBody>
          <a:bodyPr/>
          <a:lstStyle/>
          <a:p>
            <a:r>
              <a:rPr lang="en-US"/>
              <a:t>Navigating the Future of Learning​</a:t>
            </a:r>
          </a:p>
        </p:txBody>
      </p:sp>
      <p:sp>
        <p:nvSpPr>
          <p:cNvPr id="7" name="Slide Number Placeholder 6">
            <a:extLst>
              <a:ext uri="{FF2B5EF4-FFF2-40B4-BE49-F238E27FC236}">
                <a16:creationId xmlns="" xmlns:a16="http://schemas.microsoft.com/office/drawing/2014/main" id="{A6834098-4893-052D-13DF-57AA3726911C}"/>
              </a:ext>
            </a:extLst>
          </p:cNvPr>
          <p:cNvSpPr>
            <a:spLocks noGrp="1"/>
          </p:cNvSpPr>
          <p:nvPr>
            <p:ph type="sldNum" sz="quarter" idx="12"/>
          </p:nvPr>
        </p:nvSpPr>
        <p:spPr/>
        <p:txBody>
          <a:bodyPr/>
          <a:lstStyle/>
          <a:p>
            <a:fld id="{BA3362F8-88F8-1F49-86F0-D11B2D99FEE0}" type="slidenum">
              <a:rPr lang="en-US" smtClean="0"/>
              <a:t>‹#›</a:t>
            </a:fld>
            <a:endParaRPr lang="en-US"/>
          </a:p>
        </p:txBody>
      </p:sp>
    </p:spTree>
    <p:extLst>
      <p:ext uri="{BB962C8B-B14F-4D97-AF65-F5344CB8AC3E}">
        <p14:creationId xmlns:p14="http://schemas.microsoft.com/office/powerpoint/2010/main" val="15038450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195ED4B-5B6D-B5E5-67B7-D97BFC6B16D2}"/>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 xmlns:a16="http://schemas.microsoft.com/office/drawing/2014/main" id="{28083AD3-D8DD-C9C8-4A8D-6E90DEEDCC5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 xmlns:a16="http://schemas.microsoft.com/office/drawing/2014/main" id="{F610F8FC-1E86-8328-5873-1F1FD4540F26}"/>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 xmlns:a16="http://schemas.microsoft.com/office/drawing/2014/main" id="{7171E56A-9B29-8C99-0F9B-DFA73577B4C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 xmlns:a16="http://schemas.microsoft.com/office/drawing/2014/main" id="{31551D20-42E2-AA82-6A29-ED75844F6FA3}"/>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 xmlns:a16="http://schemas.microsoft.com/office/drawing/2014/main" id="{12806B38-A61F-CFF2-455E-2A0DB1CBD281}"/>
              </a:ext>
            </a:extLst>
          </p:cNvPr>
          <p:cNvSpPr>
            <a:spLocks noGrp="1"/>
          </p:cNvSpPr>
          <p:nvPr>
            <p:ph type="dt" sz="half" idx="10"/>
          </p:nvPr>
        </p:nvSpPr>
        <p:spPr/>
        <p:txBody>
          <a:bodyPr/>
          <a:lstStyle/>
          <a:p>
            <a:fld id="{041CBCE3-C8C5-4329-ADE4-5F8D67D78882}" type="datetime1">
              <a:rPr lang="en-US" smtClean="0"/>
              <a:t>10/30/2025</a:t>
            </a:fld>
            <a:endParaRPr lang="en-US"/>
          </a:p>
        </p:txBody>
      </p:sp>
      <p:sp>
        <p:nvSpPr>
          <p:cNvPr id="8" name="Footer Placeholder 7">
            <a:extLst>
              <a:ext uri="{FF2B5EF4-FFF2-40B4-BE49-F238E27FC236}">
                <a16:creationId xmlns="" xmlns:a16="http://schemas.microsoft.com/office/drawing/2014/main" id="{0A1ADB39-BBED-F460-3284-9B01BBA78120}"/>
              </a:ext>
            </a:extLst>
          </p:cNvPr>
          <p:cNvSpPr>
            <a:spLocks noGrp="1"/>
          </p:cNvSpPr>
          <p:nvPr>
            <p:ph type="ftr" sz="quarter" idx="11"/>
          </p:nvPr>
        </p:nvSpPr>
        <p:spPr/>
        <p:txBody>
          <a:bodyPr/>
          <a:lstStyle/>
          <a:p>
            <a:r>
              <a:rPr lang="en-US"/>
              <a:t>Navigating the Future of Learning​</a:t>
            </a:r>
          </a:p>
        </p:txBody>
      </p:sp>
      <p:sp>
        <p:nvSpPr>
          <p:cNvPr id="9" name="Slide Number Placeholder 8">
            <a:extLst>
              <a:ext uri="{FF2B5EF4-FFF2-40B4-BE49-F238E27FC236}">
                <a16:creationId xmlns="" xmlns:a16="http://schemas.microsoft.com/office/drawing/2014/main" id="{BAE78CB4-F5B2-2F08-FCB4-B7EFC7D9B5DD}"/>
              </a:ext>
            </a:extLst>
          </p:cNvPr>
          <p:cNvSpPr>
            <a:spLocks noGrp="1"/>
          </p:cNvSpPr>
          <p:nvPr>
            <p:ph type="sldNum" sz="quarter" idx="12"/>
          </p:nvPr>
        </p:nvSpPr>
        <p:spPr/>
        <p:txBody>
          <a:bodyPr/>
          <a:lstStyle/>
          <a:p>
            <a:fld id="{BA3362F8-88F8-1F49-86F0-D11B2D99FEE0}" type="slidenum">
              <a:rPr lang="en-US" smtClean="0"/>
              <a:t>‹#›</a:t>
            </a:fld>
            <a:endParaRPr lang="en-US"/>
          </a:p>
        </p:txBody>
      </p:sp>
    </p:spTree>
    <p:extLst>
      <p:ext uri="{BB962C8B-B14F-4D97-AF65-F5344CB8AC3E}">
        <p14:creationId xmlns:p14="http://schemas.microsoft.com/office/powerpoint/2010/main" val="17420971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6207DB33-3161-3CA7-5DA9-9AEFA7BE3D99}"/>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 xmlns:a16="http://schemas.microsoft.com/office/drawing/2014/main" id="{1B459199-60FE-8A27-4D17-58FA57F038D5}"/>
              </a:ext>
            </a:extLst>
          </p:cNvPr>
          <p:cNvSpPr>
            <a:spLocks noGrp="1"/>
          </p:cNvSpPr>
          <p:nvPr>
            <p:ph type="dt" sz="half" idx="10"/>
          </p:nvPr>
        </p:nvSpPr>
        <p:spPr/>
        <p:txBody>
          <a:bodyPr/>
          <a:lstStyle/>
          <a:p>
            <a:fld id="{EA95BDD6-391D-4D68-9A24-8E7CE46A4DC4}" type="datetime1">
              <a:rPr lang="en-US" smtClean="0"/>
              <a:t>10/30/2025</a:t>
            </a:fld>
            <a:endParaRPr lang="en-US"/>
          </a:p>
        </p:txBody>
      </p:sp>
      <p:sp>
        <p:nvSpPr>
          <p:cNvPr id="4" name="Footer Placeholder 3">
            <a:extLst>
              <a:ext uri="{FF2B5EF4-FFF2-40B4-BE49-F238E27FC236}">
                <a16:creationId xmlns="" xmlns:a16="http://schemas.microsoft.com/office/drawing/2014/main" id="{9B5772E0-839B-C3B1-7E64-0C8677352A57}"/>
              </a:ext>
            </a:extLst>
          </p:cNvPr>
          <p:cNvSpPr>
            <a:spLocks noGrp="1"/>
          </p:cNvSpPr>
          <p:nvPr>
            <p:ph type="ftr" sz="quarter" idx="11"/>
          </p:nvPr>
        </p:nvSpPr>
        <p:spPr/>
        <p:txBody>
          <a:bodyPr/>
          <a:lstStyle/>
          <a:p>
            <a:r>
              <a:rPr lang="en-US"/>
              <a:t>Navigating the Future of Learning​</a:t>
            </a:r>
          </a:p>
        </p:txBody>
      </p:sp>
      <p:sp>
        <p:nvSpPr>
          <p:cNvPr id="5" name="Slide Number Placeholder 4">
            <a:extLst>
              <a:ext uri="{FF2B5EF4-FFF2-40B4-BE49-F238E27FC236}">
                <a16:creationId xmlns="" xmlns:a16="http://schemas.microsoft.com/office/drawing/2014/main" id="{4F5A1759-598D-988C-8124-2E5044B1744E}"/>
              </a:ext>
            </a:extLst>
          </p:cNvPr>
          <p:cNvSpPr>
            <a:spLocks noGrp="1"/>
          </p:cNvSpPr>
          <p:nvPr>
            <p:ph type="sldNum" sz="quarter" idx="12"/>
          </p:nvPr>
        </p:nvSpPr>
        <p:spPr/>
        <p:txBody>
          <a:bodyPr/>
          <a:lstStyle/>
          <a:p>
            <a:fld id="{BA3362F8-88F8-1F49-86F0-D11B2D99FEE0}" type="slidenum">
              <a:rPr lang="en-US" smtClean="0"/>
              <a:t>‹#›</a:t>
            </a:fld>
            <a:endParaRPr lang="en-US"/>
          </a:p>
        </p:txBody>
      </p:sp>
    </p:spTree>
    <p:extLst>
      <p:ext uri="{BB962C8B-B14F-4D97-AF65-F5344CB8AC3E}">
        <p14:creationId xmlns:p14="http://schemas.microsoft.com/office/powerpoint/2010/main" val="14612738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 xmlns:a16="http://schemas.microsoft.com/office/drawing/2014/main" id="{F271F3F0-F2B3-F675-7BAB-1AD2134ACD0F}"/>
              </a:ext>
            </a:extLst>
          </p:cNvPr>
          <p:cNvSpPr>
            <a:spLocks noGrp="1"/>
          </p:cNvSpPr>
          <p:nvPr>
            <p:ph type="dt" sz="half" idx="10"/>
          </p:nvPr>
        </p:nvSpPr>
        <p:spPr/>
        <p:txBody>
          <a:bodyPr/>
          <a:lstStyle/>
          <a:p>
            <a:fld id="{1B3E1E7A-3F60-43E8-97A9-E03FDFF3291A}" type="datetime1">
              <a:rPr lang="en-US" smtClean="0"/>
              <a:t>10/30/2025</a:t>
            </a:fld>
            <a:endParaRPr lang="en-US"/>
          </a:p>
        </p:txBody>
      </p:sp>
      <p:sp>
        <p:nvSpPr>
          <p:cNvPr id="3" name="Footer Placeholder 2">
            <a:extLst>
              <a:ext uri="{FF2B5EF4-FFF2-40B4-BE49-F238E27FC236}">
                <a16:creationId xmlns="" xmlns:a16="http://schemas.microsoft.com/office/drawing/2014/main" id="{1A44FB0A-DFB7-0737-F37C-440DCA486D73}"/>
              </a:ext>
            </a:extLst>
          </p:cNvPr>
          <p:cNvSpPr>
            <a:spLocks noGrp="1"/>
          </p:cNvSpPr>
          <p:nvPr>
            <p:ph type="ftr" sz="quarter" idx="11"/>
          </p:nvPr>
        </p:nvSpPr>
        <p:spPr/>
        <p:txBody>
          <a:bodyPr/>
          <a:lstStyle/>
          <a:p>
            <a:r>
              <a:rPr lang="en-US"/>
              <a:t>Navigating the Future of Learning​</a:t>
            </a:r>
          </a:p>
        </p:txBody>
      </p:sp>
      <p:sp>
        <p:nvSpPr>
          <p:cNvPr id="4" name="Slide Number Placeholder 3">
            <a:extLst>
              <a:ext uri="{FF2B5EF4-FFF2-40B4-BE49-F238E27FC236}">
                <a16:creationId xmlns="" xmlns:a16="http://schemas.microsoft.com/office/drawing/2014/main" id="{9E497C01-947E-5E24-DB3F-90342EF0A210}"/>
              </a:ext>
            </a:extLst>
          </p:cNvPr>
          <p:cNvSpPr>
            <a:spLocks noGrp="1"/>
          </p:cNvSpPr>
          <p:nvPr>
            <p:ph type="sldNum" sz="quarter" idx="12"/>
          </p:nvPr>
        </p:nvSpPr>
        <p:spPr/>
        <p:txBody>
          <a:bodyPr/>
          <a:lstStyle/>
          <a:p>
            <a:fld id="{BA3362F8-88F8-1F49-86F0-D11B2D99FEE0}" type="slidenum">
              <a:rPr lang="en-US" smtClean="0"/>
              <a:t>‹#›</a:t>
            </a:fld>
            <a:endParaRPr lang="en-US"/>
          </a:p>
        </p:txBody>
      </p:sp>
    </p:spTree>
    <p:extLst>
      <p:ext uri="{BB962C8B-B14F-4D97-AF65-F5344CB8AC3E}">
        <p14:creationId xmlns:p14="http://schemas.microsoft.com/office/powerpoint/2010/main" val="31046257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8F41832-2691-E74A-0F3A-2DE9A6E44D84}"/>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 xmlns:a16="http://schemas.microsoft.com/office/drawing/2014/main" id="{C94BD6CD-D7DC-A4E9-FD78-EA239F4F553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 xmlns:a16="http://schemas.microsoft.com/office/drawing/2014/main" id="{54C0C722-544A-95F1-1DAD-FAD83B66339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 xmlns:a16="http://schemas.microsoft.com/office/drawing/2014/main" id="{215BCDEF-8A4D-1FA5-888F-D5A3A2CEE9D4}"/>
              </a:ext>
            </a:extLst>
          </p:cNvPr>
          <p:cNvSpPr>
            <a:spLocks noGrp="1"/>
          </p:cNvSpPr>
          <p:nvPr>
            <p:ph type="dt" sz="half" idx="10"/>
          </p:nvPr>
        </p:nvSpPr>
        <p:spPr/>
        <p:txBody>
          <a:bodyPr/>
          <a:lstStyle/>
          <a:p>
            <a:fld id="{041F2EE0-C06F-41F5-AFE0-7056E3A01EDC}" type="datetime1">
              <a:rPr lang="en-US" smtClean="0"/>
              <a:t>10/30/2025</a:t>
            </a:fld>
            <a:endParaRPr lang="en-US"/>
          </a:p>
        </p:txBody>
      </p:sp>
      <p:sp>
        <p:nvSpPr>
          <p:cNvPr id="6" name="Footer Placeholder 5">
            <a:extLst>
              <a:ext uri="{FF2B5EF4-FFF2-40B4-BE49-F238E27FC236}">
                <a16:creationId xmlns="" xmlns:a16="http://schemas.microsoft.com/office/drawing/2014/main" id="{81C4BD8F-AAAC-F32F-ABC2-37A3D3BC6296}"/>
              </a:ext>
            </a:extLst>
          </p:cNvPr>
          <p:cNvSpPr>
            <a:spLocks noGrp="1"/>
          </p:cNvSpPr>
          <p:nvPr>
            <p:ph type="ftr" sz="quarter" idx="11"/>
          </p:nvPr>
        </p:nvSpPr>
        <p:spPr/>
        <p:txBody>
          <a:bodyPr/>
          <a:lstStyle/>
          <a:p>
            <a:r>
              <a:rPr lang="en-US"/>
              <a:t>Navigating the Future of Learning​</a:t>
            </a:r>
          </a:p>
        </p:txBody>
      </p:sp>
      <p:sp>
        <p:nvSpPr>
          <p:cNvPr id="7" name="Slide Number Placeholder 6">
            <a:extLst>
              <a:ext uri="{FF2B5EF4-FFF2-40B4-BE49-F238E27FC236}">
                <a16:creationId xmlns="" xmlns:a16="http://schemas.microsoft.com/office/drawing/2014/main" id="{3DA79EF9-CB21-BEC5-2A25-591C945DD131}"/>
              </a:ext>
            </a:extLst>
          </p:cNvPr>
          <p:cNvSpPr>
            <a:spLocks noGrp="1"/>
          </p:cNvSpPr>
          <p:nvPr>
            <p:ph type="sldNum" sz="quarter" idx="12"/>
          </p:nvPr>
        </p:nvSpPr>
        <p:spPr/>
        <p:txBody>
          <a:bodyPr/>
          <a:lstStyle/>
          <a:p>
            <a:fld id="{BA3362F8-88F8-1F49-86F0-D11B2D99FEE0}" type="slidenum">
              <a:rPr lang="en-US" smtClean="0"/>
              <a:t>‹#›</a:t>
            </a:fld>
            <a:endParaRPr lang="en-US"/>
          </a:p>
        </p:txBody>
      </p:sp>
    </p:spTree>
    <p:extLst>
      <p:ext uri="{BB962C8B-B14F-4D97-AF65-F5344CB8AC3E}">
        <p14:creationId xmlns:p14="http://schemas.microsoft.com/office/powerpoint/2010/main" val="16712768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7BACBD3-5050-C329-F415-3714918842FC}"/>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 xmlns:a16="http://schemas.microsoft.com/office/drawing/2014/main" id="{C4B2BE8C-8AFF-7B97-17DD-E10D476C829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 xmlns:a16="http://schemas.microsoft.com/office/drawing/2014/main" id="{B6B1A6C9-352E-F0FC-857A-200063A76EB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 xmlns:a16="http://schemas.microsoft.com/office/drawing/2014/main" id="{996AEC32-A02D-AF36-A64E-290A392B42FC}"/>
              </a:ext>
            </a:extLst>
          </p:cNvPr>
          <p:cNvSpPr>
            <a:spLocks noGrp="1"/>
          </p:cNvSpPr>
          <p:nvPr>
            <p:ph type="dt" sz="half" idx="10"/>
          </p:nvPr>
        </p:nvSpPr>
        <p:spPr/>
        <p:txBody>
          <a:bodyPr/>
          <a:lstStyle/>
          <a:p>
            <a:fld id="{93A105E1-88D0-4311-A599-0C8A6973053A}" type="datetime1">
              <a:rPr lang="en-US" smtClean="0"/>
              <a:t>10/30/2025</a:t>
            </a:fld>
            <a:endParaRPr lang="en-US"/>
          </a:p>
        </p:txBody>
      </p:sp>
      <p:sp>
        <p:nvSpPr>
          <p:cNvPr id="6" name="Footer Placeholder 5">
            <a:extLst>
              <a:ext uri="{FF2B5EF4-FFF2-40B4-BE49-F238E27FC236}">
                <a16:creationId xmlns="" xmlns:a16="http://schemas.microsoft.com/office/drawing/2014/main" id="{26B0ECF5-F111-F43D-1DD0-2623EE225A1F}"/>
              </a:ext>
            </a:extLst>
          </p:cNvPr>
          <p:cNvSpPr>
            <a:spLocks noGrp="1"/>
          </p:cNvSpPr>
          <p:nvPr>
            <p:ph type="ftr" sz="quarter" idx="11"/>
          </p:nvPr>
        </p:nvSpPr>
        <p:spPr/>
        <p:txBody>
          <a:bodyPr/>
          <a:lstStyle/>
          <a:p>
            <a:r>
              <a:rPr lang="en-US"/>
              <a:t>Navigating the Future of Learning​</a:t>
            </a:r>
          </a:p>
        </p:txBody>
      </p:sp>
      <p:sp>
        <p:nvSpPr>
          <p:cNvPr id="7" name="Slide Number Placeholder 6">
            <a:extLst>
              <a:ext uri="{FF2B5EF4-FFF2-40B4-BE49-F238E27FC236}">
                <a16:creationId xmlns="" xmlns:a16="http://schemas.microsoft.com/office/drawing/2014/main" id="{A3ED8375-499D-DCA7-5D7B-91DD95B7F87A}"/>
              </a:ext>
            </a:extLst>
          </p:cNvPr>
          <p:cNvSpPr>
            <a:spLocks noGrp="1"/>
          </p:cNvSpPr>
          <p:nvPr>
            <p:ph type="sldNum" sz="quarter" idx="12"/>
          </p:nvPr>
        </p:nvSpPr>
        <p:spPr/>
        <p:txBody>
          <a:bodyPr/>
          <a:lstStyle/>
          <a:p>
            <a:fld id="{BA3362F8-88F8-1F49-86F0-D11B2D99FEE0}" type="slidenum">
              <a:rPr lang="en-US" smtClean="0"/>
              <a:t>‹#›</a:t>
            </a:fld>
            <a:endParaRPr lang="en-US"/>
          </a:p>
        </p:txBody>
      </p:sp>
    </p:spTree>
    <p:extLst>
      <p:ext uri="{BB962C8B-B14F-4D97-AF65-F5344CB8AC3E}">
        <p14:creationId xmlns:p14="http://schemas.microsoft.com/office/powerpoint/2010/main" val="41605119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CAE933A4-C03D-26A7-C451-392D04E6A237}"/>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 xmlns:a16="http://schemas.microsoft.com/office/drawing/2014/main" id="{C339E290-0E60-50DC-3A6D-AFC921C4E839}"/>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 xmlns:a16="http://schemas.microsoft.com/office/drawing/2014/main" id="{B1DDBB31-5065-A920-BCE3-A6379F318E85}"/>
              </a:ext>
            </a:extLst>
          </p:cNvPr>
          <p:cNvSpPr>
            <a:spLocks noGrp="1"/>
          </p:cNvSpPr>
          <p:nvPr>
            <p:ph type="dt" sz="half" idx="10"/>
          </p:nvPr>
        </p:nvSpPr>
        <p:spPr/>
        <p:txBody>
          <a:bodyPr/>
          <a:lstStyle/>
          <a:p>
            <a:fld id="{159EA562-091E-45D6-BEDF-3C68FB2023F1}" type="datetime1">
              <a:rPr lang="en-US" smtClean="0"/>
              <a:t>10/30/2025</a:t>
            </a:fld>
            <a:endParaRPr lang="en-US"/>
          </a:p>
        </p:txBody>
      </p:sp>
      <p:sp>
        <p:nvSpPr>
          <p:cNvPr id="5" name="Footer Placeholder 4">
            <a:extLst>
              <a:ext uri="{FF2B5EF4-FFF2-40B4-BE49-F238E27FC236}">
                <a16:creationId xmlns="" xmlns:a16="http://schemas.microsoft.com/office/drawing/2014/main" id="{8650F398-CC52-3E67-DDF6-C862313CC410}"/>
              </a:ext>
            </a:extLst>
          </p:cNvPr>
          <p:cNvSpPr>
            <a:spLocks noGrp="1"/>
          </p:cNvSpPr>
          <p:nvPr>
            <p:ph type="ftr" sz="quarter" idx="11"/>
          </p:nvPr>
        </p:nvSpPr>
        <p:spPr/>
        <p:txBody>
          <a:bodyPr/>
          <a:lstStyle/>
          <a:p>
            <a:r>
              <a:rPr lang="en-US"/>
              <a:t>Navigating the Future of Learning​</a:t>
            </a:r>
          </a:p>
        </p:txBody>
      </p:sp>
      <p:sp>
        <p:nvSpPr>
          <p:cNvPr id="6" name="Slide Number Placeholder 5">
            <a:extLst>
              <a:ext uri="{FF2B5EF4-FFF2-40B4-BE49-F238E27FC236}">
                <a16:creationId xmlns="" xmlns:a16="http://schemas.microsoft.com/office/drawing/2014/main" id="{4272AE45-AD9E-08FA-1F71-75DFC9E00C85}"/>
              </a:ext>
            </a:extLst>
          </p:cNvPr>
          <p:cNvSpPr>
            <a:spLocks noGrp="1"/>
          </p:cNvSpPr>
          <p:nvPr>
            <p:ph type="sldNum" sz="quarter" idx="12"/>
          </p:nvPr>
        </p:nvSpPr>
        <p:spPr/>
        <p:txBody>
          <a:bodyPr/>
          <a:lstStyle/>
          <a:p>
            <a:fld id="{BA3362F8-88F8-1F49-86F0-D11B2D99FEE0}" type="slidenum">
              <a:rPr lang="en-US" smtClean="0"/>
              <a:t>‹#›</a:t>
            </a:fld>
            <a:endParaRPr lang="en-US"/>
          </a:p>
        </p:txBody>
      </p:sp>
    </p:spTree>
    <p:extLst>
      <p:ext uri="{BB962C8B-B14F-4D97-AF65-F5344CB8AC3E}">
        <p14:creationId xmlns:p14="http://schemas.microsoft.com/office/powerpoint/2010/main" val="27183510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 xmlns:a16="http://schemas.microsoft.com/office/drawing/2014/main" id="{0AF91D67-8C5B-5055-B5D2-6BAAE7E95038}"/>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 xmlns:a16="http://schemas.microsoft.com/office/drawing/2014/main" id="{04D31080-7646-1B9C-C36F-D2F6BB874738}"/>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 xmlns:a16="http://schemas.microsoft.com/office/drawing/2014/main" id="{BDA404C4-6EA5-D815-E9B2-7CDBB94E9D0D}"/>
              </a:ext>
            </a:extLst>
          </p:cNvPr>
          <p:cNvSpPr>
            <a:spLocks noGrp="1"/>
          </p:cNvSpPr>
          <p:nvPr>
            <p:ph type="dt" sz="half" idx="10"/>
          </p:nvPr>
        </p:nvSpPr>
        <p:spPr/>
        <p:txBody>
          <a:bodyPr/>
          <a:lstStyle/>
          <a:p>
            <a:fld id="{DDF14D94-52B8-43E9-A8F3-BD9E24437DA3}" type="datetime1">
              <a:rPr lang="en-US" smtClean="0"/>
              <a:t>10/30/2025</a:t>
            </a:fld>
            <a:endParaRPr lang="en-US"/>
          </a:p>
        </p:txBody>
      </p:sp>
      <p:sp>
        <p:nvSpPr>
          <p:cNvPr id="5" name="Footer Placeholder 4">
            <a:extLst>
              <a:ext uri="{FF2B5EF4-FFF2-40B4-BE49-F238E27FC236}">
                <a16:creationId xmlns="" xmlns:a16="http://schemas.microsoft.com/office/drawing/2014/main" id="{97EFDD0D-44E3-A86F-6F17-A722DA9F5AB5}"/>
              </a:ext>
            </a:extLst>
          </p:cNvPr>
          <p:cNvSpPr>
            <a:spLocks noGrp="1"/>
          </p:cNvSpPr>
          <p:nvPr>
            <p:ph type="ftr" sz="quarter" idx="11"/>
          </p:nvPr>
        </p:nvSpPr>
        <p:spPr/>
        <p:txBody>
          <a:bodyPr/>
          <a:lstStyle/>
          <a:p>
            <a:r>
              <a:rPr lang="en-US"/>
              <a:t>Navigating the Future of Learning​</a:t>
            </a:r>
          </a:p>
        </p:txBody>
      </p:sp>
      <p:sp>
        <p:nvSpPr>
          <p:cNvPr id="6" name="Slide Number Placeholder 5">
            <a:extLst>
              <a:ext uri="{FF2B5EF4-FFF2-40B4-BE49-F238E27FC236}">
                <a16:creationId xmlns="" xmlns:a16="http://schemas.microsoft.com/office/drawing/2014/main" id="{83E417A5-F8F0-AA31-71DF-34D6584981BA}"/>
              </a:ext>
            </a:extLst>
          </p:cNvPr>
          <p:cNvSpPr>
            <a:spLocks noGrp="1"/>
          </p:cNvSpPr>
          <p:nvPr>
            <p:ph type="sldNum" sz="quarter" idx="12"/>
          </p:nvPr>
        </p:nvSpPr>
        <p:spPr/>
        <p:txBody>
          <a:bodyPr/>
          <a:lstStyle/>
          <a:p>
            <a:fld id="{BA3362F8-88F8-1F49-86F0-D11B2D99FEE0}" type="slidenum">
              <a:rPr lang="en-US" smtClean="0"/>
              <a:t>‹#›</a:t>
            </a:fld>
            <a:endParaRPr lang="en-US"/>
          </a:p>
        </p:txBody>
      </p:sp>
    </p:spTree>
    <p:extLst>
      <p:ext uri="{BB962C8B-B14F-4D97-AF65-F5344CB8AC3E}">
        <p14:creationId xmlns:p14="http://schemas.microsoft.com/office/powerpoint/2010/main" val="329974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 xmlns:a16="http://schemas.microsoft.com/office/drawing/2014/main" id="{39A89A0B-DE9F-F1C6-643E-DCA32D53C31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 xmlns:a16="http://schemas.microsoft.com/office/drawing/2014/main" id="{3953DDAA-3094-DBCE-F38B-123FB91FDDD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 xmlns:a16="http://schemas.microsoft.com/office/drawing/2014/main" id="{8AF0BF9E-5E8A-1649-84DC-281A5BAAC4C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6BC827E-01D8-46AF-B9E0-11E08B19BA59}" type="datetime1">
              <a:rPr lang="en-US" smtClean="0"/>
              <a:t>10/30/2025</a:t>
            </a:fld>
            <a:endParaRPr lang="en-US"/>
          </a:p>
        </p:txBody>
      </p:sp>
      <p:sp>
        <p:nvSpPr>
          <p:cNvPr id="5" name="Footer Placeholder 4">
            <a:extLst>
              <a:ext uri="{FF2B5EF4-FFF2-40B4-BE49-F238E27FC236}">
                <a16:creationId xmlns="" xmlns:a16="http://schemas.microsoft.com/office/drawing/2014/main" id="{5BDEDD1E-16D6-9C67-B90A-3F23927ED3D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Navigating the Future of Learning​</a:t>
            </a:r>
          </a:p>
        </p:txBody>
      </p:sp>
      <p:sp>
        <p:nvSpPr>
          <p:cNvPr id="6" name="Slide Number Placeholder 5">
            <a:extLst>
              <a:ext uri="{FF2B5EF4-FFF2-40B4-BE49-F238E27FC236}">
                <a16:creationId xmlns="" xmlns:a16="http://schemas.microsoft.com/office/drawing/2014/main" id="{B5FC0268-EDD9-BFDA-9A07-5241871BF47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A3362F8-88F8-1F49-86F0-D11B2D99FEE0}" type="slidenum">
              <a:rPr lang="en-US" smtClean="0"/>
              <a:t>‹#›</a:t>
            </a:fld>
            <a:endParaRPr lang="en-US"/>
          </a:p>
        </p:txBody>
      </p:sp>
    </p:spTree>
    <p:extLst>
      <p:ext uri="{BB962C8B-B14F-4D97-AF65-F5344CB8AC3E}">
        <p14:creationId xmlns:p14="http://schemas.microsoft.com/office/powerpoint/2010/main" val="205536768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hyperlink" Target="https://www.pinecone.io/learn/chunking-strategies/" TargetMode="Externa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7.pn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11.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05D93965-B794-0D3F-19B2-6E5CEF590710}"/>
            </a:ext>
          </a:extLst>
        </p:cNvPr>
        <p:cNvGrpSpPr/>
        <p:nvPr/>
      </p:nvGrpSpPr>
      <p:grpSpPr>
        <a:xfrm>
          <a:off x="0" y="0"/>
          <a:ext cx="0" cy="0"/>
          <a:chOff x="0" y="0"/>
          <a:chExt cx="0" cy="0"/>
        </a:xfrm>
      </p:grpSpPr>
      <p:sp>
        <p:nvSpPr>
          <p:cNvPr id="6" name="Rectangle 5">
            <a:extLst>
              <a:ext uri="{FF2B5EF4-FFF2-40B4-BE49-F238E27FC236}">
                <a16:creationId xmlns="" xmlns:a16="http://schemas.microsoft.com/office/drawing/2014/main" id="{929A6F4B-4B22-0928-2DBA-1E63C9DE5B47}"/>
              </a:ext>
            </a:extLst>
          </p:cNvPr>
          <p:cNvSpPr/>
          <p:nvPr/>
        </p:nvSpPr>
        <p:spPr>
          <a:xfrm>
            <a:off x="0" y="1"/>
            <a:ext cx="1948169" cy="6858000"/>
          </a:xfrm>
          <a:prstGeom prst="rect">
            <a:avLst/>
          </a:prstGeom>
          <a:solidFill>
            <a:srgbClr val="D7C05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 xmlns:a16="http://schemas.microsoft.com/office/drawing/2014/main" id="{6745C555-155A-8408-E6E3-22A172F35158}"/>
              </a:ext>
            </a:extLst>
          </p:cNvPr>
          <p:cNvSpPr txBox="1"/>
          <p:nvPr/>
        </p:nvSpPr>
        <p:spPr>
          <a:xfrm>
            <a:off x="601006" y="42718"/>
            <a:ext cx="442291" cy="707886"/>
          </a:xfrm>
          <a:prstGeom prst="rect">
            <a:avLst/>
          </a:prstGeom>
          <a:noFill/>
        </p:spPr>
        <p:txBody>
          <a:bodyPr wrap="square" rtlCol="0">
            <a:spAutoFit/>
          </a:bodyPr>
          <a:lstStyle/>
          <a:p>
            <a:r>
              <a:rPr lang="el-GR" sz="4000" dirty="0">
                <a:solidFill>
                  <a:srgbClr val="D7C055"/>
                </a:solidFill>
              </a:rPr>
              <a:t>π</a:t>
            </a:r>
            <a:endParaRPr lang="en-US" sz="4000" dirty="0">
              <a:solidFill>
                <a:srgbClr val="D7C055"/>
              </a:solidFill>
            </a:endParaRPr>
          </a:p>
        </p:txBody>
      </p:sp>
      <p:sp>
        <p:nvSpPr>
          <p:cNvPr id="9" name="Rectangle 8">
            <a:extLst>
              <a:ext uri="{FF2B5EF4-FFF2-40B4-BE49-F238E27FC236}">
                <a16:creationId xmlns="" xmlns:a16="http://schemas.microsoft.com/office/drawing/2014/main" id="{2462335E-6BA0-9E39-D941-3E40EF2A0890}"/>
              </a:ext>
            </a:extLst>
          </p:cNvPr>
          <p:cNvSpPr/>
          <p:nvPr/>
        </p:nvSpPr>
        <p:spPr>
          <a:xfrm>
            <a:off x="0" y="5572125"/>
            <a:ext cx="12187542" cy="1285876"/>
          </a:xfrm>
          <a:prstGeom prst="rect">
            <a:avLst/>
          </a:prstGeom>
          <a:solidFill>
            <a:srgbClr val="D7C05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 xmlns:a16="http://schemas.microsoft.com/office/drawing/2014/main" id="{3352634E-F25A-906D-E090-61E107EA9685}"/>
              </a:ext>
            </a:extLst>
          </p:cNvPr>
          <p:cNvSpPr/>
          <p:nvPr/>
        </p:nvSpPr>
        <p:spPr>
          <a:xfrm>
            <a:off x="-260" y="5572124"/>
            <a:ext cx="12193758" cy="583407"/>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 xmlns:a16="http://schemas.microsoft.com/office/drawing/2014/main" id="{F78D711A-98A9-0CA9-87DC-706B4F2660DA}"/>
              </a:ext>
            </a:extLst>
          </p:cNvPr>
          <p:cNvSpPr/>
          <p:nvPr/>
        </p:nvSpPr>
        <p:spPr>
          <a:xfrm>
            <a:off x="1291568" y="-1"/>
            <a:ext cx="656603" cy="685800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TextBox 13">
            <a:extLst>
              <a:ext uri="{FF2B5EF4-FFF2-40B4-BE49-F238E27FC236}">
                <a16:creationId xmlns="" xmlns:a16="http://schemas.microsoft.com/office/drawing/2014/main" id="{3863E5A6-EF6F-E241-ED54-B76BF0108961}"/>
              </a:ext>
            </a:extLst>
          </p:cNvPr>
          <p:cNvSpPr txBox="1"/>
          <p:nvPr/>
        </p:nvSpPr>
        <p:spPr>
          <a:xfrm>
            <a:off x="1396344" y="5505306"/>
            <a:ext cx="442291" cy="707886"/>
          </a:xfrm>
          <a:prstGeom prst="rect">
            <a:avLst/>
          </a:prstGeom>
          <a:noFill/>
        </p:spPr>
        <p:txBody>
          <a:bodyPr wrap="square" rtlCol="0">
            <a:spAutoFit/>
          </a:bodyPr>
          <a:lstStyle/>
          <a:p>
            <a:r>
              <a:rPr lang="el-GR" sz="4000" dirty="0">
                <a:solidFill>
                  <a:srgbClr val="D7C055"/>
                </a:solidFill>
              </a:rPr>
              <a:t>π</a:t>
            </a:r>
            <a:endParaRPr lang="en-US" sz="4000" dirty="0">
              <a:solidFill>
                <a:srgbClr val="D7C055"/>
              </a:solidFill>
            </a:endParaRPr>
          </a:p>
        </p:txBody>
      </p:sp>
      <p:pic>
        <p:nvPicPr>
          <p:cNvPr id="4" name="Picture 3" descr="A logo with lines in a black background&#10;&#10;Description automatically generated">
            <a:extLst>
              <a:ext uri="{FF2B5EF4-FFF2-40B4-BE49-F238E27FC236}">
                <a16:creationId xmlns="" xmlns:a16="http://schemas.microsoft.com/office/drawing/2014/main" id="{B769A9BB-68EA-F9F6-0ECB-37D6968A9D6F}"/>
              </a:ext>
            </a:extLst>
          </p:cNvPr>
          <p:cNvPicPr>
            <a:picLocks noChangeAspect="1"/>
          </p:cNvPicPr>
          <p:nvPr/>
        </p:nvPicPr>
        <p:blipFill>
          <a:blip r:embed="rId2"/>
          <a:stretch>
            <a:fillRect/>
          </a:stretch>
        </p:blipFill>
        <p:spPr>
          <a:xfrm>
            <a:off x="11202642" y="-205416"/>
            <a:ext cx="1217233" cy="1205327"/>
          </a:xfrm>
          <a:prstGeom prst="rect">
            <a:avLst/>
          </a:prstGeom>
        </p:spPr>
      </p:pic>
      <p:sp>
        <p:nvSpPr>
          <p:cNvPr id="5" name="Footer Placeholder 4">
            <a:extLst>
              <a:ext uri="{FF2B5EF4-FFF2-40B4-BE49-F238E27FC236}">
                <a16:creationId xmlns="" xmlns:a16="http://schemas.microsoft.com/office/drawing/2014/main" id="{2D627D9A-CDBE-20A9-3FA1-63D5E507D783}"/>
              </a:ext>
            </a:extLst>
          </p:cNvPr>
          <p:cNvSpPr>
            <a:spLocks noGrp="1"/>
          </p:cNvSpPr>
          <p:nvPr>
            <p:ph type="ftr" sz="quarter" idx="11"/>
          </p:nvPr>
        </p:nvSpPr>
        <p:spPr/>
        <p:txBody>
          <a:bodyPr/>
          <a:lstStyle/>
          <a:p>
            <a:r>
              <a:rPr lang="en-US" dirty="0"/>
              <a:t>Navigating the Future of Learning​</a:t>
            </a:r>
          </a:p>
        </p:txBody>
      </p:sp>
      <p:sp>
        <p:nvSpPr>
          <p:cNvPr id="2" name="Rectangle 1"/>
          <p:cNvSpPr/>
          <p:nvPr/>
        </p:nvSpPr>
        <p:spPr>
          <a:xfrm>
            <a:off x="2539115" y="3288268"/>
            <a:ext cx="1233030" cy="369332"/>
          </a:xfrm>
          <a:prstGeom prst="rect">
            <a:avLst/>
          </a:prstGeom>
        </p:spPr>
        <p:txBody>
          <a:bodyPr wrap="none">
            <a:spAutoFit/>
          </a:bodyPr>
          <a:lstStyle/>
          <a:p>
            <a:r>
              <a:rPr lang="en-US">
                <a:solidFill>
                  <a:schemeClr val="bg2">
                    <a:lumMod val="25000"/>
                  </a:schemeClr>
                </a:solidFill>
                <a:latin typeface="Bahnschrift" pitchFamily="34" charset="0"/>
              </a:rPr>
              <a:t>April </a:t>
            </a:r>
            <a:r>
              <a:rPr lang="en-US" smtClean="0">
                <a:solidFill>
                  <a:schemeClr val="bg2">
                    <a:lumMod val="25000"/>
                  </a:schemeClr>
                </a:solidFill>
                <a:latin typeface="Bahnschrift" pitchFamily="34" charset="0"/>
              </a:rPr>
              <a:t>2025</a:t>
            </a:r>
            <a:endParaRPr lang="en-US" dirty="0">
              <a:solidFill>
                <a:schemeClr val="bg2">
                  <a:lumMod val="25000"/>
                </a:schemeClr>
              </a:solidFill>
              <a:latin typeface="Bahnschrift" pitchFamily="34" charset="0"/>
            </a:endParaRPr>
          </a:p>
        </p:txBody>
      </p:sp>
      <p:sp>
        <p:nvSpPr>
          <p:cNvPr id="3" name="Rectangle 2"/>
          <p:cNvSpPr/>
          <p:nvPr/>
        </p:nvSpPr>
        <p:spPr>
          <a:xfrm>
            <a:off x="2539115" y="866106"/>
            <a:ext cx="1643399" cy="1107996"/>
          </a:xfrm>
          <a:prstGeom prst="rect">
            <a:avLst/>
          </a:prstGeom>
        </p:spPr>
        <p:txBody>
          <a:bodyPr wrap="none">
            <a:spAutoFit/>
          </a:bodyPr>
          <a:lstStyle/>
          <a:p>
            <a:r>
              <a:rPr lang="en-US" sz="6600" b="1" dirty="0">
                <a:latin typeface="Bahnschrift" pitchFamily="34" charset="0"/>
              </a:rPr>
              <a:t>Rag</a:t>
            </a:r>
          </a:p>
        </p:txBody>
      </p:sp>
    </p:spTree>
    <p:extLst>
      <p:ext uri="{BB962C8B-B14F-4D97-AF65-F5344CB8AC3E}">
        <p14:creationId xmlns:p14="http://schemas.microsoft.com/office/powerpoint/2010/main" val="41618766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95CE01EE-9B82-1A8D-6A71-28923D9F4DBF}"/>
            </a:ext>
          </a:extLst>
        </p:cNvPr>
        <p:cNvGrpSpPr/>
        <p:nvPr/>
      </p:nvGrpSpPr>
      <p:grpSpPr>
        <a:xfrm>
          <a:off x="0" y="0"/>
          <a:ext cx="0" cy="0"/>
          <a:chOff x="0" y="0"/>
          <a:chExt cx="0" cy="0"/>
        </a:xfrm>
      </p:grpSpPr>
      <p:sp>
        <p:nvSpPr>
          <p:cNvPr id="6" name="Rectangle 5">
            <a:extLst>
              <a:ext uri="{FF2B5EF4-FFF2-40B4-BE49-F238E27FC236}">
                <a16:creationId xmlns="" xmlns:a16="http://schemas.microsoft.com/office/drawing/2014/main" id="{9B3BB1EE-8F0D-D402-9B66-38C94EBDCD27}"/>
              </a:ext>
            </a:extLst>
          </p:cNvPr>
          <p:cNvSpPr/>
          <p:nvPr/>
        </p:nvSpPr>
        <p:spPr>
          <a:xfrm>
            <a:off x="0" y="1"/>
            <a:ext cx="1126638" cy="6858000"/>
          </a:xfrm>
          <a:prstGeom prst="rect">
            <a:avLst/>
          </a:prstGeom>
          <a:solidFill>
            <a:srgbClr val="D7C055"/>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dirty="0">
              <a:cs typeface="Calibri"/>
            </a:endParaRPr>
          </a:p>
        </p:txBody>
      </p:sp>
      <p:sp>
        <p:nvSpPr>
          <p:cNvPr id="7" name="Rectangle 6">
            <a:extLst>
              <a:ext uri="{FF2B5EF4-FFF2-40B4-BE49-F238E27FC236}">
                <a16:creationId xmlns="" xmlns:a16="http://schemas.microsoft.com/office/drawing/2014/main" id="{1B92D285-0982-C7FC-2CCB-555CC4555729}"/>
              </a:ext>
            </a:extLst>
          </p:cNvPr>
          <p:cNvSpPr/>
          <p:nvPr/>
        </p:nvSpPr>
        <p:spPr>
          <a:xfrm>
            <a:off x="565288" y="0"/>
            <a:ext cx="549447" cy="685800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xtBox 7">
            <a:extLst>
              <a:ext uri="{FF2B5EF4-FFF2-40B4-BE49-F238E27FC236}">
                <a16:creationId xmlns="" xmlns:a16="http://schemas.microsoft.com/office/drawing/2014/main" id="{F5A501CB-25F7-430E-26A9-AC8C6F18EA43}"/>
              </a:ext>
            </a:extLst>
          </p:cNvPr>
          <p:cNvSpPr txBox="1"/>
          <p:nvPr/>
        </p:nvSpPr>
        <p:spPr>
          <a:xfrm>
            <a:off x="601006" y="42718"/>
            <a:ext cx="442291" cy="707886"/>
          </a:xfrm>
          <a:prstGeom prst="rect">
            <a:avLst/>
          </a:prstGeom>
          <a:noFill/>
        </p:spPr>
        <p:txBody>
          <a:bodyPr wrap="square" rtlCol="0">
            <a:spAutoFit/>
          </a:bodyPr>
          <a:lstStyle/>
          <a:p>
            <a:r>
              <a:rPr lang="el-GR" sz="4000" dirty="0">
                <a:solidFill>
                  <a:srgbClr val="D7C055"/>
                </a:solidFill>
              </a:rPr>
              <a:t>π</a:t>
            </a:r>
            <a:endParaRPr lang="en-US" sz="4000" dirty="0">
              <a:solidFill>
                <a:srgbClr val="D7C055"/>
              </a:solidFill>
            </a:endParaRPr>
          </a:p>
        </p:txBody>
      </p:sp>
      <p:sp>
        <p:nvSpPr>
          <p:cNvPr id="33" name="Footer Placeholder 32">
            <a:extLst>
              <a:ext uri="{FF2B5EF4-FFF2-40B4-BE49-F238E27FC236}">
                <a16:creationId xmlns="" xmlns:a16="http://schemas.microsoft.com/office/drawing/2014/main" id="{9EFE9F1A-54D1-5FC8-F649-AA565950307F}"/>
              </a:ext>
            </a:extLst>
          </p:cNvPr>
          <p:cNvSpPr>
            <a:spLocks noGrp="1"/>
          </p:cNvSpPr>
          <p:nvPr>
            <p:ph type="ftr" sz="quarter" idx="11"/>
          </p:nvPr>
        </p:nvSpPr>
        <p:spPr/>
        <p:txBody>
          <a:bodyPr/>
          <a:lstStyle/>
          <a:p>
            <a:r>
              <a:rPr lang="en-US" dirty="0"/>
              <a:t>Navigating the Future of Learning​</a:t>
            </a:r>
          </a:p>
        </p:txBody>
      </p:sp>
      <p:grpSp>
        <p:nvGrpSpPr>
          <p:cNvPr id="12" name="Group 11"/>
          <p:cNvGrpSpPr/>
          <p:nvPr/>
        </p:nvGrpSpPr>
        <p:grpSpPr>
          <a:xfrm>
            <a:off x="1649178" y="212581"/>
            <a:ext cx="2424058" cy="461665"/>
            <a:chOff x="1649178" y="212581"/>
            <a:chExt cx="2424058" cy="461665"/>
          </a:xfrm>
        </p:grpSpPr>
        <p:sp>
          <p:nvSpPr>
            <p:cNvPr id="4" name="Rectangle 3"/>
            <p:cNvSpPr/>
            <p:nvPr/>
          </p:nvSpPr>
          <p:spPr>
            <a:xfrm>
              <a:off x="1649178" y="212581"/>
              <a:ext cx="1911101" cy="461665"/>
            </a:xfrm>
            <a:prstGeom prst="rect">
              <a:avLst/>
            </a:prstGeom>
            <a:solidFill>
              <a:schemeClr val="accent1">
                <a:lumMod val="20000"/>
                <a:lumOff val="80000"/>
              </a:schemeClr>
            </a:solidFill>
          </p:spPr>
          <p:txBody>
            <a:bodyPr wrap="none">
              <a:spAutoFit/>
            </a:bodyPr>
            <a:lstStyle/>
            <a:p>
              <a:r>
                <a:rPr lang="en-IN" sz="2400" b="1" dirty="0">
                  <a:latin typeface="Bahnschrift" pitchFamily="34" charset="0"/>
                </a:rPr>
                <a:t>Tokenization</a:t>
              </a:r>
            </a:p>
          </p:txBody>
        </p:sp>
        <p:cxnSp>
          <p:nvCxnSpPr>
            <p:cNvPr id="9" name="Straight Connector 8"/>
            <p:cNvCxnSpPr/>
            <p:nvPr/>
          </p:nvCxnSpPr>
          <p:spPr>
            <a:xfrm>
              <a:off x="1649178" y="674246"/>
              <a:ext cx="2424058" cy="0"/>
            </a:xfrm>
            <a:prstGeom prst="line">
              <a:avLst/>
            </a:prstGeom>
          </p:spPr>
          <p:style>
            <a:lnRef idx="1">
              <a:schemeClr val="accent1"/>
            </a:lnRef>
            <a:fillRef idx="0">
              <a:schemeClr val="accent1"/>
            </a:fillRef>
            <a:effectRef idx="0">
              <a:schemeClr val="accent1"/>
            </a:effectRef>
            <a:fontRef idx="minor">
              <a:schemeClr val="tx1"/>
            </a:fontRef>
          </p:style>
        </p:cxnSp>
      </p:grpSp>
      <p:sp>
        <p:nvSpPr>
          <p:cNvPr id="13" name="Rectangle 12"/>
          <p:cNvSpPr/>
          <p:nvPr/>
        </p:nvSpPr>
        <p:spPr>
          <a:xfrm>
            <a:off x="2119746" y="999911"/>
            <a:ext cx="9691512" cy="338554"/>
          </a:xfrm>
          <a:prstGeom prst="rect">
            <a:avLst/>
          </a:prstGeom>
        </p:spPr>
        <p:txBody>
          <a:bodyPr wrap="square">
            <a:spAutoFit/>
          </a:bodyPr>
          <a:lstStyle/>
          <a:p>
            <a:r>
              <a:rPr lang="en-US" sz="1600" dirty="0"/>
              <a:t>tokenization is a process of breaking down text into a manageable unit called </a:t>
            </a:r>
            <a:r>
              <a:rPr lang="en-US" sz="1600" dirty="0">
                <a:solidFill>
                  <a:srgbClr val="00B050"/>
                </a:solidFill>
                <a:latin typeface="Bahnschrift" pitchFamily="34" charset="0"/>
              </a:rPr>
              <a:t>token</a:t>
            </a:r>
            <a:endParaRPr lang="en-IN" sz="1600" dirty="0">
              <a:solidFill>
                <a:srgbClr val="00B050"/>
              </a:solidFill>
              <a:latin typeface="Bahnschrift" pitchFamily="34" charset="0"/>
            </a:endParaRPr>
          </a:p>
        </p:txBody>
      </p:sp>
      <p:grpSp>
        <p:nvGrpSpPr>
          <p:cNvPr id="18" name="Group 17"/>
          <p:cNvGrpSpPr/>
          <p:nvPr/>
        </p:nvGrpSpPr>
        <p:grpSpPr>
          <a:xfrm>
            <a:off x="3193731" y="1808087"/>
            <a:ext cx="8617527" cy="1714757"/>
            <a:chOff x="3298367" y="2496189"/>
            <a:chExt cx="8617527" cy="1714757"/>
          </a:xfrm>
        </p:grpSpPr>
        <p:sp>
          <p:nvSpPr>
            <p:cNvPr id="14" name="Rectangle 13"/>
            <p:cNvSpPr/>
            <p:nvPr/>
          </p:nvSpPr>
          <p:spPr>
            <a:xfrm>
              <a:off x="3325584" y="2496189"/>
              <a:ext cx="4883645" cy="338554"/>
            </a:xfrm>
            <a:prstGeom prst="rect">
              <a:avLst/>
            </a:prstGeom>
            <a:solidFill>
              <a:schemeClr val="accent3">
                <a:lumMod val="20000"/>
                <a:lumOff val="80000"/>
              </a:schemeClr>
            </a:solidFill>
            <a:ln>
              <a:solidFill>
                <a:schemeClr val="bg1">
                  <a:lumMod val="75000"/>
                </a:schemeClr>
              </a:solidFill>
            </a:ln>
          </p:spPr>
          <p:txBody>
            <a:bodyPr wrap="none">
              <a:spAutoFit/>
            </a:bodyPr>
            <a:lstStyle/>
            <a:p>
              <a:r>
                <a:rPr lang="en-US" sz="1600" dirty="0" smtClean="0"/>
                <a:t>Tokenizer </a:t>
              </a:r>
              <a:r>
                <a:rPr lang="en-US" sz="1600" dirty="0"/>
                <a:t>divides text into word </a:t>
              </a:r>
              <a:r>
                <a:rPr lang="en-US" sz="1600" dirty="0" smtClean="0"/>
                <a:t>,sub word </a:t>
              </a:r>
              <a:r>
                <a:rPr lang="en-US" sz="1600" dirty="0"/>
                <a:t>and </a:t>
              </a:r>
              <a:r>
                <a:rPr lang="en-US" sz="1600" dirty="0" smtClean="0"/>
                <a:t>character</a:t>
              </a:r>
              <a:endParaRPr lang="en-IN" sz="1600" dirty="0"/>
            </a:p>
          </p:txBody>
        </p:sp>
        <p:sp>
          <p:nvSpPr>
            <p:cNvPr id="15" name="Rectangle 14"/>
            <p:cNvSpPr/>
            <p:nvPr/>
          </p:nvSpPr>
          <p:spPr>
            <a:xfrm>
              <a:off x="3325584" y="2918936"/>
              <a:ext cx="3302122" cy="338554"/>
            </a:xfrm>
            <a:prstGeom prst="rect">
              <a:avLst/>
            </a:prstGeom>
            <a:solidFill>
              <a:schemeClr val="accent5">
                <a:lumMod val="20000"/>
                <a:lumOff val="80000"/>
              </a:schemeClr>
            </a:solidFill>
            <a:ln>
              <a:solidFill>
                <a:schemeClr val="bg1">
                  <a:lumMod val="75000"/>
                </a:schemeClr>
              </a:solidFill>
            </a:ln>
          </p:spPr>
          <p:txBody>
            <a:bodyPr wrap="none">
              <a:spAutoFit/>
            </a:bodyPr>
            <a:lstStyle/>
            <a:p>
              <a:r>
                <a:rPr lang="en-US" sz="1600" dirty="0"/>
                <a:t>Token are typically a numeric number</a:t>
              </a:r>
              <a:endParaRPr lang="en-IN" sz="1600" dirty="0"/>
            </a:p>
          </p:txBody>
        </p:sp>
        <p:sp>
          <p:nvSpPr>
            <p:cNvPr id="16" name="Rectangle 15"/>
            <p:cNvSpPr/>
            <p:nvPr/>
          </p:nvSpPr>
          <p:spPr>
            <a:xfrm>
              <a:off x="3298367" y="3320764"/>
              <a:ext cx="8617527" cy="338554"/>
            </a:xfrm>
            <a:prstGeom prst="rect">
              <a:avLst/>
            </a:prstGeom>
            <a:solidFill>
              <a:schemeClr val="accent4">
                <a:lumMod val="40000"/>
                <a:lumOff val="60000"/>
              </a:schemeClr>
            </a:solidFill>
            <a:ln w="3175">
              <a:solidFill>
                <a:schemeClr val="bg1">
                  <a:lumMod val="75000"/>
                </a:schemeClr>
              </a:solidFill>
            </a:ln>
          </p:spPr>
          <p:txBody>
            <a:bodyPr wrap="square">
              <a:spAutoFit/>
            </a:bodyPr>
            <a:lstStyle/>
            <a:p>
              <a:r>
                <a:rPr lang="en-US" sz="1600" dirty="0"/>
                <a:t>Once </a:t>
              </a:r>
              <a:r>
                <a:rPr lang="en-US" sz="1600" dirty="0" smtClean="0"/>
                <a:t>tokenizer </a:t>
              </a:r>
              <a:r>
                <a:rPr lang="en-US" sz="1600" dirty="0"/>
                <a:t>has been done it construct an array that is called vector</a:t>
              </a:r>
              <a:endParaRPr lang="en-IN" sz="1600" dirty="0"/>
            </a:p>
          </p:txBody>
        </p:sp>
        <p:sp>
          <p:nvSpPr>
            <p:cNvPr id="17" name="Rectangle 16"/>
            <p:cNvSpPr/>
            <p:nvPr/>
          </p:nvSpPr>
          <p:spPr>
            <a:xfrm>
              <a:off x="3746639" y="3872392"/>
              <a:ext cx="4201791" cy="338554"/>
            </a:xfrm>
            <a:prstGeom prst="rect">
              <a:avLst/>
            </a:prstGeom>
          </p:spPr>
          <p:txBody>
            <a:bodyPr wrap="none">
              <a:spAutoFit/>
            </a:bodyPr>
            <a:lstStyle/>
            <a:p>
              <a:r>
                <a:rPr lang="en-IN" sz="1600" dirty="0"/>
                <a:t>[ 245567,28897,55566,76890,5534467,556688 ]</a:t>
              </a:r>
            </a:p>
          </p:txBody>
        </p:sp>
      </p:grpSp>
      <p:grpSp>
        <p:nvGrpSpPr>
          <p:cNvPr id="22" name="Group 21"/>
          <p:cNvGrpSpPr/>
          <p:nvPr/>
        </p:nvGrpSpPr>
        <p:grpSpPr>
          <a:xfrm>
            <a:off x="3220948" y="4424341"/>
            <a:ext cx="3096725" cy="441673"/>
            <a:chOff x="3220948" y="4424341"/>
            <a:chExt cx="3096725" cy="441673"/>
          </a:xfrm>
        </p:grpSpPr>
        <p:sp>
          <p:nvSpPr>
            <p:cNvPr id="19" name="Rectangle 18"/>
            <p:cNvSpPr/>
            <p:nvPr/>
          </p:nvSpPr>
          <p:spPr>
            <a:xfrm>
              <a:off x="3220948" y="4424341"/>
              <a:ext cx="2912977" cy="400110"/>
            </a:xfrm>
            <a:prstGeom prst="rect">
              <a:avLst/>
            </a:prstGeom>
          </p:spPr>
          <p:txBody>
            <a:bodyPr wrap="none">
              <a:spAutoFit/>
            </a:bodyPr>
            <a:lstStyle/>
            <a:p>
              <a:r>
                <a:rPr lang="en-IN" sz="2000" dirty="0">
                  <a:solidFill>
                    <a:srgbClr val="002060"/>
                  </a:solidFill>
                  <a:latin typeface="Bahnschrift" pitchFamily="34" charset="0"/>
                </a:rPr>
                <a:t>Might be we remember </a:t>
              </a:r>
            </a:p>
          </p:txBody>
        </p:sp>
        <p:cxnSp>
          <p:nvCxnSpPr>
            <p:cNvPr id="21" name="Straight Connector 20"/>
            <p:cNvCxnSpPr/>
            <p:nvPr/>
          </p:nvCxnSpPr>
          <p:spPr>
            <a:xfrm>
              <a:off x="3220948" y="4852160"/>
              <a:ext cx="3096725" cy="13854"/>
            </a:xfrm>
            <a:prstGeom prst="line">
              <a:avLst/>
            </a:prstGeom>
            <a:ln>
              <a:solidFill>
                <a:schemeClr val="accent6"/>
              </a:solidFill>
            </a:ln>
          </p:spPr>
          <p:style>
            <a:lnRef idx="1">
              <a:schemeClr val="dk1"/>
            </a:lnRef>
            <a:fillRef idx="0">
              <a:schemeClr val="dk1"/>
            </a:fillRef>
            <a:effectRef idx="0">
              <a:schemeClr val="dk1"/>
            </a:effectRef>
            <a:fontRef idx="minor">
              <a:schemeClr val="tx1"/>
            </a:fontRef>
          </p:style>
        </p:cxnSp>
      </p:grpSp>
      <p:sp>
        <p:nvSpPr>
          <p:cNvPr id="23" name="Rectangle 22"/>
          <p:cNvSpPr/>
          <p:nvPr/>
        </p:nvSpPr>
        <p:spPr>
          <a:xfrm>
            <a:off x="3269672" y="5142499"/>
            <a:ext cx="8541585" cy="584775"/>
          </a:xfrm>
          <a:prstGeom prst="rect">
            <a:avLst/>
          </a:prstGeom>
        </p:spPr>
        <p:txBody>
          <a:bodyPr wrap="square">
            <a:spAutoFit/>
          </a:bodyPr>
          <a:lstStyle/>
          <a:p>
            <a:r>
              <a:rPr lang="en-US" sz="1600" dirty="0"/>
              <a:t>LLM charge to us on basis of token .so token play very important role for pricing calculation for company </a:t>
            </a:r>
            <a:r>
              <a:rPr lang="en-US" sz="1600" dirty="0" smtClean="0"/>
              <a:t>Antropic,Openai,Google,xAI</a:t>
            </a:r>
            <a:endParaRPr lang="en-US" sz="1600" dirty="0"/>
          </a:p>
        </p:txBody>
      </p:sp>
    </p:spTree>
    <p:extLst>
      <p:ext uri="{BB962C8B-B14F-4D97-AF65-F5344CB8AC3E}">
        <p14:creationId xmlns:p14="http://schemas.microsoft.com/office/powerpoint/2010/main" val="41036783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95CE01EE-9B82-1A8D-6A71-28923D9F4DBF}"/>
            </a:ext>
          </a:extLst>
        </p:cNvPr>
        <p:cNvGrpSpPr/>
        <p:nvPr/>
      </p:nvGrpSpPr>
      <p:grpSpPr>
        <a:xfrm>
          <a:off x="0" y="0"/>
          <a:ext cx="0" cy="0"/>
          <a:chOff x="0" y="0"/>
          <a:chExt cx="0" cy="0"/>
        </a:xfrm>
      </p:grpSpPr>
      <p:sp>
        <p:nvSpPr>
          <p:cNvPr id="6" name="Rectangle 5">
            <a:extLst>
              <a:ext uri="{FF2B5EF4-FFF2-40B4-BE49-F238E27FC236}">
                <a16:creationId xmlns="" xmlns:a16="http://schemas.microsoft.com/office/drawing/2014/main" id="{9B3BB1EE-8F0D-D402-9B66-38C94EBDCD27}"/>
              </a:ext>
            </a:extLst>
          </p:cNvPr>
          <p:cNvSpPr/>
          <p:nvPr/>
        </p:nvSpPr>
        <p:spPr>
          <a:xfrm>
            <a:off x="0" y="1"/>
            <a:ext cx="1126638" cy="6858000"/>
          </a:xfrm>
          <a:prstGeom prst="rect">
            <a:avLst/>
          </a:prstGeom>
          <a:solidFill>
            <a:srgbClr val="D7C055"/>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dirty="0">
              <a:cs typeface="Calibri"/>
            </a:endParaRPr>
          </a:p>
        </p:txBody>
      </p:sp>
      <p:sp>
        <p:nvSpPr>
          <p:cNvPr id="7" name="Rectangle 6">
            <a:extLst>
              <a:ext uri="{FF2B5EF4-FFF2-40B4-BE49-F238E27FC236}">
                <a16:creationId xmlns="" xmlns:a16="http://schemas.microsoft.com/office/drawing/2014/main" id="{1B92D285-0982-C7FC-2CCB-555CC4555729}"/>
              </a:ext>
            </a:extLst>
          </p:cNvPr>
          <p:cNvSpPr/>
          <p:nvPr/>
        </p:nvSpPr>
        <p:spPr>
          <a:xfrm>
            <a:off x="565288" y="0"/>
            <a:ext cx="549447" cy="685800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xtBox 7">
            <a:extLst>
              <a:ext uri="{FF2B5EF4-FFF2-40B4-BE49-F238E27FC236}">
                <a16:creationId xmlns="" xmlns:a16="http://schemas.microsoft.com/office/drawing/2014/main" id="{F5A501CB-25F7-430E-26A9-AC8C6F18EA43}"/>
              </a:ext>
            </a:extLst>
          </p:cNvPr>
          <p:cNvSpPr txBox="1"/>
          <p:nvPr/>
        </p:nvSpPr>
        <p:spPr>
          <a:xfrm>
            <a:off x="601006" y="42718"/>
            <a:ext cx="442291" cy="707886"/>
          </a:xfrm>
          <a:prstGeom prst="rect">
            <a:avLst/>
          </a:prstGeom>
          <a:noFill/>
        </p:spPr>
        <p:txBody>
          <a:bodyPr wrap="square" rtlCol="0">
            <a:spAutoFit/>
          </a:bodyPr>
          <a:lstStyle/>
          <a:p>
            <a:r>
              <a:rPr lang="el-GR" sz="4000" dirty="0">
                <a:solidFill>
                  <a:srgbClr val="D7C055"/>
                </a:solidFill>
              </a:rPr>
              <a:t>π</a:t>
            </a:r>
            <a:endParaRPr lang="en-US" sz="4000" dirty="0">
              <a:solidFill>
                <a:srgbClr val="D7C055"/>
              </a:solidFill>
            </a:endParaRPr>
          </a:p>
        </p:txBody>
      </p:sp>
      <p:sp>
        <p:nvSpPr>
          <p:cNvPr id="33" name="Footer Placeholder 32">
            <a:extLst>
              <a:ext uri="{FF2B5EF4-FFF2-40B4-BE49-F238E27FC236}">
                <a16:creationId xmlns="" xmlns:a16="http://schemas.microsoft.com/office/drawing/2014/main" id="{9EFE9F1A-54D1-5FC8-F649-AA565950307F}"/>
              </a:ext>
            </a:extLst>
          </p:cNvPr>
          <p:cNvSpPr>
            <a:spLocks noGrp="1"/>
          </p:cNvSpPr>
          <p:nvPr>
            <p:ph type="ftr" sz="quarter" idx="11"/>
          </p:nvPr>
        </p:nvSpPr>
        <p:spPr/>
        <p:txBody>
          <a:bodyPr/>
          <a:lstStyle/>
          <a:p>
            <a:r>
              <a:rPr lang="en-US" dirty="0"/>
              <a:t>Navigating the Future of Learning​</a:t>
            </a:r>
          </a:p>
        </p:txBody>
      </p:sp>
      <p:sp>
        <p:nvSpPr>
          <p:cNvPr id="2" name="Rectangle 1"/>
          <p:cNvSpPr/>
          <p:nvPr/>
        </p:nvSpPr>
        <p:spPr>
          <a:xfrm>
            <a:off x="1524000" y="751898"/>
            <a:ext cx="10418618" cy="338554"/>
          </a:xfrm>
          <a:prstGeom prst="rect">
            <a:avLst/>
          </a:prstGeom>
        </p:spPr>
        <p:txBody>
          <a:bodyPr wrap="square">
            <a:spAutoFit/>
          </a:bodyPr>
          <a:lstStyle/>
          <a:p>
            <a:r>
              <a:rPr lang="en-US" sz="1600" dirty="0" smtClean="0"/>
              <a:t>Generation </a:t>
            </a:r>
            <a:r>
              <a:rPr lang="en-US" sz="1600" dirty="0"/>
              <a:t>means Large Language Models (LLMs) that generate text in response to a user's </a:t>
            </a:r>
            <a:r>
              <a:rPr lang="en-US" sz="1600" dirty="0" smtClean="0"/>
              <a:t>query.</a:t>
            </a:r>
            <a:endParaRPr lang="en-IN" sz="1600" dirty="0"/>
          </a:p>
        </p:txBody>
      </p:sp>
      <p:grpSp>
        <p:nvGrpSpPr>
          <p:cNvPr id="20" name="Group 19"/>
          <p:cNvGrpSpPr/>
          <p:nvPr/>
        </p:nvGrpSpPr>
        <p:grpSpPr>
          <a:xfrm>
            <a:off x="1415477" y="286749"/>
            <a:ext cx="3100529" cy="461665"/>
            <a:chOff x="1415477" y="381272"/>
            <a:chExt cx="3100529" cy="461665"/>
          </a:xfrm>
        </p:grpSpPr>
        <p:sp>
          <p:nvSpPr>
            <p:cNvPr id="3" name="Rectangle 2"/>
            <p:cNvSpPr/>
            <p:nvPr/>
          </p:nvSpPr>
          <p:spPr>
            <a:xfrm>
              <a:off x="1415477" y="381272"/>
              <a:ext cx="3100529" cy="461665"/>
            </a:xfrm>
            <a:prstGeom prst="rect">
              <a:avLst/>
            </a:prstGeom>
          </p:spPr>
          <p:txBody>
            <a:bodyPr wrap="none">
              <a:spAutoFit/>
            </a:bodyPr>
            <a:lstStyle/>
            <a:p>
              <a:r>
                <a:rPr lang="en-US" sz="2400" b="1" dirty="0" smtClean="0">
                  <a:latin typeface="Bahnschrift" pitchFamily="34" charset="0"/>
                </a:rPr>
                <a:t>1- What </a:t>
              </a:r>
              <a:r>
                <a:rPr lang="en-US" sz="2400" b="1" dirty="0">
                  <a:latin typeface="Bahnschrift" pitchFamily="34" charset="0"/>
                </a:rPr>
                <a:t>is generation</a:t>
              </a:r>
              <a:endParaRPr lang="en-IN" sz="2400" b="1" dirty="0">
                <a:latin typeface="Bahnschrift" pitchFamily="34" charset="0"/>
              </a:endParaRPr>
            </a:p>
          </p:txBody>
        </p:sp>
        <p:cxnSp>
          <p:nvCxnSpPr>
            <p:cNvPr id="10" name="Straight Connector 9"/>
            <p:cNvCxnSpPr/>
            <p:nvPr/>
          </p:nvCxnSpPr>
          <p:spPr>
            <a:xfrm>
              <a:off x="1415477" y="842937"/>
              <a:ext cx="3017978" cy="0"/>
            </a:xfrm>
            <a:prstGeom prst="line">
              <a:avLst/>
            </a:prstGeom>
          </p:spPr>
          <p:style>
            <a:lnRef idx="1">
              <a:schemeClr val="accent1"/>
            </a:lnRef>
            <a:fillRef idx="0">
              <a:schemeClr val="accent1"/>
            </a:fillRef>
            <a:effectRef idx="0">
              <a:schemeClr val="accent1"/>
            </a:effectRef>
            <a:fontRef idx="minor">
              <a:schemeClr val="tx1"/>
            </a:fontRef>
          </p:style>
        </p:cxnSp>
      </p:grpSp>
      <p:sp>
        <p:nvSpPr>
          <p:cNvPr id="24" name="Rectangle 23"/>
          <p:cNvSpPr/>
          <p:nvPr/>
        </p:nvSpPr>
        <p:spPr>
          <a:xfrm>
            <a:off x="1967344" y="1305020"/>
            <a:ext cx="9975273" cy="1354217"/>
          </a:xfrm>
          <a:prstGeom prst="rect">
            <a:avLst/>
          </a:prstGeom>
        </p:spPr>
        <p:txBody>
          <a:bodyPr wrap="square">
            <a:spAutoFit/>
          </a:bodyPr>
          <a:lstStyle/>
          <a:p>
            <a:r>
              <a:rPr lang="en-US" dirty="0">
                <a:solidFill>
                  <a:srgbClr val="002060"/>
                </a:solidFill>
                <a:latin typeface="Bahnschrift SemiBold" pitchFamily="34" charset="0"/>
              </a:rPr>
              <a:t>But these models have some problematic behavior. </a:t>
            </a:r>
            <a:endParaRPr lang="en-US" dirty="0" smtClean="0">
              <a:solidFill>
                <a:srgbClr val="002060"/>
              </a:solidFill>
              <a:latin typeface="Bahnschrift SemiBold" pitchFamily="34" charset="0"/>
            </a:endParaRPr>
          </a:p>
          <a:p>
            <a:r>
              <a:rPr lang="en-US" sz="1600" dirty="0" smtClean="0"/>
              <a:t>Suppose </a:t>
            </a:r>
            <a:r>
              <a:rPr lang="en-US" sz="1600" dirty="0"/>
              <a:t>a user asked LLM to give him news of three days ago. What will it do? It will confidently answer that according to the data </a:t>
            </a:r>
            <a:r>
              <a:rPr lang="en-US" sz="1600" dirty="0" smtClean="0"/>
              <a:t>It </a:t>
            </a:r>
            <a:r>
              <a:rPr lang="en-US" sz="1600" dirty="0"/>
              <a:t>got in training, this is the news of date x. But this answer will be wrong. You will see that if you have asked for today's news, then it will give you news of 1 month ago or 1 year old news. It will have no relevance. But LLM is confident that this answer is correct, it is not wrong.</a:t>
            </a:r>
            <a:endParaRPr lang="en-IN" sz="1600" dirty="0"/>
          </a:p>
        </p:txBody>
      </p:sp>
      <p:sp>
        <p:nvSpPr>
          <p:cNvPr id="25" name="Rectangle 24"/>
          <p:cNvSpPr/>
          <p:nvPr/>
        </p:nvSpPr>
        <p:spPr>
          <a:xfrm>
            <a:off x="1939633" y="2995273"/>
            <a:ext cx="10030693" cy="1354217"/>
          </a:xfrm>
          <a:prstGeom prst="rect">
            <a:avLst/>
          </a:prstGeom>
        </p:spPr>
        <p:txBody>
          <a:bodyPr wrap="square">
            <a:spAutoFit/>
          </a:bodyPr>
          <a:lstStyle/>
          <a:p>
            <a:r>
              <a:rPr lang="en-US" dirty="0">
                <a:solidFill>
                  <a:srgbClr val="002060"/>
                </a:solidFill>
                <a:latin typeface="Bahnschrift SemiBold" pitchFamily="34" charset="0"/>
              </a:rPr>
              <a:t>Now what happens if we add a </a:t>
            </a:r>
            <a:r>
              <a:rPr lang="en-US" dirty="0">
                <a:solidFill>
                  <a:srgbClr val="00B050"/>
                </a:solidFill>
                <a:latin typeface="Bahnschrift SemiBold" pitchFamily="34" charset="0"/>
              </a:rPr>
              <a:t>retrieval augmented </a:t>
            </a:r>
            <a:r>
              <a:rPr lang="en-US" dirty="0">
                <a:solidFill>
                  <a:srgbClr val="002060"/>
                </a:solidFill>
                <a:latin typeface="Bahnschrift SemiBold" pitchFamily="34" charset="0"/>
              </a:rPr>
              <a:t>part</a:t>
            </a:r>
            <a:r>
              <a:rPr lang="en-US" dirty="0"/>
              <a:t>? </a:t>
            </a:r>
            <a:endParaRPr lang="en-US" dirty="0" smtClean="0"/>
          </a:p>
          <a:p>
            <a:r>
              <a:rPr lang="en-US" sz="1600" dirty="0" smtClean="0"/>
              <a:t>This </a:t>
            </a:r>
            <a:r>
              <a:rPr lang="en-US" sz="1600" dirty="0"/>
              <a:t>means that now the model will not run only on its training data. We add a content store. It can be open like the internet or closed like a collection of documents, policies and many other things. Now LLM first tells the content store hey give me information related to the user's question and when that information is found then what the model </a:t>
            </a:r>
            <a:r>
              <a:rPr lang="en-US" sz="1600" dirty="0" smtClean="0"/>
              <a:t>does. Now it </a:t>
            </a:r>
            <a:r>
              <a:rPr lang="en-US" sz="1600" dirty="0"/>
              <a:t>can give the correct answer</a:t>
            </a:r>
            <a:endParaRPr lang="en-IN" sz="1600" dirty="0"/>
          </a:p>
        </p:txBody>
      </p:sp>
    </p:spTree>
    <p:extLst>
      <p:ext uri="{BB962C8B-B14F-4D97-AF65-F5344CB8AC3E}">
        <p14:creationId xmlns:p14="http://schemas.microsoft.com/office/powerpoint/2010/main" val="14472734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95CE01EE-9B82-1A8D-6A71-28923D9F4DBF}"/>
            </a:ext>
          </a:extLst>
        </p:cNvPr>
        <p:cNvGrpSpPr/>
        <p:nvPr/>
      </p:nvGrpSpPr>
      <p:grpSpPr>
        <a:xfrm>
          <a:off x="0" y="0"/>
          <a:ext cx="0" cy="0"/>
          <a:chOff x="0" y="0"/>
          <a:chExt cx="0" cy="0"/>
        </a:xfrm>
      </p:grpSpPr>
      <p:sp>
        <p:nvSpPr>
          <p:cNvPr id="6" name="Rectangle 5">
            <a:extLst>
              <a:ext uri="{FF2B5EF4-FFF2-40B4-BE49-F238E27FC236}">
                <a16:creationId xmlns="" xmlns:a16="http://schemas.microsoft.com/office/drawing/2014/main" id="{9B3BB1EE-8F0D-D402-9B66-38C94EBDCD27}"/>
              </a:ext>
            </a:extLst>
          </p:cNvPr>
          <p:cNvSpPr/>
          <p:nvPr/>
        </p:nvSpPr>
        <p:spPr>
          <a:xfrm>
            <a:off x="0" y="1"/>
            <a:ext cx="1126638" cy="6858000"/>
          </a:xfrm>
          <a:prstGeom prst="rect">
            <a:avLst/>
          </a:prstGeom>
          <a:solidFill>
            <a:srgbClr val="D7C055"/>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dirty="0">
              <a:cs typeface="Calibri"/>
            </a:endParaRPr>
          </a:p>
        </p:txBody>
      </p:sp>
      <p:sp>
        <p:nvSpPr>
          <p:cNvPr id="7" name="Rectangle 6">
            <a:extLst>
              <a:ext uri="{FF2B5EF4-FFF2-40B4-BE49-F238E27FC236}">
                <a16:creationId xmlns="" xmlns:a16="http://schemas.microsoft.com/office/drawing/2014/main" id="{1B92D285-0982-C7FC-2CCB-555CC4555729}"/>
              </a:ext>
            </a:extLst>
          </p:cNvPr>
          <p:cNvSpPr/>
          <p:nvPr/>
        </p:nvSpPr>
        <p:spPr>
          <a:xfrm>
            <a:off x="565288" y="0"/>
            <a:ext cx="549447" cy="685800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xtBox 7">
            <a:extLst>
              <a:ext uri="{FF2B5EF4-FFF2-40B4-BE49-F238E27FC236}">
                <a16:creationId xmlns="" xmlns:a16="http://schemas.microsoft.com/office/drawing/2014/main" id="{F5A501CB-25F7-430E-26A9-AC8C6F18EA43}"/>
              </a:ext>
            </a:extLst>
          </p:cNvPr>
          <p:cNvSpPr txBox="1"/>
          <p:nvPr/>
        </p:nvSpPr>
        <p:spPr>
          <a:xfrm>
            <a:off x="601006" y="42718"/>
            <a:ext cx="442291" cy="707886"/>
          </a:xfrm>
          <a:prstGeom prst="rect">
            <a:avLst/>
          </a:prstGeom>
          <a:noFill/>
        </p:spPr>
        <p:txBody>
          <a:bodyPr wrap="square" rtlCol="0">
            <a:spAutoFit/>
          </a:bodyPr>
          <a:lstStyle/>
          <a:p>
            <a:r>
              <a:rPr lang="el-GR" sz="4000" dirty="0">
                <a:solidFill>
                  <a:srgbClr val="D7C055"/>
                </a:solidFill>
              </a:rPr>
              <a:t>π</a:t>
            </a:r>
            <a:endParaRPr lang="en-US" sz="4000" dirty="0">
              <a:solidFill>
                <a:srgbClr val="D7C055"/>
              </a:solidFill>
            </a:endParaRPr>
          </a:p>
        </p:txBody>
      </p:sp>
      <p:sp>
        <p:nvSpPr>
          <p:cNvPr id="3" name="Rectangle 2"/>
          <p:cNvSpPr/>
          <p:nvPr/>
        </p:nvSpPr>
        <p:spPr>
          <a:xfrm>
            <a:off x="1482436" y="930947"/>
            <a:ext cx="10030691" cy="1323439"/>
          </a:xfrm>
          <a:prstGeom prst="rect">
            <a:avLst/>
          </a:prstGeom>
        </p:spPr>
        <p:txBody>
          <a:bodyPr wrap="square">
            <a:spAutoFit/>
          </a:bodyPr>
          <a:lstStyle/>
          <a:p>
            <a:r>
              <a:rPr lang="en-US" sz="1600" dirty="0" smtClean="0"/>
              <a:t>how  rag  </a:t>
            </a:r>
            <a:r>
              <a:rPr lang="en-US" sz="1600" dirty="0"/>
              <a:t>works, the user </a:t>
            </a:r>
            <a:r>
              <a:rPr lang="en-US" sz="1600" dirty="0" smtClean="0"/>
              <a:t> prompt their  </a:t>
            </a:r>
            <a:r>
              <a:rPr lang="en-US" sz="1600" dirty="0"/>
              <a:t>question to the model, if it was just a generative model then it would give the answer immediately but if </a:t>
            </a:r>
            <a:endParaRPr lang="en-US" sz="1600" dirty="0" smtClean="0"/>
          </a:p>
          <a:p>
            <a:r>
              <a:rPr lang="en-US" sz="1600" dirty="0" smtClean="0"/>
              <a:t>it </a:t>
            </a:r>
            <a:r>
              <a:rPr lang="en-US" sz="1600" dirty="0"/>
              <a:t>is in RAG framework then </a:t>
            </a:r>
            <a:r>
              <a:rPr lang="en-US" sz="1600" dirty="0" smtClean="0"/>
              <a:t>the </a:t>
            </a:r>
            <a:r>
              <a:rPr lang="en-US" sz="1600" dirty="0"/>
              <a:t>model first gets the instruction. </a:t>
            </a:r>
            <a:endParaRPr lang="en-US" sz="1600" dirty="0" smtClean="0"/>
          </a:p>
          <a:p>
            <a:r>
              <a:rPr lang="en-US" sz="1600" dirty="0" smtClean="0"/>
              <a:t>First </a:t>
            </a:r>
            <a:r>
              <a:rPr lang="en-US" sz="1600" dirty="0"/>
              <a:t>retrieve the relevant content then combine that content with the question and then generate the answer. So now there are three parts of RAG. First is the </a:t>
            </a:r>
            <a:r>
              <a:rPr lang="en-US" sz="1600" b="1" dirty="0">
                <a:solidFill>
                  <a:srgbClr val="002060"/>
                </a:solidFill>
                <a:latin typeface="Bahnschrift" pitchFamily="34" charset="0"/>
              </a:rPr>
              <a:t>instruction</a:t>
            </a:r>
            <a:r>
              <a:rPr lang="en-US" sz="1600" b="1" dirty="0">
                <a:latin typeface="Bahnschrift" pitchFamily="34" charset="0"/>
              </a:rPr>
              <a:t>, </a:t>
            </a:r>
            <a:r>
              <a:rPr lang="en-US" sz="1600" dirty="0"/>
              <a:t>second is the </a:t>
            </a:r>
            <a:r>
              <a:rPr lang="en-US" sz="1600" b="1" dirty="0">
                <a:solidFill>
                  <a:srgbClr val="002060"/>
                </a:solidFill>
                <a:latin typeface="Bahnschrift" pitchFamily="34" charset="0"/>
              </a:rPr>
              <a:t>retrieved content</a:t>
            </a:r>
            <a:r>
              <a:rPr lang="en-US" sz="1600" dirty="0">
                <a:latin typeface="Bahnschrift" pitchFamily="34" charset="0"/>
              </a:rPr>
              <a:t>, </a:t>
            </a:r>
            <a:r>
              <a:rPr lang="en-US" sz="1600" dirty="0"/>
              <a:t>third is the </a:t>
            </a:r>
            <a:r>
              <a:rPr lang="en-US" sz="1600" b="1" dirty="0">
                <a:solidFill>
                  <a:srgbClr val="002060"/>
                </a:solidFill>
                <a:latin typeface="Bahnschrift" pitchFamily="34" charset="0"/>
              </a:rPr>
              <a:t>user's question</a:t>
            </a:r>
            <a:r>
              <a:rPr lang="en-US" sz="1600" dirty="0"/>
              <a:t>.</a:t>
            </a:r>
            <a:endParaRPr lang="en-IN" sz="1600" dirty="0"/>
          </a:p>
        </p:txBody>
      </p:sp>
      <p:grpSp>
        <p:nvGrpSpPr>
          <p:cNvPr id="10" name="Group 9"/>
          <p:cNvGrpSpPr/>
          <p:nvPr/>
        </p:nvGrpSpPr>
        <p:grpSpPr>
          <a:xfrm>
            <a:off x="1357745" y="269694"/>
            <a:ext cx="4558146" cy="480910"/>
            <a:chOff x="1224806" y="147915"/>
            <a:chExt cx="4558146" cy="480910"/>
          </a:xfrm>
        </p:grpSpPr>
        <p:sp>
          <p:nvSpPr>
            <p:cNvPr id="4" name="Rectangle 3"/>
            <p:cNvSpPr/>
            <p:nvPr/>
          </p:nvSpPr>
          <p:spPr>
            <a:xfrm>
              <a:off x="1349496" y="147915"/>
              <a:ext cx="1821332" cy="461665"/>
            </a:xfrm>
            <a:prstGeom prst="rect">
              <a:avLst/>
            </a:prstGeom>
          </p:spPr>
          <p:txBody>
            <a:bodyPr wrap="none">
              <a:spAutoFit/>
            </a:bodyPr>
            <a:lstStyle/>
            <a:p>
              <a:r>
                <a:rPr lang="en-US" sz="2400" b="1" dirty="0" smtClean="0">
                  <a:latin typeface="Bahnschrift" pitchFamily="34" charset="0"/>
                </a:rPr>
                <a:t>2- Retrieval</a:t>
              </a:r>
              <a:endParaRPr lang="en-IN" sz="2400" b="1" dirty="0">
                <a:latin typeface="Bahnschrift" pitchFamily="34" charset="0"/>
              </a:endParaRPr>
            </a:p>
          </p:txBody>
        </p:sp>
        <p:cxnSp>
          <p:nvCxnSpPr>
            <p:cNvPr id="9" name="Straight Connector 8"/>
            <p:cNvCxnSpPr/>
            <p:nvPr/>
          </p:nvCxnSpPr>
          <p:spPr>
            <a:xfrm>
              <a:off x="1224806" y="628825"/>
              <a:ext cx="4558146" cy="0"/>
            </a:xfrm>
            <a:prstGeom prst="line">
              <a:avLst/>
            </a:prstGeom>
          </p:spPr>
          <p:style>
            <a:lnRef idx="1">
              <a:schemeClr val="accent1"/>
            </a:lnRef>
            <a:fillRef idx="0">
              <a:schemeClr val="accent1"/>
            </a:fillRef>
            <a:effectRef idx="0">
              <a:schemeClr val="accent1"/>
            </a:effectRef>
            <a:fontRef idx="minor">
              <a:schemeClr val="tx1"/>
            </a:fontRef>
          </p:style>
        </p:cxnSp>
      </p:grpSp>
      <p:sp>
        <p:nvSpPr>
          <p:cNvPr id="13" name="Rectangle 12"/>
          <p:cNvSpPr/>
          <p:nvPr/>
        </p:nvSpPr>
        <p:spPr>
          <a:xfrm>
            <a:off x="1482435" y="2354797"/>
            <a:ext cx="10529456" cy="3046988"/>
          </a:xfrm>
          <a:prstGeom prst="rect">
            <a:avLst/>
          </a:prstGeom>
        </p:spPr>
        <p:txBody>
          <a:bodyPr wrap="square">
            <a:spAutoFit/>
          </a:bodyPr>
          <a:lstStyle/>
          <a:p>
            <a:r>
              <a:rPr lang="en-US" sz="1600" dirty="0" smtClean="0"/>
              <a:t>                                                     Instruction </a:t>
            </a:r>
            <a:r>
              <a:rPr lang="en-US" sz="1600" dirty="0"/>
              <a:t>means what the model has to pay attention to. Second retrieve content which is the data retrieved. Third thing is the user's question which needs an answer. </a:t>
            </a:r>
            <a:endParaRPr lang="en-US" sz="1600" dirty="0" smtClean="0"/>
          </a:p>
          <a:p>
            <a:r>
              <a:rPr lang="en-US" sz="1600" dirty="0" smtClean="0">
                <a:solidFill>
                  <a:schemeClr val="accent1"/>
                </a:solidFill>
                <a:latin typeface="Cascadia Code SemiBold" pitchFamily="49" charset="0"/>
                <a:cs typeface="Cascadia Code SemiBold" pitchFamily="49" charset="0"/>
              </a:rPr>
              <a:t>Now </a:t>
            </a:r>
            <a:r>
              <a:rPr lang="en-US" sz="1600" dirty="0">
                <a:solidFill>
                  <a:schemeClr val="accent1"/>
                </a:solidFill>
                <a:latin typeface="Cascadia Code SemiBold" pitchFamily="49" charset="0"/>
                <a:cs typeface="Cascadia Code SemiBold" pitchFamily="49" charset="0"/>
              </a:rPr>
              <a:t>how does </a:t>
            </a:r>
            <a:r>
              <a:rPr lang="en-US" sz="1600" dirty="0" smtClean="0">
                <a:solidFill>
                  <a:schemeClr val="accent1"/>
                </a:solidFill>
                <a:latin typeface="Cascadia Code SemiBold" pitchFamily="49" charset="0"/>
                <a:cs typeface="Cascadia Code SemiBold" pitchFamily="49" charset="0"/>
              </a:rPr>
              <a:t>rag </a:t>
            </a:r>
            <a:r>
              <a:rPr lang="en-US" sz="1600" dirty="0">
                <a:solidFill>
                  <a:schemeClr val="accent1"/>
                </a:solidFill>
                <a:latin typeface="Cascadia Code SemiBold" pitchFamily="49" charset="0"/>
                <a:cs typeface="Cascadia Code SemiBold" pitchFamily="49" charset="0"/>
              </a:rPr>
              <a:t>help in this? Now how does Rag work? </a:t>
            </a:r>
            <a:r>
              <a:rPr lang="en-US" sz="1600" dirty="0" smtClean="0">
                <a:solidFill>
                  <a:schemeClr val="accent1"/>
                </a:solidFill>
                <a:latin typeface="Cascadia Code SemiBold" pitchFamily="49" charset="0"/>
                <a:cs typeface="Cascadia Code SemiBold" pitchFamily="49" charset="0"/>
              </a:rPr>
              <a:t> </a:t>
            </a:r>
            <a:r>
              <a:rPr lang="en-US" sz="1600" dirty="0" smtClean="0"/>
              <a:t>Firstly </a:t>
            </a:r>
            <a:r>
              <a:rPr lang="en-US" sz="1600" dirty="0"/>
              <a:t>creating external data</a:t>
            </a:r>
            <a:r>
              <a:rPr lang="en-US" sz="1600" dirty="0" smtClean="0"/>
              <a:t>. </a:t>
            </a:r>
            <a:r>
              <a:rPr lang="en-US" sz="1600" dirty="0"/>
              <a:t>LLM is limited only to its training data. If we need new and updated information then we have to create external data which is outside the original training of the model. Where can this data come from? It can come from API. That is, for example, there is weather, news feeds. From there, data can come from databases, that is, documents like student records, documents like PDFs, word files, structured or unstructured formats like CSV or plain text. If the data is too much, like a large data set, then it is broken into chunks. Then each chunk is converted into numeric format, that is, </a:t>
            </a:r>
            <a:r>
              <a:rPr lang="en-US" sz="1600" dirty="0">
                <a:solidFill>
                  <a:schemeClr val="accent1"/>
                </a:solidFill>
                <a:latin typeface="Cascadia Code SemiBold" pitchFamily="49" charset="0"/>
                <a:cs typeface="Cascadia Code SemiBold" pitchFamily="49" charset="0"/>
              </a:rPr>
              <a:t>vectors, through embedding models</a:t>
            </a:r>
            <a:r>
              <a:rPr lang="en-US" sz="1600" dirty="0">
                <a:latin typeface="Cascadia Code SemiBold" pitchFamily="49" charset="0"/>
                <a:cs typeface="Cascadia Code SemiBold" pitchFamily="49" charset="0"/>
              </a:rPr>
              <a:t>. </a:t>
            </a:r>
            <a:r>
              <a:rPr lang="en-US" sz="1600" dirty="0"/>
              <a:t>So that AI can understand, these vectors are stored in vector databases like </a:t>
            </a:r>
            <a:r>
              <a:rPr lang="en-US" sz="1600" dirty="0" smtClean="0"/>
              <a:t> Pinecone, </a:t>
            </a:r>
            <a:r>
              <a:rPr lang="en-US" sz="1600" dirty="0"/>
              <a:t>etc. This database becomes a kind of knowledge library from which AI can take reference. The second is to retrieve relevant information. When a user writes a query, the system converts that query into a vector as well. Then this query vector is matched with the stored vector of the vector database. The most similar and relevant information is retrieved.</a:t>
            </a:r>
            <a:endParaRPr lang="en-IN" sz="1600" dirty="0"/>
          </a:p>
        </p:txBody>
      </p:sp>
      <p:sp>
        <p:nvSpPr>
          <p:cNvPr id="14" name="Rectangle 13"/>
          <p:cNvSpPr/>
          <p:nvPr/>
        </p:nvSpPr>
        <p:spPr>
          <a:xfrm>
            <a:off x="1607127" y="5418194"/>
            <a:ext cx="10404763" cy="830997"/>
          </a:xfrm>
          <a:prstGeom prst="rect">
            <a:avLst/>
          </a:prstGeom>
          <a:ln>
            <a:solidFill>
              <a:schemeClr val="bg1">
                <a:lumMod val="85000"/>
              </a:schemeClr>
            </a:solidFill>
          </a:ln>
        </p:spPr>
        <p:txBody>
          <a:bodyPr wrap="square">
            <a:spAutoFit/>
          </a:bodyPr>
          <a:lstStyle/>
          <a:p>
            <a:r>
              <a:rPr lang="en-US" sz="1600" dirty="0">
                <a:latin typeface="Cambria Math" pitchFamily="18" charset="0"/>
                <a:ea typeface="Cambria Math" pitchFamily="18" charset="0"/>
              </a:rPr>
              <a:t>For example, if a user asks “What are the key topics in the DSA course?”, what will the system do? It will retrieve relevant documents like course syllabus, study material and notes. </a:t>
            </a:r>
            <a:r>
              <a:rPr lang="en-US" sz="1600" dirty="0" smtClean="0">
                <a:latin typeface="Cambria Math" pitchFamily="18" charset="0"/>
                <a:ea typeface="Cambria Math" pitchFamily="18" charset="0"/>
              </a:rPr>
              <a:t>So in this case the </a:t>
            </a:r>
            <a:r>
              <a:rPr lang="en-US" sz="1600" dirty="0">
                <a:latin typeface="Cambria Math" pitchFamily="18" charset="0"/>
                <a:ea typeface="Cambria Math" pitchFamily="18" charset="0"/>
              </a:rPr>
              <a:t>answer given by the model is absolutely relevant and according to the user’s requirement.</a:t>
            </a:r>
            <a:endParaRPr lang="en-IN" sz="1600" dirty="0">
              <a:latin typeface="Cambria Math" pitchFamily="18" charset="0"/>
              <a:ea typeface="Cambria Math" pitchFamily="18" charset="0"/>
            </a:endParaRPr>
          </a:p>
        </p:txBody>
      </p:sp>
    </p:spTree>
    <p:extLst>
      <p:ext uri="{BB962C8B-B14F-4D97-AF65-F5344CB8AC3E}">
        <p14:creationId xmlns:p14="http://schemas.microsoft.com/office/powerpoint/2010/main" val="41846744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95CE01EE-9B82-1A8D-6A71-28923D9F4DBF}"/>
            </a:ext>
          </a:extLst>
        </p:cNvPr>
        <p:cNvGrpSpPr/>
        <p:nvPr/>
      </p:nvGrpSpPr>
      <p:grpSpPr>
        <a:xfrm>
          <a:off x="0" y="0"/>
          <a:ext cx="0" cy="0"/>
          <a:chOff x="0" y="0"/>
          <a:chExt cx="0" cy="0"/>
        </a:xfrm>
      </p:grpSpPr>
      <p:sp>
        <p:nvSpPr>
          <p:cNvPr id="6" name="Rectangle 5">
            <a:extLst>
              <a:ext uri="{FF2B5EF4-FFF2-40B4-BE49-F238E27FC236}">
                <a16:creationId xmlns="" xmlns:a16="http://schemas.microsoft.com/office/drawing/2014/main" id="{9B3BB1EE-8F0D-D402-9B66-38C94EBDCD27}"/>
              </a:ext>
            </a:extLst>
          </p:cNvPr>
          <p:cNvSpPr/>
          <p:nvPr/>
        </p:nvSpPr>
        <p:spPr>
          <a:xfrm>
            <a:off x="0" y="1"/>
            <a:ext cx="1126638" cy="6858000"/>
          </a:xfrm>
          <a:prstGeom prst="rect">
            <a:avLst/>
          </a:prstGeom>
          <a:solidFill>
            <a:srgbClr val="D7C055"/>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dirty="0">
              <a:cs typeface="Calibri"/>
            </a:endParaRPr>
          </a:p>
        </p:txBody>
      </p:sp>
      <p:sp>
        <p:nvSpPr>
          <p:cNvPr id="7" name="Rectangle 6">
            <a:extLst>
              <a:ext uri="{FF2B5EF4-FFF2-40B4-BE49-F238E27FC236}">
                <a16:creationId xmlns="" xmlns:a16="http://schemas.microsoft.com/office/drawing/2014/main" id="{1B92D285-0982-C7FC-2CCB-555CC4555729}"/>
              </a:ext>
            </a:extLst>
          </p:cNvPr>
          <p:cNvSpPr/>
          <p:nvPr/>
        </p:nvSpPr>
        <p:spPr>
          <a:xfrm>
            <a:off x="565288" y="0"/>
            <a:ext cx="549447" cy="685800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xtBox 7">
            <a:extLst>
              <a:ext uri="{FF2B5EF4-FFF2-40B4-BE49-F238E27FC236}">
                <a16:creationId xmlns="" xmlns:a16="http://schemas.microsoft.com/office/drawing/2014/main" id="{F5A501CB-25F7-430E-26A9-AC8C6F18EA43}"/>
              </a:ext>
            </a:extLst>
          </p:cNvPr>
          <p:cNvSpPr txBox="1"/>
          <p:nvPr/>
        </p:nvSpPr>
        <p:spPr>
          <a:xfrm>
            <a:off x="601006" y="42718"/>
            <a:ext cx="442291" cy="707886"/>
          </a:xfrm>
          <a:prstGeom prst="rect">
            <a:avLst/>
          </a:prstGeom>
          <a:noFill/>
        </p:spPr>
        <p:txBody>
          <a:bodyPr wrap="square" rtlCol="0">
            <a:spAutoFit/>
          </a:bodyPr>
          <a:lstStyle/>
          <a:p>
            <a:r>
              <a:rPr lang="el-GR" sz="4000" dirty="0">
                <a:solidFill>
                  <a:srgbClr val="D7C055"/>
                </a:solidFill>
              </a:rPr>
              <a:t>π</a:t>
            </a:r>
            <a:endParaRPr lang="en-US" sz="4000" dirty="0">
              <a:solidFill>
                <a:srgbClr val="D7C055"/>
              </a:solidFill>
            </a:endParaRPr>
          </a:p>
        </p:txBody>
      </p:sp>
      <p:sp>
        <p:nvSpPr>
          <p:cNvPr id="33" name="Footer Placeholder 32">
            <a:extLst>
              <a:ext uri="{FF2B5EF4-FFF2-40B4-BE49-F238E27FC236}">
                <a16:creationId xmlns="" xmlns:a16="http://schemas.microsoft.com/office/drawing/2014/main" id="{9EFE9F1A-54D1-5FC8-F649-AA565950307F}"/>
              </a:ext>
            </a:extLst>
          </p:cNvPr>
          <p:cNvSpPr>
            <a:spLocks noGrp="1"/>
          </p:cNvSpPr>
          <p:nvPr>
            <p:ph type="ftr" sz="quarter" idx="11"/>
          </p:nvPr>
        </p:nvSpPr>
        <p:spPr/>
        <p:txBody>
          <a:bodyPr/>
          <a:lstStyle/>
          <a:p>
            <a:r>
              <a:rPr lang="en-US" dirty="0"/>
              <a:t>Navigating the Future of Learning​</a:t>
            </a:r>
          </a:p>
        </p:txBody>
      </p:sp>
      <p:sp>
        <p:nvSpPr>
          <p:cNvPr id="2" name="Rectangle 1"/>
          <p:cNvSpPr/>
          <p:nvPr/>
        </p:nvSpPr>
        <p:spPr>
          <a:xfrm>
            <a:off x="1510145" y="1000174"/>
            <a:ext cx="10515600" cy="1138773"/>
          </a:xfrm>
          <a:prstGeom prst="rect">
            <a:avLst/>
          </a:prstGeom>
        </p:spPr>
        <p:txBody>
          <a:bodyPr wrap="square">
            <a:spAutoFit/>
          </a:bodyPr>
          <a:lstStyle/>
          <a:p>
            <a:r>
              <a:rPr lang="en-US" sz="1600" dirty="0" smtClean="0"/>
              <a:t>That </a:t>
            </a:r>
            <a:r>
              <a:rPr lang="en-US" sz="1600" dirty="0"/>
              <a:t>is, </a:t>
            </a:r>
            <a:r>
              <a:rPr lang="en-US" sz="1600" dirty="0" smtClean="0"/>
              <a:t>augmenting </a:t>
            </a:r>
            <a:r>
              <a:rPr lang="en-US" sz="1600" dirty="0"/>
              <a:t>the LLM prompt. The relevant data retrieved is added to the prompt. This process is called prompt engineering in which we explain to the LLM in which context it has to respond. The model gives more accurate and innovative answers. That is, what happens in this is that the risk of confusion is reduced and the user gets a </a:t>
            </a:r>
            <a:r>
              <a:rPr lang="en-US" dirty="0">
                <a:solidFill>
                  <a:srgbClr val="002060"/>
                </a:solidFill>
                <a:latin typeface="Bahnschrift" pitchFamily="34" charset="0"/>
              </a:rPr>
              <a:t>personalized</a:t>
            </a:r>
            <a:r>
              <a:rPr lang="en-US" dirty="0">
                <a:solidFill>
                  <a:schemeClr val="accent1"/>
                </a:solidFill>
                <a:latin typeface="Bahnschrift" pitchFamily="34" charset="0"/>
              </a:rPr>
              <a:t> </a:t>
            </a:r>
            <a:r>
              <a:rPr lang="en-US" sz="1600" dirty="0"/>
              <a:t>and </a:t>
            </a:r>
            <a:r>
              <a:rPr lang="en-US" dirty="0">
                <a:solidFill>
                  <a:srgbClr val="002060"/>
                </a:solidFill>
                <a:latin typeface="Bahnschrift" pitchFamily="34" charset="0"/>
              </a:rPr>
              <a:t>context-aware response</a:t>
            </a:r>
            <a:r>
              <a:rPr lang="en-US" dirty="0">
                <a:solidFill>
                  <a:schemeClr val="accent1"/>
                </a:solidFill>
                <a:latin typeface="Bahnschrift" pitchFamily="34" charset="0"/>
              </a:rPr>
              <a:t>.</a:t>
            </a:r>
            <a:endParaRPr lang="en-IN" dirty="0">
              <a:solidFill>
                <a:schemeClr val="accent1"/>
              </a:solidFill>
              <a:latin typeface="Bahnschrift" pitchFamily="34" charset="0"/>
            </a:endParaRPr>
          </a:p>
        </p:txBody>
      </p:sp>
      <p:grpSp>
        <p:nvGrpSpPr>
          <p:cNvPr id="10" name="Group 9"/>
          <p:cNvGrpSpPr/>
          <p:nvPr/>
        </p:nvGrpSpPr>
        <p:grpSpPr>
          <a:xfrm>
            <a:off x="1224736" y="254573"/>
            <a:ext cx="6362867" cy="494902"/>
            <a:chOff x="1233055" y="340770"/>
            <a:chExt cx="6362867" cy="494902"/>
          </a:xfrm>
        </p:grpSpPr>
        <p:sp>
          <p:nvSpPr>
            <p:cNvPr id="3" name="Rectangle 2"/>
            <p:cNvSpPr/>
            <p:nvPr/>
          </p:nvSpPr>
          <p:spPr>
            <a:xfrm>
              <a:off x="1343889" y="340770"/>
              <a:ext cx="6252033" cy="461665"/>
            </a:xfrm>
            <a:prstGeom prst="rect">
              <a:avLst/>
            </a:prstGeom>
          </p:spPr>
          <p:txBody>
            <a:bodyPr wrap="none">
              <a:spAutoFit/>
            </a:bodyPr>
            <a:lstStyle/>
            <a:p>
              <a:r>
                <a:rPr lang="en-US" sz="2400" b="1" dirty="0" smtClean="0">
                  <a:latin typeface="Bahnschrift" pitchFamily="34" charset="0"/>
                </a:rPr>
                <a:t>3- The </a:t>
              </a:r>
              <a:r>
                <a:rPr lang="en-US" sz="2400" b="1" dirty="0">
                  <a:latin typeface="Bahnschrift" pitchFamily="34" charset="0"/>
                </a:rPr>
                <a:t>third thing is to augment the prompt</a:t>
              </a:r>
              <a:r>
                <a:rPr lang="en-US" sz="2000" b="1" dirty="0">
                  <a:latin typeface="Bahnschrift" pitchFamily="34" charset="0"/>
                </a:rPr>
                <a:t>. </a:t>
              </a:r>
            </a:p>
          </p:txBody>
        </p:sp>
        <p:cxnSp>
          <p:nvCxnSpPr>
            <p:cNvPr id="5" name="Straight Connector 4"/>
            <p:cNvCxnSpPr/>
            <p:nvPr/>
          </p:nvCxnSpPr>
          <p:spPr>
            <a:xfrm>
              <a:off x="1233055" y="835672"/>
              <a:ext cx="6096000" cy="0"/>
            </a:xfrm>
            <a:prstGeom prst="line">
              <a:avLst/>
            </a:prstGeom>
            <a:ln>
              <a:solidFill>
                <a:srgbClr val="000000"/>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1833823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95CE01EE-9B82-1A8D-6A71-28923D9F4DBF}"/>
            </a:ext>
          </a:extLst>
        </p:cNvPr>
        <p:cNvGrpSpPr/>
        <p:nvPr/>
      </p:nvGrpSpPr>
      <p:grpSpPr>
        <a:xfrm>
          <a:off x="0" y="0"/>
          <a:ext cx="0" cy="0"/>
          <a:chOff x="0" y="0"/>
          <a:chExt cx="0" cy="0"/>
        </a:xfrm>
      </p:grpSpPr>
      <p:sp>
        <p:nvSpPr>
          <p:cNvPr id="6" name="Rectangle 5">
            <a:extLst>
              <a:ext uri="{FF2B5EF4-FFF2-40B4-BE49-F238E27FC236}">
                <a16:creationId xmlns="" xmlns:a16="http://schemas.microsoft.com/office/drawing/2014/main" id="{9B3BB1EE-8F0D-D402-9B66-38C94EBDCD27}"/>
              </a:ext>
            </a:extLst>
          </p:cNvPr>
          <p:cNvSpPr/>
          <p:nvPr/>
        </p:nvSpPr>
        <p:spPr>
          <a:xfrm>
            <a:off x="0" y="1"/>
            <a:ext cx="1126638" cy="6858000"/>
          </a:xfrm>
          <a:prstGeom prst="rect">
            <a:avLst/>
          </a:prstGeom>
          <a:solidFill>
            <a:srgbClr val="D7C055"/>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dirty="0">
              <a:cs typeface="Calibri"/>
            </a:endParaRPr>
          </a:p>
        </p:txBody>
      </p:sp>
      <p:sp>
        <p:nvSpPr>
          <p:cNvPr id="7" name="Rectangle 6">
            <a:extLst>
              <a:ext uri="{FF2B5EF4-FFF2-40B4-BE49-F238E27FC236}">
                <a16:creationId xmlns="" xmlns:a16="http://schemas.microsoft.com/office/drawing/2014/main" id="{1B92D285-0982-C7FC-2CCB-555CC4555729}"/>
              </a:ext>
            </a:extLst>
          </p:cNvPr>
          <p:cNvSpPr/>
          <p:nvPr/>
        </p:nvSpPr>
        <p:spPr>
          <a:xfrm>
            <a:off x="565288" y="0"/>
            <a:ext cx="549447" cy="685800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xtBox 7">
            <a:extLst>
              <a:ext uri="{FF2B5EF4-FFF2-40B4-BE49-F238E27FC236}">
                <a16:creationId xmlns="" xmlns:a16="http://schemas.microsoft.com/office/drawing/2014/main" id="{F5A501CB-25F7-430E-26A9-AC8C6F18EA43}"/>
              </a:ext>
            </a:extLst>
          </p:cNvPr>
          <p:cNvSpPr txBox="1"/>
          <p:nvPr/>
        </p:nvSpPr>
        <p:spPr>
          <a:xfrm>
            <a:off x="601006" y="42718"/>
            <a:ext cx="442291" cy="707886"/>
          </a:xfrm>
          <a:prstGeom prst="rect">
            <a:avLst/>
          </a:prstGeom>
          <a:noFill/>
        </p:spPr>
        <p:txBody>
          <a:bodyPr wrap="square" rtlCol="0">
            <a:spAutoFit/>
          </a:bodyPr>
          <a:lstStyle/>
          <a:p>
            <a:r>
              <a:rPr lang="el-GR" sz="4000" dirty="0">
                <a:solidFill>
                  <a:srgbClr val="D7C055"/>
                </a:solidFill>
              </a:rPr>
              <a:t>π</a:t>
            </a:r>
            <a:endParaRPr lang="en-US" sz="4000" dirty="0">
              <a:solidFill>
                <a:srgbClr val="D7C055"/>
              </a:solidFill>
            </a:endParaRPr>
          </a:p>
        </p:txBody>
      </p:sp>
      <p:sp>
        <p:nvSpPr>
          <p:cNvPr id="33" name="Footer Placeholder 32">
            <a:extLst>
              <a:ext uri="{FF2B5EF4-FFF2-40B4-BE49-F238E27FC236}">
                <a16:creationId xmlns="" xmlns:a16="http://schemas.microsoft.com/office/drawing/2014/main" id="{9EFE9F1A-54D1-5FC8-F649-AA565950307F}"/>
              </a:ext>
            </a:extLst>
          </p:cNvPr>
          <p:cNvSpPr>
            <a:spLocks noGrp="1"/>
          </p:cNvSpPr>
          <p:nvPr>
            <p:ph type="ftr" sz="quarter" idx="11"/>
          </p:nvPr>
        </p:nvSpPr>
        <p:spPr/>
        <p:txBody>
          <a:bodyPr/>
          <a:lstStyle/>
          <a:p>
            <a:r>
              <a:rPr lang="en-US" dirty="0"/>
              <a:t>Navigating the Future of Learning​</a:t>
            </a:r>
          </a:p>
        </p:txBody>
      </p:sp>
      <p:sp>
        <p:nvSpPr>
          <p:cNvPr id="2" name="Rectangle 1"/>
          <p:cNvSpPr/>
          <p:nvPr/>
        </p:nvSpPr>
        <p:spPr>
          <a:xfrm>
            <a:off x="1510145" y="1000174"/>
            <a:ext cx="10515600" cy="1815882"/>
          </a:xfrm>
          <a:prstGeom prst="rect">
            <a:avLst/>
          </a:prstGeom>
        </p:spPr>
        <p:txBody>
          <a:bodyPr wrap="square">
            <a:spAutoFit/>
          </a:bodyPr>
          <a:lstStyle/>
          <a:p>
            <a:r>
              <a:rPr lang="en-US" sz="1600" dirty="0" smtClean="0"/>
              <a:t>Accurate </a:t>
            </a:r>
            <a:r>
              <a:rPr lang="en-US" sz="1600" dirty="0"/>
              <a:t>and up to date responses are possible only when external data is refreshed regularly. </a:t>
            </a:r>
            <a:endParaRPr lang="en-US" sz="1600" dirty="0" smtClean="0"/>
          </a:p>
          <a:p>
            <a:r>
              <a:rPr lang="en-US" sz="1600" dirty="0" smtClean="0"/>
              <a:t>There </a:t>
            </a:r>
            <a:r>
              <a:rPr lang="en-US" sz="1600" dirty="0"/>
              <a:t>are two ways to do this. </a:t>
            </a:r>
            <a:endParaRPr lang="en-US" sz="1600" dirty="0" smtClean="0"/>
          </a:p>
          <a:p>
            <a:r>
              <a:rPr lang="en-US" sz="1600" dirty="0" smtClean="0"/>
              <a:t>First </a:t>
            </a:r>
            <a:r>
              <a:rPr lang="en-US" sz="1600" dirty="0"/>
              <a:t>is real time updates. Like pulling data from live IAPs. </a:t>
            </a:r>
            <a:endParaRPr lang="en-US" sz="1600" dirty="0" smtClean="0"/>
          </a:p>
          <a:p>
            <a:r>
              <a:rPr lang="en-US" sz="1600" dirty="0" smtClean="0"/>
              <a:t>Second </a:t>
            </a:r>
            <a:r>
              <a:rPr lang="en-US" sz="1600" dirty="0"/>
              <a:t>is scheduled batch updates. Like updating the database once every morning. </a:t>
            </a:r>
            <a:endParaRPr lang="en-US" sz="1600" dirty="0" smtClean="0"/>
          </a:p>
          <a:p>
            <a:endParaRPr lang="en-US" sz="1600" dirty="0"/>
          </a:p>
          <a:p>
            <a:r>
              <a:rPr lang="en-US" sz="1600" dirty="0" smtClean="0"/>
              <a:t>Also </a:t>
            </a:r>
            <a:r>
              <a:rPr lang="en-US" sz="1600" dirty="0"/>
              <a:t>new </a:t>
            </a:r>
            <a:r>
              <a:rPr lang="en-US" sz="1600" dirty="0" smtClean="0"/>
              <a:t>embedding </a:t>
            </a:r>
            <a:r>
              <a:rPr lang="en-US" sz="1600" dirty="0"/>
              <a:t>have to be created whenever the data changes. This ensures that the </a:t>
            </a:r>
            <a:r>
              <a:rPr lang="en-US" sz="1600" b="1" dirty="0" smtClean="0">
                <a:latin typeface="Bahnschrift" pitchFamily="34" charset="0"/>
              </a:rPr>
              <a:t>Rag</a:t>
            </a:r>
            <a:r>
              <a:rPr lang="en-US" sz="1600" dirty="0" smtClean="0"/>
              <a:t> </a:t>
            </a:r>
            <a:r>
              <a:rPr lang="en-US" sz="1600" dirty="0"/>
              <a:t>system always works with fresh and latest information.</a:t>
            </a:r>
            <a:endParaRPr lang="en-IN" dirty="0">
              <a:solidFill>
                <a:schemeClr val="accent1"/>
              </a:solidFill>
              <a:latin typeface="Bahnschrift" pitchFamily="34" charset="0"/>
            </a:endParaRPr>
          </a:p>
        </p:txBody>
      </p:sp>
      <p:grpSp>
        <p:nvGrpSpPr>
          <p:cNvPr id="10" name="Group 9"/>
          <p:cNvGrpSpPr/>
          <p:nvPr/>
        </p:nvGrpSpPr>
        <p:grpSpPr>
          <a:xfrm>
            <a:off x="1224736" y="254573"/>
            <a:ext cx="6765220" cy="494902"/>
            <a:chOff x="1233055" y="340770"/>
            <a:chExt cx="6765220" cy="494902"/>
          </a:xfrm>
        </p:grpSpPr>
        <p:sp>
          <p:nvSpPr>
            <p:cNvPr id="3" name="Rectangle 2"/>
            <p:cNvSpPr/>
            <p:nvPr/>
          </p:nvSpPr>
          <p:spPr>
            <a:xfrm>
              <a:off x="1343889" y="340770"/>
              <a:ext cx="6654386" cy="461665"/>
            </a:xfrm>
            <a:prstGeom prst="rect">
              <a:avLst/>
            </a:prstGeom>
          </p:spPr>
          <p:txBody>
            <a:bodyPr wrap="none">
              <a:spAutoFit/>
            </a:bodyPr>
            <a:lstStyle/>
            <a:p>
              <a:r>
                <a:rPr lang="en-US" sz="2400" b="1" dirty="0" smtClean="0">
                  <a:latin typeface="Bahnschrift" pitchFamily="34" charset="0"/>
                </a:rPr>
                <a:t>4- </a:t>
              </a:r>
              <a:r>
                <a:rPr lang="en-US" sz="2400" b="1" dirty="0">
                  <a:latin typeface="Bahnschrift" pitchFamily="34" charset="0"/>
                </a:rPr>
                <a:t>Fourth is keeping external data up to </a:t>
              </a:r>
              <a:r>
                <a:rPr lang="en-US" sz="2400" b="1" dirty="0" smtClean="0">
                  <a:latin typeface="Bahnschrift" pitchFamily="34" charset="0"/>
                </a:rPr>
                <a:t>date </a:t>
              </a:r>
              <a:endParaRPr lang="en-US" sz="2400" b="1" dirty="0">
                <a:latin typeface="Bahnschrift" pitchFamily="34" charset="0"/>
              </a:endParaRPr>
            </a:p>
          </p:txBody>
        </p:sp>
        <p:cxnSp>
          <p:nvCxnSpPr>
            <p:cNvPr id="5" name="Straight Connector 4"/>
            <p:cNvCxnSpPr/>
            <p:nvPr/>
          </p:nvCxnSpPr>
          <p:spPr>
            <a:xfrm flipV="1">
              <a:off x="1233055" y="802435"/>
              <a:ext cx="6765220" cy="33237"/>
            </a:xfrm>
            <a:prstGeom prst="line">
              <a:avLst/>
            </a:prstGeom>
            <a:ln>
              <a:solidFill>
                <a:srgbClr val="000000"/>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3552153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95CE01EE-9B82-1A8D-6A71-28923D9F4DBF}"/>
            </a:ext>
          </a:extLst>
        </p:cNvPr>
        <p:cNvGrpSpPr/>
        <p:nvPr/>
      </p:nvGrpSpPr>
      <p:grpSpPr>
        <a:xfrm>
          <a:off x="0" y="0"/>
          <a:ext cx="0" cy="0"/>
          <a:chOff x="0" y="0"/>
          <a:chExt cx="0" cy="0"/>
        </a:xfrm>
      </p:grpSpPr>
      <p:sp>
        <p:nvSpPr>
          <p:cNvPr id="6" name="Rectangle 5">
            <a:extLst>
              <a:ext uri="{FF2B5EF4-FFF2-40B4-BE49-F238E27FC236}">
                <a16:creationId xmlns="" xmlns:a16="http://schemas.microsoft.com/office/drawing/2014/main" id="{9B3BB1EE-8F0D-D402-9B66-38C94EBDCD27}"/>
              </a:ext>
            </a:extLst>
          </p:cNvPr>
          <p:cNvSpPr/>
          <p:nvPr/>
        </p:nvSpPr>
        <p:spPr>
          <a:xfrm>
            <a:off x="0" y="1"/>
            <a:ext cx="1126638" cy="6858000"/>
          </a:xfrm>
          <a:prstGeom prst="rect">
            <a:avLst/>
          </a:prstGeom>
          <a:solidFill>
            <a:srgbClr val="D7C055"/>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dirty="0">
              <a:cs typeface="Calibri"/>
            </a:endParaRPr>
          </a:p>
        </p:txBody>
      </p:sp>
      <p:sp>
        <p:nvSpPr>
          <p:cNvPr id="7" name="Rectangle 6">
            <a:extLst>
              <a:ext uri="{FF2B5EF4-FFF2-40B4-BE49-F238E27FC236}">
                <a16:creationId xmlns="" xmlns:a16="http://schemas.microsoft.com/office/drawing/2014/main" id="{1B92D285-0982-C7FC-2CCB-555CC4555729}"/>
              </a:ext>
            </a:extLst>
          </p:cNvPr>
          <p:cNvSpPr/>
          <p:nvPr/>
        </p:nvSpPr>
        <p:spPr>
          <a:xfrm>
            <a:off x="565288" y="0"/>
            <a:ext cx="549447" cy="685800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xtBox 7">
            <a:extLst>
              <a:ext uri="{FF2B5EF4-FFF2-40B4-BE49-F238E27FC236}">
                <a16:creationId xmlns="" xmlns:a16="http://schemas.microsoft.com/office/drawing/2014/main" id="{F5A501CB-25F7-430E-26A9-AC8C6F18EA43}"/>
              </a:ext>
            </a:extLst>
          </p:cNvPr>
          <p:cNvSpPr txBox="1"/>
          <p:nvPr/>
        </p:nvSpPr>
        <p:spPr>
          <a:xfrm>
            <a:off x="601006" y="42718"/>
            <a:ext cx="442291" cy="707886"/>
          </a:xfrm>
          <a:prstGeom prst="rect">
            <a:avLst/>
          </a:prstGeom>
          <a:noFill/>
        </p:spPr>
        <p:txBody>
          <a:bodyPr wrap="square" rtlCol="0">
            <a:spAutoFit/>
          </a:bodyPr>
          <a:lstStyle/>
          <a:p>
            <a:r>
              <a:rPr lang="el-GR" sz="4000" dirty="0">
                <a:solidFill>
                  <a:srgbClr val="D7C055"/>
                </a:solidFill>
              </a:rPr>
              <a:t>π</a:t>
            </a:r>
            <a:endParaRPr lang="en-US" sz="4000" dirty="0">
              <a:solidFill>
                <a:srgbClr val="D7C055"/>
              </a:solidFill>
            </a:endParaRPr>
          </a:p>
        </p:txBody>
      </p:sp>
      <p:pic>
        <p:nvPicPr>
          <p:cNvPr id="10" name="Picture 9" descr="A logo with lines in a black background&#10;&#10;Description automatically generated">
            <a:extLst>
              <a:ext uri="{FF2B5EF4-FFF2-40B4-BE49-F238E27FC236}">
                <a16:creationId xmlns="" xmlns:a16="http://schemas.microsoft.com/office/drawing/2014/main" id="{F6D8D221-4B29-D734-A328-58D818C34433}"/>
              </a:ext>
            </a:extLst>
          </p:cNvPr>
          <p:cNvPicPr>
            <a:picLocks noChangeAspect="1"/>
          </p:cNvPicPr>
          <p:nvPr/>
        </p:nvPicPr>
        <p:blipFill>
          <a:blip r:embed="rId3"/>
          <a:stretch>
            <a:fillRect/>
          </a:stretch>
        </p:blipFill>
        <p:spPr>
          <a:xfrm>
            <a:off x="11202642" y="-205416"/>
            <a:ext cx="1217233" cy="1205327"/>
          </a:xfrm>
          <a:prstGeom prst="rect">
            <a:avLst/>
          </a:prstGeom>
        </p:spPr>
      </p:pic>
      <p:sp>
        <p:nvSpPr>
          <p:cNvPr id="33" name="Footer Placeholder 32">
            <a:extLst>
              <a:ext uri="{FF2B5EF4-FFF2-40B4-BE49-F238E27FC236}">
                <a16:creationId xmlns="" xmlns:a16="http://schemas.microsoft.com/office/drawing/2014/main" id="{9EFE9F1A-54D1-5FC8-F649-AA565950307F}"/>
              </a:ext>
            </a:extLst>
          </p:cNvPr>
          <p:cNvSpPr>
            <a:spLocks noGrp="1"/>
          </p:cNvSpPr>
          <p:nvPr>
            <p:ph type="ftr" sz="quarter" idx="11"/>
          </p:nvPr>
        </p:nvSpPr>
        <p:spPr/>
        <p:txBody>
          <a:bodyPr/>
          <a:lstStyle/>
          <a:p>
            <a:r>
              <a:rPr lang="en-US" dirty="0"/>
              <a:t>Navigating the Future of Learning​</a:t>
            </a:r>
          </a:p>
        </p:txBody>
      </p:sp>
      <p:sp>
        <p:nvSpPr>
          <p:cNvPr id="35" name="Title 1">
            <a:extLst>
              <a:ext uri="{FF2B5EF4-FFF2-40B4-BE49-F238E27FC236}">
                <a16:creationId xmlns="" xmlns:a16="http://schemas.microsoft.com/office/drawing/2014/main" id="{8E4945F9-351B-FE06-B4C4-5E27ED97FD2B}"/>
              </a:ext>
            </a:extLst>
          </p:cNvPr>
          <p:cNvSpPr txBox="1">
            <a:spLocks/>
          </p:cNvSpPr>
          <p:nvPr/>
        </p:nvSpPr>
        <p:spPr>
          <a:xfrm>
            <a:off x="1413327" y="52549"/>
            <a:ext cx="8187873" cy="71299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3200" dirty="0">
                <a:latin typeface="Bahnschrift" pitchFamily="34" charset="0"/>
              </a:rPr>
              <a:t>Limitations of Prompt Engineering</a:t>
            </a:r>
          </a:p>
        </p:txBody>
      </p:sp>
      <p:sp>
        <p:nvSpPr>
          <p:cNvPr id="4" name="TextBox 3">
            <a:extLst>
              <a:ext uri="{FF2B5EF4-FFF2-40B4-BE49-F238E27FC236}">
                <a16:creationId xmlns="" xmlns:a16="http://schemas.microsoft.com/office/drawing/2014/main" id="{07F534BF-3665-3A63-9E76-315A8FA97E3C}"/>
              </a:ext>
            </a:extLst>
          </p:cNvPr>
          <p:cNvSpPr txBox="1"/>
          <p:nvPr/>
        </p:nvSpPr>
        <p:spPr>
          <a:xfrm>
            <a:off x="1972591" y="1236337"/>
            <a:ext cx="10053154" cy="3139321"/>
          </a:xfrm>
          <a:prstGeom prst="rect">
            <a:avLst/>
          </a:prstGeom>
          <a:noFill/>
          <a:ln>
            <a:solidFill>
              <a:schemeClr val="bg1">
                <a:lumMod val="95000"/>
              </a:schemeClr>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buFont typeface="Arial" panose="020B0604020202020204" pitchFamily="34" charset="0"/>
              <a:buChar char="•"/>
            </a:pPr>
            <a:r>
              <a:rPr lang="en-IN" dirty="0"/>
              <a:t>What is Prompt Engineering:</a:t>
            </a:r>
          </a:p>
          <a:p>
            <a:pPr marL="800100" lvl="1" indent="-342900">
              <a:buFont typeface="Arial" panose="020B0604020202020204" pitchFamily="34" charset="0"/>
              <a:buChar char="•"/>
            </a:pPr>
            <a:r>
              <a:rPr lang="en-IN" dirty="0"/>
              <a:t>Prompt engineering involves crafting specific input instructions or prompts to guide the output generation of AI models.</a:t>
            </a:r>
          </a:p>
          <a:p>
            <a:pPr marL="342900" indent="-342900">
              <a:buFont typeface="Arial" panose="020B0604020202020204" pitchFamily="34" charset="0"/>
              <a:buChar char="•"/>
            </a:pPr>
            <a:r>
              <a:rPr lang="en-IN" dirty="0"/>
              <a:t>Limitations of Prompt Engineering:</a:t>
            </a:r>
          </a:p>
          <a:p>
            <a:pPr marL="800100" lvl="1" indent="-342900">
              <a:buFont typeface="Arial" panose="020B0604020202020204" pitchFamily="34" charset="0"/>
              <a:buChar char="•"/>
            </a:pPr>
            <a:r>
              <a:rPr lang="en-IN" dirty="0"/>
              <a:t>Token Limitation</a:t>
            </a:r>
          </a:p>
          <a:p>
            <a:pPr marL="1257300" lvl="2" indent="-342900">
              <a:buFont typeface="Arial" panose="020B0604020202020204" pitchFamily="34" charset="0"/>
              <a:buChar char="•"/>
            </a:pPr>
            <a:r>
              <a:rPr lang="en-IN" dirty="0"/>
              <a:t>Hard to give detailed instructions in a small space.</a:t>
            </a:r>
          </a:p>
          <a:p>
            <a:pPr marL="1257300" lvl="2" indent="-342900">
              <a:buFont typeface="Arial" panose="020B0604020202020204" pitchFamily="34" charset="0"/>
              <a:buChar char="•"/>
            </a:pPr>
            <a:r>
              <a:rPr lang="en-IN" dirty="0"/>
              <a:t>AI might misunderstand or make things too simple, creating wrong or unhelpful stuff.</a:t>
            </a:r>
          </a:p>
          <a:p>
            <a:pPr marL="800100" lvl="1" indent="-342900">
              <a:buFont typeface="Arial" panose="020B0604020202020204" pitchFamily="34" charset="0"/>
              <a:buChar char="•"/>
            </a:pPr>
            <a:r>
              <a:rPr lang="en-IN" dirty="0"/>
              <a:t>Knowledge </a:t>
            </a:r>
            <a:r>
              <a:rPr lang="en-IN" dirty="0" smtClean="0"/>
              <a:t>Cut-off</a:t>
            </a:r>
            <a:endParaRPr lang="en-IN" dirty="0"/>
          </a:p>
          <a:p>
            <a:pPr marL="800100" lvl="1" indent="-342900">
              <a:buFont typeface="Arial" panose="020B0604020202020204" pitchFamily="34" charset="0"/>
              <a:buChar char="•"/>
            </a:pPr>
            <a:r>
              <a:rPr lang="en-IN" dirty="0"/>
              <a:t>At Risk from Tricky Inputs</a:t>
            </a:r>
          </a:p>
          <a:p>
            <a:pPr marL="1257300" lvl="2" indent="-342900">
              <a:buFont typeface="Arial" panose="020B0604020202020204" pitchFamily="34" charset="0"/>
              <a:buChar char="•"/>
            </a:pPr>
            <a:r>
              <a:rPr lang="en-IN" dirty="0"/>
              <a:t>Mean prompts can fool the AI into making bad or biased stuff.</a:t>
            </a:r>
          </a:p>
          <a:p>
            <a:pPr marL="1257300" lvl="2" indent="-342900">
              <a:buFont typeface="Arial" panose="020B0604020202020204" pitchFamily="34" charset="0"/>
              <a:buChar char="•"/>
            </a:pPr>
            <a:r>
              <a:rPr lang="en-IN" dirty="0"/>
              <a:t>We need strong ways to stop and fix these sneaky attacks.</a:t>
            </a:r>
          </a:p>
        </p:txBody>
      </p:sp>
    </p:spTree>
    <p:extLst>
      <p:ext uri="{BB962C8B-B14F-4D97-AF65-F5344CB8AC3E}">
        <p14:creationId xmlns:p14="http://schemas.microsoft.com/office/powerpoint/2010/main" val="14012513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 xmlns:a16="http://schemas.microsoft.com/office/drawing/2014/main" id="{626D0CFA-48B8-3E4B-1A49-D1519B523717}"/>
              </a:ext>
            </a:extLst>
          </p:cNvPr>
          <p:cNvSpPr/>
          <p:nvPr/>
        </p:nvSpPr>
        <p:spPr>
          <a:xfrm>
            <a:off x="0" y="1"/>
            <a:ext cx="1948169" cy="6858000"/>
          </a:xfrm>
          <a:prstGeom prst="rect">
            <a:avLst/>
          </a:prstGeom>
          <a:solidFill>
            <a:srgbClr val="D7C05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 xmlns:a16="http://schemas.microsoft.com/office/drawing/2014/main" id="{54FF0842-65B7-CA57-2F5A-D61967EF9A86}"/>
              </a:ext>
            </a:extLst>
          </p:cNvPr>
          <p:cNvSpPr txBox="1"/>
          <p:nvPr/>
        </p:nvSpPr>
        <p:spPr>
          <a:xfrm>
            <a:off x="601006" y="42718"/>
            <a:ext cx="442291" cy="707886"/>
          </a:xfrm>
          <a:prstGeom prst="rect">
            <a:avLst/>
          </a:prstGeom>
          <a:noFill/>
        </p:spPr>
        <p:txBody>
          <a:bodyPr wrap="square" rtlCol="0">
            <a:spAutoFit/>
          </a:bodyPr>
          <a:lstStyle/>
          <a:p>
            <a:r>
              <a:rPr lang="el-GR" sz="4000" dirty="0">
                <a:solidFill>
                  <a:srgbClr val="D7C055"/>
                </a:solidFill>
              </a:rPr>
              <a:t>π</a:t>
            </a:r>
            <a:endParaRPr lang="en-US" sz="4000" dirty="0">
              <a:solidFill>
                <a:srgbClr val="D7C055"/>
              </a:solidFill>
            </a:endParaRPr>
          </a:p>
        </p:txBody>
      </p:sp>
      <p:sp>
        <p:nvSpPr>
          <p:cNvPr id="9" name="Rectangle 8">
            <a:extLst>
              <a:ext uri="{FF2B5EF4-FFF2-40B4-BE49-F238E27FC236}">
                <a16:creationId xmlns="" xmlns:a16="http://schemas.microsoft.com/office/drawing/2014/main" id="{086E1CFB-A153-D93E-36A4-626934EA70A2}"/>
              </a:ext>
            </a:extLst>
          </p:cNvPr>
          <p:cNvSpPr/>
          <p:nvPr/>
        </p:nvSpPr>
        <p:spPr>
          <a:xfrm>
            <a:off x="0" y="5572125"/>
            <a:ext cx="12187542" cy="1285876"/>
          </a:xfrm>
          <a:prstGeom prst="rect">
            <a:avLst/>
          </a:prstGeom>
          <a:solidFill>
            <a:srgbClr val="D7C05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 xmlns:a16="http://schemas.microsoft.com/office/drawing/2014/main" id="{FD0E1369-B664-5A34-37EB-F2E23636CCE2}"/>
              </a:ext>
            </a:extLst>
          </p:cNvPr>
          <p:cNvSpPr/>
          <p:nvPr/>
        </p:nvSpPr>
        <p:spPr>
          <a:xfrm>
            <a:off x="-260" y="5572124"/>
            <a:ext cx="12193758" cy="583407"/>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 xmlns:a16="http://schemas.microsoft.com/office/drawing/2014/main" id="{1416A07B-D1C1-CCF8-D7C5-0E48127EB26A}"/>
              </a:ext>
            </a:extLst>
          </p:cNvPr>
          <p:cNvSpPr/>
          <p:nvPr/>
        </p:nvSpPr>
        <p:spPr>
          <a:xfrm>
            <a:off x="1291568" y="-1"/>
            <a:ext cx="656603" cy="685800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TextBox 13">
            <a:extLst>
              <a:ext uri="{FF2B5EF4-FFF2-40B4-BE49-F238E27FC236}">
                <a16:creationId xmlns="" xmlns:a16="http://schemas.microsoft.com/office/drawing/2014/main" id="{E5C46304-707F-3EF8-C7C9-2F0B0A921B41}"/>
              </a:ext>
            </a:extLst>
          </p:cNvPr>
          <p:cNvSpPr txBox="1"/>
          <p:nvPr/>
        </p:nvSpPr>
        <p:spPr>
          <a:xfrm>
            <a:off x="1396344" y="5505306"/>
            <a:ext cx="442291" cy="707886"/>
          </a:xfrm>
          <a:prstGeom prst="rect">
            <a:avLst/>
          </a:prstGeom>
          <a:noFill/>
        </p:spPr>
        <p:txBody>
          <a:bodyPr wrap="square" rtlCol="0">
            <a:spAutoFit/>
          </a:bodyPr>
          <a:lstStyle/>
          <a:p>
            <a:r>
              <a:rPr lang="el-GR" sz="4000" dirty="0">
                <a:solidFill>
                  <a:srgbClr val="D7C055"/>
                </a:solidFill>
              </a:rPr>
              <a:t>π</a:t>
            </a:r>
            <a:endParaRPr lang="en-US" sz="4000" dirty="0">
              <a:solidFill>
                <a:srgbClr val="D7C055"/>
              </a:solidFill>
            </a:endParaRPr>
          </a:p>
        </p:txBody>
      </p:sp>
      <p:sp>
        <p:nvSpPr>
          <p:cNvPr id="15" name="Google Shape;143;p1">
            <a:extLst>
              <a:ext uri="{FF2B5EF4-FFF2-40B4-BE49-F238E27FC236}">
                <a16:creationId xmlns="" xmlns:a16="http://schemas.microsoft.com/office/drawing/2014/main" id="{C9764481-C48B-F71F-0C2D-6C544B78BD03}"/>
              </a:ext>
            </a:extLst>
          </p:cNvPr>
          <p:cNvSpPr txBox="1">
            <a:spLocks noGrp="1"/>
          </p:cNvSpPr>
          <p:nvPr/>
        </p:nvSpPr>
        <p:spPr>
          <a:xfrm>
            <a:off x="2233551" y="219164"/>
            <a:ext cx="9903831" cy="1166291"/>
          </a:xfrm>
          <a:prstGeom prst="rect">
            <a:avLst/>
          </a:prstGeom>
          <a:noFill/>
          <a:ln>
            <a:noFill/>
          </a:ln>
        </p:spPr>
        <p:txBody>
          <a:bodyPr spcFirstLastPara="1" wrap="square" lIns="91425" tIns="45700" rIns="91425" bIns="45700" anchor="b"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rgbClr val="343F49"/>
              </a:buClr>
              <a:buSzPts val="5400"/>
              <a:buFont typeface="Arial"/>
              <a:buNone/>
              <a:defRPr sz="5400" b="0" i="0" u="none" strike="noStrike" cap="none">
                <a:solidFill>
                  <a:srgbClr val="343F49"/>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IN" sz="4600" b="1" dirty="0">
                <a:solidFill>
                  <a:schemeClr val="tx1"/>
                </a:solidFill>
                <a:latin typeface="Bahnschrift" pitchFamily="34" charset="0"/>
              </a:rPr>
              <a:t>Retrieval Augmented Generation </a:t>
            </a:r>
            <a:r>
              <a:rPr lang="en-US" sz="4600" b="1" dirty="0">
                <a:solidFill>
                  <a:schemeClr val="tx1"/>
                </a:solidFill>
                <a:latin typeface="Bahnschrift" pitchFamily="34" charset="0"/>
              </a:rPr>
              <a:t> </a:t>
            </a:r>
            <a:endParaRPr sz="4600" b="1" dirty="0">
              <a:solidFill>
                <a:schemeClr val="tx1"/>
              </a:solidFill>
              <a:latin typeface="Bahnschrift" pitchFamily="34" charset="0"/>
            </a:endParaRPr>
          </a:p>
        </p:txBody>
      </p:sp>
      <p:sp>
        <p:nvSpPr>
          <p:cNvPr id="16" name="Google Shape;144;p1">
            <a:extLst>
              <a:ext uri="{FF2B5EF4-FFF2-40B4-BE49-F238E27FC236}">
                <a16:creationId xmlns="" xmlns:a16="http://schemas.microsoft.com/office/drawing/2014/main" id="{BBED11E4-2954-95E1-DDA9-5E0CD86221C7}"/>
              </a:ext>
            </a:extLst>
          </p:cNvPr>
          <p:cNvSpPr txBox="1">
            <a:spLocks noGrp="1"/>
          </p:cNvSpPr>
          <p:nvPr/>
        </p:nvSpPr>
        <p:spPr>
          <a:xfrm>
            <a:off x="2649187" y="1782626"/>
            <a:ext cx="7718487" cy="2039420"/>
          </a:xfrm>
          <a:prstGeom prst="rect">
            <a:avLst/>
          </a:prstGeom>
          <a:noFill/>
          <a:ln>
            <a:noFill/>
          </a:ln>
        </p:spPr>
        <p:txBody>
          <a:bodyPr spcFirstLastPara="1" wrap="square" lIns="91425" tIns="45700" rIns="91425" bIns="45700" anchor="t" anchorCtr="0">
            <a:normAutofit fontScale="77500" lnSpcReduction="20000"/>
          </a:bodyPr>
          <a:lstStyle>
            <a:defPPr marR="0" lvl="0" algn="l" rtl="0">
              <a:lnSpc>
                <a:spcPct val="100000"/>
              </a:lnSpc>
              <a:spcBef>
                <a:spcPts val="0"/>
              </a:spcBef>
              <a:spcAft>
                <a:spcPts val="0"/>
              </a:spcAft>
            </a:defPPr>
            <a:lvl1pPr marL="457200" marR="0" lvl="0" indent="-406400" algn="l" rtl="0">
              <a:lnSpc>
                <a:spcPct val="90000"/>
              </a:lnSpc>
              <a:spcBef>
                <a:spcPts val="0"/>
              </a:spcBef>
              <a:spcAft>
                <a:spcPts val="0"/>
              </a:spcAft>
              <a:buClr>
                <a:schemeClr val="dk1"/>
              </a:buClr>
              <a:buSzPts val="3200"/>
              <a:buFont typeface="Arial"/>
              <a:buNone/>
              <a:defRPr sz="3200" b="0" i="0" u="none" strike="noStrike" cap="none">
                <a:solidFill>
                  <a:schemeClr val="dk1"/>
                </a:solidFill>
                <a:latin typeface="Arial"/>
                <a:ea typeface="Arial"/>
                <a:cs typeface="Arial"/>
                <a:sym typeface="Arial"/>
              </a:defRPr>
            </a:lvl1pPr>
            <a:lvl2pPr marL="914400" marR="0" lvl="1" indent="-381000" algn="ctr" rtl="0">
              <a:lnSpc>
                <a:spcPct val="90000"/>
              </a:lnSpc>
              <a:spcBef>
                <a:spcPts val="600"/>
              </a:spcBef>
              <a:spcAft>
                <a:spcPts val="0"/>
              </a:spcAft>
              <a:buClr>
                <a:srgbClr val="92979C"/>
              </a:buClr>
              <a:buSzPts val="2400"/>
              <a:buFont typeface="Arial"/>
              <a:buNone/>
              <a:defRPr sz="2400" b="0" i="0" u="none" strike="noStrike" cap="none">
                <a:solidFill>
                  <a:srgbClr val="92979C"/>
                </a:solidFill>
                <a:latin typeface="Arial"/>
                <a:ea typeface="Arial"/>
                <a:cs typeface="Arial"/>
                <a:sym typeface="Arial"/>
              </a:defRPr>
            </a:lvl2pPr>
            <a:lvl3pPr marL="1371600" marR="0" lvl="2" indent="-355600" algn="ctr" rtl="0">
              <a:lnSpc>
                <a:spcPct val="90000"/>
              </a:lnSpc>
              <a:spcBef>
                <a:spcPts val="600"/>
              </a:spcBef>
              <a:spcAft>
                <a:spcPts val="0"/>
              </a:spcAft>
              <a:buClr>
                <a:srgbClr val="92979C"/>
              </a:buClr>
              <a:buSzPts val="2000"/>
              <a:buFont typeface="Arial"/>
              <a:buNone/>
              <a:defRPr sz="2000" b="0" i="0" u="none" strike="noStrike" cap="none">
                <a:solidFill>
                  <a:srgbClr val="92979C"/>
                </a:solidFill>
                <a:latin typeface="Arial"/>
                <a:ea typeface="Arial"/>
                <a:cs typeface="Arial"/>
                <a:sym typeface="Arial"/>
              </a:defRPr>
            </a:lvl3pPr>
            <a:lvl4pPr marL="1828800" marR="0" lvl="3" indent="-342900" algn="ctr" rtl="0">
              <a:lnSpc>
                <a:spcPct val="90000"/>
              </a:lnSpc>
              <a:spcBef>
                <a:spcPts val="600"/>
              </a:spcBef>
              <a:spcAft>
                <a:spcPts val="0"/>
              </a:spcAft>
              <a:buClr>
                <a:srgbClr val="92979C"/>
              </a:buClr>
              <a:buSzPts val="1800"/>
              <a:buFont typeface="Arial"/>
              <a:buNone/>
              <a:defRPr sz="1800" b="0" i="0" u="none" strike="noStrike" cap="none">
                <a:solidFill>
                  <a:srgbClr val="92979C"/>
                </a:solidFill>
                <a:latin typeface="Arial"/>
                <a:ea typeface="Arial"/>
                <a:cs typeface="Arial"/>
                <a:sym typeface="Arial"/>
              </a:defRPr>
            </a:lvl4pPr>
            <a:lvl5pPr marL="2286000" marR="0" lvl="4" indent="-342900" algn="ctr" rtl="0">
              <a:lnSpc>
                <a:spcPct val="90000"/>
              </a:lnSpc>
              <a:spcBef>
                <a:spcPts val="600"/>
              </a:spcBef>
              <a:spcAft>
                <a:spcPts val="0"/>
              </a:spcAft>
              <a:buClr>
                <a:srgbClr val="92979C"/>
              </a:buClr>
              <a:buSzPts val="1800"/>
              <a:buFont typeface="Arial"/>
              <a:buNone/>
              <a:defRPr sz="1800" b="0" i="0" u="none" strike="noStrike" cap="none">
                <a:solidFill>
                  <a:srgbClr val="92979C"/>
                </a:solidFill>
                <a:latin typeface="Arial"/>
                <a:ea typeface="Arial"/>
                <a:cs typeface="Arial"/>
                <a:sym typeface="Arial"/>
              </a:defRPr>
            </a:lvl5pPr>
            <a:lvl6pPr marL="2743200" marR="0" lvl="5" indent="-342900" algn="ctr" rtl="0">
              <a:lnSpc>
                <a:spcPct val="90000"/>
              </a:lnSpc>
              <a:spcBef>
                <a:spcPts val="600"/>
              </a:spcBef>
              <a:spcAft>
                <a:spcPts val="0"/>
              </a:spcAft>
              <a:buClr>
                <a:srgbClr val="92979C"/>
              </a:buClr>
              <a:buSzPts val="1800"/>
              <a:buFont typeface="Arial"/>
              <a:buNone/>
              <a:defRPr sz="1800" b="0" i="0" u="none" strike="noStrike" cap="none">
                <a:solidFill>
                  <a:srgbClr val="92979C"/>
                </a:solidFill>
                <a:latin typeface="Arial"/>
                <a:ea typeface="Arial"/>
                <a:cs typeface="Arial"/>
                <a:sym typeface="Arial"/>
              </a:defRPr>
            </a:lvl6pPr>
            <a:lvl7pPr marL="3200400" marR="0" lvl="6" indent="-342900" algn="ctr" rtl="0">
              <a:lnSpc>
                <a:spcPct val="90000"/>
              </a:lnSpc>
              <a:spcBef>
                <a:spcPts val="600"/>
              </a:spcBef>
              <a:spcAft>
                <a:spcPts val="0"/>
              </a:spcAft>
              <a:buClr>
                <a:srgbClr val="92979C"/>
              </a:buClr>
              <a:buSzPts val="1800"/>
              <a:buFont typeface="Arial"/>
              <a:buNone/>
              <a:defRPr sz="1800" b="0" i="0" u="none" strike="noStrike" cap="none">
                <a:solidFill>
                  <a:srgbClr val="92979C"/>
                </a:solidFill>
                <a:latin typeface="Arial"/>
                <a:ea typeface="Arial"/>
                <a:cs typeface="Arial"/>
                <a:sym typeface="Arial"/>
              </a:defRPr>
            </a:lvl7pPr>
            <a:lvl8pPr marL="3657600" marR="0" lvl="7" indent="-342900" algn="ctr" rtl="0">
              <a:lnSpc>
                <a:spcPct val="90000"/>
              </a:lnSpc>
              <a:spcBef>
                <a:spcPts val="600"/>
              </a:spcBef>
              <a:spcAft>
                <a:spcPts val="0"/>
              </a:spcAft>
              <a:buClr>
                <a:srgbClr val="92979C"/>
              </a:buClr>
              <a:buSzPts val="1800"/>
              <a:buFont typeface="Arial"/>
              <a:buNone/>
              <a:defRPr sz="1800" b="0" i="0" u="none" strike="noStrike" cap="none">
                <a:solidFill>
                  <a:srgbClr val="92979C"/>
                </a:solidFill>
                <a:latin typeface="Arial"/>
                <a:ea typeface="Arial"/>
                <a:cs typeface="Arial"/>
                <a:sym typeface="Arial"/>
              </a:defRPr>
            </a:lvl8pPr>
            <a:lvl9pPr marL="4114800" marR="0" lvl="8" indent="-342900" algn="ctr" rtl="0">
              <a:lnSpc>
                <a:spcPct val="90000"/>
              </a:lnSpc>
              <a:spcBef>
                <a:spcPts val="600"/>
              </a:spcBef>
              <a:spcAft>
                <a:spcPts val="0"/>
              </a:spcAft>
              <a:buClr>
                <a:srgbClr val="92979C"/>
              </a:buClr>
              <a:buSzPts val="1800"/>
              <a:buFont typeface="Arial"/>
              <a:buNone/>
              <a:defRPr sz="1800" b="0" i="0" u="none" strike="noStrike" cap="none">
                <a:solidFill>
                  <a:srgbClr val="92979C"/>
                </a:solidFill>
                <a:latin typeface="Arial"/>
                <a:ea typeface="Arial"/>
                <a:cs typeface="Arial"/>
                <a:sym typeface="Arial"/>
              </a:defRPr>
            </a:lvl9pPr>
          </a:lstStyle>
          <a:p>
            <a:pPr indent="-457200">
              <a:buFont typeface="Arial" panose="020B0604020202020204" pitchFamily="34" charset="0"/>
              <a:buChar char="•"/>
            </a:pPr>
            <a:r>
              <a:rPr lang="en-US" dirty="0">
                <a:latin typeface="Bahnschrift" pitchFamily="34" charset="0"/>
              </a:rPr>
              <a:t>What is RAG ?</a:t>
            </a:r>
          </a:p>
          <a:p>
            <a:pPr indent="-457200">
              <a:buFont typeface="Arial" panose="020B0604020202020204" pitchFamily="34" charset="0"/>
              <a:buChar char="•"/>
            </a:pPr>
            <a:endParaRPr lang="en-US" dirty="0">
              <a:latin typeface="Bahnschrift" pitchFamily="34" charset="0"/>
            </a:endParaRPr>
          </a:p>
          <a:p>
            <a:pPr indent="-457200">
              <a:buFont typeface="Arial" panose="020B0604020202020204" pitchFamily="34" charset="0"/>
              <a:buChar char="•"/>
            </a:pPr>
            <a:r>
              <a:rPr lang="en-US" dirty="0">
                <a:latin typeface="Bahnschrift" pitchFamily="34" charset="0"/>
              </a:rPr>
              <a:t>High Level Design</a:t>
            </a:r>
          </a:p>
          <a:p>
            <a:pPr indent="-457200">
              <a:buFont typeface="Arial" panose="020B0604020202020204" pitchFamily="34" charset="0"/>
              <a:buChar char="•"/>
            </a:pPr>
            <a:endParaRPr lang="en-US" dirty="0">
              <a:latin typeface="Bahnschrift" pitchFamily="34" charset="0"/>
            </a:endParaRPr>
          </a:p>
          <a:p>
            <a:pPr indent="-457200">
              <a:buFont typeface="Arial" panose="020B0604020202020204" pitchFamily="34" charset="0"/>
              <a:buChar char="•"/>
            </a:pPr>
            <a:r>
              <a:rPr lang="en-US" dirty="0">
                <a:latin typeface="Bahnschrift" pitchFamily="34" charset="0"/>
              </a:rPr>
              <a:t>Step by Step Approach</a:t>
            </a:r>
          </a:p>
          <a:p>
            <a:pPr indent="-457200">
              <a:buFont typeface="Arial" panose="020B0604020202020204" pitchFamily="34" charset="0"/>
              <a:buChar char="•"/>
            </a:pPr>
            <a:endParaRPr lang="en-US" dirty="0">
              <a:latin typeface="Bahnschrift" pitchFamily="34" charset="0"/>
            </a:endParaRPr>
          </a:p>
          <a:p>
            <a:pPr indent="-457200">
              <a:buFont typeface="Arial" panose="020B0604020202020204" pitchFamily="34" charset="0"/>
              <a:buChar char="•"/>
            </a:pPr>
            <a:r>
              <a:rPr lang="en-US" dirty="0">
                <a:latin typeface="Bahnschrift" pitchFamily="34" charset="0"/>
              </a:rPr>
              <a:t>What Problems RAG can resolve</a:t>
            </a:r>
          </a:p>
          <a:p>
            <a:pPr indent="-457200">
              <a:buFont typeface="Arial" panose="020B0604020202020204" pitchFamily="34" charset="0"/>
              <a:buChar char="•"/>
            </a:pPr>
            <a:endParaRPr lang="en-US" dirty="0">
              <a:latin typeface="Bahnschrift" pitchFamily="34" charset="0"/>
            </a:endParaRPr>
          </a:p>
        </p:txBody>
      </p:sp>
      <p:pic>
        <p:nvPicPr>
          <p:cNvPr id="4" name="Picture 3" descr="A logo with lines in a black background&#10;&#10;Description automatically generated">
            <a:extLst>
              <a:ext uri="{FF2B5EF4-FFF2-40B4-BE49-F238E27FC236}">
                <a16:creationId xmlns="" xmlns:a16="http://schemas.microsoft.com/office/drawing/2014/main" id="{D2D9B059-AD2D-F678-3DA7-C8E036931FCD}"/>
              </a:ext>
            </a:extLst>
          </p:cNvPr>
          <p:cNvPicPr>
            <a:picLocks noChangeAspect="1"/>
          </p:cNvPicPr>
          <p:nvPr/>
        </p:nvPicPr>
        <p:blipFill>
          <a:blip r:embed="rId2"/>
          <a:stretch>
            <a:fillRect/>
          </a:stretch>
        </p:blipFill>
        <p:spPr>
          <a:xfrm>
            <a:off x="11202642" y="-205416"/>
            <a:ext cx="1217233" cy="1205327"/>
          </a:xfrm>
          <a:prstGeom prst="rect">
            <a:avLst/>
          </a:prstGeom>
        </p:spPr>
      </p:pic>
      <p:sp>
        <p:nvSpPr>
          <p:cNvPr id="5" name="Footer Placeholder 4">
            <a:extLst>
              <a:ext uri="{FF2B5EF4-FFF2-40B4-BE49-F238E27FC236}">
                <a16:creationId xmlns="" xmlns:a16="http://schemas.microsoft.com/office/drawing/2014/main" id="{4E035956-D152-CBA4-26F1-D6ED7ADD0543}"/>
              </a:ext>
            </a:extLst>
          </p:cNvPr>
          <p:cNvSpPr>
            <a:spLocks noGrp="1"/>
          </p:cNvSpPr>
          <p:nvPr>
            <p:ph type="ftr" sz="quarter" idx="11"/>
          </p:nvPr>
        </p:nvSpPr>
        <p:spPr/>
        <p:txBody>
          <a:bodyPr/>
          <a:lstStyle/>
          <a:p>
            <a:r>
              <a:rPr lang="en-US" dirty="0"/>
              <a:t>Navigating the Future of Learning​</a:t>
            </a:r>
          </a:p>
        </p:txBody>
      </p:sp>
    </p:spTree>
    <p:extLst>
      <p:ext uri="{BB962C8B-B14F-4D97-AF65-F5344CB8AC3E}">
        <p14:creationId xmlns:p14="http://schemas.microsoft.com/office/powerpoint/2010/main" val="27243629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95CE01EE-9B82-1A8D-6A71-28923D9F4DBF}"/>
            </a:ext>
          </a:extLst>
        </p:cNvPr>
        <p:cNvGrpSpPr/>
        <p:nvPr/>
      </p:nvGrpSpPr>
      <p:grpSpPr>
        <a:xfrm>
          <a:off x="0" y="0"/>
          <a:ext cx="0" cy="0"/>
          <a:chOff x="0" y="0"/>
          <a:chExt cx="0" cy="0"/>
        </a:xfrm>
      </p:grpSpPr>
      <p:sp>
        <p:nvSpPr>
          <p:cNvPr id="6" name="Rectangle 5">
            <a:extLst>
              <a:ext uri="{FF2B5EF4-FFF2-40B4-BE49-F238E27FC236}">
                <a16:creationId xmlns="" xmlns:a16="http://schemas.microsoft.com/office/drawing/2014/main" id="{9B3BB1EE-8F0D-D402-9B66-38C94EBDCD27}"/>
              </a:ext>
            </a:extLst>
          </p:cNvPr>
          <p:cNvSpPr/>
          <p:nvPr/>
        </p:nvSpPr>
        <p:spPr>
          <a:xfrm>
            <a:off x="0" y="1"/>
            <a:ext cx="1126638" cy="6858000"/>
          </a:xfrm>
          <a:prstGeom prst="rect">
            <a:avLst/>
          </a:prstGeom>
          <a:solidFill>
            <a:srgbClr val="D7C055"/>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dirty="0">
              <a:cs typeface="Calibri"/>
            </a:endParaRPr>
          </a:p>
        </p:txBody>
      </p:sp>
      <p:sp>
        <p:nvSpPr>
          <p:cNvPr id="7" name="Rectangle 6">
            <a:extLst>
              <a:ext uri="{FF2B5EF4-FFF2-40B4-BE49-F238E27FC236}">
                <a16:creationId xmlns="" xmlns:a16="http://schemas.microsoft.com/office/drawing/2014/main" id="{1B92D285-0982-C7FC-2CCB-555CC4555729}"/>
              </a:ext>
            </a:extLst>
          </p:cNvPr>
          <p:cNvSpPr/>
          <p:nvPr/>
        </p:nvSpPr>
        <p:spPr>
          <a:xfrm>
            <a:off x="565288" y="0"/>
            <a:ext cx="549447" cy="685800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xtBox 7">
            <a:extLst>
              <a:ext uri="{FF2B5EF4-FFF2-40B4-BE49-F238E27FC236}">
                <a16:creationId xmlns="" xmlns:a16="http://schemas.microsoft.com/office/drawing/2014/main" id="{F5A501CB-25F7-430E-26A9-AC8C6F18EA43}"/>
              </a:ext>
            </a:extLst>
          </p:cNvPr>
          <p:cNvSpPr txBox="1"/>
          <p:nvPr/>
        </p:nvSpPr>
        <p:spPr>
          <a:xfrm>
            <a:off x="601006" y="42718"/>
            <a:ext cx="442291" cy="707886"/>
          </a:xfrm>
          <a:prstGeom prst="rect">
            <a:avLst/>
          </a:prstGeom>
          <a:noFill/>
        </p:spPr>
        <p:txBody>
          <a:bodyPr wrap="square" rtlCol="0">
            <a:spAutoFit/>
          </a:bodyPr>
          <a:lstStyle/>
          <a:p>
            <a:r>
              <a:rPr lang="el-GR" sz="4000" dirty="0">
                <a:solidFill>
                  <a:srgbClr val="D7C055"/>
                </a:solidFill>
              </a:rPr>
              <a:t>π</a:t>
            </a:r>
            <a:endParaRPr lang="en-US" sz="4000" dirty="0">
              <a:solidFill>
                <a:srgbClr val="D7C055"/>
              </a:solidFill>
            </a:endParaRPr>
          </a:p>
        </p:txBody>
      </p:sp>
      <p:pic>
        <p:nvPicPr>
          <p:cNvPr id="10" name="Picture 9" descr="A logo with lines in a black background&#10;&#10;Description automatically generated">
            <a:extLst>
              <a:ext uri="{FF2B5EF4-FFF2-40B4-BE49-F238E27FC236}">
                <a16:creationId xmlns="" xmlns:a16="http://schemas.microsoft.com/office/drawing/2014/main" id="{F6D8D221-4B29-D734-A328-58D818C34433}"/>
              </a:ext>
            </a:extLst>
          </p:cNvPr>
          <p:cNvPicPr>
            <a:picLocks noChangeAspect="1"/>
          </p:cNvPicPr>
          <p:nvPr/>
        </p:nvPicPr>
        <p:blipFill>
          <a:blip r:embed="rId3"/>
          <a:stretch>
            <a:fillRect/>
          </a:stretch>
        </p:blipFill>
        <p:spPr>
          <a:xfrm>
            <a:off x="11202642" y="-205416"/>
            <a:ext cx="1217233" cy="1205327"/>
          </a:xfrm>
          <a:prstGeom prst="rect">
            <a:avLst/>
          </a:prstGeom>
        </p:spPr>
      </p:pic>
      <p:sp>
        <p:nvSpPr>
          <p:cNvPr id="33" name="Footer Placeholder 32">
            <a:extLst>
              <a:ext uri="{FF2B5EF4-FFF2-40B4-BE49-F238E27FC236}">
                <a16:creationId xmlns="" xmlns:a16="http://schemas.microsoft.com/office/drawing/2014/main" id="{9EFE9F1A-54D1-5FC8-F649-AA565950307F}"/>
              </a:ext>
            </a:extLst>
          </p:cNvPr>
          <p:cNvSpPr>
            <a:spLocks noGrp="1"/>
          </p:cNvSpPr>
          <p:nvPr>
            <p:ph type="ftr" sz="quarter" idx="11"/>
          </p:nvPr>
        </p:nvSpPr>
        <p:spPr/>
        <p:txBody>
          <a:bodyPr/>
          <a:lstStyle/>
          <a:p>
            <a:r>
              <a:rPr lang="en-US" dirty="0"/>
              <a:t>Navigating the Future of Learning​</a:t>
            </a:r>
          </a:p>
        </p:txBody>
      </p:sp>
      <p:sp>
        <p:nvSpPr>
          <p:cNvPr id="35" name="Title 1">
            <a:extLst>
              <a:ext uri="{FF2B5EF4-FFF2-40B4-BE49-F238E27FC236}">
                <a16:creationId xmlns="" xmlns:a16="http://schemas.microsoft.com/office/drawing/2014/main" id="{8E4945F9-351B-FE06-B4C4-5E27ED97FD2B}"/>
              </a:ext>
            </a:extLst>
          </p:cNvPr>
          <p:cNvSpPr txBox="1">
            <a:spLocks/>
          </p:cNvSpPr>
          <p:nvPr/>
        </p:nvSpPr>
        <p:spPr>
          <a:xfrm>
            <a:off x="1593436" y="286921"/>
            <a:ext cx="9782801" cy="1038733"/>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4000" dirty="0">
                <a:latin typeface="Bahnschrift" pitchFamily="34" charset="0"/>
              </a:rPr>
              <a:t>RAG – </a:t>
            </a:r>
            <a:r>
              <a:rPr lang="en-IN" sz="4000" dirty="0">
                <a:latin typeface="Bahnschrift" pitchFamily="34" charset="0"/>
              </a:rPr>
              <a:t>What is RAG?</a:t>
            </a:r>
          </a:p>
        </p:txBody>
      </p:sp>
      <p:sp>
        <p:nvSpPr>
          <p:cNvPr id="2" name="TextBox 1">
            <a:extLst>
              <a:ext uri="{FF2B5EF4-FFF2-40B4-BE49-F238E27FC236}">
                <a16:creationId xmlns="" xmlns:a16="http://schemas.microsoft.com/office/drawing/2014/main" id="{BEC6925D-CB46-F482-3518-909C47A0C95F}"/>
              </a:ext>
            </a:extLst>
          </p:cNvPr>
          <p:cNvSpPr txBox="1"/>
          <p:nvPr/>
        </p:nvSpPr>
        <p:spPr>
          <a:xfrm>
            <a:off x="2258291" y="1729482"/>
            <a:ext cx="8617527" cy="1200329"/>
          </a:xfrm>
          <a:prstGeom prst="rect">
            <a:avLst/>
          </a:prstGeom>
          <a:noFill/>
        </p:spPr>
        <p:txBody>
          <a:bodyPr wrap="square" rtlCol="0">
            <a:spAutoFit/>
          </a:bodyPr>
          <a:lstStyle/>
          <a:p>
            <a:r>
              <a:rPr lang="en-IN" sz="2400" dirty="0">
                <a:solidFill>
                  <a:srgbClr val="1F1F1F"/>
                </a:solidFill>
                <a:effectLst/>
                <a:highlight>
                  <a:srgbClr val="FFFFFF"/>
                </a:highlight>
                <a:latin typeface="Calibri Light" pitchFamily="34" charset="0"/>
                <a:cs typeface="Calibri Light" pitchFamily="34" charset="0"/>
              </a:rPr>
              <a:t>It's a technique that improves the </a:t>
            </a:r>
            <a:r>
              <a:rPr lang="en-IN" sz="2400" dirty="0">
                <a:solidFill>
                  <a:srgbClr val="FF0000"/>
                </a:solidFill>
                <a:effectLst/>
                <a:highlight>
                  <a:srgbClr val="FFFFFF"/>
                </a:highlight>
                <a:latin typeface="Calibri Light" pitchFamily="34" charset="0"/>
                <a:cs typeface="Calibri Light" pitchFamily="34" charset="0"/>
              </a:rPr>
              <a:t>accuracy</a:t>
            </a:r>
            <a:r>
              <a:rPr lang="en-IN" sz="2400" dirty="0">
                <a:solidFill>
                  <a:srgbClr val="1F1F1F"/>
                </a:solidFill>
                <a:effectLst/>
                <a:highlight>
                  <a:srgbClr val="FFFFFF"/>
                </a:highlight>
                <a:latin typeface="Calibri Light" pitchFamily="34" charset="0"/>
                <a:cs typeface="Calibri Light" pitchFamily="34" charset="0"/>
              </a:rPr>
              <a:t> and </a:t>
            </a:r>
            <a:r>
              <a:rPr lang="en-IN" sz="2400" dirty="0">
                <a:solidFill>
                  <a:srgbClr val="00B050"/>
                </a:solidFill>
                <a:effectLst/>
                <a:highlight>
                  <a:srgbClr val="FFFFFF"/>
                </a:highlight>
                <a:latin typeface="Calibri Light" pitchFamily="34" charset="0"/>
                <a:cs typeface="Calibri Light" pitchFamily="34" charset="0"/>
              </a:rPr>
              <a:t>reliability</a:t>
            </a:r>
            <a:r>
              <a:rPr lang="en-IN" sz="2400" dirty="0">
                <a:solidFill>
                  <a:srgbClr val="1F1F1F"/>
                </a:solidFill>
                <a:effectLst/>
                <a:highlight>
                  <a:srgbClr val="FFFFFF"/>
                </a:highlight>
                <a:latin typeface="Calibri Light" pitchFamily="34" charset="0"/>
                <a:cs typeface="Calibri Light" pitchFamily="34" charset="0"/>
              </a:rPr>
              <a:t> of </a:t>
            </a:r>
            <a:r>
              <a:rPr lang="en-IN" sz="2400" dirty="0">
                <a:solidFill>
                  <a:srgbClr val="00B0F0"/>
                </a:solidFill>
                <a:effectLst/>
                <a:highlight>
                  <a:srgbClr val="FFFFFF"/>
                </a:highlight>
                <a:latin typeface="Calibri Light" pitchFamily="34" charset="0"/>
                <a:cs typeface="Calibri Light" pitchFamily="34" charset="0"/>
              </a:rPr>
              <a:t>large language models</a:t>
            </a:r>
            <a:r>
              <a:rPr lang="en-IN" sz="2400" dirty="0">
                <a:solidFill>
                  <a:srgbClr val="1F1F1F"/>
                </a:solidFill>
                <a:effectLst/>
                <a:highlight>
                  <a:srgbClr val="FFFFFF"/>
                </a:highlight>
                <a:latin typeface="Calibri Light" pitchFamily="34" charset="0"/>
                <a:cs typeface="Calibri Light" pitchFamily="34" charset="0"/>
              </a:rPr>
              <a:t> (LLMs) by allowing them to </a:t>
            </a:r>
            <a:r>
              <a:rPr lang="en-IN" sz="2400" dirty="0">
                <a:solidFill>
                  <a:srgbClr val="7030A0"/>
                </a:solidFill>
                <a:effectLst/>
                <a:highlight>
                  <a:srgbClr val="FFFFFF"/>
                </a:highlight>
                <a:latin typeface="Calibri Light" pitchFamily="34" charset="0"/>
                <a:cs typeface="Calibri Light" pitchFamily="34" charset="0"/>
              </a:rPr>
              <a:t>access and leverage information from external knowledge sources.</a:t>
            </a:r>
            <a:endParaRPr lang="en-US" sz="2400" dirty="0">
              <a:solidFill>
                <a:srgbClr val="7030A0"/>
              </a:solidFill>
              <a:latin typeface="Calibri Light" pitchFamily="34" charset="0"/>
              <a:cs typeface="Calibri Light" pitchFamily="34" charset="0"/>
            </a:endParaRPr>
          </a:p>
        </p:txBody>
      </p:sp>
    </p:spTree>
    <p:extLst>
      <p:ext uri="{BB962C8B-B14F-4D97-AF65-F5344CB8AC3E}">
        <p14:creationId xmlns:p14="http://schemas.microsoft.com/office/powerpoint/2010/main" val="10749398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95CE01EE-9B82-1A8D-6A71-28923D9F4DBF}"/>
            </a:ext>
          </a:extLst>
        </p:cNvPr>
        <p:cNvGrpSpPr/>
        <p:nvPr/>
      </p:nvGrpSpPr>
      <p:grpSpPr>
        <a:xfrm>
          <a:off x="0" y="0"/>
          <a:ext cx="0" cy="0"/>
          <a:chOff x="0" y="0"/>
          <a:chExt cx="0" cy="0"/>
        </a:xfrm>
      </p:grpSpPr>
      <p:sp>
        <p:nvSpPr>
          <p:cNvPr id="6" name="Rectangle 5">
            <a:extLst>
              <a:ext uri="{FF2B5EF4-FFF2-40B4-BE49-F238E27FC236}">
                <a16:creationId xmlns="" xmlns:a16="http://schemas.microsoft.com/office/drawing/2014/main" id="{9B3BB1EE-8F0D-D402-9B66-38C94EBDCD27}"/>
              </a:ext>
            </a:extLst>
          </p:cNvPr>
          <p:cNvSpPr/>
          <p:nvPr/>
        </p:nvSpPr>
        <p:spPr>
          <a:xfrm>
            <a:off x="0" y="1"/>
            <a:ext cx="1126638" cy="6858000"/>
          </a:xfrm>
          <a:prstGeom prst="rect">
            <a:avLst/>
          </a:prstGeom>
          <a:solidFill>
            <a:srgbClr val="D7C055"/>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dirty="0">
              <a:cs typeface="Calibri"/>
            </a:endParaRPr>
          </a:p>
        </p:txBody>
      </p:sp>
      <p:sp>
        <p:nvSpPr>
          <p:cNvPr id="7" name="Rectangle 6">
            <a:extLst>
              <a:ext uri="{FF2B5EF4-FFF2-40B4-BE49-F238E27FC236}">
                <a16:creationId xmlns="" xmlns:a16="http://schemas.microsoft.com/office/drawing/2014/main" id="{1B92D285-0982-C7FC-2CCB-555CC4555729}"/>
              </a:ext>
            </a:extLst>
          </p:cNvPr>
          <p:cNvSpPr/>
          <p:nvPr/>
        </p:nvSpPr>
        <p:spPr>
          <a:xfrm>
            <a:off x="565288" y="0"/>
            <a:ext cx="549447" cy="685800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xtBox 7">
            <a:extLst>
              <a:ext uri="{FF2B5EF4-FFF2-40B4-BE49-F238E27FC236}">
                <a16:creationId xmlns="" xmlns:a16="http://schemas.microsoft.com/office/drawing/2014/main" id="{F5A501CB-25F7-430E-26A9-AC8C6F18EA43}"/>
              </a:ext>
            </a:extLst>
          </p:cNvPr>
          <p:cNvSpPr txBox="1"/>
          <p:nvPr/>
        </p:nvSpPr>
        <p:spPr>
          <a:xfrm>
            <a:off x="601006" y="42718"/>
            <a:ext cx="442291" cy="707886"/>
          </a:xfrm>
          <a:prstGeom prst="rect">
            <a:avLst/>
          </a:prstGeom>
          <a:noFill/>
        </p:spPr>
        <p:txBody>
          <a:bodyPr wrap="square" rtlCol="0">
            <a:spAutoFit/>
          </a:bodyPr>
          <a:lstStyle/>
          <a:p>
            <a:r>
              <a:rPr lang="el-GR" sz="4000" dirty="0">
                <a:solidFill>
                  <a:srgbClr val="D7C055"/>
                </a:solidFill>
              </a:rPr>
              <a:t>π</a:t>
            </a:r>
            <a:endParaRPr lang="en-US" sz="4000" dirty="0">
              <a:solidFill>
                <a:srgbClr val="D7C055"/>
              </a:solidFill>
            </a:endParaRPr>
          </a:p>
        </p:txBody>
      </p:sp>
      <p:pic>
        <p:nvPicPr>
          <p:cNvPr id="10" name="Picture 9" descr="A logo with lines in a black background&#10;&#10;Description automatically generated">
            <a:extLst>
              <a:ext uri="{FF2B5EF4-FFF2-40B4-BE49-F238E27FC236}">
                <a16:creationId xmlns="" xmlns:a16="http://schemas.microsoft.com/office/drawing/2014/main" id="{F6D8D221-4B29-D734-A328-58D818C34433}"/>
              </a:ext>
            </a:extLst>
          </p:cNvPr>
          <p:cNvPicPr>
            <a:picLocks noChangeAspect="1"/>
          </p:cNvPicPr>
          <p:nvPr/>
        </p:nvPicPr>
        <p:blipFill>
          <a:blip r:embed="rId3"/>
          <a:stretch>
            <a:fillRect/>
          </a:stretch>
        </p:blipFill>
        <p:spPr>
          <a:xfrm>
            <a:off x="11202642" y="-205416"/>
            <a:ext cx="1217233" cy="1205327"/>
          </a:xfrm>
          <a:prstGeom prst="rect">
            <a:avLst/>
          </a:prstGeom>
        </p:spPr>
      </p:pic>
      <p:sp>
        <p:nvSpPr>
          <p:cNvPr id="33" name="Footer Placeholder 32">
            <a:extLst>
              <a:ext uri="{FF2B5EF4-FFF2-40B4-BE49-F238E27FC236}">
                <a16:creationId xmlns="" xmlns:a16="http://schemas.microsoft.com/office/drawing/2014/main" id="{9EFE9F1A-54D1-5FC8-F649-AA565950307F}"/>
              </a:ext>
            </a:extLst>
          </p:cNvPr>
          <p:cNvSpPr>
            <a:spLocks noGrp="1"/>
          </p:cNvSpPr>
          <p:nvPr>
            <p:ph type="ftr" sz="quarter" idx="11"/>
          </p:nvPr>
        </p:nvSpPr>
        <p:spPr/>
        <p:txBody>
          <a:bodyPr/>
          <a:lstStyle/>
          <a:p>
            <a:r>
              <a:rPr lang="en-US" dirty="0"/>
              <a:t>Navigating the Future of Learning​</a:t>
            </a:r>
          </a:p>
        </p:txBody>
      </p:sp>
      <p:sp>
        <p:nvSpPr>
          <p:cNvPr id="35" name="Title 1">
            <a:extLst>
              <a:ext uri="{FF2B5EF4-FFF2-40B4-BE49-F238E27FC236}">
                <a16:creationId xmlns="" xmlns:a16="http://schemas.microsoft.com/office/drawing/2014/main" id="{8E4945F9-351B-FE06-B4C4-5E27ED97FD2B}"/>
              </a:ext>
            </a:extLst>
          </p:cNvPr>
          <p:cNvSpPr txBox="1">
            <a:spLocks/>
          </p:cNvSpPr>
          <p:nvPr/>
        </p:nvSpPr>
        <p:spPr>
          <a:xfrm>
            <a:off x="1593437" y="286922"/>
            <a:ext cx="7402646" cy="71299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4000" dirty="0">
                <a:latin typeface="Bahnschrift" pitchFamily="34" charset="0"/>
              </a:rPr>
              <a:t>RAG – </a:t>
            </a:r>
            <a:r>
              <a:rPr lang="en-IN" sz="4000" dirty="0">
                <a:latin typeface="Bahnschrift" pitchFamily="34" charset="0"/>
              </a:rPr>
              <a:t>High Level Design</a:t>
            </a:r>
          </a:p>
        </p:txBody>
      </p:sp>
      <p:pic>
        <p:nvPicPr>
          <p:cNvPr id="3" name="Picture 18" descr="Free OpenAI Logo Icon - Download in Flat Style">
            <a:extLst>
              <a:ext uri="{FF2B5EF4-FFF2-40B4-BE49-F238E27FC236}">
                <a16:creationId xmlns="" xmlns:a16="http://schemas.microsoft.com/office/drawing/2014/main" id="{D0DE3EF5-2348-A310-237A-48ED56E4786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996082" y="5328845"/>
            <a:ext cx="1734671" cy="1444362"/>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a:extLst>
              <a:ext uri="{FF2B5EF4-FFF2-40B4-BE49-F238E27FC236}">
                <a16:creationId xmlns="" xmlns:a16="http://schemas.microsoft.com/office/drawing/2014/main" id="{7929C393-C010-B608-B87E-960749E0F6B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39266" y="1357928"/>
            <a:ext cx="10271991" cy="49147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263851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95CE01EE-9B82-1A8D-6A71-28923D9F4DBF}"/>
            </a:ext>
          </a:extLst>
        </p:cNvPr>
        <p:cNvGrpSpPr/>
        <p:nvPr/>
      </p:nvGrpSpPr>
      <p:grpSpPr>
        <a:xfrm>
          <a:off x="0" y="0"/>
          <a:ext cx="0" cy="0"/>
          <a:chOff x="0" y="0"/>
          <a:chExt cx="0" cy="0"/>
        </a:xfrm>
      </p:grpSpPr>
      <p:sp>
        <p:nvSpPr>
          <p:cNvPr id="6" name="Rectangle 5">
            <a:extLst>
              <a:ext uri="{FF2B5EF4-FFF2-40B4-BE49-F238E27FC236}">
                <a16:creationId xmlns="" xmlns:a16="http://schemas.microsoft.com/office/drawing/2014/main" id="{9B3BB1EE-8F0D-D402-9B66-38C94EBDCD27}"/>
              </a:ext>
            </a:extLst>
          </p:cNvPr>
          <p:cNvSpPr/>
          <p:nvPr/>
        </p:nvSpPr>
        <p:spPr>
          <a:xfrm>
            <a:off x="0" y="1"/>
            <a:ext cx="1126638" cy="6858000"/>
          </a:xfrm>
          <a:prstGeom prst="rect">
            <a:avLst/>
          </a:prstGeom>
          <a:solidFill>
            <a:srgbClr val="D7C055"/>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dirty="0">
              <a:cs typeface="Calibri"/>
            </a:endParaRPr>
          </a:p>
        </p:txBody>
      </p:sp>
      <p:sp>
        <p:nvSpPr>
          <p:cNvPr id="7" name="Rectangle 6">
            <a:extLst>
              <a:ext uri="{FF2B5EF4-FFF2-40B4-BE49-F238E27FC236}">
                <a16:creationId xmlns="" xmlns:a16="http://schemas.microsoft.com/office/drawing/2014/main" id="{1B92D285-0982-C7FC-2CCB-555CC4555729}"/>
              </a:ext>
            </a:extLst>
          </p:cNvPr>
          <p:cNvSpPr/>
          <p:nvPr/>
        </p:nvSpPr>
        <p:spPr>
          <a:xfrm>
            <a:off x="565288" y="0"/>
            <a:ext cx="549447" cy="685800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xtBox 7">
            <a:extLst>
              <a:ext uri="{FF2B5EF4-FFF2-40B4-BE49-F238E27FC236}">
                <a16:creationId xmlns="" xmlns:a16="http://schemas.microsoft.com/office/drawing/2014/main" id="{F5A501CB-25F7-430E-26A9-AC8C6F18EA43}"/>
              </a:ext>
            </a:extLst>
          </p:cNvPr>
          <p:cNvSpPr txBox="1"/>
          <p:nvPr/>
        </p:nvSpPr>
        <p:spPr>
          <a:xfrm>
            <a:off x="601006" y="42718"/>
            <a:ext cx="442291" cy="707886"/>
          </a:xfrm>
          <a:prstGeom prst="rect">
            <a:avLst/>
          </a:prstGeom>
          <a:noFill/>
        </p:spPr>
        <p:txBody>
          <a:bodyPr wrap="square" rtlCol="0">
            <a:spAutoFit/>
          </a:bodyPr>
          <a:lstStyle/>
          <a:p>
            <a:r>
              <a:rPr lang="el-GR" sz="4000" dirty="0">
                <a:solidFill>
                  <a:srgbClr val="D7C055"/>
                </a:solidFill>
              </a:rPr>
              <a:t>π</a:t>
            </a:r>
            <a:endParaRPr lang="en-US" sz="4000" dirty="0">
              <a:solidFill>
                <a:srgbClr val="D7C055"/>
              </a:solidFill>
            </a:endParaRPr>
          </a:p>
        </p:txBody>
      </p:sp>
      <p:pic>
        <p:nvPicPr>
          <p:cNvPr id="10" name="Picture 9" descr="A logo with lines in a black background&#10;&#10;Description automatically generated">
            <a:extLst>
              <a:ext uri="{FF2B5EF4-FFF2-40B4-BE49-F238E27FC236}">
                <a16:creationId xmlns="" xmlns:a16="http://schemas.microsoft.com/office/drawing/2014/main" id="{F6D8D221-4B29-D734-A328-58D818C34433}"/>
              </a:ext>
            </a:extLst>
          </p:cNvPr>
          <p:cNvPicPr>
            <a:picLocks noChangeAspect="1"/>
          </p:cNvPicPr>
          <p:nvPr/>
        </p:nvPicPr>
        <p:blipFill>
          <a:blip r:embed="rId3"/>
          <a:stretch>
            <a:fillRect/>
          </a:stretch>
        </p:blipFill>
        <p:spPr>
          <a:xfrm>
            <a:off x="11202642" y="-205416"/>
            <a:ext cx="1217233" cy="1205327"/>
          </a:xfrm>
          <a:prstGeom prst="rect">
            <a:avLst/>
          </a:prstGeom>
        </p:spPr>
      </p:pic>
      <p:sp>
        <p:nvSpPr>
          <p:cNvPr id="33" name="Footer Placeholder 32">
            <a:extLst>
              <a:ext uri="{FF2B5EF4-FFF2-40B4-BE49-F238E27FC236}">
                <a16:creationId xmlns="" xmlns:a16="http://schemas.microsoft.com/office/drawing/2014/main" id="{9EFE9F1A-54D1-5FC8-F649-AA565950307F}"/>
              </a:ext>
            </a:extLst>
          </p:cNvPr>
          <p:cNvSpPr>
            <a:spLocks noGrp="1"/>
          </p:cNvSpPr>
          <p:nvPr>
            <p:ph type="ftr" sz="quarter" idx="11"/>
          </p:nvPr>
        </p:nvSpPr>
        <p:spPr/>
        <p:txBody>
          <a:bodyPr/>
          <a:lstStyle/>
          <a:p>
            <a:r>
              <a:rPr lang="en-US" dirty="0"/>
              <a:t>Navigating the Future of Learning​</a:t>
            </a:r>
          </a:p>
        </p:txBody>
      </p:sp>
      <p:sp>
        <p:nvSpPr>
          <p:cNvPr id="35" name="Title 1">
            <a:extLst>
              <a:ext uri="{FF2B5EF4-FFF2-40B4-BE49-F238E27FC236}">
                <a16:creationId xmlns="" xmlns:a16="http://schemas.microsoft.com/office/drawing/2014/main" id="{8E4945F9-351B-FE06-B4C4-5E27ED97FD2B}"/>
              </a:ext>
            </a:extLst>
          </p:cNvPr>
          <p:cNvSpPr txBox="1">
            <a:spLocks/>
          </p:cNvSpPr>
          <p:nvPr/>
        </p:nvSpPr>
        <p:spPr>
          <a:xfrm>
            <a:off x="1593436" y="286922"/>
            <a:ext cx="9782801" cy="71299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4000" dirty="0">
                <a:latin typeface="Bahnschrift" pitchFamily="34" charset="0"/>
              </a:rPr>
              <a:t>RAG – </a:t>
            </a:r>
            <a:r>
              <a:rPr lang="en-IN" sz="4000" dirty="0">
                <a:latin typeface="Bahnschrift" pitchFamily="34" charset="0"/>
              </a:rPr>
              <a:t>What problems RAG can Resolve?</a:t>
            </a:r>
          </a:p>
        </p:txBody>
      </p:sp>
      <p:sp>
        <p:nvSpPr>
          <p:cNvPr id="5" name="TextBox 4">
            <a:extLst>
              <a:ext uri="{FF2B5EF4-FFF2-40B4-BE49-F238E27FC236}">
                <a16:creationId xmlns="" xmlns:a16="http://schemas.microsoft.com/office/drawing/2014/main" id="{AC5A06EE-6676-B345-50CB-A7A28DF69A57}"/>
              </a:ext>
            </a:extLst>
          </p:cNvPr>
          <p:cNvSpPr txBox="1"/>
          <p:nvPr/>
        </p:nvSpPr>
        <p:spPr>
          <a:xfrm>
            <a:off x="2398507" y="1545287"/>
            <a:ext cx="5516757" cy="255454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buFont typeface="Arial" panose="020B0604020202020204" pitchFamily="34" charset="0"/>
              <a:buChar char="•"/>
            </a:pPr>
            <a:r>
              <a:rPr lang="en-US" sz="2000" dirty="0">
                <a:latin typeface="Calibri Light" pitchFamily="34" charset="0"/>
                <a:cs typeface="Calibri Light" pitchFamily="34" charset="0"/>
              </a:rPr>
              <a:t>Prompt Token Limitation</a:t>
            </a:r>
          </a:p>
          <a:p>
            <a:pPr marL="342900" indent="-342900">
              <a:buFont typeface="Arial" panose="020B0604020202020204" pitchFamily="34" charset="0"/>
              <a:buChar char="•"/>
            </a:pPr>
            <a:endParaRPr lang="en-US" sz="2000" dirty="0">
              <a:latin typeface="Calibri Light" pitchFamily="34" charset="0"/>
              <a:cs typeface="Calibri Light" pitchFamily="34" charset="0"/>
            </a:endParaRPr>
          </a:p>
          <a:p>
            <a:pPr marL="342900" indent="-342900">
              <a:buFont typeface="Arial" panose="020B0604020202020204" pitchFamily="34" charset="0"/>
              <a:buChar char="•"/>
            </a:pPr>
            <a:r>
              <a:rPr lang="en-US" sz="2000" dirty="0">
                <a:latin typeface="Calibri Light" pitchFamily="34" charset="0"/>
                <a:cs typeface="Calibri Light" pitchFamily="34" charset="0"/>
              </a:rPr>
              <a:t>Knowledge Cut off limitation</a:t>
            </a:r>
          </a:p>
          <a:p>
            <a:pPr marL="342900" indent="-342900">
              <a:buFont typeface="Arial" panose="020B0604020202020204" pitchFamily="34" charset="0"/>
              <a:buChar char="•"/>
            </a:pPr>
            <a:endParaRPr lang="en-US" sz="2000" dirty="0">
              <a:latin typeface="Calibri Light" pitchFamily="34" charset="0"/>
              <a:cs typeface="Calibri Light" pitchFamily="34" charset="0"/>
            </a:endParaRPr>
          </a:p>
          <a:p>
            <a:pPr marL="342900" indent="-342900">
              <a:buFont typeface="Arial" panose="020B0604020202020204" pitchFamily="34" charset="0"/>
              <a:buChar char="•"/>
            </a:pPr>
            <a:r>
              <a:rPr lang="en-US" sz="2000" dirty="0">
                <a:latin typeface="Calibri Light" pitchFamily="34" charset="0"/>
                <a:cs typeface="Calibri Light" pitchFamily="34" charset="0"/>
              </a:rPr>
              <a:t>Cost</a:t>
            </a:r>
          </a:p>
          <a:p>
            <a:pPr marL="342900" indent="-342900">
              <a:buFont typeface="Arial" panose="020B0604020202020204" pitchFamily="34" charset="0"/>
              <a:buChar char="•"/>
            </a:pPr>
            <a:endParaRPr lang="en-US" sz="2000" dirty="0">
              <a:latin typeface="Calibri Light" pitchFamily="34" charset="0"/>
              <a:cs typeface="Calibri Light" pitchFamily="34" charset="0"/>
            </a:endParaRPr>
          </a:p>
          <a:p>
            <a:pPr marL="342900" indent="-342900">
              <a:buFont typeface="Arial" panose="020B0604020202020204" pitchFamily="34" charset="0"/>
              <a:buChar char="•"/>
            </a:pPr>
            <a:r>
              <a:rPr lang="en-US" sz="2000" dirty="0">
                <a:latin typeface="Calibri Light" pitchFamily="34" charset="0"/>
                <a:cs typeface="Calibri Light" pitchFamily="34" charset="0"/>
              </a:rPr>
              <a:t>Accuracy</a:t>
            </a:r>
          </a:p>
          <a:p>
            <a:pPr marL="342900" indent="-342900">
              <a:buFont typeface="Arial" panose="020B0604020202020204" pitchFamily="34" charset="0"/>
              <a:buChar char="•"/>
            </a:pPr>
            <a:endParaRPr lang="en-US" sz="2000" dirty="0">
              <a:latin typeface="Calibri Light" pitchFamily="34" charset="0"/>
              <a:cs typeface="Calibri Light" pitchFamily="34" charset="0"/>
            </a:endParaRPr>
          </a:p>
        </p:txBody>
      </p:sp>
    </p:spTree>
    <p:extLst>
      <p:ext uri="{BB962C8B-B14F-4D97-AF65-F5344CB8AC3E}">
        <p14:creationId xmlns:p14="http://schemas.microsoft.com/office/powerpoint/2010/main" val="11598266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95CE01EE-9B82-1A8D-6A71-28923D9F4DBF}"/>
            </a:ext>
          </a:extLst>
        </p:cNvPr>
        <p:cNvGrpSpPr/>
        <p:nvPr/>
      </p:nvGrpSpPr>
      <p:grpSpPr>
        <a:xfrm>
          <a:off x="0" y="0"/>
          <a:ext cx="0" cy="0"/>
          <a:chOff x="0" y="0"/>
          <a:chExt cx="0" cy="0"/>
        </a:xfrm>
      </p:grpSpPr>
      <p:sp>
        <p:nvSpPr>
          <p:cNvPr id="6" name="Rectangle 5">
            <a:extLst>
              <a:ext uri="{FF2B5EF4-FFF2-40B4-BE49-F238E27FC236}">
                <a16:creationId xmlns="" xmlns:a16="http://schemas.microsoft.com/office/drawing/2014/main" id="{9B3BB1EE-8F0D-D402-9B66-38C94EBDCD27}"/>
              </a:ext>
            </a:extLst>
          </p:cNvPr>
          <p:cNvSpPr/>
          <p:nvPr/>
        </p:nvSpPr>
        <p:spPr>
          <a:xfrm>
            <a:off x="0" y="1"/>
            <a:ext cx="1126638" cy="6858000"/>
          </a:xfrm>
          <a:prstGeom prst="rect">
            <a:avLst/>
          </a:prstGeom>
          <a:solidFill>
            <a:srgbClr val="D7C055"/>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dirty="0">
              <a:cs typeface="Calibri"/>
            </a:endParaRPr>
          </a:p>
        </p:txBody>
      </p:sp>
      <p:sp>
        <p:nvSpPr>
          <p:cNvPr id="7" name="Rectangle 6">
            <a:extLst>
              <a:ext uri="{FF2B5EF4-FFF2-40B4-BE49-F238E27FC236}">
                <a16:creationId xmlns="" xmlns:a16="http://schemas.microsoft.com/office/drawing/2014/main" id="{1B92D285-0982-C7FC-2CCB-555CC4555729}"/>
              </a:ext>
            </a:extLst>
          </p:cNvPr>
          <p:cNvSpPr/>
          <p:nvPr/>
        </p:nvSpPr>
        <p:spPr>
          <a:xfrm>
            <a:off x="565288" y="0"/>
            <a:ext cx="549447" cy="685800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xtBox 7">
            <a:extLst>
              <a:ext uri="{FF2B5EF4-FFF2-40B4-BE49-F238E27FC236}">
                <a16:creationId xmlns="" xmlns:a16="http://schemas.microsoft.com/office/drawing/2014/main" id="{F5A501CB-25F7-430E-26A9-AC8C6F18EA43}"/>
              </a:ext>
            </a:extLst>
          </p:cNvPr>
          <p:cNvSpPr txBox="1"/>
          <p:nvPr/>
        </p:nvSpPr>
        <p:spPr>
          <a:xfrm>
            <a:off x="601006" y="42718"/>
            <a:ext cx="442291" cy="707886"/>
          </a:xfrm>
          <a:prstGeom prst="rect">
            <a:avLst/>
          </a:prstGeom>
          <a:noFill/>
        </p:spPr>
        <p:txBody>
          <a:bodyPr wrap="square" rtlCol="0">
            <a:spAutoFit/>
          </a:bodyPr>
          <a:lstStyle/>
          <a:p>
            <a:r>
              <a:rPr lang="el-GR" sz="4000" dirty="0">
                <a:solidFill>
                  <a:srgbClr val="D7C055"/>
                </a:solidFill>
              </a:rPr>
              <a:t>π</a:t>
            </a:r>
            <a:endParaRPr lang="en-US" sz="4000" dirty="0">
              <a:solidFill>
                <a:srgbClr val="D7C055"/>
              </a:solidFill>
            </a:endParaRPr>
          </a:p>
        </p:txBody>
      </p:sp>
      <p:pic>
        <p:nvPicPr>
          <p:cNvPr id="10" name="Picture 9" descr="A logo with lines in a black background&#10;&#10;Description automatically generated">
            <a:extLst>
              <a:ext uri="{FF2B5EF4-FFF2-40B4-BE49-F238E27FC236}">
                <a16:creationId xmlns="" xmlns:a16="http://schemas.microsoft.com/office/drawing/2014/main" id="{F6D8D221-4B29-D734-A328-58D818C34433}"/>
              </a:ext>
            </a:extLst>
          </p:cNvPr>
          <p:cNvPicPr>
            <a:picLocks noChangeAspect="1"/>
          </p:cNvPicPr>
          <p:nvPr/>
        </p:nvPicPr>
        <p:blipFill>
          <a:blip r:embed="rId3"/>
          <a:stretch>
            <a:fillRect/>
          </a:stretch>
        </p:blipFill>
        <p:spPr>
          <a:xfrm>
            <a:off x="11202642" y="-205416"/>
            <a:ext cx="1217233" cy="1205327"/>
          </a:xfrm>
          <a:prstGeom prst="rect">
            <a:avLst/>
          </a:prstGeom>
        </p:spPr>
      </p:pic>
      <p:sp>
        <p:nvSpPr>
          <p:cNvPr id="33" name="Footer Placeholder 32">
            <a:extLst>
              <a:ext uri="{FF2B5EF4-FFF2-40B4-BE49-F238E27FC236}">
                <a16:creationId xmlns="" xmlns:a16="http://schemas.microsoft.com/office/drawing/2014/main" id="{9EFE9F1A-54D1-5FC8-F649-AA565950307F}"/>
              </a:ext>
            </a:extLst>
          </p:cNvPr>
          <p:cNvSpPr>
            <a:spLocks noGrp="1"/>
          </p:cNvSpPr>
          <p:nvPr>
            <p:ph type="ftr" sz="quarter" idx="11"/>
          </p:nvPr>
        </p:nvSpPr>
        <p:spPr/>
        <p:txBody>
          <a:bodyPr/>
          <a:lstStyle/>
          <a:p>
            <a:r>
              <a:rPr lang="en-US" dirty="0"/>
              <a:t>Navigating the Future of Learning​</a:t>
            </a:r>
          </a:p>
        </p:txBody>
      </p:sp>
      <p:grpSp>
        <p:nvGrpSpPr>
          <p:cNvPr id="9" name="Group 8"/>
          <p:cNvGrpSpPr/>
          <p:nvPr/>
        </p:nvGrpSpPr>
        <p:grpSpPr>
          <a:xfrm>
            <a:off x="1385455" y="629729"/>
            <a:ext cx="9373842" cy="1908215"/>
            <a:chOff x="1828800" y="242891"/>
            <a:chExt cx="9373842" cy="1908215"/>
          </a:xfrm>
        </p:grpSpPr>
        <p:sp>
          <p:nvSpPr>
            <p:cNvPr id="2" name="Rectangle 1"/>
            <p:cNvSpPr/>
            <p:nvPr/>
          </p:nvSpPr>
          <p:spPr>
            <a:xfrm>
              <a:off x="1828800" y="427557"/>
              <a:ext cx="9373842" cy="1723549"/>
            </a:xfrm>
            <a:prstGeom prst="rect">
              <a:avLst/>
            </a:prstGeom>
            <a:ln>
              <a:solidFill>
                <a:schemeClr val="accent3"/>
              </a:solidFill>
            </a:ln>
          </p:spPr>
          <p:txBody>
            <a:bodyPr wrap="square">
              <a:spAutoFit/>
            </a:bodyPr>
            <a:lstStyle/>
            <a:p>
              <a:r>
                <a:rPr lang="en-US" sz="2400" dirty="0">
                  <a:latin typeface="Bahnschrift" pitchFamily="34" charset="0"/>
                </a:rPr>
                <a:t>The first problem is wrong or artificial answers</a:t>
              </a:r>
              <a:r>
                <a:rPr lang="en-US" sz="2000" b="1" dirty="0">
                  <a:latin typeface="Bahnschrift" pitchFamily="34" charset="0"/>
                </a:rPr>
                <a:t>, </a:t>
              </a:r>
              <a:endParaRPr lang="en-US" sz="2000" b="1" dirty="0" smtClean="0">
                <a:latin typeface="Bahnschrift" pitchFamily="34" charset="0"/>
              </a:endParaRPr>
            </a:p>
            <a:p>
              <a:endParaRPr lang="en-US" dirty="0"/>
            </a:p>
            <a:p>
              <a:r>
                <a:rPr lang="en-US" sz="1600" dirty="0" smtClean="0">
                  <a:latin typeface="Bahnschrift Light" pitchFamily="34" charset="0"/>
                </a:rPr>
                <a:t>i.e</a:t>
              </a:r>
              <a:r>
                <a:rPr lang="en-US" sz="1600" dirty="0">
                  <a:latin typeface="Bahnschrift Light" pitchFamily="34" charset="0"/>
                </a:rPr>
                <a:t>. factual inaccuracy and hallucinations. Traditional generative models sometimes give answers that seem correct but are actually wrong. That is, hallucinations occur. </a:t>
              </a:r>
              <a:endParaRPr lang="en-US" sz="1600" dirty="0" smtClean="0">
                <a:latin typeface="Bahnschrift Light" pitchFamily="34" charset="0"/>
              </a:endParaRPr>
            </a:p>
            <a:p>
              <a:r>
                <a:rPr lang="en-US" sz="1600" dirty="0" smtClean="0">
                  <a:latin typeface="Bahnschrift Light" pitchFamily="34" charset="0"/>
                </a:rPr>
                <a:t>What </a:t>
              </a:r>
              <a:r>
                <a:rPr lang="en-US" sz="1600" dirty="0">
                  <a:latin typeface="Bahnschrift Light" pitchFamily="34" charset="0"/>
                </a:rPr>
                <a:t>does </a:t>
              </a:r>
              <a:r>
                <a:rPr lang="en-US" sz="1600" dirty="0" smtClean="0">
                  <a:latin typeface="Bahnschrift Light" pitchFamily="34" charset="0"/>
                </a:rPr>
                <a:t>Rag </a:t>
              </a:r>
              <a:r>
                <a:rPr lang="en-US" sz="1600" dirty="0">
                  <a:latin typeface="Bahnschrift Light" pitchFamily="34" charset="0"/>
                </a:rPr>
                <a:t>do? It helps the model to give fact-based and grounded answers by retrieving data from verified external sources.</a:t>
              </a:r>
              <a:endParaRPr lang="en-IN" sz="1600" dirty="0">
                <a:latin typeface="Bahnschrift Light" pitchFamily="34" charset="0"/>
              </a:endParaRPr>
            </a:p>
          </p:txBody>
        </p:sp>
        <p:sp>
          <p:nvSpPr>
            <p:cNvPr id="4" name="Rectangle 3"/>
            <p:cNvSpPr/>
            <p:nvPr/>
          </p:nvSpPr>
          <p:spPr>
            <a:xfrm>
              <a:off x="8741096" y="242891"/>
              <a:ext cx="1141659" cy="369332"/>
            </a:xfrm>
            <a:prstGeom prst="rect">
              <a:avLst/>
            </a:prstGeom>
            <a:solidFill>
              <a:schemeClr val="tx2"/>
            </a:solidFill>
            <a:ln>
              <a:solidFill>
                <a:schemeClr val="accent3"/>
              </a:solidFill>
            </a:ln>
          </p:spPr>
          <p:txBody>
            <a:bodyPr wrap="none">
              <a:spAutoFit/>
            </a:bodyPr>
            <a:lstStyle/>
            <a:p>
              <a:r>
                <a:rPr lang="en-US" dirty="0">
                  <a:solidFill>
                    <a:schemeClr val="bg1"/>
                  </a:solidFill>
                  <a:latin typeface="Bahnschrift" pitchFamily="34" charset="0"/>
                  <a:cs typeface="Calibri Light" pitchFamily="34" charset="0"/>
                </a:rPr>
                <a:t>Accuracy</a:t>
              </a:r>
            </a:p>
          </p:txBody>
        </p:sp>
      </p:grpSp>
      <p:grpSp>
        <p:nvGrpSpPr>
          <p:cNvPr id="12" name="Group 11"/>
          <p:cNvGrpSpPr/>
          <p:nvPr/>
        </p:nvGrpSpPr>
        <p:grpSpPr>
          <a:xfrm>
            <a:off x="1759527" y="2813448"/>
            <a:ext cx="10207978" cy="1692771"/>
            <a:chOff x="1433687" y="3396734"/>
            <a:chExt cx="10207978" cy="1692771"/>
          </a:xfrm>
        </p:grpSpPr>
        <p:sp>
          <p:nvSpPr>
            <p:cNvPr id="3" name="Rectangle 2"/>
            <p:cNvSpPr/>
            <p:nvPr/>
          </p:nvSpPr>
          <p:spPr>
            <a:xfrm>
              <a:off x="1433687" y="3581400"/>
              <a:ext cx="10051731" cy="1508105"/>
            </a:xfrm>
            <a:prstGeom prst="rect">
              <a:avLst/>
            </a:prstGeom>
            <a:ln>
              <a:solidFill>
                <a:srgbClr val="00B050"/>
              </a:solidFill>
            </a:ln>
          </p:spPr>
          <p:txBody>
            <a:bodyPr wrap="square">
              <a:spAutoFit/>
            </a:bodyPr>
            <a:lstStyle/>
            <a:p>
              <a:r>
                <a:rPr lang="en-US" dirty="0">
                  <a:latin typeface="Cambria Math" pitchFamily="18" charset="0"/>
                  <a:ea typeface="Cambria Math" pitchFamily="18" charset="0"/>
                </a:rPr>
                <a:t>Now </a:t>
              </a:r>
              <a:r>
                <a:rPr lang="en-US" dirty="0" smtClean="0">
                  <a:latin typeface="Cambria Math" pitchFamily="18" charset="0"/>
                  <a:ea typeface="Cambria Math" pitchFamily="18" charset="0"/>
                </a:rPr>
                <a:t>the second </a:t>
              </a:r>
              <a:r>
                <a:rPr lang="en-US" dirty="0">
                  <a:latin typeface="Cambria Math" pitchFamily="18" charset="0"/>
                  <a:ea typeface="Cambria Math" pitchFamily="18" charset="0"/>
                </a:rPr>
                <a:t>problem is that </a:t>
              </a:r>
              <a:r>
                <a:rPr lang="en-US" sz="2400" dirty="0">
                  <a:solidFill>
                    <a:schemeClr val="accent2"/>
                  </a:solidFill>
                  <a:latin typeface="Bahnschrift" pitchFamily="34" charset="0"/>
                  <a:ea typeface="Cambria Math" pitchFamily="18" charset="0"/>
                </a:rPr>
                <a:t>old or outdated </a:t>
              </a:r>
              <a:r>
                <a:rPr lang="en-US" sz="2400" dirty="0" smtClean="0">
                  <a:solidFill>
                    <a:schemeClr val="accent2"/>
                  </a:solidFill>
                  <a:latin typeface="Bahnschrift" pitchFamily="34" charset="0"/>
                  <a:ea typeface="Cambria Math" pitchFamily="18" charset="0"/>
                </a:rPr>
                <a:t>information</a:t>
              </a:r>
            </a:p>
            <a:p>
              <a:endParaRPr lang="en-US" dirty="0">
                <a:latin typeface="Cambria Math" pitchFamily="18" charset="0"/>
                <a:ea typeface="Cambria Math" pitchFamily="18" charset="0"/>
              </a:endParaRPr>
            </a:p>
            <a:p>
              <a:r>
                <a:rPr lang="en-US" dirty="0" smtClean="0">
                  <a:latin typeface="Bahnschrift Light" pitchFamily="34" charset="0"/>
                  <a:ea typeface="Cambria Math" pitchFamily="18" charset="0"/>
                </a:rPr>
                <a:t> </a:t>
              </a:r>
              <a:r>
                <a:rPr lang="en-US" sz="1600" dirty="0">
                  <a:latin typeface="Bahnschrift Light" pitchFamily="34" charset="0"/>
                  <a:ea typeface="Cambria Math" pitchFamily="18" charset="0"/>
                </a:rPr>
                <a:t>i.e. the training data of LLMS </a:t>
              </a:r>
              <a:r>
                <a:rPr lang="en-US" sz="1600" dirty="0" smtClean="0">
                  <a:latin typeface="Bahnschrift Light" pitchFamily="34" charset="0"/>
                  <a:ea typeface="Cambria Math" pitchFamily="18" charset="0"/>
                </a:rPr>
                <a:t>has a knowledge cut off date. </a:t>
              </a:r>
              <a:r>
                <a:rPr lang="en-US" sz="1600" dirty="0">
                  <a:latin typeface="Bahnschrift Light" pitchFamily="34" charset="0"/>
                  <a:ea typeface="Cambria Math" pitchFamily="18" charset="0"/>
                </a:rPr>
                <a:t>It does not get new facts or updates. </a:t>
              </a:r>
              <a:r>
                <a:rPr lang="en-US" sz="1600" dirty="0" smtClean="0">
                  <a:solidFill>
                    <a:schemeClr val="accent2"/>
                  </a:solidFill>
                  <a:latin typeface="Bahnschrift Light" pitchFamily="34" charset="0"/>
                  <a:ea typeface="Cambria Math" pitchFamily="18" charset="0"/>
                </a:rPr>
                <a:t>Rag </a:t>
              </a:r>
              <a:r>
                <a:rPr lang="en-US" sz="1600" dirty="0">
                  <a:latin typeface="Bahnschrift Light" pitchFamily="34" charset="0"/>
                  <a:ea typeface="Cambria Math" pitchFamily="18" charset="0"/>
                </a:rPr>
                <a:t>works as the biggest solution. By retrieving real time or updated external data, it always provides the latest information without retraining the model.</a:t>
              </a:r>
              <a:endParaRPr lang="en-IN" sz="1600" dirty="0">
                <a:latin typeface="Bahnschrift Light" pitchFamily="34" charset="0"/>
                <a:ea typeface="Cambria Math" pitchFamily="18" charset="0"/>
              </a:endParaRPr>
            </a:p>
          </p:txBody>
        </p:sp>
        <p:sp>
          <p:nvSpPr>
            <p:cNvPr id="11" name="Rectangle 10"/>
            <p:cNvSpPr/>
            <p:nvPr/>
          </p:nvSpPr>
          <p:spPr>
            <a:xfrm>
              <a:off x="8542740" y="3396734"/>
              <a:ext cx="3098925" cy="369332"/>
            </a:xfrm>
            <a:prstGeom prst="rect">
              <a:avLst/>
            </a:prstGeom>
            <a:solidFill>
              <a:srgbClr val="002060"/>
            </a:solidFill>
            <a:ln>
              <a:solidFill>
                <a:srgbClr val="00B050"/>
              </a:solidFill>
            </a:ln>
          </p:spPr>
          <p:txBody>
            <a:bodyPr wrap="none">
              <a:spAutoFit/>
            </a:bodyPr>
            <a:lstStyle/>
            <a:p>
              <a:r>
                <a:rPr lang="en-US" dirty="0">
                  <a:solidFill>
                    <a:schemeClr val="bg1"/>
                  </a:solidFill>
                  <a:latin typeface="Bahnschrift" pitchFamily="34" charset="0"/>
                  <a:cs typeface="Calibri Light" pitchFamily="34" charset="0"/>
                </a:rPr>
                <a:t>Knowledge Cut off limitation</a:t>
              </a:r>
            </a:p>
          </p:txBody>
        </p:sp>
      </p:grpSp>
    </p:spTree>
    <p:extLst>
      <p:ext uri="{BB962C8B-B14F-4D97-AF65-F5344CB8AC3E}">
        <p14:creationId xmlns:p14="http://schemas.microsoft.com/office/powerpoint/2010/main" val="1600484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95CE01EE-9B82-1A8D-6A71-28923D9F4DBF}"/>
            </a:ext>
          </a:extLst>
        </p:cNvPr>
        <p:cNvGrpSpPr/>
        <p:nvPr/>
      </p:nvGrpSpPr>
      <p:grpSpPr>
        <a:xfrm>
          <a:off x="0" y="0"/>
          <a:ext cx="0" cy="0"/>
          <a:chOff x="0" y="0"/>
          <a:chExt cx="0" cy="0"/>
        </a:xfrm>
      </p:grpSpPr>
      <p:sp>
        <p:nvSpPr>
          <p:cNvPr id="6" name="Rectangle 5">
            <a:extLst>
              <a:ext uri="{FF2B5EF4-FFF2-40B4-BE49-F238E27FC236}">
                <a16:creationId xmlns="" xmlns:a16="http://schemas.microsoft.com/office/drawing/2014/main" id="{9B3BB1EE-8F0D-D402-9B66-38C94EBDCD27}"/>
              </a:ext>
            </a:extLst>
          </p:cNvPr>
          <p:cNvSpPr/>
          <p:nvPr/>
        </p:nvSpPr>
        <p:spPr>
          <a:xfrm>
            <a:off x="0" y="1"/>
            <a:ext cx="1126638" cy="6858000"/>
          </a:xfrm>
          <a:prstGeom prst="rect">
            <a:avLst/>
          </a:prstGeom>
          <a:solidFill>
            <a:srgbClr val="D7C055"/>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dirty="0">
              <a:cs typeface="Calibri"/>
            </a:endParaRPr>
          </a:p>
        </p:txBody>
      </p:sp>
      <p:sp>
        <p:nvSpPr>
          <p:cNvPr id="7" name="Rectangle 6">
            <a:extLst>
              <a:ext uri="{FF2B5EF4-FFF2-40B4-BE49-F238E27FC236}">
                <a16:creationId xmlns="" xmlns:a16="http://schemas.microsoft.com/office/drawing/2014/main" id="{1B92D285-0982-C7FC-2CCB-555CC4555729}"/>
              </a:ext>
            </a:extLst>
          </p:cNvPr>
          <p:cNvSpPr/>
          <p:nvPr/>
        </p:nvSpPr>
        <p:spPr>
          <a:xfrm>
            <a:off x="565288" y="0"/>
            <a:ext cx="549447" cy="685800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xtBox 7">
            <a:extLst>
              <a:ext uri="{FF2B5EF4-FFF2-40B4-BE49-F238E27FC236}">
                <a16:creationId xmlns="" xmlns:a16="http://schemas.microsoft.com/office/drawing/2014/main" id="{F5A501CB-25F7-430E-26A9-AC8C6F18EA43}"/>
              </a:ext>
            </a:extLst>
          </p:cNvPr>
          <p:cNvSpPr txBox="1"/>
          <p:nvPr/>
        </p:nvSpPr>
        <p:spPr>
          <a:xfrm>
            <a:off x="601006" y="42718"/>
            <a:ext cx="442291" cy="707886"/>
          </a:xfrm>
          <a:prstGeom prst="rect">
            <a:avLst/>
          </a:prstGeom>
          <a:noFill/>
        </p:spPr>
        <p:txBody>
          <a:bodyPr wrap="square" rtlCol="0">
            <a:spAutoFit/>
          </a:bodyPr>
          <a:lstStyle/>
          <a:p>
            <a:r>
              <a:rPr lang="el-GR" sz="4000" dirty="0">
                <a:solidFill>
                  <a:srgbClr val="D7C055"/>
                </a:solidFill>
              </a:rPr>
              <a:t>π</a:t>
            </a:r>
            <a:endParaRPr lang="en-US" sz="4000" dirty="0">
              <a:solidFill>
                <a:srgbClr val="D7C055"/>
              </a:solidFill>
            </a:endParaRPr>
          </a:p>
        </p:txBody>
      </p:sp>
      <p:pic>
        <p:nvPicPr>
          <p:cNvPr id="10" name="Picture 9" descr="A logo with lines in a black background&#10;&#10;Description automatically generated">
            <a:extLst>
              <a:ext uri="{FF2B5EF4-FFF2-40B4-BE49-F238E27FC236}">
                <a16:creationId xmlns="" xmlns:a16="http://schemas.microsoft.com/office/drawing/2014/main" id="{F6D8D221-4B29-D734-A328-58D818C34433}"/>
              </a:ext>
            </a:extLst>
          </p:cNvPr>
          <p:cNvPicPr>
            <a:picLocks noChangeAspect="1"/>
          </p:cNvPicPr>
          <p:nvPr/>
        </p:nvPicPr>
        <p:blipFill>
          <a:blip r:embed="rId3"/>
          <a:stretch>
            <a:fillRect/>
          </a:stretch>
        </p:blipFill>
        <p:spPr>
          <a:xfrm>
            <a:off x="11202642" y="-205416"/>
            <a:ext cx="1217233" cy="1205327"/>
          </a:xfrm>
          <a:prstGeom prst="rect">
            <a:avLst/>
          </a:prstGeom>
        </p:spPr>
      </p:pic>
      <p:sp>
        <p:nvSpPr>
          <p:cNvPr id="33" name="Footer Placeholder 32">
            <a:extLst>
              <a:ext uri="{FF2B5EF4-FFF2-40B4-BE49-F238E27FC236}">
                <a16:creationId xmlns="" xmlns:a16="http://schemas.microsoft.com/office/drawing/2014/main" id="{9EFE9F1A-54D1-5FC8-F649-AA565950307F}"/>
              </a:ext>
            </a:extLst>
          </p:cNvPr>
          <p:cNvSpPr>
            <a:spLocks noGrp="1"/>
          </p:cNvSpPr>
          <p:nvPr>
            <p:ph type="ftr" sz="quarter" idx="11"/>
          </p:nvPr>
        </p:nvSpPr>
        <p:spPr/>
        <p:txBody>
          <a:bodyPr/>
          <a:lstStyle/>
          <a:p>
            <a:r>
              <a:rPr lang="en-US" dirty="0"/>
              <a:t>Navigating the Future of Learning​</a:t>
            </a:r>
          </a:p>
        </p:txBody>
      </p:sp>
      <p:sp>
        <p:nvSpPr>
          <p:cNvPr id="2" name="Rectangle 1"/>
          <p:cNvSpPr/>
          <p:nvPr/>
        </p:nvSpPr>
        <p:spPr>
          <a:xfrm>
            <a:off x="1385455" y="427557"/>
            <a:ext cx="9817187" cy="1415772"/>
          </a:xfrm>
          <a:prstGeom prst="rect">
            <a:avLst/>
          </a:prstGeom>
          <a:ln>
            <a:solidFill>
              <a:schemeClr val="accent1">
                <a:lumMod val="20000"/>
                <a:lumOff val="80000"/>
              </a:schemeClr>
            </a:solidFill>
          </a:ln>
        </p:spPr>
        <p:txBody>
          <a:bodyPr wrap="square">
            <a:spAutoFit/>
          </a:bodyPr>
          <a:lstStyle/>
          <a:p>
            <a:r>
              <a:rPr lang="en-US" sz="2000" b="1" dirty="0" smtClean="0">
                <a:solidFill>
                  <a:srgbClr val="7030A0"/>
                </a:solidFill>
                <a:latin typeface="Bahnschrift" pitchFamily="34" charset="0"/>
              </a:rPr>
              <a:t>Third</a:t>
            </a:r>
            <a:r>
              <a:rPr lang="en-US" sz="2000" b="1" dirty="0">
                <a:solidFill>
                  <a:srgbClr val="7030A0"/>
                </a:solidFill>
                <a:latin typeface="Bahnschrift" pitchFamily="34" charset="0"/>
              </a:rPr>
              <a:t>, the lack of contextual relevance </a:t>
            </a:r>
            <a:endParaRPr lang="en-US" sz="2000" b="1" dirty="0" smtClean="0">
              <a:solidFill>
                <a:srgbClr val="7030A0"/>
              </a:solidFill>
              <a:latin typeface="Bahnschrift" pitchFamily="34" charset="0"/>
            </a:endParaRPr>
          </a:p>
          <a:p>
            <a:endParaRPr lang="en-US" dirty="0"/>
          </a:p>
          <a:p>
            <a:r>
              <a:rPr lang="en-US" sz="1600" dirty="0" smtClean="0">
                <a:latin typeface="Bahnschrift Light" pitchFamily="34" charset="0"/>
              </a:rPr>
              <a:t>means </a:t>
            </a:r>
            <a:r>
              <a:rPr lang="en-US" sz="1600" dirty="0">
                <a:latin typeface="Bahnschrift Light" pitchFamily="34" charset="0"/>
              </a:rPr>
              <a:t>that in long or contextual conversations, generative models mix up context. What does </a:t>
            </a:r>
            <a:r>
              <a:rPr lang="en-US" sz="1600" dirty="0" smtClean="0">
                <a:latin typeface="Bahnschrift Light" pitchFamily="34" charset="0"/>
              </a:rPr>
              <a:t>Rag do</a:t>
            </a:r>
            <a:r>
              <a:rPr lang="en-US" sz="1600" dirty="0">
                <a:latin typeface="Bahnschrift Light" pitchFamily="34" charset="0"/>
              </a:rPr>
              <a:t>, especially in </a:t>
            </a:r>
            <a:r>
              <a:rPr lang="en-US" sz="1600" dirty="0" smtClean="0">
                <a:latin typeface="Bahnschrift Light" pitchFamily="34" charset="0"/>
              </a:rPr>
              <a:t>multi turn chats</a:t>
            </a:r>
            <a:r>
              <a:rPr lang="en-US" sz="1600" dirty="0">
                <a:latin typeface="Bahnschrift Light" pitchFamily="34" charset="0"/>
              </a:rPr>
              <a:t>? Now it fetches relevant documents that enrich the context of the conversation. This makes the response more connected and relevant.</a:t>
            </a:r>
            <a:endParaRPr lang="en-IN" sz="1600" dirty="0">
              <a:latin typeface="Bahnschrift Light" pitchFamily="34" charset="0"/>
            </a:endParaRPr>
          </a:p>
        </p:txBody>
      </p:sp>
      <p:sp>
        <p:nvSpPr>
          <p:cNvPr id="3" name="Rectangle 2"/>
          <p:cNvSpPr/>
          <p:nvPr/>
        </p:nvSpPr>
        <p:spPr>
          <a:xfrm>
            <a:off x="2657230" y="2182091"/>
            <a:ext cx="9368515" cy="1508105"/>
          </a:xfrm>
          <a:prstGeom prst="rect">
            <a:avLst/>
          </a:prstGeom>
          <a:ln>
            <a:solidFill>
              <a:srgbClr val="00B0F0"/>
            </a:solidFill>
          </a:ln>
        </p:spPr>
        <p:txBody>
          <a:bodyPr wrap="square">
            <a:spAutoFit/>
          </a:bodyPr>
          <a:lstStyle/>
          <a:p>
            <a:r>
              <a:rPr lang="en-US" dirty="0" smtClean="0">
                <a:latin typeface="Cambria Math" pitchFamily="18" charset="0"/>
                <a:ea typeface="Cambria Math" pitchFamily="18" charset="0"/>
              </a:rPr>
              <a:t> </a:t>
            </a:r>
            <a:r>
              <a:rPr lang="en-US" dirty="0">
                <a:latin typeface="Cambria Math" pitchFamily="18" charset="0"/>
                <a:ea typeface="Cambria Math" pitchFamily="18" charset="0"/>
              </a:rPr>
              <a:t>The fourth point it solves is the </a:t>
            </a:r>
            <a:r>
              <a:rPr lang="en-US" sz="2400" b="1" dirty="0">
                <a:solidFill>
                  <a:srgbClr val="00B050"/>
                </a:solidFill>
                <a:latin typeface="Bahnschrift" pitchFamily="34" charset="0"/>
                <a:ea typeface="Cambria Math" pitchFamily="18" charset="0"/>
              </a:rPr>
              <a:t>lack of domain specific knowledge</a:t>
            </a:r>
            <a:r>
              <a:rPr lang="en-US" dirty="0">
                <a:latin typeface="Cambria Math" pitchFamily="18" charset="0"/>
                <a:ea typeface="Cambria Math" pitchFamily="18" charset="0"/>
              </a:rPr>
              <a:t>. </a:t>
            </a:r>
            <a:endParaRPr lang="en-US" dirty="0" smtClean="0">
              <a:latin typeface="Cambria Math" pitchFamily="18" charset="0"/>
              <a:ea typeface="Cambria Math" pitchFamily="18" charset="0"/>
            </a:endParaRPr>
          </a:p>
          <a:p>
            <a:endParaRPr lang="en-US" dirty="0">
              <a:latin typeface="Cambria Math" pitchFamily="18" charset="0"/>
              <a:ea typeface="Cambria Math" pitchFamily="18" charset="0"/>
            </a:endParaRPr>
          </a:p>
          <a:p>
            <a:r>
              <a:rPr lang="en-US" sz="1600" dirty="0" smtClean="0">
                <a:latin typeface="Bahnschrift Light" pitchFamily="34" charset="0"/>
                <a:ea typeface="Cambria Math" pitchFamily="18" charset="0"/>
              </a:rPr>
              <a:t>Generic </a:t>
            </a:r>
            <a:r>
              <a:rPr lang="en-US" sz="1600" dirty="0">
                <a:latin typeface="Bahnschrift Light" pitchFamily="34" charset="0"/>
                <a:ea typeface="Cambria Math" pitchFamily="18" charset="0"/>
              </a:rPr>
              <a:t>models cannot give accurate answers for every industry or specialized field such as medical, law, finance etc. RAG works as a solution for this. It helps in giving tailored and expert level answers by fetching relevant information from external domain specific knowledge base</a:t>
            </a:r>
            <a:r>
              <a:rPr lang="en-US" dirty="0">
                <a:latin typeface="Bahnschrift Light" pitchFamily="34" charset="0"/>
                <a:ea typeface="Cambria Math" pitchFamily="18" charset="0"/>
              </a:rPr>
              <a:t>.</a:t>
            </a:r>
            <a:endParaRPr lang="en-IN" dirty="0">
              <a:latin typeface="Bahnschrift Light" pitchFamily="34" charset="0"/>
              <a:ea typeface="Cambria Math" pitchFamily="18" charset="0"/>
            </a:endParaRPr>
          </a:p>
        </p:txBody>
      </p:sp>
      <p:sp>
        <p:nvSpPr>
          <p:cNvPr id="5" name="Rectangle 4"/>
          <p:cNvSpPr/>
          <p:nvPr/>
        </p:nvSpPr>
        <p:spPr>
          <a:xfrm>
            <a:off x="1385454" y="4519136"/>
            <a:ext cx="10425803" cy="1169551"/>
          </a:xfrm>
          <a:prstGeom prst="rect">
            <a:avLst/>
          </a:prstGeom>
          <a:ln>
            <a:solidFill>
              <a:srgbClr val="00B0F0"/>
            </a:solidFill>
          </a:ln>
        </p:spPr>
        <p:txBody>
          <a:bodyPr wrap="square">
            <a:spAutoFit/>
          </a:bodyPr>
          <a:lstStyle/>
          <a:p>
            <a:r>
              <a:rPr lang="en-US" sz="1600" dirty="0"/>
              <a:t>What is the fifth problem? </a:t>
            </a:r>
            <a:r>
              <a:rPr lang="en-US" sz="1600" dirty="0" smtClean="0"/>
              <a:t>It </a:t>
            </a:r>
            <a:r>
              <a:rPr lang="en-US" sz="1600" dirty="0"/>
              <a:t>solves the </a:t>
            </a:r>
            <a:r>
              <a:rPr lang="en-US" sz="2000" b="1" dirty="0">
                <a:solidFill>
                  <a:srgbClr val="0070C0"/>
                </a:solidFill>
                <a:latin typeface="Bahnschrift" pitchFamily="34" charset="0"/>
              </a:rPr>
              <a:t>high cost of retraining. </a:t>
            </a:r>
            <a:endParaRPr lang="en-US" sz="2000" b="1" dirty="0" smtClean="0">
              <a:solidFill>
                <a:srgbClr val="0070C0"/>
              </a:solidFill>
              <a:latin typeface="Bahnschrift" pitchFamily="34" charset="0"/>
            </a:endParaRPr>
          </a:p>
          <a:p>
            <a:endParaRPr lang="en-US" sz="1600" dirty="0"/>
          </a:p>
          <a:p>
            <a:r>
              <a:rPr lang="en-US" sz="1600" dirty="0" smtClean="0">
                <a:latin typeface="Bahnschrift Light" pitchFamily="34" charset="0"/>
              </a:rPr>
              <a:t>Fine-tuning </a:t>
            </a:r>
            <a:r>
              <a:rPr lang="en-US" sz="1600" dirty="0">
                <a:latin typeface="Bahnschrift Light" pitchFamily="34" charset="0"/>
              </a:rPr>
              <a:t>large models for every new task is expensive and resource heavy. What does </a:t>
            </a:r>
            <a:r>
              <a:rPr lang="en-US" b="1" dirty="0" smtClean="0">
                <a:solidFill>
                  <a:schemeClr val="accent2"/>
                </a:solidFill>
                <a:latin typeface="Bahnschrift Light" pitchFamily="34" charset="0"/>
              </a:rPr>
              <a:t>RAG</a:t>
            </a:r>
            <a:r>
              <a:rPr lang="en-US" dirty="0" smtClean="0">
                <a:solidFill>
                  <a:schemeClr val="accent2"/>
                </a:solidFill>
                <a:latin typeface="Bahnschrift Light" pitchFamily="34" charset="0"/>
              </a:rPr>
              <a:t> </a:t>
            </a:r>
            <a:r>
              <a:rPr lang="en-US" sz="1600" dirty="0" smtClean="0">
                <a:latin typeface="Bahnschrift Light" pitchFamily="34" charset="0"/>
              </a:rPr>
              <a:t>do</a:t>
            </a:r>
            <a:r>
              <a:rPr lang="en-US" sz="1600" dirty="0">
                <a:latin typeface="Bahnschrift Light" pitchFamily="34" charset="0"/>
              </a:rPr>
              <a:t>? </a:t>
            </a:r>
            <a:r>
              <a:rPr lang="en-US" sz="1600" dirty="0" smtClean="0">
                <a:latin typeface="Bahnschrift Light" pitchFamily="34" charset="0"/>
              </a:rPr>
              <a:t>Rag </a:t>
            </a:r>
            <a:r>
              <a:rPr lang="en-US" sz="1600" dirty="0">
                <a:latin typeface="Bahnschrift Light" pitchFamily="34" charset="0"/>
              </a:rPr>
              <a:t>fetches external data and gives answers without retraining. This saves both cost and computation.</a:t>
            </a:r>
            <a:endParaRPr lang="en-IN" sz="1600" dirty="0">
              <a:latin typeface="Bahnschrift Light" pitchFamily="34" charset="0"/>
            </a:endParaRPr>
          </a:p>
        </p:txBody>
      </p:sp>
    </p:spTree>
    <p:extLst>
      <p:ext uri="{BB962C8B-B14F-4D97-AF65-F5344CB8AC3E}">
        <p14:creationId xmlns:p14="http://schemas.microsoft.com/office/powerpoint/2010/main" val="32659627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95CE01EE-9B82-1A8D-6A71-28923D9F4DBF}"/>
            </a:ext>
          </a:extLst>
        </p:cNvPr>
        <p:cNvGrpSpPr/>
        <p:nvPr/>
      </p:nvGrpSpPr>
      <p:grpSpPr>
        <a:xfrm>
          <a:off x="0" y="0"/>
          <a:ext cx="0" cy="0"/>
          <a:chOff x="0" y="0"/>
          <a:chExt cx="0" cy="0"/>
        </a:xfrm>
      </p:grpSpPr>
      <p:sp>
        <p:nvSpPr>
          <p:cNvPr id="6" name="Rectangle 5">
            <a:extLst>
              <a:ext uri="{FF2B5EF4-FFF2-40B4-BE49-F238E27FC236}">
                <a16:creationId xmlns="" xmlns:a16="http://schemas.microsoft.com/office/drawing/2014/main" id="{9B3BB1EE-8F0D-D402-9B66-38C94EBDCD27}"/>
              </a:ext>
            </a:extLst>
          </p:cNvPr>
          <p:cNvSpPr/>
          <p:nvPr/>
        </p:nvSpPr>
        <p:spPr>
          <a:xfrm>
            <a:off x="0" y="1"/>
            <a:ext cx="1126638" cy="6858000"/>
          </a:xfrm>
          <a:prstGeom prst="rect">
            <a:avLst/>
          </a:prstGeom>
          <a:solidFill>
            <a:srgbClr val="D7C055"/>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dirty="0">
              <a:cs typeface="Calibri"/>
            </a:endParaRPr>
          </a:p>
        </p:txBody>
      </p:sp>
      <p:sp>
        <p:nvSpPr>
          <p:cNvPr id="7" name="Rectangle 6">
            <a:extLst>
              <a:ext uri="{FF2B5EF4-FFF2-40B4-BE49-F238E27FC236}">
                <a16:creationId xmlns="" xmlns:a16="http://schemas.microsoft.com/office/drawing/2014/main" id="{1B92D285-0982-C7FC-2CCB-555CC4555729}"/>
              </a:ext>
            </a:extLst>
          </p:cNvPr>
          <p:cNvSpPr/>
          <p:nvPr/>
        </p:nvSpPr>
        <p:spPr>
          <a:xfrm>
            <a:off x="565288" y="0"/>
            <a:ext cx="549447" cy="685800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xtBox 7">
            <a:extLst>
              <a:ext uri="{FF2B5EF4-FFF2-40B4-BE49-F238E27FC236}">
                <a16:creationId xmlns="" xmlns:a16="http://schemas.microsoft.com/office/drawing/2014/main" id="{F5A501CB-25F7-430E-26A9-AC8C6F18EA43}"/>
              </a:ext>
            </a:extLst>
          </p:cNvPr>
          <p:cNvSpPr txBox="1"/>
          <p:nvPr/>
        </p:nvSpPr>
        <p:spPr>
          <a:xfrm>
            <a:off x="601006" y="42718"/>
            <a:ext cx="442291" cy="707886"/>
          </a:xfrm>
          <a:prstGeom prst="rect">
            <a:avLst/>
          </a:prstGeom>
          <a:noFill/>
        </p:spPr>
        <p:txBody>
          <a:bodyPr wrap="square" rtlCol="0">
            <a:spAutoFit/>
          </a:bodyPr>
          <a:lstStyle/>
          <a:p>
            <a:r>
              <a:rPr lang="el-GR" sz="4000" dirty="0">
                <a:solidFill>
                  <a:srgbClr val="D7C055"/>
                </a:solidFill>
              </a:rPr>
              <a:t>π</a:t>
            </a:r>
            <a:endParaRPr lang="en-US" sz="4000" dirty="0">
              <a:solidFill>
                <a:srgbClr val="D7C055"/>
              </a:solidFill>
            </a:endParaRPr>
          </a:p>
        </p:txBody>
      </p:sp>
      <p:pic>
        <p:nvPicPr>
          <p:cNvPr id="10" name="Picture 9" descr="A logo with lines in a black background&#10;&#10;Description automatically generated">
            <a:extLst>
              <a:ext uri="{FF2B5EF4-FFF2-40B4-BE49-F238E27FC236}">
                <a16:creationId xmlns="" xmlns:a16="http://schemas.microsoft.com/office/drawing/2014/main" id="{F6D8D221-4B29-D734-A328-58D818C34433}"/>
              </a:ext>
            </a:extLst>
          </p:cNvPr>
          <p:cNvPicPr>
            <a:picLocks noChangeAspect="1"/>
          </p:cNvPicPr>
          <p:nvPr/>
        </p:nvPicPr>
        <p:blipFill>
          <a:blip r:embed="rId3"/>
          <a:stretch>
            <a:fillRect/>
          </a:stretch>
        </p:blipFill>
        <p:spPr>
          <a:xfrm>
            <a:off x="11202642" y="-205416"/>
            <a:ext cx="1217233" cy="1205327"/>
          </a:xfrm>
          <a:prstGeom prst="rect">
            <a:avLst/>
          </a:prstGeom>
        </p:spPr>
      </p:pic>
      <p:sp>
        <p:nvSpPr>
          <p:cNvPr id="33" name="Footer Placeholder 32">
            <a:extLst>
              <a:ext uri="{FF2B5EF4-FFF2-40B4-BE49-F238E27FC236}">
                <a16:creationId xmlns="" xmlns:a16="http://schemas.microsoft.com/office/drawing/2014/main" id="{9EFE9F1A-54D1-5FC8-F649-AA565950307F}"/>
              </a:ext>
            </a:extLst>
          </p:cNvPr>
          <p:cNvSpPr>
            <a:spLocks noGrp="1"/>
          </p:cNvSpPr>
          <p:nvPr>
            <p:ph type="ftr" sz="quarter" idx="11"/>
          </p:nvPr>
        </p:nvSpPr>
        <p:spPr/>
        <p:txBody>
          <a:bodyPr/>
          <a:lstStyle/>
          <a:p>
            <a:r>
              <a:rPr lang="en-US" dirty="0"/>
              <a:t>Navigating the Future of Learning​</a:t>
            </a:r>
          </a:p>
        </p:txBody>
      </p:sp>
      <p:sp>
        <p:nvSpPr>
          <p:cNvPr id="2" name="Rectangle 1"/>
          <p:cNvSpPr/>
          <p:nvPr/>
        </p:nvSpPr>
        <p:spPr>
          <a:xfrm>
            <a:off x="1385455" y="427557"/>
            <a:ext cx="9817187" cy="1692771"/>
          </a:xfrm>
          <a:prstGeom prst="rect">
            <a:avLst/>
          </a:prstGeom>
          <a:ln>
            <a:solidFill>
              <a:schemeClr val="accent2"/>
            </a:solidFill>
          </a:ln>
        </p:spPr>
        <p:txBody>
          <a:bodyPr wrap="square">
            <a:spAutoFit/>
          </a:bodyPr>
          <a:lstStyle/>
          <a:p>
            <a:r>
              <a:rPr lang="en-US" sz="1600" dirty="0" smtClean="0"/>
              <a:t>The </a:t>
            </a:r>
            <a:r>
              <a:rPr lang="en-US" sz="1600" dirty="0"/>
              <a:t>sixth problem it solves is that </a:t>
            </a:r>
            <a:r>
              <a:rPr lang="en-US" sz="2400" b="1" dirty="0">
                <a:solidFill>
                  <a:schemeClr val="accent2"/>
                </a:solidFill>
                <a:latin typeface="Bahnschrift" pitchFamily="34" charset="0"/>
              </a:rPr>
              <a:t>it can be easily used in multiple domains</a:t>
            </a:r>
            <a:r>
              <a:rPr lang="en-US" dirty="0" smtClean="0">
                <a:latin typeface="Bahnschrift" pitchFamily="34" charset="0"/>
              </a:rPr>
              <a:t>,</a:t>
            </a:r>
          </a:p>
          <a:p>
            <a:endParaRPr lang="en-US" sz="1600" dirty="0" smtClean="0"/>
          </a:p>
          <a:p>
            <a:r>
              <a:rPr lang="en-US" sz="1600" dirty="0" smtClean="0">
                <a:latin typeface="Bahnschrift Light" pitchFamily="34" charset="0"/>
              </a:rPr>
              <a:t> </a:t>
            </a:r>
            <a:r>
              <a:rPr lang="en-US" sz="1600" dirty="0">
                <a:latin typeface="Bahnschrift Light" pitchFamily="34" charset="0"/>
              </a:rPr>
              <a:t>that is scalability. If we have to use LLMs in health care, education, legal, finance, etc. then retraining becomes a problem. Now RAG has the advantage that the same model can be used in multiple domains by attaching different knowledge bases. It is easily scalable. </a:t>
            </a:r>
            <a:r>
              <a:rPr lang="en-US" sz="1600" dirty="0" smtClean="0">
                <a:latin typeface="Bahnschrift Light" pitchFamily="34" charset="0"/>
              </a:rPr>
              <a:t>Simply  </a:t>
            </a:r>
            <a:r>
              <a:rPr lang="en-US" sz="1600" dirty="0">
                <a:latin typeface="Bahnschrift Light" pitchFamily="34" charset="0"/>
              </a:rPr>
              <a:t>RAG makes LLMs smarter, updated, factual and domain specific without retraining.</a:t>
            </a:r>
            <a:endParaRPr lang="en-IN" sz="1600" dirty="0">
              <a:latin typeface="Bahnschrift Light" pitchFamily="34" charset="0"/>
            </a:endParaRPr>
          </a:p>
        </p:txBody>
      </p:sp>
    </p:spTree>
    <p:extLst>
      <p:ext uri="{BB962C8B-B14F-4D97-AF65-F5344CB8AC3E}">
        <p14:creationId xmlns:p14="http://schemas.microsoft.com/office/powerpoint/2010/main" val="25982201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95CE01EE-9B82-1A8D-6A71-28923D9F4DBF}"/>
            </a:ext>
          </a:extLst>
        </p:cNvPr>
        <p:cNvGrpSpPr/>
        <p:nvPr/>
      </p:nvGrpSpPr>
      <p:grpSpPr>
        <a:xfrm>
          <a:off x="0" y="0"/>
          <a:ext cx="0" cy="0"/>
          <a:chOff x="0" y="0"/>
          <a:chExt cx="0" cy="0"/>
        </a:xfrm>
      </p:grpSpPr>
      <p:sp>
        <p:nvSpPr>
          <p:cNvPr id="6" name="Rectangle 5">
            <a:extLst>
              <a:ext uri="{FF2B5EF4-FFF2-40B4-BE49-F238E27FC236}">
                <a16:creationId xmlns="" xmlns:a16="http://schemas.microsoft.com/office/drawing/2014/main" id="{9B3BB1EE-8F0D-D402-9B66-38C94EBDCD27}"/>
              </a:ext>
            </a:extLst>
          </p:cNvPr>
          <p:cNvSpPr/>
          <p:nvPr/>
        </p:nvSpPr>
        <p:spPr>
          <a:xfrm>
            <a:off x="0" y="1"/>
            <a:ext cx="1126638" cy="6858000"/>
          </a:xfrm>
          <a:prstGeom prst="rect">
            <a:avLst/>
          </a:prstGeom>
          <a:solidFill>
            <a:srgbClr val="D7C055"/>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dirty="0">
              <a:cs typeface="Calibri"/>
            </a:endParaRPr>
          </a:p>
        </p:txBody>
      </p:sp>
      <p:sp>
        <p:nvSpPr>
          <p:cNvPr id="7" name="Rectangle 6">
            <a:extLst>
              <a:ext uri="{FF2B5EF4-FFF2-40B4-BE49-F238E27FC236}">
                <a16:creationId xmlns="" xmlns:a16="http://schemas.microsoft.com/office/drawing/2014/main" id="{1B92D285-0982-C7FC-2CCB-555CC4555729}"/>
              </a:ext>
            </a:extLst>
          </p:cNvPr>
          <p:cNvSpPr/>
          <p:nvPr/>
        </p:nvSpPr>
        <p:spPr>
          <a:xfrm>
            <a:off x="565288" y="0"/>
            <a:ext cx="549447" cy="685800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xtBox 7">
            <a:extLst>
              <a:ext uri="{FF2B5EF4-FFF2-40B4-BE49-F238E27FC236}">
                <a16:creationId xmlns="" xmlns:a16="http://schemas.microsoft.com/office/drawing/2014/main" id="{F5A501CB-25F7-430E-26A9-AC8C6F18EA43}"/>
              </a:ext>
            </a:extLst>
          </p:cNvPr>
          <p:cNvSpPr txBox="1"/>
          <p:nvPr/>
        </p:nvSpPr>
        <p:spPr>
          <a:xfrm>
            <a:off x="601006" y="42718"/>
            <a:ext cx="442291" cy="707886"/>
          </a:xfrm>
          <a:prstGeom prst="rect">
            <a:avLst/>
          </a:prstGeom>
          <a:noFill/>
        </p:spPr>
        <p:txBody>
          <a:bodyPr wrap="square" rtlCol="0">
            <a:spAutoFit/>
          </a:bodyPr>
          <a:lstStyle/>
          <a:p>
            <a:r>
              <a:rPr lang="el-GR" sz="4000" dirty="0">
                <a:solidFill>
                  <a:srgbClr val="D7C055"/>
                </a:solidFill>
              </a:rPr>
              <a:t>π</a:t>
            </a:r>
            <a:endParaRPr lang="en-US" sz="4000" dirty="0">
              <a:solidFill>
                <a:srgbClr val="D7C055"/>
              </a:solidFill>
            </a:endParaRPr>
          </a:p>
        </p:txBody>
      </p:sp>
      <p:pic>
        <p:nvPicPr>
          <p:cNvPr id="10" name="Picture 9" descr="A logo with lines in a black background&#10;&#10;Description automatically generated">
            <a:extLst>
              <a:ext uri="{FF2B5EF4-FFF2-40B4-BE49-F238E27FC236}">
                <a16:creationId xmlns="" xmlns:a16="http://schemas.microsoft.com/office/drawing/2014/main" id="{F6D8D221-4B29-D734-A328-58D818C34433}"/>
              </a:ext>
            </a:extLst>
          </p:cNvPr>
          <p:cNvPicPr>
            <a:picLocks noChangeAspect="1"/>
          </p:cNvPicPr>
          <p:nvPr/>
        </p:nvPicPr>
        <p:blipFill>
          <a:blip r:embed="rId3"/>
          <a:stretch>
            <a:fillRect/>
          </a:stretch>
        </p:blipFill>
        <p:spPr>
          <a:xfrm>
            <a:off x="11202642" y="-205416"/>
            <a:ext cx="1217233" cy="1205327"/>
          </a:xfrm>
          <a:prstGeom prst="rect">
            <a:avLst/>
          </a:prstGeom>
        </p:spPr>
      </p:pic>
      <p:sp>
        <p:nvSpPr>
          <p:cNvPr id="33" name="Footer Placeholder 32">
            <a:extLst>
              <a:ext uri="{FF2B5EF4-FFF2-40B4-BE49-F238E27FC236}">
                <a16:creationId xmlns="" xmlns:a16="http://schemas.microsoft.com/office/drawing/2014/main" id="{9EFE9F1A-54D1-5FC8-F649-AA565950307F}"/>
              </a:ext>
            </a:extLst>
          </p:cNvPr>
          <p:cNvSpPr>
            <a:spLocks noGrp="1"/>
          </p:cNvSpPr>
          <p:nvPr>
            <p:ph type="ftr" sz="quarter" idx="11"/>
          </p:nvPr>
        </p:nvSpPr>
        <p:spPr/>
        <p:txBody>
          <a:bodyPr/>
          <a:lstStyle/>
          <a:p>
            <a:r>
              <a:rPr lang="en-US" dirty="0"/>
              <a:t>Navigating the Future of Learning​</a:t>
            </a:r>
          </a:p>
        </p:txBody>
      </p:sp>
      <p:sp>
        <p:nvSpPr>
          <p:cNvPr id="4" name="Rectangle 3"/>
          <p:cNvSpPr/>
          <p:nvPr/>
        </p:nvSpPr>
        <p:spPr>
          <a:xfrm>
            <a:off x="1698424" y="557039"/>
            <a:ext cx="9504218" cy="830997"/>
          </a:xfrm>
          <a:prstGeom prst="rect">
            <a:avLst/>
          </a:prstGeom>
        </p:spPr>
        <p:txBody>
          <a:bodyPr wrap="square">
            <a:spAutoFit/>
          </a:bodyPr>
          <a:lstStyle/>
          <a:p>
            <a:r>
              <a:rPr lang="en-US" sz="1600" dirty="0">
                <a:latin typeface="Cambria Math" pitchFamily="18" charset="0"/>
                <a:ea typeface="Cambria Math" pitchFamily="18" charset="0"/>
              </a:rPr>
              <a:t>RAG does not have only benefits. It also has some challenges. The first of which is complexity. The model that is formed by combining both retrieval and generation becomes very complex. This requires careful tuning and optimization so that both parts work well together. </a:t>
            </a:r>
            <a:endParaRPr lang="en-IN" sz="1600" dirty="0">
              <a:latin typeface="Cambria Math" pitchFamily="18" charset="0"/>
              <a:ea typeface="Cambria Math" pitchFamily="18" charset="0"/>
            </a:endParaRPr>
          </a:p>
        </p:txBody>
      </p:sp>
      <p:sp>
        <p:nvSpPr>
          <p:cNvPr id="5" name="Rectangle 4"/>
          <p:cNvSpPr/>
          <p:nvPr/>
        </p:nvSpPr>
        <p:spPr>
          <a:xfrm>
            <a:off x="1698424" y="1739113"/>
            <a:ext cx="9504218" cy="584775"/>
          </a:xfrm>
          <a:prstGeom prst="rect">
            <a:avLst/>
          </a:prstGeom>
        </p:spPr>
        <p:txBody>
          <a:bodyPr wrap="square">
            <a:spAutoFit/>
          </a:bodyPr>
          <a:lstStyle/>
          <a:p>
            <a:r>
              <a:rPr lang="en-US" sz="1600" dirty="0">
                <a:latin typeface="Cambria Math" pitchFamily="18" charset="0"/>
                <a:ea typeface="Cambria Math" pitchFamily="18" charset="0"/>
              </a:rPr>
              <a:t>Now the second challenge is latency. That is, when the model retrieves the data, it takes some time. Due to this, it can be difficult to run the RAG model in real time applications</a:t>
            </a:r>
            <a:endParaRPr lang="en-IN" sz="1600" dirty="0">
              <a:latin typeface="Cambria Math" pitchFamily="18" charset="0"/>
              <a:ea typeface="Cambria Math" pitchFamily="18" charset="0"/>
            </a:endParaRPr>
          </a:p>
        </p:txBody>
      </p:sp>
      <p:sp>
        <p:nvSpPr>
          <p:cNvPr id="9" name="Rectangle 8"/>
          <p:cNvSpPr/>
          <p:nvPr/>
        </p:nvSpPr>
        <p:spPr>
          <a:xfrm>
            <a:off x="1698424" y="2653192"/>
            <a:ext cx="8736533" cy="830997"/>
          </a:xfrm>
          <a:prstGeom prst="rect">
            <a:avLst/>
          </a:prstGeom>
        </p:spPr>
        <p:txBody>
          <a:bodyPr wrap="square">
            <a:spAutoFit/>
          </a:bodyPr>
          <a:lstStyle/>
          <a:p>
            <a:r>
              <a:rPr lang="en-US" sz="1600" dirty="0">
                <a:latin typeface="Cambria Math" pitchFamily="18" charset="0"/>
                <a:ea typeface="Cambria Math" pitchFamily="18" charset="0"/>
              </a:rPr>
              <a:t>Third is the quality of the retriever, that is, the performance of the RAG model depends completely on the information retrieved. If wrong or useless documents are found, then the answer can also be useless. </a:t>
            </a:r>
            <a:endParaRPr lang="en-IN" sz="1600" dirty="0">
              <a:latin typeface="Cambria Math" pitchFamily="18" charset="0"/>
              <a:ea typeface="Cambria Math" pitchFamily="18" charset="0"/>
            </a:endParaRPr>
          </a:p>
        </p:txBody>
      </p:sp>
      <p:sp>
        <p:nvSpPr>
          <p:cNvPr id="11" name="Rectangle 10"/>
          <p:cNvSpPr/>
          <p:nvPr/>
        </p:nvSpPr>
        <p:spPr>
          <a:xfrm>
            <a:off x="1698424" y="4029165"/>
            <a:ext cx="10230340" cy="584775"/>
          </a:xfrm>
          <a:prstGeom prst="rect">
            <a:avLst/>
          </a:prstGeom>
        </p:spPr>
        <p:txBody>
          <a:bodyPr wrap="square">
            <a:spAutoFit/>
          </a:bodyPr>
          <a:lstStyle/>
          <a:p>
            <a:r>
              <a:rPr lang="en-US" sz="1600" dirty="0">
                <a:latin typeface="Cambria Math" pitchFamily="18" charset="0"/>
                <a:ea typeface="Cambria Math" pitchFamily="18" charset="0"/>
              </a:rPr>
              <a:t>Fourth is bias and fairness. That is, like other AI models, RAG can also pick up bias from the training data or retrieved documents. Therefore, regular monitoring is necessary to reduce bias.</a:t>
            </a:r>
            <a:endParaRPr lang="en-IN" sz="1600" dirty="0">
              <a:latin typeface="Cambria Math" pitchFamily="18" charset="0"/>
              <a:ea typeface="Cambria Math" pitchFamily="18" charset="0"/>
            </a:endParaRPr>
          </a:p>
        </p:txBody>
      </p:sp>
    </p:spTree>
    <p:extLst>
      <p:ext uri="{BB962C8B-B14F-4D97-AF65-F5344CB8AC3E}">
        <p14:creationId xmlns:p14="http://schemas.microsoft.com/office/powerpoint/2010/main" val="1425754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95CE01EE-9B82-1A8D-6A71-28923D9F4DBF}"/>
            </a:ext>
          </a:extLst>
        </p:cNvPr>
        <p:cNvGrpSpPr/>
        <p:nvPr/>
      </p:nvGrpSpPr>
      <p:grpSpPr>
        <a:xfrm>
          <a:off x="0" y="0"/>
          <a:ext cx="0" cy="0"/>
          <a:chOff x="0" y="0"/>
          <a:chExt cx="0" cy="0"/>
        </a:xfrm>
      </p:grpSpPr>
      <p:sp>
        <p:nvSpPr>
          <p:cNvPr id="6" name="Rectangle 5">
            <a:extLst>
              <a:ext uri="{FF2B5EF4-FFF2-40B4-BE49-F238E27FC236}">
                <a16:creationId xmlns="" xmlns:a16="http://schemas.microsoft.com/office/drawing/2014/main" id="{9B3BB1EE-8F0D-D402-9B66-38C94EBDCD27}"/>
              </a:ext>
            </a:extLst>
          </p:cNvPr>
          <p:cNvSpPr/>
          <p:nvPr/>
        </p:nvSpPr>
        <p:spPr>
          <a:xfrm>
            <a:off x="0" y="1"/>
            <a:ext cx="1126638" cy="6858000"/>
          </a:xfrm>
          <a:prstGeom prst="rect">
            <a:avLst/>
          </a:prstGeom>
          <a:solidFill>
            <a:srgbClr val="D7C055"/>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dirty="0">
              <a:cs typeface="Calibri"/>
            </a:endParaRPr>
          </a:p>
        </p:txBody>
      </p:sp>
      <p:sp>
        <p:nvSpPr>
          <p:cNvPr id="7" name="Rectangle 6">
            <a:extLst>
              <a:ext uri="{FF2B5EF4-FFF2-40B4-BE49-F238E27FC236}">
                <a16:creationId xmlns="" xmlns:a16="http://schemas.microsoft.com/office/drawing/2014/main" id="{1B92D285-0982-C7FC-2CCB-555CC4555729}"/>
              </a:ext>
            </a:extLst>
          </p:cNvPr>
          <p:cNvSpPr/>
          <p:nvPr/>
        </p:nvSpPr>
        <p:spPr>
          <a:xfrm>
            <a:off x="565288" y="0"/>
            <a:ext cx="549447" cy="685800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xtBox 7">
            <a:extLst>
              <a:ext uri="{FF2B5EF4-FFF2-40B4-BE49-F238E27FC236}">
                <a16:creationId xmlns="" xmlns:a16="http://schemas.microsoft.com/office/drawing/2014/main" id="{F5A501CB-25F7-430E-26A9-AC8C6F18EA43}"/>
              </a:ext>
            </a:extLst>
          </p:cNvPr>
          <p:cNvSpPr txBox="1"/>
          <p:nvPr/>
        </p:nvSpPr>
        <p:spPr>
          <a:xfrm>
            <a:off x="601006" y="42718"/>
            <a:ext cx="442291" cy="707886"/>
          </a:xfrm>
          <a:prstGeom prst="rect">
            <a:avLst/>
          </a:prstGeom>
          <a:noFill/>
        </p:spPr>
        <p:txBody>
          <a:bodyPr wrap="square" rtlCol="0">
            <a:spAutoFit/>
          </a:bodyPr>
          <a:lstStyle/>
          <a:p>
            <a:r>
              <a:rPr lang="el-GR" sz="4000" dirty="0">
                <a:solidFill>
                  <a:srgbClr val="D7C055"/>
                </a:solidFill>
              </a:rPr>
              <a:t>π</a:t>
            </a:r>
            <a:endParaRPr lang="en-US" sz="4000" dirty="0">
              <a:solidFill>
                <a:srgbClr val="D7C055"/>
              </a:solidFill>
            </a:endParaRPr>
          </a:p>
        </p:txBody>
      </p:sp>
      <p:pic>
        <p:nvPicPr>
          <p:cNvPr id="10" name="Picture 9" descr="A logo with lines in a black background&#10;&#10;Description automatically generated">
            <a:extLst>
              <a:ext uri="{FF2B5EF4-FFF2-40B4-BE49-F238E27FC236}">
                <a16:creationId xmlns="" xmlns:a16="http://schemas.microsoft.com/office/drawing/2014/main" id="{F6D8D221-4B29-D734-A328-58D818C34433}"/>
              </a:ext>
            </a:extLst>
          </p:cNvPr>
          <p:cNvPicPr>
            <a:picLocks noChangeAspect="1"/>
          </p:cNvPicPr>
          <p:nvPr/>
        </p:nvPicPr>
        <p:blipFill>
          <a:blip r:embed="rId3"/>
          <a:stretch>
            <a:fillRect/>
          </a:stretch>
        </p:blipFill>
        <p:spPr>
          <a:xfrm>
            <a:off x="11202642" y="-205416"/>
            <a:ext cx="1217233" cy="1205327"/>
          </a:xfrm>
          <a:prstGeom prst="rect">
            <a:avLst/>
          </a:prstGeom>
        </p:spPr>
      </p:pic>
      <p:sp>
        <p:nvSpPr>
          <p:cNvPr id="33" name="Footer Placeholder 32">
            <a:extLst>
              <a:ext uri="{FF2B5EF4-FFF2-40B4-BE49-F238E27FC236}">
                <a16:creationId xmlns="" xmlns:a16="http://schemas.microsoft.com/office/drawing/2014/main" id="{9EFE9F1A-54D1-5FC8-F649-AA565950307F}"/>
              </a:ext>
            </a:extLst>
          </p:cNvPr>
          <p:cNvSpPr>
            <a:spLocks noGrp="1"/>
          </p:cNvSpPr>
          <p:nvPr>
            <p:ph type="ftr" sz="quarter" idx="11"/>
          </p:nvPr>
        </p:nvSpPr>
        <p:spPr/>
        <p:txBody>
          <a:bodyPr/>
          <a:lstStyle/>
          <a:p>
            <a:r>
              <a:rPr lang="en-US" dirty="0"/>
              <a:t>Navigating the Future of Learning​</a:t>
            </a:r>
          </a:p>
        </p:txBody>
      </p:sp>
      <p:sp>
        <p:nvSpPr>
          <p:cNvPr id="35" name="Title 1">
            <a:extLst>
              <a:ext uri="{FF2B5EF4-FFF2-40B4-BE49-F238E27FC236}">
                <a16:creationId xmlns="" xmlns:a16="http://schemas.microsoft.com/office/drawing/2014/main" id="{8E4945F9-351B-FE06-B4C4-5E27ED97FD2B}"/>
              </a:ext>
            </a:extLst>
          </p:cNvPr>
          <p:cNvSpPr txBox="1">
            <a:spLocks/>
          </p:cNvSpPr>
          <p:nvPr/>
        </p:nvSpPr>
        <p:spPr>
          <a:xfrm>
            <a:off x="1593436" y="286922"/>
            <a:ext cx="9782801" cy="71299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4000" dirty="0">
                <a:latin typeface="Bahnschrift" pitchFamily="34" charset="0"/>
              </a:rPr>
              <a:t>RAG – </a:t>
            </a:r>
            <a:r>
              <a:rPr lang="en-IN" sz="4000" dirty="0">
                <a:latin typeface="Bahnschrift" pitchFamily="34" charset="0"/>
              </a:rPr>
              <a:t>Step by Step Approach</a:t>
            </a:r>
          </a:p>
        </p:txBody>
      </p:sp>
      <p:sp>
        <p:nvSpPr>
          <p:cNvPr id="2" name="TextBox 1">
            <a:extLst>
              <a:ext uri="{FF2B5EF4-FFF2-40B4-BE49-F238E27FC236}">
                <a16:creationId xmlns="" xmlns:a16="http://schemas.microsoft.com/office/drawing/2014/main" id="{3BD3C3E3-5CB7-8059-474E-563B96A1AFEF}"/>
              </a:ext>
            </a:extLst>
          </p:cNvPr>
          <p:cNvSpPr txBox="1"/>
          <p:nvPr/>
        </p:nvSpPr>
        <p:spPr>
          <a:xfrm>
            <a:off x="3103418" y="1491006"/>
            <a:ext cx="5624946" cy="2862322"/>
          </a:xfrm>
          <a:prstGeom prst="rect">
            <a:avLst/>
          </a:prstGeom>
          <a:no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buFont typeface="Arial" panose="020B0604020202020204" pitchFamily="34" charset="0"/>
              <a:buChar char="•"/>
            </a:pPr>
            <a:r>
              <a:rPr lang="en-US" sz="2000" dirty="0">
                <a:latin typeface="Calibri Light" pitchFamily="34" charset="0"/>
                <a:cs typeface="Calibri Light" pitchFamily="34" charset="0"/>
              </a:rPr>
              <a:t>Chunking</a:t>
            </a:r>
          </a:p>
          <a:p>
            <a:pPr marL="342900" indent="-342900">
              <a:buFont typeface="Arial" panose="020B0604020202020204" pitchFamily="34" charset="0"/>
              <a:buChar char="•"/>
            </a:pPr>
            <a:endParaRPr lang="en-US" sz="2000" dirty="0">
              <a:latin typeface="Calibri Light" pitchFamily="34" charset="0"/>
              <a:cs typeface="Calibri Light" pitchFamily="34" charset="0"/>
            </a:endParaRPr>
          </a:p>
          <a:p>
            <a:pPr marL="342900" indent="-342900">
              <a:buFont typeface="Arial" panose="020B0604020202020204" pitchFamily="34" charset="0"/>
              <a:buChar char="•"/>
            </a:pPr>
            <a:r>
              <a:rPr lang="en-US" sz="2000" dirty="0">
                <a:latin typeface="Calibri Light" pitchFamily="34" charset="0"/>
                <a:cs typeface="Calibri Light" pitchFamily="34" charset="0"/>
              </a:rPr>
              <a:t>Embedding</a:t>
            </a:r>
          </a:p>
          <a:p>
            <a:pPr marL="342900" indent="-342900">
              <a:buFont typeface="Arial" panose="020B0604020202020204" pitchFamily="34" charset="0"/>
              <a:buChar char="•"/>
            </a:pPr>
            <a:endParaRPr lang="en-US" sz="2000" dirty="0">
              <a:latin typeface="Calibri Light" pitchFamily="34" charset="0"/>
              <a:cs typeface="Calibri Light" pitchFamily="34" charset="0"/>
            </a:endParaRPr>
          </a:p>
          <a:p>
            <a:pPr marL="342900" indent="-342900">
              <a:buFont typeface="Arial" panose="020B0604020202020204" pitchFamily="34" charset="0"/>
              <a:buChar char="•"/>
            </a:pPr>
            <a:r>
              <a:rPr lang="en-US" sz="2000" dirty="0">
                <a:latin typeface="Calibri Light" pitchFamily="34" charset="0"/>
                <a:cs typeface="Calibri Light" pitchFamily="34" charset="0"/>
              </a:rPr>
              <a:t>Vector DB</a:t>
            </a:r>
          </a:p>
          <a:p>
            <a:pPr marL="342900" indent="-342900">
              <a:buFont typeface="Arial" panose="020B0604020202020204" pitchFamily="34" charset="0"/>
              <a:buChar char="•"/>
            </a:pPr>
            <a:endParaRPr lang="en-US" sz="2000" dirty="0">
              <a:latin typeface="Calibri Light" pitchFamily="34" charset="0"/>
              <a:cs typeface="Calibri Light" pitchFamily="34" charset="0"/>
            </a:endParaRPr>
          </a:p>
          <a:p>
            <a:pPr marL="342900" indent="-342900">
              <a:buFont typeface="Arial" panose="020B0604020202020204" pitchFamily="34" charset="0"/>
              <a:buChar char="•"/>
            </a:pPr>
            <a:r>
              <a:rPr lang="en-US" sz="2000" dirty="0">
                <a:latin typeface="Calibri Light" pitchFamily="34" charset="0"/>
                <a:cs typeface="Calibri Light" pitchFamily="34" charset="0"/>
              </a:rPr>
              <a:t>Semantic Search</a:t>
            </a:r>
          </a:p>
          <a:p>
            <a:pPr marL="342900" indent="-342900">
              <a:buFont typeface="Arial" panose="020B0604020202020204" pitchFamily="34" charset="0"/>
              <a:buChar char="•"/>
            </a:pPr>
            <a:endParaRPr lang="en-US" sz="2000" dirty="0">
              <a:latin typeface="Calibri Light" pitchFamily="34" charset="0"/>
              <a:cs typeface="Calibri Light" pitchFamily="34" charset="0"/>
            </a:endParaRPr>
          </a:p>
          <a:p>
            <a:pPr marL="342900" indent="-342900">
              <a:buFont typeface="Arial" panose="020B0604020202020204" pitchFamily="34" charset="0"/>
              <a:buChar char="•"/>
            </a:pPr>
            <a:r>
              <a:rPr lang="en-US" sz="2000" dirty="0">
                <a:latin typeface="Calibri Light" pitchFamily="34" charset="0"/>
                <a:cs typeface="Calibri Light" pitchFamily="34" charset="0"/>
              </a:rPr>
              <a:t>Generative Search</a:t>
            </a:r>
          </a:p>
        </p:txBody>
      </p:sp>
    </p:spTree>
    <p:extLst>
      <p:ext uri="{BB962C8B-B14F-4D97-AF65-F5344CB8AC3E}">
        <p14:creationId xmlns:p14="http://schemas.microsoft.com/office/powerpoint/2010/main" val="37790841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9A00AC01-0D1B-4670-B29D-784BF9417E63}"/>
            </a:ext>
          </a:extLst>
        </p:cNvPr>
        <p:cNvGrpSpPr/>
        <p:nvPr/>
      </p:nvGrpSpPr>
      <p:grpSpPr>
        <a:xfrm>
          <a:off x="0" y="0"/>
          <a:ext cx="0" cy="0"/>
          <a:chOff x="0" y="0"/>
          <a:chExt cx="0" cy="0"/>
        </a:xfrm>
      </p:grpSpPr>
      <p:sp>
        <p:nvSpPr>
          <p:cNvPr id="6" name="Rectangle 5">
            <a:extLst>
              <a:ext uri="{FF2B5EF4-FFF2-40B4-BE49-F238E27FC236}">
                <a16:creationId xmlns="" xmlns:a16="http://schemas.microsoft.com/office/drawing/2014/main" id="{F42AC56F-B988-068F-5073-41D324EA661F}"/>
              </a:ext>
            </a:extLst>
          </p:cNvPr>
          <p:cNvSpPr/>
          <p:nvPr/>
        </p:nvSpPr>
        <p:spPr>
          <a:xfrm>
            <a:off x="0" y="1"/>
            <a:ext cx="1126638" cy="6858000"/>
          </a:xfrm>
          <a:prstGeom prst="rect">
            <a:avLst/>
          </a:prstGeom>
          <a:solidFill>
            <a:srgbClr val="D7C05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 xmlns:a16="http://schemas.microsoft.com/office/drawing/2014/main" id="{1C7ED88D-99A7-E7D0-D563-319B47D0A7A8}"/>
              </a:ext>
            </a:extLst>
          </p:cNvPr>
          <p:cNvSpPr/>
          <p:nvPr/>
        </p:nvSpPr>
        <p:spPr>
          <a:xfrm>
            <a:off x="565288" y="0"/>
            <a:ext cx="549447" cy="685800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 xmlns:a16="http://schemas.microsoft.com/office/drawing/2014/main" id="{86D9703F-8E7B-39E7-D187-C45F9BE29396}"/>
              </a:ext>
            </a:extLst>
          </p:cNvPr>
          <p:cNvSpPr txBox="1"/>
          <p:nvPr/>
        </p:nvSpPr>
        <p:spPr>
          <a:xfrm>
            <a:off x="601006" y="42718"/>
            <a:ext cx="442291" cy="707886"/>
          </a:xfrm>
          <a:prstGeom prst="rect">
            <a:avLst/>
          </a:prstGeom>
          <a:noFill/>
        </p:spPr>
        <p:txBody>
          <a:bodyPr wrap="square" rtlCol="0">
            <a:spAutoFit/>
          </a:bodyPr>
          <a:lstStyle/>
          <a:p>
            <a:r>
              <a:rPr lang="el-GR" sz="4000">
                <a:solidFill>
                  <a:srgbClr val="D7C055"/>
                </a:solidFill>
              </a:rPr>
              <a:t>π</a:t>
            </a:r>
            <a:endParaRPr lang="en-US" sz="4000">
              <a:solidFill>
                <a:srgbClr val="D7C055"/>
              </a:solidFill>
            </a:endParaRPr>
          </a:p>
        </p:txBody>
      </p:sp>
      <p:pic>
        <p:nvPicPr>
          <p:cNvPr id="10" name="Picture 9" descr="A logo with lines in a black background&#10;&#10;Description automatically generated">
            <a:extLst>
              <a:ext uri="{FF2B5EF4-FFF2-40B4-BE49-F238E27FC236}">
                <a16:creationId xmlns="" xmlns:a16="http://schemas.microsoft.com/office/drawing/2014/main" id="{3D524DBF-F0C3-D6F7-607C-D2D2CA1ED00A}"/>
              </a:ext>
            </a:extLst>
          </p:cNvPr>
          <p:cNvPicPr>
            <a:picLocks noChangeAspect="1"/>
          </p:cNvPicPr>
          <p:nvPr/>
        </p:nvPicPr>
        <p:blipFill>
          <a:blip r:embed="rId3"/>
          <a:stretch>
            <a:fillRect/>
          </a:stretch>
        </p:blipFill>
        <p:spPr>
          <a:xfrm>
            <a:off x="11202642" y="-205416"/>
            <a:ext cx="1217233" cy="1205327"/>
          </a:xfrm>
          <a:prstGeom prst="rect">
            <a:avLst/>
          </a:prstGeom>
        </p:spPr>
      </p:pic>
      <p:sp>
        <p:nvSpPr>
          <p:cNvPr id="2" name="Google Shape;149;p2">
            <a:extLst>
              <a:ext uri="{FF2B5EF4-FFF2-40B4-BE49-F238E27FC236}">
                <a16:creationId xmlns="" xmlns:a16="http://schemas.microsoft.com/office/drawing/2014/main" id="{038532CF-66C3-65D3-7D34-1709FB126FDA}"/>
              </a:ext>
            </a:extLst>
          </p:cNvPr>
          <p:cNvSpPr txBox="1">
            <a:spLocks noGrp="1"/>
          </p:cNvSpPr>
          <p:nvPr/>
        </p:nvSpPr>
        <p:spPr>
          <a:xfrm>
            <a:off x="1593436" y="177800"/>
            <a:ext cx="9782801" cy="822111"/>
          </a:xfrm>
          <a:prstGeom prst="rect">
            <a:avLst/>
          </a:prstGeom>
          <a:noFill/>
          <a:ln>
            <a:noFill/>
          </a:ln>
        </p:spPr>
        <p:txBody>
          <a:bodyPr spcFirstLastPara="1" wrap="square" lIns="91425" tIns="45700" rIns="91425" bIns="45700" anchor="b"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rgbClr val="343F49"/>
              </a:buClr>
              <a:buSzPts val="1800"/>
              <a:buFont typeface="Arial"/>
              <a:buNone/>
              <a:defRPr sz="3600" b="0" i="0" u="none" strike="noStrike" cap="none">
                <a:solidFill>
                  <a:srgbClr val="343F49"/>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0" lvl="0" indent="0" algn="l" rtl="0">
              <a:lnSpc>
                <a:spcPct val="90000"/>
              </a:lnSpc>
              <a:spcBef>
                <a:spcPts val="0"/>
              </a:spcBef>
              <a:spcAft>
                <a:spcPts val="0"/>
              </a:spcAft>
              <a:buClr>
                <a:srgbClr val="343F49"/>
              </a:buClr>
              <a:buSzPts val="3600"/>
              <a:buFont typeface="Arial"/>
              <a:buNone/>
            </a:pPr>
            <a:r>
              <a:rPr lang="en-US" sz="4000" b="1" dirty="0">
                <a:solidFill>
                  <a:schemeClr val="tx1"/>
                </a:solidFill>
                <a:latin typeface="Bahnschrift" pitchFamily="34" charset="0"/>
              </a:rPr>
              <a:t>Chunking:</a:t>
            </a:r>
          </a:p>
        </p:txBody>
      </p:sp>
      <p:sp>
        <p:nvSpPr>
          <p:cNvPr id="4" name="Footer Placeholder 3">
            <a:extLst>
              <a:ext uri="{FF2B5EF4-FFF2-40B4-BE49-F238E27FC236}">
                <a16:creationId xmlns="" xmlns:a16="http://schemas.microsoft.com/office/drawing/2014/main" id="{CF61D508-5ADB-85A0-C55A-A34AD3B36759}"/>
              </a:ext>
            </a:extLst>
          </p:cNvPr>
          <p:cNvSpPr>
            <a:spLocks noGrp="1"/>
          </p:cNvSpPr>
          <p:nvPr>
            <p:ph type="ftr" sz="quarter" idx="11"/>
          </p:nvPr>
        </p:nvSpPr>
        <p:spPr/>
        <p:txBody>
          <a:bodyPr/>
          <a:lstStyle/>
          <a:p>
            <a:r>
              <a:rPr lang="en-US"/>
              <a:t>Navigating the Future of Learning </a:t>
            </a:r>
          </a:p>
        </p:txBody>
      </p:sp>
      <p:sp>
        <p:nvSpPr>
          <p:cNvPr id="3" name="TextBox 2">
            <a:extLst>
              <a:ext uri="{FF2B5EF4-FFF2-40B4-BE49-F238E27FC236}">
                <a16:creationId xmlns="" xmlns:a16="http://schemas.microsoft.com/office/drawing/2014/main" id="{80243339-ED22-1024-9DE9-208DC19C51BC}"/>
              </a:ext>
            </a:extLst>
          </p:cNvPr>
          <p:cNvSpPr txBox="1"/>
          <p:nvPr/>
        </p:nvSpPr>
        <p:spPr>
          <a:xfrm>
            <a:off x="3110947" y="5846566"/>
            <a:ext cx="6571094" cy="369332"/>
          </a:xfrm>
          <a:prstGeom prst="rect">
            <a:avLst/>
          </a:prstGeom>
          <a:noFill/>
        </p:spPr>
        <p:txBody>
          <a:bodyPr wrap="none" rtlCol="0">
            <a:spAutoFit/>
          </a:bodyPr>
          <a:lstStyle/>
          <a:p>
            <a:r>
              <a:rPr lang="en-IN" b="0" i="0" dirty="0">
                <a:solidFill>
                  <a:srgbClr val="000000"/>
                </a:solidFill>
                <a:effectLst/>
                <a:latin typeface="Helvetica" panose="020B0604020202020204" pitchFamily="34" charset="0"/>
              </a:rPr>
              <a:t>Reference:  </a:t>
            </a:r>
            <a:r>
              <a:rPr lang="en-IN" b="0" i="0" dirty="0">
                <a:solidFill>
                  <a:srgbClr val="000000"/>
                </a:solidFill>
                <a:effectLst/>
                <a:latin typeface="Helvetica" panose="020B0604020202020204" pitchFamily="34" charset="0"/>
                <a:hlinkClick r:id="rId4"/>
              </a:rPr>
              <a:t>https://www.pinecone.io/learn/chunking-strategies/</a:t>
            </a:r>
            <a:r>
              <a:rPr lang="en-IN" dirty="0">
                <a:solidFill>
                  <a:srgbClr val="000000"/>
                </a:solidFill>
                <a:latin typeface="Helvetica" panose="020B0604020202020204" pitchFamily="34" charset="0"/>
              </a:rPr>
              <a:t> </a:t>
            </a:r>
            <a:endParaRPr lang="en-IN" b="0" i="0" dirty="0">
              <a:solidFill>
                <a:srgbClr val="000000"/>
              </a:solidFill>
              <a:effectLst/>
              <a:latin typeface="Helvetica" panose="020B0604020202020204" pitchFamily="34" charset="0"/>
            </a:endParaRPr>
          </a:p>
        </p:txBody>
      </p:sp>
      <p:pic>
        <p:nvPicPr>
          <p:cNvPr id="1034" name="Picture 10">
            <a:extLst>
              <a:ext uri="{FF2B5EF4-FFF2-40B4-BE49-F238E27FC236}">
                <a16:creationId xmlns="" xmlns:a16="http://schemas.microsoft.com/office/drawing/2014/main" id="{194CF29D-6162-FDB5-9155-FD5DAFF96C3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87119" y="1417637"/>
            <a:ext cx="8618749" cy="372536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586928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9A00AC01-0D1B-4670-B29D-784BF9417E63}"/>
            </a:ext>
          </a:extLst>
        </p:cNvPr>
        <p:cNvGrpSpPr/>
        <p:nvPr/>
      </p:nvGrpSpPr>
      <p:grpSpPr>
        <a:xfrm>
          <a:off x="0" y="0"/>
          <a:ext cx="0" cy="0"/>
          <a:chOff x="0" y="0"/>
          <a:chExt cx="0" cy="0"/>
        </a:xfrm>
      </p:grpSpPr>
      <p:sp>
        <p:nvSpPr>
          <p:cNvPr id="6" name="Rectangle 5">
            <a:extLst>
              <a:ext uri="{FF2B5EF4-FFF2-40B4-BE49-F238E27FC236}">
                <a16:creationId xmlns="" xmlns:a16="http://schemas.microsoft.com/office/drawing/2014/main" id="{F42AC56F-B988-068F-5073-41D324EA661F}"/>
              </a:ext>
            </a:extLst>
          </p:cNvPr>
          <p:cNvSpPr/>
          <p:nvPr/>
        </p:nvSpPr>
        <p:spPr>
          <a:xfrm>
            <a:off x="0" y="1"/>
            <a:ext cx="1126638" cy="6858000"/>
          </a:xfrm>
          <a:prstGeom prst="rect">
            <a:avLst/>
          </a:prstGeom>
          <a:solidFill>
            <a:srgbClr val="D7C05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 xmlns:a16="http://schemas.microsoft.com/office/drawing/2014/main" id="{1C7ED88D-99A7-E7D0-D563-319B47D0A7A8}"/>
              </a:ext>
            </a:extLst>
          </p:cNvPr>
          <p:cNvSpPr/>
          <p:nvPr/>
        </p:nvSpPr>
        <p:spPr>
          <a:xfrm>
            <a:off x="565288" y="0"/>
            <a:ext cx="549447" cy="685800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 xmlns:a16="http://schemas.microsoft.com/office/drawing/2014/main" id="{86D9703F-8E7B-39E7-D187-C45F9BE29396}"/>
              </a:ext>
            </a:extLst>
          </p:cNvPr>
          <p:cNvSpPr txBox="1"/>
          <p:nvPr/>
        </p:nvSpPr>
        <p:spPr>
          <a:xfrm>
            <a:off x="601006" y="42718"/>
            <a:ext cx="442291" cy="707886"/>
          </a:xfrm>
          <a:prstGeom prst="rect">
            <a:avLst/>
          </a:prstGeom>
          <a:noFill/>
        </p:spPr>
        <p:txBody>
          <a:bodyPr wrap="square" rtlCol="0">
            <a:spAutoFit/>
          </a:bodyPr>
          <a:lstStyle/>
          <a:p>
            <a:r>
              <a:rPr lang="el-GR" sz="4000">
                <a:solidFill>
                  <a:srgbClr val="D7C055"/>
                </a:solidFill>
              </a:rPr>
              <a:t>π</a:t>
            </a:r>
            <a:endParaRPr lang="en-US" sz="4000">
              <a:solidFill>
                <a:srgbClr val="D7C055"/>
              </a:solidFill>
            </a:endParaRPr>
          </a:p>
        </p:txBody>
      </p:sp>
      <p:pic>
        <p:nvPicPr>
          <p:cNvPr id="10" name="Picture 9" descr="A logo with lines in a black background&#10;&#10;Description automatically generated">
            <a:extLst>
              <a:ext uri="{FF2B5EF4-FFF2-40B4-BE49-F238E27FC236}">
                <a16:creationId xmlns="" xmlns:a16="http://schemas.microsoft.com/office/drawing/2014/main" id="{3D524DBF-F0C3-D6F7-607C-D2D2CA1ED00A}"/>
              </a:ext>
            </a:extLst>
          </p:cNvPr>
          <p:cNvPicPr>
            <a:picLocks noChangeAspect="1"/>
          </p:cNvPicPr>
          <p:nvPr/>
        </p:nvPicPr>
        <p:blipFill>
          <a:blip r:embed="rId3"/>
          <a:stretch>
            <a:fillRect/>
          </a:stretch>
        </p:blipFill>
        <p:spPr>
          <a:xfrm>
            <a:off x="11202642" y="-205416"/>
            <a:ext cx="1217233" cy="1205327"/>
          </a:xfrm>
          <a:prstGeom prst="rect">
            <a:avLst/>
          </a:prstGeom>
        </p:spPr>
      </p:pic>
      <p:sp>
        <p:nvSpPr>
          <p:cNvPr id="2" name="Google Shape;149;p2">
            <a:extLst>
              <a:ext uri="{FF2B5EF4-FFF2-40B4-BE49-F238E27FC236}">
                <a16:creationId xmlns="" xmlns:a16="http://schemas.microsoft.com/office/drawing/2014/main" id="{038532CF-66C3-65D3-7D34-1709FB126FDA}"/>
              </a:ext>
            </a:extLst>
          </p:cNvPr>
          <p:cNvSpPr txBox="1">
            <a:spLocks noGrp="1"/>
          </p:cNvSpPr>
          <p:nvPr/>
        </p:nvSpPr>
        <p:spPr>
          <a:xfrm>
            <a:off x="1593436" y="177800"/>
            <a:ext cx="9782801" cy="1239837"/>
          </a:xfrm>
          <a:prstGeom prst="rect">
            <a:avLst/>
          </a:prstGeom>
          <a:noFill/>
          <a:ln>
            <a:noFill/>
          </a:ln>
        </p:spPr>
        <p:txBody>
          <a:bodyPr spcFirstLastPara="1" wrap="square" lIns="91425" tIns="45700" rIns="91425" bIns="45700" anchor="b"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rgbClr val="343F49"/>
              </a:buClr>
              <a:buSzPts val="1800"/>
              <a:buFont typeface="Arial"/>
              <a:buNone/>
              <a:defRPr sz="3600" b="0" i="0" u="none" strike="noStrike" cap="none">
                <a:solidFill>
                  <a:srgbClr val="343F49"/>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0" lvl="0" indent="0" algn="l" rtl="0">
              <a:lnSpc>
                <a:spcPct val="90000"/>
              </a:lnSpc>
              <a:spcBef>
                <a:spcPts val="0"/>
              </a:spcBef>
              <a:spcAft>
                <a:spcPts val="0"/>
              </a:spcAft>
              <a:buClr>
                <a:srgbClr val="343F49"/>
              </a:buClr>
              <a:buSzPts val="3600"/>
              <a:buFont typeface="Arial"/>
              <a:buNone/>
            </a:pPr>
            <a:r>
              <a:rPr lang="en-US" sz="4000" b="1" dirty="0">
                <a:solidFill>
                  <a:schemeClr val="tx1"/>
                </a:solidFill>
              </a:rPr>
              <a:t>Chunking:</a:t>
            </a:r>
          </a:p>
        </p:txBody>
      </p:sp>
      <p:sp>
        <p:nvSpPr>
          <p:cNvPr id="4" name="Footer Placeholder 3">
            <a:extLst>
              <a:ext uri="{FF2B5EF4-FFF2-40B4-BE49-F238E27FC236}">
                <a16:creationId xmlns="" xmlns:a16="http://schemas.microsoft.com/office/drawing/2014/main" id="{CF61D508-5ADB-85A0-C55A-A34AD3B36759}"/>
              </a:ext>
            </a:extLst>
          </p:cNvPr>
          <p:cNvSpPr>
            <a:spLocks noGrp="1"/>
          </p:cNvSpPr>
          <p:nvPr>
            <p:ph type="ftr" sz="quarter" idx="11"/>
          </p:nvPr>
        </p:nvSpPr>
        <p:spPr/>
        <p:txBody>
          <a:bodyPr/>
          <a:lstStyle/>
          <a:p>
            <a:r>
              <a:rPr lang="en-US"/>
              <a:t>Navigating the Future of Learning </a:t>
            </a:r>
          </a:p>
        </p:txBody>
      </p:sp>
      <p:sp>
        <p:nvSpPr>
          <p:cNvPr id="15" name="TextBox 14">
            <a:extLst>
              <a:ext uri="{FF2B5EF4-FFF2-40B4-BE49-F238E27FC236}">
                <a16:creationId xmlns="" xmlns:a16="http://schemas.microsoft.com/office/drawing/2014/main" id="{F7ECF021-94B1-B059-E67D-A67D1C89434A}"/>
              </a:ext>
            </a:extLst>
          </p:cNvPr>
          <p:cNvSpPr txBox="1"/>
          <p:nvPr/>
        </p:nvSpPr>
        <p:spPr>
          <a:xfrm>
            <a:off x="1889725" y="1720840"/>
            <a:ext cx="9190222" cy="415498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dirty="0"/>
              <a:t>In the context of information processing, chunking refers to the practice of dividing larger pieces of data, text, or information into smaller, manageable units, or "chunks</a:t>
            </a:r>
          </a:p>
          <a:p>
            <a:endParaRPr lang="en-US" sz="2400" dirty="0">
              <a:ea typeface="Calibri"/>
              <a:cs typeface="Calibri"/>
            </a:endParaRPr>
          </a:p>
          <a:p>
            <a:r>
              <a:rPr lang="en-US" sz="2400" b="1" dirty="0">
                <a:ea typeface="Calibri"/>
                <a:cs typeface="Calibri"/>
              </a:rPr>
              <a:t>Chunking strategy for data are:</a:t>
            </a:r>
          </a:p>
          <a:p>
            <a:endParaRPr lang="en-US" sz="2400" dirty="0">
              <a:ea typeface="Calibri"/>
              <a:cs typeface="Calibri"/>
            </a:endParaRPr>
          </a:p>
          <a:p>
            <a:pPr marL="342900" indent="-342900">
              <a:buFont typeface="Arial" panose="020B0604020202020204" pitchFamily="34" charset="0"/>
              <a:buChar char="•"/>
            </a:pPr>
            <a:r>
              <a:rPr lang="en-US" sz="2400" dirty="0">
                <a:ea typeface="Calibri"/>
                <a:cs typeface="Calibri"/>
              </a:rPr>
              <a:t>Fixed-Length Chunking</a:t>
            </a:r>
          </a:p>
          <a:p>
            <a:pPr marL="342900" indent="-342900">
              <a:buFont typeface="Arial" panose="020B0604020202020204" pitchFamily="34" charset="0"/>
              <a:buChar char="•"/>
            </a:pPr>
            <a:r>
              <a:rPr lang="en-US" sz="2400" dirty="0">
                <a:ea typeface="Calibri"/>
                <a:cs typeface="Calibri"/>
              </a:rPr>
              <a:t>Sentence or Paragraph Chunking</a:t>
            </a:r>
          </a:p>
          <a:p>
            <a:pPr marL="342900" indent="-342900">
              <a:buFont typeface="Arial" panose="020B0604020202020204" pitchFamily="34" charset="0"/>
              <a:buChar char="•"/>
            </a:pPr>
            <a:r>
              <a:rPr lang="en-US" sz="2400" dirty="0">
                <a:ea typeface="Calibri"/>
                <a:cs typeface="Calibri"/>
              </a:rPr>
              <a:t>Page Chunking</a:t>
            </a:r>
          </a:p>
          <a:p>
            <a:pPr marL="342900" indent="-342900">
              <a:buFont typeface="Arial" panose="020B0604020202020204" pitchFamily="34" charset="0"/>
              <a:buChar char="•"/>
            </a:pPr>
            <a:endParaRPr lang="en-US" sz="2400" dirty="0">
              <a:ea typeface="Calibri"/>
              <a:cs typeface="Calibri"/>
            </a:endParaRPr>
          </a:p>
          <a:p>
            <a:endParaRPr lang="en-US" sz="2400" dirty="0">
              <a:ea typeface="Calibri"/>
              <a:cs typeface="Calibri"/>
            </a:endParaRPr>
          </a:p>
        </p:txBody>
      </p:sp>
    </p:spTree>
    <p:extLst>
      <p:ext uri="{BB962C8B-B14F-4D97-AF65-F5344CB8AC3E}">
        <p14:creationId xmlns:p14="http://schemas.microsoft.com/office/powerpoint/2010/main" val="17229753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9A00AC01-0D1B-4670-B29D-784BF9417E63}"/>
            </a:ext>
          </a:extLst>
        </p:cNvPr>
        <p:cNvGrpSpPr/>
        <p:nvPr/>
      </p:nvGrpSpPr>
      <p:grpSpPr>
        <a:xfrm>
          <a:off x="0" y="0"/>
          <a:ext cx="0" cy="0"/>
          <a:chOff x="0" y="0"/>
          <a:chExt cx="0" cy="0"/>
        </a:xfrm>
      </p:grpSpPr>
      <p:sp>
        <p:nvSpPr>
          <p:cNvPr id="6" name="Rectangle 5">
            <a:extLst>
              <a:ext uri="{FF2B5EF4-FFF2-40B4-BE49-F238E27FC236}">
                <a16:creationId xmlns="" xmlns:a16="http://schemas.microsoft.com/office/drawing/2014/main" id="{F42AC56F-B988-068F-5073-41D324EA661F}"/>
              </a:ext>
            </a:extLst>
          </p:cNvPr>
          <p:cNvSpPr/>
          <p:nvPr/>
        </p:nvSpPr>
        <p:spPr>
          <a:xfrm>
            <a:off x="0" y="1"/>
            <a:ext cx="1126638" cy="6858000"/>
          </a:xfrm>
          <a:prstGeom prst="rect">
            <a:avLst/>
          </a:prstGeom>
          <a:solidFill>
            <a:srgbClr val="D7C05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 xmlns:a16="http://schemas.microsoft.com/office/drawing/2014/main" id="{1C7ED88D-99A7-E7D0-D563-319B47D0A7A8}"/>
              </a:ext>
            </a:extLst>
          </p:cNvPr>
          <p:cNvSpPr/>
          <p:nvPr/>
        </p:nvSpPr>
        <p:spPr>
          <a:xfrm>
            <a:off x="565288" y="0"/>
            <a:ext cx="549447" cy="685800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 xmlns:a16="http://schemas.microsoft.com/office/drawing/2014/main" id="{86D9703F-8E7B-39E7-D187-C45F9BE29396}"/>
              </a:ext>
            </a:extLst>
          </p:cNvPr>
          <p:cNvSpPr txBox="1"/>
          <p:nvPr/>
        </p:nvSpPr>
        <p:spPr>
          <a:xfrm>
            <a:off x="601006" y="42718"/>
            <a:ext cx="442291" cy="707886"/>
          </a:xfrm>
          <a:prstGeom prst="rect">
            <a:avLst/>
          </a:prstGeom>
          <a:noFill/>
        </p:spPr>
        <p:txBody>
          <a:bodyPr wrap="square" rtlCol="0">
            <a:spAutoFit/>
          </a:bodyPr>
          <a:lstStyle/>
          <a:p>
            <a:r>
              <a:rPr lang="el-GR" sz="4000">
                <a:solidFill>
                  <a:srgbClr val="D7C055"/>
                </a:solidFill>
              </a:rPr>
              <a:t>π</a:t>
            </a:r>
            <a:endParaRPr lang="en-US" sz="4000">
              <a:solidFill>
                <a:srgbClr val="D7C055"/>
              </a:solidFill>
            </a:endParaRPr>
          </a:p>
        </p:txBody>
      </p:sp>
      <p:pic>
        <p:nvPicPr>
          <p:cNvPr id="10" name="Picture 9" descr="A logo with lines in a black background&#10;&#10;Description automatically generated">
            <a:extLst>
              <a:ext uri="{FF2B5EF4-FFF2-40B4-BE49-F238E27FC236}">
                <a16:creationId xmlns="" xmlns:a16="http://schemas.microsoft.com/office/drawing/2014/main" id="{3D524DBF-F0C3-D6F7-607C-D2D2CA1ED00A}"/>
              </a:ext>
            </a:extLst>
          </p:cNvPr>
          <p:cNvPicPr>
            <a:picLocks noChangeAspect="1"/>
          </p:cNvPicPr>
          <p:nvPr/>
        </p:nvPicPr>
        <p:blipFill>
          <a:blip r:embed="rId3"/>
          <a:stretch>
            <a:fillRect/>
          </a:stretch>
        </p:blipFill>
        <p:spPr>
          <a:xfrm>
            <a:off x="11202642" y="-205416"/>
            <a:ext cx="1217233" cy="1205327"/>
          </a:xfrm>
          <a:prstGeom prst="rect">
            <a:avLst/>
          </a:prstGeom>
        </p:spPr>
      </p:pic>
      <p:sp>
        <p:nvSpPr>
          <p:cNvPr id="2" name="Google Shape;149;p2">
            <a:extLst>
              <a:ext uri="{FF2B5EF4-FFF2-40B4-BE49-F238E27FC236}">
                <a16:creationId xmlns="" xmlns:a16="http://schemas.microsoft.com/office/drawing/2014/main" id="{038532CF-66C3-65D3-7D34-1709FB126FDA}"/>
              </a:ext>
            </a:extLst>
          </p:cNvPr>
          <p:cNvSpPr txBox="1">
            <a:spLocks noGrp="1"/>
          </p:cNvSpPr>
          <p:nvPr/>
        </p:nvSpPr>
        <p:spPr>
          <a:xfrm>
            <a:off x="1593436" y="177800"/>
            <a:ext cx="9782801" cy="822111"/>
          </a:xfrm>
          <a:prstGeom prst="rect">
            <a:avLst/>
          </a:prstGeom>
          <a:noFill/>
          <a:ln>
            <a:noFill/>
          </a:ln>
        </p:spPr>
        <p:txBody>
          <a:bodyPr spcFirstLastPara="1" wrap="square" lIns="91425" tIns="45700" rIns="91425" bIns="45700" anchor="b"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rgbClr val="343F49"/>
              </a:buClr>
              <a:buSzPts val="1800"/>
              <a:buFont typeface="Arial"/>
              <a:buNone/>
              <a:defRPr sz="3600" b="0" i="0" u="none" strike="noStrike" cap="none">
                <a:solidFill>
                  <a:srgbClr val="343F49"/>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0" lvl="0" indent="0" algn="l" rtl="0">
              <a:lnSpc>
                <a:spcPct val="90000"/>
              </a:lnSpc>
              <a:spcBef>
                <a:spcPts val="0"/>
              </a:spcBef>
              <a:spcAft>
                <a:spcPts val="0"/>
              </a:spcAft>
              <a:buClr>
                <a:srgbClr val="343F49"/>
              </a:buClr>
              <a:buSzPts val="3600"/>
              <a:buFont typeface="Arial"/>
              <a:buNone/>
            </a:pPr>
            <a:r>
              <a:rPr lang="en-US" sz="4000" b="1" dirty="0">
                <a:solidFill>
                  <a:schemeClr val="tx1"/>
                </a:solidFill>
                <a:latin typeface="Bahnschrift" pitchFamily="34" charset="0"/>
              </a:rPr>
              <a:t>Fixed-Length Chunking</a:t>
            </a:r>
          </a:p>
        </p:txBody>
      </p:sp>
      <p:sp>
        <p:nvSpPr>
          <p:cNvPr id="4" name="Footer Placeholder 3">
            <a:extLst>
              <a:ext uri="{FF2B5EF4-FFF2-40B4-BE49-F238E27FC236}">
                <a16:creationId xmlns="" xmlns:a16="http://schemas.microsoft.com/office/drawing/2014/main" id="{CF61D508-5ADB-85A0-C55A-A34AD3B36759}"/>
              </a:ext>
            </a:extLst>
          </p:cNvPr>
          <p:cNvSpPr>
            <a:spLocks noGrp="1"/>
          </p:cNvSpPr>
          <p:nvPr>
            <p:ph type="ftr" sz="quarter" idx="11"/>
          </p:nvPr>
        </p:nvSpPr>
        <p:spPr/>
        <p:txBody>
          <a:bodyPr/>
          <a:lstStyle/>
          <a:p>
            <a:r>
              <a:rPr lang="en-US"/>
              <a:t>Navigating the Future of Learning </a:t>
            </a:r>
          </a:p>
        </p:txBody>
      </p:sp>
      <p:pic>
        <p:nvPicPr>
          <p:cNvPr id="11" name="Picture 10">
            <a:extLst>
              <a:ext uri="{FF2B5EF4-FFF2-40B4-BE49-F238E27FC236}">
                <a16:creationId xmlns="" xmlns:a16="http://schemas.microsoft.com/office/drawing/2014/main" id="{FA644B0F-9374-5EED-1FD8-9FA1CB2A7F9E}"/>
              </a:ext>
            </a:extLst>
          </p:cNvPr>
          <p:cNvPicPr>
            <a:picLocks noChangeAspect="1"/>
          </p:cNvPicPr>
          <p:nvPr/>
        </p:nvPicPr>
        <p:blipFill>
          <a:blip r:embed="rId4"/>
          <a:stretch>
            <a:fillRect/>
          </a:stretch>
        </p:blipFill>
        <p:spPr>
          <a:xfrm>
            <a:off x="6372014" y="1648876"/>
            <a:ext cx="4673840" cy="1949550"/>
          </a:xfrm>
          <a:prstGeom prst="rect">
            <a:avLst/>
          </a:prstGeom>
        </p:spPr>
      </p:pic>
      <p:pic>
        <p:nvPicPr>
          <p:cNvPr id="14" name="Picture 13">
            <a:extLst>
              <a:ext uri="{FF2B5EF4-FFF2-40B4-BE49-F238E27FC236}">
                <a16:creationId xmlns="" xmlns:a16="http://schemas.microsoft.com/office/drawing/2014/main" id="{B516538C-A1C9-20C7-4D50-3CC190033838}"/>
              </a:ext>
            </a:extLst>
          </p:cNvPr>
          <p:cNvPicPr>
            <a:picLocks noChangeAspect="1"/>
          </p:cNvPicPr>
          <p:nvPr/>
        </p:nvPicPr>
        <p:blipFill>
          <a:blip r:embed="rId5"/>
          <a:stretch>
            <a:fillRect/>
          </a:stretch>
        </p:blipFill>
        <p:spPr>
          <a:xfrm>
            <a:off x="6372014" y="4043890"/>
            <a:ext cx="4438878" cy="1866996"/>
          </a:xfrm>
          <a:prstGeom prst="rect">
            <a:avLst/>
          </a:prstGeom>
        </p:spPr>
      </p:pic>
      <p:pic>
        <p:nvPicPr>
          <p:cNvPr id="9" name="Picture 8">
            <a:extLst>
              <a:ext uri="{FF2B5EF4-FFF2-40B4-BE49-F238E27FC236}">
                <a16:creationId xmlns="" xmlns:a16="http://schemas.microsoft.com/office/drawing/2014/main" id="{F1AF49C1-F6A9-681A-3C49-198940ACDA13}"/>
              </a:ext>
            </a:extLst>
          </p:cNvPr>
          <p:cNvPicPr>
            <a:picLocks noChangeAspect="1"/>
          </p:cNvPicPr>
          <p:nvPr/>
        </p:nvPicPr>
        <p:blipFill>
          <a:blip r:embed="rId6"/>
          <a:stretch>
            <a:fillRect/>
          </a:stretch>
        </p:blipFill>
        <p:spPr>
          <a:xfrm>
            <a:off x="1680023" y="1417637"/>
            <a:ext cx="4349974" cy="4730993"/>
          </a:xfrm>
          <a:prstGeom prst="rect">
            <a:avLst/>
          </a:prstGeom>
        </p:spPr>
      </p:pic>
    </p:spTree>
    <p:extLst>
      <p:ext uri="{BB962C8B-B14F-4D97-AF65-F5344CB8AC3E}">
        <p14:creationId xmlns:p14="http://schemas.microsoft.com/office/powerpoint/2010/main" val="178500025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9A00AC01-0D1B-4670-B29D-784BF9417E63}"/>
            </a:ext>
          </a:extLst>
        </p:cNvPr>
        <p:cNvGrpSpPr/>
        <p:nvPr/>
      </p:nvGrpSpPr>
      <p:grpSpPr>
        <a:xfrm>
          <a:off x="0" y="0"/>
          <a:ext cx="0" cy="0"/>
          <a:chOff x="0" y="0"/>
          <a:chExt cx="0" cy="0"/>
        </a:xfrm>
      </p:grpSpPr>
      <p:sp>
        <p:nvSpPr>
          <p:cNvPr id="6" name="Rectangle 5">
            <a:extLst>
              <a:ext uri="{FF2B5EF4-FFF2-40B4-BE49-F238E27FC236}">
                <a16:creationId xmlns="" xmlns:a16="http://schemas.microsoft.com/office/drawing/2014/main" id="{F42AC56F-B988-068F-5073-41D324EA661F}"/>
              </a:ext>
            </a:extLst>
          </p:cNvPr>
          <p:cNvSpPr/>
          <p:nvPr/>
        </p:nvSpPr>
        <p:spPr>
          <a:xfrm>
            <a:off x="0" y="0"/>
            <a:ext cx="1126638" cy="6858000"/>
          </a:xfrm>
          <a:prstGeom prst="rect">
            <a:avLst/>
          </a:prstGeom>
          <a:solidFill>
            <a:srgbClr val="D7C05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 xmlns:a16="http://schemas.microsoft.com/office/drawing/2014/main" id="{1C7ED88D-99A7-E7D0-D563-319B47D0A7A8}"/>
              </a:ext>
            </a:extLst>
          </p:cNvPr>
          <p:cNvSpPr/>
          <p:nvPr/>
        </p:nvSpPr>
        <p:spPr>
          <a:xfrm>
            <a:off x="565288" y="-1"/>
            <a:ext cx="549447" cy="685800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 xmlns:a16="http://schemas.microsoft.com/office/drawing/2014/main" id="{86D9703F-8E7B-39E7-D187-C45F9BE29396}"/>
              </a:ext>
            </a:extLst>
          </p:cNvPr>
          <p:cNvSpPr txBox="1"/>
          <p:nvPr/>
        </p:nvSpPr>
        <p:spPr>
          <a:xfrm>
            <a:off x="601006" y="42717"/>
            <a:ext cx="442291" cy="707886"/>
          </a:xfrm>
          <a:prstGeom prst="rect">
            <a:avLst/>
          </a:prstGeom>
          <a:noFill/>
        </p:spPr>
        <p:txBody>
          <a:bodyPr wrap="square" rtlCol="0">
            <a:spAutoFit/>
          </a:bodyPr>
          <a:lstStyle/>
          <a:p>
            <a:r>
              <a:rPr lang="el-GR" sz="4000">
                <a:solidFill>
                  <a:srgbClr val="D7C055"/>
                </a:solidFill>
              </a:rPr>
              <a:t>π</a:t>
            </a:r>
            <a:endParaRPr lang="en-US" sz="4000">
              <a:solidFill>
                <a:srgbClr val="D7C055"/>
              </a:solidFill>
            </a:endParaRPr>
          </a:p>
        </p:txBody>
      </p:sp>
      <p:pic>
        <p:nvPicPr>
          <p:cNvPr id="10" name="Picture 9" descr="A logo with lines in a black background&#10;&#10;Description automatically generated">
            <a:extLst>
              <a:ext uri="{FF2B5EF4-FFF2-40B4-BE49-F238E27FC236}">
                <a16:creationId xmlns="" xmlns:a16="http://schemas.microsoft.com/office/drawing/2014/main" id="{3D524DBF-F0C3-D6F7-607C-D2D2CA1ED00A}"/>
              </a:ext>
            </a:extLst>
          </p:cNvPr>
          <p:cNvPicPr>
            <a:picLocks noChangeAspect="1"/>
          </p:cNvPicPr>
          <p:nvPr/>
        </p:nvPicPr>
        <p:blipFill>
          <a:blip r:embed="rId3"/>
          <a:stretch>
            <a:fillRect/>
          </a:stretch>
        </p:blipFill>
        <p:spPr>
          <a:xfrm>
            <a:off x="11202642" y="-205417"/>
            <a:ext cx="1217233" cy="1205327"/>
          </a:xfrm>
          <a:prstGeom prst="rect">
            <a:avLst/>
          </a:prstGeom>
        </p:spPr>
      </p:pic>
      <p:sp>
        <p:nvSpPr>
          <p:cNvPr id="2" name="Google Shape;149;p2">
            <a:extLst>
              <a:ext uri="{FF2B5EF4-FFF2-40B4-BE49-F238E27FC236}">
                <a16:creationId xmlns="" xmlns:a16="http://schemas.microsoft.com/office/drawing/2014/main" id="{038532CF-66C3-65D3-7D34-1709FB126FDA}"/>
              </a:ext>
            </a:extLst>
          </p:cNvPr>
          <p:cNvSpPr txBox="1">
            <a:spLocks noGrp="1"/>
          </p:cNvSpPr>
          <p:nvPr/>
        </p:nvSpPr>
        <p:spPr>
          <a:xfrm>
            <a:off x="1593436" y="136527"/>
            <a:ext cx="9782801" cy="863384"/>
          </a:xfrm>
          <a:prstGeom prst="rect">
            <a:avLst/>
          </a:prstGeom>
          <a:noFill/>
          <a:ln>
            <a:noFill/>
          </a:ln>
        </p:spPr>
        <p:txBody>
          <a:bodyPr spcFirstLastPara="1" wrap="square" lIns="91425" tIns="45700" rIns="91425" bIns="45700" anchor="b"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rgbClr val="343F49"/>
              </a:buClr>
              <a:buSzPts val="1800"/>
              <a:buFont typeface="Arial"/>
              <a:buNone/>
              <a:defRPr sz="3600" b="0" i="0" u="none" strike="noStrike" cap="none">
                <a:solidFill>
                  <a:srgbClr val="343F49"/>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0" lvl="0" indent="0" algn="l" rtl="0">
              <a:lnSpc>
                <a:spcPct val="90000"/>
              </a:lnSpc>
              <a:spcBef>
                <a:spcPts val="0"/>
              </a:spcBef>
              <a:spcAft>
                <a:spcPts val="0"/>
              </a:spcAft>
              <a:buClr>
                <a:srgbClr val="343F49"/>
              </a:buClr>
              <a:buSzPts val="3600"/>
              <a:buFont typeface="Arial"/>
              <a:buNone/>
            </a:pPr>
            <a:r>
              <a:rPr lang="en-US" sz="4000" b="1" dirty="0">
                <a:solidFill>
                  <a:schemeClr val="tx1"/>
                </a:solidFill>
                <a:latin typeface="Bahnschrift" pitchFamily="34" charset="0"/>
              </a:rPr>
              <a:t>Fixed-Length Chunking</a:t>
            </a:r>
          </a:p>
        </p:txBody>
      </p:sp>
      <p:sp>
        <p:nvSpPr>
          <p:cNvPr id="4" name="Footer Placeholder 3">
            <a:extLst>
              <a:ext uri="{FF2B5EF4-FFF2-40B4-BE49-F238E27FC236}">
                <a16:creationId xmlns="" xmlns:a16="http://schemas.microsoft.com/office/drawing/2014/main" id="{CF61D508-5ADB-85A0-C55A-A34AD3B36759}"/>
              </a:ext>
            </a:extLst>
          </p:cNvPr>
          <p:cNvSpPr>
            <a:spLocks noGrp="1"/>
          </p:cNvSpPr>
          <p:nvPr>
            <p:ph type="ftr" sz="quarter" idx="11"/>
          </p:nvPr>
        </p:nvSpPr>
        <p:spPr>
          <a:xfrm>
            <a:off x="4038600" y="6356349"/>
            <a:ext cx="4114800" cy="365125"/>
          </a:xfrm>
        </p:spPr>
        <p:txBody>
          <a:bodyPr/>
          <a:lstStyle/>
          <a:p>
            <a:r>
              <a:rPr lang="en-US"/>
              <a:t>Navigating the Future of Learning </a:t>
            </a:r>
          </a:p>
        </p:txBody>
      </p:sp>
      <p:sp>
        <p:nvSpPr>
          <p:cNvPr id="14" name="TextBox 13">
            <a:extLst>
              <a:ext uri="{FF2B5EF4-FFF2-40B4-BE49-F238E27FC236}">
                <a16:creationId xmlns="" xmlns:a16="http://schemas.microsoft.com/office/drawing/2014/main" id="{7A169175-DD68-9EE0-269F-135A4AFE4D32}"/>
              </a:ext>
            </a:extLst>
          </p:cNvPr>
          <p:cNvSpPr txBox="1"/>
          <p:nvPr/>
        </p:nvSpPr>
        <p:spPr>
          <a:xfrm>
            <a:off x="2440180" y="1907949"/>
            <a:ext cx="8089311" cy="415498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Description: </a:t>
            </a:r>
            <a:r>
              <a:rPr lang="en-US" sz="2400" dirty="0"/>
              <a:t>Splits text into chunks of a predetermined number of words, characters, or bytes.</a:t>
            </a:r>
            <a:endParaRPr lang="en-US" sz="2400" b="1" dirty="0"/>
          </a:p>
          <a:p>
            <a:endParaRPr lang="en-US" sz="2400" b="1" dirty="0"/>
          </a:p>
          <a:p>
            <a:r>
              <a:rPr lang="en-US" sz="2400" b="1" dirty="0"/>
              <a:t>Example Use Case: </a:t>
            </a:r>
            <a:r>
              <a:rPr lang="en-US" sz="2400" dirty="0"/>
              <a:t>Analyzing social media posts for sentiment analysis.</a:t>
            </a:r>
            <a:endParaRPr lang="en-US" sz="2400" b="1" dirty="0"/>
          </a:p>
          <a:p>
            <a:endParaRPr lang="en-US" sz="2400" b="1" dirty="0"/>
          </a:p>
          <a:p>
            <a:r>
              <a:rPr lang="en-US" sz="2400" b="1" dirty="0"/>
              <a:t>Advantages: </a:t>
            </a:r>
            <a:r>
              <a:rPr lang="en-US" sz="2400" dirty="0"/>
              <a:t>Simplicity and uniformity in chunk size.</a:t>
            </a:r>
            <a:endParaRPr lang="en-US" sz="2400" b="1" dirty="0"/>
          </a:p>
          <a:p>
            <a:endParaRPr lang="en-US" sz="2400" b="1" dirty="0"/>
          </a:p>
          <a:p>
            <a:r>
              <a:rPr lang="en-US" sz="2400" b="1" dirty="0"/>
              <a:t>Disadvantages: </a:t>
            </a:r>
            <a:r>
              <a:rPr lang="en-US" sz="2400" dirty="0"/>
              <a:t>Potential context loss, as chunks may end mid-sentence or mid-thought.</a:t>
            </a:r>
          </a:p>
          <a:p>
            <a:endParaRPr lang="en-US" sz="2400" dirty="0"/>
          </a:p>
        </p:txBody>
      </p:sp>
    </p:spTree>
    <p:extLst>
      <p:ext uri="{BB962C8B-B14F-4D97-AF65-F5344CB8AC3E}">
        <p14:creationId xmlns:p14="http://schemas.microsoft.com/office/powerpoint/2010/main" val="4699368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9A00AC01-0D1B-4670-B29D-784BF9417E63}"/>
            </a:ext>
          </a:extLst>
        </p:cNvPr>
        <p:cNvGrpSpPr/>
        <p:nvPr/>
      </p:nvGrpSpPr>
      <p:grpSpPr>
        <a:xfrm>
          <a:off x="0" y="0"/>
          <a:ext cx="0" cy="0"/>
          <a:chOff x="0" y="0"/>
          <a:chExt cx="0" cy="0"/>
        </a:xfrm>
      </p:grpSpPr>
      <p:sp>
        <p:nvSpPr>
          <p:cNvPr id="6" name="Rectangle 5">
            <a:extLst>
              <a:ext uri="{FF2B5EF4-FFF2-40B4-BE49-F238E27FC236}">
                <a16:creationId xmlns="" xmlns:a16="http://schemas.microsoft.com/office/drawing/2014/main" id="{F42AC56F-B988-068F-5073-41D324EA661F}"/>
              </a:ext>
            </a:extLst>
          </p:cNvPr>
          <p:cNvSpPr/>
          <p:nvPr/>
        </p:nvSpPr>
        <p:spPr>
          <a:xfrm>
            <a:off x="0" y="1"/>
            <a:ext cx="1126638" cy="6858000"/>
          </a:xfrm>
          <a:prstGeom prst="rect">
            <a:avLst/>
          </a:prstGeom>
          <a:solidFill>
            <a:srgbClr val="D7C05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 xmlns:a16="http://schemas.microsoft.com/office/drawing/2014/main" id="{1C7ED88D-99A7-E7D0-D563-319B47D0A7A8}"/>
              </a:ext>
            </a:extLst>
          </p:cNvPr>
          <p:cNvSpPr/>
          <p:nvPr/>
        </p:nvSpPr>
        <p:spPr>
          <a:xfrm>
            <a:off x="565288" y="0"/>
            <a:ext cx="549447" cy="685800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 xmlns:a16="http://schemas.microsoft.com/office/drawing/2014/main" id="{86D9703F-8E7B-39E7-D187-C45F9BE29396}"/>
              </a:ext>
            </a:extLst>
          </p:cNvPr>
          <p:cNvSpPr txBox="1"/>
          <p:nvPr/>
        </p:nvSpPr>
        <p:spPr>
          <a:xfrm>
            <a:off x="601006" y="42718"/>
            <a:ext cx="442291" cy="707886"/>
          </a:xfrm>
          <a:prstGeom prst="rect">
            <a:avLst/>
          </a:prstGeom>
          <a:noFill/>
        </p:spPr>
        <p:txBody>
          <a:bodyPr wrap="square" rtlCol="0">
            <a:spAutoFit/>
          </a:bodyPr>
          <a:lstStyle/>
          <a:p>
            <a:r>
              <a:rPr lang="el-GR" sz="4000">
                <a:solidFill>
                  <a:srgbClr val="D7C055"/>
                </a:solidFill>
              </a:rPr>
              <a:t>π</a:t>
            </a:r>
            <a:endParaRPr lang="en-US" sz="4000">
              <a:solidFill>
                <a:srgbClr val="D7C055"/>
              </a:solidFill>
            </a:endParaRPr>
          </a:p>
        </p:txBody>
      </p:sp>
      <p:pic>
        <p:nvPicPr>
          <p:cNvPr id="10" name="Picture 9" descr="A logo with lines in a black background&#10;&#10;Description automatically generated">
            <a:extLst>
              <a:ext uri="{FF2B5EF4-FFF2-40B4-BE49-F238E27FC236}">
                <a16:creationId xmlns="" xmlns:a16="http://schemas.microsoft.com/office/drawing/2014/main" id="{3D524DBF-F0C3-D6F7-607C-D2D2CA1ED00A}"/>
              </a:ext>
            </a:extLst>
          </p:cNvPr>
          <p:cNvPicPr>
            <a:picLocks noChangeAspect="1"/>
          </p:cNvPicPr>
          <p:nvPr/>
        </p:nvPicPr>
        <p:blipFill>
          <a:blip r:embed="rId3"/>
          <a:stretch>
            <a:fillRect/>
          </a:stretch>
        </p:blipFill>
        <p:spPr>
          <a:xfrm>
            <a:off x="11202642" y="-205416"/>
            <a:ext cx="1217233" cy="1205327"/>
          </a:xfrm>
          <a:prstGeom prst="rect">
            <a:avLst/>
          </a:prstGeom>
        </p:spPr>
      </p:pic>
      <p:sp>
        <p:nvSpPr>
          <p:cNvPr id="2" name="Google Shape;149;p2">
            <a:extLst>
              <a:ext uri="{FF2B5EF4-FFF2-40B4-BE49-F238E27FC236}">
                <a16:creationId xmlns="" xmlns:a16="http://schemas.microsoft.com/office/drawing/2014/main" id="{038532CF-66C3-65D3-7D34-1709FB126FDA}"/>
              </a:ext>
            </a:extLst>
          </p:cNvPr>
          <p:cNvSpPr txBox="1">
            <a:spLocks noGrp="1"/>
          </p:cNvSpPr>
          <p:nvPr/>
        </p:nvSpPr>
        <p:spPr>
          <a:xfrm>
            <a:off x="1593436" y="396661"/>
            <a:ext cx="9782801" cy="603250"/>
          </a:xfrm>
          <a:prstGeom prst="rect">
            <a:avLst/>
          </a:prstGeom>
          <a:noFill/>
          <a:ln>
            <a:noFill/>
          </a:ln>
        </p:spPr>
        <p:txBody>
          <a:bodyPr spcFirstLastPara="1" wrap="square" lIns="91425" tIns="45700" rIns="91425" bIns="45700" anchor="b" anchorCtr="0">
            <a:normAutofit lnSpcReduction="10000"/>
          </a:bodyPr>
          <a:lstStyle>
            <a:defPPr marR="0" lvl="0" algn="l" rtl="0">
              <a:lnSpc>
                <a:spcPct val="100000"/>
              </a:lnSpc>
              <a:spcBef>
                <a:spcPts val="0"/>
              </a:spcBef>
              <a:spcAft>
                <a:spcPts val="0"/>
              </a:spcAft>
            </a:defPPr>
            <a:lvl1pPr marR="0" lvl="0" algn="l" rtl="0">
              <a:lnSpc>
                <a:spcPct val="90000"/>
              </a:lnSpc>
              <a:spcBef>
                <a:spcPts val="0"/>
              </a:spcBef>
              <a:spcAft>
                <a:spcPts val="0"/>
              </a:spcAft>
              <a:buClr>
                <a:srgbClr val="343F49"/>
              </a:buClr>
              <a:buSzPts val="1800"/>
              <a:buFont typeface="Arial"/>
              <a:buNone/>
              <a:defRPr sz="3600" b="0" i="0" u="none" strike="noStrike" cap="none">
                <a:solidFill>
                  <a:srgbClr val="343F49"/>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buSzPts val="3600"/>
            </a:pPr>
            <a:r>
              <a:rPr lang="en-US" sz="4000" b="1" dirty="0">
                <a:solidFill>
                  <a:schemeClr val="tx1"/>
                </a:solidFill>
                <a:latin typeface="Bahnschrift" pitchFamily="34" charset="0"/>
              </a:rPr>
              <a:t>Example: Sentence Chunking:</a:t>
            </a:r>
          </a:p>
        </p:txBody>
      </p:sp>
      <p:sp>
        <p:nvSpPr>
          <p:cNvPr id="4" name="Footer Placeholder 3">
            <a:extLst>
              <a:ext uri="{FF2B5EF4-FFF2-40B4-BE49-F238E27FC236}">
                <a16:creationId xmlns="" xmlns:a16="http://schemas.microsoft.com/office/drawing/2014/main" id="{CF61D508-5ADB-85A0-C55A-A34AD3B36759}"/>
              </a:ext>
            </a:extLst>
          </p:cNvPr>
          <p:cNvSpPr>
            <a:spLocks noGrp="1"/>
          </p:cNvSpPr>
          <p:nvPr>
            <p:ph type="ftr" sz="quarter" idx="11"/>
          </p:nvPr>
        </p:nvSpPr>
        <p:spPr/>
        <p:txBody>
          <a:bodyPr/>
          <a:lstStyle/>
          <a:p>
            <a:r>
              <a:rPr lang="en-US"/>
              <a:t>Navigating the Future of Learning </a:t>
            </a:r>
          </a:p>
        </p:txBody>
      </p:sp>
      <p:pic>
        <p:nvPicPr>
          <p:cNvPr id="9" name="Picture 8">
            <a:extLst>
              <a:ext uri="{FF2B5EF4-FFF2-40B4-BE49-F238E27FC236}">
                <a16:creationId xmlns="" xmlns:a16="http://schemas.microsoft.com/office/drawing/2014/main" id="{F9944E2A-884B-2393-42EA-167BE4E502F2}"/>
              </a:ext>
            </a:extLst>
          </p:cNvPr>
          <p:cNvPicPr>
            <a:picLocks noChangeAspect="1"/>
          </p:cNvPicPr>
          <p:nvPr/>
        </p:nvPicPr>
        <p:blipFill>
          <a:blip r:embed="rId4"/>
          <a:stretch>
            <a:fillRect/>
          </a:stretch>
        </p:blipFill>
        <p:spPr>
          <a:xfrm>
            <a:off x="6096000" y="1800852"/>
            <a:ext cx="5844526" cy="1058443"/>
          </a:xfrm>
          <a:prstGeom prst="rect">
            <a:avLst/>
          </a:prstGeom>
        </p:spPr>
      </p:pic>
      <p:pic>
        <p:nvPicPr>
          <p:cNvPr id="16" name="Picture 15">
            <a:extLst>
              <a:ext uri="{FF2B5EF4-FFF2-40B4-BE49-F238E27FC236}">
                <a16:creationId xmlns="" xmlns:a16="http://schemas.microsoft.com/office/drawing/2014/main" id="{5901AE1E-745C-C07D-6BB8-6AE37ABAACCC}"/>
              </a:ext>
            </a:extLst>
          </p:cNvPr>
          <p:cNvPicPr>
            <a:picLocks noChangeAspect="1"/>
          </p:cNvPicPr>
          <p:nvPr/>
        </p:nvPicPr>
        <p:blipFill>
          <a:blip r:embed="rId5"/>
          <a:stretch>
            <a:fillRect/>
          </a:stretch>
        </p:blipFill>
        <p:spPr>
          <a:xfrm>
            <a:off x="6096000" y="3602141"/>
            <a:ext cx="6062590" cy="569704"/>
          </a:xfrm>
          <a:prstGeom prst="rect">
            <a:avLst/>
          </a:prstGeom>
        </p:spPr>
      </p:pic>
      <p:pic>
        <p:nvPicPr>
          <p:cNvPr id="18" name="Picture 17">
            <a:extLst>
              <a:ext uri="{FF2B5EF4-FFF2-40B4-BE49-F238E27FC236}">
                <a16:creationId xmlns="" xmlns:a16="http://schemas.microsoft.com/office/drawing/2014/main" id="{F877E33A-A74B-594B-A0DB-F0A60660DB64}"/>
              </a:ext>
            </a:extLst>
          </p:cNvPr>
          <p:cNvPicPr>
            <a:picLocks noChangeAspect="1"/>
          </p:cNvPicPr>
          <p:nvPr/>
        </p:nvPicPr>
        <p:blipFill>
          <a:blip r:embed="rId6"/>
          <a:stretch>
            <a:fillRect/>
          </a:stretch>
        </p:blipFill>
        <p:spPr>
          <a:xfrm>
            <a:off x="6096000" y="4872339"/>
            <a:ext cx="5844526" cy="693573"/>
          </a:xfrm>
          <a:prstGeom prst="rect">
            <a:avLst/>
          </a:prstGeom>
        </p:spPr>
      </p:pic>
      <p:pic>
        <p:nvPicPr>
          <p:cNvPr id="20" name="Picture 19">
            <a:extLst>
              <a:ext uri="{FF2B5EF4-FFF2-40B4-BE49-F238E27FC236}">
                <a16:creationId xmlns="" xmlns:a16="http://schemas.microsoft.com/office/drawing/2014/main" id="{AAC229EB-11D7-BFD1-EC15-AB4539F2DE54}"/>
              </a:ext>
            </a:extLst>
          </p:cNvPr>
          <p:cNvPicPr>
            <a:picLocks noChangeAspect="1"/>
          </p:cNvPicPr>
          <p:nvPr/>
        </p:nvPicPr>
        <p:blipFill>
          <a:blip r:embed="rId7"/>
          <a:stretch>
            <a:fillRect/>
          </a:stretch>
        </p:blipFill>
        <p:spPr>
          <a:xfrm>
            <a:off x="1593436" y="1625357"/>
            <a:ext cx="4349974" cy="4730993"/>
          </a:xfrm>
          <a:prstGeom prst="rect">
            <a:avLst/>
          </a:prstGeom>
        </p:spPr>
      </p:pic>
    </p:spTree>
    <p:extLst>
      <p:ext uri="{BB962C8B-B14F-4D97-AF65-F5344CB8AC3E}">
        <p14:creationId xmlns:p14="http://schemas.microsoft.com/office/powerpoint/2010/main" val="74983445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9A00AC01-0D1B-4670-B29D-784BF9417E63}"/>
            </a:ext>
          </a:extLst>
        </p:cNvPr>
        <p:cNvGrpSpPr/>
        <p:nvPr/>
      </p:nvGrpSpPr>
      <p:grpSpPr>
        <a:xfrm>
          <a:off x="0" y="0"/>
          <a:ext cx="0" cy="0"/>
          <a:chOff x="0" y="0"/>
          <a:chExt cx="0" cy="0"/>
        </a:xfrm>
      </p:grpSpPr>
      <p:sp>
        <p:nvSpPr>
          <p:cNvPr id="6" name="Rectangle 5">
            <a:extLst>
              <a:ext uri="{FF2B5EF4-FFF2-40B4-BE49-F238E27FC236}">
                <a16:creationId xmlns="" xmlns:a16="http://schemas.microsoft.com/office/drawing/2014/main" id="{F42AC56F-B988-068F-5073-41D324EA661F}"/>
              </a:ext>
            </a:extLst>
          </p:cNvPr>
          <p:cNvSpPr/>
          <p:nvPr/>
        </p:nvSpPr>
        <p:spPr>
          <a:xfrm>
            <a:off x="0" y="0"/>
            <a:ext cx="1126638" cy="6858000"/>
          </a:xfrm>
          <a:prstGeom prst="rect">
            <a:avLst/>
          </a:prstGeom>
          <a:solidFill>
            <a:srgbClr val="D7C05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 xmlns:a16="http://schemas.microsoft.com/office/drawing/2014/main" id="{1C7ED88D-99A7-E7D0-D563-319B47D0A7A8}"/>
              </a:ext>
            </a:extLst>
          </p:cNvPr>
          <p:cNvSpPr/>
          <p:nvPr/>
        </p:nvSpPr>
        <p:spPr>
          <a:xfrm>
            <a:off x="565288" y="-1"/>
            <a:ext cx="549447" cy="685800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 xmlns:a16="http://schemas.microsoft.com/office/drawing/2014/main" id="{86D9703F-8E7B-39E7-D187-C45F9BE29396}"/>
              </a:ext>
            </a:extLst>
          </p:cNvPr>
          <p:cNvSpPr txBox="1"/>
          <p:nvPr/>
        </p:nvSpPr>
        <p:spPr>
          <a:xfrm>
            <a:off x="601006" y="42717"/>
            <a:ext cx="442291" cy="707886"/>
          </a:xfrm>
          <a:prstGeom prst="rect">
            <a:avLst/>
          </a:prstGeom>
          <a:noFill/>
        </p:spPr>
        <p:txBody>
          <a:bodyPr wrap="square" rtlCol="0">
            <a:spAutoFit/>
          </a:bodyPr>
          <a:lstStyle/>
          <a:p>
            <a:r>
              <a:rPr lang="el-GR" sz="4000">
                <a:solidFill>
                  <a:srgbClr val="D7C055"/>
                </a:solidFill>
              </a:rPr>
              <a:t>π</a:t>
            </a:r>
            <a:endParaRPr lang="en-US" sz="4000">
              <a:solidFill>
                <a:srgbClr val="D7C055"/>
              </a:solidFill>
            </a:endParaRPr>
          </a:p>
        </p:txBody>
      </p:sp>
      <p:pic>
        <p:nvPicPr>
          <p:cNvPr id="10" name="Picture 9" descr="A logo with lines in a black background&#10;&#10;Description automatically generated">
            <a:extLst>
              <a:ext uri="{FF2B5EF4-FFF2-40B4-BE49-F238E27FC236}">
                <a16:creationId xmlns="" xmlns:a16="http://schemas.microsoft.com/office/drawing/2014/main" id="{3D524DBF-F0C3-D6F7-607C-D2D2CA1ED00A}"/>
              </a:ext>
            </a:extLst>
          </p:cNvPr>
          <p:cNvPicPr>
            <a:picLocks noChangeAspect="1"/>
          </p:cNvPicPr>
          <p:nvPr/>
        </p:nvPicPr>
        <p:blipFill>
          <a:blip r:embed="rId3"/>
          <a:stretch>
            <a:fillRect/>
          </a:stretch>
        </p:blipFill>
        <p:spPr>
          <a:xfrm>
            <a:off x="11202642" y="-205417"/>
            <a:ext cx="1217233" cy="1205327"/>
          </a:xfrm>
          <a:prstGeom prst="rect">
            <a:avLst/>
          </a:prstGeom>
        </p:spPr>
      </p:pic>
      <p:sp>
        <p:nvSpPr>
          <p:cNvPr id="2" name="Google Shape;149;p2">
            <a:extLst>
              <a:ext uri="{FF2B5EF4-FFF2-40B4-BE49-F238E27FC236}">
                <a16:creationId xmlns="" xmlns:a16="http://schemas.microsoft.com/office/drawing/2014/main" id="{038532CF-66C3-65D3-7D34-1709FB126FDA}"/>
              </a:ext>
            </a:extLst>
          </p:cNvPr>
          <p:cNvSpPr txBox="1">
            <a:spLocks noGrp="1"/>
          </p:cNvSpPr>
          <p:nvPr/>
        </p:nvSpPr>
        <p:spPr>
          <a:xfrm>
            <a:off x="1593436" y="136527"/>
            <a:ext cx="9782801" cy="863384"/>
          </a:xfrm>
          <a:prstGeom prst="rect">
            <a:avLst/>
          </a:prstGeom>
          <a:noFill/>
          <a:ln>
            <a:noFill/>
          </a:ln>
        </p:spPr>
        <p:txBody>
          <a:bodyPr spcFirstLastPara="1" wrap="square" lIns="91425" tIns="45700" rIns="91425" bIns="45700" anchor="b"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rgbClr val="343F49"/>
              </a:buClr>
              <a:buSzPts val="1800"/>
              <a:buFont typeface="Arial"/>
              <a:buNone/>
              <a:defRPr sz="3600" b="0" i="0" u="none" strike="noStrike" cap="none">
                <a:solidFill>
                  <a:srgbClr val="343F49"/>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lvl="0" indent="0">
              <a:buSzPts val="3600"/>
            </a:pPr>
            <a:r>
              <a:rPr lang="en-US" sz="4000" b="1" dirty="0">
                <a:solidFill>
                  <a:schemeClr val="tx1"/>
                </a:solidFill>
                <a:latin typeface="Bahnschrift" pitchFamily="34" charset="0"/>
              </a:rPr>
              <a:t>Sentence or Paragraph Chunking</a:t>
            </a:r>
          </a:p>
        </p:txBody>
      </p:sp>
      <p:sp>
        <p:nvSpPr>
          <p:cNvPr id="4" name="Footer Placeholder 3">
            <a:extLst>
              <a:ext uri="{FF2B5EF4-FFF2-40B4-BE49-F238E27FC236}">
                <a16:creationId xmlns="" xmlns:a16="http://schemas.microsoft.com/office/drawing/2014/main" id="{CF61D508-5ADB-85A0-C55A-A34AD3B36759}"/>
              </a:ext>
            </a:extLst>
          </p:cNvPr>
          <p:cNvSpPr>
            <a:spLocks noGrp="1"/>
          </p:cNvSpPr>
          <p:nvPr>
            <p:ph type="ftr" sz="quarter" idx="11"/>
          </p:nvPr>
        </p:nvSpPr>
        <p:spPr>
          <a:xfrm>
            <a:off x="4038600" y="6356349"/>
            <a:ext cx="4114800" cy="365125"/>
          </a:xfrm>
        </p:spPr>
        <p:txBody>
          <a:bodyPr/>
          <a:lstStyle/>
          <a:p>
            <a:r>
              <a:rPr lang="en-US"/>
              <a:t>Navigating the Future of Learning </a:t>
            </a:r>
          </a:p>
        </p:txBody>
      </p:sp>
      <p:sp>
        <p:nvSpPr>
          <p:cNvPr id="14" name="TextBox 13">
            <a:extLst>
              <a:ext uri="{FF2B5EF4-FFF2-40B4-BE49-F238E27FC236}">
                <a16:creationId xmlns="" xmlns:a16="http://schemas.microsoft.com/office/drawing/2014/main" id="{7A169175-DD68-9EE0-269F-135A4AFE4D32}"/>
              </a:ext>
            </a:extLst>
          </p:cNvPr>
          <p:cNvSpPr txBox="1"/>
          <p:nvPr/>
        </p:nvSpPr>
        <p:spPr>
          <a:xfrm>
            <a:off x="2341806" y="1718306"/>
            <a:ext cx="8286060" cy="415498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Description: </a:t>
            </a:r>
            <a:r>
              <a:rPr lang="en-US" sz="2400" dirty="0"/>
              <a:t>Breaks text into chunks based on natural language structures like sentences or paragraphs.</a:t>
            </a:r>
          </a:p>
          <a:p>
            <a:endParaRPr lang="en-US" sz="2400" b="1" dirty="0"/>
          </a:p>
          <a:p>
            <a:r>
              <a:rPr lang="en-US" sz="2400" b="1" dirty="0"/>
              <a:t>Example Use Case:</a:t>
            </a:r>
            <a:r>
              <a:rPr lang="en-US" sz="2400" dirty="0"/>
              <a:t> Document summarization or content analysis tasks, such as processing news articles or academic papers.</a:t>
            </a:r>
          </a:p>
          <a:p>
            <a:endParaRPr lang="en-US" sz="2400" b="1" dirty="0"/>
          </a:p>
          <a:p>
            <a:r>
              <a:rPr lang="en-US" sz="2400" b="1" dirty="0"/>
              <a:t>Advantages:</a:t>
            </a:r>
            <a:r>
              <a:rPr lang="en-US" sz="2400" dirty="0"/>
              <a:t> Maintains linguistic integrity, keeping sentences and paragraphs intact.</a:t>
            </a:r>
          </a:p>
          <a:p>
            <a:endParaRPr lang="en-US" sz="2400" b="1" dirty="0"/>
          </a:p>
          <a:p>
            <a:r>
              <a:rPr lang="en-US" sz="2400" b="1" dirty="0"/>
              <a:t>Disadvantages: </a:t>
            </a:r>
            <a:r>
              <a:rPr lang="en-US" sz="2400" dirty="0"/>
              <a:t>variable chunk sizes which can be challenging to manage in some models.</a:t>
            </a:r>
            <a:endParaRPr lang="en-US" sz="2400" dirty="0">
              <a:ea typeface="Calibri"/>
              <a:cs typeface="Calibri"/>
            </a:endParaRPr>
          </a:p>
        </p:txBody>
      </p:sp>
    </p:spTree>
    <p:extLst>
      <p:ext uri="{BB962C8B-B14F-4D97-AF65-F5344CB8AC3E}">
        <p14:creationId xmlns:p14="http://schemas.microsoft.com/office/powerpoint/2010/main" val="15628217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9A00AC01-0D1B-4670-B29D-784BF9417E63}"/>
            </a:ext>
          </a:extLst>
        </p:cNvPr>
        <p:cNvGrpSpPr/>
        <p:nvPr/>
      </p:nvGrpSpPr>
      <p:grpSpPr>
        <a:xfrm>
          <a:off x="0" y="0"/>
          <a:ext cx="0" cy="0"/>
          <a:chOff x="0" y="0"/>
          <a:chExt cx="0" cy="0"/>
        </a:xfrm>
      </p:grpSpPr>
      <p:sp>
        <p:nvSpPr>
          <p:cNvPr id="6" name="Rectangle 5">
            <a:extLst>
              <a:ext uri="{FF2B5EF4-FFF2-40B4-BE49-F238E27FC236}">
                <a16:creationId xmlns="" xmlns:a16="http://schemas.microsoft.com/office/drawing/2014/main" id="{F42AC56F-B988-068F-5073-41D324EA661F}"/>
              </a:ext>
            </a:extLst>
          </p:cNvPr>
          <p:cNvSpPr/>
          <p:nvPr/>
        </p:nvSpPr>
        <p:spPr>
          <a:xfrm>
            <a:off x="0" y="1"/>
            <a:ext cx="1126638" cy="6858000"/>
          </a:xfrm>
          <a:prstGeom prst="rect">
            <a:avLst/>
          </a:prstGeom>
          <a:solidFill>
            <a:srgbClr val="D7C05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 xmlns:a16="http://schemas.microsoft.com/office/drawing/2014/main" id="{1C7ED88D-99A7-E7D0-D563-319B47D0A7A8}"/>
              </a:ext>
            </a:extLst>
          </p:cNvPr>
          <p:cNvSpPr/>
          <p:nvPr/>
        </p:nvSpPr>
        <p:spPr>
          <a:xfrm>
            <a:off x="565288" y="0"/>
            <a:ext cx="549447" cy="685800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 xmlns:a16="http://schemas.microsoft.com/office/drawing/2014/main" id="{86D9703F-8E7B-39E7-D187-C45F9BE29396}"/>
              </a:ext>
            </a:extLst>
          </p:cNvPr>
          <p:cNvSpPr txBox="1"/>
          <p:nvPr/>
        </p:nvSpPr>
        <p:spPr>
          <a:xfrm>
            <a:off x="601006" y="42718"/>
            <a:ext cx="442291" cy="707886"/>
          </a:xfrm>
          <a:prstGeom prst="rect">
            <a:avLst/>
          </a:prstGeom>
          <a:noFill/>
        </p:spPr>
        <p:txBody>
          <a:bodyPr wrap="square" rtlCol="0">
            <a:spAutoFit/>
          </a:bodyPr>
          <a:lstStyle/>
          <a:p>
            <a:r>
              <a:rPr lang="el-GR" sz="4000">
                <a:solidFill>
                  <a:srgbClr val="D7C055"/>
                </a:solidFill>
              </a:rPr>
              <a:t>π</a:t>
            </a:r>
            <a:endParaRPr lang="en-US" sz="4000">
              <a:solidFill>
                <a:srgbClr val="D7C055"/>
              </a:solidFill>
            </a:endParaRPr>
          </a:p>
        </p:txBody>
      </p:sp>
      <p:pic>
        <p:nvPicPr>
          <p:cNvPr id="10" name="Picture 9" descr="A logo with lines in a black background&#10;&#10;Description automatically generated">
            <a:extLst>
              <a:ext uri="{FF2B5EF4-FFF2-40B4-BE49-F238E27FC236}">
                <a16:creationId xmlns="" xmlns:a16="http://schemas.microsoft.com/office/drawing/2014/main" id="{3D524DBF-F0C3-D6F7-607C-D2D2CA1ED00A}"/>
              </a:ext>
            </a:extLst>
          </p:cNvPr>
          <p:cNvPicPr>
            <a:picLocks noChangeAspect="1"/>
          </p:cNvPicPr>
          <p:nvPr/>
        </p:nvPicPr>
        <p:blipFill>
          <a:blip r:embed="rId3"/>
          <a:stretch>
            <a:fillRect/>
          </a:stretch>
        </p:blipFill>
        <p:spPr>
          <a:xfrm>
            <a:off x="11202642" y="-205416"/>
            <a:ext cx="1217233" cy="1205327"/>
          </a:xfrm>
          <a:prstGeom prst="rect">
            <a:avLst/>
          </a:prstGeom>
        </p:spPr>
      </p:pic>
      <p:sp>
        <p:nvSpPr>
          <p:cNvPr id="2" name="Google Shape;149;p2">
            <a:extLst>
              <a:ext uri="{FF2B5EF4-FFF2-40B4-BE49-F238E27FC236}">
                <a16:creationId xmlns="" xmlns:a16="http://schemas.microsoft.com/office/drawing/2014/main" id="{038532CF-66C3-65D3-7D34-1709FB126FDA}"/>
              </a:ext>
            </a:extLst>
          </p:cNvPr>
          <p:cNvSpPr txBox="1">
            <a:spLocks noGrp="1"/>
          </p:cNvSpPr>
          <p:nvPr/>
        </p:nvSpPr>
        <p:spPr>
          <a:xfrm>
            <a:off x="1593436" y="177800"/>
            <a:ext cx="9782801" cy="958273"/>
          </a:xfrm>
          <a:prstGeom prst="rect">
            <a:avLst/>
          </a:prstGeom>
          <a:noFill/>
          <a:ln>
            <a:noFill/>
          </a:ln>
        </p:spPr>
        <p:txBody>
          <a:bodyPr spcFirstLastPara="1" wrap="square" lIns="91425" tIns="45700" rIns="91425" bIns="45700" anchor="b"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rgbClr val="343F49"/>
              </a:buClr>
              <a:buSzPts val="1800"/>
              <a:buFont typeface="Arial"/>
              <a:buNone/>
              <a:defRPr sz="3600" b="0" i="0" u="none" strike="noStrike" cap="none">
                <a:solidFill>
                  <a:srgbClr val="343F49"/>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0" lvl="0" indent="0" algn="l" rtl="0">
              <a:lnSpc>
                <a:spcPct val="90000"/>
              </a:lnSpc>
              <a:spcBef>
                <a:spcPts val="0"/>
              </a:spcBef>
              <a:spcAft>
                <a:spcPts val="0"/>
              </a:spcAft>
              <a:buClr>
                <a:srgbClr val="343F49"/>
              </a:buClr>
              <a:buSzPts val="3600"/>
              <a:buFont typeface="Arial"/>
              <a:buNone/>
            </a:pPr>
            <a:r>
              <a:rPr lang="en-US" sz="4000" b="1" dirty="0">
                <a:solidFill>
                  <a:schemeClr val="tx1"/>
                </a:solidFill>
                <a:latin typeface="Bahnschrift" pitchFamily="34" charset="0"/>
              </a:rPr>
              <a:t>Example: Page-based Chunking:</a:t>
            </a:r>
          </a:p>
        </p:txBody>
      </p:sp>
      <p:sp>
        <p:nvSpPr>
          <p:cNvPr id="4" name="Footer Placeholder 3">
            <a:extLst>
              <a:ext uri="{FF2B5EF4-FFF2-40B4-BE49-F238E27FC236}">
                <a16:creationId xmlns="" xmlns:a16="http://schemas.microsoft.com/office/drawing/2014/main" id="{CF61D508-5ADB-85A0-C55A-A34AD3B36759}"/>
              </a:ext>
            </a:extLst>
          </p:cNvPr>
          <p:cNvSpPr>
            <a:spLocks noGrp="1"/>
          </p:cNvSpPr>
          <p:nvPr>
            <p:ph type="ftr" sz="quarter" idx="11"/>
          </p:nvPr>
        </p:nvSpPr>
        <p:spPr/>
        <p:txBody>
          <a:bodyPr/>
          <a:lstStyle/>
          <a:p>
            <a:r>
              <a:rPr lang="en-US"/>
              <a:t>Navigating the Future of Learning </a:t>
            </a:r>
          </a:p>
        </p:txBody>
      </p:sp>
      <p:pic>
        <p:nvPicPr>
          <p:cNvPr id="15" name="Picture 14">
            <a:extLst>
              <a:ext uri="{FF2B5EF4-FFF2-40B4-BE49-F238E27FC236}">
                <a16:creationId xmlns="" xmlns:a16="http://schemas.microsoft.com/office/drawing/2014/main" id="{BFC6DB80-24E0-66A9-01E0-979A67A74225}"/>
              </a:ext>
            </a:extLst>
          </p:cNvPr>
          <p:cNvPicPr>
            <a:picLocks noChangeAspect="1"/>
          </p:cNvPicPr>
          <p:nvPr/>
        </p:nvPicPr>
        <p:blipFill>
          <a:blip r:embed="rId4"/>
          <a:stretch>
            <a:fillRect/>
          </a:stretch>
        </p:blipFill>
        <p:spPr>
          <a:xfrm>
            <a:off x="7815946" y="1417637"/>
            <a:ext cx="2921150" cy="4559534"/>
          </a:xfrm>
          <a:prstGeom prst="rect">
            <a:avLst/>
          </a:prstGeom>
        </p:spPr>
      </p:pic>
      <p:pic>
        <p:nvPicPr>
          <p:cNvPr id="17" name="Picture 16">
            <a:extLst>
              <a:ext uri="{FF2B5EF4-FFF2-40B4-BE49-F238E27FC236}">
                <a16:creationId xmlns="" xmlns:a16="http://schemas.microsoft.com/office/drawing/2014/main" id="{74672C69-E07C-B481-E900-B7CADA2D7A1F}"/>
              </a:ext>
            </a:extLst>
          </p:cNvPr>
          <p:cNvPicPr>
            <a:picLocks noChangeAspect="1"/>
          </p:cNvPicPr>
          <p:nvPr/>
        </p:nvPicPr>
        <p:blipFill>
          <a:blip r:embed="rId5"/>
          <a:stretch>
            <a:fillRect/>
          </a:stretch>
        </p:blipFill>
        <p:spPr>
          <a:xfrm>
            <a:off x="2134862" y="1521497"/>
            <a:ext cx="4349974" cy="4730993"/>
          </a:xfrm>
          <a:prstGeom prst="rect">
            <a:avLst/>
          </a:prstGeom>
        </p:spPr>
      </p:pic>
    </p:spTree>
    <p:extLst>
      <p:ext uri="{BB962C8B-B14F-4D97-AF65-F5344CB8AC3E}">
        <p14:creationId xmlns:p14="http://schemas.microsoft.com/office/powerpoint/2010/main" val="417102409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9A00AC01-0D1B-4670-B29D-784BF9417E63}"/>
            </a:ext>
          </a:extLst>
        </p:cNvPr>
        <p:cNvGrpSpPr/>
        <p:nvPr/>
      </p:nvGrpSpPr>
      <p:grpSpPr>
        <a:xfrm>
          <a:off x="0" y="0"/>
          <a:ext cx="0" cy="0"/>
          <a:chOff x="0" y="0"/>
          <a:chExt cx="0" cy="0"/>
        </a:xfrm>
      </p:grpSpPr>
      <p:sp>
        <p:nvSpPr>
          <p:cNvPr id="6" name="Rectangle 5">
            <a:extLst>
              <a:ext uri="{FF2B5EF4-FFF2-40B4-BE49-F238E27FC236}">
                <a16:creationId xmlns="" xmlns:a16="http://schemas.microsoft.com/office/drawing/2014/main" id="{F42AC56F-B988-068F-5073-41D324EA661F}"/>
              </a:ext>
            </a:extLst>
          </p:cNvPr>
          <p:cNvSpPr/>
          <p:nvPr/>
        </p:nvSpPr>
        <p:spPr>
          <a:xfrm>
            <a:off x="0" y="0"/>
            <a:ext cx="1126638" cy="6858000"/>
          </a:xfrm>
          <a:prstGeom prst="rect">
            <a:avLst/>
          </a:prstGeom>
          <a:solidFill>
            <a:srgbClr val="D7C05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 xmlns:a16="http://schemas.microsoft.com/office/drawing/2014/main" id="{1C7ED88D-99A7-E7D0-D563-319B47D0A7A8}"/>
              </a:ext>
            </a:extLst>
          </p:cNvPr>
          <p:cNvSpPr/>
          <p:nvPr/>
        </p:nvSpPr>
        <p:spPr>
          <a:xfrm>
            <a:off x="565288" y="-1"/>
            <a:ext cx="549447" cy="685800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 xmlns:a16="http://schemas.microsoft.com/office/drawing/2014/main" id="{86D9703F-8E7B-39E7-D187-C45F9BE29396}"/>
              </a:ext>
            </a:extLst>
          </p:cNvPr>
          <p:cNvSpPr txBox="1"/>
          <p:nvPr/>
        </p:nvSpPr>
        <p:spPr>
          <a:xfrm>
            <a:off x="601006" y="42717"/>
            <a:ext cx="442291" cy="707886"/>
          </a:xfrm>
          <a:prstGeom prst="rect">
            <a:avLst/>
          </a:prstGeom>
          <a:noFill/>
        </p:spPr>
        <p:txBody>
          <a:bodyPr wrap="square" rtlCol="0">
            <a:spAutoFit/>
          </a:bodyPr>
          <a:lstStyle/>
          <a:p>
            <a:r>
              <a:rPr lang="el-GR" sz="4000">
                <a:solidFill>
                  <a:srgbClr val="D7C055"/>
                </a:solidFill>
              </a:rPr>
              <a:t>π</a:t>
            </a:r>
            <a:endParaRPr lang="en-US" sz="4000">
              <a:solidFill>
                <a:srgbClr val="D7C055"/>
              </a:solidFill>
            </a:endParaRPr>
          </a:p>
        </p:txBody>
      </p:sp>
      <p:pic>
        <p:nvPicPr>
          <p:cNvPr id="10" name="Picture 9" descr="A logo with lines in a black background&#10;&#10;Description automatically generated">
            <a:extLst>
              <a:ext uri="{FF2B5EF4-FFF2-40B4-BE49-F238E27FC236}">
                <a16:creationId xmlns="" xmlns:a16="http://schemas.microsoft.com/office/drawing/2014/main" id="{3D524DBF-F0C3-D6F7-607C-D2D2CA1ED00A}"/>
              </a:ext>
            </a:extLst>
          </p:cNvPr>
          <p:cNvPicPr>
            <a:picLocks noChangeAspect="1"/>
          </p:cNvPicPr>
          <p:nvPr/>
        </p:nvPicPr>
        <p:blipFill>
          <a:blip r:embed="rId3"/>
          <a:stretch>
            <a:fillRect/>
          </a:stretch>
        </p:blipFill>
        <p:spPr>
          <a:xfrm>
            <a:off x="11202642" y="-205417"/>
            <a:ext cx="1217233" cy="1205327"/>
          </a:xfrm>
          <a:prstGeom prst="rect">
            <a:avLst/>
          </a:prstGeom>
        </p:spPr>
      </p:pic>
      <p:sp>
        <p:nvSpPr>
          <p:cNvPr id="2" name="Google Shape;149;p2">
            <a:extLst>
              <a:ext uri="{FF2B5EF4-FFF2-40B4-BE49-F238E27FC236}">
                <a16:creationId xmlns="" xmlns:a16="http://schemas.microsoft.com/office/drawing/2014/main" id="{038532CF-66C3-65D3-7D34-1709FB126FDA}"/>
              </a:ext>
            </a:extLst>
          </p:cNvPr>
          <p:cNvSpPr txBox="1">
            <a:spLocks noGrp="1"/>
          </p:cNvSpPr>
          <p:nvPr/>
        </p:nvSpPr>
        <p:spPr>
          <a:xfrm>
            <a:off x="1593436" y="136527"/>
            <a:ext cx="9782801" cy="863384"/>
          </a:xfrm>
          <a:prstGeom prst="rect">
            <a:avLst/>
          </a:prstGeom>
          <a:noFill/>
          <a:ln>
            <a:noFill/>
          </a:ln>
        </p:spPr>
        <p:txBody>
          <a:bodyPr spcFirstLastPara="1" wrap="square" lIns="91425" tIns="45700" rIns="91425" bIns="45700" anchor="b"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rgbClr val="343F49"/>
              </a:buClr>
              <a:buSzPts val="1800"/>
              <a:buFont typeface="Arial"/>
              <a:buNone/>
              <a:defRPr sz="3600" b="0" i="0" u="none" strike="noStrike" cap="none">
                <a:solidFill>
                  <a:srgbClr val="343F49"/>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0" lvl="0" indent="0" algn="l" rtl="0">
              <a:lnSpc>
                <a:spcPct val="90000"/>
              </a:lnSpc>
              <a:spcBef>
                <a:spcPts val="0"/>
              </a:spcBef>
              <a:spcAft>
                <a:spcPts val="0"/>
              </a:spcAft>
              <a:buClr>
                <a:srgbClr val="343F49"/>
              </a:buClr>
              <a:buSzPts val="3600"/>
              <a:buFont typeface="Arial"/>
              <a:buNone/>
            </a:pPr>
            <a:r>
              <a:rPr lang="en-US" sz="4000" b="1" dirty="0">
                <a:solidFill>
                  <a:schemeClr val="tx1"/>
                </a:solidFill>
                <a:latin typeface="Bahnschrift" pitchFamily="34" charset="0"/>
              </a:rPr>
              <a:t>Page-based Chunking</a:t>
            </a:r>
          </a:p>
        </p:txBody>
      </p:sp>
      <p:sp>
        <p:nvSpPr>
          <p:cNvPr id="4" name="Footer Placeholder 3">
            <a:extLst>
              <a:ext uri="{FF2B5EF4-FFF2-40B4-BE49-F238E27FC236}">
                <a16:creationId xmlns="" xmlns:a16="http://schemas.microsoft.com/office/drawing/2014/main" id="{CF61D508-5ADB-85A0-C55A-A34AD3B36759}"/>
              </a:ext>
            </a:extLst>
          </p:cNvPr>
          <p:cNvSpPr>
            <a:spLocks noGrp="1"/>
          </p:cNvSpPr>
          <p:nvPr>
            <p:ph type="ftr" sz="quarter" idx="11"/>
          </p:nvPr>
        </p:nvSpPr>
        <p:spPr>
          <a:xfrm>
            <a:off x="4038600" y="6356349"/>
            <a:ext cx="4114800" cy="365125"/>
          </a:xfrm>
        </p:spPr>
        <p:txBody>
          <a:bodyPr/>
          <a:lstStyle/>
          <a:p>
            <a:r>
              <a:rPr lang="en-US"/>
              <a:t>Navigating the Future of Learning </a:t>
            </a:r>
          </a:p>
        </p:txBody>
      </p:sp>
      <p:sp>
        <p:nvSpPr>
          <p:cNvPr id="14" name="TextBox 13">
            <a:extLst>
              <a:ext uri="{FF2B5EF4-FFF2-40B4-BE49-F238E27FC236}">
                <a16:creationId xmlns="" xmlns:a16="http://schemas.microsoft.com/office/drawing/2014/main" id="{7A169175-DD68-9EE0-269F-135A4AFE4D32}"/>
              </a:ext>
            </a:extLst>
          </p:cNvPr>
          <p:cNvSpPr txBox="1"/>
          <p:nvPr/>
        </p:nvSpPr>
        <p:spPr>
          <a:xfrm>
            <a:off x="1889725" y="1462702"/>
            <a:ext cx="9190222" cy="489364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Description: </a:t>
            </a:r>
            <a:r>
              <a:rPr lang="en-US" sz="2400" dirty="0"/>
              <a:t>Dividing a PDF document into distinct pages to facilitate focused text processing and analysis at the page level.</a:t>
            </a:r>
          </a:p>
          <a:p>
            <a:endParaRPr lang="en-US" sz="2400" b="1" dirty="0"/>
          </a:p>
          <a:p>
            <a:r>
              <a:rPr lang="en-US" sz="2400" b="1" dirty="0"/>
              <a:t>Example Use Case: </a:t>
            </a:r>
            <a:r>
              <a:rPr lang="en-US" sz="2400" dirty="0"/>
              <a:t>Complex tasks like document The summaries can then be combined to provide an overview of the entire document, making it easier for users to grasp the main points without having to read the entire content in detail.</a:t>
            </a:r>
          </a:p>
          <a:p>
            <a:endParaRPr lang="en-US" sz="2400" b="1" dirty="0"/>
          </a:p>
          <a:p>
            <a:r>
              <a:rPr lang="en-US" sz="2400" b="1" dirty="0"/>
              <a:t>Advantages: </a:t>
            </a:r>
            <a:r>
              <a:rPr lang="en-US" sz="2400" dirty="0"/>
              <a:t>By using this strategy we can enable parallel processing of individual pages.</a:t>
            </a:r>
          </a:p>
          <a:p>
            <a:endParaRPr lang="en-US" sz="2400" b="1" dirty="0"/>
          </a:p>
          <a:p>
            <a:r>
              <a:rPr lang="en-US" sz="2400" b="1" dirty="0"/>
              <a:t>Disadvantages:</a:t>
            </a:r>
            <a:r>
              <a:rPr lang="en-US" sz="2400" dirty="0"/>
              <a:t> In this strategy we may Loss Cross-Page relationship and another major disadvantage is Potential Context Disruption</a:t>
            </a:r>
            <a:endParaRPr lang="en-US" sz="2400" dirty="0">
              <a:ea typeface="Calibri"/>
              <a:cs typeface="Calibri"/>
            </a:endParaRPr>
          </a:p>
        </p:txBody>
      </p:sp>
    </p:spTree>
    <p:extLst>
      <p:ext uri="{BB962C8B-B14F-4D97-AF65-F5344CB8AC3E}">
        <p14:creationId xmlns:p14="http://schemas.microsoft.com/office/powerpoint/2010/main" val="4228965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23308</TotalTime>
  <Words>2097</Words>
  <Application>Microsoft Office PowerPoint</Application>
  <PresentationFormat>Custom</PresentationFormat>
  <Paragraphs>214</Paragraphs>
  <Slides>24</Slides>
  <Notes>22</Notes>
  <HiddenSlides>0</HiddenSlides>
  <MMClips>0</MMClips>
  <ScaleCrop>false</ScaleCrop>
  <HeadingPairs>
    <vt:vector size="4" baseType="variant">
      <vt:variant>
        <vt:lpstr>Theme</vt:lpstr>
      </vt:variant>
      <vt:variant>
        <vt:i4>1</vt:i4>
      </vt:variant>
      <vt:variant>
        <vt:lpstr>Slide Titles</vt:lpstr>
      </vt:variant>
      <vt:variant>
        <vt:i4>24</vt:i4>
      </vt:variant>
    </vt:vector>
  </HeadingPairs>
  <TitlesOfParts>
    <vt:vector size="25"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Naman Narula</dc:creator>
  <cp:lastModifiedBy>User</cp:lastModifiedBy>
  <cp:revision>938</cp:revision>
  <dcterms:created xsi:type="dcterms:W3CDTF">2024-01-26T15:11:46Z</dcterms:created>
  <dcterms:modified xsi:type="dcterms:W3CDTF">2025-10-29T19:05:14Z</dcterms:modified>
</cp:coreProperties>
</file>