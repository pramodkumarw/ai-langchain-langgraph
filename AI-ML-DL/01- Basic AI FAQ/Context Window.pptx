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84" r:id="rId2"/>
    <p:sldId id="28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LM's Context Window" id="{36A36149-39C7-42D6-8DA6-9C8D81F9062E}">
          <p14:sldIdLst>
            <p14:sldId id="284"/>
            <p14:sldId id="286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C055"/>
    <a:srgbClr val="FF0066"/>
    <a:srgbClr val="00CC99"/>
    <a:srgbClr val="CC3300"/>
    <a:srgbClr val="15C2FF"/>
    <a:srgbClr val="00D05E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7" autoAdjust="0"/>
    <p:restoredTop sz="86073" autoAdjust="0"/>
  </p:normalViewPr>
  <p:slideViewPr>
    <p:cSldViewPr snapToGrid="0">
      <p:cViewPr>
        <p:scale>
          <a:sx n="70" d="100"/>
          <a:sy n="70" d="100"/>
        </p:scale>
        <p:origin x="-660" y="-1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28" Type="http://schemas.microsoft.com/office/2015/10/relationships/revisionInfo" Target="revisionInfo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03-11-2025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9" y="1291419"/>
            <a:ext cx="7106942" cy="4003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59711" y="795736"/>
            <a:ext cx="71332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Bahnschrift Light" pitchFamily="34" charset="0"/>
              </a:rPr>
              <a:t>llms are stateless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259711" y="5848964"/>
            <a:ext cx="95056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Bahnschrift Light" pitchFamily="34" charset="0"/>
                <a:cs typeface="Arial" pitchFamily="34" charset="0"/>
              </a:rPr>
              <a:t>LLM are stateless what does it mean?</a:t>
            </a:r>
          </a:p>
          <a:p>
            <a:r>
              <a:rPr lang="en-US" sz="1600" dirty="0">
                <a:latin typeface="Bahnschrift Light" pitchFamily="34" charset="0"/>
                <a:cs typeface="Arial" pitchFamily="34" charset="0"/>
              </a:rPr>
              <a:t>it means llms themselves don't keep track of </a:t>
            </a:r>
            <a:r>
              <a:rPr lang="en-US" sz="1600" dirty="0" smtClean="0">
                <a:latin typeface="Bahnschrift Light" pitchFamily="34" charset="0"/>
                <a:cs typeface="Arial" pitchFamily="34" charset="0"/>
              </a:rPr>
              <a:t>conversations History </a:t>
            </a:r>
            <a:endParaRPr lang="en-IN" sz="1600" dirty="0">
              <a:latin typeface="Bahnschrift Light" pitchFamily="34" charset="0"/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337479" y="193967"/>
            <a:ext cx="2456598" cy="324647"/>
            <a:chOff x="1337479" y="193967"/>
            <a:chExt cx="2456598" cy="324647"/>
          </a:xfrm>
        </p:grpSpPr>
        <p:sp>
          <p:nvSpPr>
            <p:cNvPr id="9" name="Snip and Round Single Corner Rectangle 8"/>
            <p:cNvSpPr/>
            <p:nvPr/>
          </p:nvSpPr>
          <p:spPr>
            <a:xfrm>
              <a:off x="1337479" y="193967"/>
              <a:ext cx="1897039" cy="324647"/>
            </a:xfrm>
            <a:prstGeom prst="snipRoundRect">
              <a:avLst/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b="1" dirty="0" smtClean="0">
                  <a:latin typeface="Bahnschrift" pitchFamily="34" charset="0"/>
                </a:rPr>
                <a:t>Context Window</a:t>
              </a:r>
              <a:endParaRPr lang="en-IN" b="1" dirty="0">
                <a:latin typeface="Bahnschrift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1337479" y="518614"/>
              <a:ext cx="24565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14735" y="381271"/>
            <a:ext cx="10558818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Bahnschrift Light" pitchFamily="34" charset="0"/>
              </a:rPr>
              <a:t>but</a:t>
            </a:r>
            <a:r>
              <a:rPr lang="en-US" dirty="0">
                <a:latin typeface="Bahnschrift Light" pitchFamily="34" charset="0"/>
              </a:rPr>
              <a:t> when we talked about chatgpt client application </a:t>
            </a:r>
            <a:r>
              <a:rPr lang="en-US" sz="2000" b="1" dirty="0">
                <a:solidFill>
                  <a:srgbClr val="FF0066"/>
                </a:solidFill>
                <a:latin typeface="Bahnschrift Light" pitchFamily="34" charset="0"/>
              </a:rPr>
              <a:t>it keep track our conversation history(state</a:t>
            </a:r>
            <a:r>
              <a:rPr lang="en-US" dirty="0">
                <a:latin typeface="Bahnschrift Light" pitchFamily="34" charset="0"/>
              </a:rPr>
              <a:t>).so how it is </a:t>
            </a:r>
            <a:r>
              <a:rPr lang="en-US" dirty="0" smtClean="0">
                <a:latin typeface="Bahnschrift Light" pitchFamily="34" charset="0"/>
              </a:rPr>
              <a:t>happened, </a:t>
            </a:r>
            <a:r>
              <a:rPr lang="en-US" dirty="0">
                <a:latin typeface="Bahnschrift Light" pitchFamily="34" charset="0"/>
              </a:rPr>
              <a:t>it is happened through the chatgpt client </a:t>
            </a:r>
            <a:r>
              <a:rPr lang="en-US" dirty="0" smtClean="0">
                <a:latin typeface="Bahnschrift Light" pitchFamily="34" charset="0"/>
              </a:rPr>
              <a:t>application </a:t>
            </a:r>
            <a:r>
              <a:rPr lang="en-US" dirty="0">
                <a:latin typeface="Bahnschrift Light" pitchFamily="34" charset="0"/>
              </a:rPr>
              <a:t>not by LLM</a:t>
            </a:r>
            <a:r>
              <a:rPr lang="en-US" dirty="0"/>
              <a:t>.</a:t>
            </a:r>
            <a:endParaRPr lang="en-IN" dirty="0"/>
          </a:p>
        </p:txBody>
      </p:sp>
      <p:grpSp>
        <p:nvGrpSpPr>
          <p:cNvPr id="10" name="Group 9"/>
          <p:cNvGrpSpPr/>
          <p:nvPr/>
        </p:nvGrpSpPr>
        <p:grpSpPr>
          <a:xfrm>
            <a:off x="1314735" y="1511069"/>
            <a:ext cx="8367996" cy="461665"/>
            <a:chOff x="1314735" y="1511069"/>
            <a:chExt cx="8367996" cy="461665"/>
          </a:xfrm>
        </p:grpSpPr>
        <p:sp>
          <p:nvSpPr>
            <p:cNvPr id="3" name="Rectangle 2"/>
            <p:cNvSpPr/>
            <p:nvPr/>
          </p:nvSpPr>
          <p:spPr>
            <a:xfrm>
              <a:off x="1314735" y="1511069"/>
              <a:ext cx="8367996" cy="4616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Bahnschrift" pitchFamily="34" charset="0"/>
                </a:rPr>
                <a:t>what happens as conversational history becomes very long</a:t>
              </a:r>
              <a:endParaRPr lang="en-IN" sz="2400" b="1" dirty="0">
                <a:solidFill>
                  <a:srgbClr val="0070C0"/>
                </a:solidFill>
                <a:latin typeface="Bahnschrift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314735" y="1972734"/>
              <a:ext cx="836799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/>
          <p:cNvSpPr/>
          <p:nvPr/>
        </p:nvSpPr>
        <p:spPr>
          <a:xfrm>
            <a:off x="1483058" y="2119152"/>
            <a:ext cx="105269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Bahnschrift Light" pitchFamily="34" charset="0"/>
                <a:cs typeface="Arial" pitchFamily="34" charset="0"/>
              </a:rPr>
              <a:t>each llm has a maximum limit of words or tokens it </a:t>
            </a:r>
            <a:r>
              <a:rPr lang="en-US" sz="1600" dirty="0" smtClean="0">
                <a:latin typeface="Bahnschrift Light" pitchFamily="34" charset="0"/>
                <a:cs typeface="Arial" pitchFamily="34" charset="0"/>
              </a:rPr>
              <a:t>can handle </a:t>
            </a:r>
            <a:r>
              <a:rPr lang="en-US" sz="1600" dirty="0">
                <a:latin typeface="Bahnschrift Light" pitchFamily="34" charset="0"/>
                <a:cs typeface="Arial" pitchFamily="34" charset="0"/>
              </a:rPr>
              <a:t>on each input prompt this is called the context </a:t>
            </a:r>
            <a:r>
              <a:rPr lang="en-US" sz="1600" dirty="0" smtClean="0">
                <a:latin typeface="Bahnschrift Light" pitchFamily="34" charset="0"/>
                <a:cs typeface="Arial" pitchFamily="34" charset="0"/>
              </a:rPr>
              <a:t>window the </a:t>
            </a:r>
            <a:r>
              <a:rPr lang="en-US" sz="1600" dirty="0">
                <a:latin typeface="Bahnschrift Light" pitchFamily="34" charset="0"/>
                <a:cs typeface="Arial" pitchFamily="34" charset="0"/>
              </a:rPr>
              <a:t>context window refers the maximum amount of text in terms of tokens that the </a:t>
            </a:r>
            <a:r>
              <a:rPr lang="en-US" sz="1600" dirty="0" smtClean="0">
                <a:latin typeface="Bahnschrift Light" pitchFamily="34" charset="0"/>
                <a:cs typeface="Arial" pitchFamily="34" charset="0"/>
              </a:rPr>
              <a:t>LLM </a:t>
            </a:r>
            <a:r>
              <a:rPr lang="en-US" sz="1600" dirty="0">
                <a:latin typeface="Bahnschrift Light" pitchFamily="34" charset="0"/>
                <a:cs typeface="Arial" pitchFamily="34" charset="0"/>
              </a:rPr>
              <a:t>can process at once</a:t>
            </a:r>
            <a:endParaRPr lang="en-IN" sz="1600" dirty="0">
              <a:latin typeface="Bahnschrift Light" pitchFamily="34" charset="0"/>
              <a:cs typeface="Arial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314735" y="3283256"/>
            <a:ext cx="6409898" cy="646331"/>
            <a:chOff x="1314735" y="3283256"/>
            <a:chExt cx="6409898" cy="646331"/>
          </a:xfrm>
        </p:grpSpPr>
        <p:sp>
          <p:nvSpPr>
            <p:cNvPr id="14" name="Rectangle 13"/>
            <p:cNvSpPr/>
            <p:nvPr/>
          </p:nvSpPr>
          <p:spPr>
            <a:xfrm>
              <a:off x="1314735" y="3283256"/>
              <a:ext cx="6409898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Bahnschrift SemiBold" pitchFamily="34" charset="0"/>
                </a:rPr>
                <a:t>why can't LLM providers </a:t>
              </a:r>
              <a:r>
                <a:rPr lang="en-US" dirty="0" smtClean="0">
                  <a:solidFill>
                    <a:srgbClr val="002060"/>
                  </a:solidFill>
                  <a:latin typeface="Bahnschrift SemiBold" pitchFamily="34" charset="0"/>
                </a:rPr>
                <a:t>just increase </a:t>
              </a:r>
              <a:r>
                <a:rPr lang="en-US" dirty="0">
                  <a:solidFill>
                    <a:srgbClr val="002060"/>
                  </a:solidFill>
                  <a:latin typeface="Bahnschrift SemiBold" pitchFamily="34" charset="0"/>
                </a:rPr>
                <a:t>the context window </a:t>
              </a:r>
              <a:endParaRPr lang="en-US" dirty="0" smtClean="0">
                <a:solidFill>
                  <a:srgbClr val="002060"/>
                </a:solidFill>
                <a:latin typeface="Bahnschrift SemiBold" pitchFamily="34" charset="0"/>
              </a:endParaRPr>
            </a:p>
            <a:p>
              <a:r>
                <a:rPr lang="en-US" dirty="0" smtClean="0">
                  <a:solidFill>
                    <a:srgbClr val="002060"/>
                  </a:solidFill>
                  <a:latin typeface="Bahnschrift SemiBold" pitchFamily="34" charset="0"/>
                </a:rPr>
                <a:t>so </a:t>
              </a:r>
              <a:r>
                <a:rPr lang="en-US" dirty="0">
                  <a:solidFill>
                    <a:srgbClr val="002060"/>
                  </a:solidFill>
                  <a:latin typeface="Bahnschrift SemiBold" pitchFamily="34" charset="0"/>
                </a:rPr>
                <a:t>that </a:t>
              </a:r>
              <a:r>
                <a:rPr lang="en-US" dirty="0" smtClean="0">
                  <a:solidFill>
                    <a:srgbClr val="002060"/>
                  </a:solidFill>
                  <a:latin typeface="Bahnschrift SemiBold" pitchFamily="34" charset="0"/>
                </a:rPr>
                <a:t>all input </a:t>
              </a:r>
              <a:r>
                <a:rPr lang="en-US" dirty="0">
                  <a:solidFill>
                    <a:srgbClr val="002060"/>
                  </a:solidFill>
                  <a:latin typeface="Bahnschrift SemiBold" pitchFamily="34" charset="0"/>
                </a:rPr>
                <a:t>requests can always </a:t>
              </a:r>
              <a:r>
                <a:rPr lang="en-US" dirty="0" smtClean="0">
                  <a:solidFill>
                    <a:srgbClr val="002060"/>
                  </a:solidFill>
                  <a:latin typeface="Bahnschrift SemiBold" pitchFamily="34" charset="0"/>
                </a:rPr>
                <a:t>be handled </a:t>
              </a:r>
              <a:r>
                <a:rPr lang="en-US" dirty="0">
                  <a:solidFill>
                    <a:srgbClr val="002060"/>
                  </a:solidFill>
                  <a:latin typeface="Bahnschrift SemiBold" pitchFamily="34" charset="0"/>
                </a:rPr>
                <a:t>well</a:t>
              </a:r>
              <a:endParaRPr lang="en-IN" dirty="0">
                <a:solidFill>
                  <a:srgbClr val="002060"/>
                </a:solidFill>
                <a:latin typeface="Bahnschrift SemiBold" pitchFamily="34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1314735" y="3929587"/>
              <a:ext cx="6409898" cy="0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/>
        </p:nvSpPr>
        <p:spPr>
          <a:xfrm>
            <a:off x="1483058" y="4093740"/>
            <a:ext cx="10244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Bahnschrift Light" pitchFamily="34" charset="0"/>
                <a:cs typeface="Arial" pitchFamily="34" charset="0"/>
              </a:rPr>
              <a:t>the larger the context window </a:t>
            </a:r>
            <a:r>
              <a:rPr lang="en-US" sz="1600" dirty="0" smtClean="0">
                <a:latin typeface="Bahnschrift Light" pitchFamily="34" charset="0"/>
                <a:cs typeface="Arial" pitchFamily="34" charset="0"/>
              </a:rPr>
              <a:t>means more </a:t>
            </a:r>
            <a:r>
              <a:rPr lang="en-US" sz="1600" dirty="0">
                <a:latin typeface="Bahnschrift Light" pitchFamily="34" charset="0"/>
                <a:cs typeface="Arial" pitchFamily="34" charset="0"/>
              </a:rPr>
              <a:t>compute resources are required on the </a:t>
            </a:r>
            <a:r>
              <a:rPr lang="en-US" sz="1600" dirty="0" smtClean="0">
                <a:latin typeface="Bahnschrift Light" pitchFamily="34" charset="0"/>
                <a:cs typeface="Arial" pitchFamily="34" charset="0"/>
              </a:rPr>
              <a:t>server side </a:t>
            </a:r>
            <a:r>
              <a:rPr lang="en-US" sz="1600" dirty="0">
                <a:latin typeface="Bahnschrift Light" pitchFamily="34" charset="0"/>
                <a:cs typeface="Arial" pitchFamily="34" charset="0"/>
              </a:rPr>
              <a:t>to handle this additional workload  and this can be quite costly</a:t>
            </a:r>
            <a:endParaRPr lang="en-IN" sz="1600" dirty="0">
              <a:latin typeface="Bahnschrift Light" pitchFamily="34" charset="0"/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33350" y="4736855"/>
            <a:ext cx="533172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Bahnschrift Light" pitchFamily="34" charset="0"/>
                <a:cs typeface="Arial" pitchFamily="34" charset="0"/>
              </a:rPr>
              <a:t>llama2 has a context window size of </a:t>
            </a:r>
            <a:r>
              <a:rPr lang="en-US" sz="1600" dirty="0">
                <a:solidFill>
                  <a:srgbClr val="0070C0"/>
                </a:solidFill>
                <a:latin typeface="Bahnschrift Light" pitchFamily="34" charset="0"/>
                <a:cs typeface="Arial" pitchFamily="34" charset="0"/>
              </a:rPr>
              <a:t>4K</a:t>
            </a:r>
            <a:r>
              <a:rPr lang="en-US" sz="1600" dirty="0">
                <a:latin typeface="Bahnschrift Light" pitchFamily="34" charset="0"/>
                <a:cs typeface="Arial" pitchFamily="34" charset="0"/>
              </a:rPr>
              <a:t>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Bahnschrift Light" pitchFamily="34" charset="0"/>
                <a:cs typeface="Arial" pitchFamily="34" charset="0"/>
              </a:rPr>
              <a:t>Claude2 has a context window size of </a:t>
            </a:r>
            <a:r>
              <a:rPr lang="en-US" sz="1600" dirty="0">
                <a:solidFill>
                  <a:srgbClr val="0070C0"/>
                </a:solidFill>
                <a:latin typeface="Bahnschrift Light" pitchFamily="34" charset="0"/>
                <a:cs typeface="Arial" pitchFamily="34" charset="0"/>
              </a:rPr>
              <a:t>100K</a:t>
            </a:r>
            <a:r>
              <a:rPr lang="en-US" sz="1600" dirty="0">
                <a:latin typeface="Bahnschrift Light" pitchFamily="34" charset="0"/>
                <a:cs typeface="Arial" pitchFamily="34" charset="0"/>
              </a:rPr>
              <a:t>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Bahnschrift Light" pitchFamily="34" charset="0"/>
                <a:cs typeface="Arial" pitchFamily="34" charset="0"/>
              </a:rPr>
              <a:t>GPT3.5 has a context window </a:t>
            </a:r>
            <a:r>
              <a:rPr lang="en-US" sz="1600" dirty="0">
                <a:solidFill>
                  <a:srgbClr val="0070C0"/>
                </a:solidFill>
                <a:latin typeface="Bahnschrift Light" pitchFamily="34" charset="0"/>
                <a:cs typeface="Arial" pitchFamily="34" charset="0"/>
              </a:rPr>
              <a:t>16k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Bahnschrift Light" pitchFamily="34" charset="0"/>
                <a:cs typeface="Arial" pitchFamily="34" charset="0"/>
              </a:rPr>
              <a:t>GPT 4.0 has a context window </a:t>
            </a:r>
            <a:r>
              <a:rPr lang="en-US" sz="1600" dirty="0">
                <a:solidFill>
                  <a:srgbClr val="0070C0"/>
                </a:solidFill>
                <a:latin typeface="Bahnschrift Light" pitchFamily="34" charset="0"/>
                <a:cs typeface="Arial" pitchFamily="34" charset="0"/>
              </a:rPr>
              <a:t>128k </a:t>
            </a:r>
            <a:endParaRPr lang="en-IN" sz="1600" dirty="0">
              <a:solidFill>
                <a:srgbClr val="0070C0"/>
              </a:solidFill>
              <a:latin typeface="Bahnschrift Light" pitchFamily="34" charset="0"/>
              <a:cs typeface="Arial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51295" y="6106320"/>
            <a:ext cx="10390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Bahnschrift Light" pitchFamily="34" charset="0"/>
              </a:rPr>
              <a:t>LLM has context window size for input and output both</a:t>
            </a:r>
          </a:p>
          <a:p>
            <a:r>
              <a:rPr lang="en-US" sz="1600" dirty="0">
                <a:latin typeface="Bahnschrift Light" pitchFamily="34" charset="0"/>
              </a:rPr>
              <a:t>just like output context window size</a:t>
            </a:r>
            <a:r>
              <a:rPr lang="en-US" sz="1600" b="1" dirty="0">
                <a:solidFill>
                  <a:srgbClr val="0070C0"/>
                </a:solidFill>
                <a:latin typeface="Bahnschrift Light" pitchFamily="34" charset="0"/>
              </a:rPr>
              <a:t> 4k </a:t>
            </a:r>
            <a:r>
              <a:rPr lang="en-US" sz="1600" dirty="0" smtClean="0">
                <a:latin typeface="Bahnschrift Light" pitchFamily="34" charset="0"/>
              </a:rPr>
              <a:t>of </a:t>
            </a:r>
            <a:r>
              <a:rPr lang="en-US" sz="1600" dirty="0">
                <a:latin typeface="Bahnschrift Light" pitchFamily="34" charset="0"/>
              </a:rPr>
              <a:t>GPT-3.5 and GPT-4.0</a:t>
            </a:r>
            <a:endParaRPr lang="en-IN" sz="1600" dirty="0">
              <a:latin typeface="Bahnschrift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23303</TotalTime>
  <Words>218</Words>
  <Application>Microsoft Office PowerPoint</Application>
  <PresentationFormat>Custom</PresentationFormat>
  <Paragraphs>22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1065</cp:revision>
  <dcterms:created xsi:type="dcterms:W3CDTF">2024-01-26T15:11:46Z</dcterms:created>
  <dcterms:modified xsi:type="dcterms:W3CDTF">2025-11-03T06:41:50Z</dcterms:modified>
</cp:coreProperties>
</file>