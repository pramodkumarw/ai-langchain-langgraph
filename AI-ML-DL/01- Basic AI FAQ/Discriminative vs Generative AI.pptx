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85" r:id="rId2"/>
    <p:sldId id="28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iscriminative vs  Generative AI" id="{36A36149-39C7-42D6-8DA6-9C8D81F9062E}">
          <p14:sldIdLst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D7C055"/>
    <a:srgbClr val="00CC99"/>
    <a:srgbClr val="CC3300"/>
    <a:srgbClr val="15C2FF"/>
    <a:srgbClr val="00D05E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7" autoAdjust="0"/>
    <p:restoredTop sz="86073" autoAdjust="0"/>
  </p:normalViewPr>
  <p:slideViewPr>
    <p:cSldViewPr snapToGrid="0">
      <p:cViewPr>
        <p:scale>
          <a:sx n="70" d="100"/>
          <a:sy n="70" d="100"/>
        </p:scale>
        <p:origin x="-660" y="-1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28" Type="http://schemas.microsoft.com/office/2015/10/relationships/revisionInfo" Target="revisionInfo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Snip and Round Single Corner Rectangle 8"/>
          <p:cNvSpPr/>
          <p:nvPr/>
        </p:nvSpPr>
        <p:spPr>
          <a:xfrm>
            <a:off x="1337479" y="193968"/>
            <a:ext cx="5339558" cy="405384"/>
          </a:xfrm>
          <a:prstGeom prst="snipRoundRect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 smtClean="0">
                <a:latin typeface="Bahnschrift" pitchFamily="34" charset="0"/>
              </a:rPr>
              <a:t>Discriminative</a:t>
            </a:r>
            <a:r>
              <a:rPr lang="en-IN" sz="1400" b="1" dirty="0" smtClean="0">
                <a:latin typeface="Bahnschrift" pitchFamily="34" charset="0"/>
              </a:rPr>
              <a:t>(</a:t>
            </a:r>
            <a:r>
              <a:rPr lang="en-IN" sz="1400" dirty="0"/>
              <a:t>Traditional </a:t>
            </a:r>
            <a:r>
              <a:rPr lang="en-IN" sz="1600" b="1" dirty="0" smtClean="0">
                <a:latin typeface="Bahnschrift" pitchFamily="34" charset="0"/>
              </a:rPr>
              <a:t>)  AI vs  Generative AI</a:t>
            </a:r>
            <a:endParaRPr lang="en-IN" sz="1600" b="1" dirty="0">
              <a:latin typeface="Bahnschrift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92191" y="750603"/>
            <a:ext cx="101766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70C0"/>
                </a:solidFill>
                <a:cs typeface="Arial" pitchFamily="34" charset="0"/>
              </a:rPr>
              <a:t>Discriminative AI </a:t>
            </a:r>
            <a:r>
              <a:rPr lang="en-US" sz="1600" dirty="0" smtClean="0">
                <a:cs typeface="Arial" pitchFamily="34" charset="0"/>
              </a:rPr>
              <a:t>and </a:t>
            </a:r>
            <a:r>
              <a:rPr lang="en-US" sz="1600" dirty="0">
                <a:solidFill>
                  <a:srgbClr val="FF0066"/>
                </a:solidFill>
                <a:cs typeface="Arial" pitchFamily="34" charset="0"/>
              </a:rPr>
              <a:t>Generative AI </a:t>
            </a:r>
            <a:r>
              <a:rPr lang="en-US" sz="1600" dirty="0" smtClean="0">
                <a:solidFill>
                  <a:srgbClr val="FF0066"/>
                </a:solidFill>
                <a:cs typeface="Arial" pitchFamily="34" charset="0"/>
              </a:rPr>
              <a:t> </a:t>
            </a:r>
            <a:r>
              <a:rPr lang="en-US" sz="1600" dirty="0">
                <a:cs typeface="Arial" pitchFamily="34" charset="0"/>
              </a:rPr>
              <a:t>are two types of machine learning models that serve different purposes.</a:t>
            </a:r>
            <a:endParaRPr lang="en-IN" sz="1600" dirty="0"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70037" y="1198877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 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027698" y="1383542"/>
            <a:ext cx="9841175" cy="646331"/>
            <a:chOff x="2027698" y="1383542"/>
            <a:chExt cx="9505667" cy="646331"/>
          </a:xfrm>
        </p:grpSpPr>
        <p:sp>
          <p:nvSpPr>
            <p:cNvPr id="10" name="Rectangle 9"/>
            <p:cNvSpPr/>
            <p:nvPr/>
          </p:nvSpPr>
          <p:spPr>
            <a:xfrm>
              <a:off x="2027698" y="1383542"/>
              <a:ext cx="9505667" cy="646331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 smtClean="0"/>
                <a:t>Where </a:t>
              </a:r>
              <a:r>
                <a:rPr lang="en-US" dirty="0"/>
                <a:t> </a:t>
              </a:r>
              <a:r>
                <a:rPr lang="en-US" b="1" dirty="0"/>
                <a:t>discriminative model</a:t>
              </a:r>
              <a:r>
                <a:rPr lang="en-US" dirty="0"/>
                <a:t> is like a filtering tool that helps to distinguish data from different categories or classes. It takes the input from the user and categorizes the data. </a:t>
              </a:r>
              <a:endParaRPr lang="en-IN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2027698" y="1383542"/>
              <a:ext cx="0" cy="646331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713364" y="4383375"/>
            <a:ext cx="9927346" cy="1951630"/>
            <a:chOff x="1937982" y="2756848"/>
            <a:chExt cx="9927346" cy="1951630"/>
          </a:xfrm>
        </p:grpSpPr>
        <p:sp>
          <p:nvSpPr>
            <p:cNvPr id="15" name="Rectangle 14"/>
            <p:cNvSpPr/>
            <p:nvPr/>
          </p:nvSpPr>
          <p:spPr>
            <a:xfrm>
              <a:off x="2024153" y="2903982"/>
              <a:ext cx="98411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On the other hand, </a:t>
              </a:r>
              <a:r>
                <a:rPr lang="en-US" b="1" dirty="0"/>
                <a:t>Generative AI Models </a:t>
              </a:r>
              <a:r>
                <a:rPr lang="en-US" dirty="0"/>
                <a:t>are like a </a:t>
              </a:r>
              <a:r>
                <a:rPr lang="en-US" dirty="0">
                  <a:solidFill>
                    <a:srgbClr val="00B050"/>
                  </a:solidFill>
                </a:rPr>
                <a:t>creative</a:t>
              </a:r>
              <a:r>
                <a:rPr lang="en-US" dirty="0"/>
                <a:t> and </a:t>
              </a:r>
              <a:r>
                <a:rPr lang="en-US" dirty="0">
                  <a:solidFill>
                    <a:srgbClr val="00B050"/>
                  </a:solidFill>
                </a:rPr>
                <a:t>imaginary</a:t>
              </a:r>
              <a:r>
                <a:rPr lang="en-US" dirty="0"/>
                <a:t> artist. That specializes in generative new </a:t>
              </a:r>
              <a:r>
                <a:rPr lang="en-US" dirty="0" smtClean="0"/>
                <a:t>data </a:t>
              </a:r>
              <a:r>
                <a:rPr lang="en-US" dirty="0"/>
                <a:t>based on the trained data pattern.</a:t>
              </a:r>
              <a:endParaRPr lang="en-IN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15686" y="3737044"/>
              <a:ext cx="806519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That's why, Generative AI falls under the creative category of AI models that produce new samples of data</a:t>
              </a:r>
              <a:endParaRPr lang="en-IN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937982" y="2756848"/>
              <a:ext cx="9608024" cy="1951630"/>
            </a:xfrm>
            <a:custGeom>
              <a:avLst/>
              <a:gdLst>
                <a:gd name="connsiteX0" fmla="*/ 40943 w 9608024"/>
                <a:gd name="connsiteY0" fmla="*/ 150125 h 1951630"/>
                <a:gd name="connsiteX1" fmla="*/ 218364 w 9608024"/>
                <a:gd name="connsiteY1" fmla="*/ 150125 h 1951630"/>
                <a:gd name="connsiteX2" fmla="*/ 477672 w 9608024"/>
                <a:gd name="connsiteY2" fmla="*/ 163773 h 1951630"/>
                <a:gd name="connsiteX3" fmla="*/ 955343 w 9608024"/>
                <a:gd name="connsiteY3" fmla="*/ 177421 h 1951630"/>
                <a:gd name="connsiteX4" fmla="*/ 1009934 w 9608024"/>
                <a:gd name="connsiteY4" fmla="*/ 204716 h 1951630"/>
                <a:gd name="connsiteX5" fmla="*/ 1337481 w 9608024"/>
                <a:gd name="connsiteY5" fmla="*/ 177421 h 1951630"/>
                <a:gd name="connsiteX6" fmla="*/ 1528549 w 9608024"/>
                <a:gd name="connsiteY6" fmla="*/ 136477 h 1951630"/>
                <a:gd name="connsiteX7" fmla="*/ 1610436 w 9608024"/>
                <a:gd name="connsiteY7" fmla="*/ 122830 h 1951630"/>
                <a:gd name="connsiteX8" fmla="*/ 2169994 w 9608024"/>
                <a:gd name="connsiteY8" fmla="*/ 109182 h 1951630"/>
                <a:gd name="connsiteX9" fmla="*/ 2361063 w 9608024"/>
                <a:gd name="connsiteY9" fmla="*/ 95534 h 1951630"/>
                <a:gd name="connsiteX10" fmla="*/ 2415654 w 9608024"/>
                <a:gd name="connsiteY10" fmla="*/ 81886 h 1951630"/>
                <a:gd name="connsiteX11" fmla="*/ 2593075 w 9608024"/>
                <a:gd name="connsiteY11" fmla="*/ 54591 h 1951630"/>
                <a:gd name="connsiteX12" fmla="*/ 4012442 w 9608024"/>
                <a:gd name="connsiteY12" fmla="*/ 81886 h 1951630"/>
                <a:gd name="connsiteX13" fmla="*/ 4476466 w 9608024"/>
                <a:gd name="connsiteY13" fmla="*/ 95534 h 1951630"/>
                <a:gd name="connsiteX14" fmla="*/ 5868537 w 9608024"/>
                <a:gd name="connsiteY14" fmla="*/ 109182 h 1951630"/>
                <a:gd name="connsiteX15" fmla="*/ 6564573 w 9608024"/>
                <a:gd name="connsiteY15" fmla="*/ 95534 h 1951630"/>
                <a:gd name="connsiteX16" fmla="*/ 7738281 w 9608024"/>
                <a:gd name="connsiteY16" fmla="*/ 81886 h 1951630"/>
                <a:gd name="connsiteX17" fmla="*/ 7792872 w 9608024"/>
                <a:gd name="connsiteY17" fmla="*/ 68239 h 1951630"/>
                <a:gd name="connsiteX18" fmla="*/ 7942997 w 9608024"/>
                <a:gd name="connsiteY18" fmla="*/ 54591 h 1951630"/>
                <a:gd name="connsiteX19" fmla="*/ 8011236 w 9608024"/>
                <a:gd name="connsiteY19" fmla="*/ 40943 h 1951630"/>
                <a:gd name="connsiteX20" fmla="*/ 8147714 w 9608024"/>
                <a:gd name="connsiteY20" fmla="*/ 27295 h 1951630"/>
                <a:gd name="connsiteX21" fmla="*/ 8188657 w 9608024"/>
                <a:gd name="connsiteY21" fmla="*/ 13648 h 1951630"/>
                <a:gd name="connsiteX22" fmla="*/ 8270543 w 9608024"/>
                <a:gd name="connsiteY22" fmla="*/ 0 h 1951630"/>
                <a:gd name="connsiteX23" fmla="*/ 9553433 w 9608024"/>
                <a:gd name="connsiteY23" fmla="*/ 13648 h 1951630"/>
                <a:gd name="connsiteX24" fmla="*/ 9567081 w 9608024"/>
                <a:gd name="connsiteY24" fmla="*/ 54591 h 1951630"/>
                <a:gd name="connsiteX25" fmla="*/ 9580728 w 9608024"/>
                <a:gd name="connsiteY25" fmla="*/ 900752 h 1951630"/>
                <a:gd name="connsiteX26" fmla="*/ 9608024 w 9608024"/>
                <a:gd name="connsiteY26" fmla="*/ 1050877 h 1951630"/>
                <a:gd name="connsiteX27" fmla="*/ 9594376 w 9608024"/>
                <a:gd name="connsiteY27" fmla="*/ 1378424 h 1951630"/>
                <a:gd name="connsiteX28" fmla="*/ 9539785 w 9608024"/>
                <a:gd name="connsiteY28" fmla="*/ 1405719 h 1951630"/>
                <a:gd name="connsiteX29" fmla="*/ 9498842 w 9608024"/>
                <a:gd name="connsiteY29" fmla="*/ 1433015 h 1951630"/>
                <a:gd name="connsiteX30" fmla="*/ 9430603 w 9608024"/>
                <a:gd name="connsiteY30" fmla="*/ 1446662 h 1951630"/>
                <a:gd name="connsiteX31" fmla="*/ 9307773 w 9608024"/>
                <a:gd name="connsiteY31" fmla="*/ 1473958 h 1951630"/>
                <a:gd name="connsiteX32" fmla="*/ 9144000 w 9608024"/>
                <a:gd name="connsiteY32" fmla="*/ 1501253 h 1951630"/>
                <a:gd name="connsiteX33" fmla="*/ 8966579 w 9608024"/>
                <a:gd name="connsiteY33" fmla="*/ 1528549 h 1951630"/>
                <a:gd name="connsiteX34" fmla="*/ 8925636 w 9608024"/>
                <a:gd name="connsiteY34" fmla="*/ 1542197 h 1951630"/>
                <a:gd name="connsiteX35" fmla="*/ 8693624 w 9608024"/>
                <a:gd name="connsiteY35" fmla="*/ 1555845 h 1951630"/>
                <a:gd name="connsiteX36" fmla="*/ 8147714 w 9608024"/>
                <a:gd name="connsiteY36" fmla="*/ 1596788 h 1951630"/>
                <a:gd name="connsiteX37" fmla="*/ 7083188 w 9608024"/>
                <a:gd name="connsiteY37" fmla="*/ 1610436 h 1951630"/>
                <a:gd name="connsiteX38" fmla="*/ 6987654 w 9608024"/>
                <a:gd name="connsiteY38" fmla="*/ 1624083 h 1951630"/>
                <a:gd name="connsiteX39" fmla="*/ 6892119 w 9608024"/>
                <a:gd name="connsiteY39" fmla="*/ 1651379 h 1951630"/>
                <a:gd name="connsiteX40" fmla="*/ 6550925 w 9608024"/>
                <a:gd name="connsiteY40" fmla="*/ 1665027 h 1951630"/>
                <a:gd name="connsiteX41" fmla="*/ 6346209 w 9608024"/>
                <a:gd name="connsiteY41" fmla="*/ 1678674 h 1951630"/>
                <a:gd name="connsiteX42" fmla="*/ 6127845 w 9608024"/>
                <a:gd name="connsiteY42" fmla="*/ 1719618 h 1951630"/>
                <a:gd name="connsiteX43" fmla="*/ 6073254 w 9608024"/>
                <a:gd name="connsiteY43" fmla="*/ 1733265 h 1951630"/>
                <a:gd name="connsiteX44" fmla="*/ 4476466 w 9608024"/>
                <a:gd name="connsiteY44" fmla="*/ 1746913 h 1951630"/>
                <a:gd name="connsiteX45" fmla="*/ 2497540 w 9608024"/>
                <a:gd name="connsiteY45" fmla="*/ 1760561 h 1951630"/>
                <a:gd name="connsiteX46" fmla="*/ 2320119 w 9608024"/>
                <a:gd name="connsiteY46" fmla="*/ 1787856 h 1951630"/>
                <a:gd name="connsiteX47" fmla="*/ 2265528 w 9608024"/>
                <a:gd name="connsiteY47" fmla="*/ 1801504 h 1951630"/>
                <a:gd name="connsiteX48" fmla="*/ 1951630 w 9608024"/>
                <a:gd name="connsiteY48" fmla="*/ 1828800 h 1951630"/>
                <a:gd name="connsiteX49" fmla="*/ 1883391 w 9608024"/>
                <a:gd name="connsiteY49" fmla="*/ 1842448 h 1951630"/>
                <a:gd name="connsiteX50" fmla="*/ 1692322 w 9608024"/>
                <a:gd name="connsiteY50" fmla="*/ 1869743 h 1951630"/>
                <a:gd name="connsiteX51" fmla="*/ 1637731 w 9608024"/>
                <a:gd name="connsiteY51" fmla="*/ 1883391 h 1951630"/>
                <a:gd name="connsiteX52" fmla="*/ 1446663 w 9608024"/>
                <a:gd name="connsiteY52" fmla="*/ 1910686 h 1951630"/>
                <a:gd name="connsiteX53" fmla="*/ 1296537 w 9608024"/>
                <a:gd name="connsiteY53" fmla="*/ 1937982 h 1951630"/>
                <a:gd name="connsiteX54" fmla="*/ 1146412 w 9608024"/>
                <a:gd name="connsiteY54" fmla="*/ 1951630 h 1951630"/>
                <a:gd name="connsiteX55" fmla="*/ 996287 w 9608024"/>
                <a:gd name="connsiteY55" fmla="*/ 1937982 h 1951630"/>
                <a:gd name="connsiteX56" fmla="*/ 982639 w 9608024"/>
                <a:gd name="connsiteY56" fmla="*/ 1869743 h 1951630"/>
                <a:gd name="connsiteX57" fmla="*/ 968991 w 9608024"/>
                <a:gd name="connsiteY57" fmla="*/ 1828800 h 1951630"/>
                <a:gd name="connsiteX58" fmla="*/ 914400 w 9608024"/>
                <a:gd name="connsiteY58" fmla="*/ 1692322 h 1951630"/>
                <a:gd name="connsiteX59" fmla="*/ 900752 w 9608024"/>
                <a:gd name="connsiteY59" fmla="*/ 1610436 h 1951630"/>
                <a:gd name="connsiteX60" fmla="*/ 887105 w 9608024"/>
                <a:gd name="connsiteY60" fmla="*/ 1569492 h 1951630"/>
                <a:gd name="connsiteX61" fmla="*/ 859809 w 9608024"/>
                <a:gd name="connsiteY61" fmla="*/ 1405719 h 1951630"/>
                <a:gd name="connsiteX62" fmla="*/ 232012 w 9608024"/>
                <a:gd name="connsiteY62" fmla="*/ 1037230 h 1951630"/>
                <a:gd name="connsiteX63" fmla="*/ 136478 w 9608024"/>
                <a:gd name="connsiteY63" fmla="*/ 1050877 h 1951630"/>
                <a:gd name="connsiteX64" fmla="*/ 40943 w 9608024"/>
                <a:gd name="connsiteY64" fmla="*/ 1037230 h 1951630"/>
                <a:gd name="connsiteX65" fmla="*/ 27296 w 9608024"/>
                <a:gd name="connsiteY65" fmla="*/ 982639 h 1951630"/>
                <a:gd name="connsiteX66" fmla="*/ 0 w 9608024"/>
                <a:gd name="connsiteY66" fmla="*/ 887104 h 1951630"/>
                <a:gd name="connsiteX67" fmla="*/ 13648 w 9608024"/>
                <a:gd name="connsiteY67" fmla="*/ 232012 h 1951630"/>
                <a:gd name="connsiteX68" fmla="*/ 40943 w 9608024"/>
                <a:gd name="connsiteY68" fmla="*/ 163773 h 1951630"/>
                <a:gd name="connsiteX69" fmla="*/ 40943 w 9608024"/>
                <a:gd name="connsiteY69" fmla="*/ 150125 h 19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9608024" h="1951630">
                  <a:moveTo>
                    <a:pt x="40943" y="150125"/>
                  </a:moveTo>
                  <a:cubicBezTo>
                    <a:pt x="70513" y="147850"/>
                    <a:pt x="3539" y="150125"/>
                    <a:pt x="218364" y="150125"/>
                  </a:cubicBezTo>
                  <a:cubicBezTo>
                    <a:pt x="304920" y="150125"/>
                    <a:pt x="391176" y="160569"/>
                    <a:pt x="477672" y="163773"/>
                  </a:cubicBezTo>
                  <a:lnTo>
                    <a:pt x="955343" y="177421"/>
                  </a:lnTo>
                  <a:cubicBezTo>
                    <a:pt x="973540" y="186519"/>
                    <a:pt x="989610" y="203792"/>
                    <a:pt x="1009934" y="204716"/>
                  </a:cubicBezTo>
                  <a:cubicBezTo>
                    <a:pt x="1153080" y="211222"/>
                    <a:pt x="1218609" y="197232"/>
                    <a:pt x="1337481" y="177421"/>
                  </a:cubicBezTo>
                  <a:cubicBezTo>
                    <a:pt x="1437613" y="127354"/>
                    <a:pt x="1361382" y="157372"/>
                    <a:pt x="1528549" y="136477"/>
                  </a:cubicBezTo>
                  <a:cubicBezTo>
                    <a:pt x="1556007" y="133045"/>
                    <a:pt x="1582789" y="124006"/>
                    <a:pt x="1610436" y="122830"/>
                  </a:cubicBezTo>
                  <a:cubicBezTo>
                    <a:pt x="1796842" y="114898"/>
                    <a:pt x="1983475" y="113731"/>
                    <a:pt x="2169994" y="109182"/>
                  </a:cubicBezTo>
                  <a:cubicBezTo>
                    <a:pt x="2233684" y="104633"/>
                    <a:pt x="2297602" y="102585"/>
                    <a:pt x="2361063" y="95534"/>
                  </a:cubicBezTo>
                  <a:cubicBezTo>
                    <a:pt x="2379705" y="93463"/>
                    <a:pt x="2397152" y="84970"/>
                    <a:pt x="2415654" y="81886"/>
                  </a:cubicBezTo>
                  <a:cubicBezTo>
                    <a:pt x="2713089" y="32314"/>
                    <a:pt x="2384367" y="96333"/>
                    <a:pt x="2593075" y="54591"/>
                  </a:cubicBezTo>
                  <a:lnTo>
                    <a:pt x="4012442" y="81886"/>
                  </a:lnTo>
                  <a:lnTo>
                    <a:pt x="4476466" y="95534"/>
                  </a:lnTo>
                  <a:lnTo>
                    <a:pt x="5868537" y="109182"/>
                  </a:lnTo>
                  <a:lnTo>
                    <a:pt x="6564573" y="95534"/>
                  </a:lnTo>
                  <a:lnTo>
                    <a:pt x="7738281" y="81886"/>
                  </a:lnTo>
                  <a:cubicBezTo>
                    <a:pt x="7757033" y="81469"/>
                    <a:pt x="7774280" y="70718"/>
                    <a:pt x="7792872" y="68239"/>
                  </a:cubicBezTo>
                  <a:cubicBezTo>
                    <a:pt x="7842679" y="61598"/>
                    <a:pt x="7892955" y="59140"/>
                    <a:pt x="7942997" y="54591"/>
                  </a:cubicBezTo>
                  <a:cubicBezTo>
                    <a:pt x="7965743" y="50042"/>
                    <a:pt x="7988243" y="44009"/>
                    <a:pt x="8011236" y="40943"/>
                  </a:cubicBezTo>
                  <a:cubicBezTo>
                    <a:pt x="8056555" y="34900"/>
                    <a:pt x="8102526" y="34247"/>
                    <a:pt x="8147714" y="27295"/>
                  </a:cubicBezTo>
                  <a:cubicBezTo>
                    <a:pt x="8161933" y="25108"/>
                    <a:pt x="8174614" y="16769"/>
                    <a:pt x="8188657" y="13648"/>
                  </a:cubicBezTo>
                  <a:cubicBezTo>
                    <a:pt x="8215670" y="7645"/>
                    <a:pt x="8243248" y="4549"/>
                    <a:pt x="8270543" y="0"/>
                  </a:cubicBezTo>
                  <a:lnTo>
                    <a:pt x="9553433" y="13648"/>
                  </a:lnTo>
                  <a:cubicBezTo>
                    <a:pt x="9567806" y="14253"/>
                    <a:pt x="9566639" y="40212"/>
                    <a:pt x="9567081" y="54591"/>
                  </a:cubicBezTo>
                  <a:cubicBezTo>
                    <a:pt x="9575756" y="336548"/>
                    <a:pt x="9572672" y="618777"/>
                    <a:pt x="9580728" y="900752"/>
                  </a:cubicBezTo>
                  <a:cubicBezTo>
                    <a:pt x="9583139" y="985146"/>
                    <a:pt x="9587885" y="990461"/>
                    <a:pt x="9608024" y="1050877"/>
                  </a:cubicBezTo>
                  <a:cubicBezTo>
                    <a:pt x="9603475" y="1160059"/>
                    <a:pt x="9615013" y="1271113"/>
                    <a:pt x="9594376" y="1378424"/>
                  </a:cubicBezTo>
                  <a:cubicBezTo>
                    <a:pt x="9590534" y="1398403"/>
                    <a:pt x="9557449" y="1395625"/>
                    <a:pt x="9539785" y="1405719"/>
                  </a:cubicBezTo>
                  <a:cubicBezTo>
                    <a:pt x="9525544" y="1413857"/>
                    <a:pt x="9514200" y="1427256"/>
                    <a:pt x="9498842" y="1433015"/>
                  </a:cubicBezTo>
                  <a:cubicBezTo>
                    <a:pt x="9477122" y="1441160"/>
                    <a:pt x="9453285" y="1441802"/>
                    <a:pt x="9430603" y="1446662"/>
                  </a:cubicBezTo>
                  <a:cubicBezTo>
                    <a:pt x="9389592" y="1455450"/>
                    <a:pt x="9348974" y="1466110"/>
                    <a:pt x="9307773" y="1473958"/>
                  </a:cubicBezTo>
                  <a:cubicBezTo>
                    <a:pt x="9253406" y="1484314"/>
                    <a:pt x="9144000" y="1501253"/>
                    <a:pt x="9144000" y="1501253"/>
                  </a:cubicBezTo>
                  <a:cubicBezTo>
                    <a:pt x="9045450" y="1534104"/>
                    <a:pt x="9162609" y="1498390"/>
                    <a:pt x="8966579" y="1528549"/>
                  </a:cubicBezTo>
                  <a:cubicBezTo>
                    <a:pt x="8952360" y="1530737"/>
                    <a:pt x="8939951" y="1540766"/>
                    <a:pt x="8925636" y="1542197"/>
                  </a:cubicBezTo>
                  <a:cubicBezTo>
                    <a:pt x="8848549" y="1549906"/>
                    <a:pt x="8770888" y="1550192"/>
                    <a:pt x="8693624" y="1555845"/>
                  </a:cubicBezTo>
                  <a:cubicBezTo>
                    <a:pt x="8606122" y="1562248"/>
                    <a:pt x="8267259" y="1594244"/>
                    <a:pt x="8147714" y="1596788"/>
                  </a:cubicBezTo>
                  <a:lnTo>
                    <a:pt x="7083188" y="1610436"/>
                  </a:lnTo>
                  <a:cubicBezTo>
                    <a:pt x="7051343" y="1614985"/>
                    <a:pt x="7019108" y="1617343"/>
                    <a:pt x="6987654" y="1624083"/>
                  </a:cubicBezTo>
                  <a:cubicBezTo>
                    <a:pt x="6955270" y="1631022"/>
                    <a:pt x="6925094" y="1648288"/>
                    <a:pt x="6892119" y="1651379"/>
                  </a:cubicBezTo>
                  <a:cubicBezTo>
                    <a:pt x="6778794" y="1662003"/>
                    <a:pt x="6664605" y="1659343"/>
                    <a:pt x="6550925" y="1665027"/>
                  </a:cubicBezTo>
                  <a:cubicBezTo>
                    <a:pt x="6482620" y="1668442"/>
                    <a:pt x="6414448" y="1674125"/>
                    <a:pt x="6346209" y="1678674"/>
                  </a:cubicBezTo>
                  <a:cubicBezTo>
                    <a:pt x="6170494" y="1728879"/>
                    <a:pt x="6334056" y="1687894"/>
                    <a:pt x="6127845" y="1719618"/>
                  </a:cubicBezTo>
                  <a:cubicBezTo>
                    <a:pt x="6109306" y="1722470"/>
                    <a:pt x="6092008" y="1732955"/>
                    <a:pt x="6073254" y="1733265"/>
                  </a:cubicBezTo>
                  <a:lnTo>
                    <a:pt x="4476466" y="1746913"/>
                  </a:lnTo>
                  <a:lnTo>
                    <a:pt x="2497540" y="1760561"/>
                  </a:lnTo>
                  <a:cubicBezTo>
                    <a:pt x="2288846" y="1802301"/>
                    <a:pt x="2617536" y="1738288"/>
                    <a:pt x="2320119" y="1787856"/>
                  </a:cubicBezTo>
                  <a:cubicBezTo>
                    <a:pt x="2301617" y="1790940"/>
                    <a:pt x="2284157" y="1799312"/>
                    <a:pt x="2265528" y="1801504"/>
                  </a:cubicBezTo>
                  <a:cubicBezTo>
                    <a:pt x="2002530" y="1832446"/>
                    <a:pt x="2177955" y="1798623"/>
                    <a:pt x="1951630" y="1828800"/>
                  </a:cubicBezTo>
                  <a:cubicBezTo>
                    <a:pt x="1928637" y="1831866"/>
                    <a:pt x="1906304" y="1838830"/>
                    <a:pt x="1883391" y="1842448"/>
                  </a:cubicBezTo>
                  <a:cubicBezTo>
                    <a:pt x="1819842" y="1852482"/>
                    <a:pt x="1754737" y="1854139"/>
                    <a:pt x="1692322" y="1869743"/>
                  </a:cubicBezTo>
                  <a:cubicBezTo>
                    <a:pt x="1674125" y="1874292"/>
                    <a:pt x="1656233" y="1880307"/>
                    <a:pt x="1637731" y="1883391"/>
                  </a:cubicBezTo>
                  <a:cubicBezTo>
                    <a:pt x="1574270" y="1893968"/>
                    <a:pt x="1509750" y="1898069"/>
                    <a:pt x="1446663" y="1910686"/>
                  </a:cubicBezTo>
                  <a:cubicBezTo>
                    <a:pt x="1403565" y="1919306"/>
                    <a:pt x="1338944" y="1932993"/>
                    <a:pt x="1296537" y="1937982"/>
                  </a:cubicBezTo>
                  <a:cubicBezTo>
                    <a:pt x="1246633" y="1943853"/>
                    <a:pt x="1196454" y="1947081"/>
                    <a:pt x="1146412" y="1951630"/>
                  </a:cubicBezTo>
                  <a:lnTo>
                    <a:pt x="996287" y="1937982"/>
                  </a:lnTo>
                  <a:cubicBezTo>
                    <a:pt x="975539" y="1927608"/>
                    <a:pt x="988265" y="1892247"/>
                    <a:pt x="982639" y="1869743"/>
                  </a:cubicBezTo>
                  <a:cubicBezTo>
                    <a:pt x="979150" y="1855787"/>
                    <a:pt x="974155" y="1842227"/>
                    <a:pt x="968991" y="1828800"/>
                  </a:cubicBezTo>
                  <a:cubicBezTo>
                    <a:pt x="951402" y="1783069"/>
                    <a:pt x="914400" y="1692322"/>
                    <a:pt x="914400" y="1692322"/>
                  </a:cubicBezTo>
                  <a:cubicBezTo>
                    <a:pt x="909851" y="1665027"/>
                    <a:pt x="906755" y="1637449"/>
                    <a:pt x="900752" y="1610436"/>
                  </a:cubicBezTo>
                  <a:cubicBezTo>
                    <a:pt x="897631" y="1596392"/>
                    <a:pt x="889926" y="1583599"/>
                    <a:pt x="887105" y="1569492"/>
                  </a:cubicBezTo>
                  <a:cubicBezTo>
                    <a:pt x="876251" y="1515223"/>
                    <a:pt x="868908" y="1460310"/>
                    <a:pt x="859809" y="1405719"/>
                  </a:cubicBezTo>
                  <a:cubicBezTo>
                    <a:pt x="839120" y="826431"/>
                    <a:pt x="973160" y="1008725"/>
                    <a:pt x="232012" y="1037230"/>
                  </a:cubicBezTo>
                  <a:cubicBezTo>
                    <a:pt x="199868" y="1038466"/>
                    <a:pt x="168323" y="1046328"/>
                    <a:pt x="136478" y="1050877"/>
                  </a:cubicBezTo>
                  <a:cubicBezTo>
                    <a:pt x="104633" y="1046328"/>
                    <a:pt x="68222" y="1054279"/>
                    <a:pt x="40943" y="1037230"/>
                  </a:cubicBezTo>
                  <a:cubicBezTo>
                    <a:pt x="25037" y="1027289"/>
                    <a:pt x="32231" y="1000735"/>
                    <a:pt x="27296" y="982639"/>
                  </a:cubicBezTo>
                  <a:cubicBezTo>
                    <a:pt x="18582" y="950687"/>
                    <a:pt x="9099" y="918949"/>
                    <a:pt x="0" y="887104"/>
                  </a:cubicBezTo>
                  <a:cubicBezTo>
                    <a:pt x="4549" y="668740"/>
                    <a:pt x="1305" y="450074"/>
                    <a:pt x="13648" y="232012"/>
                  </a:cubicBezTo>
                  <a:cubicBezTo>
                    <a:pt x="15032" y="207553"/>
                    <a:pt x="28788" y="185044"/>
                    <a:pt x="40943" y="163773"/>
                  </a:cubicBezTo>
                  <a:cubicBezTo>
                    <a:pt x="47327" y="152601"/>
                    <a:pt x="11373" y="152400"/>
                    <a:pt x="40943" y="15012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581522" y="2060811"/>
            <a:ext cx="1522742" cy="689914"/>
            <a:chOff x="3581522" y="2060811"/>
            <a:chExt cx="1522742" cy="689914"/>
          </a:xfrm>
        </p:grpSpPr>
        <p:sp>
          <p:nvSpPr>
            <p:cNvPr id="3" name="Freeform 2"/>
            <p:cNvSpPr/>
            <p:nvPr/>
          </p:nvSpPr>
          <p:spPr>
            <a:xfrm>
              <a:off x="4503762" y="2060811"/>
              <a:ext cx="600502" cy="382137"/>
            </a:xfrm>
            <a:custGeom>
              <a:avLst/>
              <a:gdLst>
                <a:gd name="connsiteX0" fmla="*/ 327547 w 327547"/>
                <a:gd name="connsiteY0" fmla="*/ 0 h 218364"/>
                <a:gd name="connsiteX1" fmla="*/ 218365 w 327547"/>
                <a:gd name="connsiteY1" fmla="*/ 27295 h 218364"/>
                <a:gd name="connsiteX2" fmla="*/ 191069 w 327547"/>
                <a:gd name="connsiteY2" fmla="*/ 68239 h 218364"/>
                <a:gd name="connsiteX3" fmla="*/ 150126 w 327547"/>
                <a:gd name="connsiteY3" fmla="*/ 81887 h 218364"/>
                <a:gd name="connsiteX4" fmla="*/ 68239 w 327547"/>
                <a:gd name="connsiteY4" fmla="*/ 163773 h 218364"/>
                <a:gd name="connsiteX5" fmla="*/ 0 w 327547"/>
                <a:gd name="connsiteY5" fmla="*/ 218364 h 21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547" h="218364">
                  <a:moveTo>
                    <a:pt x="327547" y="0"/>
                  </a:moveTo>
                  <a:cubicBezTo>
                    <a:pt x="291153" y="9098"/>
                    <a:pt x="251919" y="10518"/>
                    <a:pt x="218365" y="27295"/>
                  </a:cubicBezTo>
                  <a:cubicBezTo>
                    <a:pt x="203694" y="34631"/>
                    <a:pt x="203877" y="57992"/>
                    <a:pt x="191069" y="68239"/>
                  </a:cubicBezTo>
                  <a:cubicBezTo>
                    <a:pt x="179836" y="77226"/>
                    <a:pt x="163774" y="77338"/>
                    <a:pt x="150126" y="81887"/>
                  </a:cubicBezTo>
                  <a:cubicBezTo>
                    <a:pt x="122830" y="109182"/>
                    <a:pt x="100357" y="142360"/>
                    <a:pt x="68239" y="163773"/>
                  </a:cubicBezTo>
                  <a:cubicBezTo>
                    <a:pt x="16590" y="198207"/>
                    <a:pt x="38895" y="179471"/>
                    <a:pt x="0" y="218364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581522" y="2442948"/>
              <a:ext cx="105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Bahnschrift SemiLight" pitchFamily="34" charset="0"/>
                </a:rPr>
                <a:t>spam filter</a:t>
              </a:r>
              <a:endParaRPr lang="en-IN" sz="1400" dirty="0">
                <a:latin typeface="Bahnschrift SemiLigh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727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687191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41246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466045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70037" y="1198877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 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026090" y="121724"/>
            <a:ext cx="2101755" cy="369332"/>
            <a:chOff x="4026090" y="121724"/>
            <a:chExt cx="2101755" cy="369332"/>
          </a:xfrm>
        </p:grpSpPr>
        <p:sp>
          <p:nvSpPr>
            <p:cNvPr id="13" name="Rectangle 12"/>
            <p:cNvSpPr/>
            <p:nvPr/>
          </p:nvSpPr>
          <p:spPr>
            <a:xfrm>
              <a:off x="4169221" y="121724"/>
              <a:ext cx="1680268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none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Bahnschrift Light" pitchFamily="34" charset="0"/>
                </a:rPr>
                <a:t>Synthetic Data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026090" y="482037"/>
              <a:ext cx="210175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/>
          <p:cNvSpPr/>
          <p:nvPr/>
        </p:nvSpPr>
        <p:spPr>
          <a:xfrm>
            <a:off x="1269242" y="770022"/>
            <a:ext cx="10085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Synthetic </a:t>
            </a:r>
            <a:r>
              <a:rPr lang="en-US" b="1" dirty="0"/>
              <a:t>data</a:t>
            </a:r>
            <a:r>
              <a:rPr lang="en-US" dirty="0"/>
              <a:t> is </a:t>
            </a:r>
            <a:r>
              <a:rPr lang="en-US" b="1" dirty="0"/>
              <a:t>artificially generated data</a:t>
            </a:r>
            <a:r>
              <a:rPr lang="en-US" dirty="0"/>
              <a:t> that is not derived from real-world events or observations.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9242" y="1183103"/>
            <a:ext cx="108090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But, </a:t>
            </a:r>
            <a:r>
              <a:rPr lang="en-US" dirty="0"/>
              <a:t>it is created using </a:t>
            </a:r>
            <a:r>
              <a:rPr lang="en-US" b="1" dirty="0"/>
              <a:t>algorithms</a:t>
            </a:r>
            <a:r>
              <a:rPr lang="en-US" dirty="0"/>
              <a:t>, </a:t>
            </a:r>
            <a:r>
              <a:rPr lang="en-US" b="1" dirty="0"/>
              <a:t>statistical models</a:t>
            </a:r>
            <a:r>
              <a:rPr lang="en-US" dirty="0"/>
              <a:t>, and often </a:t>
            </a:r>
            <a:r>
              <a:rPr lang="en-US" b="1" dirty="0"/>
              <a:t>generative Artificial Intelligence (AI)</a:t>
            </a:r>
            <a:r>
              <a:rPr lang="en-US" dirty="0"/>
              <a:t> technologies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53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23370</TotalTime>
  <Words>123</Words>
  <Application>Microsoft Office PowerPoint</Application>
  <PresentationFormat>Custom</PresentationFormat>
  <Paragraphs>17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1083</cp:revision>
  <dcterms:created xsi:type="dcterms:W3CDTF">2024-01-26T15:11:46Z</dcterms:created>
  <dcterms:modified xsi:type="dcterms:W3CDTF">2025-10-30T19:38:58Z</dcterms:modified>
</cp:coreProperties>
</file>