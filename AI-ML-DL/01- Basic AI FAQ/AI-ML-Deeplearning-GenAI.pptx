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5" r:id="rId3"/>
    <p:sldId id="257" r:id="rId4"/>
    <p:sldId id="288" r:id="rId5"/>
    <p:sldId id="269" r:id="rId6"/>
    <p:sldId id="282" r:id="rId7"/>
    <p:sldId id="289" r:id="rId8"/>
    <p:sldId id="292" r:id="rId9"/>
    <p:sldId id="291" r:id="rId10"/>
    <p:sldId id="278" r:id="rId11"/>
    <p:sldId id="279" r:id="rId12"/>
    <p:sldId id="280" r:id="rId13"/>
    <p:sldId id="281" r:id="rId14"/>
    <p:sldId id="2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56"/>
            <p14:sldId id="285"/>
          </p14:sldIdLst>
        </p14:section>
        <p14:section name="AI-Artificial Intelligence" id="{743B12C9-2E08-4516-A432-32A8EAA147F3}">
          <p14:sldIdLst>
            <p14:sldId id="257"/>
            <p14:sldId id="288"/>
          </p14:sldIdLst>
        </p14:section>
        <p14:section name="ML-Mahine Learning" id="{4110F6E3-A365-487D-BC30-9DA71FAD5545}">
          <p14:sldIdLst>
            <p14:sldId id="269"/>
            <p14:sldId id="282"/>
          </p14:sldIdLst>
        </p14:section>
        <p14:section name="DL - Deep Learning" id="{72749BCA-4D15-465F-8B3F-0BE4A209DF39}">
          <p14:sldIdLst>
            <p14:sldId id="289"/>
            <p14:sldId id="292"/>
            <p14:sldId id="291"/>
            <p14:sldId id="278"/>
            <p14:sldId id="279"/>
          </p14:sldIdLst>
        </p14:section>
        <p14:section name="What is model in machine learning" id="{8AB6331A-B34F-411A-9078-7C209AEA27FD}">
          <p14:sldIdLst>
            <p14:sldId id="280"/>
            <p14:sldId id="281"/>
            <p14:sldId id="290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C055"/>
    <a:srgbClr val="FF0066"/>
    <a:srgbClr val="00CC99"/>
    <a:srgbClr val="CC3300"/>
    <a:srgbClr val="15C2FF"/>
    <a:srgbClr val="00D05E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7" autoAdjust="0"/>
    <p:restoredTop sz="86073" autoAdjust="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18-09-2025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062678" y="260137"/>
            <a:ext cx="9903831" cy="177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000" b="1" dirty="0" smtClean="0">
                <a:solidFill>
                  <a:schemeClr val="tx1"/>
                </a:solidFill>
              </a:rPr>
              <a:t>AI ML DeepLearning GenAI</a:t>
            </a:r>
          </a:p>
          <a:p>
            <a:endParaRPr lang="it-IT" sz="4000" b="1" dirty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July 2025</a:t>
            </a:r>
            <a:endParaRPr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566" y="3429000"/>
            <a:ext cx="4287056" cy="16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596" y="2790850"/>
            <a:ext cx="2773879" cy="229879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674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27845" y="-1"/>
            <a:ext cx="27296" cy="685800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14902" y="414642"/>
            <a:ext cx="230370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AI- Artificial Intelligence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14902" y="803674"/>
            <a:ext cx="21563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ML- Machine learning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19147" y="1189996"/>
            <a:ext cx="1915909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DL- Deep Learning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14902" y="1995661"/>
            <a:ext cx="277351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Context Window                   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14899" y="1575221"/>
            <a:ext cx="331853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What is model in machine learning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14902" y="2334651"/>
            <a:ext cx="2257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AI-Artificial Intelligence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1756" y="3429000"/>
            <a:ext cx="2257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AI-Artificial Intelligence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14902" y="3090445"/>
            <a:ext cx="2257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AI-Artificial Intelligence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14902" y="2685238"/>
            <a:ext cx="2257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AI-Artificial Intelligence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4" name="Trapezoid 33"/>
          <p:cNvSpPr/>
          <p:nvPr/>
        </p:nvSpPr>
        <p:spPr>
          <a:xfrm>
            <a:off x="1337481" y="42717"/>
            <a:ext cx="1705969" cy="1146412"/>
          </a:xfrm>
          <a:prstGeom prst="trapezoid">
            <a:avLst/>
          </a:prstGeom>
          <a:solidFill>
            <a:srgbClr val="00206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AI</a:t>
            </a:r>
          </a:p>
          <a:p>
            <a:pPr algn="ctr"/>
            <a:r>
              <a:rPr lang="en-US" sz="1600" dirty="0" smtClean="0"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Artificial </a:t>
            </a:r>
            <a:r>
              <a:rPr lang="en-US" sz="1600" dirty="0"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Intelligence</a:t>
            </a:r>
            <a:endParaRPr lang="en-IN" sz="1600" dirty="0">
              <a:latin typeface="Bahnschrif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49296" y="1374591"/>
            <a:ext cx="501214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1600" dirty="0"/>
              <a:t>Artificial Intelligence is about making machines intelligent.</a:t>
            </a:r>
            <a:endParaRPr lang="en-IN" sz="1600" dirty="0"/>
          </a:p>
        </p:txBody>
      </p:sp>
      <p:sp>
        <p:nvSpPr>
          <p:cNvPr id="36" name="Rectangle 35"/>
          <p:cNvSpPr/>
          <p:nvPr/>
        </p:nvSpPr>
        <p:spPr>
          <a:xfrm>
            <a:off x="2349296" y="1750255"/>
            <a:ext cx="51842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it means making think like human.</a:t>
            </a:r>
            <a:endParaRPr lang="en-IN" sz="1600" dirty="0"/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522" y="98855"/>
            <a:ext cx="2337478" cy="19371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Group 40"/>
          <p:cNvGrpSpPr/>
          <p:nvPr/>
        </p:nvGrpSpPr>
        <p:grpSpPr>
          <a:xfrm>
            <a:off x="5337828" y="3616657"/>
            <a:ext cx="1938338" cy="677108"/>
            <a:chOff x="5337828" y="3616657"/>
            <a:chExt cx="1938338" cy="677108"/>
          </a:xfrm>
        </p:grpSpPr>
        <p:sp>
          <p:nvSpPr>
            <p:cNvPr id="37" name="TextBox 36"/>
            <p:cNvSpPr txBox="1"/>
            <p:nvPr/>
          </p:nvSpPr>
          <p:spPr>
            <a:xfrm>
              <a:off x="5868537" y="3616657"/>
              <a:ext cx="1407629" cy="33855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Chatbot</a:t>
              </a:r>
              <a:endParaRPr lang="en-IN"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68537" y="3955211"/>
              <a:ext cx="1407629" cy="33855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Self driving car</a:t>
              </a:r>
              <a:endParaRPr lang="en-IN" sz="16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37828" y="3785934"/>
              <a:ext cx="4882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e.g.</a:t>
              </a:r>
              <a:endParaRPr lang="en-IN" sz="1600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349296" y="4887625"/>
            <a:ext cx="8536105" cy="126188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Bahnschrift Light" pitchFamily="34" charset="0"/>
              </a:rPr>
              <a:t>AI- Build </a:t>
            </a:r>
            <a:r>
              <a:rPr lang="en-US" sz="1600" dirty="0">
                <a:latin typeface="Bahnschrift Light" pitchFamily="34" charset="0"/>
              </a:rPr>
              <a:t>Application that do require human intervention</a:t>
            </a:r>
          </a:p>
          <a:p>
            <a:endParaRPr lang="en-US" sz="1600" dirty="0">
              <a:latin typeface="Bahnschrift Light" pitchFamily="34" charset="0"/>
            </a:endParaRPr>
          </a:p>
          <a:p>
            <a:r>
              <a:rPr lang="en-US" sz="1600" dirty="0">
                <a:latin typeface="Bahnschrift Light" pitchFamily="34" charset="0"/>
              </a:rPr>
              <a:t>Example -</a:t>
            </a:r>
            <a:endParaRPr lang="en-US" sz="1400" dirty="0">
              <a:latin typeface="Bahnschrift Light" pitchFamily="34" charset="0"/>
            </a:endParaRPr>
          </a:p>
          <a:p>
            <a:r>
              <a:rPr lang="en-US" sz="1400" dirty="0">
                <a:latin typeface="Bahnschrift" pitchFamily="34" charset="0"/>
              </a:rPr>
              <a:t>Self Driving Card</a:t>
            </a:r>
          </a:p>
          <a:p>
            <a:r>
              <a:rPr lang="en-US" sz="1400" dirty="0">
                <a:latin typeface="Bahnschrift" pitchFamily="34" charset="0"/>
              </a:rPr>
              <a:t>Human Robot </a:t>
            </a:r>
            <a:endParaRPr lang="en-IN" sz="1400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18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798514" y="1481751"/>
            <a:ext cx="4656877" cy="1190220"/>
            <a:chOff x="1798514" y="1481751"/>
            <a:chExt cx="7345486" cy="1190220"/>
          </a:xfrm>
        </p:grpSpPr>
        <p:sp>
          <p:nvSpPr>
            <p:cNvPr id="3" name="Rectangle 2"/>
            <p:cNvSpPr/>
            <p:nvPr/>
          </p:nvSpPr>
          <p:spPr>
            <a:xfrm>
              <a:off x="3048000" y="148175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IN" dirty="0">
                  <a:latin typeface="Bahnschrift Light" pitchFamily="34" charset="0"/>
                </a:rPr>
                <a:t>AI </a:t>
              </a:r>
              <a:r>
                <a:rPr lang="en-IN" dirty="0" smtClean="0">
                  <a:latin typeface="Bahnschrift Light" pitchFamily="34" charset="0"/>
                </a:rPr>
                <a:t>Engineer</a:t>
              </a:r>
              <a:endParaRPr lang="en-IN" dirty="0">
                <a:latin typeface="Bahnschrift Light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048000" y="2302639"/>
              <a:ext cx="12715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>
                  <a:latin typeface="Bahnschrift Light" pitchFamily="34" charset="0"/>
                </a:rPr>
                <a:t>AI Product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1798514" y="1621977"/>
              <a:ext cx="1285882" cy="957450"/>
            </a:xfrm>
            <a:custGeom>
              <a:avLst/>
              <a:gdLst>
                <a:gd name="connsiteX0" fmla="*/ 1285880 w 1285882"/>
                <a:gd name="connsiteY0" fmla="*/ 43050 h 957450"/>
                <a:gd name="connsiteX1" fmla="*/ 235002 w 1285882"/>
                <a:gd name="connsiteY1" fmla="*/ 43050 h 957450"/>
                <a:gd name="connsiteX2" fmla="*/ 153116 w 1285882"/>
                <a:gd name="connsiteY2" fmla="*/ 70345 h 957450"/>
                <a:gd name="connsiteX3" fmla="*/ 112173 w 1285882"/>
                <a:gd name="connsiteY3" fmla="*/ 111289 h 957450"/>
                <a:gd name="connsiteX4" fmla="*/ 84877 w 1285882"/>
                <a:gd name="connsiteY4" fmla="*/ 152232 h 957450"/>
                <a:gd name="connsiteX5" fmla="*/ 43934 w 1285882"/>
                <a:gd name="connsiteY5" fmla="*/ 165880 h 957450"/>
                <a:gd name="connsiteX6" fmla="*/ 16638 w 1285882"/>
                <a:gd name="connsiteY6" fmla="*/ 206823 h 957450"/>
                <a:gd name="connsiteX7" fmla="*/ 16638 w 1285882"/>
                <a:gd name="connsiteY7" fmla="*/ 479778 h 957450"/>
                <a:gd name="connsiteX8" fmla="*/ 98525 w 1285882"/>
                <a:gd name="connsiteY8" fmla="*/ 561665 h 957450"/>
                <a:gd name="connsiteX9" fmla="*/ 139468 w 1285882"/>
                <a:gd name="connsiteY9" fmla="*/ 602608 h 957450"/>
                <a:gd name="connsiteX10" fmla="*/ 194059 w 1285882"/>
                <a:gd name="connsiteY10" fmla="*/ 643551 h 957450"/>
                <a:gd name="connsiteX11" fmla="*/ 235002 w 1285882"/>
                <a:gd name="connsiteY11" fmla="*/ 684495 h 957450"/>
                <a:gd name="connsiteX12" fmla="*/ 330537 w 1285882"/>
                <a:gd name="connsiteY12" fmla="*/ 739086 h 957450"/>
                <a:gd name="connsiteX13" fmla="*/ 412423 w 1285882"/>
                <a:gd name="connsiteY13" fmla="*/ 780029 h 957450"/>
                <a:gd name="connsiteX14" fmla="*/ 453367 w 1285882"/>
                <a:gd name="connsiteY14" fmla="*/ 820972 h 957450"/>
                <a:gd name="connsiteX15" fmla="*/ 494310 w 1285882"/>
                <a:gd name="connsiteY15" fmla="*/ 834620 h 957450"/>
                <a:gd name="connsiteX16" fmla="*/ 603492 w 1285882"/>
                <a:gd name="connsiteY16" fmla="*/ 861916 h 957450"/>
                <a:gd name="connsiteX17" fmla="*/ 671731 w 1285882"/>
                <a:gd name="connsiteY17" fmla="*/ 875563 h 957450"/>
                <a:gd name="connsiteX18" fmla="*/ 753617 w 1285882"/>
                <a:gd name="connsiteY18" fmla="*/ 902859 h 957450"/>
                <a:gd name="connsiteX19" fmla="*/ 794561 w 1285882"/>
                <a:gd name="connsiteY19" fmla="*/ 916507 h 957450"/>
                <a:gd name="connsiteX20" fmla="*/ 944686 w 1285882"/>
                <a:gd name="connsiteY20" fmla="*/ 930154 h 957450"/>
                <a:gd name="connsiteX21" fmla="*/ 1285880 w 1285882"/>
                <a:gd name="connsiteY21" fmla="*/ 957450 h 95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5882" h="957450">
                  <a:moveTo>
                    <a:pt x="1285880" y="43050"/>
                  </a:moveTo>
                  <a:cubicBezTo>
                    <a:pt x="903764" y="-33374"/>
                    <a:pt x="1137191" y="8351"/>
                    <a:pt x="235002" y="43050"/>
                  </a:cubicBezTo>
                  <a:cubicBezTo>
                    <a:pt x="206251" y="44156"/>
                    <a:pt x="153116" y="70345"/>
                    <a:pt x="153116" y="70345"/>
                  </a:cubicBezTo>
                  <a:cubicBezTo>
                    <a:pt x="139468" y="83993"/>
                    <a:pt x="124529" y="96462"/>
                    <a:pt x="112173" y="111289"/>
                  </a:cubicBezTo>
                  <a:cubicBezTo>
                    <a:pt x="101672" y="123890"/>
                    <a:pt x="97685" y="141985"/>
                    <a:pt x="84877" y="152232"/>
                  </a:cubicBezTo>
                  <a:cubicBezTo>
                    <a:pt x="73643" y="161219"/>
                    <a:pt x="57582" y="161331"/>
                    <a:pt x="43934" y="165880"/>
                  </a:cubicBezTo>
                  <a:cubicBezTo>
                    <a:pt x="34835" y="179528"/>
                    <a:pt x="23099" y="191747"/>
                    <a:pt x="16638" y="206823"/>
                  </a:cubicBezTo>
                  <a:cubicBezTo>
                    <a:pt x="-16474" y="284082"/>
                    <a:pt x="8723" y="429651"/>
                    <a:pt x="16638" y="479778"/>
                  </a:cubicBezTo>
                  <a:cubicBezTo>
                    <a:pt x="22279" y="515504"/>
                    <a:pt x="78338" y="544362"/>
                    <a:pt x="98525" y="561665"/>
                  </a:cubicBezTo>
                  <a:cubicBezTo>
                    <a:pt x="113179" y="574226"/>
                    <a:pt x="124814" y="590047"/>
                    <a:pt x="139468" y="602608"/>
                  </a:cubicBezTo>
                  <a:cubicBezTo>
                    <a:pt x="156738" y="617411"/>
                    <a:pt x="176789" y="628748"/>
                    <a:pt x="194059" y="643551"/>
                  </a:cubicBezTo>
                  <a:cubicBezTo>
                    <a:pt x="208713" y="656112"/>
                    <a:pt x="220175" y="672139"/>
                    <a:pt x="235002" y="684495"/>
                  </a:cubicBezTo>
                  <a:cubicBezTo>
                    <a:pt x="271269" y="714717"/>
                    <a:pt x="288073" y="714821"/>
                    <a:pt x="330537" y="739086"/>
                  </a:cubicBezTo>
                  <a:cubicBezTo>
                    <a:pt x="404613" y="781416"/>
                    <a:pt x="337358" y="755007"/>
                    <a:pt x="412423" y="780029"/>
                  </a:cubicBezTo>
                  <a:cubicBezTo>
                    <a:pt x="426071" y="793677"/>
                    <a:pt x="437308" y="810266"/>
                    <a:pt x="453367" y="820972"/>
                  </a:cubicBezTo>
                  <a:cubicBezTo>
                    <a:pt x="465337" y="828952"/>
                    <a:pt x="480431" y="830835"/>
                    <a:pt x="494310" y="834620"/>
                  </a:cubicBezTo>
                  <a:cubicBezTo>
                    <a:pt x="530502" y="844491"/>
                    <a:pt x="566706" y="854559"/>
                    <a:pt x="603492" y="861916"/>
                  </a:cubicBezTo>
                  <a:cubicBezTo>
                    <a:pt x="626238" y="866465"/>
                    <a:pt x="649352" y="869460"/>
                    <a:pt x="671731" y="875563"/>
                  </a:cubicBezTo>
                  <a:cubicBezTo>
                    <a:pt x="699489" y="883133"/>
                    <a:pt x="726322" y="893760"/>
                    <a:pt x="753617" y="902859"/>
                  </a:cubicBezTo>
                  <a:cubicBezTo>
                    <a:pt x="767265" y="907408"/>
                    <a:pt x="780234" y="915205"/>
                    <a:pt x="794561" y="916507"/>
                  </a:cubicBezTo>
                  <a:cubicBezTo>
                    <a:pt x="844603" y="921056"/>
                    <a:pt x="894515" y="927367"/>
                    <a:pt x="944686" y="930154"/>
                  </a:cubicBezTo>
                  <a:cubicBezTo>
                    <a:pt x="1290426" y="949361"/>
                    <a:pt x="1285880" y="829765"/>
                    <a:pt x="1285880" y="957450"/>
                  </a:cubicBezTo>
                </a:path>
              </a:pathLst>
            </a:cu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latin typeface="Bahnschrift 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471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522" y="98855"/>
            <a:ext cx="2337478" cy="19371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ound Single Corner Rectangle 2"/>
          <p:cNvSpPr/>
          <p:nvPr/>
        </p:nvSpPr>
        <p:spPr>
          <a:xfrm>
            <a:off x="1269240" y="168060"/>
            <a:ext cx="2483893" cy="457200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Bahnschrift" pitchFamily="34" charset="0"/>
              </a:rPr>
              <a:t>ML –Machine Learning</a:t>
            </a:r>
            <a:endParaRPr lang="en-IN" sz="1600" dirty="0">
              <a:latin typeface="Bahnschrift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46996" y="785692"/>
            <a:ext cx="76518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Machine </a:t>
            </a:r>
            <a:r>
              <a:rPr lang="en-US" sz="1600" dirty="0" smtClean="0"/>
              <a:t>Learning </a:t>
            </a:r>
            <a:r>
              <a:rPr lang="en-US" sz="1600" dirty="0"/>
              <a:t>is just a part of AI.it is a subset of AI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we </a:t>
            </a:r>
            <a:r>
              <a:rPr lang="en-US" sz="1600" dirty="0"/>
              <a:t>can say it is a way to achieve AI</a:t>
            </a:r>
            <a:endParaRPr lang="en-IN" sz="16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1269241" y="2092358"/>
            <a:ext cx="10249470" cy="338554"/>
            <a:chOff x="1897036" y="2071081"/>
            <a:chExt cx="9739953" cy="338554"/>
          </a:xfrm>
        </p:grpSpPr>
        <p:sp>
          <p:nvSpPr>
            <p:cNvPr id="13" name="Rectangle 12"/>
            <p:cNvSpPr/>
            <p:nvPr/>
          </p:nvSpPr>
          <p:spPr>
            <a:xfrm>
              <a:off x="1897036" y="2071081"/>
              <a:ext cx="9739953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dirty="0"/>
                <a:t>to make machine think like </a:t>
              </a:r>
              <a:r>
                <a:rPr lang="en-US" sz="1600" dirty="0" smtClean="0"/>
                <a:t>human, we </a:t>
              </a:r>
              <a:r>
                <a:rPr lang="en-US" sz="1600" dirty="0"/>
                <a:t>need to make them learn from data whatever we </a:t>
              </a:r>
              <a:r>
                <a:rPr lang="en-US" sz="1600" dirty="0" smtClean="0"/>
                <a:t> have without explicit any coding</a:t>
              </a:r>
              <a:endParaRPr lang="en-IN" sz="1600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897036" y="2071081"/>
              <a:ext cx="0" cy="338554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283308" y="2461923"/>
            <a:ext cx="10235402" cy="338554"/>
            <a:chOff x="1283308" y="2461923"/>
            <a:chExt cx="10235402" cy="338554"/>
          </a:xfrm>
        </p:grpSpPr>
        <p:sp>
          <p:nvSpPr>
            <p:cNvPr id="20" name="Rectangle 19"/>
            <p:cNvSpPr/>
            <p:nvPr/>
          </p:nvSpPr>
          <p:spPr>
            <a:xfrm>
              <a:off x="1283308" y="2461923"/>
              <a:ext cx="1023540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dirty="0"/>
                <a:t>so the process of making </a:t>
              </a:r>
              <a:r>
                <a:rPr lang="en-US" sz="1600" dirty="0" smtClean="0"/>
                <a:t>machines </a:t>
              </a:r>
              <a:r>
                <a:rPr lang="en-US" sz="1600" dirty="0"/>
                <a:t>to learn from data whatever we have is called machine Learning</a:t>
              </a:r>
              <a:endParaRPr lang="en-IN" sz="1600" dirty="0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283308" y="2461923"/>
              <a:ext cx="0" cy="33855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316521" y="4240620"/>
            <a:ext cx="2809018" cy="749180"/>
            <a:chOff x="4316521" y="4240620"/>
            <a:chExt cx="2809018" cy="749180"/>
          </a:xfrm>
        </p:grpSpPr>
        <p:sp>
          <p:nvSpPr>
            <p:cNvPr id="24" name="Rectangle 23"/>
            <p:cNvSpPr/>
            <p:nvPr/>
          </p:nvSpPr>
          <p:spPr>
            <a:xfrm>
              <a:off x="4909291" y="4240620"/>
              <a:ext cx="2216248" cy="33855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IN" sz="1600" dirty="0"/>
                <a:t>Netflix recommendation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909291" y="4651246"/>
              <a:ext cx="2216248" cy="33855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600" dirty="0"/>
                <a:t>Spam Email filtering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16521" y="4489748"/>
              <a:ext cx="4882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e.g.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579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3893" y="405576"/>
            <a:ext cx="0" cy="4979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2852368" y="750603"/>
            <a:ext cx="6100564" cy="3225922"/>
            <a:chOff x="5186135" y="387744"/>
            <a:chExt cx="6100564" cy="3225922"/>
          </a:xfrm>
        </p:grpSpPr>
        <p:sp>
          <p:nvSpPr>
            <p:cNvPr id="11" name="Rectangle 10"/>
            <p:cNvSpPr/>
            <p:nvPr/>
          </p:nvSpPr>
          <p:spPr>
            <a:xfrm>
              <a:off x="7743859" y="750603"/>
              <a:ext cx="10039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smtClean="0"/>
                <a:t>- pattern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43859" y="1119935"/>
              <a:ext cx="15031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smtClean="0"/>
                <a:t>- classification</a:t>
              </a:r>
              <a:endParaRPr lang="en-IN" dirty="0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5186135" y="387744"/>
              <a:ext cx="6100564" cy="3225922"/>
              <a:chOff x="5186135" y="387744"/>
              <a:chExt cx="6100564" cy="3225922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186135" y="565937"/>
                <a:ext cx="19543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smtClean="0">
                    <a:latin typeface="Bahnschrift Light" pitchFamily="34" charset="0"/>
                  </a:rPr>
                  <a:t>Machine </a:t>
                </a:r>
                <a:r>
                  <a:rPr lang="en-IN" dirty="0">
                    <a:latin typeface="Bahnschrift Light" pitchFamily="34" charset="0"/>
                  </a:rPr>
                  <a:t>learning</a:t>
                </a: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7743859" y="1565217"/>
                <a:ext cx="3324500" cy="369332"/>
                <a:chOff x="7743859" y="1621977"/>
                <a:chExt cx="3324500" cy="369332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7743859" y="1621977"/>
                  <a:ext cx="205402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dirty="0" smtClean="0"/>
                    <a:t>- prediction(raining</a:t>
                  </a:r>
                  <a:r>
                    <a:rPr lang="en-IN" dirty="0"/>
                    <a:t>)</a:t>
                  </a: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9812310" y="1621977"/>
                  <a:ext cx="12560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dirty="0" smtClean="0"/>
                    <a:t>forecasting</a:t>
                  </a:r>
                  <a:endParaRPr lang="en-IN" dirty="0"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 flipH="1">
                  <a:off x="9753132" y="1621977"/>
                  <a:ext cx="114199" cy="36933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/>
            </p:nvGrpSpPr>
            <p:grpSpPr>
              <a:xfrm>
                <a:off x="7364355" y="387744"/>
                <a:ext cx="3922344" cy="2935907"/>
                <a:chOff x="7364355" y="387744"/>
                <a:chExt cx="3922344" cy="2935907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7562142" y="2954319"/>
                  <a:ext cx="19194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dirty="0" smtClean="0"/>
                    <a:t>statistical Analysis </a:t>
                  </a:r>
                  <a:endParaRPr lang="en-IN" dirty="0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7364355" y="387744"/>
                  <a:ext cx="3922344" cy="2192965"/>
                </a:xfrm>
                <a:custGeom>
                  <a:avLst/>
                  <a:gdLst>
                    <a:gd name="connsiteX0" fmla="*/ 87323 w 3922344"/>
                    <a:gd name="connsiteY0" fmla="*/ 1400113 h 2192965"/>
                    <a:gd name="connsiteX1" fmla="*/ 251096 w 3922344"/>
                    <a:gd name="connsiteY1" fmla="*/ 1577534 h 2192965"/>
                    <a:gd name="connsiteX2" fmla="*/ 360278 w 3922344"/>
                    <a:gd name="connsiteY2" fmla="*/ 1659420 h 2192965"/>
                    <a:gd name="connsiteX3" fmla="*/ 442164 w 3922344"/>
                    <a:gd name="connsiteY3" fmla="*/ 1714011 h 2192965"/>
                    <a:gd name="connsiteX4" fmla="*/ 605938 w 3922344"/>
                    <a:gd name="connsiteY4" fmla="*/ 1823193 h 2192965"/>
                    <a:gd name="connsiteX5" fmla="*/ 674176 w 3922344"/>
                    <a:gd name="connsiteY5" fmla="*/ 1850489 h 2192965"/>
                    <a:gd name="connsiteX6" fmla="*/ 728767 w 3922344"/>
                    <a:gd name="connsiteY6" fmla="*/ 1891432 h 2192965"/>
                    <a:gd name="connsiteX7" fmla="*/ 810654 w 3922344"/>
                    <a:gd name="connsiteY7" fmla="*/ 1918728 h 2192965"/>
                    <a:gd name="connsiteX8" fmla="*/ 974427 w 3922344"/>
                    <a:gd name="connsiteY8" fmla="*/ 1986966 h 2192965"/>
                    <a:gd name="connsiteX9" fmla="*/ 1083609 w 3922344"/>
                    <a:gd name="connsiteY9" fmla="*/ 2014262 h 2192965"/>
                    <a:gd name="connsiteX10" fmla="*/ 1179144 w 3922344"/>
                    <a:gd name="connsiteY10" fmla="*/ 2055205 h 2192965"/>
                    <a:gd name="connsiteX11" fmla="*/ 1247382 w 3922344"/>
                    <a:gd name="connsiteY11" fmla="*/ 2068853 h 2192965"/>
                    <a:gd name="connsiteX12" fmla="*/ 1547633 w 3922344"/>
                    <a:gd name="connsiteY12" fmla="*/ 2109796 h 2192965"/>
                    <a:gd name="connsiteX13" fmla="*/ 2025305 w 3922344"/>
                    <a:gd name="connsiteY13" fmla="*/ 2137092 h 2192965"/>
                    <a:gd name="connsiteX14" fmla="*/ 2939705 w 3922344"/>
                    <a:gd name="connsiteY14" fmla="*/ 2150740 h 2192965"/>
                    <a:gd name="connsiteX15" fmla="*/ 3035239 w 3922344"/>
                    <a:gd name="connsiteY15" fmla="*/ 2109796 h 2192965"/>
                    <a:gd name="connsiteX16" fmla="*/ 3144421 w 3922344"/>
                    <a:gd name="connsiteY16" fmla="*/ 2096149 h 2192965"/>
                    <a:gd name="connsiteX17" fmla="*/ 3199012 w 3922344"/>
                    <a:gd name="connsiteY17" fmla="*/ 2068853 h 2192965"/>
                    <a:gd name="connsiteX18" fmla="*/ 3280899 w 3922344"/>
                    <a:gd name="connsiteY18" fmla="*/ 2041557 h 2192965"/>
                    <a:gd name="connsiteX19" fmla="*/ 3349138 w 3922344"/>
                    <a:gd name="connsiteY19" fmla="*/ 2014262 h 2192965"/>
                    <a:gd name="connsiteX20" fmla="*/ 3431024 w 3922344"/>
                    <a:gd name="connsiteY20" fmla="*/ 1946023 h 2192965"/>
                    <a:gd name="connsiteX21" fmla="*/ 3540206 w 3922344"/>
                    <a:gd name="connsiteY21" fmla="*/ 1864137 h 2192965"/>
                    <a:gd name="connsiteX22" fmla="*/ 3581149 w 3922344"/>
                    <a:gd name="connsiteY22" fmla="*/ 1823193 h 2192965"/>
                    <a:gd name="connsiteX23" fmla="*/ 3690332 w 3922344"/>
                    <a:gd name="connsiteY23" fmla="*/ 1741307 h 2192965"/>
                    <a:gd name="connsiteX24" fmla="*/ 3717627 w 3922344"/>
                    <a:gd name="connsiteY24" fmla="*/ 1700363 h 2192965"/>
                    <a:gd name="connsiteX25" fmla="*/ 3758570 w 3922344"/>
                    <a:gd name="connsiteY25" fmla="*/ 1659420 h 2192965"/>
                    <a:gd name="connsiteX26" fmla="*/ 3785866 w 3922344"/>
                    <a:gd name="connsiteY26" fmla="*/ 1604829 h 2192965"/>
                    <a:gd name="connsiteX27" fmla="*/ 3840457 w 3922344"/>
                    <a:gd name="connsiteY27" fmla="*/ 1522943 h 2192965"/>
                    <a:gd name="connsiteX28" fmla="*/ 3867752 w 3922344"/>
                    <a:gd name="connsiteY28" fmla="*/ 1413760 h 2192965"/>
                    <a:gd name="connsiteX29" fmla="*/ 3895048 w 3922344"/>
                    <a:gd name="connsiteY29" fmla="*/ 1359169 h 2192965"/>
                    <a:gd name="connsiteX30" fmla="*/ 3922344 w 3922344"/>
                    <a:gd name="connsiteY30" fmla="*/ 1249987 h 2192965"/>
                    <a:gd name="connsiteX31" fmla="*/ 3908696 w 3922344"/>
                    <a:gd name="connsiteY31" fmla="*/ 977032 h 2192965"/>
                    <a:gd name="connsiteX32" fmla="*/ 3840457 w 3922344"/>
                    <a:gd name="connsiteY32" fmla="*/ 840555 h 2192965"/>
                    <a:gd name="connsiteX33" fmla="*/ 3813161 w 3922344"/>
                    <a:gd name="connsiteY33" fmla="*/ 785963 h 2192965"/>
                    <a:gd name="connsiteX34" fmla="*/ 3772218 w 3922344"/>
                    <a:gd name="connsiteY34" fmla="*/ 745020 h 2192965"/>
                    <a:gd name="connsiteX35" fmla="*/ 3703979 w 3922344"/>
                    <a:gd name="connsiteY35" fmla="*/ 635838 h 2192965"/>
                    <a:gd name="connsiteX36" fmla="*/ 3622093 w 3922344"/>
                    <a:gd name="connsiteY36" fmla="*/ 540304 h 2192965"/>
                    <a:gd name="connsiteX37" fmla="*/ 3581149 w 3922344"/>
                    <a:gd name="connsiteY37" fmla="*/ 458417 h 2192965"/>
                    <a:gd name="connsiteX38" fmla="*/ 3540206 w 3922344"/>
                    <a:gd name="connsiteY38" fmla="*/ 417474 h 2192965"/>
                    <a:gd name="connsiteX39" fmla="*/ 3512911 w 3922344"/>
                    <a:gd name="connsiteY39" fmla="*/ 376531 h 2192965"/>
                    <a:gd name="connsiteX40" fmla="*/ 3376433 w 3922344"/>
                    <a:gd name="connsiteY40" fmla="*/ 294644 h 2192965"/>
                    <a:gd name="connsiteX41" fmla="*/ 3335490 w 3922344"/>
                    <a:gd name="connsiteY41" fmla="*/ 267349 h 2192965"/>
                    <a:gd name="connsiteX42" fmla="*/ 3212660 w 3922344"/>
                    <a:gd name="connsiteY42" fmla="*/ 240053 h 2192965"/>
                    <a:gd name="connsiteX43" fmla="*/ 3062535 w 3922344"/>
                    <a:gd name="connsiteY43" fmla="*/ 185462 h 2192965"/>
                    <a:gd name="connsiteX44" fmla="*/ 2939705 w 3922344"/>
                    <a:gd name="connsiteY44" fmla="*/ 144519 h 2192965"/>
                    <a:gd name="connsiteX45" fmla="*/ 2844170 w 3922344"/>
                    <a:gd name="connsiteY45" fmla="*/ 130871 h 2192965"/>
                    <a:gd name="connsiteX46" fmla="*/ 2625806 w 3922344"/>
                    <a:gd name="connsiteY46" fmla="*/ 89928 h 2192965"/>
                    <a:gd name="connsiteX47" fmla="*/ 2434738 w 3922344"/>
                    <a:gd name="connsiteY47" fmla="*/ 76280 h 2192965"/>
                    <a:gd name="connsiteX48" fmla="*/ 2230021 w 3922344"/>
                    <a:gd name="connsiteY48" fmla="*/ 35337 h 2192965"/>
                    <a:gd name="connsiteX49" fmla="*/ 2011657 w 3922344"/>
                    <a:gd name="connsiteY49" fmla="*/ 8041 h 2192965"/>
                    <a:gd name="connsiteX50" fmla="*/ 988075 w 3922344"/>
                    <a:gd name="connsiteY50" fmla="*/ 35337 h 2192965"/>
                    <a:gd name="connsiteX51" fmla="*/ 919836 w 3922344"/>
                    <a:gd name="connsiteY51" fmla="*/ 48984 h 2192965"/>
                    <a:gd name="connsiteX52" fmla="*/ 824302 w 3922344"/>
                    <a:gd name="connsiteY52" fmla="*/ 89928 h 2192965"/>
                    <a:gd name="connsiteX53" fmla="*/ 742415 w 3922344"/>
                    <a:gd name="connsiteY53" fmla="*/ 144519 h 2192965"/>
                    <a:gd name="connsiteX54" fmla="*/ 701472 w 3922344"/>
                    <a:gd name="connsiteY54" fmla="*/ 171814 h 2192965"/>
                    <a:gd name="connsiteX55" fmla="*/ 619585 w 3922344"/>
                    <a:gd name="connsiteY55" fmla="*/ 199110 h 2192965"/>
                    <a:gd name="connsiteX56" fmla="*/ 578642 w 3922344"/>
                    <a:gd name="connsiteY56" fmla="*/ 226405 h 2192965"/>
                    <a:gd name="connsiteX57" fmla="*/ 524051 w 3922344"/>
                    <a:gd name="connsiteY57" fmla="*/ 240053 h 2192965"/>
                    <a:gd name="connsiteX58" fmla="*/ 469460 w 3922344"/>
                    <a:gd name="connsiteY58" fmla="*/ 267349 h 2192965"/>
                    <a:gd name="connsiteX59" fmla="*/ 387573 w 3922344"/>
                    <a:gd name="connsiteY59" fmla="*/ 294644 h 2192965"/>
                    <a:gd name="connsiteX60" fmla="*/ 346630 w 3922344"/>
                    <a:gd name="connsiteY60" fmla="*/ 335587 h 2192965"/>
                    <a:gd name="connsiteX61" fmla="*/ 278391 w 3922344"/>
                    <a:gd name="connsiteY61" fmla="*/ 376531 h 2192965"/>
                    <a:gd name="connsiteX62" fmla="*/ 223800 w 3922344"/>
                    <a:gd name="connsiteY62" fmla="*/ 417474 h 2192965"/>
                    <a:gd name="connsiteX63" fmla="*/ 155561 w 3922344"/>
                    <a:gd name="connsiteY63" fmla="*/ 513008 h 2192965"/>
                    <a:gd name="connsiteX64" fmla="*/ 114618 w 3922344"/>
                    <a:gd name="connsiteY64" fmla="*/ 540304 h 2192965"/>
                    <a:gd name="connsiteX65" fmla="*/ 60027 w 3922344"/>
                    <a:gd name="connsiteY65" fmla="*/ 690429 h 2192965"/>
                    <a:gd name="connsiteX66" fmla="*/ 32732 w 3922344"/>
                    <a:gd name="connsiteY66" fmla="*/ 772316 h 2192965"/>
                    <a:gd name="connsiteX67" fmla="*/ 19084 w 3922344"/>
                    <a:gd name="connsiteY67" fmla="*/ 1318226 h 2192965"/>
                    <a:gd name="connsiteX68" fmla="*/ 60027 w 3922344"/>
                    <a:gd name="connsiteY68" fmla="*/ 1345522 h 2192965"/>
                    <a:gd name="connsiteX69" fmla="*/ 87323 w 3922344"/>
                    <a:gd name="connsiteY69" fmla="*/ 1386465 h 2192965"/>
                    <a:gd name="connsiteX70" fmla="*/ 87323 w 3922344"/>
                    <a:gd name="connsiteY70" fmla="*/ 1400113 h 2192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3922344" h="2192965">
                      <a:moveTo>
                        <a:pt x="87323" y="1400113"/>
                      </a:moveTo>
                      <a:cubicBezTo>
                        <a:pt x="114619" y="1431958"/>
                        <a:pt x="186206" y="1528867"/>
                        <a:pt x="251096" y="1577534"/>
                      </a:cubicBezTo>
                      <a:cubicBezTo>
                        <a:pt x="287490" y="1604829"/>
                        <a:pt x="328110" y="1627252"/>
                        <a:pt x="360278" y="1659420"/>
                      </a:cubicBezTo>
                      <a:cubicBezTo>
                        <a:pt x="411393" y="1710535"/>
                        <a:pt x="382911" y="1694259"/>
                        <a:pt x="442164" y="1714011"/>
                      </a:cubicBezTo>
                      <a:cubicBezTo>
                        <a:pt x="487322" y="1747880"/>
                        <a:pt x="560046" y="1804836"/>
                        <a:pt x="605938" y="1823193"/>
                      </a:cubicBezTo>
                      <a:cubicBezTo>
                        <a:pt x="628684" y="1832292"/>
                        <a:pt x="652761" y="1838591"/>
                        <a:pt x="674176" y="1850489"/>
                      </a:cubicBezTo>
                      <a:cubicBezTo>
                        <a:pt x="694060" y="1861536"/>
                        <a:pt x="708422" y="1881260"/>
                        <a:pt x="728767" y="1891432"/>
                      </a:cubicBezTo>
                      <a:cubicBezTo>
                        <a:pt x="754502" y="1904299"/>
                        <a:pt x="783838" y="1908300"/>
                        <a:pt x="810654" y="1918728"/>
                      </a:cubicBezTo>
                      <a:cubicBezTo>
                        <a:pt x="865773" y="1940163"/>
                        <a:pt x="917053" y="1972622"/>
                        <a:pt x="974427" y="1986966"/>
                      </a:cubicBezTo>
                      <a:cubicBezTo>
                        <a:pt x="1010821" y="1996065"/>
                        <a:pt x="1048020" y="2002399"/>
                        <a:pt x="1083609" y="2014262"/>
                      </a:cubicBezTo>
                      <a:cubicBezTo>
                        <a:pt x="1116477" y="2025218"/>
                        <a:pt x="1146276" y="2044249"/>
                        <a:pt x="1179144" y="2055205"/>
                      </a:cubicBezTo>
                      <a:cubicBezTo>
                        <a:pt x="1201150" y="2062540"/>
                        <a:pt x="1224436" y="2065454"/>
                        <a:pt x="1247382" y="2068853"/>
                      </a:cubicBezTo>
                      <a:cubicBezTo>
                        <a:pt x="1347301" y="2083656"/>
                        <a:pt x="1446820" y="2103495"/>
                        <a:pt x="1547633" y="2109796"/>
                      </a:cubicBezTo>
                      <a:cubicBezTo>
                        <a:pt x="1852384" y="2128843"/>
                        <a:pt x="1693168" y="2119611"/>
                        <a:pt x="2025305" y="2137092"/>
                      </a:cubicBezTo>
                      <a:cubicBezTo>
                        <a:pt x="2378419" y="2237980"/>
                        <a:pt x="2128195" y="2176502"/>
                        <a:pt x="2939705" y="2150740"/>
                      </a:cubicBezTo>
                      <a:cubicBezTo>
                        <a:pt x="2971340" y="2149736"/>
                        <a:pt x="3008240" y="2116546"/>
                        <a:pt x="3035239" y="2109796"/>
                      </a:cubicBezTo>
                      <a:cubicBezTo>
                        <a:pt x="3070821" y="2100901"/>
                        <a:pt x="3108027" y="2100698"/>
                        <a:pt x="3144421" y="2096149"/>
                      </a:cubicBezTo>
                      <a:cubicBezTo>
                        <a:pt x="3162618" y="2087050"/>
                        <a:pt x="3180122" y="2076409"/>
                        <a:pt x="3199012" y="2068853"/>
                      </a:cubicBezTo>
                      <a:cubicBezTo>
                        <a:pt x="3225726" y="2058167"/>
                        <a:pt x="3253859" y="2051390"/>
                        <a:pt x="3280899" y="2041557"/>
                      </a:cubicBezTo>
                      <a:cubicBezTo>
                        <a:pt x="3303923" y="2033185"/>
                        <a:pt x="3326392" y="2023360"/>
                        <a:pt x="3349138" y="2014262"/>
                      </a:cubicBezTo>
                      <a:cubicBezTo>
                        <a:pt x="3376433" y="1991516"/>
                        <a:pt x="3402978" y="1967837"/>
                        <a:pt x="3431024" y="1946023"/>
                      </a:cubicBezTo>
                      <a:cubicBezTo>
                        <a:pt x="3535492" y="1864770"/>
                        <a:pt x="3389387" y="1996105"/>
                        <a:pt x="3540206" y="1864137"/>
                      </a:cubicBezTo>
                      <a:cubicBezTo>
                        <a:pt x="3554731" y="1851427"/>
                        <a:pt x="3566211" y="1835415"/>
                        <a:pt x="3581149" y="1823193"/>
                      </a:cubicBezTo>
                      <a:cubicBezTo>
                        <a:pt x="3616358" y="1794385"/>
                        <a:pt x="3690332" y="1741307"/>
                        <a:pt x="3690332" y="1741307"/>
                      </a:cubicBezTo>
                      <a:cubicBezTo>
                        <a:pt x="3699430" y="1727659"/>
                        <a:pt x="3707126" y="1712964"/>
                        <a:pt x="3717627" y="1700363"/>
                      </a:cubicBezTo>
                      <a:cubicBezTo>
                        <a:pt x="3729983" y="1685536"/>
                        <a:pt x="3747352" y="1675126"/>
                        <a:pt x="3758570" y="1659420"/>
                      </a:cubicBezTo>
                      <a:cubicBezTo>
                        <a:pt x="3770395" y="1642865"/>
                        <a:pt x="3775399" y="1622275"/>
                        <a:pt x="3785866" y="1604829"/>
                      </a:cubicBezTo>
                      <a:cubicBezTo>
                        <a:pt x="3802744" y="1576699"/>
                        <a:pt x="3822260" y="1550238"/>
                        <a:pt x="3840457" y="1522943"/>
                      </a:cubicBezTo>
                      <a:cubicBezTo>
                        <a:pt x="3849555" y="1486549"/>
                        <a:pt x="3850975" y="1447314"/>
                        <a:pt x="3867752" y="1413760"/>
                      </a:cubicBezTo>
                      <a:cubicBezTo>
                        <a:pt x="3876851" y="1395563"/>
                        <a:pt x="3888614" y="1378470"/>
                        <a:pt x="3895048" y="1359169"/>
                      </a:cubicBezTo>
                      <a:cubicBezTo>
                        <a:pt x="3906911" y="1323580"/>
                        <a:pt x="3922344" y="1249987"/>
                        <a:pt x="3922344" y="1249987"/>
                      </a:cubicBezTo>
                      <a:cubicBezTo>
                        <a:pt x="3917795" y="1159002"/>
                        <a:pt x="3919138" y="1067530"/>
                        <a:pt x="3908696" y="977032"/>
                      </a:cubicBezTo>
                      <a:cubicBezTo>
                        <a:pt x="3899085" y="893739"/>
                        <a:pt x="3878995" y="902216"/>
                        <a:pt x="3840457" y="840555"/>
                      </a:cubicBezTo>
                      <a:cubicBezTo>
                        <a:pt x="3829674" y="823302"/>
                        <a:pt x="3824986" y="802519"/>
                        <a:pt x="3813161" y="785963"/>
                      </a:cubicBezTo>
                      <a:cubicBezTo>
                        <a:pt x="3801943" y="770257"/>
                        <a:pt x="3783798" y="760461"/>
                        <a:pt x="3772218" y="745020"/>
                      </a:cubicBezTo>
                      <a:cubicBezTo>
                        <a:pt x="3752226" y="718364"/>
                        <a:pt x="3727816" y="664443"/>
                        <a:pt x="3703979" y="635838"/>
                      </a:cubicBezTo>
                      <a:cubicBezTo>
                        <a:pt x="3561429" y="464780"/>
                        <a:pt x="3775406" y="744723"/>
                        <a:pt x="3622093" y="540304"/>
                      </a:cubicBezTo>
                      <a:cubicBezTo>
                        <a:pt x="3608414" y="499268"/>
                        <a:pt x="3610546" y="493693"/>
                        <a:pt x="3581149" y="458417"/>
                      </a:cubicBezTo>
                      <a:cubicBezTo>
                        <a:pt x="3568793" y="443590"/>
                        <a:pt x="3552562" y="432301"/>
                        <a:pt x="3540206" y="417474"/>
                      </a:cubicBezTo>
                      <a:cubicBezTo>
                        <a:pt x="3529705" y="404873"/>
                        <a:pt x="3525255" y="387332"/>
                        <a:pt x="3512911" y="376531"/>
                      </a:cubicBezTo>
                      <a:cubicBezTo>
                        <a:pt x="3450070" y="321546"/>
                        <a:pt x="3438055" y="329857"/>
                        <a:pt x="3376433" y="294644"/>
                      </a:cubicBezTo>
                      <a:cubicBezTo>
                        <a:pt x="3362192" y="286506"/>
                        <a:pt x="3350566" y="273810"/>
                        <a:pt x="3335490" y="267349"/>
                      </a:cubicBezTo>
                      <a:cubicBezTo>
                        <a:pt x="3318625" y="260121"/>
                        <a:pt x="3224806" y="242482"/>
                        <a:pt x="3212660" y="240053"/>
                      </a:cubicBezTo>
                      <a:cubicBezTo>
                        <a:pt x="3126830" y="182832"/>
                        <a:pt x="3218902" y="237584"/>
                        <a:pt x="3062535" y="185462"/>
                      </a:cubicBezTo>
                      <a:cubicBezTo>
                        <a:pt x="3021592" y="171814"/>
                        <a:pt x="2982429" y="150623"/>
                        <a:pt x="2939705" y="144519"/>
                      </a:cubicBezTo>
                      <a:cubicBezTo>
                        <a:pt x="2907860" y="139970"/>
                        <a:pt x="2875849" y="136461"/>
                        <a:pt x="2844170" y="130871"/>
                      </a:cubicBezTo>
                      <a:cubicBezTo>
                        <a:pt x="2816753" y="126033"/>
                        <a:pt x="2672220" y="94569"/>
                        <a:pt x="2625806" y="89928"/>
                      </a:cubicBezTo>
                      <a:cubicBezTo>
                        <a:pt x="2562271" y="83575"/>
                        <a:pt x="2498427" y="80829"/>
                        <a:pt x="2434738" y="76280"/>
                      </a:cubicBezTo>
                      <a:cubicBezTo>
                        <a:pt x="2366499" y="62632"/>
                        <a:pt x="2299074" y="43969"/>
                        <a:pt x="2230021" y="35337"/>
                      </a:cubicBezTo>
                      <a:lnTo>
                        <a:pt x="2011657" y="8041"/>
                      </a:lnTo>
                      <a:cubicBezTo>
                        <a:pt x="1444341" y="16263"/>
                        <a:pt x="1344182" y="-29409"/>
                        <a:pt x="988075" y="35337"/>
                      </a:cubicBezTo>
                      <a:cubicBezTo>
                        <a:pt x="965252" y="39486"/>
                        <a:pt x="942340" y="43358"/>
                        <a:pt x="919836" y="48984"/>
                      </a:cubicBezTo>
                      <a:cubicBezTo>
                        <a:pt x="887565" y="57052"/>
                        <a:pt x="852200" y="73189"/>
                        <a:pt x="824302" y="89928"/>
                      </a:cubicBezTo>
                      <a:cubicBezTo>
                        <a:pt x="796172" y="106806"/>
                        <a:pt x="769711" y="126322"/>
                        <a:pt x="742415" y="144519"/>
                      </a:cubicBezTo>
                      <a:cubicBezTo>
                        <a:pt x="728767" y="153617"/>
                        <a:pt x="717033" y="166627"/>
                        <a:pt x="701472" y="171814"/>
                      </a:cubicBezTo>
                      <a:cubicBezTo>
                        <a:pt x="674176" y="180913"/>
                        <a:pt x="643525" y="183150"/>
                        <a:pt x="619585" y="199110"/>
                      </a:cubicBezTo>
                      <a:cubicBezTo>
                        <a:pt x="605937" y="208208"/>
                        <a:pt x="593718" y="219944"/>
                        <a:pt x="578642" y="226405"/>
                      </a:cubicBezTo>
                      <a:cubicBezTo>
                        <a:pt x="561402" y="233794"/>
                        <a:pt x="541614" y="233467"/>
                        <a:pt x="524051" y="240053"/>
                      </a:cubicBezTo>
                      <a:cubicBezTo>
                        <a:pt x="505001" y="247197"/>
                        <a:pt x="488350" y="259793"/>
                        <a:pt x="469460" y="267349"/>
                      </a:cubicBezTo>
                      <a:cubicBezTo>
                        <a:pt x="442746" y="278035"/>
                        <a:pt x="387573" y="294644"/>
                        <a:pt x="387573" y="294644"/>
                      </a:cubicBezTo>
                      <a:cubicBezTo>
                        <a:pt x="373925" y="308292"/>
                        <a:pt x="362071" y="324007"/>
                        <a:pt x="346630" y="335587"/>
                      </a:cubicBezTo>
                      <a:cubicBezTo>
                        <a:pt x="325409" y="351503"/>
                        <a:pt x="300462" y="361817"/>
                        <a:pt x="278391" y="376531"/>
                      </a:cubicBezTo>
                      <a:cubicBezTo>
                        <a:pt x="259465" y="389148"/>
                        <a:pt x="241997" y="403826"/>
                        <a:pt x="223800" y="417474"/>
                      </a:cubicBezTo>
                      <a:cubicBezTo>
                        <a:pt x="208299" y="440725"/>
                        <a:pt x="172493" y="496076"/>
                        <a:pt x="155561" y="513008"/>
                      </a:cubicBezTo>
                      <a:cubicBezTo>
                        <a:pt x="143963" y="524606"/>
                        <a:pt x="128266" y="531205"/>
                        <a:pt x="114618" y="540304"/>
                      </a:cubicBezTo>
                      <a:cubicBezTo>
                        <a:pt x="57400" y="626133"/>
                        <a:pt x="112147" y="534065"/>
                        <a:pt x="60027" y="690429"/>
                      </a:cubicBezTo>
                      <a:lnTo>
                        <a:pt x="32732" y="772316"/>
                      </a:lnTo>
                      <a:cubicBezTo>
                        <a:pt x="5413" y="990868"/>
                        <a:pt x="-17775" y="1078643"/>
                        <a:pt x="19084" y="1318226"/>
                      </a:cubicBezTo>
                      <a:cubicBezTo>
                        <a:pt x="21578" y="1334438"/>
                        <a:pt x="46379" y="1336423"/>
                        <a:pt x="60027" y="1345522"/>
                      </a:cubicBezTo>
                      <a:cubicBezTo>
                        <a:pt x="69126" y="1359170"/>
                        <a:pt x="80862" y="1371389"/>
                        <a:pt x="87323" y="1386465"/>
                      </a:cubicBezTo>
                      <a:cubicBezTo>
                        <a:pt x="94712" y="1403705"/>
                        <a:pt x="60027" y="1368268"/>
                        <a:pt x="87323" y="1400113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Freeform 19"/>
                <p:cNvSpPr/>
                <p:nvPr/>
              </p:nvSpPr>
              <p:spPr>
                <a:xfrm>
                  <a:off x="8106770" y="2442949"/>
                  <a:ext cx="436729" cy="573206"/>
                </a:xfrm>
                <a:custGeom>
                  <a:avLst/>
                  <a:gdLst>
                    <a:gd name="connsiteX0" fmla="*/ 436729 w 436729"/>
                    <a:gd name="connsiteY0" fmla="*/ 0 h 573206"/>
                    <a:gd name="connsiteX1" fmla="*/ 409433 w 436729"/>
                    <a:gd name="connsiteY1" fmla="*/ 68239 h 573206"/>
                    <a:gd name="connsiteX2" fmla="*/ 300251 w 436729"/>
                    <a:gd name="connsiteY2" fmla="*/ 163773 h 573206"/>
                    <a:gd name="connsiteX3" fmla="*/ 218364 w 436729"/>
                    <a:gd name="connsiteY3" fmla="*/ 232012 h 573206"/>
                    <a:gd name="connsiteX4" fmla="*/ 163773 w 436729"/>
                    <a:gd name="connsiteY4" fmla="*/ 313899 h 573206"/>
                    <a:gd name="connsiteX5" fmla="*/ 68239 w 436729"/>
                    <a:gd name="connsiteY5" fmla="*/ 436729 h 573206"/>
                    <a:gd name="connsiteX6" fmla="*/ 13648 w 436729"/>
                    <a:gd name="connsiteY6" fmla="*/ 559558 h 573206"/>
                    <a:gd name="connsiteX7" fmla="*/ 0 w 436729"/>
                    <a:gd name="connsiteY7" fmla="*/ 573206 h 573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6729" h="573206">
                      <a:moveTo>
                        <a:pt x="436729" y="0"/>
                      </a:moveTo>
                      <a:cubicBezTo>
                        <a:pt x="427630" y="22746"/>
                        <a:pt x="423022" y="47855"/>
                        <a:pt x="409433" y="68239"/>
                      </a:cubicBezTo>
                      <a:cubicBezTo>
                        <a:pt x="379550" y="113063"/>
                        <a:pt x="339374" y="130239"/>
                        <a:pt x="300251" y="163773"/>
                      </a:cubicBezTo>
                      <a:cubicBezTo>
                        <a:pt x="208306" y="242584"/>
                        <a:pt x="308855" y="171687"/>
                        <a:pt x="218364" y="232012"/>
                      </a:cubicBezTo>
                      <a:cubicBezTo>
                        <a:pt x="200167" y="259308"/>
                        <a:pt x="186970" y="290702"/>
                        <a:pt x="163773" y="313899"/>
                      </a:cubicBezTo>
                      <a:cubicBezTo>
                        <a:pt x="128445" y="349227"/>
                        <a:pt x="84564" y="387755"/>
                        <a:pt x="68239" y="436729"/>
                      </a:cubicBezTo>
                      <a:cubicBezTo>
                        <a:pt x="43344" y="511411"/>
                        <a:pt x="52577" y="507653"/>
                        <a:pt x="13648" y="559558"/>
                      </a:cubicBezTo>
                      <a:cubicBezTo>
                        <a:pt x="9788" y="564705"/>
                        <a:pt x="4549" y="568657"/>
                        <a:pt x="0" y="573206"/>
                      </a:cubicBez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17" name="Rectangle 16"/>
              <p:cNvSpPr/>
              <p:nvPr/>
            </p:nvSpPr>
            <p:spPr>
              <a:xfrm>
                <a:off x="7869951" y="3244334"/>
                <a:ext cx="2570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smtClean="0"/>
                  <a:t>(-To </a:t>
                </a:r>
                <a:r>
                  <a:rPr lang="en-IN" dirty="0"/>
                  <a:t>understand </a:t>
                </a:r>
                <a:r>
                  <a:rPr lang="en-IN" dirty="0" smtClean="0"/>
                  <a:t>the data)</a:t>
                </a:r>
                <a:endParaRPr lang="en-IN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058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574042" y="443374"/>
            <a:ext cx="103131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Whenever we talk about deep learning, we </a:t>
            </a:r>
            <a:r>
              <a:rPr lang="en-US" sz="1600" dirty="0" smtClean="0"/>
              <a:t>are talking to </a:t>
            </a:r>
            <a:r>
              <a:rPr lang="en-US" sz="1600" dirty="0"/>
              <a:t>an advancement where we do not just try to find patterns in data, but </a:t>
            </a:r>
            <a:r>
              <a:rPr lang="en-US" sz="1600" i="1" dirty="0">
                <a:solidFill>
                  <a:srgbClr val="00B0F0"/>
                </a:solidFill>
              </a:rPr>
              <a:t>use that data to mimic the human brain</a:t>
            </a:r>
            <a:r>
              <a:rPr lang="en-US" sz="1600" dirty="0"/>
              <a:t>. </a:t>
            </a:r>
            <a:endParaRPr lang="en-IN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1816629" y="3844850"/>
            <a:ext cx="1772152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/>
              <a:t>(textual data thing)</a:t>
            </a:r>
            <a:endParaRPr lang="en-IN" dirty="0"/>
          </a:p>
        </p:txBody>
      </p:sp>
      <p:grpSp>
        <p:nvGrpSpPr>
          <p:cNvPr id="24" name="Group 23"/>
          <p:cNvGrpSpPr/>
          <p:nvPr/>
        </p:nvGrpSpPr>
        <p:grpSpPr>
          <a:xfrm>
            <a:off x="1998641" y="1947797"/>
            <a:ext cx="6154013" cy="2875646"/>
            <a:chOff x="1998641" y="1947797"/>
            <a:chExt cx="6154013" cy="2875646"/>
          </a:xfrm>
        </p:grpSpPr>
        <p:grpSp>
          <p:nvGrpSpPr>
            <p:cNvPr id="22" name="Group 21"/>
            <p:cNvGrpSpPr/>
            <p:nvPr/>
          </p:nvGrpSpPr>
          <p:grpSpPr>
            <a:xfrm>
              <a:off x="2195451" y="1947797"/>
              <a:ext cx="5957203" cy="2008256"/>
              <a:chOff x="2195451" y="1947797"/>
              <a:chExt cx="5957203" cy="2008256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2195451" y="1947797"/>
                <a:ext cx="5957203" cy="2008256"/>
                <a:chOff x="2195451" y="1947797"/>
                <a:chExt cx="5957203" cy="2008256"/>
              </a:xfrm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2195451" y="1947797"/>
                  <a:ext cx="5957203" cy="2008256"/>
                  <a:chOff x="2195451" y="1947797"/>
                  <a:chExt cx="5957203" cy="2008256"/>
                </a:xfrm>
              </p:grpSpPr>
              <p:sp>
                <p:nvSpPr>
                  <p:cNvPr id="3" name="Rectangle 2"/>
                  <p:cNvSpPr/>
                  <p:nvPr/>
                </p:nvSpPr>
                <p:spPr>
                  <a:xfrm>
                    <a:off x="2195451" y="1947797"/>
                    <a:ext cx="1393330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IN" sz="1600" dirty="0"/>
                      <a:t>Deep learning </a:t>
                    </a:r>
                  </a:p>
                </p:txBody>
              </p:sp>
              <p:sp>
                <p:nvSpPr>
                  <p:cNvPr id="9" name="Rectangle 8"/>
                  <p:cNvSpPr/>
                  <p:nvPr/>
                </p:nvSpPr>
                <p:spPr>
                  <a:xfrm>
                    <a:off x="5080594" y="1992153"/>
                    <a:ext cx="2131289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IN" sz="1600" dirty="0"/>
                      <a:t>Mimic the human brain</a:t>
                    </a:r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35021" y="2142699"/>
                    <a:ext cx="1241946" cy="40943"/>
                  </a:xfrm>
                  <a:custGeom>
                    <a:avLst/>
                    <a:gdLst>
                      <a:gd name="connsiteX0" fmla="*/ 0 w 1241946"/>
                      <a:gd name="connsiteY0" fmla="*/ 0 h 40943"/>
                      <a:gd name="connsiteX1" fmla="*/ 1009934 w 1241946"/>
                      <a:gd name="connsiteY1" fmla="*/ 13647 h 40943"/>
                      <a:gd name="connsiteX2" fmla="*/ 1201003 w 1241946"/>
                      <a:gd name="connsiteY2" fmla="*/ 40943 h 40943"/>
                      <a:gd name="connsiteX3" fmla="*/ 1241946 w 1241946"/>
                      <a:gd name="connsiteY3" fmla="*/ 40943 h 409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41946" h="40943">
                        <a:moveTo>
                          <a:pt x="0" y="0"/>
                        </a:moveTo>
                        <a:cubicBezTo>
                          <a:pt x="336645" y="4549"/>
                          <a:pt x="673454" y="2176"/>
                          <a:pt x="1009934" y="13647"/>
                        </a:cubicBezTo>
                        <a:cubicBezTo>
                          <a:pt x="1074233" y="15839"/>
                          <a:pt x="1136667" y="40943"/>
                          <a:pt x="1201003" y="40943"/>
                        </a:cubicBezTo>
                        <a:lnTo>
                          <a:pt x="1241946" y="40943"/>
                        </a:lnTo>
                      </a:path>
                    </a:pathLst>
                  </a:cu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60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3057099" y="2415654"/>
                    <a:ext cx="252526" cy="1201003"/>
                  </a:xfrm>
                  <a:custGeom>
                    <a:avLst/>
                    <a:gdLst>
                      <a:gd name="connsiteX0" fmla="*/ 232011 w 252526"/>
                      <a:gd name="connsiteY0" fmla="*/ 0 h 1201003"/>
                      <a:gd name="connsiteX1" fmla="*/ 218364 w 252526"/>
                      <a:gd name="connsiteY1" fmla="*/ 450376 h 1201003"/>
                      <a:gd name="connsiteX2" fmla="*/ 204716 w 252526"/>
                      <a:gd name="connsiteY2" fmla="*/ 614149 h 1201003"/>
                      <a:gd name="connsiteX3" fmla="*/ 177420 w 252526"/>
                      <a:gd name="connsiteY3" fmla="*/ 682388 h 1201003"/>
                      <a:gd name="connsiteX4" fmla="*/ 150125 w 252526"/>
                      <a:gd name="connsiteY4" fmla="*/ 777922 h 1201003"/>
                      <a:gd name="connsiteX5" fmla="*/ 136477 w 252526"/>
                      <a:gd name="connsiteY5" fmla="*/ 818865 h 1201003"/>
                      <a:gd name="connsiteX6" fmla="*/ 122829 w 252526"/>
                      <a:gd name="connsiteY6" fmla="*/ 873456 h 1201003"/>
                      <a:gd name="connsiteX7" fmla="*/ 109182 w 252526"/>
                      <a:gd name="connsiteY7" fmla="*/ 914400 h 1201003"/>
                      <a:gd name="connsiteX8" fmla="*/ 95534 w 252526"/>
                      <a:gd name="connsiteY8" fmla="*/ 982639 h 1201003"/>
                      <a:gd name="connsiteX9" fmla="*/ 68238 w 252526"/>
                      <a:gd name="connsiteY9" fmla="*/ 1064525 h 1201003"/>
                      <a:gd name="connsiteX10" fmla="*/ 54591 w 252526"/>
                      <a:gd name="connsiteY10" fmla="*/ 1132764 h 1201003"/>
                      <a:gd name="connsiteX11" fmla="*/ 0 w 252526"/>
                      <a:gd name="connsiteY11" fmla="*/ 1201003 h 12010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52526" h="1201003">
                        <a:moveTo>
                          <a:pt x="232011" y="0"/>
                        </a:moveTo>
                        <a:cubicBezTo>
                          <a:pt x="270513" y="192506"/>
                          <a:pt x="248365" y="50366"/>
                          <a:pt x="218364" y="450376"/>
                        </a:cubicBezTo>
                        <a:cubicBezTo>
                          <a:pt x="214267" y="505003"/>
                          <a:pt x="214236" y="560202"/>
                          <a:pt x="204716" y="614149"/>
                        </a:cubicBezTo>
                        <a:cubicBezTo>
                          <a:pt x="200458" y="638275"/>
                          <a:pt x="185167" y="659147"/>
                          <a:pt x="177420" y="682388"/>
                        </a:cubicBezTo>
                        <a:cubicBezTo>
                          <a:pt x="166947" y="713807"/>
                          <a:pt x="159642" y="746200"/>
                          <a:pt x="150125" y="777922"/>
                        </a:cubicBezTo>
                        <a:cubicBezTo>
                          <a:pt x="145991" y="791701"/>
                          <a:pt x="140429" y="805033"/>
                          <a:pt x="136477" y="818865"/>
                        </a:cubicBezTo>
                        <a:cubicBezTo>
                          <a:pt x="131324" y="836900"/>
                          <a:pt x="127982" y="855421"/>
                          <a:pt x="122829" y="873456"/>
                        </a:cubicBezTo>
                        <a:cubicBezTo>
                          <a:pt x="118877" y="887289"/>
                          <a:pt x="112671" y="900443"/>
                          <a:pt x="109182" y="914400"/>
                        </a:cubicBezTo>
                        <a:cubicBezTo>
                          <a:pt x="103556" y="936904"/>
                          <a:pt x="101638" y="960260"/>
                          <a:pt x="95534" y="982639"/>
                        </a:cubicBezTo>
                        <a:cubicBezTo>
                          <a:pt x="87963" y="1010397"/>
                          <a:pt x="73880" y="1036312"/>
                          <a:pt x="68238" y="1064525"/>
                        </a:cubicBezTo>
                        <a:cubicBezTo>
                          <a:pt x="63689" y="1087271"/>
                          <a:pt x="62736" y="1111044"/>
                          <a:pt x="54591" y="1132764"/>
                        </a:cubicBezTo>
                        <a:cubicBezTo>
                          <a:pt x="44262" y="1160307"/>
                          <a:pt x="19984" y="1181019"/>
                          <a:pt x="0" y="1201003"/>
                        </a:cubicBezTo>
                      </a:path>
                    </a:pathLst>
                  </a:cu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60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3302758" y="2524836"/>
                    <a:ext cx="1637732" cy="723331"/>
                  </a:xfrm>
                  <a:custGeom>
                    <a:avLst/>
                    <a:gdLst>
                      <a:gd name="connsiteX0" fmla="*/ 0 w 1980192"/>
                      <a:gd name="connsiteY0" fmla="*/ 0 h 900752"/>
                      <a:gd name="connsiteX1" fmla="*/ 177421 w 1980192"/>
                      <a:gd name="connsiteY1" fmla="*/ 54591 h 900752"/>
                      <a:gd name="connsiteX2" fmla="*/ 218364 w 1980192"/>
                      <a:gd name="connsiteY2" fmla="*/ 81886 h 900752"/>
                      <a:gd name="connsiteX3" fmla="*/ 382138 w 1980192"/>
                      <a:gd name="connsiteY3" fmla="*/ 150125 h 900752"/>
                      <a:gd name="connsiteX4" fmla="*/ 477672 w 1980192"/>
                      <a:gd name="connsiteY4" fmla="*/ 204716 h 900752"/>
                      <a:gd name="connsiteX5" fmla="*/ 532263 w 1980192"/>
                      <a:gd name="connsiteY5" fmla="*/ 232012 h 900752"/>
                      <a:gd name="connsiteX6" fmla="*/ 600502 w 1980192"/>
                      <a:gd name="connsiteY6" fmla="*/ 272955 h 900752"/>
                      <a:gd name="connsiteX7" fmla="*/ 682388 w 1980192"/>
                      <a:gd name="connsiteY7" fmla="*/ 313898 h 900752"/>
                      <a:gd name="connsiteX8" fmla="*/ 750627 w 1980192"/>
                      <a:gd name="connsiteY8" fmla="*/ 354842 h 900752"/>
                      <a:gd name="connsiteX9" fmla="*/ 832514 w 1980192"/>
                      <a:gd name="connsiteY9" fmla="*/ 423080 h 900752"/>
                      <a:gd name="connsiteX10" fmla="*/ 941696 w 1980192"/>
                      <a:gd name="connsiteY10" fmla="*/ 464024 h 900752"/>
                      <a:gd name="connsiteX11" fmla="*/ 1037230 w 1980192"/>
                      <a:gd name="connsiteY11" fmla="*/ 504967 h 900752"/>
                      <a:gd name="connsiteX12" fmla="*/ 1146412 w 1980192"/>
                      <a:gd name="connsiteY12" fmla="*/ 545910 h 900752"/>
                      <a:gd name="connsiteX13" fmla="*/ 1214651 w 1980192"/>
                      <a:gd name="connsiteY13" fmla="*/ 586854 h 900752"/>
                      <a:gd name="connsiteX14" fmla="*/ 1282890 w 1980192"/>
                      <a:gd name="connsiteY14" fmla="*/ 614149 h 900752"/>
                      <a:gd name="connsiteX15" fmla="*/ 1405720 w 1980192"/>
                      <a:gd name="connsiteY15" fmla="*/ 668740 h 900752"/>
                      <a:gd name="connsiteX16" fmla="*/ 1473958 w 1980192"/>
                      <a:gd name="connsiteY16" fmla="*/ 682388 h 900752"/>
                      <a:gd name="connsiteX17" fmla="*/ 1651379 w 1980192"/>
                      <a:gd name="connsiteY17" fmla="*/ 736979 h 900752"/>
                      <a:gd name="connsiteX18" fmla="*/ 1705970 w 1980192"/>
                      <a:gd name="connsiteY18" fmla="*/ 764274 h 900752"/>
                      <a:gd name="connsiteX19" fmla="*/ 1746914 w 1980192"/>
                      <a:gd name="connsiteY19" fmla="*/ 777922 h 900752"/>
                      <a:gd name="connsiteX20" fmla="*/ 1842448 w 1980192"/>
                      <a:gd name="connsiteY20" fmla="*/ 832513 h 900752"/>
                      <a:gd name="connsiteX21" fmla="*/ 1883391 w 1980192"/>
                      <a:gd name="connsiteY21" fmla="*/ 859809 h 900752"/>
                      <a:gd name="connsiteX22" fmla="*/ 1924335 w 1980192"/>
                      <a:gd name="connsiteY22" fmla="*/ 873457 h 900752"/>
                      <a:gd name="connsiteX23" fmla="*/ 1978926 w 1980192"/>
                      <a:gd name="connsiteY23" fmla="*/ 887104 h 900752"/>
                      <a:gd name="connsiteX24" fmla="*/ 1951630 w 1980192"/>
                      <a:gd name="connsiteY24" fmla="*/ 900752 h 9007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1980192" h="900752">
                        <a:moveTo>
                          <a:pt x="0" y="0"/>
                        </a:moveTo>
                        <a:cubicBezTo>
                          <a:pt x="59140" y="18197"/>
                          <a:pt x="119484" y="32865"/>
                          <a:pt x="177421" y="54591"/>
                        </a:cubicBezTo>
                        <a:cubicBezTo>
                          <a:pt x="192779" y="60350"/>
                          <a:pt x="203500" y="74950"/>
                          <a:pt x="218364" y="81886"/>
                        </a:cubicBezTo>
                        <a:cubicBezTo>
                          <a:pt x="271956" y="106896"/>
                          <a:pt x="330790" y="120783"/>
                          <a:pt x="382138" y="150125"/>
                        </a:cubicBezTo>
                        <a:cubicBezTo>
                          <a:pt x="413983" y="168322"/>
                          <a:pt x="445473" y="187153"/>
                          <a:pt x="477672" y="204716"/>
                        </a:cubicBezTo>
                        <a:cubicBezTo>
                          <a:pt x="495533" y="214458"/>
                          <a:pt x="514478" y="222132"/>
                          <a:pt x="532263" y="232012"/>
                        </a:cubicBezTo>
                        <a:cubicBezTo>
                          <a:pt x="555451" y="244894"/>
                          <a:pt x="577214" y="260253"/>
                          <a:pt x="600502" y="272955"/>
                        </a:cubicBezTo>
                        <a:cubicBezTo>
                          <a:pt x="627293" y="287568"/>
                          <a:pt x="655597" y="299285"/>
                          <a:pt x="682388" y="313898"/>
                        </a:cubicBezTo>
                        <a:cubicBezTo>
                          <a:pt x="705676" y="326600"/>
                          <a:pt x="729174" y="339240"/>
                          <a:pt x="750627" y="354842"/>
                        </a:cubicBezTo>
                        <a:cubicBezTo>
                          <a:pt x="779362" y="375740"/>
                          <a:pt x="801665" y="405452"/>
                          <a:pt x="832514" y="423080"/>
                        </a:cubicBezTo>
                        <a:cubicBezTo>
                          <a:pt x="866262" y="442364"/>
                          <a:pt x="905607" y="449588"/>
                          <a:pt x="941696" y="464024"/>
                        </a:cubicBezTo>
                        <a:cubicBezTo>
                          <a:pt x="973864" y="476891"/>
                          <a:pt x="1005062" y="492100"/>
                          <a:pt x="1037230" y="504967"/>
                        </a:cubicBezTo>
                        <a:cubicBezTo>
                          <a:pt x="1073319" y="519402"/>
                          <a:pt x="1111121" y="529622"/>
                          <a:pt x="1146412" y="545910"/>
                        </a:cubicBezTo>
                        <a:cubicBezTo>
                          <a:pt x="1170497" y="557026"/>
                          <a:pt x="1190925" y="574991"/>
                          <a:pt x="1214651" y="586854"/>
                        </a:cubicBezTo>
                        <a:cubicBezTo>
                          <a:pt x="1236563" y="597810"/>
                          <a:pt x="1260503" y="604199"/>
                          <a:pt x="1282890" y="614149"/>
                        </a:cubicBezTo>
                        <a:cubicBezTo>
                          <a:pt x="1338733" y="638968"/>
                          <a:pt x="1343469" y="650065"/>
                          <a:pt x="1405720" y="668740"/>
                        </a:cubicBezTo>
                        <a:cubicBezTo>
                          <a:pt x="1427938" y="675405"/>
                          <a:pt x="1451212" y="677839"/>
                          <a:pt x="1473958" y="682388"/>
                        </a:cubicBezTo>
                        <a:cubicBezTo>
                          <a:pt x="1608648" y="763201"/>
                          <a:pt x="1467482" y="691005"/>
                          <a:pt x="1651379" y="736979"/>
                        </a:cubicBezTo>
                        <a:cubicBezTo>
                          <a:pt x="1671116" y="741913"/>
                          <a:pt x="1687270" y="756260"/>
                          <a:pt x="1705970" y="764274"/>
                        </a:cubicBezTo>
                        <a:cubicBezTo>
                          <a:pt x="1719193" y="769941"/>
                          <a:pt x="1733266" y="773373"/>
                          <a:pt x="1746914" y="777922"/>
                        </a:cubicBezTo>
                        <a:cubicBezTo>
                          <a:pt x="1824696" y="855704"/>
                          <a:pt x="1746221" y="791272"/>
                          <a:pt x="1842448" y="832513"/>
                        </a:cubicBezTo>
                        <a:cubicBezTo>
                          <a:pt x="1857524" y="838974"/>
                          <a:pt x="1868720" y="852473"/>
                          <a:pt x="1883391" y="859809"/>
                        </a:cubicBezTo>
                        <a:cubicBezTo>
                          <a:pt x="1896258" y="866243"/>
                          <a:pt x="1910502" y="869505"/>
                          <a:pt x="1924335" y="873457"/>
                        </a:cubicBezTo>
                        <a:cubicBezTo>
                          <a:pt x="1942370" y="878610"/>
                          <a:pt x="1965663" y="873841"/>
                          <a:pt x="1978926" y="887104"/>
                        </a:cubicBezTo>
                        <a:cubicBezTo>
                          <a:pt x="1986119" y="894297"/>
                          <a:pt x="1960729" y="896203"/>
                          <a:pt x="1951630" y="900752"/>
                        </a:cubicBezTo>
                      </a:path>
                    </a:pathLst>
                  </a:cu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600"/>
                  </a:p>
                </p:txBody>
              </p:sp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5124734" y="3106184"/>
                    <a:ext cx="155145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 smtClean="0"/>
                      <a:t>Computer vision</a:t>
                    </a:r>
                    <a:endParaRPr lang="en-IN" sz="1600" dirty="0"/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5549697" y="3421697"/>
                    <a:ext cx="2602957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 smtClean="0"/>
                      <a:t>(- Image, video, visual things)</a:t>
                    </a:r>
                    <a:endParaRPr lang="en-IN" sz="1600" dirty="0"/>
                  </a:p>
                </p:txBody>
              </p:sp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533375" y="3617499"/>
                    <a:ext cx="51007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/>
                    </a:lvl1pPr>
                  </a:lstStyle>
                  <a:p>
                    <a:r>
                      <a:rPr lang="en-US" dirty="0"/>
                      <a:t>NLP</a:t>
                    </a:r>
                    <a:endParaRPr lang="en-IN" dirty="0"/>
                  </a:p>
                </p:txBody>
              </p:sp>
            </p:grpSp>
            <p:sp>
              <p:nvSpPr>
                <p:cNvPr id="18" name="Freeform 17"/>
                <p:cNvSpPr/>
                <p:nvPr/>
              </p:nvSpPr>
              <p:spPr>
                <a:xfrm>
                  <a:off x="4756245" y="3138984"/>
                  <a:ext cx="368489" cy="272955"/>
                </a:xfrm>
                <a:custGeom>
                  <a:avLst/>
                  <a:gdLst>
                    <a:gd name="connsiteX0" fmla="*/ 177420 w 368489"/>
                    <a:gd name="connsiteY0" fmla="*/ 0 h 272955"/>
                    <a:gd name="connsiteX1" fmla="*/ 245659 w 368489"/>
                    <a:gd name="connsiteY1" fmla="*/ 40943 h 272955"/>
                    <a:gd name="connsiteX2" fmla="*/ 368489 w 368489"/>
                    <a:gd name="connsiteY2" fmla="*/ 150126 h 272955"/>
                    <a:gd name="connsiteX3" fmla="*/ 286603 w 368489"/>
                    <a:gd name="connsiteY3" fmla="*/ 191069 h 272955"/>
                    <a:gd name="connsiteX4" fmla="*/ 150125 w 368489"/>
                    <a:gd name="connsiteY4" fmla="*/ 232012 h 272955"/>
                    <a:gd name="connsiteX5" fmla="*/ 109182 w 368489"/>
                    <a:gd name="connsiteY5" fmla="*/ 245660 h 272955"/>
                    <a:gd name="connsiteX6" fmla="*/ 40943 w 368489"/>
                    <a:gd name="connsiteY6" fmla="*/ 259308 h 272955"/>
                    <a:gd name="connsiteX7" fmla="*/ 0 w 368489"/>
                    <a:gd name="connsiteY7" fmla="*/ 272955 h 272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8489" h="272955">
                      <a:moveTo>
                        <a:pt x="177420" y="0"/>
                      </a:moveTo>
                      <a:cubicBezTo>
                        <a:pt x="200166" y="13648"/>
                        <a:pt x="225129" y="24145"/>
                        <a:pt x="245659" y="40943"/>
                      </a:cubicBezTo>
                      <a:cubicBezTo>
                        <a:pt x="451342" y="209229"/>
                        <a:pt x="247753" y="69633"/>
                        <a:pt x="368489" y="150126"/>
                      </a:cubicBezTo>
                      <a:cubicBezTo>
                        <a:pt x="219177" y="199894"/>
                        <a:pt x="445334" y="120522"/>
                        <a:pt x="286603" y="191069"/>
                      </a:cubicBezTo>
                      <a:cubicBezTo>
                        <a:pt x="228229" y="217013"/>
                        <a:pt x="205700" y="216133"/>
                        <a:pt x="150125" y="232012"/>
                      </a:cubicBezTo>
                      <a:cubicBezTo>
                        <a:pt x="136293" y="235964"/>
                        <a:pt x="123138" y="242171"/>
                        <a:pt x="109182" y="245660"/>
                      </a:cubicBezTo>
                      <a:cubicBezTo>
                        <a:pt x="86678" y="251286"/>
                        <a:pt x="63447" y="253682"/>
                        <a:pt x="40943" y="259308"/>
                      </a:cubicBezTo>
                      <a:cubicBezTo>
                        <a:pt x="26987" y="262797"/>
                        <a:pt x="0" y="272955"/>
                        <a:pt x="0" y="272955"/>
                      </a:cubicBez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3043451" y="3521122"/>
                  <a:ext cx="218364" cy="191069"/>
                </a:xfrm>
                <a:custGeom>
                  <a:avLst/>
                  <a:gdLst>
                    <a:gd name="connsiteX0" fmla="*/ 0 w 218364"/>
                    <a:gd name="connsiteY0" fmla="*/ 0 h 191069"/>
                    <a:gd name="connsiteX1" fmla="*/ 27295 w 218364"/>
                    <a:gd name="connsiteY1" fmla="*/ 68239 h 191069"/>
                    <a:gd name="connsiteX2" fmla="*/ 68239 w 218364"/>
                    <a:gd name="connsiteY2" fmla="*/ 163774 h 191069"/>
                    <a:gd name="connsiteX3" fmla="*/ 109182 w 218364"/>
                    <a:gd name="connsiteY3" fmla="*/ 191069 h 191069"/>
                    <a:gd name="connsiteX4" fmla="*/ 150125 w 218364"/>
                    <a:gd name="connsiteY4" fmla="*/ 163774 h 191069"/>
                    <a:gd name="connsiteX5" fmla="*/ 204716 w 218364"/>
                    <a:gd name="connsiteY5" fmla="*/ 81887 h 191069"/>
                    <a:gd name="connsiteX6" fmla="*/ 218364 w 218364"/>
                    <a:gd name="connsiteY6" fmla="*/ 68239 h 191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8364" h="191069">
                      <a:moveTo>
                        <a:pt x="0" y="0"/>
                      </a:moveTo>
                      <a:cubicBezTo>
                        <a:pt x="9098" y="22746"/>
                        <a:pt x="18693" y="45300"/>
                        <a:pt x="27295" y="68239"/>
                      </a:cubicBezTo>
                      <a:cubicBezTo>
                        <a:pt x="38931" y="99268"/>
                        <a:pt x="46454" y="137632"/>
                        <a:pt x="68239" y="163774"/>
                      </a:cubicBezTo>
                      <a:cubicBezTo>
                        <a:pt x="78740" y="176375"/>
                        <a:pt x="95534" y="181971"/>
                        <a:pt x="109182" y="191069"/>
                      </a:cubicBezTo>
                      <a:cubicBezTo>
                        <a:pt x="122830" y="181971"/>
                        <a:pt x="139324" y="176118"/>
                        <a:pt x="150125" y="163774"/>
                      </a:cubicBezTo>
                      <a:cubicBezTo>
                        <a:pt x="171727" y="139086"/>
                        <a:pt x="181519" y="105084"/>
                        <a:pt x="204716" y="81887"/>
                      </a:cubicBezTo>
                      <a:lnTo>
                        <a:pt x="218364" y="68239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/>
                </a:p>
              </p:txBody>
            </p:sp>
          </p:grpSp>
          <p:sp>
            <p:nvSpPr>
              <p:cNvPr id="21" name="Freeform 20"/>
              <p:cNvSpPr/>
              <p:nvPr/>
            </p:nvSpPr>
            <p:spPr>
              <a:xfrm>
                <a:off x="4940490" y="1965278"/>
                <a:ext cx="150125" cy="409432"/>
              </a:xfrm>
              <a:custGeom>
                <a:avLst/>
                <a:gdLst>
                  <a:gd name="connsiteX0" fmla="*/ 27295 w 150125"/>
                  <a:gd name="connsiteY0" fmla="*/ 0 h 409432"/>
                  <a:gd name="connsiteX1" fmla="*/ 54591 w 150125"/>
                  <a:gd name="connsiteY1" fmla="*/ 68238 h 409432"/>
                  <a:gd name="connsiteX2" fmla="*/ 150125 w 150125"/>
                  <a:gd name="connsiteY2" fmla="*/ 191068 h 409432"/>
                  <a:gd name="connsiteX3" fmla="*/ 109182 w 150125"/>
                  <a:gd name="connsiteY3" fmla="*/ 300250 h 409432"/>
                  <a:gd name="connsiteX4" fmla="*/ 13647 w 150125"/>
                  <a:gd name="connsiteY4" fmla="*/ 382137 h 409432"/>
                  <a:gd name="connsiteX5" fmla="*/ 0 w 150125"/>
                  <a:gd name="connsiteY5" fmla="*/ 409432 h 409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0125" h="409432">
                    <a:moveTo>
                      <a:pt x="27295" y="0"/>
                    </a:moveTo>
                    <a:cubicBezTo>
                      <a:pt x="36394" y="22746"/>
                      <a:pt x="42860" y="46731"/>
                      <a:pt x="54591" y="68238"/>
                    </a:cubicBezTo>
                    <a:cubicBezTo>
                      <a:pt x="93771" y="140067"/>
                      <a:pt x="101351" y="142294"/>
                      <a:pt x="150125" y="191068"/>
                    </a:cubicBezTo>
                    <a:cubicBezTo>
                      <a:pt x="137745" y="252969"/>
                      <a:pt x="146173" y="255860"/>
                      <a:pt x="109182" y="300250"/>
                    </a:cubicBezTo>
                    <a:cubicBezTo>
                      <a:pt x="34900" y="389389"/>
                      <a:pt x="104013" y="291771"/>
                      <a:pt x="13647" y="382137"/>
                    </a:cubicBezTo>
                    <a:cubicBezTo>
                      <a:pt x="6454" y="389330"/>
                      <a:pt x="4549" y="400334"/>
                      <a:pt x="0" y="409432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1998641" y="4238668"/>
              <a:ext cx="27894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- </a:t>
              </a:r>
              <a:r>
                <a:rPr lang="en-US" sz="1600" dirty="0"/>
                <a:t>Next</a:t>
              </a:r>
              <a:r>
                <a:rPr lang="en-US" sz="1600" dirty="0" smtClean="0"/>
                <a:t> word prediction( </a:t>
              </a:r>
              <a:r>
                <a:rPr lang="en-US" sz="1600" dirty="0" err="1" smtClean="0"/>
                <a:t>google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- Sentiment (twitter)</a:t>
              </a:r>
              <a:endParaRPr lang="en-IN" sz="1600" dirty="0"/>
            </a:p>
          </p:txBody>
        </p:sp>
      </p:grpSp>
      <p:sp>
        <p:nvSpPr>
          <p:cNvPr id="25" name="Freeform 24"/>
          <p:cNvSpPr/>
          <p:nvPr/>
        </p:nvSpPr>
        <p:spPr>
          <a:xfrm>
            <a:off x="2047163" y="2415655"/>
            <a:ext cx="6578221" cy="2620370"/>
          </a:xfrm>
          <a:custGeom>
            <a:avLst/>
            <a:gdLst>
              <a:gd name="connsiteX0" fmla="*/ 0 w 6441906"/>
              <a:gd name="connsiteY0" fmla="*/ 1760561 h 1897039"/>
              <a:gd name="connsiteX1" fmla="*/ 109182 w 6441906"/>
              <a:gd name="connsiteY1" fmla="*/ 1746914 h 1897039"/>
              <a:gd name="connsiteX2" fmla="*/ 423081 w 6441906"/>
              <a:gd name="connsiteY2" fmla="*/ 1774209 h 1897039"/>
              <a:gd name="connsiteX3" fmla="*/ 545911 w 6441906"/>
              <a:gd name="connsiteY3" fmla="*/ 1801505 h 1897039"/>
              <a:gd name="connsiteX4" fmla="*/ 600502 w 6441906"/>
              <a:gd name="connsiteY4" fmla="*/ 1815152 h 1897039"/>
              <a:gd name="connsiteX5" fmla="*/ 805218 w 6441906"/>
              <a:gd name="connsiteY5" fmla="*/ 1828800 h 1897039"/>
              <a:gd name="connsiteX6" fmla="*/ 1050878 w 6441906"/>
              <a:gd name="connsiteY6" fmla="*/ 1869743 h 1897039"/>
              <a:gd name="connsiteX7" fmla="*/ 1119117 w 6441906"/>
              <a:gd name="connsiteY7" fmla="*/ 1883391 h 1897039"/>
              <a:gd name="connsiteX8" fmla="*/ 1241946 w 6441906"/>
              <a:gd name="connsiteY8" fmla="*/ 1897039 h 1897039"/>
              <a:gd name="connsiteX9" fmla="*/ 4285397 w 6441906"/>
              <a:gd name="connsiteY9" fmla="*/ 1883391 h 1897039"/>
              <a:gd name="connsiteX10" fmla="*/ 4326340 w 6441906"/>
              <a:gd name="connsiteY10" fmla="*/ 1869743 h 1897039"/>
              <a:gd name="connsiteX11" fmla="*/ 4490114 w 6441906"/>
              <a:gd name="connsiteY11" fmla="*/ 1815152 h 1897039"/>
              <a:gd name="connsiteX12" fmla="*/ 4531057 w 6441906"/>
              <a:gd name="connsiteY12" fmla="*/ 1801505 h 1897039"/>
              <a:gd name="connsiteX13" fmla="*/ 4626591 w 6441906"/>
              <a:gd name="connsiteY13" fmla="*/ 1774209 h 1897039"/>
              <a:gd name="connsiteX14" fmla="*/ 4708478 w 6441906"/>
              <a:gd name="connsiteY14" fmla="*/ 1760561 h 1897039"/>
              <a:gd name="connsiteX15" fmla="*/ 4790364 w 6441906"/>
              <a:gd name="connsiteY15" fmla="*/ 1733266 h 1897039"/>
              <a:gd name="connsiteX16" fmla="*/ 4926842 w 6441906"/>
              <a:gd name="connsiteY16" fmla="*/ 1678675 h 1897039"/>
              <a:gd name="connsiteX17" fmla="*/ 4981433 w 6441906"/>
              <a:gd name="connsiteY17" fmla="*/ 1665027 h 1897039"/>
              <a:gd name="connsiteX18" fmla="*/ 5049672 w 6441906"/>
              <a:gd name="connsiteY18" fmla="*/ 1651379 h 1897039"/>
              <a:gd name="connsiteX19" fmla="*/ 5117911 w 6441906"/>
              <a:gd name="connsiteY19" fmla="*/ 1624084 h 1897039"/>
              <a:gd name="connsiteX20" fmla="*/ 5213445 w 6441906"/>
              <a:gd name="connsiteY20" fmla="*/ 1596788 h 1897039"/>
              <a:gd name="connsiteX21" fmla="*/ 5295332 w 6441906"/>
              <a:gd name="connsiteY21" fmla="*/ 1569493 h 1897039"/>
              <a:gd name="connsiteX22" fmla="*/ 5377218 w 6441906"/>
              <a:gd name="connsiteY22" fmla="*/ 1528549 h 1897039"/>
              <a:gd name="connsiteX23" fmla="*/ 5418161 w 6441906"/>
              <a:gd name="connsiteY23" fmla="*/ 1501254 h 1897039"/>
              <a:gd name="connsiteX24" fmla="*/ 5472752 w 6441906"/>
              <a:gd name="connsiteY24" fmla="*/ 1473958 h 1897039"/>
              <a:gd name="connsiteX25" fmla="*/ 5513696 w 6441906"/>
              <a:gd name="connsiteY25" fmla="*/ 1446663 h 1897039"/>
              <a:gd name="connsiteX26" fmla="*/ 5581935 w 6441906"/>
              <a:gd name="connsiteY26" fmla="*/ 1419367 h 1897039"/>
              <a:gd name="connsiteX27" fmla="*/ 5622878 w 6441906"/>
              <a:gd name="connsiteY27" fmla="*/ 1392072 h 1897039"/>
              <a:gd name="connsiteX28" fmla="*/ 5745708 w 6441906"/>
              <a:gd name="connsiteY28" fmla="*/ 1337481 h 1897039"/>
              <a:gd name="connsiteX29" fmla="*/ 5800299 w 6441906"/>
              <a:gd name="connsiteY29" fmla="*/ 1310185 h 1897039"/>
              <a:gd name="connsiteX30" fmla="*/ 5909481 w 6441906"/>
              <a:gd name="connsiteY30" fmla="*/ 1241946 h 1897039"/>
              <a:gd name="connsiteX31" fmla="*/ 5950424 w 6441906"/>
              <a:gd name="connsiteY31" fmla="*/ 1228299 h 1897039"/>
              <a:gd name="connsiteX32" fmla="*/ 6073254 w 6441906"/>
              <a:gd name="connsiteY32" fmla="*/ 1146412 h 1897039"/>
              <a:gd name="connsiteX33" fmla="*/ 6114197 w 6441906"/>
              <a:gd name="connsiteY33" fmla="*/ 1119116 h 1897039"/>
              <a:gd name="connsiteX34" fmla="*/ 6141493 w 6441906"/>
              <a:gd name="connsiteY34" fmla="*/ 1064525 h 1897039"/>
              <a:gd name="connsiteX35" fmla="*/ 6182436 w 6441906"/>
              <a:gd name="connsiteY35" fmla="*/ 1009934 h 1897039"/>
              <a:gd name="connsiteX36" fmla="*/ 6209732 w 6441906"/>
              <a:gd name="connsiteY36" fmla="*/ 968991 h 1897039"/>
              <a:gd name="connsiteX37" fmla="*/ 6277970 w 6441906"/>
              <a:gd name="connsiteY37" fmla="*/ 873457 h 1897039"/>
              <a:gd name="connsiteX38" fmla="*/ 6291618 w 6441906"/>
              <a:gd name="connsiteY38" fmla="*/ 818866 h 1897039"/>
              <a:gd name="connsiteX39" fmla="*/ 6305266 w 6441906"/>
              <a:gd name="connsiteY39" fmla="*/ 750627 h 1897039"/>
              <a:gd name="connsiteX40" fmla="*/ 6332561 w 6441906"/>
              <a:gd name="connsiteY40" fmla="*/ 696036 h 1897039"/>
              <a:gd name="connsiteX41" fmla="*/ 6346209 w 6441906"/>
              <a:gd name="connsiteY41" fmla="*/ 586854 h 1897039"/>
              <a:gd name="connsiteX42" fmla="*/ 6359857 w 6441906"/>
              <a:gd name="connsiteY42" fmla="*/ 545911 h 1897039"/>
              <a:gd name="connsiteX43" fmla="*/ 6373505 w 6441906"/>
              <a:gd name="connsiteY43" fmla="*/ 464024 h 1897039"/>
              <a:gd name="connsiteX44" fmla="*/ 6387152 w 6441906"/>
              <a:gd name="connsiteY44" fmla="*/ 368490 h 1897039"/>
              <a:gd name="connsiteX45" fmla="*/ 6400800 w 6441906"/>
              <a:gd name="connsiteY45" fmla="*/ 245660 h 1897039"/>
              <a:gd name="connsiteX46" fmla="*/ 6414448 w 6441906"/>
              <a:gd name="connsiteY46" fmla="*/ 191069 h 1897039"/>
              <a:gd name="connsiteX47" fmla="*/ 6428096 w 6441906"/>
              <a:gd name="connsiteY47" fmla="*/ 109182 h 1897039"/>
              <a:gd name="connsiteX48" fmla="*/ 6441743 w 6441906"/>
              <a:gd name="connsiteY48" fmla="*/ 0 h 18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441906" h="1897039">
                <a:moveTo>
                  <a:pt x="0" y="1760561"/>
                </a:moveTo>
                <a:cubicBezTo>
                  <a:pt x="36394" y="1756012"/>
                  <a:pt x="72524" y="1745731"/>
                  <a:pt x="109182" y="1746914"/>
                </a:cubicBezTo>
                <a:cubicBezTo>
                  <a:pt x="214155" y="1750300"/>
                  <a:pt x="423081" y="1774209"/>
                  <a:pt x="423081" y="1774209"/>
                </a:cubicBezTo>
                <a:lnTo>
                  <a:pt x="545911" y="1801505"/>
                </a:lnTo>
                <a:cubicBezTo>
                  <a:pt x="564188" y="1805723"/>
                  <a:pt x="581848" y="1813188"/>
                  <a:pt x="600502" y="1815152"/>
                </a:cubicBezTo>
                <a:cubicBezTo>
                  <a:pt x="668516" y="1822311"/>
                  <a:pt x="736979" y="1824251"/>
                  <a:pt x="805218" y="1828800"/>
                </a:cubicBezTo>
                <a:cubicBezTo>
                  <a:pt x="955155" y="1878780"/>
                  <a:pt x="827815" y="1843501"/>
                  <a:pt x="1050878" y="1869743"/>
                </a:cubicBezTo>
                <a:cubicBezTo>
                  <a:pt x="1073916" y="1872453"/>
                  <a:pt x="1096153" y="1880110"/>
                  <a:pt x="1119117" y="1883391"/>
                </a:cubicBezTo>
                <a:cubicBezTo>
                  <a:pt x="1159898" y="1889217"/>
                  <a:pt x="1201003" y="1892490"/>
                  <a:pt x="1241946" y="1897039"/>
                </a:cubicBezTo>
                <a:lnTo>
                  <a:pt x="4285397" y="1883391"/>
                </a:lnTo>
                <a:cubicBezTo>
                  <a:pt x="4299782" y="1883264"/>
                  <a:pt x="4312461" y="1873528"/>
                  <a:pt x="4326340" y="1869743"/>
                </a:cubicBezTo>
                <a:cubicBezTo>
                  <a:pt x="4548568" y="1809136"/>
                  <a:pt x="4351366" y="1874615"/>
                  <a:pt x="4490114" y="1815152"/>
                </a:cubicBezTo>
                <a:cubicBezTo>
                  <a:pt x="4503337" y="1809485"/>
                  <a:pt x="4517278" y="1805639"/>
                  <a:pt x="4531057" y="1801505"/>
                </a:cubicBezTo>
                <a:cubicBezTo>
                  <a:pt x="4562779" y="1791988"/>
                  <a:pt x="4594320" y="1781656"/>
                  <a:pt x="4626591" y="1774209"/>
                </a:cubicBezTo>
                <a:cubicBezTo>
                  <a:pt x="4653555" y="1767987"/>
                  <a:pt x="4681632" y="1767272"/>
                  <a:pt x="4708478" y="1760561"/>
                </a:cubicBezTo>
                <a:cubicBezTo>
                  <a:pt x="4736391" y="1753583"/>
                  <a:pt x="4763510" y="1743594"/>
                  <a:pt x="4790364" y="1733266"/>
                </a:cubicBezTo>
                <a:cubicBezTo>
                  <a:pt x="4861895" y="1705754"/>
                  <a:pt x="4868488" y="1695347"/>
                  <a:pt x="4926842" y="1678675"/>
                </a:cubicBezTo>
                <a:cubicBezTo>
                  <a:pt x="4944877" y="1673522"/>
                  <a:pt x="4963123" y="1669096"/>
                  <a:pt x="4981433" y="1665027"/>
                </a:cubicBezTo>
                <a:cubicBezTo>
                  <a:pt x="5004077" y="1659995"/>
                  <a:pt x="5027453" y="1658044"/>
                  <a:pt x="5049672" y="1651379"/>
                </a:cubicBezTo>
                <a:cubicBezTo>
                  <a:pt x="5073137" y="1644339"/>
                  <a:pt x="5094670" y="1631831"/>
                  <a:pt x="5117911" y="1624084"/>
                </a:cubicBezTo>
                <a:cubicBezTo>
                  <a:pt x="5149330" y="1613611"/>
                  <a:pt x="5181791" y="1606528"/>
                  <a:pt x="5213445" y="1596788"/>
                </a:cubicBezTo>
                <a:cubicBezTo>
                  <a:pt x="5240945" y="1588327"/>
                  <a:pt x="5295332" y="1569493"/>
                  <a:pt x="5295332" y="1569493"/>
                </a:cubicBezTo>
                <a:cubicBezTo>
                  <a:pt x="5412660" y="1491273"/>
                  <a:pt x="5264219" y="1585049"/>
                  <a:pt x="5377218" y="1528549"/>
                </a:cubicBezTo>
                <a:cubicBezTo>
                  <a:pt x="5391889" y="1521214"/>
                  <a:pt x="5403920" y="1509392"/>
                  <a:pt x="5418161" y="1501254"/>
                </a:cubicBezTo>
                <a:cubicBezTo>
                  <a:pt x="5435825" y="1491160"/>
                  <a:pt x="5455088" y="1484052"/>
                  <a:pt x="5472752" y="1473958"/>
                </a:cubicBezTo>
                <a:cubicBezTo>
                  <a:pt x="5486994" y="1465820"/>
                  <a:pt x="5499025" y="1453998"/>
                  <a:pt x="5513696" y="1446663"/>
                </a:cubicBezTo>
                <a:cubicBezTo>
                  <a:pt x="5535608" y="1435707"/>
                  <a:pt x="5560023" y="1430323"/>
                  <a:pt x="5581935" y="1419367"/>
                </a:cubicBezTo>
                <a:cubicBezTo>
                  <a:pt x="5596606" y="1412032"/>
                  <a:pt x="5608540" y="1400038"/>
                  <a:pt x="5622878" y="1392072"/>
                </a:cubicBezTo>
                <a:cubicBezTo>
                  <a:pt x="5787399" y="1300671"/>
                  <a:pt x="5642924" y="1381531"/>
                  <a:pt x="5745708" y="1337481"/>
                </a:cubicBezTo>
                <a:cubicBezTo>
                  <a:pt x="5764408" y="1329467"/>
                  <a:pt x="5782726" y="1320436"/>
                  <a:pt x="5800299" y="1310185"/>
                </a:cubicBezTo>
                <a:cubicBezTo>
                  <a:pt x="5837370" y="1288560"/>
                  <a:pt x="5868766" y="1255517"/>
                  <a:pt x="5909481" y="1241946"/>
                </a:cubicBezTo>
                <a:lnTo>
                  <a:pt x="5950424" y="1228299"/>
                </a:lnTo>
                <a:lnTo>
                  <a:pt x="6073254" y="1146412"/>
                </a:lnTo>
                <a:lnTo>
                  <a:pt x="6114197" y="1119116"/>
                </a:lnTo>
                <a:cubicBezTo>
                  <a:pt x="6123296" y="1100919"/>
                  <a:pt x="6130710" y="1081777"/>
                  <a:pt x="6141493" y="1064525"/>
                </a:cubicBezTo>
                <a:cubicBezTo>
                  <a:pt x="6153548" y="1045236"/>
                  <a:pt x="6169215" y="1028443"/>
                  <a:pt x="6182436" y="1009934"/>
                </a:cubicBezTo>
                <a:cubicBezTo>
                  <a:pt x="6191970" y="996587"/>
                  <a:pt x="6200198" y="982338"/>
                  <a:pt x="6209732" y="968991"/>
                </a:cubicBezTo>
                <a:cubicBezTo>
                  <a:pt x="6294355" y="850520"/>
                  <a:pt x="6213657" y="969928"/>
                  <a:pt x="6277970" y="873457"/>
                </a:cubicBezTo>
                <a:cubicBezTo>
                  <a:pt x="6282519" y="855260"/>
                  <a:pt x="6287549" y="837176"/>
                  <a:pt x="6291618" y="818866"/>
                </a:cubicBezTo>
                <a:cubicBezTo>
                  <a:pt x="6296650" y="796222"/>
                  <a:pt x="6297931" y="772633"/>
                  <a:pt x="6305266" y="750627"/>
                </a:cubicBezTo>
                <a:cubicBezTo>
                  <a:pt x="6311700" y="731326"/>
                  <a:pt x="6323463" y="714233"/>
                  <a:pt x="6332561" y="696036"/>
                </a:cubicBezTo>
                <a:cubicBezTo>
                  <a:pt x="6337110" y="659642"/>
                  <a:pt x="6339648" y="622940"/>
                  <a:pt x="6346209" y="586854"/>
                </a:cubicBezTo>
                <a:cubicBezTo>
                  <a:pt x="6348782" y="572700"/>
                  <a:pt x="6356736" y="559954"/>
                  <a:pt x="6359857" y="545911"/>
                </a:cubicBezTo>
                <a:cubicBezTo>
                  <a:pt x="6365860" y="518898"/>
                  <a:pt x="6369297" y="491374"/>
                  <a:pt x="6373505" y="464024"/>
                </a:cubicBezTo>
                <a:cubicBezTo>
                  <a:pt x="6378396" y="432230"/>
                  <a:pt x="6383162" y="400410"/>
                  <a:pt x="6387152" y="368490"/>
                </a:cubicBezTo>
                <a:cubicBezTo>
                  <a:pt x="6392262" y="327613"/>
                  <a:pt x="6394536" y="286376"/>
                  <a:pt x="6400800" y="245660"/>
                </a:cubicBezTo>
                <a:cubicBezTo>
                  <a:pt x="6403652" y="227121"/>
                  <a:pt x="6410769" y="209462"/>
                  <a:pt x="6414448" y="191069"/>
                </a:cubicBezTo>
                <a:cubicBezTo>
                  <a:pt x="6419875" y="163934"/>
                  <a:pt x="6423146" y="136408"/>
                  <a:pt x="6428096" y="109182"/>
                </a:cubicBezTo>
                <a:cubicBezTo>
                  <a:pt x="6444419" y="19401"/>
                  <a:pt x="6441743" y="68940"/>
                  <a:pt x="6441743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8802806" y="2701835"/>
            <a:ext cx="2652521" cy="338554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This is also not very advanced</a:t>
            </a:r>
            <a:endParaRPr lang="en-IN" sz="1600" dirty="0"/>
          </a:p>
        </p:txBody>
      </p:sp>
      <p:sp>
        <p:nvSpPr>
          <p:cNvPr id="28" name="Rectangle 27"/>
          <p:cNvSpPr/>
          <p:nvPr/>
        </p:nvSpPr>
        <p:spPr>
          <a:xfrm>
            <a:off x="5680391" y="5250555"/>
            <a:ext cx="1939955" cy="369332"/>
          </a:xfrm>
          <a:prstGeom prst="rect">
            <a:avLst/>
          </a:prstGeom>
          <a:solidFill>
            <a:srgbClr val="FF0066"/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Bahnschrift" pitchFamily="34" charset="0"/>
              </a:rPr>
              <a:t>Discriminative AI</a:t>
            </a:r>
          </a:p>
        </p:txBody>
      </p:sp>
      <p:sp>
        <p:nvSpPr>
          <p:cNvPr id="29" name="Freeform 28"/>
          <p:cNvSpPr/>
          <p:nvPr/>
        </p:nvSpPr>
        <p:spPr>
          <a:xfrm>
            <a:off x="7206018" y="4735773"/>
            <a:ext cx="45719" cy="514782"/>
          </a:xfrm>
          <a:custGeom>
            <a:avLst/>
            <a:gdLst>
              <a:gd name="connsiteX0" fmla="*/ 0 w 245660"/>
              <a:gd name="connsiteY0" fmla="*/ 0 h 477672"/>
              <a:gd name="connsiteX1" fmla="*/ 27295 w 245660"/>
              <a:gd name="connsiteY1" fmla="*/ 136478 h 477672"/>
              <a:gd name="connsiteX2" fmla="*/ 54591 w 245660"/>
              <a:gd name="connsiteY2" fmla="*/ 218364 h 477672"/>
              <a:gd name="connsiteX3" fmla="*/ 136478 w 245660"/>
              <a:gd name="connsiteY3" fmla="*/ 341194 h 477672"/>
              <a:gd name="connsiteX4" fmla="*/ 163773 w 245660"/>
              <a:gd name="connsiteY4" fmla="*/ 382137 h 477672"/>
              <a:gd name="connsiteX5" fmla="*/ 204716 w 245660"/>
              <a:gd name="connsiteY5" fmla="*/ 423081 h 477672"/>
              <a:gd name="connsiteX6" fmla="*/ 245660 w 245660"/>
              <a:gd name="connsiteY6" fmla="*/ 477672 h 47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660" h="477672">
                <a:moveTo>
                  <a:pt x="0" y="0"/>
                </a:moveTo>
                <a:cubicBezTo>
                  <a:pt x="9220" y="55322"/>
                  <a:pt x="12028" y="85588"/>
                  <a:pt x="27295" y="136478"/>
                </a:cubicBezTo>
                <a:cubicBezTo>
                  <a:pt x="35563" y="164036"/>
                  <a:pt x="38631" y="194424"/>
                  <a:pt x="54591" y="218364"/>
                </a:cubicBezTo>
                <a:lnTo>
                  <a:pt x="136478" y="341194"/>
                </a:lnTo>
                <a:cubicBezTo>
                  <a:pt x="145576" y="354842"/>
                  <a:pt x="152175" y="370539"/>
                  <a:pt x="163773" y="382137"/>
                </a:cubicBezTo>
                <a:lnTo>
                  <a:pt x="204716" y="423081"/>
                </a:lnTo>
                <a:cubicBezTo>
                  <a:pt x="221581" y="473675"/>
                  <a:pt x="205497" y="457590"/>
                  <a:pt x="245660" y="47767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reeform 29"/>
          <p:cNvSpPr/>
          <p:nvPr/>
        </p:nvSpPr>
        <p:spPr>
          <a:xfrm>
            <a:off x="7124131" y="5158854"/>
            <a:ext cx="191069" cy="110445"/>
          </a:xfrm>
          <a:custGeom>
            <a:avLst/>
            <a:gdLst>
              <a:gd name="connsiteX0" fmla="*/ 191069 w 191069"/>
              <a:gd name="connsiteY0" fmla="*/ 0 h 110445"/>
              <a:gd name="connsiteX1" fmla="*/ 136478 w 191069"/>
              <a:gd name="connsiteY1" fmla="*/ 68239 h 110445"/>
              <a:gd name="connsiteX2" fmla="*/ 95535 w 191069"/>
              <a:gd name="connsiteY2" fmla="*/ 109182 h 110445"/>
              <a:gd name="connsiteX3" fmla="*/ 27296 w 191069"/>
              <a:gd name="connsiteY3" fmla="*/ 95534 h 110445"/>
              <a:gd name="connsiteX4" fmla="*/ 0 w 191069"/>
              <a:gd name="connsiteY4" fmla="*/ 54591 h 11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110445">
                <a:moveTo>
                  <a:pt x="191069" y="0"/>
                </a:moveTo>
                <a:cubicBezTo>
                  <a:pt x="172872" y="22746"/>
                  <a:pt x="155660" y="46317"/>
                  <a:pt x="136478" y="68239"/>
                </a:cubicBezTo>
                <a:cubicBezTo>
                  <a:pt x="123768" y="82764"/>
                  <a:pt x="114259" y="104501"/>
                  <a:pt x="95535" y="109182"/>
                </a:cubicBezTo>
                <a:cubicBezTo>
                  <a:pt x="73031" y="114808"/>
                  <a:pt x="50042" y="100083"/>
                  <a:pt x="27296" y="95534"/>
                </a:cubicBezTo>
                <a:lnTo>
                  <a:pt x="0" y="54591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91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473959" y="593677"/>
            <a:ext cx="1023582" cy="887105"/>
            <a:chOff x="1473959" y="593677"/>
            <a:chExt cx="1023582" cy="887105"/>
          </a:xfrm>
        </p:grpSpPr>
        <p:sp>
          <p:nvSpPr>
            <p:cNvPr id="2" name="TextBox 1"/>
            <p:cNvSpPr txBox="1"/>
            <p:nvPr/>
          </p:nvSpPr>
          <p:spPr>
            <a:xfrm>
              <a:off x="1606479" y="829451"/>
              <a:ext cx="758541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GenAI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" name="Freeform 2"/>
            <p:cNvSpPr/>
            <p:nvPr/>
          </p:nvSpPr>
          <p:spPr>
            <a:xfrm>
              <a:off x="1473959" y="593677"/>
              <a:ext cx="1023582" cy="887105"/>
            </a:xfrm>
            <a:custGeom>
              <a:avLst/>
              <a:gdLst>
                <a:gd name="connsiteX0" fmla="*/ 723331 w 1023582"/>
                <a:gd name="connsiteY0" fmla="*/ 95535 h 887105"/>
                <a:gd name="connsiteX1" fmla="*/ 655092 w 1023582"/>
                <a:gd name="connsiteY1" fmla="*/ 40944 h 887105"/>
                <a:gd name="connsiteX2" fmla="*/ 504967 w 1023582"/>
                <a:gd name="connsiteY2" fmla="*/ 0 h 887105"/>
                <a:gd name="connsiteX3" fmla="*/ 163773 w 1023582"/>
                <a:gd name="connsiteY3" fmla="*/ 13648 h 887105"/>
                <a:gd name="connsiteX4" fmla="*/ 40943 w 1023582"/>
                <a:gd name="connsiteY4" fmla="*/ 109182 h 887105"/>
                <a:gd name="connsiteX5" fmla="*/ 13647 w 1023582"/>
                <a:gd name="connsiteY5" fmla="*/ 191069 h 887105"/>
                <a:gd name="connsiteX6" fmla="*/ 0 w 1023582"/>
                <a:gd name="connsiteY6" fmla="*/ 232012 h 887105"/>
                <a:gd name="connsiteX7" fmla="*/ 13647 w 1023582"/>
                <a:gd name="connsiteY7" fmla="*/ 477672 h 887105"/>
                <a:gd name="connsiteX8" fmla="*/ 27295 w 1023582"/>
                <a:gd name="connsiteY8" fmla="*/ 532263 h 887105"/>
                <a:gd name="connsiteX9" fmla="*/ 54591 w 1023582"/>
                <a:gd name="connsiteY9" fmla="*/ 573206 h 887105"/>
                <a:gd name="connsiteX10" fmla="*/ 122830 w 1023582"/>
                <a:gd name="connsiteY10" fmla="*/ 682388 h 887105"/>
                <a:gd name="connsiteX11" fmla="*/ 245659 w 1023582"/>
                <a:gd name="connsiteY11" fmla="*/ 791570 h 887105"/>
                <a:gd name="connsiteX12" fmla="*/ 354842 w 1023582"/>
                <a:gd name="connsiteY12" fmla="*/ 846161 h 887105"/>
                <a:gd name="connsiteX13" fmla="*/ 409433 w 1023582"/>
                <a:gd name="connsiteY13" fmla="*/ 873457 h 887105"/>
                <a:gd name="connsiteX14" fmla="*/ 491319 w 1023582"/>
                <a:gd name="connsiteY14" fmla="*/ 887105 h 887105"/>
                <a:gd name="connsiteX15" fmla="*/ 805218 w 1023582"/>
                <a:gd name="connsiteY15" fmla="*/ 873457 h 887105"/>
                <a:gd name="connsiteX16" fmla="*/ 859809 w 1023582"/>
                <a:gd name="connsiteY16" fmla="*/ 832514 h 887105"/>
                <a:gd name="connsiteX17" fmla="*/ 914400 w 1023582"/>
                <a:gd name="connsiteY17" fmla="*/ 805218 h 887105"/>
                <a:gd name="connsiteX18" fmla="*/ 941695 w 1023582"/>
                <a:gd name="connsiteY18" fmla="*/ 750627 h 887105"/>
                <a:gd name="connsiteX19" fmla="*/ 968991 w 1023582"/>
                <a:gd name="connsiteY19" fmla="*/ 709684 h 887105"/>
                <a:gd name="connsiteX20" fmla="*/ 1009934 w 1023582"/>
                <a:gd name="connsiteY20" fmla="*/ 600502 h 887105"/>
                <a:gd name="connsiteX21" fmla="*/ 1023582 w 1023582"/>
                <a:gd name="connsiteY21" fmla="*/ 545911 h 887105"/>
                <a:gd name="connsiteX22" fmla="*/ 1009934 w 1023582"/>
                <a:gd name="connsiteY22" fmla="*/ 313899 h 887105"/>
                <a:gd name="connsiteX23" fmla="*/ 955343 w 1023582"/>
                <a:gd name="connsiteY23" fmla="*/ 191069 h 887105"/>
                <a:gd name="connsiteX24" fmla="*/ 914400 w 1023582"/>
                <a:gd name="connsiteY24" fmla="*/ 177421 h 887105"/>
                <a:gd name="connsiteX25" fmla="*/ 709683 w 1023582"/>
                <a:gd name="connsiteY25" fmla="*/ 150126 h 887105"/>
                <a:gd name="connsiteX26" fmla="*/ 696036 w 1023582"/>
                <a:gd name="connsiteY26" fmla="*/ 40944 h 88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23582" h="887105">
                  <a:moveTo>
                    <a:pt x="723331" y="95535"/>
                  </a:moveTo>
                  <a:cubicBezTo>
                    <a:pt x="700585" y="77338"/>
                    <a:pt x="680665" y="54893"/>
                    <a:pt x="655092" y="40944"/>
                  </a:cubicBezTo>
                  <a:cubicBezTo>
                    <a:pt x="614992" y="19071"/>
                    <a:pt x="549988" y="9004"/>
                    <a:pt x="504967" y="0"/>
                  </a:cubicBezTo>
                  <a:cubicBezTo>
                    <a:pt x="391236" y="4549"/>
                    <a:pt x="276143" y="-4476"/>
                    <a:pt x="163773" y="13648"/>
                  </a:cubicBezTo>
                  <a:cubicBezTo>
                    <a:pt x="124845" y="19927"/>
                    <a:pt x="70360" y="79765"/>
                    <a:pt x="40943" y="109182"/>
                  </a:cubicBezTo>
                  <a:lnTo>
                    <a:pt x="13647" y="191069"/>
                  </a:lnTo>
                  <a:lnTo>
                    <a:pt x="0" y="232012"/>
                  </a:lnTo>
                  <a:cubicBezTo>
                    <a:pt x="4549" y="313899"/>
                    <a:pt x="6222" y="395996"/>
                    <a:pt x="13647" y="477672"/>
                  </a:cubicBezTo>
                  <a:cubicBezTo>
                    <a:pt x="15345" y="496352"/>
                    <a:pt x="19906" y="515023"/>
                    <a:pt x="27295" y="532263"/>
                  </a:cubicBezTo>
                  <a:cubicBezTo>
                    <a:pt x="33756" y="547339"/>
                    <a:pt x="46453" y="558965"/>
                    <a:pt x="54591" y="573206"/>
                  </a:cubicBezTo>
                  <a:cubicBezTo>
                    <a:pt x="90188" y="635501"/>
                    <a:pt x="71770" y="625654"/>
                    <a:pt x="122830" y="682388"/>
                  </a:cubicBezTo>
                  <a:cubicBezTo>
                    <a:pt x="161109" y="724920"/>
                    <a:pt x="196055" y="764513"/>
                    <a:pt x="245659" y="791570"/>
                  </a:cubicBezTo>
                  <a:cubicBezTo>
                    <a:pt x="281381" y="811054"/>
                    <a:pt x="318448" y="827964"/>
                    <a:pt x="354842" y="846161"/>
                  </a:cubicBezTo>
                  <a:cubicBezTo>
                    <a:pt x="373039" y="855260"/>
                    <a:pt x="389365" y="870112"/>
                    <a:pt x="409433" y="873457"/>
                  </a:cubicBezTo>
                  <a:lnTo>
                    <a:pt x="491319" y="887105"/>
                  </a:lnTo>
                  <a:cubicBezTo>
                    <a:pt x="595952" y="882556"/>
                    <a:pt x="701617" y="888805"/>
                    <a:pt x="805218" y="873457"/>
                  </a:cubicBezTo>
                  <a:cubicBezTo>
                    <a:pt x="827719" y="870124"/>
                    <a:pt x="840520" y="844569"/>
                    <a:pt x="859809" y="832514"/>
                  </a:cubicBezTo>
                  <a:cubicBezTo>
                    <a:pt x="877061" y="821731"/>
                    <a:pt x="896203" y="814317"/>
                    <a:pt x="914400" y="805218"/>
                  </a:cubicBezTo>
                  <a:cubicBezTo>
                    <a:pt x="923498" y="787021"/>
                    <a:pt x="931601" y="768291"/>
                    <a:pt x="941695" y="750627"/>
                  </a:cubicBezTo>
                  <a:cubicBezTo>
                    <a:pt x="949833" y="736386"/>
                    <a:pt x="963232" y="725042"/>
                    <a:pt x="968991" y="709684"/>
                  </a:cubicBezTo>
                  <a:cubicBezTo>
                    <a:pt x="1019587" y="574764"/>
                    <a:pt x="945921" y="696523"/>
                    <a:pt x="1009934" y="600502"/>
                  </a:cubicBezTo>
                  <a:cubicBezTo>
                    <a:pt x="1014483" y="582305"/>
                    <a:pt x="1023582" y="564668"/>
                    <a:pt x="1023582" y="545911"/>
                  </a:cubicBezTo>
                  <a:cubicBezTo>
                    <a:pt x="1023582" y="468440"/>
                    <a:pt x="1019954" y="390719"/>
                    <a:pt x="1009934" y="313899"/>
                  </a:cubicBezTo>
                  <a:cubicBezTo>
                    <a:pt x="1007261" y="293409"/>
                    <a:pt x="981605" y="212079"/>
                    <a:pt x="955343" y="191069"/>
                  </a:cubicBezTo>
                  <a:cubicBezTo>
                    <a:pt x="944109" y="182082"/>
                    <a:pt x="928356" y="180910"/>
                    <a:pt x="914400" y="177421"/>
                  </a:cubicBezTo>
                  <a:cubicBezTo>
                    <a:pt x="839018" y="158575"/>
                    <a:pt x="794960" y="158653"/>
                    <a:pt x="709683" y="150126"/>
                  </a:cubicBezTo>
                  <a:cubicBezTo>
                    <a:pt x="688844" y="87603"/>
                    <a:pt x="696036" y="123568"/>
                    <a:pt x="696036" y="4094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Rectangle 8"/>
          <p:cNvSpPr/>
          <p:nvPr/>
        </p:nvSpPr>
        <p:spPr>
          <a:xfrm>
            <a:off x="2671549" y="829451"/>
            <a:ext cx="2927276" cy="33855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Generative the </a:t>
            </a:r>
            <a:r>
              <a:rPr lang="en-IN" sz="1600" dirty="0" smtClean="0"/>
              <a:t>text, image </a:t>
            </a:r>
            <a:r>
              <a:rPr lang="en-IN" sz="1600" dirty="0"/>
              <a:t>Video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446663" y="1630908"/>
            <a:ext cx="10646774" cy="2871814"/>
            <a:chOff x="1446663" y="1630908"/>
            <a:chExt cx="10646774" cy="2871814"/>
          </a:xfrm>
        </p:grpSpPr>
        <p:sp>
          <p:nvSpPr>
            <p:cNvPr id="10" name="TextBox 9"/>
            <p:cNvSpPr txBox="1"/>
            <p:nvPr/>
          </p:nvSpPr>
          <p:spPr>
            <a:xfrm>
              <a:off x="3138985" y="2040341"/>
              <a:ext cx="17220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Foundation Model</a:t>
              </a:r>
              <a:endParaRPr lang="en-IN" sz="1600" dirty="0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860996" y="1630908"/>
              <a:ext cx="2345022" cy="409433"/>
              <a:chOff x="4860996" y="2129051"/>
              <a:chExt cx="2345022" cy="409433"/>
            </a:xfrm>
          </p:grpSpPr>
          <p:sp>
            <p:nvSpPr>
              <p:cNvPr id="11" name="Freeform 10"/>
              <p:cNvSpPr/>
              <p:nvPr/>
            </p:nvSpPr>
            <p:spPr>
              <a:xfrm>
                <a:off x="4860996" y="2210937"/>
                <a:ext cx="2304080" cy="327547"/>
              </a:xfrm>
              <a:custGeom>
                <a:avLst/>
                <a:gdLst>
                  <a:gd name="connsiteX0" fmla="*/ 0 w 2006221"/>
                  <a:gd name="connsiteY0" fmla="*/ 518615 h 518615"/>
                  <a:gd name="connsiteX1" fmla="*/ 313898 w 2006221"/>
                  <a:gd name="connsiteY1" fmla="*/ 464024 h 518615"/>
                  <a:gd name="connsiteX2" fmla="*/ 382137 w 2006221"/>
                  <a:gd name="connsiteY2" fmla="*/ 436729 h 518615"/>
                  <a:gd name="connsiteX3" fmla="*/ 600501 w 2006221"/>
                  <a:gd name="connsiteY3" fmla="*/ 382138 h 518615"/>
                  <a:gd name="connsiteX4" fmla="*/ 723331 w 2006221"/>
                  <a:gd name="connsiteY4" fmla="*/ 354842 h 518615"/>
                  <a:gd name="connsiteX5" fmla="*/ 818865 w 2006221"/>
                  <a:gd name="connsiteY5" fmla="*/ 313899 h 518615"/>
                  <a:gd name="connsiteX6" fmla="*/ 928047 w 2006221"/>
                  <a:gd name="connsiteY6" fmla="*/ 286603 h 518615"/>
                  <a:gd name="connsiteX7" fmla="*/ 1009934 w 2006221"/>
                  <a:gd name="connsiteY7" fmla="*/ 259308 h 518615"/>
                  <a:gd name="connsiteX8" fmla="*/ 1173707 w 2006221"/>
                  <a:gd name="connsiteY8" fmla="*/ 218364 h 518615"/>
                  <a:gd name="connsiteX9" fmla="*/ 1269242 w 2006221"/>
                  <a:gd name="connsiteY9" fmla="*/ 177421 h 518615"/>
                  <a:gd name="connsiteX10" fmla="*/ 1460310 w 2006221"/>
                  <a:gd name="connsiteY10" fmla="*/ 136478 h 518615"/>
                  <a:gd name="connsiteX11" fmla="*/ 1569492 w 2006221"/>
                  <a:gd name="connsiteY11" fmla="*/ 95535 h 518615"/>
                  <a:gd name="connsiteX12" fmla="*/ 1637731 w 2006221"/>
                  <a:gd name="connsiteY12" fmla="*/ 81887 h 518615"/>
                  <a:gd name="connsiteX13" fmla="*/ 1705970 w 2006221"/>
                  <a:gd name="connsiteY13" fmla="*/ 54591 h 518615"/>
                  <a:gd name="connsiteX14" fmla="*/ 1828800 w 2006221"/>
                  <a:gd name="connsiteY14" fmla="*/ 40944 h 518615"/>
                  <a:gd name="connsiteX15" fmla="*/ 1910686 w 2006221"/>
                  <a:gd name="connsiteY15" fmla="*/ 27296 h 518615"/>
                  <a:gd name="connsiteX16" fmla="*/ 1965277 w 2006221"/>
                  <a:gd name="connsiteY16" fmla="*/ 13648 h 518615"/>
                  <a:gd name="connsiteX17" fmla="*/ 2006221 w 2006221"/>
                  <a:gd name="connsiteY17" fmla="*/ 0 h 518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06221" h="518615">
                    <a:moveTo>
                      <a:pt x="0" y="518615"/>
                    </a:moveTo>
                    <a:cubicBezTo>
                      <a:pt x="104633" y="500418"/>
                      <a:pt x="210052" y="486277"/>
                      <a:pt x="313898" y="464024"/>
                    </a:cubicBezTo>
                    <a:cubicBezTo>
                      <a:pt x="337853" y="458891"/>
                      <a:pt x="358581" y="443459"/>
                      <a:pt x="382137" y="436729"/>
                    </a:cubicBezTo>
                    <a:cubicBezTo>
                      <a:pt x="454278" y="416117"/>
                      <a:pt x="527260" y="398414"/>
                      <a:pt x="600501" y="382138"/>
                    </a:cubicBezTo>
                    <a:cubicBezTo>
                      <a:pt x="641444" y="373039"/>
                      <a:pt x="683298" y="367352"/>
                      <a:pt x="723331" y="354842"/>
                    </a:cubicBezTo>
                    <a:cubicBezTo>
                      <a:pt x="756400" y="344508"/>
                      <a:pt x="785997" y="324855"/>
                      <a:pt x="818865" y="313899"/>
                    </a:cubicBezTo>
                    <a:cubicBezTo>
                      <a:pt x="854454" y="302036"/>
                      <a:pt x="891976" y="296909"/>
                      <a:pt x="928047" y="286603"/>
                    </a:cubicBezTo>
                    <a:cubicBezTo>
                      <a:pt x="955712" y="278699"/>
                      <a:pt x="982176" y="266878"/>
                      <a:pt x="1009934" y="259308"/>
                    </a:cubicBezTo>
                    <a:cubicBezTo>
                      <a:pt x="1127579" y="227223"/>
                      <a:pt x="1031697" y="269082"/>
                      <a:pt x="1173707" y="218364"/>
                    </a:cubicBezTo>
                    <a:cubicBezTo>
                      <a:pt x="1206335" y="206711"/>
                      <a:pt x="1235929" y="186939"/>
                      <a:pt x="1269242" y="177421"/>
                    </a:cubicBezTo>
                    <a:cubicBezTo>
                      <a:pt x="1331871" y="159527"/>
                      <a:pt x="1399834" y="160669"/>
                      <a:pt x="1460310" y="136478"/>
                    </a:cubicBezTo>
                    <a:cubicBezTo>
                      <a:pt x="1481194" y="128124"/>
                      <a:pt x="1540958" y="102668"/>
                      <a:pt x="1569492" y="95535"/>
                    </a:cubicBezTo>
                    <a:cubicBezTo>
                      <a:pt x="1591996" y="89909"/>
                      <a:pt x="1615513" y="88553"/>
                      <a:pt x="1637731" y="81887"/>
                    </a:cubicBezTo>
                    <a:cubicBezTo>
                      <a:pt x="1661196" y="74847"/>
                      <a:pt x="1682015" y="59724"/>
                      <a:pt x="1705970" y="54591"/>
                    </a:cubicBezTo>
                    <a:cubicBezTo>
                      <a:pt x="1746251" y="45959"/>
                      <a:pt x="1787966" y="46388"/>
                      <a:pt x="1828800" y="40944"/>
                    </a:cubicBezTo>
                    <a:cubicBezTo>
                      <a:pt x="1856229" y="37287"/>
                      <a:pt x="1883552" y="32723"/>
                      <a:pt x="1910686" y="27296"/>
                    </a:cubicBezTo>
                    <a:cubicBezTo>
                      <a:pt x="1929079" y="23617"/>
                      <a:pt x="1947242" y="18801"/>
                      <a:pt x="1965277" y="13648"/>
                    </a:cubicBezTo>
                    <a:cubicBezTo>
                      <a:pt x="1979110" y="9696"/>
                      <a:pt x="2006221" y="0"/>
                      <a:pt x="2006221" y="0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7014949" y="2129051"/>
                <a:ext cx="191069" cy="204716"/>
              </a:xfrm>
              <a:custGeom>
                <a:avLst/>
                <a:gdLst>
                  <a:gd name="connsiteX0" fmla="*/ 0 w 191069"/>
                  <a:gd name="connsiteY0" fmla="*/ 0 h 204716"/>
                  <a:gd name="connsiteX1" fmla="*/ 150126 w 191069"/>
                  <a:gd name="connsiteY1" fmla="*/ 40943 h 204716"/>
                  <a:gd name="connsiteX2" fmla="*/ 191069 w 191069"/>
                  <a:gd name="connsiteY2" fmla="*/ 54591 h 204716"/>
                  <a:gd name="connsiteX3" fmla="*/ 136478 w 191069"/>
                  <a:gd name="connsiteY3" fmla="*/ 122830 h 204716"/>
                  <a:gd name="connsiteX4" fmla="*/ 81887 w 191069"/>
                  <a:gd name="connsiteY4" fmla="*/ 204716 h 20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069" h="204716">
                    <a:moveTo>
                      <a:pt x="0" y="0"/>
                    </a:moveTo>
                    <a:cubicBezTo>
                      <a:pt x="96449" y="19290"/>
                      <a:pt x="46237" y="6314"/>
                      <a:pt x="150126" y="40943"/>
                    </a:cubicBezTo>
                    <a:lnTo>
                      <a:pt x="191069" y="54591"/>
                    </a:lnTo>
                    <a:cubicBezTo>
                      <a:pt x="160334" y="146792"/>
                      <a:pt x="202958" y="46852"/>
                      <a:pt x="136478" y="122830"/>
                    </a:cubicBezTo>
                    <a:cubicBezTo>
                      <a:pt x="114876" y="147518"/>
                      <a:pt x="81887" y="204716"/>
                      <a:pt x="81887" y="204716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7397087" y="1671851"/>
              <a:ext cx="46963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Train on large amount of data like Whole internet data</a:t>
              </a:r>
              <a:endParaRPr lang="en-IN" sz="1600" dirty="0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273879" y="2354239"/>
              <a:ext cx="383721" cy="682788"/>
              <a:chOff x="3273879" y="2852382"/>
              <a:chExt cx="383721" cy="682788"/>
            </a:xfrm>
          </p:grpSpPr>
          <p:sp>
            <p:nvSpPr>
              <p:cNvPr id="17" name="Freeform 16"/>
              <p:cNvSpPr/>
              <p:nvPr/>
            </p:nvSpPr>
            <p:spPr>
              <a:xfrm>
                <a:off x="3357158" y="2852382"/>
                <a:ext cx="300442" cy="627797"/>
              </a:xfrm>
              <a:custGeom>
                <a:avLst/>
                <a:gdLst>
                  <a:gd name="connsiteX0" fmla="*/ 300442 w 300442"/>
                  <a:gd name="connsiteY0" fmla="*/ 0 h 627797"/>
                  <a:gd name="connsiteX1" fmla="*/ 232203 w 300442"/>
                  <a:gd name="connsiteY1" fmla="*/ 109182 h 627797"/>
                  <a:gd name="connsiteX2" fmla="*/ 191260 w 300442"/>
                  <a:gd name="connsiteY2" fmla="*/ 218364 h 627797"/>
                  <a:gd name="connsiteX3" fmla="*/ 150317 w 300442"/>
                  <a:gd name="connsiteY3" fmla="*/ 286603 h 627797"/>
                  <a:gd name="connsiteX4" fmla="*/ 82078 w 300442"/>
                  <a:gd name="connsiteY4" fmla="*/ 395785 h 627797"/>
                  <a:gd name="connsiteX5" fmla="*/ 68430 w 300442"/>
                  <a:gd name="connsiteY5" fmla="*/ 436728 h 627797"/>
                  <a:gd name="connsiteX6" fmla="*/ 41135 w 300442"/>
                  <a:gd name="connsiteY6" fmla="*/ 477672 h 627797"/>
                  <a:gd name="connsiteX7" fmla="*/ 13839 w 300442"/>
                  <a:gd name="connsiteY7" fmla="*/ 559558 h 627797"/>
                  <a:gd name="connsiteX8" fmla="*/ 191 w 300442"/>
                  <a:gd name="connsiteY8" fmla="*/ 627797 h 62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0442" h="627797">
                    <a:moveTo>
                      <a:pt x="300442" y="0"/>
                    </a:moveTo>
                    <a:cubicBezTo>
                      <a:pt x="216668" y="209431"/>
                      <a:pt x="329317" y="-46202"/>
                      <a:pt x="232203" y="109182"/>
                    </a:cubicBezTo>
                    <a:cubicBezTo>
                      <a:pt x="181922" y="189633"/>
                      <a:pt x="223016" y="154852"/>
                      <a:pt x="191260" y="218364"/>
                    </a:cubicBezTo>
                    <a:cubicBezTo>
                      <a:pt x="179397" y="242090"/>
                      <a:pt x="163199" y="263415"/>
                      <a:pt x="150317" y="286603"/>
                    </a:cubicBezTo>
                    <a:cubicBezTo>
                      <a:pt x="96793" y="382946"/>
                      <a:pt x="153179" y="300984"/>
                      <a:pt x="82078" y="395785"/>
                    </a:cubicBezTo>
                    <a:cubicBezTo>
                      <a:pt x="77529" y="409433"/>
                      <a:pt x="74864" y="423861"/>
                      <a:pt x="68430" y="436728"/>
                    </a:cubicBezTo>
                    <a:cubicBezTo>
                      <a:pt x="61095" y="451399"/>
                      <a:pt x="47797" y="462683"/>
                      <a:pt x="41135" y="477672"/>
                    </a:cubicBezTo>
                    <a:cubicBezTo>
                      <a:pt x="29450" y="503964"/>
                      <a:pt x="22938" y="532263"/>
                      <a:pt x="13839" y="559558"/>
                    </a:cubicBezTo>
                    <a:cubicBezTo>
                      <a:pt x="-2686" y="609133"/>
                      <a:pt x="191" y="586116"/>
                      <a:pt x="191" y="627797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3273879" y="3316406"/>
                <a:ext cx="247243" cy="218764"/>
              </a:xfrm>
              <a:custGeom>
                <a:avLst/>
                <a:gdLst>
                  <a:gd name="connsiteX0" fmla="*/ 247243 w 247243"/>
                  <a:gd name="connsiteY0" fmla="*/ 81887 h 218764"/>
                  <a:gd name="connsiteX1" fmla="*/ 179005 w 247243"/>
                  <a:gd name="connsiteY1" fmla="*/ 122830 h 218764"/>
                  <a:gd name="connsiteX2" fmla="*/ 97118 w 247243"/>
                  <a:gd name="connsiteY2" fmla="*/ 177421 h 218764"/>
                  <a:gd name="connsiteX3" fmla="*/ 56175 w 247243"/>
                  <a:gd name="connsiteY3" fmla="*/ 218364 h 218764"/>
                  <a:gd name="connsiteX4" fmla="*/ 1584 w 247243"/>
                  <a:gd name="connsiteY4" fmla="*/ 150125 h 218764"/>
                  <a:gd name="connsiteX5" fmla="*/ 1584 w 247243"/>
                  <a:gd name="connsiteY5" fmla="*/ 0 h 218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7243" h="218764">
                    <a:moveTo>
                      <a:pt x="247243" y="81887"/>
                    </a:moveTo>
                    <a:cubicBezTo>
                      <a:pt x="224497" y="95535"/>
                      <a:pt x="200226" y="106914"/>
                      <a:pt x="179005" y="122830"/>
                    </a:cubicBezTo>
                    <a:cubicBezTo>
                      <a:pt x="97220" y="184168"/>
                      <a:pt x="179230" y="150050"/>
                      <a:pt x="97118" y="177421"/>
                    </a:cubicBezTo>
                    <a:cubicBezTo>
                      <a:pt x="83470" y="191069"/>
                      <a:pt x="75213" y="215191"/>
                      <a:pt x="56175" y="218364"/>
                    </a:cubicBezTo>
                    <a:cubicBezTo>
                      <a:pt x="23047" y="223885"/>
                      <a:pt x="3064" y="170849"/>
                      <a:pt x="1584" y="150125"/>
                    </a:cubicBezTo>
                    <a:cubicBezTo>
                      <a:pt x="-1981" y="100210"/>
                      <a:pt x="1584" y="50042"/>
                      <a:pt x="1584" y="0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671549" y="3220451"/>
              <a:ext cx="780983" cy="33855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Gemini</a:t>
              </a:r>
              <a:endParaRPr lang="en-IN"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57600" y="3226854"/>
              <a:ext cx="745717" cy="33855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ollama</a:t>
              </a:r>
              <a:endParaRPr lang="en-IN" sz="16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62670" y="3188185"/>
              <a:ext cx="849913" cy="33855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Open Ai</a:t>
              </a:r>
              <a:endParaRPr lang="en-IN"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4924" y="3917947"/>
              <a:ext cx="125406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Open Source</a:t>
              </a:r>
            </a:p>
            <a:p>
              <a:r>
                <a:rPr lang="en-US" sz="1600" dirty="0" smtClean="0"/>
                <a:t>Paid Version</a:t>
              </a:r>
              <a:endParaRPr lang="en-IN" sz="1600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446663" y="3697640"/>
              <a:ext cx="3398292" cy="116910"/>
            </a:xfrm>
            <a:custGeom>
              <a:avLst/>
              <a:gdLst>
                <a:gd name="connsiteX0" fmla="*/ 0 w 3398292"/>
                <a:gd name="connsiteY0" fmla="*/ 116910 h 116910"/>
                <a:gd name="connsiteX1" fmla="*/ 313898 w 3398292"/>
                <a:gd name="connsiteY1" fmla="*/ 103262 h 116910"/>
                <a:gd name="connsiteX2" fmla="*/ 436728 w 3398292"/>
                <a:gd name="connsiteY2" fmla="*/ 89614 h 116910"/>
                <a:gd name="connsiteX3" fmla="*/ 2374710 w 3398292"/>
                <a:gd name="connsiteY3" fmla="*/ 75966 h 116910"/>
                <a:gd name="connsiteX4" fmla="*/ 2784143 w 3398292"/>
                <a:gd name="connsiteY4" fmla="*/ 48671 h 116910"/>
                <a:gd name="connsiteX5" fmla="*/ 3125337 w 3398292"/>
                <a:gd name="connsiteY5" fmla="*/ 21375 h 116910"/>
                <a:gd name="connsiteX6" fmla="*/ 3398292 w 3398292"/>
                <a:gd name="connsiteY6" fmla="*/ 7727 h 1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8292" h="116910">
                  <a:moveTo>
                    <a:pt x="0" y="116910"/>
                  </a:moveTo>
                  <a:lnTo>
                    <a:pt x="313898" y="103262"/>
                  </a:lnTo>
                  <a:cubicBezTo>
                    <a:pt x="355013" y="100692"/>
                    <a:pt x="395536" y="90160"/>
                    <a:pt x="436728" y="89614"/>
                  </a:cubicBezTo>
                  <a:lnTo>
                    <a:pt x="2374710" y="75966"/>
                  </a:lnTo>
                  <a:cubicBezTo>
                    <a:pt x="2533740" y="22955"/>
                    <a:pt x="2388628" y="67067"/>
                    <a:pt x="2784143" y="48671"/>
                  </a:cubicBezTo>
                  <a:cubicBezTo>
                    <a:pt x="2979395" y="39590"/>
                    <a:pt x="2966302" y="39046"/>
                    <a:pt x="3125337" y="21375"/>
                  </a:cubicBezTo>
                  <a:cubicBezTo>
                    <a:pt x="3239648" y="-16730"/>
                    <a:pt x="3151894" y="7727"/>
                    <a:pt x="3398292" y="7727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722125" y="2292824"/>
            <a:ext cx="2674962" cy="1096904"/>
            <a:chOff x="4722125" y="2292824"/>
            <a:chExt cx="2674962" cy="1096904"/>
          </a:xfrm>
        </p:grpSpPr>
        <p:cxnSp>
          <p:nvCxnSpPr>
            <p:cNvPr id="30" name="Straight Arrow Connector 29"/>
            <p:cNvCxnSpPr/>
            <p:nvPr/>
          </p:nvCxnSpPr>
          <p:spPr>
            <a:xfrm>
              <a:off x="4722125" y="2292824"/>
              <a:ext cx="2674962" cy="10969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6059606" y="2740505"/>
              <a:ext cx="1337481" cy="10077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7519916" y="2527476"/>
            <a:ext cx="1612757" cy="369391"/>
            <a:chOff x="7519916" y="2527476"/>
            <a:chExt cx="1612757" cy="369391"/>
          </a:xfrm>
        </p:grpSpPr>
        <p:sp>
          <p:nvSpPr>
            <p:cNvPr id="37" name="TextBox 36"/>
            <p:cNvSpPr txBox="1"/>
            <p:nvPr/>
          </p:nvSpPr>
          <p:spPr>
            <a:xfrm>
              <a:off x="7519916" y="2558313"/>
              <a:ext cx="532518" cy="338554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LLM</a:t>
              </a:r>
              <a:endParaRPr lang="en-IN"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311486" y="2527476"/>
              <a:ext cx="8211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Textual </a:t>
              </a:r>
              <a:endParaRPr lang="en-IN" sz="1600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519916" y="3350638"/>
            <a:ext cx="2250047" cy="338554"/>
            <a:chOff x="7519916" y="3350638"/>
            <a:chExt cx="2250047" cy="338554"/>
          </a:xfrm>
        </p:grpSpPr>
        <p:sp>
          <p:nvSpPr>
            <p:cNvPr id="38" name="TextBox 37"/>
            <p:cNvSpPr txBox="1"/>
            <p:nvPr/>
          </p:nvSpPr>
          <p:spPr>
            <a:xfrm>
              <a:off x="7519916" y="3350638"/>
              <a:ext cx="931281" cy="338554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Diffusion</a:t>
              </a:r>
              <a:endParaRPr lang="en-IN"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495383" y="3350638"/>
              <a:ext cx="1274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Image, Video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3539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281659" cy="6858000"/>
          </a:xfrm>
          <a:prstGeom prst="rect">
            <a:avLst/>
          </a:prstGeom>
          <a:solidFill>
            <a:srgbClr val="D7C055"/>
          </a:solidFill>
          <a:ln>
            <a:solidFill>
              <a:srgbClr val="D7C0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63319" y="1951630"/>
            <a:ext cx="4172453" cy="3998794"/>
            <a:chOff x="563319" y="1951630"/>
            <a:chExt cx="4172453" cy="3998794"/>
          </a:xfrm>
        </p:grpSpPr>
        <p:sp>
          <p:nvSpPr>
            <p:cNvPr id="5" name="Oval 4"/>
            <p:cNvSpPr/>
            <p:nvPr/>
          </p:nvSpPr>
          <p:spPr>
            <a:xfrm>
              <a:off x="563319" y="1951630"/>
              <a:ext cx="4172453" cy="399879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1043297" y="2333767"/>
              <a:ext cx="3692475" cy="3234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1489252" y="2628899"/>
              <a:ext cx="3246519" cy="255725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3319" y="3787604"/>
              <a:ext cx="3545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</a:rPr>
                <a:t>AI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6823" y="3811066"/>
              <a:ext cx="4459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ML</a:t>
              </a:r>
              <a:endParaRPr lang="en-IN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91840" y="3791563"/>
              <a:ext cx="668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DL</a:t>
              </a:r>
              <a:endParaRPr lang="en-IN" sz="1600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2260585" y="2770496"/>
              <a:ext cx="2475186" cy="21972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2279181" y="3821793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GenAI</a:t>
              </a:r>
              <a:endParaRPr lang="en-IN" sz="1400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3835023" y="3206451"/>
              <a:ext cx="655090" cy="662689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Bahnschrift" pitchFamily="34" charset="0"/>
                </a:rPr>
                <a:t>LLM</a:t>
              </a:r>
              <a:endParaRPr lang="en-IN" sz="1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862315" y="3960840"/>
              <a:ext cx="627798" cy="638456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latin typeface="Bahnschrift" pitchFamily="34" charset="0"/>
                </a:rPr>
                <a:t>Diff</a:t>
              </a:r>
              <a:endParaRPr lang="en-IN" sz="1200" dirty="0">
                <a:latin typeface="Bahnschrift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930959" y="150826"/>
            <a:ext cx="5185745" cy="3718314"/>
            <a:chOff x="3930959" y="150826"/>
            <a:chExt cx="5185745" cy="3718314"/>
          </a:xfrm>
        </p:grpSpPr>
        <p:sp>
          <p:nvSpPr>
            <p:cNvPr id="15" name="Oval 14"/>
            <p:cNvSpPr/>
            <p:nvPr/>
          </p:nvSpPr>
          <p:spPr>
            <a:xfrm>
              <a:off x="6229415" y="150826"/>
              <a:ext cx="2887289" cy="29199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32562" y="1441509"/>
              <a:ext cx="107753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Bahnschrift Light" pitchFamily="34" charset="0"/>
                </a:rPr>
                <a:t>Large 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  <a:latin typeface="Bahnschrift Light" pitchFamily="34" charset="0"/>
                </a:rPr>
                <a:t>language 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  <a:latin typeface="Bahnschrift Light" pitchFamily="34" charset="0"/>
                </a:rPr>
                <a:t>Model</a:t>
              </a:r>
              <a:endParaRPr lang="en-IN" sz="16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cxnSp>
          <p:nvCxnSpPr>
            <p:cNvPr id="10" name="Straight Connector 9"/>
            <p:cNvCxnSpPr>
              <a:stCxn id="3" idx="1"/>
            </p:cNvCxnSpPr>
            <p:nvPr/>
          </p:nvCxnSpPr>
          <p:spPr>
            <a:xfrm flipV="1">
              <a:off x="3930959" y="578438"/>
              <a:ext cx="2707644" cy="2725062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4162568" y="2975212"/>
              <a:ext cx="4012441" cy="893928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7410101" y="150826"/>
              <a:ext cx="982635" cy="940995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  <a:latin typeface="Bahnschrift Light" pitchFamily="34" charset="0"/>
                </a:rPr>
                <a:t>OpenAI</a:t>
              </a:r>
              <a:endParaRPr lang="en-IN" sz="10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8013452" y="996386"/>
              <a:ext cx="935667" cy="860621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  <a:latin typeface="Bahnschrift" pitchFamily="34" charset="0"/>
                </a:rPr>
                <a:t>Gemini</a:t>
              </a:r>
              <a:endParaRPr lang="en-IN" sz="1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7729864" y="1891920"/>
              <a:ext cx="1072942" cy="878576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Bahnschrift Light" pitchFamily="34" charset="0"/>
                </a:rPr>
                <a:t>o</a:t>
              </a:r>
              <a:r>
                <a:rPr lang="en-US" sz="1200" dirty="0" smtClean="0">
                  <a:solidFill>
                    <a:schemeClr val="bg1"/>
                  </a:solidFill>
                  <a:latin typeface="Bahnschrift Light" pitchFamily="34" charset="0"/>
                </a:rPr>
                <a:t>Llama</a:t>
              </a:r>
              <a:endParaRPr lang="en-IN" sz="10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54254" y="3422176"/>
            <a:ext cx="6001066" cy="2919920"/>
            <a:chOff x="3149441" y="-178319"/>
            <a:chExt cx="6001066" cy="2919920"/>
          </a:xfrm>
        </p:grpSpPr>
        <p:sp>
          <p:nvSpPr>
            <p:cNvPr id="33" name="Oval 32"/>
            <p:cNvSpPr/>
            <p:nvPr/>
          </p:nvSpPr>
          <p:spPr>
            <a:xfrm>
              <a:off x="5669695" y="-178319"/>
              <a:ext cx="3480812" cy="29199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06594" y="1118919"/>
              <a:ext cx="8963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</a:rPr>
                <a:t>Diffusion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</a:rPr>
                <a:t>Model</a:t>
              </a:r>
              <a:endParaRPr lang="en-IN" sz="14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cxnSp>
          <p:nvCxnSpPr>
            <p:cNvPr id="35" name="Straight Connector 34"/>
            <p:cNvCxnSpPr>
              <a:stCxn id="13" idx="7"/>
              <a:endCxn id="33" idx="0"/>
            </p:cNvCxnSpPr>
            <p:nvPr/>
          </p:nvCxnSpPr>
          <p:spPr>
            <a:xfrm flipV="1">
              <a:off x="3593361" y="-178319"/>
              <a:ext cx="3816740" cy="632164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3" idx="3"/>
            </p:cNvCxnSpPr>
            <p:nvPr/>
          </p:nvCxnSpPr>
          <p:spPr>
            <a:xfrm>
              <a:off x="3149441" y="905301"/>
              <a:ext cx="3537098" cy="1717583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50696" y="-133469"/>
              <a:ext cx="1539018" cy="968001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bg1"/>
                  </a:solidFill>
                  <a:latin typeface="Bahnschrift Light" pitchFamily="34" charset="0"/>
                </a:rPr>
                <a:t>midjourney</a:t>
              </a:r>
              <a:endParaRPr lang="en-IN" sz="10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8089714" y="566075"/>
              <a:ext cx="935667" cy="860621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bg1"/>
                  </a:solidFill>
                  <a:latin typeface="Bahnschrift" pitchFamily="34" charset="0"/>
                </a:rPr>
                <a:t>Dall</a:t>
              </a:r>
              <a:r>
                <a:rPr lang="en-US" sz="1200" dirty="0" smtClean="0">
                  <a:solidFill>
                    <a:schemeClr val="bg1"/>
                  </a:solidFill>
                  <a:latin typeface="Bahnschrift" pitchFamily="34" charset="0"/>
                </a:rPr>
                <a:t>-E</a:t>
              </a:r>
              <a:endParaRPr lang="en-IN" sz="1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7597756" y="1449177"/>
              <a:ext cx="1055329" cy="103723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chemeClr val="bg1"/>
                  </a:solidFill>
                  <a:latin typeface="Bahnschrift Light" pitchFamily="34" charset="0"/>
                </a:rPr>
                <a:t>Stable</a:t>
              </a:r>
            </a:p>
            <a:p>
              <a:pPr algn="ctr"/>
              <a:r>
                <a:rPr lang="en-US" sz="1100" dirty="0" smtClean="0">
                  <a:solidFill>
                    <a:schemeClr val="bg1"/>
                  </a:solidFill>
                  <a:latin typeface="Bahnschrift Light" pitchFamily="34" charset="0"/>
                </a:rPr>
                <a:t>Diffusion</a:t>
              </a:r>
              <a:endParaRPr lang="en-IN" sz="900" dirty="0">
                <a:solidFill>
                  <a:schemeClr val="bg1"/>
                </a:solidFill>
                <a:latin typeface="Bahnschrift 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099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522" y="98855"/>
            <a:ext cx="2337478" cy="19371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 Single Corner Rectangle 8"/>
          <p:cNvSpPr/>
          <p:nvPr/>
        </p:nvSpPr>
        <p:spPr>
          <a:xfrm>
            <a:off x="1269241" y="168060"/>
            <a:ext cx="1610438" cy="457200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atin typeface="Bahnschrift" pitchFamily="34" charset="0"/>
              </a:rPr>
              <a:t>Deep Learning</a:t>
            </a:r>
            <a:endParaRPr lang="en-IN" sz="1600" dirty="0">
              <a:latin typeface="Bahnschrift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48965" y="750603"/>
            <a:ext cx="44940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Deep learning is again a subset of machine learning.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2324668" y="1089157"/>
            <a:ext cx="7500646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Here we try to mimic how our brains work means how neurons work in our brain</a:t>
            </a:r>
            <a:endParaRPr lang="en-IN" sz="1600" dirty="0"/>
          </a:p>
        </p:txBody>
      </p:sp>
      <p:sp>
        <p:nvSpPr>
          <p:cNvPr id="5" name="Rectangle 4"/>
          <p:cNvSpPr/>
          <p:nvPr/>
        </p:nvSpPr>
        <p:spPr>
          <a:xfrm>
            <a:off x="2324668" y="1427711"/>
            <a:ext cx="75006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Here </a:t>
            </a:r>
            <a:r>
              <a:rPr lang="en-US" sz="1600" dirty="0"/>
              <a:t>we have artificial </a:t>
            </a:r>
            <a:r>
              <a:rPr lang="en-US" sz="1600" dirty="0" smtClean="0"/>
              <a:t>neutrals </a:t>
            </a:r>
            <a:r>
              <a:rPr lang="en-US" sz="1600" dirty="0"/>
              <a:t>network because of so many layering in our brain.</a:t>
            </a:r>
            <a:endParaRPr lang="en-IN" sz="16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2074460" y="3002507"/>
            <a:ext cx="8188655" cy="484632"/>
            <a:chOff x="2074460" y="3002507"/>
            <a:chExt cx="8188655" cy="484632"/>
          </a:xfrm>
        </p:grpSpPr>
        <p:sp>
          <p:nvSpPr>
            <p:cNvPr id="10" name="Rectangle 9"/>
            <p:cNvSpPr/>
            <p:nvPr/>
          </p:nvSpPr>
          <p:spPr>
            <a:xfrm>
              <a:off x="2702256" y="3045389"/>
              <a:ext cx="7560859" cy="33855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dirty="0"/>
                <a:t>Our brain is very complex and very deep that's why we called it deep learning</a:t>
              </a:r>
              <a:endParaRPr lang="en-IN" sz="1600" dirty="0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2074460" y="3002507"/>
              <a:ext cx="627797" cy="484632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869464" y="5223260"/>
            <a:ext cx="1714187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Image recognition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9464" y="5592592"/>
            <a:ext cx="1714187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speech </a:t>
            </a:r>
            <a:r>
              <a:rPr lang="en-IN" sz="1600" dirty="0" smtClean="0"/>
              <a:t>translation</a:t>
            </a:r>
            <a:endParaRPr lang="en-IN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271864" y="5392537"/>
            <a:ext cx="488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e.g.</a:t>
            </a:r>
            <a:endParaRPr lang="en-IN" sz="1600" dirty="0"/>
          </a:p>
        </p:txBody>
      </p:sp>
      <p:sp>
        <p:nvSpPr>
          <p:cNvPr id="19" name="Rectangle 18"/>
          <p:cNvSpPr/>
          <p:nvPr/>
        </p:nvSpPr>
        <p:spPr>
          <a:xfrm>
            <a:off x="3048000" y="4238599"/>
            <a:ext cx="893473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Deep </a:t>
            </a:r>
            <a:r>
              <a:rPr lang="en-US" sz="1500" dirty="0" smtClean="0"/>
              <a:t>Learning </a:t>
            </a:r>
            <a:r>
              <a:rPr lang="en-US" sz="1500" dirty="0"/>
              <a:t>use neural network which train on large dataset and complex problem</a:t>
            </a:r>
            <a:endParaRPr lang="en-IN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4802933" y="4884706"/>
            <a:ext cx="2480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Bahnschrift" pitchFamily="34" charset="0"/>
              </a:rPr>
              <a:t>To solve below problems</a:t>
            </a:r>
            <a:endParaRPr lang="en-IN" sz="1600" dirty="0">
              <a:latin typeface="Bahnschrift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9679" y="6264070"/>
            <a:ext cx="4038285" cy="338554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Deep Learning is all about neural network</a:t>
            </a:r>
            <a:endParaRPr lang="en-IN" sz="16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61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682" y="98855"/>
            <a:ext cx="1354318" cy="11223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337481" y="328397"/>
            <a:ext cx="10331355" cy="1285389"/>
            <a:chOff x="1337481" y="1073194"/>
            <a:chExt cx="10331355" cy="1285389"/>
          </a:xfrm>
        </p:grpSpPr>
        <p:sp>
          <p:nvSpPr>
            <p:cNvPr id="2" name="Rectangle 1"/>
            <p:cNvSpPr/>
            <p:nvPr/>
          </p:nvSpPr>
          <p:spPr>
            <a:xfrm>
              <a:off x="1781034" y="1343252"/>
              <a:ext cx="988780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When </a:t>
              </a:r>
              <a:r>
                <a:rPr lang="en-US" sz="1600" dirty="0">
                  <a:solidFill>
                    <a:srgbClr val="0070C0"/>
                  </a:solidFill>
                  <a:latin typeface="Bahnschrift" pitchFamily="34" charset="0"/>
                </a:rPr>
                <a:t>features</a:t>
              </a:r>
              <a:r>
                <a:rPr lang="en-US" sz="1600" dirty="0"/>
                <a:t> are</a:t>
              </a:r>
              <a:r>
                <a:rPr lang="en-US" sz="1600" b="1" dirty="0">
                  <a:solidFill>
                    <a:srgbClr val="0070C0"/>
                  </a:solidFill>
                </a:rPr>
                <a:t> </a:t>
              </a:r>
              <a:r>
                <a:rPr lang="en-US" sz="1600" dirty="0">
                  <a:solidFill>
                    <a:srgbClr val="0070C0"/>
                  </a:solidFill>
                  <a:latin typeface="Bahnschrift" pitchFamily="34" charset="0"/>
                </a:rPr>
                <a:t>complex</a:t>
              </a:r>
              <a:r>
                <a:rPr lang="en-US" sz="1600" b="1" dirty="0">
                  <a:solidFill>
                    <a:srgbClr val="0070C0"/>
                  </a:solidFill>
                </a:rPr>
                <a:t> </a:t>
              </a:r>
              <a:r>
                <a:rPr lang="en-US" sz="1600" dirty="0"/>
                <a:t>we use </a:t>
              </a:r>
              <a:r>
                <a:rPr lang="en-US" sz="1600" dirty="0">
                  <a:solidFill>
                    <a:srgbClr val="0070C0"/>
                  </a:solidFill>
                  <a:latin typeface="Bahnschrift" pitchFamily="34" charset="0"/>
                </a:rPr>
                <a:t>Deep </a:t>
              </a:r>
              <a:r>
                <a:rPr lang="en-US" sz="1600" dirty="0" smtClean="0">
                  <a:solidFill>
                    <a:srgbClr val="0070C0"/>
                  </a:solidFill>
                  <a:latin typeface="Bahnschrift" pitchFamily="34" charset="0"/>
                </a:rPr>
                <a:t>learning </a:t>
              </a:r>
              <a:r>
                <a:rPr lang="en-US" sz="1600" dirty="0"/>
                <a:t>and when </a:t>
              </a:r>
              <a:r>
                <a:rPr lang="en-US" sz="1600" dirty="0">
                  <a:solidFill>
                    <a:srgbClr val="0070C0"/>
                  </a:solidFill>
                  <a:latin typeface="Bahnschrift" pitchFamily="34" charset="0"/>
                </a:rPr>
                <a:t>features</a:t>
              </a:r>
              <a:r>
                <a:rPr lang="en-US" sz="1600" dirty="0"/>
                <a:t> are </a:t>
              </a:r>
              <a:r>
                <a:rPr lang="en-US" sz="1600" dirty="0" smtClean="0"/>
                <a:t>simple, we </a:t>
              </a:r>
              <a:r>
                <a:rPr lang="en-US" sz="1600" dirty="0"/>
                <a:t>use Machine Learning(</a:t>
              </a:r>
              <a:r>
                <a:rPr lang="en-US" sz="1600" dirty="0">
                  <a:solidFill>
                    <a:srgbClr val="0070C0"/>
                  </a:solidFill>
                  <a:latin typeface="Bahnschrift SemiBold" pitchFamily="34" charset="0"/>
                </a:rPr>
                <a:t>Statistical Machine </a:t>
              </a:r>
              <a:r>
                <a:rPr lang="en-US" sz="1600" dirty="0" smtClean="0">
                  <a:solidFill>
                    <a:srgbClr val="0070C0"/>
                  </a:solidFill>
                  <a:latin typeface="Bahnschrift SemiBold" pitchFamily="34" charset="0"/>
                </a:rPr>
                <a:t>Learning</a:t>
              </a:r>
              <a:r>
                <a:rPr lang="en-US" sz="1600" dirty="0"/>
                <a:t>)</a:t>
              </a:r>
              <a:endParaRPr lang="en-IN" sz="1600" dirty="0"/>
            </a:p>
          </p:txBody>
        </p:sp>
        <p:sp>
          <p:nvSpPr>
            <p:cNvPr id="3" name="Snip Same Side Corner Rectangle 2"/>
            <p:cNvSpPr/>
            <p:nvPr/>
          </p:nvSpPr>
          <p:spPr>
            <a:xfrm>
              <a:off x="1337481" y="1073194"/>
              <a:ext cx="443552" cy="1285389"/>
            </a:xfrm>
            <a:prstGeom prst="snip2SameRect">
              <a:avLst/>
            </a:prstGeom>
            <a:solidFill>
              <a:srgbClr val="FF0066"/>
            </a:solidFill>
            <a:ln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" pitchFamily="34" charset="0"/>
                </a:rPr>
                <a:t>NOTE</a:t>
              </a:r>
              <a:endParaRPr lang="en-IN" sz="2000" dirty="0">
                <a:latin typeface="Bahnschrift" pitchFamily="34" charset="0"/>
              </a:endParaRPr>
            </a:p>
          </p:txBody>
        </p: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53" y="1699084"/>
            <a:ext cx="8893358" cy="4224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10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725290" y="211994"/>
            <a:ext cx="380905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Bahnschrift" pitchFamily="34" charset="0"/>
              </a:rPr>
              <a:t>What is model in machine learning 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542197" y="581326"/>
            <a:ext cx="425810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640083"/>
              </p:ext>
            </p:extLst>
          </p:nvPr>
        </p:nvGraphicFramePr>
        <p:xfrm>
          <a:off x="3942372" y="2151501"/>
          <a:ext cx="34068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008"/>
                <a:gridCol w="183580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Size of house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Cost of house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Bahnschrift Light" pitchFamily="34" charset="0"/>
                        </a:rPr>
                        <a:t>1200</a:t>
                      </a:r>
                      <a:endParaRPr lang="en-IN" sz="1600" dirty="0">
                        <a:latin typeface="Bahnschrift Ligh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Bahnschrift Light" pitchFamily="34" charset="0"/>
                        </a:rPr>
                        <a:t>80 L</a:t>
                      </a:r>
                      <a:endParaRPr lang="en-IN" sz="1600" dirty="0">
                        <a:latin typeface="Bahnschrift Light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Bahnschrift Light" pitchFamily="34" charset="0"/>
                        </a:rPr>
                        <a:t>1400</a:t>
                      </a:r>
                      <a:endParaRPr lang="en-IN" sz="1600" dirty="0">
                        <a:latin typeface="Bahnschrift Ligh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Bahnschrift Light" pitchFamily="34" charset="0"/>
                        </a:rPr>
                        <a:t>90 L</a:t>
                      </a:r>
                      <a:endParaRPr lang="en-IN" sz="1600" dirty="0">
                        <a:latin typeface="Bahnschrift Light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041354" y="942173"/>
            <a:ext cx="6129941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 smtClean="0"/>
              <a:t>machine need some data to learn the pattern</a:t>
            </a:r>
            <a:endParaRPr lang="en-IN" sz="1600" dirty="0"/>
          </a:p>
        </p:txBody>
      </p:sp>
      <p:sp>
        <p:nvSpPr>
          <p:cNvPr id="15" name="Rectangle 14"/>
          <p:cNvSpPr/>
          <p:nvPr/>
        </p:nvSpPr>
        <p:spPr>
          <a:xfrm>
            <a:off x="3041353" y="1306702"/>
            <a:ext cx="6129943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 smtClean="0"/>
              <a:t>approach </a:t>
            </a:r>
            <a:r>
              <a:rPr lang="en-US" sz="1600" dirty="0"/>
              <a:t>of </a:t>
            </a:r>
            <a:r>
              <a:rPr lang="en-US" sz="1600" dirty="0" smtClean="0"/>
              <a:t>learning </a:t>
            </a:r>
            <a:r>
              <a:rPr lang="en-US" sz="1600" dirty="0"/>
              <a:t>the pattern is </a:t>
            </a:r>
            <a:r>
              <a:rPr lang="en-US" sz="1600" dirty="0" smtClean="0"/>
              <a:t>algorithm </a:t>
            </a:r>
            <a:r>
              <a:rPr lang="en-US" sz="1600" dirty="0"/>
              <a:t>for </a:t>
            </a:r>
            <a:r>
              <a:rPr lang="en-US" sz="1600" dirty="0" smtClean="0"/>
              <a:t>particular </a:t>
            </a:r>
            <a:r>
              <a:rPr lang="en-US" sz="1600" dirty="0"/>
              <a:t>learning</a:t>
            </a:r>
            <a:endParaRPr lang="en-IN" sz="16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3370997" y="1992573"/>
            <a:ext cx="4858603" cy="1996757"/>
            <a:chOff x="1542197" y="2070276"/>
            <a:chExt cx="4858603" cy="1996757"/>
          </a:xfrm>
        </p:grpSpPr>
        <p:sp>
          <p:nvSpPr>
            <p:cNvPr id="12" name="TextBox 11"/>
            <p:cNvSpPr txBox="1"/>
            <p:nvPr/>
          </p:nvSpPr>
          <p:spPr>
            <a:xfrm>
              <a:off x="1542197" y="2538484"/>
              <a:ext cx="5713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ahnschrift Light SemiCondensed" pitchFamily="34" charset="0"/>
                </a:rPr>
                <a:t>Data</a:t>
              </a:r>
              <a:endParaRPr lang="en-IN" sz="1600" dirty="0">
                <a:latin typeface="Bahnschrift Light SemiCondensed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13572" y="3429000"/>
              <a:ext cx="6399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1350</a:t>
              </a:r>
              <a:endParaRPr lang="en-IN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42197" y="2070276"/>
              <a:ext cx="4858603" cy="199675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971498" y="3452462"/>
              <a:ext cx="2920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?</a:t>
              </a:r>
              <a:endParaRPr lang="en-IN" dirty="0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2433531" y="4361135"/>
            <a:ext cx="91940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Once </a:t>
            </a:r>
            <a:r>
              <a:rPr lang="en-US" sz="1600" dirty="0"/>
              <a:t>Pattern has been learned using </a:t>
            </a:r>
            <a:r>
              <a:rPr lang="en-US" sz="1600" dirty="0" smtClean="0"/>
              <a:t>data. If </a:t>
            </a:r>
            <a:r>
              <a:rPr lang="en-US" sz="1600" dirty="0"/>
              <a:t>i ask to machine what is cost of house for 1350 </a:t>
            </a:r>
            <a:r>
              <a:rPr lang="en-US" sz="1600" dirty="0" smtClean="0"/>
              <a:t>size. From </a:t>
            </a:r>
            <a:r>
              <a:rPr lang="en-US" sz="1600" dirty="0"/>
              <a:t>the learned pattern machine should be able to answer the cost of price .</a:t>
            </a:r>
            <a:endParaRPr lang="en-IN" sz="1600" dirty="0"/>
          </a:p>
        </p:txBody>
      </p:sp>
      <p:sp>
        <p:nvSpPr>
          <p:cNvPr id="21" name="Rectangle 20"/>
          <p:cNvSpPr/>
          <p:nvPr/>
        </p:nvSpPr>
        <p:spPr>
          <a:xfrm>
            <a:off x="4801916" y="4940056"/>
            <a:ext cx="827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  <a:latin typeface="Bahnschrift" pitchFamily="34" charset="0"/>
              </a:rPr>
              <a:t>85L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16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228299" y="396660"/>
            <a:ext cx="10713492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machine </a:t>
            </a:r>
            <a:r>
              <a:rPr lang="en-US" dirty="0" smtClean="0"/>
              <a:t>learning </a:t>
            </a:r>
            <a:r>
              <a:rPr lang="en-US" dirty="0"/>
              <a:t>is a process where machine learns pattern using </a:t>
            </a:r>
            <a:r>
              <a:rPr lang="en-US" dirty="0">
                <a:solidFill>
                  <a:srgbClr val="FF0066"/>
                </a:solidFill>
                <a:latin typeface="Bahnschrift" pitchFamily="34" charset="0"/>
              </a:rPr>
              <a:t>data </a:t>
            </a:r>
            <a:r>
              <a:rPr lang="en-US" dirty="0"/>
              <a:t>and some </a:t>
            </a:r>
            <a:r>
              <a:rPr lang="en-US" dirty="0" smtClean="0"/>
              <a:t>algorithm </a:t>
            </a:r>
            <a:r>
              <a:rPr lang="en-US" dirty="0"/>
              <a:t>and </a:t>
            </a:r>
            <a:r>
              <a:rPr lang="en-US" dirty="0" smtClean="0"/>
              <a:t>produces something that is called </a:t>
            </a:r>
            <a:r>
              <a:rPr lang="en-US" sz="2400" dirty="0" smtClean="0">
                <a:solidFill>
                  <a:srgbClr val="00B050"/>
                </a:solidFill>
                <a:latin typeface="Bahnschrift" pitchFamily="34" charset="0"/>
              </a:rPr>
              <a:t>Model</a:t>
            </a:r>
            <a:endParaRPr lang="en-IN" sz="2400" dirty="0">
              <a:solidFill>
                <a:srgbClr val="00B050"/>
              </a:solidFill>
              <a:latin typeface="Bahnschrift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24167" y="3060976"/>
            <a:ext cx="898932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Bahnschrift" pitchFamily="34" charset="0"/>
              </a:rPr>
              <a:t>Model is a entity </a:t>
            </a:r>
            <a:r>
              <a:rPr lang="en-US" sz="2000" dirty="0" smtClean="0">
                <a:latin typeface="Bahnschrift" pitchFamily="34" charset="0"/>
              </a:rPr>
              <a:t>which </a:t>
            </a:r>
            <a:r>
              <a:rPr lang="en-US" sz="2000" dirty="0">
                <a:latin typeface="Bahnschrift" pitchFamily="34" charset="0"/>
              </a:rPr>
              <a:t>has learned </a:t>
            </a:r>
            <a:r>
              <a:rPr lang="en-US" sz="2000" dirty="0" smtClean="0">
                <a:latin typeface="Bahnschrift" pitchFamily="34" charset="0"/>
              </a:rPr>
              <a:t>pattern </a:t>
            </a:r>
            <a:r>
              <a:rPr lang="en-US" sz="2000" dirty="0">
                <a:latin typeface="Bahnschrift" pitchFamily="34" charset="0"/>
              </a:rPr>
              <a:t>from data using </a:t>
            </a:r>
            <a:r>
              <a:rPr lang="en-US" sz="2000" dirty="0" smtClean="0">
                <a:latin typeface="Bahnschrift" pitchFamily="34" charset="0"/>
              </a:rPr>
              <a:t>algorithm</a:t>
            </a:r>
            <a:endParaRPr lang="en-IN" sz="2000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68025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23336</TotalTime>
  <Words>644</Words>
  <Application>Microsoft Office PowerPoint</Application>
  <PresentationFormat>Custom</PresentationFormat>
  <Paragraphs>163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1063</cp:revision>
  <dcterms:created xsi:type="dcterms:W3CDTF">2024-01-26T15:11:46Z</dcterms:created>
  <dcterms:modified xsi:type="dcterms:W3CDTF">2025-09-18T06:09:38Z</dcterms:modified>
</cp:coreProperties>
</file>