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endix" id="{53F305DE-E919-46C9-8C7C-4B59AF1E2526}">
          <p14:sldIdLst>
            <p14:sldId id="256"/>
          </p14:sldIdLst>
        </p14:section>
        <p14:section name="AI Agent" id="{743B12C9-2E08-4516-A432-32A8EAA147F3}">
          <p14:sldIdLst>
            <p14:sldId id="257"/>
            <p14:sldId id="258"/>
          </p14:sldIdLst>
        </p14:section>
        <p14:section name="GenAI vs AI Agents vs Agentic AI" id="{AA8C9316-582C-4400-99B5-B87CB4E3D04E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00CC99"/>
    <a:srgbClr val="15C2FF"/>
    <a:srgbClr val="00D05E"/>
    <a:srgbClr val="FF0066"/>
    <a:srgbClr val="D7C055"/>
    <a:srgbClr val="F2DB5B"/>
    <a:srgbClr val="000000"/>
    <a:srgbClr val="6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639D9-3454-46DB-98F0-5734C90B24A8}" v="162" dt="2024-02-29T03:48:59.932"/>
    <p1510:client id="{51280DD5-E729-4BD7-8A9F-98443B307215}" v="2" dt="2024-02-29T02:44:09.918"/>
    <p1510:client id="{F06999DA-40BE-4997-8D18-97380D22DED5}" v="101" dt="2024-02-29T15:35:34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17" autoAdjust="0"/>
    <p:restoredTop sz="86073" autoAdjust="0"/>
  </p:normalViewPr>
  <p:slideViewPr>
    <p:cSldViewPr snapToGrid="0">
      <p:cViewPr>
        <p:scale>
          <a:sx n="70" d="100"/>
          <a:sy n="70" d="100"/>
        </p:scale>
        <p:origin x="-660" y="-18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8C147-18C2-4D33-BF56-E30CA9229223}" type="datetimeFigureOut">
              <a:rPr lang="en-IN" smtClean="0"/>
              <a:t>18-07-2025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3E4B8-F9DF-4F9A-BB59-93920507C3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987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AFE4333-EDCB-768D-D694-4FA374C88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FB8F6BA-A771-5199-B454-4137B42B82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B8C62A8-5E14-FA7C-D2D9-A91C5617A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C7221-54BD-4A63-8AE7-749436A8A0E0}" type="datetime1">
              <a:rPr lang="en-US" smtClean="0"/>
              <a:t>7/18/2025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A5CADB1-111D-22D3-EDB1-E043DC32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733105E-4498-96A3-0C5F-A5E57928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095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AE6418-E00D-D82B-5A6A-A2532DB41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63E6B97-B778-7455-F70C-FD8D34E3F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4537FB2-C318-A7C1-BABA-0AC6FA5B3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6570-B1EA-4487-BE32-F708B8E167B2}" type="datetime1">
              <a:rPr lang="en-US" smtClean="0"/>
              <a:t>7/18/2025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14FC2A1-527D-0AA9-D04D-3D2766CE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1000CB2-5293-8DFA-B3B2-A0B592B4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39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EC1FA87-C082-E0DD-3D37-67F1640E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B5F515E-EB4A-D143-3D90-D5CB68882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8B15D29-75FB-CFE9-A973-A208274B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42CB-DE38-41A3-9AEC-FC7F477AE398}" type="datetime1">
              <a:rPr lang="en-US" smtClean="0"/>
              <a:t>7/18/2025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9168659-4604-1E12-A046-E65E9BFA0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6A55C1A-5CB6-A517-F4CC-78B642B3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47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354BD7-8381-6AF7-2A34-97F11643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45D5CF0-745C-8F39-DDFC-095163A6D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6F0486A-0B81-6F67-77F7-3933C2505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29CEC8B-FF84-E5F1-CD4B-B7DEE25F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9B145-4D2C-4B0D-B0F3-3793104D85F9}" type="datetime1">
              <a:rPr lang="en-US" smtClean="0"/>
              <a:t>7/18/2025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83D1157-B890-E7C2-8551-9CFA55DF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6834098-4893-052D-13DF-57AA3726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84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95ED4B-5B6D-B5E5-67B7-D97BFC6B1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8083AD3-D8DD-C9C8-4A8D-6E90DEEDC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610F8FC-1E86-8328-5873-1F1FD4540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7171E56A-9B29-8C99-0F9B-DFA73577B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31551D20-42E2-AA82-6A29-ED75844F6F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12806B38-A61F-CFF2-455E-2A0DB1CBD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CBCE3-C8C5-4329-ADE4-5F8D67D78882}" type="datetime1">
              <a:rPr lang="en-US" smtClean="0"/>
              <a:t>7/18/2025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0A1ADB39-BBED-F460-3284-9B01BBA7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BAE78CB4-F5B2-2F08-FCB4-B7EFC7D9B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097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07DB33-3161-3CA7-5DA9-9AEFA7BE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1B459199-60FE-8A27-4D17-58FA57F03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BDD6-391D-4D68-9A24-8E7CE46A4DC4}" type="datetime1">
              <a:rPr lang="en-US" smtClean="0"/>
              <a:t>7/18/2025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9B5772E0-839B-C3B1-7E64-0C8677352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F5A1759-598D-988C-8124-2E5044B1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27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F271F3F0-F2B3-F675-7BAB-1AD2134A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1E7A-3F60-43E8-97A9-E03FDFF3291A}" type="datetime1">
              <a:rPr lang="en-US" smtClean="0"/>
              <a:t>7/18/2025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A44FB0A-DFB7-0737-F37C-440DCA48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E497C01-947E-5E24-DB3F-90342EF0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62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F41832-2691-E74A-0F3A-2DE9A6E4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94BD6CD-D7DC-A4E9-FD78-EA239F4F5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4C0C722-544A-95F1-1DAD-FAD83B663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15BCDEF-8A4D-1FA5-888F-D5A3A2C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2EE0-C06F-41F5-AFE0-7056E3A01EDC}" type="datetime1">
              <a:rPr lang="en-US" smtClean="0"/>
              <a:t>7/18/2025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1C4BD8F-AAAC-F32F-ABC2-37A3D3BC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DA79EF9-CB21-BEC5-2A25-591C945D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76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BACBD3-5050-C329-F415-37149188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C4B2BE8C-8AFF-7B97-17DD-E10D476C8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6B1A6C9-352E-F0FC-857A-200063A76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96AEC32-A02D-AF36-A64E-290A392B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05E1-88D0-4311-A599-0C8A6973053A}" type="datetime1">
              <a:rPr lang="en-US" smtClean="0"/>
              <a:t>7/18/2025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6B0ECF5-F111-F43D-1DD0-2623EE225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3ED8375-499D-DCA7-5D7B-91DD95B7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11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AE933A4-C03D-26A7-C451-392D04E6A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339E290-0E60-50DC-3A6D-AFC921C4E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1DDBB31-5065-A920-BCE3-A6379F318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EA562-091E-45D6-BEDF-3C68FB2023F1}" type="datetime1">
              <a:rPr lang="en-US" smtClean="0"/>
              <a:t>7/18/2025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650F398-CC52-3E67-DDF6-C862313C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272AE45-AD9E-08FA-1F71-75DFC9E0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35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0AF91D67-8C5B-5055-B5D2-6BAAE7E95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4D31080-7646-1B9C-C36F-D2F6BB874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DA404C4-6EA5-D815-E9B2-7CDBB94E9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4D94-52B8-43E9-A8F3-BD9E24437DA3}" type="datetime1">
              <a:rPr lang="en-US" smtClean="0"/>
              <a:t>7/18/2025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7EFDD0D-44E3-A86F-6F17-A722DA9F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3E417A5-F8F0-AA31-71DF-34D65849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39A89A0B-DE9F-F1C6-643E-DCA32D53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953DDAA-3094-DBCE-F38B-123FB91F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AF0BF9E-5E8A-1649-84DC-281A5BAAC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C827E-01D8-46AF-B9E0-11E08B19BA59}" type="datetime1">
              <a:rPr lang="en-US" smtClean="0"/>
              <a:t>7/18/2025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BDEDD1E-16D6-9C67-B90A-3F23927ED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5FC0268-EDD9-BFDA-9A07-5241871BF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367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5D93965-B794-0D3F-19B2-6E5CEF590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929A6F4B-4B22-0928-2DBA-1E63C9DE5B47}"/>
              </a:ext>
            </a:extLst>
          </p:cNvPr>
          <p:cNvSpPr/>
          <p:nvPr/>
        </p:nvSpPr>
        <p:spPr>
          <a:xfrm>
            <a:off x="0" y="1"/>
            <a:ext cx="1948169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745C555-155A-8408-E6E3-22A172F35158}"/>
              </a:ext>
            </a:extLst>
          </p:cNvPr>
          <p:cNvSpPr txBox="1"/>
          <p:nvPr/>
        </p:nvSpPr>
        <p:spPr>
          <a:xfrm>
            <a:off x="601006" y="42718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2462335E-6BA0-9E39-D941-3E40EF2A0890}"/>
              </a:ext>
            </a:extLst>
          </p:cNvPr>
          <p:cNvSpPr/>
          <p:nvPr/>
        </p:nvSpPr>
        <p:spPr>
          <a:xfrm>
            <a:off x="0" y="5572125"/>
            <a:ext cx="12187542" cy="1285876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3352634E-F25A-906D-E090-61E107EA9685}"/>
              </a:ext>
            </a:extLst>
          </p:cNvPr>
          <p:cNvSpPr/>
          <p:nvPr/>
        </p:nvSpPr>
        <p:spPr>
          <a:xfrm>
            <a:off x="-260" y="5572124"/>
            <a:ext cx="12193758" cy="58340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F78D711A-98A9-0CA9-87DC-706B4F2660DA}"/>
              </a:ext>
            </a:extLst>
          </p:cNvPr>
          <p:cNvSpPr/>
          <p:nvPr/>
        </p:nvSpPr>
        <p:spPr>
          <a:xfrm>
            <a:off x="1291568" y="-1"/>
            <a:ext cx="656603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3863E5A6-EF6F-E241-ED54-B76BF0108961}"/>
              </a:ext>
            </a:extLst>
          </p:cNvPr>
          <p:cNvSpPr txBox="1"/>
          <p:nvPr/>
        </p:nvSpPr>
        <p:spPr>
          <a:xfrm>
            <a:off x="1396344" y="5505306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15" name="Google Shape;143;p1">
            <a:extLst>
              <a:ext uri="{FF2B5EF4-FFF2-40B4-BE49-F238E27FC236}">
                <a16:creationId xmlns:a16="http://schemas.microsoft.com/office/drawing/2014/main" xmlns="" id="{E4949A97-DC03-56A5-2E5A-3DD3913AA0EF}"/>
              </a:ext>
            </a:extLst>
          </p:cNvPr>
          <p:cNvSpPr txBox="1">
            <a:spLocks noGrp="1"/>
          </p:cNvSpPr>
          <p:nvPr/>
        </p:nvSpPr>
        <p:spPr>
          <a:xfrm>
            <a:off x="2062678" y="260137"/>
            <a:ext cx="9903831" cy="1776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sz="4000" b="1" dirty="0">
                <a:solidFill>
                  <a:schemeClr val="tx1"/>
                </a:solidFill>
              </a:rPr>
              <a:t>Generative ai vs AI agents vs Agentic AI</a:t>
            </a:r>
          </a:p>
          <a:p>
            <a:r>
              <a:rPr lang="en-US" sz="1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July 2025</a:t>
            </a:r>
            <a:endParaRPr sz="1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" name="Picture 3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B769A9BB-68EA-F9F6-0ECB-37D6968A9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2642" y="-205416"/>
            <a:ext cx="1217233" cy="120532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D627D9A-CDBE-20A9-3FA1-63D5E507D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8E4B4487-5609-54AF-1FCA-AB3F6B737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8566" y="3429000"/>
            <a:ext cx="4287056" cy="1660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6748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496292" y="227383"/>
            <a:ext cx="10515600" cy="338554"/>
            <a:chOff x="1496291" y="350493"/>
            <a:chExt cx="10695709" cy="338554"/>
          </a:xfrm>
          <a:solidFill>
            <a:srgbClr val="002060"/>
          </a:solidFill>
        </p:grpSpPr>
        <p:sp>
          <p:nvSpPr>
            <p:cNvPr id="10" name="TextBox 9"/>
            <p:cNvSpPr txBox="1"/>
            <p:nvPr/>
          </p:nvSpPr>
          <p:spPr>
            <a:xfrm>
              <a:off x="1690255" y="350493"/>
              <a:ext cx="1053277" cy="338554"/>
            </a:xfrm>
            <a:prstGeom prst="rect">
              <a:avLst/>
            </a:prstGeom>
            <a:solidFill>
              <a:srgbClr val="00B0F0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Arial Rounded MT Bold" pitchFamily="34" charset="0"/>
                </a:rPr>
                <a:t>AI Agent</a:t>
              </a:r>
              <a:endParaRPr lang="en-IN" sz="1600" dirty="0">
                <a:solidFill>
                  <a:schemeClr val="bg1"/>
                </a:solidFill>
                <a:latin typeface="Arial Rounded MT Bold" pitchFamily="34" charset="0"/>
              </a:endParaRPr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1496291" y="689047"/>
              <a:ext cx="10695709" cy="0"/>
            </a:xfrm>
            <a:prstGeom prst="line">
              <a:avLst/>
            </a:prstGeom>
            <a:grpFill/>
            <a:ln>
              <a:solidFill>
                <a:srgbClr val="15C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2692230" y="829850"/>
            <a:ext cx="6103917" cy="2036759"/>
            <a:chOff x="3550722" y="1298305"/>
            <a:chExt cx="6103917" cy="1932135"/>
          </a:xfrm>
        </p:grpSpPr>
        <p:sp>
          <p:nvSpPr>
            <p:cNvPr id="2" name="Rectangle 1"/>
            <p:cNvSpPr/>
            <p:nvPr/>
          </p:nvSpPr>
          <p:spPr>
            <a:xfrm>
              <a:off x="3550722" y="1298305"/>
              <a:ext cx="6103917" cy="193213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21" name="Group 20"/>
            <p:cNvGrpSpPr/>
            <p:nvPr/>
          </p:nvGrpSpPr>
          <p:grpSpPr>
            <a:xfrm>
              <a:off x="3859481" y="1923806"/>
              <a:ext cx="2468332" cy="1264369"/>
              <a:chOff x="3859481" y="1923806"/>
              <a:chExt cx="2468332" cy="1264369"/>
            </a:xfrm>
          </p:grpSpPr>
          <p:grpSp>
            <p:nvGrpSpPr>
              <p:cNvPr id="19" name="Group 18"/>
              <p:cNvGrpSpPr/>
              <p:nvPr/>
            </p:nvGrpSpPr>
            <p:grpSpPr>
              <a:xfrm>
                <a:off x="3859481" y="1923806"/>
                <a:ext cx="2244435" cy="914400"/>
                <a:chOff x="3859481" y="1923806"/>
                <a:chExt cx="2244435" cy="914400"/>
              </a:xfrm>
            </p:grpSpPr>
            <p:sp>
              <p:nvSpPr>
                <p:cNvPr id="3" name="Rectangle 2"/>
                <p:cNvSpPr/>
                <p:nvPr/>
              </p:nvSpPr>
              <p:spPr>
                <a:xfrm>
                  <a:off x="3859481" y="1923806"/>
                  <a:ext cx="2244435" cy="914400"/>
                </a:xfrm>
                <a:prstGeom prst="rect">
                  <a:avLst/>
                </a:prstGeom>
                <a:solidFill>
                  <a:srgbClr val="00B0F0"/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13" name="TextBox 12"/>
                <p:cNvSpPr txBox="1"/>
                <p:nvPr/>
              </p:nvSpPr>
              <p:spPr>
                <a:xfrm>
                  <a:off x="4381994" y="2066306"/>
                  <a:ext cx="1721922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 smtClean="0">
                      <a:latin typeface="Cambria Math" pitchFamily="18" charset="0"/>
                      <a:ea typeface="Cambria Math" pitchFamily="18" charset="0"/>
                    </a:rPr>
                    <a:t>Reasoning &amp;</a:t>
                  </a:r>
                </a:p>
                <a:p>
                  <a:r>
                    <a:rPr lang="en-US" sz="1400" dirty="0" smtClean="0">
                      <a:latin typeface="Cambria Math" pitchFamily="18" charset="0"/>
                      <a:ea typeface="Cambria Math" pitchFamily="18" charset="0"/>
                    </a:rPr>
                    <a:t>Decision making</a:t>
                  </a:r>
                  <a:endParaRPr lang="en-IN" sz="1400" dirty="0">
                    <a:latin typeface="Cambria Math" pitchFamily="18" charset="0"/>
                    <a:ea typeface="Cambria Math" pitchFamily="18" charset="0"/>
                  </a:endParaRPr>
                </a:p>
              </p:txBody>
            </p:sp>
          </p:grpSp>
          <p:sp>
            <p:nvSpPr>
              <p:cNvPr id="14" name="TextBox 13"/>
              <p:cNvSpPr txBox="1"/>
              <p:nvPr/>
            </p:nvSpPr>
            <p:spPr>
              <a:xfrm>
                <a:off x="4605891" y="2880398"/>
                <a:ext cx="172192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>
                    <a:latin typeface="Cambria Math" pitchFamily="18" charset="0"/>
                    <a:ea typeface="Cambria Math" pitchFamily="18" charset="0"/>
                  </a:rPr>
                  <a:t>LLM</a:t>
                </a:r>
              </a:p>
            </p:txBody>
          </p:sp>
        </p:grpSp>
        <p:sp>
          <p:nvSpPr>
            <p:cNvPr id="16" name="TextBox 15"/>
            <p:cNvSpPr txBox="1"/>
            <p:nvPr/>
          </p:nvSpPr>
          <p:spPr>
            <a:xfrm>
              <a:off x="6192981" y="1388428"/>
              <a:ext cx="1721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Algerian" pitchFamily="82" charset="0"/>
                  <a:ea typeface="Cambria Math" pitchFamily="18" charset="0"/>
                </a:rPr>
                <a:t>Agent</a:t>
              </a:r>
            </a:p>
          </p:txBody>
        </p:sp>
        <p:sp>
          <p:nvSpPr>
            <p:cNvPr id="17" name="Plus 16"/>
            <p:cNvSpPr/>
            <p:nvPr/>
          </p:nvSpPr>
          <p:spPr>
            <a:xfrm>
              <a:off x="6305797" y="2042314"/>
              <a:ext cx="593765" cy="653631"/>
            </a:xfrm>
            <a:prstGeom prst="mathPlus">
              <a:avLst/>
            </a:prstGeom>
            <a:solidFill>
              <a:srgbClr val="FF33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7053942" y="1911930"/>
              <a:ext cx="2141763" cy="1222177"/>
              <a:chOff x="7053942" y="1911930"/>
              <a:chExt cx="2141763" cy="1222177"/>
            </a:xfrm>
          </p:grpSpPr>
          <p:sp>
            <p:nvSpPr>
              <p:cNvPr id="15" name="TextBox 14"/>
              <p:cNvSpPr txBox="1"/>
              <p:nvPr/>
            </p:nvSpPr>
            <p:spPr>
              <a:xfrm>
                <a:off x="7263862" y="2826330"/>
                <a:ext cx="172192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>
                    <a:latin typeface="Cambria Math" pitchFamily="18" charset="0"/>
                    <a:ea typeface="Cambria Math" pitchFamily="18" charset="0"/>
                  </a:rPr>
                  <a:t>Tools</a:t>
                </a:r>
              </a:p>
            </p:txBody>
          </p:sp>
          <p:grpSp>
            <p:nvGrpSpPr>
              <p:cNvPr id="22" name="Group 21"/>
              <p:cNvGrpSpPr/>
              <p:nvPr/>
            </p:nvGrpSpPr>
            <p:grpSpPr>
              <a:xfrm>
                <a:off x="7053942" y="1911930"/>
                <a:ext cx="2141763" cy="914400"/>
                <a:chOff x="7053942" y="1911930"/>
                <a:chExt cx="2141763" cy="914400"/>
              </a:xfrm>
            </p:grpSpPr>
            <p:sp>
              <p:nvSpPr>
                <p:cNvPr id="5" name="Rectangle 4"/>
                <p:cNvSpPr/>
                <p:nvPr/>
              </p:nvSpPr>
              <p:spPr>
                <a:xfrm>
                  <a:off x="7053942" y="1911930"/>
                  <a:ext cx="2141763" cy="914400"/>
                </a:xfrm>
                <a:prstGeom prst="rect">
                  <a:avLst/>
                </a:prstGeom>
                <a:solidFill>
                  <a:srgbClr val="00B0F0"/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18" name="TextBox 17"/>
                <p:cNvSpPr txBox="1"/>
                <p:nvPr/>
              </p:nvSpPr>
              <p:spPr>
                <a:xfrm>
                  <a:off x="7263862" y="2174027"/>
                  <a:ext cx="172192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 smtClean="0">
                      <a:latin typeface="Cambria Math" pitchFamily="18" charset="0"/>
                      <a:ea typeface="Cambria Math" pitchFamily="18" charset="0"/>
                    </a:rPr>
                    <a:t>Action</a:t>
                  </a:r>
                </a:p>
              </p:txBody>
            </p:sp>
          </p:grpSp>
        </p:grpSp>
      </p:grpSp>
      <p:sp>
        <p:nvSpPr>
          <p:cNvPr id="26" name="Rectangle 25"/>
          <p:cNvSpPr/>
          <p:nvPr/>
        </p:nvSpPr>
        <p:spPr>
          <a:xfrm>
            <a:off x="2565069" y="3242346"/>
            <a:ext cx="949694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Cambria Math" pitchFamily="18" charset="0"/>
                <a:ea typeface="Cambria Math" pitchFamily="18" charset="0"/>
              </a:rPr>
              <a:t>AI </a:t>
            </a:r>
            <a:r>
              <a:rPr lang="en-US" sz="1400" dirty="0">
                <a:latin typeface="Cambria Math" pitchFamily="18" charset="0"/>
                <a:ea typeface="Cambria Math" pitchFamily="18" charset="0"/>
              </a:rPr>
              <a:t>Agent is LLM Powered system that can </a:t>
            </a:r>
            <a:r>
              <a:rPr lang="en-US" sz="1400" dirty="0" smtClean="0">
                <a:latin typeface="Cambria Math" pitchFamily="18" charset="0"/>
                <a:ea typeface="Cambria Math" pitchFamily="18" charset="0"/>
              </a:rPr>
              <a:t>independently </a:t>
            </a:r>
            <a:r>
              <a:rPr lang="en-US" sz="1400" dirty="0">
                <a:latin typeface="Cambria Math" pitchFamily="18" charset="0"/>
                <a:ea typeface="Cambria Math" pitchFamily="18" charset="0"/>
              </a:rPr>
              <a:t>thick </a:t>
            </a:r>
            <a:r>
              <a:rPr lang="en-US" sz="1400" dirty="0" smtClean="0">
                <a:latin typeface="Cambria Math" pitchFamily="18" charset="0"/>
                <a:ea typeface="Cambria Math" pitchFamily="18" charset="0"/>
              </a:rPr>
              <a:t>,decide </a:t>
            </a:r>
            <a:r>
              <a:rPr lang="en-US" sz="1400" dirty="0">
                <a:latin typeface="Cambria Math" pitchFamily="18" charset="0"/>
                <a:ea typeface="Cambria Math" pitchFamily="18" charset="0"/>
              </a:rPr>
              <a:t>and take  action using external tools or </a:t>
            </a:r>
            <a:r>
              <a:rPr lang="en-US" sz="1400" dirty="0" smtClean="0">
                <a:latin typeface="Cambria Math" pitchFamily="18" charset="0"/>
                <a:ea typeface="Cambria Math" pitchFamily="18" charset="0"/>
              </a:rPr>
              <a:t>api calls </a:t>
            </a:r>
            <a:r>
              <a:rPr lang="en-US" sz="1400" dirty="0">
                <a:latin typeface="Cambria Math" pitchFamily="18" charset="0"/>
                <a:ea typeface="Cambria Math" pitchFamily="18" charset="0"/>
              </a:rPr>
              <a:t>to achieve a goal</a:t>
            </a:r>
            <a:endParaRPr lang="en-IN" sz="1400" dirty="0">
              <a:latin typeface="Cambria Math" pitchFamily="18" charset="0"/>
              <a:ea typeface="Cambria Math" pitchFamily="18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2956032" y="3863455"/>
            <a:ext cx="4007922" cy="1888176"/>
            <a:chOff x="3046020" y="4191990"/>
            <a:chExt cx="4007922" cy="1888176"/>
          </a:xfrm>
        </p:grpSpPr>
        <p:sp>
          <p:nvSpPr>
            <p:cNvPr id="27" name="Flowchart: Connector 26"/>
            <p:cNvSpPr/>
            <p:nvPr/>
          </p:nvSpPr>
          <p:spPr>
            <a:xfrm>
              <a:off x="3046020" y="4191990"/>
              <a:ext cx="2196935" cy="1888176"/>
            </a:xfrm>
            <a:prstGeom prst="flowChartConnector">
              <a:avLst/>
            </a:prstGeom>
            <a:solidFill>
              <a:srgbClr val="00206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32" name="Group 31"/>
            <p:cNvGrpSpPr/>
            <p:nvPr/>
          </p:nvGrpSpPr>
          <p:grpSpPr>
            <a:xfrm>
              <a:off x="3763837" y="4397414"/>
              <a:ext cx="3290105" cy="1354217"/>
              <a:chOff x="3763837" y="4397414"/>
              <a:chExt cx="3290105" cy="1354217"/>
            </a:xfrm>
          </p:grpSpPr>
          <p:sp>
            <p:nvSpPr>
              <p:cNvPr id="28" name="TextBox 27"/>
              <p:cNvSpPr txBox="1"/>
              <p:nvPr/>
            </p:nvSpPr>
            <p:spPr>
              <a:xfrm>
                <a:off x="3763837" y="4397414"/>
                <a:ext cx="663964" cy="13542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>
                    <a:solidFill>
                      <a:schemeClr val="bg1"/>
                    </a:solidFill>
                    <a:latin typeface="Bahnschrift Light SemiCondensed" pitchFamily="34" charset="0"/>
                  </a:rPr>
                  <a:t>LLM</a:t>
                </a:r>
              </a:p>
              <a:p>
                <a:endParaRPr lang="en-US" dirty="0" smtClean="0">
                  <a:solidFill>
                    <a:schemeClr val="bg1"/>
                  </a:solidFill>
                  <a:latin typeface="Bahnschrift Light SemiCondensed" pitchFamily="34" charset="0"/>
                </a:endParaRPr>
              </a:p>
              <a:p>
                <a:r>
                  <a:rPr lang="en-US" sz="1600" i="1" dirty="0" smtClean="0">
                    <a:solidFill>
                      <a:schemeClr val="bg1"/>
                    </a:solidFill>
                    <a:latin typeface="Bahnschrift Light SemiCondensed" pitchFamily="34" charset="0"/>
                  </a:rPr>
                  <a:t>Weds</a:t>
                </a:r>
                <a:r>
                  <a:rPr lang="en-US" i="1" dirty="0" smtClean="0">
                    <a:solidFill>
                      <a:schemeClr val="bg1"/>
                    </a:solidFill>
                    <a:latin typeface="Bahnschrift Light SemiCondensed" pitchFamily="34" charset="0"/>
                  </a:rPr>
                  <a:t> </a:t>
                </a:r>
              </a:p>
              <a:p>
                <a:endParaRPr lang="en-US" dirty="0">
                  <a:solidFill>
                    <a:schemeClr val="bg1"/>
                  </a:solidFill>
                  <a:latin typeface="Bahnschrift Light SemiCondensed" pitchFamily="34" charset="0"/>
                </a:endParaRPr>
              </a:p>
              <a:p>
                <a:r>
                  <a:rPr lang="en-US" sz="1400" dirty="0" smtClean="0">
                    <a:solidFill>
                      <a:schemeClr val="bg1"/>
                    </a:solidFill>
                    <a:latin typeface="Bahnschrift Light SemiCondensed" pitchFamily="34" charset="0"/>
                  </a:rPr>
                  <a:t>Tools</a:t>
                </a:r>
                <a:endParaRPr lang="en-IN" sz="1400" dirty="0">
                  <a:solidFill>
                    <a:schemeClr val="bg1"/>
                  </a:solidFill>
                  <a:latin typeface="Bahnschrift Light SemiCondensed" pitchFamily="34" charset="0"/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5905871" y="4982189"/>
                <a:ext cx="114807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>
                    <a:latin typeface="Cambria Math" pitchFamily="18" charset="0"/>
                    <a:ea typeface="Cambria Math" pitchFamily="18" charset="0"/>
                  </a:rPr>
                  <a:t>Called Agent</a:t>
                </a:r>
                <a:endParaRPr lang="en-IN" sz="1400" dirty="0">
                  <a:latin typeface="Cambria Math" pitchFamily="18" charset="0"/>
                  <a:ea typeface="Cambria Math" pitchFamily="18" charset="0"/>
                </a:endParaRPr>
              </a:p>
            </p:txBody>
          </p:sp>
          <p:cxnSp>
            <p:nvCxnSpPr>
              <p:cNvPr id="31" name="Elbow Connector 30"/>
              <p:cNvCxnSpPr>
                <a:endCxn id="29" idx="1"/>
              </p:cNvCxnSpPr>
              <p:nvPr/>
            </p:nvCxnSpPr>
            <p:spPr>
              <a:xfrm flipV="1">
                <a:off x="5118265" y="5136078"/>
                <a:ext cx="787606" cy="469075"/>
              </a:xfrm>
              <a:prstGeom prst="bentConnector3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" name="Rectangle 19"/>
          <p:cNvSpPr/>
          <p:nvPr/>
        </p:nvSpPr>
        <p:spPr>
          <a:xfrm>
            <a:off x="2607287" y="5959618"/>
            <a:ext cx="3682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Cambria Math" pitchFamily="18" charset="0"/>
                <a:ea typeface="Cambria Math" pitchFamily="18" charset="0"/>
              </a:rPr>
              <a:t>LLM are good for reasoning(decision making)</a:t>
            </a:r>
            <a:endParaRPr lang="en-IN" sz="1400" dirty="0">
              <a:latin typeface="Cambria Math" pitchFamily="18" charset="0"/>
              <a:ea typeface="Cambria Math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8183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2" name="Rectangle 1"/>
          <p:cNvSpPr/>
          <p:nvPr/>
        </p:nvSpPr>
        <p:spPr>
          <a:xfrm>
            <a:off x="1884219" y="288938"/>
            <a:ext cx="99436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Cambria Math" pitchFamily="18" charset="0"/>
                <a:ea typeface="Cambria Math" pitchFamily="18" charset="0"/>
              </a:rPr>
              <a:t>LLM is Just like human body with only brain </a:t>
            </a:r>
            <a:r>
              <a:rPr lang="en-US" sz="1400" dirty="0" smtClean="0">
                <a:latin typeface="Cambria Math" pitchFamily="18" charset="0"/>
                <a:ea typeface="Cambria Math" pitchFamily="18" charset="0"/>
              </a:rPr>
              <a:t>but there </a:t>
            </a:r>
            <a:r>
              <a:rPr lang="en-US" sz="1400" dirty="0">
                <a:latin typeface="Cambria Math" pitchFamily="18" charset="0"/>
                <a:ea typeface="Cambria Math" pitchFamily="18" charset="0"/>
              </a:rPr>
              <a:t>is not hands and legs.</a:t>
            </a:r>
          </a:p>
          <a:p>
            <a:r>
              <a:rPr lang="en-US" sz="1400" dirty="0">
                <a:latin typeface="Cambria Math" pitchFamily="18" charset="0"/>
                <a:ea typeface="Cambria Math" pitchFamily="18" charset="0"/>
              </a:rPr>
              <a:t>means it can think and speak but can not perform any task</a:t>
            </a:r>
            <a:endParaRPr lang="en-IN" sz="1400" dirty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84218" y="1003902"/>
            <a:ext cx="758041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Cambria Math" pitchFamily="18" charset="0"/>
                <a:ea typeface="Cambria Math" pitchFamily="18" charset="0"/>
              </a:rPr>
              <a:t>Just like if we ask how many difference way to we can go from </a:t>
            </a:r>
            <a:r>
              <a:rPr lang="en-US" sz="1400" dirty="0" smtClean="0">
                <a:latin typeface="Cambria Math" pitchFamily="18" charset="0"/>
                <a:ea typeface="Cambria Math" pitchFamily="18" charset="0"/>
              </a:rPr>
              <a:t>Delhi </a:t>
            </a:r>
            <a:r>
              <a:rPr lang="en-US" sz="1400" dirty="0">
                <a:latin typeface="Cambria Math" pitchFamily="18" charset="0"/>
                <a:ea typeface="Cambria Math" pitchFamily="18" charset="0"/>
              </a:rPr>
              <a:t>to </a:t>
            </a:r>
            <a:r>
              <a:rPr lang="en-US" sz="1400" dirty="0" smtClean="0">
                <a:latin typeface="Cambria Math" pitchFamily="18" charset="0"/>
                <a:ea typeface="Cambria Math" pitchFamily="18" charset="0"/>
              </a:rPr>
              <a:t>Bombay</a:t>
            </a:r>
            <a:endParaRPr lang="en-IN" sz="1400" dirty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31784" y="1510537"/>
            <a:ext cx="120738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i="1" dirty="0">
                <a:solidFill>
                  <a:srgbClr val="0070C0"/>
                </a:solidFill>
                <a:latin typeface="Cambria Math" pitchFamily="18" charset="0"/>
                <a:ea typeface="Cambria Math" pitchFamily="18" charset="0"/>
              </a:rPr>
              <a:t>it can answer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84283" y="3246704"/>
            <a:ext cx="33591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Cambria Math" pitchFamily="18" charset="0"/>
                <a:ea typeface="Cambria Math" pitchFamily="18" charset="0"/>
              </a:rPr>
              <a:t>Ok.If we again ask can you book my ticket</a:t>
            </a:r>
            <a:endParaRPr lang="en-IN" sz="1400" dirty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531784" y="3654032"/>
            <a:ext cx="15295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Cambria Math" pitchFamily="18" charset="0"/>
                <a:ea typeface="Cambria Math" pitchFamily="18" charset="0"/>
              </a:rPr>
              <a:t>LLM is no answer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0157" y="4384503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  <a:latin typeface="Cambria Math" pitchFamily="18" charset="0"/>
                <a:ea typeface="Cambria Math" pitchFamily="18" charset="0"/>
              </a:rPr>
              <a:t>Because it odes not have capability to perform </a:t>
            </a:r>
            <a:r>
              <a:rPr lang="en-US" sz="1400" dirty="0" smtClean="0">
                <a:solidFill>
                  <a:srgbClr val="00B050"/>
                </a:solidFill>
                <a:latin typeface="Cambria Math" pitchFamily="18" charset="0"/>
                <a:ea typeface="Cambria Math" pitchFamily="18" charset="0"/>
              </a:rPr>
              <a:t>any </a:t>
            </a:r>
            <a:r>
              <a:rPr lang="en-US" sz="1400" dirty="0">
                <a:solidFill>
                  <a:srgbClr val="00B050"/>
                </a:solidFill>
                <a:latin typeface="Cambria Math" pitchFamily="18" charset="0"/>
                <a:ea typeface="Cambria Math" pitchFamily="18" charset="0"/>
              </a:rPr>
              <a:t>task</a:t>
            </a:r>
          </a:p>
          <a:p>
            <a:r>
              <a:rPr lang="en-US" sz="1400" dirty="0">
                <a:latin typeface="Cambria Math" pitchFamily="18" charset="0"/>
                <a:ea typeface="Cambria Math" pitchFamily="18" charset="0"/>
              </a:rPr>
              <a:t>    It can not call api</a:t>
            </a:r>
          </a:p>
          <a:p>
            <a:r>
              <a:rPr lang="en-US" sz="1400" dirty="0">
                <a:latin typeface="Cambria Math" pitchFamily="18" charset="0"/>
                <a:ea typeface="Cambria Math" pitchFamily="18" charset="0"/>
              </a:rPr>
              <a:t>    it can not tweet on my behalf</a:t>
            </a:r>
          </a:p>
          <a:p>
            <a:r>
              <a:rPr lang="en-US" sz="1400" dirty="0">
                <a:latin typeface="Cambria Math" pitchFamily="18" charset="0"/>
                <a:ea typeface="Cambria Math" pitchFamily="18" charset="0"/>
              </a:rPr>
              <a:t>    it can not connect to db.</a:t>
            </a:r>
            <a:endParaRPr lang="en-IN" sz="1400" dirty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884217" y="5837160"/>
            <a:ext cx="910045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Cambria Math" pitchFamily="18" charset="0"/>
                <a:ea typeface="Cambria Math" pitchFamily="18" charset="0"/>
              </a:rPr>
              <a:t>means it is human body with only brain that can think and speak but not perform any task</a:t>
            </a:r>
            <a:endParaRPr lang="en-IN" sz="1400" dirty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122613" y="1849091"/>
            <a:ext cx="3048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sz="1400" dirty="0">
                <a:latin typeface="Cambria Math" pitchFamily="18" charset="0"/>
                <a:ea typeface="Cambria Math" pitchFamily="18" charset="0"/>
              </a:rPr>
              <a:t>By Flight</a:t>
            </a:r>
          </a:p>
          <a:p>
            <a:pPr lvl="0"/>
            <a:r>
              <a:rPr lang="en-US" sz="1400" dirty="0">
                <a:latin typeface="Cambria Math" pitchFamily="18" charset="0"/>
                <a:ea typeface="Cambria Math" pitchFamily="18" charset="0"/>
              </a:rPr>
              <a:t>By Train</a:t>
            </a:r>
          </a:p>
          <a:p>
            <a:pPr lvl="0"/>
            <a:r>
              <a:rPr lang="en-US" sz="1400" dirty="0">
                <a:latin typeface="Cambria Math" pitchFamily="18" charset="0"/>
                <a:ea typeface="Cambria Math" pitchFamily="18" charset="0"/>
              </a:rPr>
              <a:t>By Bus another way</a:t>
            </a:r>
            <a:endParaRPr lang="en-IN" sz="1400" dirty="0">
              <a:latin typeface="Cambria Math" pitchFamily="18" charset="0"/>
              <a:ea typeface="Cambria Math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665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496292" y="264760"/>
            <a:ext cx="10515600" cy="307777"/>
            <a:chOff x="1496291" y="418648"/>
            <a:chExt cx="10695709" cy="307777"/>
          </a:xfrm>
        </p:grpSpPr>
        <p:sp>
          <p:nvSpPr>
            <p:cNvPr id="2" name="TextBox 1"/>
            <p:cNvSpPr txBox="1"/>
            <p:nvPr/>
          </p:nvSpPr>
          <p:spPr>
            <a:xfrm>
              <a:off x="1690255" y="418648"/>
              <a:ext cx="1397499" cy="307777"/>
            </a:xfrm>
            <a:prstGeom prst="rect">
              <a:avLst/>
            </a:prstGeom>
            <a:solidFill>
              <a:srgbClr val="0070C0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  <a:latin typeface="Arial Rounded MT Bold" pitchFamily="34" charset="0"/>
                </a:rPr>
                <a:t>Generative AI</a:t>
              </a:r>
              <a:endParaRPr lang="en-IN" sz="1400" dirty="0">
                <a:solidFill>
                  <a:schemeClr val="bg1"/>
                </a:solidFill>
                <a:latin typeface="Arial Rounded MT Bold" pitchFamily="34" charset="0"/>
              </a:endParaRP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1496291" y="719825"/>
              <a:ext cx="1069570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2244436" y="826716"/>
            <a:ext cx="8300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Generative Al is a type of artificial intelligence that creates new content-such as text, images, or </a:t>
            </a:r>
            <a:r>
              <a:rPr lang="en-US" sz="1400" dirty="0" smtClean="0"/>
              <a:t>audio, video based </a:t>
            </a:r>
            <a:r>
              <a:rPr lang="en-US" sz="1400" dirty="0"/>
              <a:t>on patterns learned from existing data.</a:t>
            </a:r>
            <a:endParaRPr lang="en-IN" sz="1400" dirty="0"/>
          </a:p>
        </p:txBody>
      </p:sp>
      <p:sp>
        <p:nvSpPr>
          <p:cNvPr id="3" name="Rectangle 2"/>
          <p:cNvSpPr/>
          <p:nvPr/>
        </p:nvSpPr>
        <p:spPr>
          <a:xfrm>
            <a:off x="3597699" y="1769978"/>
            <a:ext cx="837113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at the </a:t>
            </a:r>
            <a:r>
              <a:rPr lang="en-US" sz="1400" dirty="0" smtClean="0"/>
              <a:t>heart </a:t>
            </a:r>
            <a:r>
              <a:rPr lang="en-US" sz="1400" dirty="0"/>
              <a:t>of it ,there is large langauage model and this model can be </a:t>
            </a:r>
            <a:endParaRPr lang="en-IN" sz="1400" dirty="0"/>
          </a:p>
        </p:txBody>
      </p:sp>
      <p:sp>
        <p:nvSpPr>
          <p:cNvPr id="11" name="Rectangle 10"/>
          <p:cNvSpPr/>
          <p:nvPr/>
        </p:nvSpPr>
        <p:spPr>
          <a:xfrm>
            <a:off x="4778324" y="2369565"/>
            <a:ext cx="113558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sz="1200" dirty="0"/>
              <a:t>GPT4</a:t>
            </a:r>
          </a:p>
          <a:p>
            <a:r>
              <a:rPr lang="en-IN" sz="1200" dirty="0"/>
              <a:t>Claude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2588820" y="3140980"/>
            <a:ext cx="8241475" cy="1241015"/>
            <a:chOff x="2600696" y="3140980"/>
            <a:chExt cx="8241475" cy="1241015"/>
          </a:xfrm>
        </p:grpSpPr>
        <p:grpSp>
          <p:nvGrpSpPr>
            <p:cNvPr id="20" name="Group 19"/>
            <p:cNvGrpSpPr/>
            <p:nvPr/>
          </p:nvGrpSpPr>
          <p:grpSpPr>
            <a:xfrm>
              <a:off x="2788965" y="3307716"/>
              <a:ext cx="7649445" cy="751830"/>
              <a:chOff x="2788965" y="3307716"/>
              <a:chExt cx="7649445" cy="751830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2788965" y="3307716"/>
                <a:ext cx="2557153" cy="73866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1400" dirty="0">
                    <a:latin typeface="Cambria" pitchFamily="18" charset="0"/>
                    <a:ea typeface="Cambria" pitchFamily="18" charset="0"/>
                  </a:rPr>
                  <a:t>What is price of Air India Flight from </a:t>
                </a:r>
                <a:r>
                  <a:rPr lang="en-US" sz="1400" dirty="0" smtClean="0">
                    <a:latin typeface="Cambria" pitchFamily="18" charset="0"/>
                    <a:ea typeface="Cambria" pitchFamily="18" charset="0"/>
                  </a:rPr>
                  <a:t>New york </a:t>
                </a:r>
                <a:r>
                  <a:rPr lang="en-US" sz="1400" dirty="0">
                    <a:latin typeface="Cambria" pitchFamily="18" charset="0"/>
                    <a:ea typeface="Cambria" pitchFamily="18" charset="0"/>
                  </a:rPr>
                  <a:t>to Delhi tomorrow?</a:t>
                </a:r>
                <a:endParaRPr lang="en-IN" sz="1400" dirty="0">
                  <a:latin typeface="Cambria" pitchFamily="18" charset="0"/>
                  <a:ea typeface="Cambria" pitchFamily="18" charset="0"/>
                </a:endParaRPr>
              </a:p>
            </p:txBody>
          </p:sp>
          <p:cxnSp>
            <p:nvCxnSpPr>
              <p:cNvPr id="15" name="Straight Arrow Connector 14"/>
              <p:cNvCxnSpPr/>
              <p:nvPr/>
            </p:nvCxnSpPr>
            <p:spPr>
              <a:xfrm>
                <a:off x="5346118" y="3666463"/>
                <a:ext cx="463138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Rectangle 16"/>
              <p:cNvSpPr/>
              <p:nvPr/>
            </p:nvSpPr>
            <p:spPr>
              <a:xfrm>
                <a:off x="5922820" y="3437863"/>
                <a:ext cx="914400" cy="457200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CC9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/>
                  <a:t>LLM</a:t>
                </a:r>
                <a:endParaRPr lang="en-IN" b="1" dirty="0"/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7410203" y="3320882"/>
                <a:ext cx="3028207" cy="73866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1400" dirty="0">
                    <a:latin typeface="Cambria" pitchFamily="18" charset="0"/>
                    <a:ea typeface="Cambria" pitchFamily="18" charset="0"/>
                  </a:rPr>
                  <a:t>i do not know </a:t>
                </a:r>
                <a:r>
                  <a:rPr lang="en-US" sz="1400" dirty="0" smtClean="0">
                    <a:latin typeface="Cambria" pitchFamily="18" charset="0"/>
                    <a:ea typeface="Cambria" pitchFamily="18" charset="0"/>
                  </a:rPr>
                  <a:t>the </a:t>
                </a:r>
                <a:r>
                  <a:rPr lang="en-US" sz="1400" dirty="0">
                    <a:latin typeface="Cambria" pitchFamily="18" charset="0"/>
                    <a:ea typeface="Cambria" pitchFamily="18" charset="0"/>
                  </a:rPr>
                  <a:t>latest </a:t>
                </a:r>
                <a:r>
                  <a:rPr lang="en-US" sz="1400" dirty="0" smtClean="0">
                    <a:latin typeface="Cambria" pitchFamily="18" charset="0"/>
                    <a:ea typeface="Cambria" pitchFamily="18" charset="0"/>
                  </a:rPr>
                  <a:t>price. My </a:t>
                </a:r>
                <a:r>
                  <a:rPr lang="en-US" sz="1400" dirty="0">
                    <a:latin typeface="Cambria" pitchFamily="18" charset="0"/>
                    <a:ea typeface="Cambria" pitchFamily="18" charset="0"/>
                  </a:rPr>
                  <a:t>knowledge is cut of till </a:t>
                </a:r>
                <a:r>
                  <a:rPr lang="en-US" sz="1400" dirty="0" smtClean="0">
                    <a:latin typeface="Cambria" pitchFamily="18" charset="0"/>
                    <a:ea typeface="Cambria" pitchFamily="18" charset="0"/>
                  </a:rPr>
                  <a:t>Dec2024</a:t>
                </a:r>
              </a:p>
              <a:p>
                <a:endParaRPr lang="en-IN" sz="1400" dirty="0">
                  <a:latin typeface="Cambria" pitchFamily="18" charset="0"/>
                  <a:ea typeface="Cambria" pitchFamily="18" charset="0"/>
                </a:endParaRPr>
              </a:p>
            </p:txBody>
          </p:sp>
          <p:cxnSp>
            <p:nvCxnSpPr>
              <p:cNvPr id="19" name="Straight Arrow Connector 18"/>
              <p:cNvCxnSpPr/>
              <p:nvPr/>
            </p:nvCxnSpPr>
            <p:spPr>
              <a:xfrm>
                <a:off x="6893628" y="3690214"/>
                <a:ext cx="463138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Rectangle 20"/>
            <p:cNvSpPr/>
            <p:nvPr/>
          </p:nvSpPr>
          <p:spPr>
            <a:xfrm>
              <a:off x="2600696" y="3140980"/>
              <a:ext cx="8241475" cy="1241015"/>
            </a:xfrm>
            <a:prstGeom prst="rect">
              <a:avLst/>
            </a:prstGeom>
            <a:noFill/>
            <a:ln>
              <a:solidFill>
                <a:srgbClr val="00CC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23" name="Snip Diagonal Corner Rectangle 22"/>
          <p:cNvSpPr/>
          <p:nvPr/>
        </p:nvSpPr>
        <p:spPr>
          <a:xfrm>
            <a:off x="10206840" y="3079116"/>
            <a:ext cx="1246909" cy="457200"/>
          </a:xfrm>
          <a:prstGeom prst="snip2Diag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atin typeface="Cambria" pitchFamily="18" charset="0"/>
                <a:ea typeface="Cambria" pitchFamily="18" charset="0"/>
              </a:rPr>
              <a:t>GenAI with only LLM</a:t>
            </a:r>
            <a:endParaRPr lang="en-IN" sz="1200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588819" y="5077139"/>
            <a:ext cx="839585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they are </a:t>
            </a:r>
            <a:r>
              <a:rPr lang="en-US" sz="1400" dirty="0" smtClean="0"/>
              <a:t>trained </a:t>
            </a:r>
            <a:r>
              <a:rPr lang="en-US" sz="1400" dirty="0"/>
              <a:t>on huge amount of data and based on that it will be generating the answer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571042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86101" y="6285097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2" name="Rectangle 1"/>
          <p:cNvSpPr/>
          <p:nvPr/>
        </p:nvSpPr>
        <p:spPr>
          <a:xfrm>
            <a:off x="1506188" y="396660"/>
            <a:ext cx="10109860" cy="52322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latin typeface="Cambria" pitchFamily="18" charset="0"/>
                <a:ea typeface="Cambria" pitchFamily="18" charset="0"/>
              </a:rPr>
              <a:t>But You might have noticed if you ask some question to chat GPT,you might be see  "searching the web" text and it will do web search and it will return </a:t>
            </a:r>
            <a:r>
              <a:rPr lang="en-US" sz="1400" dirty="0" smtClean="0">
                <a:latin typeface="Cambria" pitchFamily="18" charset="0"/>
                <a:ea typeface="Cambria" pitchFamily="18" charset="0"/>
              </a:rPr>
              <a:t>the </a:t>
            </a:r>
            <a:r>
              <a:rPr lang="en-US" sz="1400" dirty="0">
                <a:latin typeface="Cambria" pitchFamily="18" charset="0"/>
                <a:ea typeface="Cambria" pitchFamily="18" charset="0"/>
              </a:rPr>
              <a:t>latest info from the internet</a:t>
            </a:r>
            <a:endParaRPr lang="en-IN" sz="1400" dirty="0">
              <a:latin typeface="Cambria" pitchFamily="18" charset="0"/>
              <a:ea typeface="Cambria" pitchFamily="18" charset="0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1401288" y="308758"/>
            <a:ext cx="10604665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161309" y="3451254"/>
            <a:ext cx="89421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So in this LLM if we give access to Expedia Api or makemytrip api ,then LLM is smart enough to call this </a:t>
            </a:r>
            <a:r>
              <a:rPr lang="en-US" sz="1400" dirty="0" smtClean="0"/>
              <a:t>api  </a:t>
            </a:r>
            <a:r>
              <a:rPr lang="en-US" sz="1400" dirty="0"/>
              <a:t>and retrieve price of flight</a:t>
            </a:r>
            <a:endParaRPr lang="en-IN" sz="1400" dirty="0"/>
          </a:p>
        </p:txBody>
      </p:sp>
      <p:sp>
        <p:nvSpPr>
          <p:cNvPr id="22" name="Rectangle 21"/>
          <p:cNvSpPr/>
          <p:nvPr/>
        </p:nvSpPr>
        <p:spPr>
          <a:xfrm>
            <a:off x="2161308" y="3980849"/>
            <a:ext cx="906087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So this is getting more intelligent than just simple LLM which is trained on some </a:t>
            </a:r>
            <a:r>
              <a:rPr lang="en-US" sz="1400" dirty="0" smtClean="0"/>
              <a:t>knowledge </a:t>
            </a:r>
            <a:r>
              <a:rPr lang="en-US" sz="1400" dirty="0"/>
              <a:t>cutoff</a:t>
            </a:r>
            <a:endParaRPr lang="en-IN" sz="1400" dirty="0"/>
          </a:p>
        </p:txBody>
      </p:sp>
      <p:sp>
        <p:nvSpPr>
          <p:cNvPr id="23" name="Rectangle 22"/>
          <p:cNvSpPr/>
          <p:nvPr/>
        </p:nvSpPr>
        <p:spPr>
          <a:xfrm>
            <a:off x="2161308" y="4303010"/>
            <a:ext cx="972589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so </a:t>
            </a:r>
            <a:r>
              <a:rPr lang="en-US" sz="1400" dirty="0" smtClean="0"/>
              <a:t>LLM is </a:t>
            </a:r>
            <a:r>
              <a:rPr lang="en-US" sz="1400" dirty="0"/>
              <a:t>like a human brain</a:t>
            </a:r>
          </a:p>
          <a:p>
            <a:r>
              <a:rPr lang="en-US" sz="1400" dirty="0"/>
              <a:t>Just like you are human you have </a:t>
            </a:r>
            <a:r>
              <a:rPr lang="en-US" sz="1400" dirty="0" smtClean="0"/>
              <a:t>brain. That </a:t>
            </a:r>
            <a:r>
              <a:rPr lang="en-US" sz="1400" dirty="0"/>
              <a:t>will perform very limited number of </a:t>
            </a:r>
            <a:r>
              <a:rPr lang="en-US" sz="1400" dirty="0" smtClean="0"/>
              <a:t>task, if </a:t>
            </a:r>
            <a:r>
              <a:rPr lang="en-US" sz="1400" dirty="0"/>
              <a:t>we give you </a:t>
            </a:r>
            <a:r>
              <a:rPr lang="en-US" sz="1400" dirty="0" smtClean="0"/>
              <a:t>hammer, screwdriver </a:t>
            </a:r>
            <a:r>
              <a:rPr lang="en-US" sz="1400" dirty="0"/>
              <a:t>,you will be able to do even more.</a:t>
            </a:r>
            <a:endParaRPr lang="en-IN" sz="1400" dirty="0"/>
          </a:p>
        </p:txBody>
      </p:sp>
      <p:grpSp>
        <p:nvGrpSpPr>
          <p:cNvPr id="26" name="Group 25"/>
          <p:cNvGrpSpPr/>
          <p:nvPr/>
        </p:nvGrpSpPr>
        <p:grpSpPr>
          <a:xfrm>
            <a:off x="2151595" y="1133105"/>
            <a:ext cx="8241475" cy="1988816"/>
            <a:chOff x="2161308" y="1462438"/>
            <a:chExt cx="8241475" cy="1988816"/>
          </a:xfrm>
        </p:grpSpPr>
        <p:grpSp>
          <p:nvGrpSpPr>
            <p:cNvPr id="9" name="Group 8"/>
            <p:cNvGrpSpPr/>
            <p:nvPr/>
          </p:nvGrpSpPr>
          <p:grpSpPr>
            <a:xfrm>
              <a:off x="2161308" y="1462438"/>
              <a:ext cx="8241475" cy="1241015"/>
              <a:chOff x="2600696" y="3140980"/>
              <a:chExt cx="8241475" cy="1241015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2788965" y="3307716"/>
                <a:ext cx="7649445" cy="738664"/>
                <a:chOff x="2788965" y="3307716"/>
                <a:chExt cx="7649445" cy="738664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2788965" y="3307716"/>
                  <a:ext cx="2557153" cy="738664"/>
                </a:xfrm>
                <a:prstGeom prst="rect">
                  <a:avLst/>
                </a:prstGeom>
                <a:solidFill>
                  <a:srgbClr val="0070C0"/>
                </a:solid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400" dirty="0">
                      <a:solidFill>
                        <a:schemeClr val="bg1"/>
                      </a:solidFill>
                      <a:latin typeface="Cambria" pitchFamily="18" charset="0"/>
                      <a:ea typeface="Cambria" pitchFamily="18" charset="0"/>
                    </a:rPr>
                    <a:t>What is price of Air India Flight from </a:t>
                  </a:r>
                  <a:r>
                    <a:rPr lang="en-US" sz="1400" dirty="0" smtClean="0">
                      <a:solidFill>
                        <a:schemeClr val="bg1"/>
                      </a:solidFill>
                      <a:latin typeface="Cambria" pitchFamily="18" charset="0"/>
                      <a:ea typeface="Cambria" pitchFamily="18" charset="0"/>
                    </a:rPr>
                    <a:t>New york </a:t>
                  </a:r>
                  <a:r>
                    <a:rPr lang="en-US" sz="1400" dirty="0">
                      <a:solidFill>
                        <a:schemeClr val="bg1"/>
                      </a:solidFill>
                      <a:latin typeface="Cambria" pitchFamily="18" charset="0"/>
                      <a:ea typeface="Cambria" pitchFamily="18" charset="0"/>
                    </a:rPr>
                    <a:t>to Delhi tomorrow?</a:t>
                  </a:r>
                  <a:endParaRPr lang="en-IN" sz="1400" dirty="0">
                    <a:solidFill>
                      <a:schemeClr val="bg1"/>
                    </a:solidFill>
                    <a:latin typeface="Cambria" pitchFamily="18" charset="0"/>
                    <a:ea typeface="Cambria" pitchFamily="18" charset="0"/>
                  </a:endParaRPr>
                </a:p>
              </p:txBody>
            </p:sp>
            <p:cxnSp>
              <p:nvCxnSpPr>
                <p:cNvPr id="13" name="Straight Arrow Connector 12"/>
                <p:cNvCxnSpPr/>
                <p:nvPr/>
              </p:nvCxnSpPr>
              <p:spPr>
                <a:xfrm>
                  <a:off x="5346118" y="3666463"/>
                  <a:ext cx="463138" cy="0"/>
                </a:xfrm>
                <a:prstGeom prst="straightConnector1">
                  <a:avLst/>
                </a:prstGeom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" name="Rectangle 13"/>
                <p:cNvSpPr/>
                <p:nvPr/>
              </p:nvSpPr>
              <p:spPr>
                <a:xfrm>
                  <a:off x="5922820" y="3437863"/>
                  <a:ext cx="914400" cy="4572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 smtClean="0"/>
                    <a:t>LLM</a:t>
                  </a:r>
                  <a:endParaRPr lang="en-IN" b="1" dirty="0"/>
                </a:p>
              </p:txBody>
            </p:sp>
            <p:sp>
              <p:nvSpPr>
                <p:cNvPr id="15" name="Rectangle 14"/>
                <p:cNvSpPr/>
                <p:nvPr/>
              </p:nvSpPr>
              <p:spPr>
                <a:xfrm>
                  <a:off x="7410203" y="3320882"/>
                  <a:ext cx="3028207" cy="52322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400" dirty="0">
                      <a:solidFill>
                        <a:schemeClr val="bg1"/>
                      </a:solidFill>
                      <a:latin typeface="Cambria" pitchFamily="18" charset="0"/>
                      <a:ea typeface="Cambria" pitchFamily="18" charset="0"/>
                    </a:rPr>
                    <a:t>the price is 1200$-economy and 3400$ business class</a:t>
                  </a:r>
                  <a:endParaRPr lang="en-IN" sz="1400" dirty="0">
                    <a:solidFill>
                      <a:schemeClr val="bg1"/>
                    </a:solidFill>
                    <a:latin typeface="Cambria" pitchFamily="18" charset="0"/>
                    <a:ea typeface="Cambria" pitchFamily="18" charset="0"/>
                  </a:endParaRPr>
                </a:p>
              </p:txBody>
            </p:sp>
            <p:cxnSp>
              <p:nvCxnSpPr>
                <p:cNvPr id="16" name="Straight Arrow Connector 15"/>
                <p:cNvCxnSpPr/>
                <p:nvPr/>
              </p:nvCxnSpPr>
              <p:spPr>
                <a:xfrm>
                  <a:off x="6893628" y="3690214"/>
                  <a:ext cx="463138" cy="0"/>
                </a:xfrm>
                <a:prstGeom prst="straightConnector1">
                  <a:avLst/>
                </a:prstGeom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Rectangle 10"/>
              <p:cNvSpPr/>
              <p:nvPr/>
            </p:nvSpPr>
            <p:spPr>
              <a:xfrm>
                <a:off x="2600696" y="3140980"/>
                <a:ext cx="8241475" cy="124101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3016" y="2555904"/>
              <a:ext cx="904875" cy="895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25" name="Straight Arrow Connector 24"/>
            <p:cNvCxnSpPr/>
            <p:nvPr/>
          </p:nvCxnSpPr>
          <p:spPr>
            <a:xfrm>
              <a:off x="6282045" y="2216521"/>
              <a:ext cx="0" cy="339383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6418178" y="2374120"/>
            <a:ext cx="21821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Arial" pitchFamily="34" charset="0"/>
                <a:cs typeface="Arial" pitchFamily="34" charset="0"/>
              </a:rPr>
              <a:t>Tool or  Hammer, screwdriver</a:t>
            </a:r>
            <a:endParaRPr lang="en-IN" sz="1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719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86101" y="6285097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2" name="Rectangle 1"/>
          <p:cNvSpPr/>
          <p:nvPr/>
        </p:nvSpPr>
        <p:spPr>
          <a:xfrm>
            <a:off x="1506188" y="396660"/>
            <a:ext cx="10109860" cy="52322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latin typeface="Cambria" pitchFamily="18" charset="0"/>
                <a:ea typeface="Cambria" pitchFamily="18" charset="0"/>
              </a:rPr>
              <a:t>later we can also ask book me a </a:t>
            </a:r>
            <a:r>
              <a:rPr lang="en-US" sz="1400" dirty="0" smtClean="0">
                <a:latin typeface="Cambria" pitchFamily="18" charset="0"/>
                <a:ea typeface="Cambria" pitchFamily="18" charset="0"/>
              </a:rPr>
              <a:t>cheapest </a:t>
            </a:r>
            <a:r>
              <a:rPr lang="en-US" sz="1400" dirty="0">
                <a:latin typeface="Cambria" pitchFamily="18" charset="0"/>
                <a:ea typeface="Cambria" pitchFamily="18" charset="0"/>
              </a:rPr>
              <a:t>flight tomorrow from A to B</a:t>
            </a:r>
            <a:r>
              <a:rPr lang="en-US" sz="1400" dirty="0" smtClean="0">
                <a:latin typeface="Cambria" pitchFamily="18" charset="0"/>
                <a:ea typeface="Cambria" pitchFamily="18" charset="0"/>
              </a:rPr>
              <a:t>.</a:t>
            </a:r>
          </a:p>
          <a:p>
            <a:r>
              <a:rPr lang="en-US" sz="1400" dirty="0">
                <a:latin typeface="Cambria" pitchFamily="18" charset="0"/>
                <a:ea typeface="Cambria" pitchFamily="18" charset="0"/>
              </a:rPr>
              <a:t>using Xpedia API,it will first search different </a:t>
            </a:r>
            <a:r>
              <a:rPr lang="en-US" sz="1400" dirty="0" smtClean="0">
                <a:latin typeface="Cambria" pitchFamily="18" charset="0"/>
                <a:ea typeface="Cambria" pitchFamily="18" charset="0"/>
              </a:rPr>
              <a:t>flights, then  </a:t>
            </a:r>
            <a:r>
              <a:rPr lang="en-US" sz="1400" dirty="0">
                <a:latin typeface="Cambria" pitchFamily="18" charset="0"/>
                <a:ea typeface="Cambria" pitchFamily="18" charset="0"/>
              </a:rPr>
              <a:t>it will decide then chepest one,then it will book the flight</a:t>
            </a:r>
            <a:endParaRPr lang="en-IN" sz="1400" dirty="0">
              <a:latin typeface="Cambria" pitchFamily="18" charset="0"/>
              <a:ea typeface="Cambria" pitchFamily="18" charset="0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1401288" y="308758"/>
            <a:ext cx="10604665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/>
          <p:cNvGrpSpPr/>
          <p:nvPr/>
        </p:nvGrpSpPr>
        <p:grpSpPr>
          <a:xfrm>
            <a:off x="2151594" y="943425"/>
            <a:ext cx="8241475" cy="2133882"/>
            <a:chOff x="2161308" y="569571"/>
            <a:chExt cx="8241475" cy="2133882"/>
          </a:xfrm>
        </p:grpSpPr>
        <p:grpSp>
          <p:nvGrpSpPr>
            <p:cNvPr id="9" name="Group 8"/>
            <p:cNvGrpSpPr/>
            <p:nvPr/>
          </p:nvGrpSpPr>
          <p:grpSpPr>
            <a:xfrm>
              <a:off x="2161308" y="1462438"/>
              <a:ext cx="8241475" cy="1241015"/>
              <a:chOff x="2600696" y="3140980"/>
              <a:chExt cx="8241475" cy="1241015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2788965" y="3424480"/>
                <a:ext cx="7649445" cy="738664"/>
                <a:chOff x="2788965" y="3424480"/>
                <a:chExt cx="7649445" cy="738664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2788965" y="3424480"/>
                  <a:ext cx="2557153" cy="738664"/>
                </a:xfrm>
                <a:prstGeom prst="rect">
                  <a:avLst/>
                </a:prstGeom>
                <a:solidFill>
                  <a:srgbClr val="0070C0"/>
                </a:solid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400" dirty="0" smtClean="0">
                      <a:solidFill>
                        <a:schemeClr val="bg1"/>
                      </a:solidFill>
                      <a:latin typeface="Cambria" pitchFamily="18" charset="0"/>
                      <a:ea typeface="Cambria" pitchFamily="18" charset="0"/>
                    </a:rPr>
                    <a:t>Book me the chepest Air </a:t>
                  </a:r>
                  <a:r>
                    <a:rPr lang="en-US" sz="1400" dirty="0">
                      <a:solidFill>
                        <a:schemeClr val="bg1"/>
                      </a:solidFill>
                      <a:latin typeface="Cambria" pitchFamily="18" charset="0"/>
                      <a:ea typeface="Cambria" pitchFamily="18" charset="0"/>
                    </a:rPr>
                    <a:t>India Flight from </a:t>
                  </a:r>
                  <a:r>
                    <a:rPr lang="en-US" sz="1400" dirty="0" smtClean="0">
                      <a:solidFill>
                        <a:schemeClr val="bg1"/>
                      </a:solidFill>
                      <a:latin typeface="Cambria" pitchFamily="18" charset="0"/>
                      <a:ea typeface="Cambria" pitchFamily="18" charset="0"/>
                    </a:rPr>
                    <a:t>New york </a:t>
                  </a:r>
                  <a:r>
                    <a:rPr lang="en-US" sz="1400" dirty="0">
                      <a:solidFill>
                        <a:schemeClr val="bg1"/>
                      </a:solidFill>
                      <a:latin typeface="Cambria" pitchFamily="18" charset="0"/>
                      <a:ea typeface="Cambria" pitchFamily="18" charset="0"/>
                    </a:rPr>
                    <a:t>to Delhi tomorrow?</a:t>
                  </a:r>
                  <a:endParaRPr lang="en-IN" sz="1400" dirty="0">
                    <a:solidFill>
                      <a:schemeClr val="bg1"/>
                    </a:solidFill>
                    <a:latin typeface="Cambria" pitchFamily="18" charset="0"/>
                    <a:ea typeface="Cambria" pitchFamily="18" charset="0"/>
                  </a:endParaRPr>
                </a:p>
              </p:txBody>
            </p:sp>
            <p:cxnSp>
              <p:nvCxnSpPr>
                <p:cNvPr id="13" name="Straight Arrow Connector 12"/>
                <p:cNvCxnSpPr/>
                <p:nvPr/>
              </p:nvCxnSpPr>
              <p:spPr>
                <a:xfrm>
                  <a:off x="5380189" y="3818937"/>
                  <a:ext cx="463138" cy="0"/>
                </a:xfrm>
                <a:prstGeom prst="straightConnector1">
                  <a:avLst/>
                </a:prstGeom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" name="Rectangle 13"/>
                <p:cNvSpPr/>
                <p:nvPr/>
              </p:nvSpPr>
              <p:spPr>
                <a:xfrm>
                  <a:off x="5922820" y="3582492"/>
                  <a:ext cx="914400" cy="4572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 smtClean="0"/>
                    <a:t>LLM</a:t>
                  </a:r>
                  <a:endParaRPr lang="en-IN" b="1" dirty="0"/>
                </a:p>
              </p:txBody>
            </p:sp>
            <p:sp>
              <p:nvSpPr>
                <p:cNvPr id="15" name="Rectangle 14"/>
                <p:cNvSpPr/>
                <p:nvPr/>
              </p:nvSpPr>
              <p:spPr>
                <a:xfrm>
                  <a:off x="7410203" y="3516472"/>
                  <a:ext cx="3028207" cy="52322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400" dirty="0" smtClean="0">
                      <a:solidFill>
                        <a:schemeClr val="bg1"/>
                      </a:solidFill>
                      <a:latin typeface="Cambria" pitchFamily="18" charset="0"/>
                      <a:ea typeface="Cambria" pitchFamily="18" charset="0"/>
                    </a:rPr>
                    <a:t>Flight booked for </a:t>
                  </a:r>
                  <a:r>
                    <a:rPr lang="en-US" sz="1400" dirty="0">
                      <a:solidFill>
                        <a:schemeClr val="bg1"/>
                      </a:solidFill>
                      <a:latin typeface="Cambria" pitchFamily="18" charset="0"/>
                      <a:ea typeface="Cambria" pitchFamily="18" charset="0"/>
                    </a:rPr>
                    <a:t>1200$-economy and </a:t>
                  </a:r>
                  <a:r>
                    <a:rPr lang="en-US" sz="1400" dirty="0" smtClean="0">
                      <a:solidFill>
                        <a:schemeClr val="bg1"/>
                      </a:solidFill>
                      <a:latin typeface="Cambria" pitchFamily="18" charset="0"/>
                      <a:ea typeface="Cambria" pitchFamily="18" charset="0"/>
                    </a:rPr>
                    <a:t>confirmation sent to your email</a:t>
                  </a:r>
                  <a:endParaRPr lang="en-IN" sz="1400" dirty="0">
                    <a:solidFill>
                      <a:schemeClr val="bg1"/>
                    </a:solidFill>
                    <a:latin typeface="Cambria" pitchFamily="18" charset="0"/>
                    <a:ea typeface="Cambria" pitchFamily="18" charset="0"/>
                  </a:endParaRPr>
                </a:p>
              </p:txBody>
            </p:sp>
            <p:cxnSp>
              <p:nvCxnSpPr>
                <p:cNvPr id="16" name="Straight Arrow Connector 15"/>
                <p:cNvCxnSpPr/>
                <p:nvPr/>
              </p:nvCxnSpPr>
              <p:spPr>
                <a:xfrm>
                  <a:off x="6893628" y="3811092"/>
                  <a:ext cx="463138" cy="0"/>
                </a:xfrm>
                <a:prstGeom prst="straightConnector1">
                  <a:avLst/>
                </a:prstGeom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Rectangle 10"/>
              <p:cNvSpPr/>
              <p:nvPr/>
            </p:nvSpPr>
            <p:spPr>
              <a:xfrm>
                <a:off x="2600696" y="3140980"/>
                <a:ext cx="8241475" cy="124101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3432" y="569571"/>
              <a:ext cx="904875" cy="895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25" name="Straight Arrow Connector 24"/>
            <p:cNvCxnSpPr/>
            <p:nvPr/>
          </p:nvCxnSpPr>
          <p:spPr>
            <a:xfrm>
              <a:off x="5906786" y="1464921"/>
              <a:ext cx="0" cy="339383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Flowchart: Terminator 2"/>
          <p:cNvSpPr/>
          <p:nvPr/>
        </p:nvSpPr>
        <p:spPr>
          <a:xfrm>
            <a:off x="5070732" y="3295403"/>
            <a:ext cx="2387924" cy="301752"/>
          </a:xfrm>
          <a:prstGeom prst="flowChartTerminator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 smtClean="0">
                <a:latin typeface="Arial" pitchFamily="34" charset="0"/>
                <a:ea typeface="Cambria" pitchFamily="18" charset="0"/>
                <a:cs typeface="Arial" pitchFamily="34" charset="0"/>
              </a:rPr>
              <a:t>1. Searches </a:t>
            </a:r>
            <a:r>
              <a:rPr lang="en-IN" sz="1200" dirty="0">
                <a:latin typeface="Arial" pitchFamily="34" charset="0"/>
                <a:ea typeface="Cambria" pitchFamily="18" charset="0"/>
                <a:cs typeface="Arial" pitchFamily="34" charset="0"/>
              </a:rPr>
              <a:t>Flights</a:t>
            </a:r>
          </a:p>
        </p:txBody>
      </p:sp>
      <p:sp>
        <p:nvSpPr>
          <p:cNvPr id="28" name="Flowchart: Terminator 27"/>
          <p:cNvSpPr/>
          <p:nvPr/>
        </p:nvSpPr>
        <p:spPr>
          <a:xfrm>
            <a:off x="5075494" y="3722757"/>
            <a:ext cx="2383162" cy="301752"/>
          </a:xfrm>
          <a:prstGeom prst="flowChartTerminator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>
                <a:latin typeface="Arial" pitchFamily="34" charset="0"/>
                <a:ea typeface="Cambria" pitchFamily="18" charset="0"/>
                <a:cs typeface="Arial" pitchFamily="34" charset="0"/>
              </a:rPr>
              <a:t>2. Decides the </a:t>
            </a:r>
            <a:r>
              <a:rPr lang="en-IN" sz="1200" dirty="0" smtClean="0">
                <a:latin typeface="Arial" pitchFamily="34" charset="0"/>
                <a:ea typeface="Cambria" pitchFamily="18" charset="0"/>
                <a:cs typeface="Arial" pitchFamily="34" charset="0"/>
              </a:rPr>
              <a:t>cheapest </a:t>
            </a:r>
            <a:r>
              <a:rPr lang="en-IN" sz="1200" dirty="0">
                <a:latin typeface="Arial" pitchFamily="34" charset="0"/>
                <a:ea typeface="Cambria" pitchFamily="18" charset="0"/>
                <a:cs typeface="Arial" pitchFamily="34" charset="0"/>
              </a:rPr>
              <a:t>one</a:t>
            </a:r>
          </a:p>
        </p:txBody>
      </p:sp>
      <p:sp>
        <p:nvSpPr>
          <p:cNvPr id="29" name="Flowchart: Terminator 28"/>
          <p:cNvSpPr/>
          <p:nvPr/>
        </p:nvSpPr>
        <p:spPr>
          <a:xfrm>
            <a:off x="5080256" y="4098091"/>
            <a:ext cx="2384149" cy="301752"/>
          </a:xfrm>
          <a:prstGeom prst="flowChartTerminator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>
                <a:latin typeface="Arial" pitchFamily="34" charset="0"/>
                <a:ea typeface="Cambria" pitchFamily="18" charset="0"/>
                <a:cs typeface="Arial" pitchFamily="34" charset="0"/>
              </a:rPr>
              <a:t>3. Book it</a:t>
            </a:r>
          </a:p>
        </p:txBody>
      </p:sp>
    </p:spTree>
    <p:extLst>
      <p:ext uri="{BB962C8B-B14F-4D97-AF65-F5344CB8AC3E}">
        <p14:creationId xmlns:p14="http://schemas.microsoft.com/office/powerpoint/2010/main" val="2938917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9" name="Rectangle 8"/>
          <p:cNvSpPr/>
          <p:nvPr/>
        </p:nvSpPr>
        <p:spPr>
          <a:xfrm>
            <a:off x="1532341" y="442826"/>
            <a:ext cx="94167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previous you are asking question simple Q$A but now it is actually taking action for </a:t>
            </a:r>
            <a:r>
              <a:rPr lang="en-US" sz="1400" dirty="0" smtClean="0"/>
              <a:t>you. It </a:t>
            </a:r>
            <a:r>
              <a:rPr lang="en-US" sz="1400" dirty="0"/>
              <a:t>is an AI agent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1344072" y="329573"/>
            <a:ext cx="9854359" cy="1187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1532341" y="1174160"/>
            <a:ext cx="9666090" cy="7848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500" dirty="0">
                <a:latin typeface="Cambria" pitchFamily="18" charset="0"/>
                <a:ea typeface="Cambria" pitchFamily="18" charset="0"/>
              </a:rPr>
              <a:t>In Simple </a:t>
            </a:r>
            <a:r>
              <a:rPr lang="en-US" sz="1500" dirty="0" smtClean="0">
                <a:latin typeface="Cambria" pitchFamily="18" charset="0"/>
                <a:ea typeface="Cambria" pitchFamily="18" charset="0"/>
              </a:rPr>
              <a:t>term, </a:t>
            </a:r>
            <a:r>
              <a:rPr lang="en-US" sz="1500" dirty="0" smtClean="0">
                <a:solidFill>
                  <a:srgbClr val="00B050"/>
                </a:solidFill>
                <a:latin typeface="Cambria" pitchFamily="18" charset="0"/>
                <a:ea typeface="Cambria" pitchFamily="18" charset="0"/>
              </a:rPr>
              <a:t>AI </a:t>
            </a:r>
            <a:r>
              <a:rPr lang="en-US" sz="1500" dirty="0">
                <a:solidFill>
                  <a:srgbClr val="00B050"/>
                </a:solidFill>
                <a:latin typeface="Cambria" pitchFamily="18" charset="0"/>
                <a:ea typeface="Cambria" pitchFamily="18" charset="0"/>
              </a:rPr>
              <a:t>Agent </a:t>
            </a:r>
            <a:r>
              <a:rPr lang="en-US" sz="1500" dirty="0">
                <a:latin typeface="Cambria" pitchFamily="18" charset="0"/>
                <a:ea typeface="Cambria" pitchFamily="18" charset="0"/>
              </a:rPr>
              <a:t>is a Program that takes input, </a:t>
            </a:r>
            <a:endParaRPr lang="en-US" sz="1500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sz="1500" dirty="0" smtClean="0">
                <a:latin typeface="Cambria" pitchFamily="18" charset="0"/>
                <a:ea typeface="Cambria" pitchFamily="18" charset="0"/>
              </a:rPr>
              <a:t>think, decide </a:t>
            </a:r>
            <a:r>
              <a:rPr lang="en-US" sz="1500" dirty="0">
                <a:latin typeface="Cambria" pitchFamily="18" charset="0"/>
                <a:ea typeface="Cambria" pitchFamily="18" charset="0"/>
              </a:rPr>
              <a:t>and take an  action to complete a task using tools ,memory and </a:t>
            </a:r>
            <a:r>
              <a:rPr lang="en-US" sz="1500" dirty="0" smtClean="0">
                <a:latin typeface="Cambria" pitchFamily="18" charset="0"/>
                <a:ea typeface="Cambria" pitchFamily="18" charset="0"/>
              </a:rPr>
              <a:t>knowledge.</a:t>
            </a:r>
          </a:p>
          <a:p>
            <a:r>
              <a:rPr lang="en-US" sz="1500" dirty="0" smtClean="0">
                <a:latin typeface="Cambria" pitchFamily="18" charset="0"/>
                <a:ea typeface="Cambria" pitchFamily="18" charset="0"/>
              </a:rPr>
              <a:t>So here some kind of autonomy or independent decision making</a:t>
            </a:r>
            <a:endParaRPr lang="en-IN" sz="1500" dirty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481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2" name="Rectangle 1"/>
          <p:cNvSpPr/>
          <p:nvPr/>
        </p:nvSpPr>
        <p:spPr>
          <a:xfrm>
            <a:off x="1563584" y="254156"/>
            <a:ext cx="974172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itchFamily="34" charset="0"/>
                <a:cs typeface="Arial" pitchFamily="34" charset="0"/>
              </a:rPr>
              <a:t>This is autonomous but narrow and task 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specific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and 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doesn't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have multiple goal.it </a:t>
            </a:r>
          </a:p>
          <a:p>
            <a:r>
              <a:rPr lang="en-US" sz="1400" dirty="0" smtClean="0">
                <a:latin typeface="Arial" pitchFamily="34" charset="0"/>
                <a:cs typeface="Arial" pitchFamily="34" charset="0"/>
              </a:rPr>
              <a:t>doesn't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involve multi step reasoning or 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planning.</a:t>
            </a:r>
          </a:p>
          <a:p>
            <a:r>
              <a:rPr lang="en-US" sz="1600" i="1" dirty="0" smtClean="0">
                <a:solidFill>
                  <a:srgbClr val="00C894"/>
                </a:solidFill>
                <a:latin typeface="Cambria" pitchFamily="18" charset="0"/>
                <a:ea typeface="Cambria" pitchFamily="18" charset="0"/>
                <a:cs typeface="Arial" pitchFamily="34" charset="0"/>
              </a:rPr>
              <a:t>now </a:t>
            </a:r>
            <a:r>
              <a:rPr lang="en-US" sz="1600" i="1" dirty="0">
                <a:solidFill>
                  <a:srgbClr val="00C894"/>
                </a:solidFill>
                <a:latin typeface="Cambria" pitchFamily="18" charset="0"/>
                <a:ea typeface="Cambria" pitchFamily="18" charset="0"/>
                <a:cs typeface="Arial" pitchFamily="34" charset="0"/>
              </a:rPr>
              <a:t>let ask even more </a:t>
            </a:r>
            <a:r>
              <a:rPr lang="en-US" sz="1600" i="1" dirty="0" smtClean="0">
                <a:solidFill>
                  <a:srgbClr val="00C894"/>
                </a:solidFill>
                <a:latin typeface="Cambria" pitchFamily="18" charset="0"/>
                <a:ea typeface="Cambria" pitchFamily="18" charset="0"/>
                <a:cs typeface="Arial" pitchFamily="34" charset="0"/>
              </a:rPr>
              <a:t>complex </a:t>
            </a:r>
            <a:r>
              <a:rPr lang="en-US" sz="1600" i="1" dirty="0">
                <a:solidFill>
                  <a:srgbClr val="00C894"/>
                </a:solidFill>
                <a:latin typeface="Cambria" pitchFamily="18" charset="0"/>
                <a:ea typeface="Cambria" pitchFamily="18" charset="0"/>
                <a:cs typeface="Arial" pitchFamily="34" charset="0"/>
              </a:rPr>
              <a:t>question</a:t>
            </a:r>
            <a:endParaRPr lang="en-IN" sz="1600" i="1" dirty="0">
              <a:solidFill>
                <a:srgbClr val="00C894"/>
              </a:solidFill>
              <a:latin typeface="Cambria" pitchFamily="18" charset="0"/>
              <a:ea typeface="Cambria" pitchFamily="18" charset="0"/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86743" y="1036296"/>
            <a:ext cx="8874826" cy="52322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latin typeface="Arial" pitchFamily="34" charset="0"/>
                <a:cs typeface="Arial" pitchFamily="34" charset="0"/>
              </a:rPr>
              <a:t>such as i want to travel new 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Delhi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in may.it is 7 days 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trip. Weather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should be sunny on 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all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the days and flight 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budget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is less than 1600$ 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and no layover</a:t>
            </a:r>
            <a:endParaRPr lang="en-IN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86743" y="1613195"/>
            <a:ext cx="8981704" cy="52322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latin typeface="Arial" pitchFamily="34" charset="0"/>
                <a:cs typeface="Arial" pitchFamily="34" charset="0"/>
              </a:rPr>
              <a:t>now this is the king of question that we ask generally  to our travel agent and share them the 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criteria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list and ask hey book the 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best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flight in these 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criteria</a:t>
            </a:r>
            <a:endParaRPr lang="en-IN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86743" y="2295290"/>
            <a:ext cx="26831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So Apparently AI agent can do this</a:t>
            </a:r>
            <a:endParaRPr lang="en-IN" sz="1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6743" y="2603067"/>
            <a:ext cx="6155376" cy="3775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2002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2" name="Rectangle 1"/>
          <p:cNvSpPr/>
          <p:nvPr/>
        </p:nvSpPr>
        <p:spPr>
          <a:xfrm>
            <a:off x="1896093" y="396660"/>
            <a:ext cx="997923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Cambria" pitchFamily="18" charset="0"/>
                <a:ea typeface="Cambria" pitchFamily="18" charset="0"/>
              </a:rPr>
              <a:t>we can expand it further because when we travel across </a:t>
            </a:r>
            <a:r>
              <a:rPr lang="en-US" sz="1400" dirty="0" smtClean="0">
                <a:latin typeface="Cambria" pitchFamily="18" charset="0"/>
                <a:ea typeface="Cambria" pitchFamily="18" charset="0"/>
              </a:rPr>
              <a:t>countries </a:t>
            </a:r>
            <a:r>
              <a:rPr lang="en-US" sz="1400" dirty="0">
                <a:latin typeface="Cambria" pitchFamily="18" charset="0"/>
                <a:ea typeface="Cambria" pitchFamily="18" charset="0"/>
              </a:rPr>
              <a:t>we might need via .so maybe it can do more complex things such as such as it can call another AI agent which is </a:t>
            </a:r>
            <a:r>
              <a:rPr lang="en-US" sz="1400" dirty="0" smtClean="0">
                <a:latin typeface="Cambria" pitchFamily="18" charset="0"/>
                <a:ea typeface="Cambria" pitchFamily="18" charset="0"/>
              </a:rPr>
              <a:t>immigration </a:t>
            </a:r>
            <a:r>
              <a:rPr lang="en-US" sz="1400" dirty="0">
                <a:latin typeface="Cambria" pitchFamily="18" charset="0"/>
                <a:ea typeface="Cambria" pitchFamily="18" charset="0"/>
              </a:rPr>
              <a:t>AI agent and this agent is also powered by LLM </a:t>
            </a:r>
            <a:r>
              <a:rPr lang="en-US" sz="1400" dirty="0" smtClean="0">
                <a:latin typeface="Cambria" pitchFamily="18" charset="0"/>
                <a:ea typeface="Cambria" pitchFamily="18" charset="0"/>
              </a:rPr>
              <a:t>but </a:t>
            </a:r>
            <a:r>
              <a:rPr lang="en-US" sz="1400" dirty="0">
                <a:latin typeface="Cambria" pitchFamily="18" charset="0"/>
                <a:ea typeface="Cambria" pitchFamily="18" charset="0"/>
              </a:rPr>
              <a:t>it </a:t>
            </a:r>
            <a:r>
              <a:rPr lang="en-US" sz="1400" dirty="0" smtClean="0">
                <a:latin typeface="Cambria" pitchFamily="18" charset="0"/>
                <a:ea typeface="Cambria" pitchFamily="18" charset="0"/>
              </a:rPr>
              <a:t>has </a:t>
            </a:r>
            <a:r>
              <a:rPr lang="en-US" sz="1400" dirty="0">
                <a:latin typeface="Cambria" pitchFamily="18" charset="0"/>
                <a:ea typeface="Cambria" pitchFamily="18" charset="0"/>
              </a:rPr>
              <a:t>access to let's immigration api</a:t>
            </a:r>
            <a:endParaRPr lang="en-IN" sz="1400" dirty="0">
              <a:latin typeface="Cambria" pitchFamily="18" charset="0"/>
              <a:ea typeface="Cambria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0684" y="1500485"/>
            <a:ext cx="7381875" cy="293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2250684" y="4570503"/>
            <a:ext cx="98502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So this is a complex </a:t>
            </a:r>
            <a:r>
              <a:rPr lang="en-US" sz="1400" dirty="0" smtClean="0"/>
              <a:t>system </a:t>
            </a:r>
            <a:r>
              <a:rPr lang="en-US" sz="1400" dirty="0"/>
              <a:t>where there is not just one </a:t>
            </a:r>
            <a:r>
              <a:rPr lang="en-US" sz="1400" dirty="0" smtClean="0"/>
              <a:t>agent </a:t>
            </a:r>
            <a:r>
              <a:rPr lang="en-US" sz="1400" dirty="0"/>
              <a:t>but there are two </a:t>
            </a:r>
            <a:r>
              <a:rPr lang="en-US" sz="1400" dirty="0" smtClean="0"/>
              <a:t>agent. First </a:t>
            </a:r>
            <a:r>
              <a:rPr lang="en-US" sz="1400" dirty="0"/>
              <a:t>agent is flight bookin and secons one is immigration AI agent</a:t>
            </a:r>
            <a:endParaRPr lang="en-IN" sz="1400" dirty="0"/>
          </a:p>
        </p:txBody>
      </p:sp>
      <p:sp>
        <p:nvSpPr>
          <p:cNvPr id="5" name="Rectangle 4"/>
          <p:cNvSpPr/>
          <p:nvPr/>
        </p:nvSpPr>
        <p:spPr>
          <a:xfrm>
            <a:off x="2250684" y="5271148"/>
            <a:ext cx="96246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So the system as a whole if we think about the </a:t>
            </a:r>
            <a:r>
              <a:rPr lang="en-US" sz="1400" dirty="0" smtClean="0"/>
              <a:t>entire </a:t>
            </a:r>
            <a:r>
              <a:rPr lang="en-US" sz="1400" dirty="0"/>
              <a:t>system it ids doing multi step reasoning,multi </a:t>
            </a:r>
            <a:r>
              <a:rPr lang="en-US" sz="1400" dirty="0" smtClean="0"/>
              <a:t>step planning </a:t>
            </a:r>
            <a:r>
              <a:rPr lang="en-US" sz="1400" dirty="0"/>
              <a:t>and </a:t>
            </a:r>
            <a:r>
              <a:rPr lang="en-US" sz="1400" dirty="0" smtClean="0"/>
              <a:t>working </a:t>
            </a:r>
            <a:r>
              <a:rPr lang="en-US" sz="1400" dirty="0"/>
              <a:t>on a complex goal autonomously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433227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4213" y="288938"/>
            <a:ext cx="98248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  <a:latin typeface="Bahnschrift" pitchFamily="34" charset="0"/>
              </a:rPr>
              <a:t>Agentic Al </a:t>
            </a:r>
            <a:r>
              <a:rPr lang="en-US" sz="1600" dirty="0"/>
              <a:t>is a system where one or more Al agents work autonomously, generally over long tasks</a:t>
            </a:r>
            <a:r>
              <a:rPr lang="en-US" sz="1600" dirty="0" smtClean="0"/>
              <a:t>,</a:t>
            </a:r>
          </a:p>
          <a:p>
            <a:r>
              <a:rPr lang="en-US" sz="1600" dirty="0" smtClean="0"/>
              <a:t> </a:t>
            </a:r>
            <a:r>
              <a:rPr lang="en-US" sz="1600" dirty="0"/>
              <a:t>making decisions, using tools and even </a:t>
            </a:r>
            <a:r>
              <a:rPr lang="en-US" sz="1600" dirty="0" smtClean="0"/>
              <a:t>using other </a:t>
            </a:r>
            <a:r>
              <a:rPr lang="en-US" sz="1600" dirty="0"/>
              <a:t>agents to reach a goal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770584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09428" y="4479368"/>
            <a:ext cx="52098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600" dirty="0"/>
              <a:t>Agentic AI generally uses Generative AI as a core component</a:t>
            </a:r>
            <a:endParaRPr lang="en-IN" sz="1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428" y="193574"/>
            <a:ext cx="7793646" cy="387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7334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3717811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2" name="Rectangle 1"/>
          <p:cNvSpPr/>
          <p:nvPr/>
        </p:nvSpPr>
        <p:spPr>
          <a:xfrm>
            <a:off x="3165391" y="565937"/>
            <a:ext cx="31591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dirty="0" smtClean="0">
                <a:solidFill>
                  <a:srgbClr val="00B050"/>
                </a:solidFill>
                <a:latin typeface="Arial Rounded MT Bold" pitchFamily="34" charset="0"/>
              </a:rPr>
              <a:t>Agentic AI </a:t>
            </a:r>
            <a:r>
              <a:rPr lang="en-IN" sz="2400" dirty="0"/>
              <a:t>framework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2784142" y="1856096"/>
            <a:ext cx="1351129" cy="696036"/>
          </a:xfrm>
          <a:prstGeom prst="snip2Diag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Agno</a:t>
            </a:r>
            <a:endParaRPr lang="en-IN" dirty="0"/>
          </a:p>
        </p:txBody>
      </p:sp>
      <p:sp>
        <p:nvSpPr>
          <p:cNvPr id="9" name="Snip Diagonal Corner Rectangle 8"/>
          <p:cNvSpPr/>
          <p:nvPr/>
        </p:nvSpPr>
        <p:spPr>
          <a:xfrm>
            <a:off x="4801910" y="1846998"/>
            <a:ext cx="1351129" cy="696036"/>
          </a:xfrm>
          <a:prstGeom prst="snip2Diag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Crew AI</a:t>
            </a:r>
            <a:endParaRPr lang="en-IN" dirty="0"/>
          </a:p>
        </p:txBody>
      </p:sp>
      <p:sp>
        <p:nvSpPr>
          <p:cNvPr id="10" name="Snip Diagonal Corner Rectangle 9"/>
          <p:cNvSpPr/>
          <p:nvPr/>
        </p:nvSpPr>
        <p:spPr>
          <a:xfrm>
            <a:off x="6896667" y="1853822"/>
            <a:ext cx="1351129" cy="696036"/>
          </a:xfrm>
          <a:prstGeom prst="snip2Diag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Langgraph</a:t>
            </a:r>
            <a:endParaRPr lang="en-IN" dirty="0"/>
          </a:p>
        </p:txBody>
      </p:sp>
      <p:sp>
        <p:nvSpPr>
          <p:cNvPr id="11" name="Snip Diagonal Corner Rectangle 10"/>
          <p:cNvSpPr/>
          <p:nvPr/>
        </p:nvSpPr>
        <p:spPr>
          <a:xfrm>
            <a:off x="2784141" y="3080981"/>
            <a:ext cx="2251883" cy="696036"/>
          </a:xfrm>
          <a:prstGeom prst="snip2Diag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Microsoft </a:t>
            </a:r>
            <a:r>
              <a:rPr lang="en-US" dirty="0" err="1" smtClean="0"/>
              <a:t>Autogen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6939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20472</TotalTime>
  <Words>1007</Words>
  <Application>Microsoft Office PowerPoint</Application>
  <PresentationFormat>Custom</PresentationFormat>
  <Paragraphs>130</Paragraphs>
  <Slides>13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Naman Narula</dc:creator>
  <cp:lastModifiedBy>User</cp:lastModifiedBy>
  <cp:revision>960</cp:revision>
  <dcterms:created xsi:type="dcterms:W3CDTF">2024-01-26T15:11:46Z</dcterms:created>
  <dcterms:modified xsi:type="dcterms:W3CDTF">2025-07-18T06:31:16Z</dcterms:modified>
</cp:coreProperties>
</file>