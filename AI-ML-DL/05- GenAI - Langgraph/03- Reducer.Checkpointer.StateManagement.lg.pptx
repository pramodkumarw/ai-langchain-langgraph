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5" r:id="rId2"/>
    <p:sldId id="408" r:id="rId3"/>
    <p:sldId id="430" r:id="rId4"/>
    <p:sldId id="409" r:id="rId5"/>
    <p:sldId id="410" r:id="rId6"/>
    <p:sldId id="431" r:id="rId7"/>
    <p:sldId id="432" r:id="rId8"/>
    <p:sldId id="433" r:id="rId9"/>
    <p:sldId id="411" r:id="rId10"/>
    <p:sldId id="434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reducer" id="{3368D48C-0DDC-4B5C-943F-1C20F1062904}">
          <p14:sldIdLst>
            <p14:sldId id="408"/>
            <p14:sldId id="430"/>
            <p14:sldId id="409"/>
            <p14:sldId id="410"/>
            <p14:sldId id="431"/>
            <p14:sldId id="432"/>
            <p14:sldId id="433"/>
            <p14:sldId id="411"/>
            <p14:sldId id="434"/>
          </p14:sldIdLst>
        </p14:section>
        <p14:section name="checkpointer" id="{3B12A707-D3AA-4FC7-A0E9-EAE4C0069031}">
          <p14:sldIdLst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6743"/>
    <a:srgbClr val="00CC99"/>
    <a:srgbClr val="00D05E"/>
    <a:srgbClr val="15C2FF"/>
    <a:srgbClr val="FFCC29"/>
    <a:srgbClr val="FF4B21"/>
    <a:srgbClr val="FF0066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70" d="100"/>
          <a:sy n="70" d="100"/>
        </p:scale>
        <p:origin x="-522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20-03-2026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5821509" y="1224076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247396" y="126069"/>
            <a:ext cx="7128564" cy="55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0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State Management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0" y="1"/>
            <a:ext cx="1253546" cy="1038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63906" y="1137920"/>
            <a:ext cx="126509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 smtClean="0">
                <a:latin typeface="Segoe UI Black" pitchFamily="34" charset="0"/>
                <a:ea typeface="Segoe UI Black" pitchFamily="34" charset="0"/>
              </a:rPr>
              <a:t>Langgraph</a:t>
            </a:r>
            <a:endParaRPr lang="en-IN" sz="1600" dirty="0">
              <a:latin typeface="Arial Rounded MT Bold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07757" y="1746132"/>
            <a:ext cx="3105185" cy="1827507"/>
            <a:chOff x="1504875" y="2190509"/>
            <a:chExt cx="2477612" cy="1827507"/>
          </a:xfrm>
        </p:grpSpPr>
        <p:grpSp>
          <p:nvGrpSpPr>
            <p:cNvPr id="2" name="Group 1"/>
            <p:cNvGrpSpPr/>
            <p:nvPr/>
          </p:nvGrpSpPr>
          <p:grpSpPr>
            <a:xfrm>
              <a:off x="1506797" y="2190509"/>
              <a:ext cx="2475690" cy="915184"/>
              <a:chOff x="1506797" y="2190509"/>
              <a:chExt cx="2475690" cy="915184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1504875" y="3102832"/>
              <a:ext cx="2475690" cy="915184"/>
              <a:chOff x="1506797" y="2190509"/>
              <a:chExt cx="2475690" cy="915184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</p:grpSp>
      <p:sp>
        <p:nvSpPr>
          <p:cNvPr id="4" name="Rectangle 3"/>
          <p:cNvSpPr/>
          <p:nvPr/>
        </p:nvSpPr>
        <p:spPr>
          <a:xfrm>
            <a:off x="1583559" y="114545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 smtClean="0">
                <a:latin typeface="Segoe UI Black" pitchFamily="34" charset="0"/>
                <a:ea typeface="Segoe UI Black" pitchFamily="34" charset="0"/>
              </a:rPr>
              <a:t>Reducer.Checkpointer</a:t>
            </a:r>
            <a:endParaRPr lang="en-IN" dirty="0"/>
          </a:p>
        </p:txBody>
      </p:sp>
      <p:grpSp>
        <p:nvGrpSpPr>
          <p:cNvPr id="51" name="Group 50"/>
          <p:cNvGrpSpPr/>
          <p:nvPr/>
        </p:nvGrpSpPr>
        <p:grpSpPr>
          <a:xfrm>
            <a:off x="1510166" y="4013935"/>
            <a:ext cx="3105185" cy="1827507"/>
            <a:chOff x="1504875" y="2190509"/>
            <a:chExt cx="2477612" cy="1827507"/>
          </a:xfrm>
        </p:grpSpPr>
        <p:grpSp>
          <p:nvGrpSpPr>
            <p:cNvPr id="52" name="Group 51"/>
            <p:cNvGrpSpPr/>
            <p:nvPr/>
          </p:nvGrpSpPr>
          <p:grpSpPr>
            <a:xfrm>
              <a:off x="1506797" y="2190509"/>
              <a:ext cx="2475690" cy="915184"/>
              <a:chOff x="1506797" y="2190509"/>
              <a:chExt cx="2475690" cy="915184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rPr>
                  <a:t>c</a:t>
                </a:r>
                <a:r>
                  <a:rPr lang="en-US" sz="1400" dirty="0" smtClean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rPr>
                  <a:t>heckpointer</a:t>
                </a:r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59" name="Group 58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60" name="TextBox 59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Bahnschrift Light" pitchFamily="34" charset="0"/>
                      <a:ea typeface="Arial Unicode MS" pitchFamily="34" charset="-128"/>
                      <a:cs typeface="Arial Unicode MS" pitchFamily="34" charset="-128"/>
                    </a:rPr>
                    <a:t>c</a:t>
                  </a:r>
                  <a:r>
                    <a:rPr lang="en-US" sz="1400" dirty="0" smtClean="0">
                      <a:latin typeface="Bahnschrift Light" pitchFamily="34" charset="0"/>
                      <a:ea typeface="Arial Unicode MS" pitchFamily="34" charset="-128"/>
                      <a:cs typeface="Arial Unicode MS" pitchFamily="34" charset="-128"/>
                    </a:rPr>
                    <a:t>onfigurable</a:t>
                  </a:r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Bahnschrift Light" pitchFamily="34" charset="0"/>
                      <a:ea typeface="Arial Unicode MS" pitchFamily="34" charset="-128"/>
                      <a:cs typeface="Arial Unicode MS" pitchFamily="34" charset="-128"/>
                    </a:rPr>
                    <a:t>t</a:t>
                  </a:r>
                  <a:r>
                    <a:rPr lang="en-US" sz="1400" dirty="0" smtClean="0">
                      <a:latin typeface="Bahnschrift Light" pitchFamily="34" charset="0"/>
                      <a:ea typeface="Arial Unicode MS" pitchFamily="34" charset="-128"/>
                      <a:cs typeface="Arial Unicode MS" pitchFamily="34" charset="-128"/>
                    </a:rPr>
                    <a:t>hread_id</a:t>
                  </a:r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grpSp>
          <p:nvGrpSpPr>
            <p:cNvPr id="53" name="Group 52"/>
            <p:cNvGrpSpPr/>
            <p:nvPr/>
          </p:nvGrpSpPr>
          <p:grpSpPr>
            <a:xfrm>
              <a:off x="1504875" y="3102832"/>
              <a:ext cx="2475690" cy="915184"/>
              <a:chOff x="1506797" y="2190509"/>
              <a:chExt cx="2475690" cy="915184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55" name="Group 54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56" name="TextBox 55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48672" y="178130"/>
            <a:ext cx="2074398" cy="338450"/>
            <a:chOff x="248672" y="195940"/>
            <a:chExt cx="2074398" cy="338450"/>
          </a:xfrm>
          <a:solidFill>
            <a:srgbClr val="FF6743"/>
          </a:solidFill>
        </p:grpSpPr>
        <p:cxnSp>
          <p:nvCxnSpPr>
            <p:cNvPr id="4" name="Straight Connector 3"/>
            <p:cNvCxnSpPr/>
            <p:nvPr/>
          </p:nvCxnSpPr>
          <p:spPr>
            <a:xfrm flipV="1">
              <a:off x="248672" y="528455"/>
              <a:ext cx="2074398" cy="5935"/>
            </a:xfrm>
            <a:prstGeom prst="line">
              <a:avLst/>
            </a:prstGeom>
            <a:grpFill/>
            <a:ln>
              <a:solidFill>
                <a:srgbClr val="FF67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91176" y="195940"/>
              <a:ext cx="1103992" cy="332515"/>
            </a:xfrm>
            <a:prstGeom prst="rect">
              <a:avLst/>
            </a:prstGeom>
            <a:grpFill/>
            <a:ln>
              <a:solidFill>
                <a:srgbClr val="FF67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bg1"/>
                  </a:solidFill>
                  <a:latin typeface="Bahnschrift" pitchFamily="34" charset="0"/>
                </a:rPr>
                <a:t>reducer</a:t>
              </a:r>
              <a:endParaRPr lang="en-IN" sz="16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</p:grpSp>
      <p:sp>
        <p:nvSpPr>
          <p:cNvPr id="6" name="Rectangle 1"/>
          <p:cNvSpPr>
            <a:spLocks noChangeArrowheads="1"/>
          </p:cNvSpPr>
          <p:nvPr/>
        </p:nvSpPr>
        <p:spPr bwMode="auto">
          <a:xfrm rot="10800000" flipV="1">
            <a:off x="415857" y="3155235"/>
            <a:ext cx="11143457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Reducers are key to understanding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pitchFamily="34" charset="0"/>
              </a:rPr>
              <a:t>how updates from nodes are applied to the 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.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Each key in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11827"/>
                </a:solidFill>
                <a:effectLst/>
                <a:cs typeface="Arial" pitchFamily="34" charset="0"/>
              </a:rPr>
              <a:t>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has its own independent reducer function.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If no reducer function is explicitly specified then it is assumed that all updates to that key should override it.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3F4141"/>
              </a:solidFill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There are a few different types of reducers: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111827"/>
              </a:solidFill>
              <a:effectLst/>
              <a:cs typeface="Arial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76374" y="4974695"/>
            <a:ext cx="3150221" cy="707886"/>
            <a:chOff x="1984575" y="2190466"/>
            <a:chExt cx="3150221" cy="707886"/>
          </a:xfrm>
        </p:grpSpPr>
        <p:sp>
          <p:nvSpPr>
            <p:cNvPr id="2" name="Rectangle 1"/>
            <p:cNvSpPr/>
            <p:nvPr/>
          </p:nvSpPr>
          <p:spPr>
            <a:xfrm>
              <a:off x="1984575" y="2190466"/>
              <a:ext cx="3150221" cy="33855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 smtClean="0">
                  <a:solidFill>
                    <a:srgbClr val="3F4141"/>
                  </a:solidFill>
                  <a:latin typeface="Bahnschrift" pitchFamily="34" charset="0"/>
                  <a:cs typeface="Arial" pitchFamily="34" charset="0"/>
                </a:rPr>
                <a:t>Pre-defined reducer function</a:t>
              </a:r>
              <a:endParaRPr lang="en-IN" sz="1600" dirty="0">
                <a:latin typeface="Bahnschrift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84575" y="2559798"/>
              <a:ext cx="3150221" cy="338554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Wingdings" pitchFamily="2" charset="2"/>
                <a:buChar char="§"/>
              </a:pPr>
              <a:r>
                <a:rPr lang="en-US" sz="1600" dirty="0">
                  <a:solidFill>
                    <a:srgbClr val="3F4141"/>
                  </a:solidFill>
                  <a:latin typeface="Bahnschrift" pitchFamily="34" charset="0"/>
                  <a:cs typeface="Arial" pitchFamily="34" charset="0"/>
                </a:rPr>
                <a:t>Custom reducer function</a:t>
              </a:r>
              <a:endParaRPr lang="en-IN" sz="1600" dirty="0">
                <a:solidFill>
                  <a:srgbClr val="3F4141"/>
                </a:solidFill>
                <a:latin typeface="Bahnschrift" pitchFamily="34" charset="0"/>
                <a:cs typeface="Arial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41027" y="727298"/>
            <a:ext cx="11693118" cy="1368578"/>
            <a:chOff x="141027" y="727298"/>
            <a:chExt cx="11693118" cy="1368578"/>
          </a:xfrm>
        </p:grpSpPr>
        <p:sp>
          <p:nvSpPr>
            <p:cNvPr id="9" name="Rectangle 8"/>
            <p:cNvSpPr/>
            <p:nvPr/>
          </p:nvSpPr>
          <p:spPr>
            <a:xfrm>
              <a:off x="141027" y="727298"/>
              <a:ext cx="11104728" cy="3647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770" dirty="0"/>
                <a:t>Reducer take multiple pieces of information, from agents, nodes and neatly combine them into a single result.</a:t>
              </a:r>
              <a:endParaRPr lang="en-IN" sz="177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1027" y="1731161"/>
              <a:ext cx="11693118" cy="36471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770" dirty="0" smtClean="0"/>
                <a:t>Reducer in LangGraph is a function that takes results from different parts of your graph, and reduces them into a single output</a:t>
              </a:r>
              <a:endParaRPr lang="en-US" sz="177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42167" y="1207406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  <a:latin typeface="Bahnschrift" pitchFamily="34" charset="0"/>
                </a:rPr>
                <a:t>OR</a:t>
              </a:r>
              <a:endParaRPr lang="en-IN" dirty="0">
                <a:solidFill>
                  <a:srgbClr val="0070C0"/>
                </a:solidFill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5049" y="563307"/>
            <a:ext cx="109546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LangGraph, this means they can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Merge messages from multiple nodes.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Summarize outputs from different agents.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Keep your graph’s state clean and consistent.</a:t>
            </a:r>
          </a:p>
        </p:txBody>
      </p:sp>
    </p:spTree>
    <p:extLst>
      <p:ext uri="{BB962C8B-B14F-4D97-AF65-F5344CB8AC3E}">
        <p14:creationId xmlns:p14="http://schemas.microsoft.com/office/powerpoint/2010/main" val="7025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464022" y="4499863"/>
            <a:ext cx="1139588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In this example, no reducer functions are specified for any key.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Let’s assume the input to the graph is: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  <a:cs typeface="Arial" pitchFamily="34" charset="0"/>
              </a:rPr>
              <a:t>{ "foo": 1, "bar": ["hi"] 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Let’s then assume the first Node returns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  <a:cs typeface="Arial" pitchFamily="34" charset="0"/>
              </a:rPr>
              <a:t>{"foo": 2}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This is treated as an update to the state. Notice that the Node does not need to return the whole State schema - just an update. After applying this update, the State would then be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  <a:cs typeface="Arial" pitchFamily="34" charset="0"/>
              </a:rPr>
              <a:t>{"foo": 2, "bar": ["hi"]}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If the second node returns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  <a:cs typeface="Arial" pitchFamily="34" charset="0"/>
              </a:rPr>
              <a:t>{"bar": ["bye"]}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 then the State would then be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  <a:cs typeface="Arial" pitchFamily="34" charset="0"/>
              </a:rPr>
              <a:t>{"foo": 2, "bar": ["bye"]} 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022" y="224356"/>
            <a:ext cx="93820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111827"/>
                </a:solidFill>
                <a:latin typeface="Bahnschrift" pitchFamily="34" charset="0"/>
                <a:cs typeface="Arial" pitchFamily="34" charset="0"/>
              </a:rPr>
              <a:t>Default reducer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3F4141"/>
                </a:solidFill>
                <a:cs typeface="Arial" pitchFamily="34" charset="0"/>
              </a:rPr>
              <a:t>These two examples show how to use the default reducer:</a:t>
            </a:r>
            <a:endParaRPr lang="en-US" dirty="0"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rot="10800000" flipV="1">
            <a:off x="1666563" y="1420891"/>
            <a:ext cx="5170965" cy="2215991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cs typeface="Arial" pitchFamily="34" charset="0"/>
              </a:rPr>
              <a:t>Example A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9FA1A1"/>
              </a:solidFill>
              <a:effectLst/>
              <a:latin typeface="+mj-lt"/>
              <a:cs typeface="Arial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latin typeface="+mj-lt"/>
                <a:cs typeface="Arial" pitchFamily="34" charset="0"/>
              </a:rPr>
              <a:t>from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+mj-lt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  <a:cs typeface="Arial" pitchFamily="34" charset="0"/>
              </a:rPr>
              <a:t>typing_extensions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+mj-lt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latin typeface="+mj-lt"/>
                <a:cs typeface="Arial" pitchFamily="34" charset="0"/>
              </a:rPr>
              <a:t>import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+mj-lt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  <a:cs typeface="Arial" pitchFamily="34" charset="0"/>
              </a:rPr>
              <a:t>TypedDict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+mj-lt"/>
                <a:cs typeface="Arial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latin typeface="+mj-lt"/>
                <a:cs typeface="Arial" pitchFamily="34" charset="0"/>
              </a:rPr>
              <a:t>class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953800"/>
                </a:solidFill>
                <a:effectLst/>
                <a:latin typeface="+mj-lt"/>
                <a:cs typeface="Arial" pitchFamily="34" charset="0"/>
              </a:rPr>
              <a:t> 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550AE"/>
                </a:solidFill>
                <a:effectLst/>
                <a:latin typeface="+mj-lt"/>
                <a:cs typeface="Arial" pitchFamily="34" charset="0"/>
              </a:rPr>
              <a:t>TypedDict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cs typeface="Arial" pitchFamily="34" charset="0"/>
              </a:rPr>
              <a:t>):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cs typeface="Arial" pitchFamily="34" charset="0"/>
              </a:rPr>
              <a:t>foo: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+mj-lt"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550AE"/>
                </a:solidFill>
                <a:effectLst/>
                <a:latin typeface="+mj-lt"/>
                <a:cs typeface="Arial" pitchFamily="34" charset="0"/>
              </a:rPr>
              <a:t>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+mj-lt"/>
                <a:cs typeface="Arial" pitchFamily="34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cs typeface="Arial" pitchFamily="34" charset="0"/>
              </a:rPr>
              <a:t>bar: list[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550AE"/>
                </a:solidFill>
                <a:effectLst/>
                <a:latin typeface="+mj-lt"/>
                <a:cs typeface="Arial" pitchFamily="34" charset="0"/>
              </a:rPr>
              <a:t>str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cs typeface="Arial" pitchFamily="34" charset="0"/>
              </a:rPr>
              <a:t>]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05219" y="500421"/>
            <a:ext cx="7847462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3F4141"/>
                </a:solidFill>
                <a:cs typeface="Arial" pitchFamily="34" charset="0"/>
              </a:rPr>
              <a:t>Example B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9FA1A1"/>
              </a:solidFill>
              <a:effectLst/>
              <a:cs typeface="Arial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from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typing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import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Annotated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from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typing_extensions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import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TypedDict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from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operator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import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add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1F2328"/>
              </a:solidFill>
              <a:cs typeface="Arial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F222E"/>
                </a:solidFill>
                <a:effectLst/>
                <a:cs typeface="Arial" pitchFamily="34" charset="0"/>
              </a:rPr>
              <a:t>class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953800"/>
                </a:solidFill>
                <a:effectLst/>
                <a:cs typeface="Arial" pitchFamily="34" charset="0"/>
              </a:rPr>
              <a:t> 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550AE"/>
                </a:solidFill>
                <a:effectLst/>
                <a:cs typeface="Arial" pitchFamily="34" charset="0"/>
              </a:rPr>
              <a:t>TypedDict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):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foo: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550AE"/>
                </a:solidFill>
                <a:effectLst/>
                <a:cs typeface="Arial" pitchFamily="34" charset="0"/>
              </a:rPr>
              <a:t>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bar: Annotated[list[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550AE"/>
                </a:solidFill>
                <a:effectLst/>
                <a:cs typeface="Arial" pitchFamily="34" charset="0"/>
              </a:rPr>
              <a:t>str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cs typeface="Arial" pitchFamily="34" charset="0"/>
              </a:rPr>
              <a:t>], add]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 rot="10800000" flipV="1">
            <a:off x="586854" y="3690400"/>
            <a:ext cx="107180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In this example, we’ve used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pitchFamily="34" charset="0"/>
              </a:rPr>
              <a:t>Annotated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type to specify a reducer function 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11827"/>
                </a:solidFill>
                <a:effectLst/>
                <a:cs typeface="Arial" pitchFamily="34" charset="0"/>
              </a:rPr>
              <a:t>operator.add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) for the second key 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11827"/>
                </a:solidFill>
                <a:effectLst/>
                <a:cs typeface="Arial" pitchFamily="34" charset="0"/>
              </a:rPr>
              <a:t>bar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). Note that the first key remains unchanged. Let’s assume the input to the graph is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cs typeface="Arial" pitchFamily="34" charset="0"/>
              </a:rPr>
              <a:t>{"foo": 1, "bar": ["hi"]}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.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Let’s then assume the first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Node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returns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cs typeface="Arial" pitchFamily="34" charset="0"/>
              </a:rPr>
              <a:t>{"foo": 2}.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This is treated as an update to the state. Notice that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Node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does not need to return the whole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11827"/>
                </a:solidFill>
                <a:effectLst/>
                <a:cs typeface="Arial" pitchFamily="34" charset="0"/>
              </a:rPr>
              <a:t>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schema - just an update. After applying this update,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cs typeface="Arial" pitchFamily="34" charset="0"/>
              </a:rPr>
              <a:t>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would then be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cs typeface="Arial" pitchFamily="34" charset="0"/>
              </a:rPr>
              <a:t>{"foo": 2, "bar": ["hi"]}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. If the second node returns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cs typeface="Arial" pitchFamily="34" charset="0"/>
              </a:rPr>
              <a:t>{"bar": ["bye"]}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then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11827"/>
                </a:solidFill>
                <a:effectLst/>
                <a:cs typeface="Arial" pitchFamily="34" charset="0"/>
              </a:rPr>
              <a:t>State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would then be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cs typeface="Arial" pitchFamily="34" charset="0"/>
              </a:rPr>
              <a:t>{"foo": 2, "bar": ["hi", "bye"]}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. Notice here that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11827"/>
                </a:solidFill>
                <a:effectLst/>
                <a:cs typeface="Arial" pitchFamily="34" charset="0"/>
              </a:rPr>
              <a:t>bar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F4141"/>
                </a:solidFill>
                <a:effectLst/>
                <a:cs typeface="Arial" pitchFamily="34" charset="0"/>
              </a:rPr>
              <a:t> key is updated by adding the two lists together.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539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80583" y="391952"/>
            <a:ext cx="37230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Where Reducers Fit in LangGraph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4268" y="815524"/>
            <a:ext cx="4562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So, where exactly do Reducers come into play?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194268" y="1477708"/>
            <a:ext cx="106407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Think of your LangGraph workflow as a map, data flows from one node to another, sometimes branching into different paths. But at some point, those paths need to come back together. That’s where a </a:t>
            </a:r>
            <a:r>
              <a:rPr lang="en-US" b="1" dirty="0"/>
              <a:t>Reducer</a:t>
            </a:r>
            <a:r>
              <a:rPr lang="en-US" dirty="0"/>
              <a:t> steps in.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255652" y="2600868"/>
            <a:ext cx="105793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Reducers usually sit </a:t>
            </a:r>
            <a:r>
              <a:rPr lang="en-US" b="1" dirty="0"/>
              <a:t>after multiple nodes</a:t>
            </a:r>
            <a:r>
              <a:rPr lang="en-US" dirty="0"/>
              <a:t> to collect and merge their outputs into one result. You might use one: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806054" y="3281234"/>
            <a:ext cx="8033982" cy="9233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After several agents respond to the same query.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To combine outputs from different tools or branches.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To keep track of the evolving state in looping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6054" y="4704644"/>
            <a:ext cx="2094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Visually, it’s like this: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8F8F2"/>
                </a:solidFill>
                <a:effectLst/>
                <a:latin typeface="SF Mono"/>
                <a:cs typeface="Arial" pitchFamily="34" charset="0"/>
              </a:rPr>
              <a:t>Inputs → Node A / Node B / Node C → Reducer → Final Output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8F8F2"/>
                </a:solidFill>
                <a:effectLst/>
                <a:latin typeface="SF Mono"/>
                <a:cs typeface="Arial" pitchFamily="34" charset="0"/>
              </a:rPr>
              <a:t>Inputs → Node A / Node B / Node C → Reducer → Final Output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8F8F2"/>
                </a:solidFill>
                <a:effectLst/>
                <a:latin typeface="SF Mono"/>
                <a:cs typeface="Arial" pitchFamily="34" charset="0"/>
              </a:rPr>
              <a:t>Inputs → Node A / Node B / Node C → Reducer → Final Output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02257" y="5358142"/>
            <a:ext cx="6114944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Inputs → Node A / Node B / Node C → Reducer → Final Output</a:t>
            </a:r>
          </a:p>
        </p:txBody>
      </p:sp>
    </p:spTree>
    <p:extLst>
      <p:ext uri="{BB962C8B-B14F-4D97-AF65-F5344CB8AC3E}">
        <p14:creationId xmlns:p14="http://schemas.microsoft.com/office/powerpoint/2010/main" val="33862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8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4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8874" y="222874"/>
            <a:ext cx="6479060" cy="338554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from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typing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import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TypedDict</a:t>
            </a:r>
          </a:p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from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langgraph.graph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import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END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, </a:t>
            </a:r>
            <a:r>
              <a:rPr lang="en-IN" dirty="0" smtClean="0">
                <a:solidFill>
                  <a:srgbClr val="0070C0"/>
                </a:solidFill>
                <a:cs typeface="Leelawadee" pitchFamily="34" charset="-34"/>
              </a:rPr>
              <a:t>StateGraph</a:t>
            </a:r>
          </a:p>
          <a:p>
            <a:r>
              <a:rPr lang="en-IN" sz="2000" i="1" dirty="0">
                <a:solidFill>
                  <a:srgbClr val="7030A0"/>
                </a:solidFill>
              </a:rPr>
              <a:t>from</a:t>
            </a:r>
            <a:r>
              <a:rPr lang="en-IN" sz="2000" i="1" dirty="0"/>
              <a:t> </a:t>
            </a:r>
            <a:r>
              <a:rPr lang="en-IN" sz="2000" i="1" dirty="0">
                <a:solidFill>
                  <a:srgbClr val="0070C0"/>
                </a:solidFill>
                <a:cs typeface="Leelawadee" pitchFamily="34" charset="-34"/>
              </a:rPr>
              <a:t>IPython.display</a:t>
            </a:r>
            <a:r>
              <a:rPr lang="en-IN" sz="2000" i="1" dirty="0"/>
              <a:t> </a:t>
            </a:r>
            <a:r>
              <a:rPr lang="en-IN" sz="2000" i="1" dirty="0">
                <a:solidFill>
                  <a:srgbClr val="7030A0"/>
                </a:solidFill>
              </a:rPr>
              <a:t>import</a:t>
            </a:r>
            <a:r>
              <a:rPr lang="en-IN" sz="2000" i="1" dirty="0"/>
              <a:t> </a:t>
            </a:r>
            <a:r>
              <a:rPr lang="en-IN" sz="2000" i="1" dirty="0" smtClean="0">
                <a:solidFill>
                  <a:srgbClr val="0070C0"/>
                </a:solidFill>
                <a:cs typeface="Leelawadee" pitchFamily="34" charset="-34"/>
              </a:rPr>
              <a:t>Image</a:t>
            </a:r>
            <a:endParaRPr lang="en-IN" sz="2000" i="1" dirty="0">
              <a:solidFill>
                <a:srgbClr val="0070C0"/>
              </a:solidFill>
              <a:cs typeface="Leelawadee" pitchFamily="34" charset="-34"/>
            </a:endParaRPr>
          </a:p>
          <a:p>
            <a:endParaRPr lang="en-IN" dirty="0">
              <a:solidFill>
                <a:schemeClr val="bg1"/>
              </a:solidFill>
              <a:cs typeface="Leelawadee" pitchFamily="34" charset="-34"/>
            </a:endParaRPr>
          </a:p>
          <a:p>
            <a:r>
              <a:rPr lang="en-US" dirty="0">
                <a:solidFill>
                  <a:schemeClr val="accent1"/>
                </a:solidFill>
              </a:rPr>
              <a:t>class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State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rgbClr val="00B0F0"/>
                </a:solidFill>
              </a:rPr>
              <a:t>TypedDict</a:t>
            </a:r>
            <a:r>
              <a:rPr lang="en-US" dirty="0">
                <a:solidFill>
                  <a:schemeClr val="bg1"/>
                </a:solidFill>
              </a:rPr>
              <a:t>):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 smtClean="0">
                <a:solidFill>
                  <a:srgbClr val="00B0F0"/>
                </a:solidFill>
              </a:rPr>
              <a:t>name </a:t>
            </a:r>
            <a:r>
              <a:rPr lang="en-US" sz="2400" dirty="0" smtClean="0">
                <a:solidFill>
                  <a:schemeClr val="bg1"/>
                </a:solidFill>
              </a:rPr>
              <a:t>: </a:t>
            </a:r>
            <a:r>
              <a:rPr lang="en-US" sz="3200" i="1" dirty="0">
                <a:solidFill>
                  <a:srgbClr val="00B050"/>
                </a:solidFill>
              </a:rPr>
              <a:t>Annotated</a:t>
            </a:r>
            <a:r>
              <a:rPr lang="en-US" sz="3200" i="1" dirty="0" smtClean="0">
                <a:solidFill>
                  <a:schemeClr val="accent2">
                    <a:lumMod val="50000"/>
                  </a:schemeClr>
                </a:solidFill>
              </a:rPr>
              <a:t>[ </a:t>
            </a:r>
            <a:r>
              <a:rPr lang="en-US" sz="3200" i="1" dirty="0" smtClean="0">
                <a:solidFill>
                  <a:srgbClr val="00B050"/>
                </a:solidFill>
              </a:rPr>
              <a:t>list</a:t>
            </a:r>
            <a:r>
              <a:rPr lang="en-US" sz="3200" i="1" dirty="0" smtClean="0">
                <a:solidFill>
                  <a:srgbClr val="7030A0"/>
                </a:solidFill>
              </a:rPr>
              <a:t>[</a:t>
            </a:r>
            <a:r>
              <a:rPr lang="en-US" sz="3200" i="1" dirty="0" smtClean="0">
                <a:solidFill>
                  <a:srgbClr val="00B050"/>
                </a:solidFill>
              </a:rPr>
              <a:t>str</a:t>
            </a:r>
            <a:r>
              <a:rPr lang="en-US" sz="3200" i="1" dirty="0" smtClean="0">
                <a:solidFill>
                  <a:srgbClr val="7030A0"/>
                </a:solidFill>
              </a:rPr>
              <a:t>] </a:t>
            </a:r>
            <a:r>
              <a:rPr lang="en-US" sz="3200" i="1" dirty="0" smtClean="0">
                <a:solidFill>
                  <a:schemeClr val="bg1"/>
                </a:solidFill>
              </a:rPr>
              <a:t>,</a:t>
            </a:r>
            <a:r>
              <a:rPr lang="en-US" sz="3200" i="1" dirty="0" smtClean="0">
                <a:solidFill>
                  <a:schemeClr val="accent4"/>
                </a:solidFill>
              </a:rPr>
              <a:t>add</a:t>
            </a:r>
            <a:r>
              <a:rPr lang="en-US" sz="3200" i="1" dirty="0" smtClean="0">
                <a:solidFill>
                  <a:schemeClr val="bg1"/>
                </a:solidFill>
              </a:rPr>
              <a:t> </a:t>
            </a:r>
            <a:r>
              <a:rPr lang="en-US" sz="3200" i="1" dirty="0" smtClean="0">
                <a:solidFill>
                  <a:schemeClr val="accent2">
                    <a:lumMod val="50000"/>
                  </a:schemeClr>
                </a:solidFill>
              </a:rPr>
              <a:t>]</a:t>
            </a:r>
            <a:endParaRPr lang="en-US" sz="3200" i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smtClean="0">
                <a:solidFill>
                  <a:srgbClr val="00B0F0"/>
                </a:solidFill>
              </a:rPr>
              <a:t>number 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en-US" dirty="0" smtClean="0">
                <a:solidFill>
                  <a:srgbClr val="00B050"/>
                </a:solidFill>
              </a:rPr>
              <a:t>int</a:t>
            </a:r>
            <a:endParaRPr lang="en-US" dirty="0">
              <a:solidFill>
                <a:srgbClr val="00B050"/>
              </a:solidFill>
            </a:endParaRPr>
          </a:p>
          <a:p>
            <a:endParaRPr lang="en-IN" dirty="0">
              <a:cs typeface="Leelawadee" pitchFamily="34" charset="-34"/>
            </a:endParaRPr>
          </a:p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def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4"/>
                </a:solidFill>
                <a:cs typeface="Leelawadee" pitchFamily="34" charset="-34"/>
              </a:rPr>
              <a:t>modify_input_state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( </a:t>
            </a:r>
            <a:r>
              <a:rPr lang="en-IN" dirty="0" smtClean="0">
                <a:solidFill>
                  <a:schemeClr val="accent1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: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 smtClean="0">
                <a:solidFill>
                  <a:srgbClr val="00CC99"/>
                </a:solidFill>
                <a:cs typeface="Leelawadee" pitchFamily="34" charset="-34"/>
              </a:rPr>
              <a:t>InputState 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)</a:t>
            </a:r>
            <a:r>
              <a:rPr lang="en-IN" dirty="0" smtClean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-&gt;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:</a:t>
            </a:r>
          </a:p>
          <a:p>
            <a:r>
              <a:rPr lang="en-IN" dirty="0">
                <a:cs typeface="Leelawadee" pitchFamily="34" charset="-34"/>
              </a:rPr>
              <a:t>   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print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f</a:t>
            </a:r>
            <a:r>
              <a:rPr lang="en-IN" dirty="0" smtClean="0">
                <a:solidFill>
                  <a:schemeClr val="accent1"/>
                </a:solidFill>
                <a:cs typeface="Leelawadee" pitchFamily="34" charset="-34"/>
              </a:rPr>
              <a:t>"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{ </a:t>
            </a:r>
            <a:r>
              <a:rPr lang="en-IN" dirty="0" smtClean="0">
                <a:solidFill>
                  <a:schemeClr val="accent1"/>
                </a:solidFill>
                <a:cs typeface="Leelawadee" pitchFamily="34" charset="-34"/>
              </a:rPr>
              <a:t>input_state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[</a:t>
            </a:r>
            <a:r>
              <a:rPr lang="en-IN" dirty="0" smtClean="0">
                <a:solidFill>
                  <a:srgbClr val="FF4B21"/>
                </a:solidFill>
                <a:cs typeface="Leelawadee" pitchFamily="34" charset="-34"/>
              </a:rPr>
              <a:t>‘name'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] }</a:t>
            </a:r>
            <a:r>
              <a:rPr lang="en-IN" dirty="0" smtClean="0">
                <a:solidFill>
                  <a:schemeClr val="bg1"/>
                </a:solidFill>
                <a:cs typeface="Leelawadee" pitchFamily="34" charset="-34"/>
              </a:rPr>
              <a:t>, 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{ </a:t>
            </a:r>
            <a:r>
              <a:rPr lang="en-IN" dirty="0" smtClean="0">
                <a:solidFill>
                  <a:schemeClr val="accent1"/>
                </a:solidFill>
                <a:cs typeface="Leelawadee" pitchFamily="34" charset="-34"/>
              </a:rPr>
              <a:t>input_state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[</a:t>
            </a:r>
            <a:r>
              <a:rPr lang="en-IN" dirty="0" smtClean="0">
                <a:solidFill>
                  <a:srgbClr val="FF4B21"/>
                </a:solidFill>
                <a:cs typeface="Leelawadee" pitchFamily="34" charset="-34"/>
              </a:rPr>
              <a:t>‘number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]</a:t>
            </a:r>
            <a:r>
              <a:rPr lang="en-IN" dirty="0" smtClean="0">
                <a:solidFill>
                  <a:schemeClr val="accent1"/>
                </a:solidFill>
                <a:cs typeface="Leelawadee" pitchFamily="34" charset="-34"/>
              </a:rPr>
              <a:t>}</a:t>
            </a:r>
            <a:r>
              <a:rPr lang="en-IN" dirty="0" smtClean="0">
                <a:solidFill>
                  <a:schemeClr val="accent4"/>
                </a:solidFill>
                <a:cs typeface="Leelawadee" pitchFamily="34" charset="-34"/>
              </a:rPr>
              <a:t>"</a:t>
            </a:r>
            <a:r>
              <a:rPr lang="en-IN" dirty="0" smtClean="0">
                <a:solidFill>
                  <a:schemeClr val="accent2"/>
                </a:solidFill>
                <a:cs typeface="Leelawadee" pitchFamily="34" charset="-34"/>
              </a:rPr>
              <a:t>)</a:t>
            </a:r>
            <a:endParaRPr lang="en-IN" dirty="0">
              <a:solidFill>
                <a:schemeClr val="accent2"/>
              </a:solidFill>
              <a:cs typeface="Leelawadee" pitchFamily="34" charset="-34"/>
            </a:endParaRPr>
          </a:p>
          <a:p>
            <a:r>
              <a:rPr lang="en-IN" dirty="0">
                <a:cs typeface="Leelawadee" pitchFamily="34" charset="-34"/>
              </a:rPr>
              <a:t>   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return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 smtClean="0">
                <a:solidFill>
                  <a:srgbClr val="0070C0"/>
                </a:solidFill>
                <a:cs typeface="Leelawadee" pitchFamily="34" charset="-34"/>
              </a:rPr>
              <a:t>input_state</a:t>
            </a:r>
            <a:endParaRPr lang="en-IN" dirty="0">
              <a:cs typeface="Leelawadee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47934" y="497253"/>
            <a:ext cx="5265639" cy="37240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endParaRPr lang="en-IN" dirty="0" smtClean="0">
              <a:solidFill>
                <a:srgbClr val="0070C0"/>
              </a:solidFill>
              <a:cs typeface="Leelawadee" pitchFamily="34" charset="-34"/>
            </a:endParaRPr>
          </a:p>
          <a:p>
            <a:r>
              <a:rPr lang="en-IN" dirty="0" smtClean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 smtClean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=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StateGraph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.add_node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modify_input_state</a:t>
            </a:r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  <a:endParaRPr lang="en-IN" dirty="0">
              <a:solidFill>
                <a:schemeClr val="accent4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.add_node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</a:t>
            </a:r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e)</a:t>
            </a:r>
            <a:endParaRPr lang="en-IN" dirty="0">
              <a:solidFill>
                <a:schemeClr val="accent4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.add_edge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.add_edge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END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.set_entry_point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endParaRPr lang="en-IN" dirty="0">
              <a:cs typeface="Leelawadee" pitchFamily="34" charset="-34"/>
            </a:endParaRP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input_state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= 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{</a:t>
            </a:r>
            <a:r>
              <a:rPr lang="en-IN" dirty="0" smtClean="0">
                <a:solidFill>
                  <a:srgbClr val="00B050"/>
                </a:solidFill>
                <a:cs typeface="Leelawadee" pitchFamily="34" charset="-34"/>
              </a:rPr>
              <a:t>“name"</a:t>
            </a:r>
            <a:r>
              <a:rPr lang="en-IN" dirty="0" smtClean="0">
                <a:solidFill>
                  <a:schemeClr val="bg1"/>
                </a:solidFill>
                <a:cs typeface="Leelawadee" pitchFamily="34" charset="-34"/>
              </a:rPr>
              <a:t>:</a:t>
            </a:r>
            <a:r>
              <a:rPr lang="en-IN" dirty="0" smtClean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"hello"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, </a:t>
            </a:r>
            <a:r>
              <a:rPr lang="en-IN" dirty="0" smtClean="0">
                <a:solidFill>
                  <a:srgbClr val="00B050"/>
                </a:solidFill>
                <a:cs typeface="Leelawadee" pitchFamily="34" charset="-34"/>
              </a:rPr>
              <a:t>“number"</a:t>
            </a:r>
            <a:r>
              <a:rPr lang="en-IN" dirty="0" smtClean="0">
                <a:solidFill>
                  <a:schemeClr val="bg1"/>
                </a:solidFill>
                <a:cs typeface="Leelawadee" pitchFamily="34" charset="-34"/>
              </a:rPr>
              <a:t>: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"1"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}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runnable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=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compile</a:t>
            </a:r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()</a:t>
            </a:r>
          </a:p>
          <a:p>
            <a:r>
              <a:rPr lang="en-IN" sz="2000" i="1" dirty="0">
                <a:solidFill>
                  <a:srgbClr val="00B050"/>
                </a:solidFill>
              </a:rPr>
              <a:t>Image</a:t>
            </a:r>
            <a:r>
              <a:rPr lang="en-IN" sz="2000" i="1" dirty="0" smtClean="0">
                <a:solidFill>
                  <a:schemeClr val="accent2">
                    <a:lumMod val="50000"/>
                  </a:schemeClr>
                </a:solidFill>
              </a:rPr>
              <a:t>( </a:t>
            </a:r>
            <a:r>
              <a:rPr lang="en-IN" sz="2000" i="1" dirty="0" smtClean="0">
                <a:solidFill>
                  <a:srgbClr val="0070C0"/>
                </a:solidFill>
              </a:rPr>
              <a:t>runnable</a:t>
            </a:r>
            <a:r>
              <a:rPr lang="en-IN" sz="2000" i="1" dirty="0" smtClean="0">
                <a:solidFill>
                  <a:schemeClr val="bg1"/>
                </a:solidFill>
              </a:rPr>
              <a:t>.</a:t>
            </a:r>
            <a:r>
              <a:rPr lang="en-IN" sz="2000" i="1" dirty="0" smtClean="0">
                <a:solidFill>
                  <a:schemeClr val="accent4">
                    <a:lumMod val="50000"/>
                  </a:schemeClr>
                </a:solidFill>
              </a:rPr>
              <a:t>get_graph</a:t>
            </a:r>
            <a:r>
              <a:rPr lang="en-IN" sz="2000" i="1" dirty="0">
                <a:solidFill>
                  <a:schemeClr val="accent4">
                    <a:lumMod val="50000"/>
                  </a:schemeClr>
                </a:solidFill>
              </a:rPr>
              <a:t>()</a:t>
            </a:r>
            <a:r>
              <a:rPr lang="en-IN" sz="2000" i="1" dirty="0">
                <a:solidFill>
                  <a:schemeClr val="bg1"/>
                </a:solidFill>
              </a:rPr>
              <a:t>.</a:t>
            </a:r>
            <a:r>
              <a:rPr lang="en-IN" sz="2000" i="1" dirty="0">
                <a:solidFill>
                  <a:schemeClr val="accent4">
                    <a:lumMod val="50000"/>
                  </a:schemeClr>
                </a:solidFill>
              </a:rPr>
              <a:t>draw_mermaid_png</a:t>
            </a:r>
            <a:r>
              <a:rPr lang="en-IN" sz="2000" i="1" dirty="0" smtClean="0">
                <a:solidFill>
                  <a:schemeClr val="accent4">
                    <a:lumMod val="50000"/>
                  </a:schemeClr>
                </a:solidFill>
              </a:rPr>
              <a:t>() </a:t>
            </a:r>
            <a:r>
              <a:rPr lang="en-IN" sz="2000" i="1" dirty="0" smtClean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en-IN" sz="2000" i="1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result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 =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runnable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invoke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  <a:endParaRPr lang="en-IN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078090" y="4935631"/>
            <a:ext cx="6015032" cy="1263808"/>
            <a:chOff x="2838734" y="4345422"/>
            <a:chExt cx="6015032" cy="1263808"/>
          </a:xfrm>
        </p:grpSpPr>
        <p:grpSp>
          <p:nvGrpSpPr>
            <p:cNvPr id="10" name="Group 9"/>
            <p:cNvGrpSpPr/>
            <p:nvPr/>
          </p:nvGrpSpPr>
          <p:grpSpPr>
            <a:xfrm>
              <a:off x="2955115" y="4345422"/>
              <a:ext cx="5012911" cy="1165283"/>
              <a:chOff x="2955115" y="4345422"/>
              <a:chExt cx="5012911" cy="1165283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2955115" y="4345422"/>
                <a:ext cx="179889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b-NO" dirty="0"/>
                  <a:t>['hello'], </a:t>
                </a:r>
                <a:r>
                  <a:rPr lang="nb-NO" dirty="0" smtClean="0"/>
                  <a:t>1</a:t>
                </a:r>
              </a:p>
              <a:p>
                <a:r>
                  <a:rPr lang="nb-NO" dirty="0" smtClean="0"/>
                  <a:t>[</a:t>
                </a:r>
                <a:r>
                  <a:rPr lang="nb-NO" dirty="0"/>
                  <a:t>'hello', 'hello'], 1</a:t>
                </a:r>
                <a:endParaRPr lang="en-IN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955115" y="5141373"/>
                <a:ext cx="50129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dirty="0"/>
                  <a:t>{'name': ['hello', 'hello', 'hello', 'hello'], 'number': 1}</a:t>
                </a:r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2838734" y="4345422"/>
              <a:ext cx="6015032" cy="126380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28197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Navigating the Future of Learning​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8672" y="178130"/>
            <a:ext cx="2074398" cy="338450"/>
            <a:chOff x="248672" y="195940"/>
            <a:chExt cx="2074398" cy="338450"/>
          </a:xfrm>
          <a:solidFill>
            <a:schemeClr val="accent1">
              <a:lumMod val="75000"/>
            </a:schemeClr>
          </a:solidFill>
        </p:grpSpPr>
        <p:cxnSp>
          <p:nvCxnSpPr>
            <p:cNvPr id="3" name="Straight Connector 2"/>
            <p:cNvCxnSpPr/>
            <p:nvPr/>
          </p:nvCxnSpPr>
          <p:spPr>
            <a:xfrm flipV="1">
              <a:off x="248672" y="528455"/>
              <a:ext cx="2074398" cy="5935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/>
            <p:cNvSpPr/>
            <p:nvPr/>
          </p:nvSpPr>
          <p:spPr>
            <a:xfrm>
              <a:off x="391175" y="195940"/>
              <a:ext cx="1601397" cy="33251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Bahnschrift" pitchFamily="34" charset="0"/>
                </a:rPr>
                <a:t>Checkpoint</a:t>
              </a:r>
              <a:endParaRPr lang="en-IN" sz="14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</p:grp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91175" y="768333"/>
            <a:ext cx="11488403" cy="167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itchFamily="34" charset="0"/>
                <a:cs typeface="Arial" pitchFamily="34" charset="0"/>
              </a:rPr>
              <a:t>🔄 How State Works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" pitchFamily="34" charset="0"/>
              <a:cs typeface="Arial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 smtClean="0">
                <a:cs typeface="Arial" pitchFamily="34" charset="0"/>
              </a:rPr>
              <a:t>The</a:t>
            </a:r>
            <a:r>
              <a:rPr lang="en-US" b="1" dirty="0" smtClean="0">
                <a:cs typeface="Arial" pitchFamily="34" charset="0"/>
              </a:rPr>
              <a:t> state</a:t>
            </a:r>
            <a:r>
              <a:rPr lang="en-US" dirty="0" smtClean="0">
                <a:cs typeface="Arial" pitchFamily="34" charset="0"/>
              </a:rPr>
              <a:t> </a:t>
            </a:r>
            <a:r>
              <a:rPr lang="en-US" dirty="0">
                <a:cs typeface="Arial" pitchFamily="34" charset="0"/>
              </a:rPr>
              <a:t>is a dictionary-like object that flows through nodes</a:t>
            </a:r>
            <a:r>
              <a:rPr lang="en-US" dirty="0" smtClean="0">
                <a:cs typeface="Arial" pitchFamily="34" charset="0"/>
              </a:rPr>
              <a:t>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Each node can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read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from it and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update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it.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Reducers (like add) decide how to merge values if multiple nodes update the same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1174" y="2773740"/>
            <a:ext cx="1148840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Bahnschrift" pitchFamily="34" charset="0"/>
                <a:cs typeface="Arial" pitchFamily="34" charset="0"/>
              </a:rPr>
              <a:t>🛑 What Happens on Close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Bahnschrift" pitchFamily="34" charset="0"/>
              <a:cs typeface="Arial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>
                <a:cs typeface="Arial" pitchFamily="34" charset="0"/>
              </a:rPr>
              <a:t>When you call graph.compile(), you get a </a:t>
            </a:r>
            <a:r>
              <a:rPr lang="en-US" b="1" dirty="0">
                <a:cs typeface="Arial" pitchFamily="34" charset="0"/>
              </a:rPr>
              <a:t>runnable application</a:t>
            </a:r>
            <a:r>
              <a:rPr lang="en-US" dirty="0">
                <a:cs typeface="Arial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>
                <a:cs typeface="Arial" pitchFamily="34" charset="0"/>
              </a:rPr>
              <a:t>That runnable holds the graph definition and any state you pass during invoke().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>
                <a:cs typeface="Arial" pitchFamily="34" charset="0"/>
              </a:rPr>
              <a:t>If you close the application (or stop the Python process), the </a:t>
            </a:r>
            <a:r>
              <a:rPr lang="en-US" b="1" dirty="0">
                <a:cs typeface="Arial" pitchFamily="34" charset="0"/>
              </a:rPr>
              <a:t>in-memory state is wiped out</a:t>
            </a:r>
            <a:r>
              <a:rPr lang="en-US" dirty="0">
                <a:cs typeface="Arial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dirty="0">
                <a:cs typeface="Arial" pitchFamily="34" charset="0"/>
              </a:rPr>
              <a:t>There’s no automatic persistence — LangGraph doesn’t save state to disk or database by default.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933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95785" y="296418"/>
            <a:ext cx="4217158" cy="400110"/>
            <a:chOff x="395785" y="296418"/>
            <a:chExt cx="4217158" cy="400110"/>
          </a:xfrm>
        </p:grpSpPr>
        <p:sp>
          <p:nvSpPr>
            <p:cNvPr id="2" name="Rectangle 1"/>
            <p:cNvSpPr/>
            <p:nvPr/>
          </p:nvSpPr>
          <p:spPr>
            <a:xfrm>
              <a:off x="796257" y="296418"/>
              <a:ext cx="29338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000" dirty="0">
                  <a:latin typeface="Bahnschrift SemiBold" pitchFamily="34" charset="0"/>
                </a:rPr>
                <a:t>What is a Checkpointer?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395785" y="696528"/>
              <a:ext cx="42171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/>
          <p:cNvSpPr/>
          <p:nvPr/>
        </p:nvSpPr>
        <p:spPr>
          <a:xfrm>
            <a:off x="1028131" y="947466"/>
            <a:ext cx="109273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checkpointer</a:t>
            </a:r>
            <a:r>
              <a:rPr lang="en-US" dirty="0"/>
              <a:t> in LangGraph is essentially a way to save the state of your agent or workflow at specific points during execution.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901587" y="2028210"/>
            <a:ext cx="86344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Think of it like saving your progress in a video game. When you reach </a:t>
            </a:r>
            <a:r>
              <a:rPr lang="en-US" dirty="0" smtClean="0">
                <a:solidFill>
                  <a:srgbClr val="0070C0"/>
                </a:solidFill>
              </a:rPr>
              <a:t>a  </a:t>
            </a:r>
            <a:r>
              <a:rPr lang="en-US" dirty="0">
                <a:solidFill>
                  <a:srgbClr val="0070C0"/>
                </a:solidFill>
              </a:rPr>
              <a:t>checkpoint: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 rot="10800000" flipV="1">
            <a:off x="2421339" y="2586502"/>
            <a:ext cx="7594979" cy="92333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The current state of everything is saved.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If something goes wrong later, you can return to this saved point.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You don’t have to start over from the beginning.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150" y="4913194"/>
            <a:ext cx="5785558" cy="369332"/>
          </a:xfrm>
          <a:prstGeom prst="rect">
            <a:avLst/>
          </a:prstGeom>
          <a:noFill/>
          <a:ln w="3175"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6743"/>
                </a:solidFill>
                <a:latin typeface="Bahnschrift Light" pitchFamily="34" charset="0"/>
              </a:rPr>
              <a:t>Your data will not be wiped out if anything goes wrong</a:t>
            </a:r>
            <a:endParaRPr lang="en-IN" dirty="0">
              <a:solidFill>
                <a:srgbClr val="FF6743"/>
              </a:solidFill>
              <a:latin typeface="Bahnschrift Light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796257" y="913597"/>
            <a:ext cx="0" cy="3876767"/>
          </a:xfrm>
          <a:prstGeom prst="straightConnector1">
            <a:avLst/>
          </a:prstGeom>
          <a:ln w="28575">
            <a:solidFill>
              <a:srgbClr val="00D05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775245" y="5802237"/>
            <a:ext cx="9906227" cy="402482"/>
            <a:chOff x="723017" y="5802237"/>
            <a:chExt cx="9906227" cy="402482"/>
          </a:xfrm>
        </p:grpSpPr>
        <p:sp>
          <p:nvSpPr>
            <p:cNvPr id="3" name="Rectangle 2"/>
            <p:cNvSpPr/>
            <p:nvPr/>
          </p:nvSpPr>
          <p:spPr>
            <a:xfrm>
              <a:off x="775245" y="5802237"/>
              <a:ext cx="98539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ahnschrift Light" pitchFamily="34" charset="0"/>
                </a:rPr>
                <a:t>In summary, checkpointers act as the memory system that preserves your graph's progress</a:t>
              </a:r>
              <a:endParaRPr lang="en-IN" dirty="0">
                <a:latin typeface="Bahnschrift Light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723017" y="5835387"/>
              <a:ext cx="0" cy="369332"/>
            </a:xfrm>
            <a:prstGeom prst="line">
              <a:avLst/>
            </a:prstGeom>
            <a:ln w="2857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5626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9558" y="585592"/>
            <a:ext cx="114504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 Context of LangGraph </a:t>
            </a:r>
            <a:r>
              <a:rPr lang="en-US" b="1" dirty="0"/>
              <a:t>Nodes and </a:t>
            </a:r>
            <a:r>
              <a:rPr lang="en-US" b="1" dirty="0" smtClean="0"/>
              <a:t>Workflows</a:t>
            </a:r>
          </a:p>
          <a:p>
            <a:endParaRPr lang="en-US" b="1" dirty="0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 dirty="0"/>
              <a:t>Nodes</a:t>
            </a:r>
            <a:r>
              <a:rPr lang="en-US" dirty="0"/>
              <a:t> are the individual steps or components in your workflow.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 dirty="0"/>
              <a:t>Checkpoints</a:t>
            </a:r>
            <a:r>
              <a:rPr lang="en-US" dirty="0"/>
              <a:t> save the complete state after a node finishes.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If an error occurs in a later node, you can resume from the last checkpoint instead of starting the entire workflow again</a:t>
            </a:r>
            <a:r>
              <a:rPr lang="en-US" dirty="0" smtClean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559" y="3265563"/>
            <a:ext cx="106725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Bahnschrift Light" pitchFamily="34" charset="0"/>
              </a:rPr>
              <a:t>This is particularly useful for complex workflows where</a:t>
            </a:r>
            <a:r>
              <a:rPr lang="en-US" dirty="0" smtClean="0">
                <a:solidFill>
                  <a:srgbClr val="0070C0"/>
                </a:solidFill>
                <a:latin typeface="Bahnschrift Light" pitchFamily="34" charset="0"/>
              </a:rPr>
              <a:t>:</a:t>
            </a:r>
          </a:p>
          <a:p>
            <a:endParaRPr lang="en-US" dirty="0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Processing takes significant time or resources.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You want to implement retry mechanisms.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You need persistence across sessions or server restarts.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86603" y="2906973"/>
            <a:ext cx="1153235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057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3038" y="725099"/>
            <a:ext cx="108044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A </a:t>
            </a:r>
            <a:r>
              <a:rPr lang="en-US" sz="1600" dirty="0"/>
              <a:t>T</a:t>
            </a:r>
            <a:r>
              <a:rPr lang="en-US" sz="1600" dirty="0" smtClean="0"/>
              <a:t>hread </a:t>
            </a:r>
            <a:r>
              <a:rPr lang="en-US" sz="1600" dirty="0"/>
              <a:t>ID is simply a unique identifier for each specific conversation or workflow execution. </a:t>
            </a:r>
            <a:endParaRPr lang="en-US" sz="1600" dirty="0"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9767" y="1497421"/>
            <a:ext cx="1401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</a:rPr>
              <a:t>Think of it like</a:t>
            </a:r>
            <a:r>
              <a:rPr lang="en-IN" sz="1600" i="1" dirty="0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1255593" y="1866639"/>
            <a:ext cx="96398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 unique session ID for a user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A conversation ID that groups related messages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767" y="3148295"/>
            <a:ext cx="1114567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The thread ID is necessary because: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You might have multiple conversations/workflows running simultaneously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Each needs its own separate saved state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dirty="0"/>
              <a:t>The thread ID helps the system know which saved state belongs to which conversation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600" dirty="0"/>
          </a:p>
          <a:p>
            <a:r>
              <a:rPr lang="en-US" sz="1600" dirty="0"/>
              <a:t>Without thread IDs, all your conversations would share the same state, which would cause confusion and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227" y="139972"/>
            <a:ext cx="1172116" cy="369332"/>
          </a:xfrm>
          <a:prstGeom prst="rect">
            <a:avLst/>
          </a:prstGeom>
          <a:solidFill>
            <a:srgbClr val="FF6743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 Light" pitchFamily="34" charset="0"/>
              </a:rPr>
              <a:t>Thread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5752" y="5687283"/>
            <a:ext cx="4965077" cy="46166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cs typeface="Arial" pitchFamily="34" charset="0"/>
              </a:rPr>
              <a:t>{</a:t>
            </a:r>
            <a:r>
              <a:rPr lang="en-US" sz="24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B050"/>
                </a:solidFill>
                <a:cs typeface="Arial" pitchFamily="34" charset="0"/>
              </a:rPr>
              <a:t>"configurable“</a:t>
            </a:r>
            <a:r>
              <a:rPr lang="en-US" sz="2400" dirty="0" smtClean="0">
                <a:solidFill>
                  <a:schemeClr val="bg1"/>
                </a:solidFill>
                <a:cs typeface="Arial" pitchFamily="34" charset="0"/>
              </a:rPr>
              <a:t> : </a:t>
            </a:r>
            <a:r>
              <a:rPr lang="en-US" sz="2400" dirty="0" smtClean="0">
                <a:solidFill>
                  <a:schemeClr val="accent1"/>
                </a:solidFill>
                <a:cs typeface="Arial" pitchFamily="34" charset="0"/>
              </a:rPr>
              <a:t>{</a:t>
            </a:r>
            <a:r>
              <a:rPr lang="en-US" sz="24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2400" dirty="0" smtClean="0">
                <a:solidFill>
                  <a:schemeClr val="accent2"/>
                </a:solidFill>
                <a:cs typeface="Arial" pitchFamily="34" charset="0"/>
              </a:rPr>
              <a:t>"thread_id“</a:t>
            </a:r>
            <a:r>
              <a:rPr lang="en-US" sz="2400" dirty="0" smtClean="0">
                <a:solidFill>
                  <a:schemeClr val="bg1"/>
                </a:solidFill>
                <a:cs typeface="Arial" pitchFamily="34" charset="0"/>
              </a:rPr>
              <a:t> : </a:t>
            </a:r>
            <a:r>
              <a:rPr lang="en-US" sz="2400" dirty="0" smtClean="0">
                <a:solidFill>
                  <a:schemeClr val="accent2"/>
                </a:solidFill>
                <a:cs typeface="Arial" pitchFamily="34" charset="0"/>
              </a:rPr>
              <a:t>"1“</a:t>
            </a:r>
            <a:r>
              <a:rPr lang="en-US" sz="24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2400" dirty="0" smtClean="0">
                <a:solidFill>
                  <a:schemeClr val="accent1"/>
                </a:solidFill>
                <a:cs typeface="Arial" pitchFamily="34" charset="0"/>
              </a:rPr>
              <a:t>} }</a:t>
            </a:r>
            <a:endParaRPr lang="en-I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228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62000" y="762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91440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0" y="228600"/>
            <a:ext cx="12192000" cy="344606"/>
            <a:chOff x="0" y="228600"/>
            <a:chExt cx="12192000" cy="344606"/>
          </a:xfrm>
          <a:solidFill>
            <a:srgbClr val="00B0F0"/>
          </a:solidFill>
        </p:grpSpPr>
        <p:cxnSp>
          <p:nvCxnSpPr>
            <p:cNvPr id="7" name="Straight Connector 6"/>
            <p:cNvCxnSpPr/>
            <p:nvPr/>
          </p:nvCxnSpPr>
          <p:spPr>
            <a:xfrm>
              <a:off x="0" y="228600"/>
              <a:ext cx="12192000" cy="0"/>
            </a:xfrm>
            <a:prstGeom prst="line">
              <a:avLst/>
            </a:prstGeom>
            <a:grpFill/>
            <a:ln w="28575">
              <a:solidFill>
                <a:srgbClr val="00B0F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4355912" y="246797"/>
              <a:ext cx="2099479" cy="326409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bg1"/>
                  </a:solidFill>
                  <a:latin typeface="Bahnschrift" pitchFamily="34" charset="0"/>
                </a:rPr>
                <a:t>Checkpoint Example</a:t>
              </a:r>
              <a:endParaRPr lang="en-IN" sz="16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69795" y="902146"/>
            <a:ext cx="10484892" cy="5632311"/>
            <a:chOff x="569795" y="902146"/>
            <a:chExt cx="10484892" cy="5632311"/>
          </a:xfrm>
          <a:solidFill>
            <a:schemeClr val="bg2">
              <a:lumMod val="25000"/>
            </a:schemeClr>
          </a:solidFill>
        </p:grpSpPr>
        <p:sp>
          <p:nvSpPr>
            <p:cNvPr id="3" name="Rectangle 1"/>
            <p:cNvSpPr>
              <a:spLocks noChangeArrowheads="1"/>
            </p:cNvSpPr>
            <p:nvPr/>
          </p:nvSpPr>
          <p:spPr bwMode="auto">
            <a:xfrm>
              <a:off x="569795" y="902146"/>
              <a:ext cx="10484892" cy="563231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langchain_openai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AzureChatOpenAI, AzureOpenAIEmbeddings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langchain.prompts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PromptTemplate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i="1" dirty="0" smtClean="0">
                  <a:solidFill>
                    <a:schemeClr val="accent5"/>
                  </a:solidFill>
                  <a:cs typeface="Arial" pitchFamily="34" charset="0"/>
                </a:rPr>
                <a:t>from</a:t>
              </a:r>
              <a:r>
                <a:rPr lang="en-US" i="1" dirty="0" smtClean="0">
                  <a:solidFill>
                    <a:srgbClr val="00CC99"/>
                  </a:solidFill>
                  <a:cs typeface="Arial" pitchFamily="34" charset="0"/>
                </a:rPr>
                <a:t> </a:t>
              </a:r>
              <a:r>
                <a:rPr lang="en-US" i="1" dirty="0">
                  <a:solidFill>
                    <a:srgbClr val="00CC99"/>
                  </a:solidFill>
                  <a:cs typeface="Arial" pitchFamily="34" charset="0"/>
                </a:rPr>
                <a:t>langgraph.checkpoint.memory </a:t>
              </a:r>
              <a:r>
                <a:rPr lang="en-US" i="1" dirty="0" smtClean="0">
                  <a:solidFill>
                    <a:srgbClr val="00CC99"/>
                  </a:solidFill>
                  <a:cs typeface="Arial" pitchFamily="34" charset="0"/>
                </a:rPr>
                <a:t> </a:t>
              </a:r>
              <a:r>
                <a:rPr lang="en-US" i="1" dirty="0" smtClean="0">
                  <a:solidFill>
                    <a:srgbClr val="7030A0"/>
                  </a:solidFill>
                  <a:cs typeface="Arial" pitchFamily="34" charset="0"/>
                </a:rPr>
                <a:t>import</a:t>
              </a:r>
              <a:r>
                <a:rPr lang="en-US" i="1" dirty="0" smtClean="0">
                  <a:solidFill>
                    <a:srgbClr val="00CC99"/>
                  </a:solidFill>
                  <a:cs typeface="Arial" pitchFamily="34" charset="0"/>
                </a:rPr>
                <a:t> </a:t>
              </a:r>
              <a:r>
                <a:rPr lang="en-US" i="1" dirty="0">
                  <a:solidFill>
                    <a:srgbClr val="00CC99"/>
                  </a:solidFill>
                  <a:cs typeface="Arial" pitchFamily="34" charset="0"/>
                </a:rPr>
                <a:t>MemorySaver</a:t>
              </a:r>
              <a:endParaRPr kumimoji="0" lang="en-US" b="0" i="1" u="none" strike="noStrike" cap="none" normalizeH="0" baseline="0" dirty="0" smtClean="0">
                <a:ln>
                  <a:noFill/>
                </a:ln>
                <a:solidFill>
                  <a:srgbClr val="00CC99"/>
                </a:solidFill>
                <a:effectLst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lang="en-US" dirty="0">
                  <a:solidFill>
                    <a:srgbClr val="00CC99"/>
                  </a:solidFill>
                  <a:cs typeface="Arial" pitchFamily="34" charset="0"/>
                </a:rPr>
                <a:t>dotenv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load_dotenv, find_dotenv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lang="en-US" dirty="0">
                  <a:solidFill>
                    <a:srgbClr val="00CC99"/>
                  </a:solidFill>
                  <a:cs typeface="Arial" pitchFamily="34" charset="0"/>
                </a:rPr>
                <a:t>os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lang="en-US" dirty="0">
                  <a:solidFill>
                    <a:srgbClr val="00CC99"/>
                  </a:solidFill>
                  <a:cs typeface="Arial" pitchFamily="34" charset="0"/>
                </a:rPr>
                <a:t>langchain_core.tools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tool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from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lang="en-US" dirty="0">
                  <a:solidFill>
                    <a:srgbClr val="00CC99"/>
                  </a:solidFill>
                  <a:cs typeface="Arial" pitchFamily="34" charset="0"/>
                </a:rPr>
                <a:t>langchain_core.messages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import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lang="en-US" dirty="0">
                  <a:solidFill>
                    <a:srgbClr val="00CC99"/>
                  </a:solidFill>
                  <a:cs typeface="Arial" pitchFamily="34" charset="0"/>
                </a:rPr>
                <a:t>HumanMessage, AIMessage, ToolMessage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solidFill>
                  <a:srgbClr val="D4D4D4"/>
                </a:solidFill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load_dotenv(find_dotenv()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override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=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True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endpoint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os.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getenv(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"ENDPOINT_URL"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5"/>
                  </a:solidFill>
                  <a:effectLst/>
                  <a:cs typeface="Arial" pitchFamily="34" charset="0"/>
                </a:rPr>
                <a:t>subscription_key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os.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getenv(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"AZURE_OPENAI_API_KEY"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5"/>
                  </a:solidFill>
                  <a:effectLst/>
                  <a:cs typeface="Arial" pitchFamily="34" charset="0"/>
                </a:rPr>
                <a:t>api_version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"2025-01-01-preview"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solidFill>
                  <a:srgbClr val="D4D4D4"/>
                </a:solidFill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@tool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def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CDCAA"/>
                  </a:solidFill>
                  <a:effectLst/>
                  <a:cs typeface="Arial" pitchFamily="34" charset="0"/>
                </a:rPr>
                <a:t>currentTemperature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(country: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str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-&gt;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int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'''current temperature of the country'''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if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country.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startswith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"i"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): 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return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B5CEA8"/>
                  </a:solidFill>
                  <a:effectLst/>
                  <a:cs typeface="Arial" pitchFamily="34" charset="0"/>
                </a:rPr>
                <a:t>10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elif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country.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startswith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"u"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): 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return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B5CEA8"/>
                  </a:solidFill>
                  <a:effectLst/>
                  <a:cs typeface="Arial" pitchFamily="34" charset="0"/>
                </a:rPr>
                <a:t>20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else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: 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return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B5CEA8"/>
                  </a:solidFill>
                  <a:effectLst/>
                  <a:cs typeface="Arial" pitchFamily="34" charset="0"/>
                </a:rPr>
                <a:t>30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</p:txBody>
        </p:sp>
        <p:sp>
          <p:nvSpPr>
            <p:cNvPr id="18" name="Flowchart: Connector 17"/>
            <p:cNvSpPr/>
            <p:nvPr/>
          </p:nvSpPr>
          <p:spPr>
            <a:xfrm>
              <a:off x="10458735" y="914400"/>
              <a:ext cx="457200" cy="457200"/>
            </a:xfrm>
            <a:prstGeom prst="flowChartConnector">
              <a:avLst/>
            </a:prstGeom>
            <a:solidFill>
              <a:schemeClr val="accent5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00" dirty="0" smtClean="0">
                  <a:latin typeface="Bahnschrift" pitchFamily="34" charset="0"/>
                </a:rPr>
                <a:t>1</a:t>
              </a:r>
              <a:endParaRPr lang="en-IN" sz="1900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937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77673" y="292585"/>
            <a:ext cx="10740788" cy="5355312"/>
            <a:chOff x="477673" y="292585"/>
            <a:chExt cx="10493123" cy="5355312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477673" y="292585"/>
              <a:ext cx="10493123" cy="535531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900" dirty="0" smtClean="0">
                  <a:solidFill>
                    <a:schemeClr val="accent1"/>
                  </a:solidFill>
                  <a:cs typeface="Arial" pitchFamily="34" charset="0"/>
                </a:rPr>
                <a:t>tool_mapping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 = </a:t>
              </a:r>
              <a:r>
                <a:rPr lang="en-US" sz="1900" dirty="0" smtClean="0">
                  <a:solidFill>
                    <a:schemeClr val="accent4"/>
                  </a:solidFill>
                  <a:cs typeface="Arial" pitchFamily="34" charset="0"/>
                </a:rPr>
                <a:t>{ </a:t>
              </a:r>
              <a:r>
                <a:rPr lang="en-US" sz="1900" dirty="0" smtClean="0">
                  <a:solidFill>
                    <a:srgbClr val="CE9178"/>
                  </a:solidFill>
                  <a:cs typeface="Arial" pitchFamily="34" charset="0"/>
                </a:rPr>
                <a:t>"currentTemperature"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: </a:t>
              </a:r>
              <a:r>
                <a:rPr lang="en-US" sz="1900" dirty="0" smtClean="0">
                  <a:solidFill>
                    <a:schemeClr val="accent4"/>
                  </a:solidFill>
                  <a:cs typeface="Arial" pitchFamily="34" charset="0"/>
                </a:rPr>
                <a:t>currentTemperature }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900" dirty="0" smtClean="0">
                  <a:solidFill>
                    <a:schemeClr val="accent1"/>
                  </a:solidFill>
                  <a:cs typeface="Arial" pitchFamily="34" charset="0"/>
                </a:rPr>
                <a:t>tools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 </a:t>
              </a:r>
              <a:r>
                <a:rPr lang="en-US" sz="1900" dirty="0">
                  <a:solidFill>
                    <a:srgbClr val="D4D4D4"/>
                  </a:solidFill>
                  <a:cs typeface="Arial" pitchFamily="34" charset="0"/>
                </a:rPr>
                <a:t>= </a:t>
              </a:r>
              <a:r>
                <a:rPr lang="en-US" sz="1900" dirty="0">
                  <a:solidFill>
                    <a:schemeClr val="accent4"/>
                  </a:solidFill>
                  <a:cs typeface="Arial" pitchFamily="34" charset="0"/>
                </a:rPr>
                <a:t>[currentTemperature]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900" dirty="0">
                  <a:solidFill>
                    <a:schemeClr val="accent1"/>
                  </a:solidFill>
                  <a:cs typeface="Arial" pitchFamily="34" charset="0"/>
                </a:rPr>
                <a:t>llm</a:t>
              </a:r>
              <a:r>
                <a:rPr lang="en-US" sz="1900" dirty="0">
                  <a:solidFill>
                    <a:srgbClr val="D4D4D4"/>
                  </a:solidFill>
                  <a:cs typeface="Arial" pitchFamily="34" charset="0"/>
                </a:rPr>
                <a:t> = </a:t>
              </a:r>
              <a:r>
                <a:rPr lang="en-US" sz="1900" dirty="0">
                  <a:solidFill>
                    <a:srgbClr val="15C2FF"/>
                  </a:solidFill>
                  <a:cs typeface="Arial" pitchFamily="34" charset="0"/>
                </a:rPr>
                <a:t>AzureChatOpenAI</a:t>
              </a:r>
              <a:r>
                <a:rPr lang="en-US" sz="1900" dirty="0">
                  <a:solidFill>
                    <a:srgbClr val="D4D4D4"/>
                  </a:solidFill>
                  <a:cs typeface="Arial" pitchFamily="34" charset="0"/>
                </a:rPr>
                <a:t>( </a:t>
              </a:r>
              <a:r>
                <a:rPr lang="en-US" sz="1900" dirty="0" smtClean="0">
                  <a:solidFill>
                    <a:srgbClr val="0070C0"/>
                  </a:solidFill>
                  <a:cs typeface="Arial" pitchFamily="34" charset="0"/>
                </a:rPr>
                <a:t>azure_endpoint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sz="1900" dirty="0" smtClean="0">
                  <a:solidFill>
                    <a:srgbClr val="0070C0"/>
                  </a:solidFill>
                  <a:cs typeface="Arial" pitchFamily="34" charset="0"/>
                </a:rPr>
                <a:t>endpoint</a:t>
              </a:r>
              <a:r>
                <a:rPr lang="en-US" sz="1900" dirty="0">
                  <a:solidFill>
                    <a:srgbClr val="D4D4D4"/>
                  </a:solidFill>
                  <a:cs typeface="Arial" pitchFamily="34" charset="0"/>
                </a:rPr>
                <a:t>, </a:t>
              </a:r>
              <a:r>
                <a:rPr lang="en-US" sz="1900" dirty="0" smtClean="0">
                  <a:solidFill>
                    <a:srgbClr val="0070C0"/>
                  </a:solidFill>
                  <a:cs typeface="Arial" pitchFamily="34" charset="0"/>
                </a:rPr>
                <a:t>api_key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sz="1900" dirty="0" smtClean="0">
                  <a:solidFill>
                    <a:srgbClr val="0070C0"/>
                  </a:solidFill>
                  <a:cs typeface="Arial" pitchFamily="34" charset="0"/>
                </a:rPr>
                <a:t>subscription_key 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, </a:t>
              </a:r>
              <a:r>
                <a:rPr lang="en-US" sz="1900" dirty="0" smtClean="0">
                  <a:solidFill>
                    <a:srgbClr val="0070C0"/>
                  </a:solidFill>
                  <a:cs typeface="Arial" pitchFamily="34" charset="0"/>
                </a:rPr>
                <a:t>api_version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sz="1900" dirty="0" smtClean="0">
                  <a:solidFill>
                    <a:srgbClr val="0070C0"/>
                  </a:solidFill>
                  <a:cs typeface="Arial" pitchFamily="34" charset="0"/>
                </a:rPr>
                <a:t>api_version</a:t>
              </a:r>
              <a:r>
                <a:rPr lang="en-US" sz="1900" dirty="0" smtClean="0">
                  <a:solidFill>
                    <a:srgbClr val="D4D4D4"/>
                  </a:solidFill>
                  <a:cs typeface="Arial" pitchFamily="34" charset="0"/>
                </a:rPr>
                <a:t> </a:t>
              </a:r>
              <a:r>
                <a:rPr lang="en-US" sz="1900" dirty="0" smtClean="0">
                  <a:solidFill>
                    <a:schemeClr val="accent4"/>
                  </a:solidFill>
                  <a:cs typeface="Arial" pitchFamily="34" charset="0"/>
                </a:rPr>
                <a:t>).</a:t>
              </a:r>
              <a:r>
                <a:rPr lang="en-US" sz="1900" dirty="0">
                  <a:solidFill>
                    <a:schemeClr val="accent4"/>
                  </a:solidFill>
                  <a:cs typeface="Arial" pitchFamily="34" charset="0"/>
                </a:rPr>
                <a:t>bind_tools(</a:t>
              </a:r>
              <a:r>
                <a:rPr lang="en-US" sz="1900" dirty="0">
                  <a:solidFill>
                    <a:srgbClr val="D4D4D4"/>
                  </a:solidFill>
                  <a:cs typeface="Arial" pitchFamily="34" charset="0"/>
                </a:rPr>
                <a:t>tools</a:t>
              </a:r>
              <a:r>
                <a:rPr lang="en-US" sz="1900" dirty="0">
                  <a:solidFill>
                    <a:schemeClr val="accent4"/>
                  </a:solidFill>
                  <a:cs typeface="Arial" pitchFamily="34" charset="0"/>
                </a:rPr>
                <a:t>) 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sz="1900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r>
                <a:rPr lang="en-IN" sz="1900" dirty="0">
                  <a:solidFill>
                    <a:srgbClr val="7030A0"/>
                  </a:solidFill>
                </a:rPr>
                <a:t>def</a:t>
              </a:r>
              <a:r>
                <a:rPr lang="en-IN" sz="1900" dirty="0">
                  <a:solidFill>
                    <a:schemeClr val="bg1"/>
                  </a:solidFill>
                </a:rPr>
                <a:t> </a:t>
              </a:r>
              <a:r>
                <a:rPr lang="en-IN" sz="1900" dirty="0">
                  <a:solidFill>
                    <a:schemeClr val="accent4"/>
                  </a:solidFill>
                </a:rPr>
                <a:t>call_model(</a:t>
              </a:r>
              <a:r>
                <a:rPr lang="en-IN" sz="1900" dirty="0">
                  <a:solidFill>
                    <a:srgbClr val="00B0F0"/>
                  </a:solidFill>
                </a:rPr>
                <a:t>state</a:t>
              </a:r>
              <a:r>
                <a:rPr lang="en-IN" sz="1900" dirty="0">
                  <a:solidFill>
                    <a:schemeClr val="accent4"/>
                  </a:solidFill>
                </a:rPr>
                <a:t>:</a:t>
              </a:r>
              <a:r>
                <a:rPr lang="en-IN" sz="1900" dirty="0">
                  <a:solidFill>
                    <a:srgbClr val="00CC99"/>
                  </a:solidFill>
                </a:rPr>
                <a:t>MessagesState)</a:t>
              </a:r>
              <a:r>
                <a:rPr lang="en-IN" sz="1900" dirty="0">
                  <a:solidFill>
                    <a:schemeClr val="accent4"/>
                  </a:solidFill>
                </a:rPr>
                <a:t>: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</a:t>
              </a:r>
              <a:r>
                <a:rPr lang="en-IN" sz="1900" dirty="0">
                  <a:solidFill>
                    <a:schemeClr val="accent5"/>
                  </a:solidFill>
                </a:rPr>
                <a:t>messages</a:t>
              </a:r>
              <a:r>
                <a:rPr lang="en-IN" sz="1900" dirty="0">
                  <a:solidFill>
                    <a:schemeClr val="bg1"/>
                  </a:solidFill>
                </a:rPr>
                <a:t>=</a:t>
              </a:r>
              <a:r>
                <a:rPr lang="en-IN" sz="1900" dirty="0">
                  <a:solidFill>
                    <a:srgbClr val="00B0F0"/>
                  </a:solidFill>
                </a:rPr>
                <a:t>state</a:t>
              </a:r>
              <a:r>
                <a:rPr lang="en-IN" sz="1900" dirty="0">
                  <a:solidFill>
                    <a:schemeClr val="accent4"/>
                  </a:solidFill>
                </a:rPr>
                <a:t>[</a:t>
              </a:r>
              <a:r>
                <a:rPr lang="en-IN" sz="1900" dirty="0">
                  <a:solidFill>
                    <a:srgbClr val="FF6743"/>
                  </a:solidFill>
                </a:rPr>
                <a:t>"messages"</a:t>
              </a:r>
              <a:r>
                <a:rPr lang="en-IN" sz="1900" dirty="0">
                  <a:solidFill>
                    <a:schemeClr val="accent4"/>
                  </a:solidFill>
                </a:rPr>
                <a:t>]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</a:t>
              </a:r>
              <a:r>
                <a:rPr lang="en-IN" sz="1900" dirty="0">
                  <a:solidFill>
                    <a:schemeClr val="accent5"/>
                  </a:solidFill>
                </a:rPr>
                <a:t>result</a:t>
              </a:r>
              <a:r>
                <a:rPr lang="en-IN" sz="1900" dirty="0">
                  <a:solidFill>
                    <a:schemeClr val="bg1"/>
                  </a:solidFill>
                </a:rPr>
                <a:t>=llm.</a:t>
              </a:r>
              <a:r>
                <a:rPr lang="en-IN" sz="1900" dirty="0">
                  <a:solidFill>
                    <a:schemeClr val="accent4"/>
                  </a:solidFill>
                </a:rPr>
                <a:t>invoke(</a:t>
              </a:r>
              <a:r>
                <a:rPr lang="en-IN" sz="1900" dirty="0">
                  <a:solidFill>
                    <a:srgbClr val="FF6743"/>
                  </a:solidFill>
                </a:rPr>
                <a:t>messages</a:t>
              </a:r>
              <a:r>
                <a:rPr lang="en-IN" sz="1900" dirty="0">
                  <a:solidFill>
                    <a:schemeClr val="accent4"/>
                  </a:solidFill>
                </a:rPr>
                <a:t>)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</a:t>
              </a:r>
              <a:r>
                <a:rPr lang="en-IN" sz="1900" dirty="0">
                  <a:solidFill>
                    <a:srgbClr val="7030A0"/>
                  </a:solidFill>
                </a:rPr>
                <a:t>return</a:t>
              </a:r>
              <a:r>
                <a:rPr lang="en-IN" sz="1900" dirty="0">
                  <a:solidFill>
                    <a:schemeClr val="bg1"/>
                  </a:solidFill>
                </a:rPr>
                <a:t> {</a:t>
              </a:r>
              <a:r>
                <a:rPr lang="en-IN" sz="1900" dirty="0">
                  <a:solidFill>
                    <a:srgbClr val="FF6743"/>
                  </a:solidFill>
                </a:rPr>
                <a:t>"messages"</a:t>
              </a:r>
              <a:r>
                <a:rPr lang="en-IN" sz="1900" dirty="0">
                  <a:solidFill>
                    <a:schemeClr val="bg1"/>
                  </a:solidFill>
                </a:rPr>
                <a:t>: </a:t>
              </a:r>
              <a:r>
                <a:rPr lang="en-IN" sz="1900" dirty="0">
                  <a:solidFill>
                    <a:schemeClr val="accent4"/>
                  </a:solidFill>
                </a:rPr>
                <a:t>[</a:t>
              </a:r>
              <a:r>
                <a:rPr lang="en-IN" sz="1900" dirty="0">
                  <a:solidFill>
                    <a:schemeClr val="accent5"/>
                  </a:solidFill>
                </a:rPr>
                <a:t>result]}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/>
              </a:r>
              <a:br>
                <a:rPr lang="en-IN" sz="1900" dirty="0">
                  <a:solidFill>
                    <a:schemeClr val="bg1"/>
                  </a:solidFill>
                </a:rPr>
              </a:br>
              <a:r>
                <a:rPr lang="en-IN" sz="1900" dirty="0">
                  <a:solidFill>
                    <a:srgbClr val="7030A0"/>
                  </a:solidFill>
                </a:rPr>
                <a:t>def</a:t>
              </a:r>
              <a:r>
                <a:rPr lang="en-IN" sz="1900" dirty="0">
                  <a:solidFill>
                    <a:schemeClr val="bg1"/>
                  </a:solidFill>
                </a:rPr>
                <a:t> </a:t>
              </a:r>
              <a:r>
                <a:rPr lang="en-IN" sz="1900" dirty="0">
                  <a:solidFill>
                    <a:schemeClr val="accent4"/>
                  </a:solidFill>
                </a:rPr>
                <a:t>should_continue</a:t>
              </a:r>
              <a:r>
                <a:rPr lang="en-IN" sz="1900" dirty="0">
                  <a:solidFill>
                    <a:schemeClr val="bg1"/>
                  </a:solidFill>
                </a:rPr>
                <a:t>(state:</a:t>
              </a:r>
              <a:r>
                <a:rPr lang="en-IN" sz="1900" dirty="0">
                  <a:solidFill>
                    <a:schemeClr val="accent5"/>
                  </a:solidFill>
                </a:rPr>
                <a:t>MessagesState</a:t>
              </a:r>
              <a:r>
                <a:rPr lang="en-IN" sz="1900" dirty="0">
                  <a:solidFill>
                    <a:schemeClr val="bg1"/>
                  </a:solidFill>
                </a:rPr>
                <a:t>):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</a:t>
              </a:r>
              <a:r>
                <a:rPr lang="en-IN" sz="1900" dirty="0">
                  <a:solidFill>
                    <a:schemeClr val="accent5"/>
                  </a:solidFill>
                </a:rPr>
                <a:t> messages</a:t>
              </a:r>
              <a:r>
                <a:rPr lang="en-IN" sz="1900" dirty="0">
                  <a:solidFill>
                    <a:schemeClr val="bg1"/>
                  </a:solidFill>
                </a:rPr>
                <a:t>=</a:t>
              </a:r>
              <a:r>
                <a:rPr lang="en-IN" sz="1900" dirty="0">
                  <a:solidFill>
                    <a:srgbClr val="00CC99"/>
                  </a:solidFill>
                </a:rPr>
                <a:t>state</a:t>
              </a:r>
              <a:r>
                <a:rPr lang="en-IN" sz="1900" dirty="0">
                  <a:solidFill>
                    <a:schemeClr val="accent4"/>
                  </a:solidFill>
                </a:rPr>
                <a:t>[</a:t>
              </a:r>
              <a:r>
                <a:rPr lang="en-IN" sz="1900" dirty="0">
                  <a:solidFill>
                    <a:srgbClr val="FF6743"/>
                  </a:solidFill>
                </a:rPr>
                <a:t>"messages"</a:t>
              </a:r>
              <a:r>
                <a:rPr lang="en-IN" sz="1900" dirty="0">
                  <a:solidFill>
                    <a:schemeClr val="accent4"/>
                  </a:solidFill>
                </a:rPr>
                <a:t>]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</a:t>
              </a:r>
              <a:r>
                <a:rPr lang="en-IN" sz="1900" dirty="0">
                  <a:solidFill>
                    <a:schemeClr val="accent5"/>
                  </a:solidFill>
                </a:rPr>
                <a:t>last_message</a:t>
              </a:r>
              <a:r>
                <a:rPr lang="en-IN" sz="1900" dirty="0">
                  <a:solidFill>
                    <a:schemeClr val="bg1"/>
                  </a:solidFill>
                </a:rPr>
                <a:t>=</a:t>
              </a:r>
              <a:r>
                <a:rPr lang="en-IN" sz="1900" dirty="0">
                  <a:solidFill>
                    <a:srgbClr val="00CC99"/>
                  </a:solidFill>
                </a:rPr>
                <a:t>messages</a:t>
              </a:r>
              <a:r>
                <a:rPr lang="en-IN" sz="1900" dirty="0">
                  <a:solidFill>
                    <a:schemeClr val="bg1"/>
                  </a:solidFill>
                </a:rPr>
                <a:t>[-1]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</a:t>
              </a:r>
              <a:r>
                <a:rPr lang="en-IN" sz="1900" dirty="0">
                  <a:solidFill>
                    <a:srgbClr val="7030A0"/>
                  </a:solidFill>
                </a:rPr>
                <a:t>if</a:t>
              </a:r>
              <a:r>
                <a:rPr lang="en-IN" sz="1900" dirty="0">
                  <a:solidFill>
                    <a:schemeClr val="bg1"/>
                  </a:solidFill>
                </a:rPr>
                <a:t> </a:t>
              </a:r>
              <a:r>
                <a:rPr lang="en-IN" sz="1900" dirty="0">
                  <a:solidFill>
                    <a:srgbClr val="00B0F0"/>
                  </a:solidFill>
                </a:rPr>
                <a:t>last_message.tool_calls</a:t>
              </a:r>
              <a:r>
                <a:rPr lang="en-IN" sz="1900" dirty="0">
                  <a:solidFill>
                    <a:schemeClr val="bg1"/>
                  </a:solidFill>
                </a:rPr>
                <a:t>: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    </a:t>
              </a:r>
              <a:r>
                <a:rPr lang="en-IN" sz="1900" dirty="0">
                  <a:solidFill>
                    <a:srgbClr val="7030A0"/>
                  </a:solidFill>
                </a:rPr>
                <a:t>return</a:t>
              </a:r>
              <a:r>
                <a:rPr lang="en-IN" sz="1900" dirty="0">
                  <a:solidFill>
                    <a:schemeClr val="bg1"/>
                  </a:solidFill>
                </a:rPr>
                <a:t> </a:t>
              </a:r>
              <a:r>
                <a:rPr lang="en-IN" sz="1900" dirty="0">
                  <a:solidFill>
                    <a:srgbClr val="FF6743"/>
                  </a:solidFill>
                </a:rPr>
                <a:t>"tools"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</a:t>
              </a:r>
              <a:r>
                <a:rPr lang="en-IN" sz="1900" dirty="0">
                  <a:solidFill>
                    <a:srgbClr val="7030A0"/>
                  </a:solidFill>
                </a:rPr>
                <a:t>else</a:t>
              </a:r>
              <a:r>
                <a:rPr lang="en-IN" sz="1900" dirty="0">
                  <a:solidFill>
                    <a:schemeClr val="bg1"/>
                  </a:solidFill>
                </a:rPr>
                <a:t>:</a:t>
              </a:r>
            </a:p>
            <a:p>
              <a:r>
                <a:rPr lang="en-IN" sz="1900" dirty="0">
                  <a:solidFill>
                    <a:schemeClr val="bg1"/>
                  </a:solidFill>
                </a:rPr>
                <a:t>        </a:t>
              </a:r>
              <a:r>
                <a:rPr lang="en-IN" sz="1900" dirty="0">
                  <a:solidFill>
                    <a:srgbClr val="7030A0"/>
                  </a:solidFill>
                </a:rPr>
                <a:t>return</a:t>
              </a:r>
              <a:r>
                <a:rPr lang="en-IN" sz="1900" dirty="0">
                  <a:solidFill>
                    <a:schemeClr val="bg1"/>
                  </a:solidFill>
                </a:rPr>
                <a:t> </a:t>
              </a:r>
              <a:r>
                <a:rPr lang="en-IN" sz="1900" dirty="0">
                  <a:solidFill>
                    <a:schemeClr val="accent5"/>
                  </a:solidFill>
                </a:rPr>
                <a:t>END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900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10413242" y="382602"/>
              <a:ext cx="457200" cy="457200"/>
            </a:xfrm>
            <a:prstGeom prst="flowChartConnector">
              <a:avLst/>
            </a:prstGeom>
            <a:solidFill>
              <a:schemeClr val="accent5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00" dirty="0" smtClean="0">
                  <a:solidFill>
                    <a:schemeClr val="bg1"/>
                  </a:solidFill>
                  <a:latin typeface="Bahnschrift" pitchFamily="34" charset="0"/>
                </a:rPr>
                <a:t>2</a:t>
              </a:r>
              <a:endParaRPr lang="en-IN" sz="19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50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91319" y="321577"/>
            <a:ext cx="11232108" cy="5170646"/>
            <a:chOff x="752616" y="321578"/>
            <a:chExt cx="10657460" cy="5170646"/>
          </a:xfrm>
        </p:grpSpPr>
        <p:sp>
          <p:nvSpPr>
            <p:cNvPr id="2" name="Rectangle 1"/>
            <p:cNvSpPr>
              <a:spLocks noChangeArrowheads="1"/>
            </p:cNvSpPr>
            <p:nvPr/>
          </p:nvSpPr>
          <p:spPr bwMode="auto">
            <a:xfrm>
              <a:off x="752616" y="321578"/>
              <a:ext cx="10657460" cy="517064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  <a:effectLst/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graph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StateGraph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(MessagesState)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tool_node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4EC9B0"/>
                  </a:solidFill>
                  <a:effectLst/>
                  <a:cs typeface="Arial" pitchFamily="34" charset="0"/>
                </a:rPr>
                <a:t>ToolNode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(tools)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graph.add_node(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"agent"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call_model)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graph.add_node(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"tools"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tool_node)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graph.add_edge(START,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"agent"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graph.add_conditional_edges(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"agent"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should_continue)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graph.add_edge(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"tools"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"agent"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D4D4D4"/>
                </a:solidFill>
                <a:cs typeface="Arial" pitchFamily="34" charset="0"/>
              </a:endParaRP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solidFill>
                    <a:schemeClr val="accent5"/>
                  </a:solidFill>
                  <a:cs typeface="Arial" pitchFamily="34" charset="0"/>
                </a:rPr>
                <a:t>app</a:t>
              </a:r>
              <a:r>
                <a:rPr lang="en-US" sz="2000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sz="2000" dirty="0" smtClean="0">
                  <a:solidFill>
                    <a:schemeClr val="accent5"/>
                  </a:solidFill>
                  <a:cs typeface="Arial" pitchFamily="34" charset="0"/>
                </a:rPr>
                <a:t>graph</a:t>
              </a:r>
              <a:r>
                <a:rPr lang="en-US" sz="2000" dirty="0" smtClean="0">
                  <a:solidFill>
                    <a:schemeClr val="accent4"/>
                  </a:solidFill>
                  <a:cs typeface="Arial" pitchFamily="34" charset="0"/>
                </a:rPr>
                <a:t>.compile(</a:t>
              </a:r>
              <a:r>
                <a:rPr lang="en-US" sz="2000" dirty="0" smtClean="0">
                  <a:solidFill>
                    <a:schemeClr val="accent5"/>
                  </a:solidFill>
                  <a:cs typeface="Arial" pitchFamily="34" charset="0"/>
                </a:rPr>
                <a:t>checkpointer</a:t>
              </a:r>
              <a:r>
                <a:rPr lang="en-US" sz="2000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sz="2000" dirty="0" smtClean="0">
                  <a:solidFill>
                    <a:srgbClr val="00CC99"/>
                  </a:solidFill>
                  <a:cs typeface="Arial" pitchFamily="34" charset="0"/>
                </a:rPr>
                <a:t>MemorySaver</a:t>
              </a:r>
              <a:r>
                <a:rPr lang="en-US" sz="2000" dirty="0" smtClean="0">
                  <a:solidFill>
                    <a:schemeClr val="accent4"/>
                  </a:solidFill>
                  <a:cs typeface="Arial" pitchFamily="34" charset="0"/>
                </a:rPr>
                <a:t>())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 </a:t>
              </a:r>
              <a:r>
                <a:rPr kumimoji="0" lang="en-US" b="0" i="1" u="none" strike="noStrike" cap="none" normalizeH="0" baseline="0" dirty="0" smtClean="0">
                  <a:ln>
                    <a:noFill/>
                  </a:ln>
                  <a:solidFill>
                    <a:srgbClr val="6A9955"/>
                  </a:solidFill>
                  <a:effectLst/>
                  <a:cs typeface="Arial" pitchFamily="34" charset="0"/>
                </a:rPr>
                <a:t># Image(runnable.get_graph().draw_mermaid_png())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b="0" i="1" u="none" strike="noStrike" cap="none" normalizeH="0" baseline="0" dirty="0" smtClean="0">
                <a:ln>
                  <a:noFill/>
                </a:ln>
                <a:solidFill>
                  <a:srgbClr val="6A9955"/>
                </a:solidFill>
                <a:effectLst/>
                <a:cs typeface="Arial" pitchFamily="34" charset="0"/>
              </a:endParaRP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res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5"/>
                  </a:solidFill>
                  <a:effectLst/>
                  <a:cs typeface="Arial" pitchFamily="34" charset="0"/>
                </a:rPr>
                <a:t>app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.invoke({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"messages"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: [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5"/>
                  </a:solidFill>
                  <a:effectLst/>
                  <a:cs typeface="Arial" pitchFamily="34" charset="0"/>
                </a:rPr>
                <a:t>HumanMessage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(content=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"what is the current temperature in china?"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)] }) 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 res=  </a:t>
              </a:r>
              <a:r>
                <a:rPr lang="en-US" dirty="0" smtClean="0">
                  <a:solidFill>
                    <a:schemeClr val="accent5"/>
                  </a:solidFill>
                  <a:cs typeface="Arial" pitchFamily="34" charset="0"/>
                </a:rPr>
                <a:t>app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.invoke({ </a:t>
              </a:r>
              <a:r>
                <a:rPr lang="en-US" dirty="0" smtClean="0">
                  <a:solidFill>
                    <a:srgbClr val="FF6743"/>
                  </a:solidFill>
                  <a:cs typeface="Arial" pitchFamily="34" charset="0"/>
                </a:rPr>
                <a:t>"</a:t>
              </a:r>
              <a:r>
                <a:rPr lang="en-US" dirty="0">
                  <a:solidFill>
                    <a:srgbClr val="FF6743"/>
                  </a:solidFill>
                  <a:cs typeface="Arial" pitchFamily="34" charset="0"/>
                </a:rPr>
                <a:t>messages</a:t>
              </a:r>
              <a:r>
                <a:rPr lang="en-US" dirty="0" smtClean="0">
                  <a:solidFill>
                    <a:srgbClr val="FF6743"/>
                  </a:solidFill>
                  <a:cs typeface="Arial" pitchFamily="34" charset="0"/>
                </a:rPr>
                <a:t>"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: [ </a:t>
              </a:r>
              <a:r>
                <a:rPr lang="en-US" dirty="0" smtClean="0">
                  <a:solidFill>
                    <a:schemeClr val="accent5"/>
                  </a:solidFill>
                  <a:cs typeface="Arial" pitchFamily="34" charset="0"/>
                </a:rPr>
                <a:t>HumanMessage(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content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cs typeface="Arial" pitchFamily="34" charset="0"/>
                </a:rPr>
                <a:t>"what is the current temperature in india?"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)]}</a:t>
              </a: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                    ,</a:t>
              </a:r>
              <a:r>
                <a:rPr lang="en-US" sz="2000" dirty="0">
                  <a:solidFill>
                    <a:srgbClr val="D4D4D4"/>
                  </a:solidFill>
                  <a:cs typeface="Arial" pitchFamily="34" charset="0"/>
                </a:rPr>
                <a:t>config</a:t>
              </a:r>
              <a:r>
                <a:rPr lang="en-US" sz="2800" dirty="0">
                  <a:solidFill>
                    <a:srgbClr val="D4D4D4"/>
                  </a:solidFill>
                  <a:cs typeface="Arial" pitchFamily="34" charset="0"/>
                </a:rPr>
                <a:t>={"configurable":{"thread_id":"1"}})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lvl="1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endParaRPr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10203691" y="552409"/>
              <a:ext cx="457200" cy="457200"/>
            </a:xfrm>
            <a:prstGeom prst="flowChartConnector">
              <a:avLst/>
            </a:prstGeom>
            <a:solidFill>
              <a:schemeClr val="accent5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" pitchFamily="34" charset="0"/>
                </a:rPr>
                <a:t>3</a:t>
              </a:r>
              <a:endParaRPr lang="en-IN" sz="2000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8261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18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40796</TotalTime>
  <Words>1116</Words>
  <Application>Microsoft Office PowerPoint</Application>
  <PresentationFormat>Custom</PresentationFormat>
  <Paragraphs>192</Paragraphs>
  <Slides>18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1770</cp:revision>
  <dcterms:created xsi:type="dcterms:W3CDTF">2024-01-26T15:11:46Z</dcterms:created>
  <dcterms:modified xsi:type="dcterms:W3CDTF">2026-03-19T19:51:02Z</dcterms:modified>
</cp:coreProperties>
</file>