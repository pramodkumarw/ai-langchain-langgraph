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5" r:id="rId2"/>
    <p:sldId id="403" r:id="rId3"/>
    <p:sldId id="404" r:id="rId4"/>
    <p:sldId id="405" r:id="rId5"/>
    <p:sldId id="406" r:id="rId6"/>
    <p:sldId id="407" r:id="rId7"/>
    <p:sldId id="408" r:id="rId8"/>
    <p:sldId id="410" r:id="rId9"/>
    <p:sldId id="411" r:id="rId10"/>
    <p:sldId id="40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</p14:sldIdLst>
        </p14:section>
        <p14:section name="Rag" id="{4964DB67-648E-47D0-8BF9-A5CA7C73EDBF}">
          <p14:sldIdLst>
            <p14:sldId id="403"/>
            <p14:sldId id="404"/>
            <p14:sldId id="405"/>
            <p14:sldId id="406"/>
            <p14:sldId id="407"/>
            <p14:sldId id="408"/>
          </p14:sldIdLst>
        </p14:section>
        <p14:section name="Agentic Rag" id="{8AB7AD79-3507-4C51-A16E-FFFB194BB8F8}">
          <p14:sldIdLst>
            <p14:sldId id="410"/>
            <p14:sldId id="411"/>
            <p14:sldId id="409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FF0066"/>
    <a:srgbClr val="15C2FF"/>
    <a:srgbClr val="00D05E"/>
    <a:srgbClr val="FF4B21"/>
    <a:srgbClr val="FF6743"/>
    <a:srgbClr val="CC3300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77" d="100"/>
          <a:sy n="77" d="100"/>
        </p:scale>
        <p:origin x="-240" y="-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27-02-2026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401288" y="103948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Rag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407439" cy="116638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09077" y="659589"/>
            <a:ext cx="126509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600" b="1" dirty="0" smtClean="0">
                <a:latin typeface="Segoe UI Black" pitchFamily="34" charset="0"/>
                <a:ea typeface="Segoe UI Black" pitchFamily="34" charset="0"/>
              </a:rPr>
              <a:t>Langgraph</a:t>
            </a:r>
            <a:endParaRPr lang="en-IN" sz="1600" dirty="0">
              <a:latin typeface="Arial Rounded MT Bold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507757" y="1746132"/>
            <a:ext cx="3105185" cy="1827507"/>
            <a:chOff x="1504875" y="2190509"/>
            <a:chExt cx="2477612" cy="1827507"/>
          </a:xfrm>
        </p:grpSpPr>
        <p:grpSp>
          <p:nvGrpSpPr>
            <p:cNvPr id="16" name="Group 15"/>
            <p:cNvGrpSpPr/>
            <p:nvPr/>
          </p:nvGrpSpPr>
          <p:grpSpPr>
            <a:xfrm>
              <a:off x="1506797" y="2190509"/>
              <a:ext cx="2475690" cy="915184"/>
              <a:chOff x="1506797" y="2190509"/>
              <a:chExt cx="2475690" cy="9151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grpSp>
          <p:nvGrpSpPr>
            <p:cNvPr id="17" name="Group 16"/>
            <p:cNvGrpSpPr/>
            <p:nvPr/>
          </p:nvGrpSpPr>
          <p:grpSpPr>
            <a:xfrm>
              <a:off x="1504875" y="3102832"/>
              <a:ext cx="2475690" cy="915184"/>
              <a:chOff x="1506797" y="2190509"/>
              <a:chExt cx="2475690" cy="915184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21" name="TextBox 20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48672" y="178130"/>
            <a:ext cx="3223577" cy="338451"/>
            <a:chOff x="248672" y="195940"/>
            <a:chExt cx="3223577" cy="338451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248672" y="528455"/>
              <a:ext cx="3223577" cy="59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391175" y="195940"/>
              <a:ext cx="2784511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400" dirty="0" smtClean="0">
                  <a:latin typeface="Bahnschrift" pitchFamily="34" charset="0"/>
                </a:rPr>
                <a:t>Retrieval Augmented Generation</a:t>
              </a:r>
              <a:endParaRPr lang="en-IN" sz="1400" dirty="0">
                <a:latin typeface="Bahnschrift" pitchFamily="34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1132702" y="4115995"/>
            <a:ext cx="10717427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Title:</a:t>
            </a:r>
            <a:r>
              <a:rPr lang="en-US" sz="1600" dirty="0"/>
              <a:t> </a:t>
            </a:r>
            <a:r>
              <a:rPr lang="en-US" sz="1600" i="1" dirty="0"/>
              <a:t>Introduction to RAG – Retrieval Augmented Generation</a:t>
            </a:r>
            <a:endParaRPr lang="en-US" sz="1600" dirty="0"/>
          </a:p>
          <a:p>
            <a:r>
              <a:rPr lang="en-US" sz="1600" b="1" dirty="0"/>
              <a:t>Main Idea:</a:t>
            </a:r>
            <a:r>
              <a:rPr lang="en-US" sz="1600" dirty="0"/>
              <a:t> RAG enhances LLMs by integrating relevant data not included in the model’s training.</a:t>
            </a:r>
          </a:p>
          <a:p>
            <a:r>
              <a:rPr lang="en-US" sz="1600" b="1" dirty="0"/>
              <a:t>Additional Note:</a:t>
            </a:r>
            <a:r>
              <a:rPr lang="en-US" sz="1600" dirty="0"/>
              <a:t> You can learn that in-depth in my </a:t>
            </a:r>
            <a:r>
              <a:rPr lang="en-US" sz="1600" i="1" dirty="0"/>
              <a:t>“LangChain in Action”</a:t>
            </a:r>
            <a:r>
              <a:rPr lang="en-US" sz="1600" dirty="0"/>
              <a:t> or </a:t>
            </a:r>
            <a:r>
              <a:rPr lang="en-US" sz="1600" i="1" dirty="0"/>
              <a:t>“Advanced RAG”</a:t>
            </a:r>
            <a:r>
              <a:rPr lang="en-US" sz="1600" dirty="0"/>
              <a:t> courses 🙂</a:t>
            </a:r>
          </a:p>
          <a:p>
            <a:r>
              <a:rPr lang="en-US" sz="1600" b="1" dirty="0"/>
              <a:t>Step 1 in the RAG Process:</a:t>
            </a:r>
            <a:endParaRPr lang="en-US" sz="1600" dirty="0"/>
          </a:p>
          <a:p>
            <a:r>
              <a:rPr lang="en-US" sz="1600" b="1" dirty="0"/>
              <a:t>Indexing/Ingestion:</a:t>
            </a:r>
            <a:r>
              <a:rPr lang="en-US" sz="1600" dirty="0"/>
              <a:t> Split data, create embeddings, and store them in a database.</a:t>
            </a:r>
            <a:endParaRPr lang="en-US" sz="1600" dirty="0">
              <a:effectLst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97" y="803318"/>
            <a:ext cx="6276975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49" y="98855"/>
            <a:ext cx="7934325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868449" y="4863932"/>
            <a:ext cx="105897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In the indexing stage, we load raw data and split it into smaller chunks.</a:t>
            </a:r>
          </a:p>
          <a:p>
            <a:r>
              <a:rPr lang="en-US" sz="1600" dirty="0"/>
              <a:t>These chunks are parsed through an embedding model to create vectors that represent the semantic </a:t>
            </a:r>
            <a:r>
              <a:rPr lang="en-US" sz="1600" dirty="0" smtClean="0"/>
              <a:t>meaning of </a:t>
            </a:r>
            <a:r>
              <a:rPr lang="en-US" sz="1600" dirty="0"/>
              <a:t>the chunk.</a:t>
            </a:r>
          </a:p>
          <a:p>
            <a:r>
              <a:rPr lang="en-US" sz="1600" dirty="0"/>
              <a:t>The embeddings along with the chunks are then stored into a vector database.</a:t>
            </a: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75" y="304286"/>
            <a:ext cx="5898466" cy="330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6975" y="3755074"/>
            <a:ext cx="110623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retrieval stage begins with a user question.</a:t>
            </a:r>
          </a:p>
          <a:p>
            <a:r>
              <a:rPr lang="en-US" sz="1600" dirty="0"/>
              <a:t>This question is embedded into a vector, which is then matched against the vector database to </a:t>
            </a:r>
            <a:r>
              <a:rPr lang="en-US" sz="1600" dirty="0" smtClean="0"/>
              <a:t>find the </a:t>
            </a:r>
            <a:r>
              <a:rPr lang="en-US" sz="1600" dirty="0"/>
              <a:t>most relevant chunks.</a:t>
            </a:r>
          </a:p>
          <a:p>
            <a:r>
              <a:rPr lang="en-US" sz="1600" dirty="0"/>
              <a:t>The retrieved chunks are combined with the original query of the user to form a prompt, which is </a:t>
            </a:r>
            <a:r>
              <a:rPr lang="en-US" sz="1600" dirty="0" smtClean="0"/>
              <a:t>then sent </a:t>
            </a:r>
            <a:r>
              <a:rPr lang="en-US" sz="1600" dirty="0"/>
              <a:t>to the language model.</a:t>
            </a:r>
          </a:p>
          <a:p>
            <a:r>
              <a:rPr lang="en-US" sz="1600" dirty="0"/>
              <a:t>The model processes all of this information and generates a well-informed human like response.</a:t>
            </a: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06627" y="110174"/>
            <a:ext cx="9971903" cy="6093976"/>
            <a:chOff x="506627" y="110174"/>
            <a:chExt cx="9971903" cy="6093976"/>
          </a:xfrm>
        </p:grpSpPr>
        <p:sp>
          <p:nvSpPr>
            <p:cNvPr id="2" name="Rectangle 1"/>
            <p:cNvSpPr>
              <a:spLocks noChangeArrowheads="1"/>
            </p:cNvSpPr>
            <p:nvPr/>
          </p:nvSpPr>
          <p:spPr bwMode="auto">
            <a:xfrm>
              <a:off x="506627" y="110174"/>
              <a:ext cx="9971903" cy="609397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os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dotenv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load_dotenv, find_dotenv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langchain_openai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AzureOpenAIEmbeddings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AzureChatOpenAI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b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langchain_chroma </a:t>
              </a:r>
              <a:r>
                <a:rPr kumimoji="0" lang="en-US" b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b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Chroma</a:t>
              </a:r>
              <a:r>
                <a:rPr kumimoji="0" lang="en-US" b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langchain_core.documents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Document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1500" dirty="0">
                <a:solidFill>
                  <a:srgbClr val="D4D4D4"/>
                </a:solidFill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load_dotenv(find_dotenv(), override=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True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ENDPOINT_URL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os.getenv(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"ENDPOINT_URL"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AZURE_OPENAI_API_KE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Y = os.getenv(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"AZURE_OPENAI_API_KEY"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api_version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"2025-01-01-preview"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EMBEDDING_ENDPOINT_UR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L = os.getenv(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"EMBEDDING_ENDPOINT_URL"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EMBEDDING_AZURE_OPENAI_API_KE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Y = os.getenv(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"EMBEDDING_AZURE_OPENAI_API_KEY"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llm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AzureChatOpenAI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(azure_endpoint=ENDPOINT_URL, api_key=AZURE_OPENAI_API_KEY, api_version=api_version)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embedding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AzureOpenAIEmbeddings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(azure_endpoint=EMBEDDING_ENDPOINT_URL,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api_key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=EMBEDDING_AZURE_OPENAI_API_KEY,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model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=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"text-embedding-ada-002"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1500" dirty="0">
                <a:solidFill>
                  <a:srgbClr val="D4D4D4"/>
                </a:solidFill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docs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[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Document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(page_content=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"thi is india"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metadata={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"source"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: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"a.txt"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}),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Document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(page_content=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"thi is japan"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metadata={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"source"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: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"b.txt"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}) ]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1500" dirty="0">
                <a:solidFill>
                  <a:srgbClr val="D4D4D4"/>
                </a:solidFill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vectorstore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Chroma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(embedding_function=embedding, collection_name=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"test_collection"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persist_directory=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"./chroma_db"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vectorstore.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cs typeface="Arial" pitchFamily="34" charset="0"/>
                </a:rPr>
                <a:t>add_documents(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docs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results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vectorstore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.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cs typeface="Arial" pitchFamily="34" charset="0"/>
                </a:rPr>
                <a:t>similarity_search(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"japan"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k=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B5CEA8"/>
                  </a:solidFill>
                  <a:effectLst/>
                  <a:cs typeface="Arial" pitchFamily="34" charset="0"/>
                </a:rPr>
                <a:t>6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results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vectorstore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.</a:t>
              </a: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cs typeface="Arial" pitchFamily="34" charset="0"/>
                </a:rPr>
                <a:t>as_retriever() 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8377880" y="5896290"/>
              <a:ext cx="2100649" cy="2965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smtClean="0">
                  <a:latin typeface="Bahnschrift SemiLight" pitchFamily="34" charset="0"/>
                </a:rPr>
                <a:t>Chroma Vectorstore</a:t>
              </a:r>
              <a:endParaRPr lang="en-IN" sz="1600" dirty="0">
                <a:latin typeface="Bahnschrift SemiLigh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32">
            <a:extLst>
              <a:ext uri="{FF2B5EF4-FFF2-40B4-BE49-F238E27FC236}">
                <a16:creationId xmlns:a16="http://schemas.microsoft.com/office/drawing/2014/main" xmlns="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31901" y="265307"/>
            <a:ext cx="9782801" cy="519366"/>
            <a:chOff x="1593436" y="286922"/>
            <a:chExt cx="9782801" cy="519366"/>
          </a:xfrm>
        </p:grpSpPr>
        <p:sp>
          <p:nvSpPr>
            <p:cNvPr id="35" name="Title 1">
              <a:extLst>
                <a:ext uri="{FF2B5EF4-FFF2-40B4-BE49-F238E27FC236}">
                  <a16:creationId xmlns:a16="http://schemas.microsoft.com/office/drawing/2014/main" xmlns="" id="{8E4945F9-351B-FE06-B4C4-5E27ED97FD2B}"/>
                </a:ext>
              </a:extLst>
            </p:cNvPr>
            <p:cNvSpPr txBox="1">
              <a:spLocks/>
            </p:cNvSpPr>
            <p:nvPr/>
          </p:nvSpPr>
          <p:spPr>
            <a:xfrm>
              <a:off x="1593436" y="286922"/>
              <a:ext cx="9782801" cy="51936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800" dirty="0" smtClean="0">
                  <a:solidFill>
                    <a:schemeClr val="accent1"/>
                  </a:solidFill>
                  <a:latin typeface="Arial Rounded MT Bold" pitchFamily="34" charset="0"/>
                </a:rPr>
                <a:t>Agentic </a:t>
              </a:r>
              <a:r>
                <a:rPr lang="en-US" sz="2800" dirty="0">
                  <a:solidFill>
                    <a:schemeClr val="accent1"/>
                  </a:solidFill>
                  <a:latin typeface="Arial Rounded MT Bold" pitchFamily="34" charset="0"/>
                </a:rPr>
                <a:t>Rag</a:t>
              </a:r>
              <a:endParaRPr lang="en-IN" sz="2800" dirty="0">
                <a:solidFill>
                  <a:schemeClr val="accent1"/>
                </a:solidFill>
                <a:latin typeface="Arial Rounded MT Bold" pitchFamily="34" charset="0"/>
              </a:endParaRPr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1607290" y="806288"/>
              <a:ext cx="277074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749523" y="1145808"/>
            <a:ext cx="8734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lgerian" pitchFamily="82" charset="0"/>
              </a:rPr>
              <a:t>Rag</a:t>
            </a:r>
            <a:r>
              <a:rPr lang="en-US" dirty="0" smtClean="0"/>
              <a:t>  - Hi I am rag ,I retrieve information fro external sources and deliver it to AI for Answer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736" y="1791471"/>
            <a:ext cx="6665431" cy="2450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4866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509624" y="260735"/>
            <a:ext cx="972589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Arial Black" pitchFamily="34" charset="0"/>
              </a:rPr>
              <a:t>Argentic Rag </a:t>
            </a:r>
          </a:p>
          <a:p>
            <a:r>
              <a:rPr lang="en-US" dirty="0"/>
              <a:t>It</a:t>
            </a:r>
            <a:r>
              <a:rPr lang="en-US" sz="3200" dirty="0" smtClean="0">
                <a:latin typeface="Arial Black" pitchFamily="34" charset="0"/>
              </a:rPr>
              <a:t> </a:t>
            </a:r>
            <a:r>
              <a:rPr lang="en-US" dirty="0" smtClean="0"/>
              <a:t>incorporates AI agents </a:t>
            </a:r>
            <a:r>
              <a:rPr lang="en-US" dirty="0"/>
              <a:t>into the RAG pipeline to orchestrate its components and perform additional actions beyond simple information retrieval and generation to overcome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47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38560</TotalTime>
  <Words>453</Words>
  <Application>Microsoft Office PowerPoint</Application>
  <PresentationFormat>Custom</PresentationFormat>
  <Paragraphs>67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1674</cp:revision>
  <dcterms:created xsi:type="dcterms:W3CDTF">2024-01-26T15:11:46Z</dcterms:created>
  <dcterms:modified xsi:type="dcterms:W3CDTF">2026-02-26T18:44:11Z</dcterms:modified>
</cp:coreProperties>
</file>