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85" r:id="rId2"/>
    <p:sldId id="403" r:id="rId3"/>
    <p:sldId id="404" r:id="rId4"/>
    <p:sldId id="405" r:id="rId5"/>
    <p:sldId id="406" r:id="rId6"/>
    <p:sldId id="407" r:id="rId7"/>
    <p:sldId id="412" r:id="rId8"/>
    <p:sldId id="413" r:id="rId9"/>
    <p:sldId id="417" r:id="rId10"/>
    <p:sldId id="426" r:id="rId11"/>
    <p:sldId id="424" r:id="rId12"/>
    <p:sldId id="41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53F305DE-E919-46C9-8C7C-4B59AF1E2526}">
          <p14:sldIdLst>
            <p14:sldId id="285"/>
          </p14:sldIdLst>
        </p14:section>
        <p14:section name="Basics-Langgraph" id="{4964DB67-648E-47D0-8BF9-A5CA7C73EDBF}">
          <p14:sldIdLst>
            <p14:sldId id="403"/>
            <p14:sldId id="404"/>
            <p14:sldId id="405"/>
            <p14:sldId id="406"/>
            <p14:sldId id="407"/>
          </p14:sldIdLst>
        </p14:section>
        <p14:section name="Tool Calling" id="{002B278B-7716-41FE-9D4B-96FBADB53827}">
          <p14:sldIdLst>
            <p14:sldId id="412"/>
            <p14:sldId id="413"/>
            <p14:sldId id="417"/>
            <p14:sldId id="426"/>
            <p14:sldId id="424"/>
            <p14:sldId id="419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743"/>
    <a:srgbClr val="00CC99"/>
    <a:srgbClr val="00D05E"/>
    <a:srgbClr val="15C2FF"/>
    <a:srgbClr val="FFCC29"/>
    <a:srgbClr val="FF4B21"/>
    <a:srgbClr val="FF0066"/>
    <a:srgbClr val="CC3300"/>
    <a:srgbClr val="F5E47F"/>
    <a:srgbClr val="F2D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89" autoAdjust="0"/>
    <p:restoredTop sz="98577" autoAdjust="0"/>
  </p:normalViewPr>
  <p:slideViewPr>
    <p:cSldViewPr snapToGrid="0">
      <p:cViewPr>
        <p:scale>
          <a:sx n="70" d="100"/>
          <a:sy n="70" d="100"/>
        </p:scale>
        <p:origin x="-522" y="-1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90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5821509" y="1224076"/>
            <a:ext cx="13648" cy="532227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126638" y="1038851"/>
            <a:ext cx="1093640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143;p1">
            <a:extLst>
              <a:ext uri="{FF2B5EF4-FFF2-40B4-BE49-F238E27FC236}">
                <a16:creationId xmlns:a16="http://schemas.microsoft.com/office/drawing/2014/main" xmlns="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1401287" y="193757"/>
            <a:ext cx="4951915" cy="1113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4400" b="1" dirty="0" smtClean="0">
                <a:solidFill>
                  <a:schemeClr val="tx1"/>
                </a:solidFill>
                <a:latin typeface="Segoe UI Black" pitchFamily="34" charset="0"/>
                <a:ea typeface="Segoe UI Black" pitchFamily="34" charset="0"/>
              </a:rPr>
              <a:t>Langgraph</a:t>
            </a:r>
          </a:p>
          <a:p>
            <a:endParaRPr lang="it-IT" sz="4000" b="1" dirty="0">
              <a:solidFill>
                <a:schemeClr val="tx1"/>
              </a:solidFill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50" y="1"/>
            <a:ext cx="1253546" cy="10388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0480" y="68926"/>
            <a:ext cx="2422566" cy="938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809077" y="659589"/>
            <a:ext cx="120417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1600" b="1" dirty="0">
                <a:latin typeface="Segoe UI Black" pitchFamily="34" charset="0"/>
                <a:ea typeface="Segoe UI Black" pitchFamily="34" charset="0"/>
              </a:rPr>
              <a:t>Langchain</a:t>
            </a:r>
            <a:endParaRPr lang="en-IN" sz="1600" dirty="0">
              <a:latin typeface="Arial Rounded MT Bold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507757" y="1746132"/>
            <a:ext cx="3105185" cy="1827507"/>
            <a:chOff x="1504875" y="2190509"/>
            <a:chExt cx="2477612" cy="1827507"/>
          </a:xfrm>
        </p:grpSpPr>
        <p:grpSp>
          <p:nvGrpSpPr>
            <p:cNvPr id="2" name="Group 1"/>
            <p:cNvGrpSpPr/>
            <p:nvPr/>
          </p:nvGrpSpPr>
          <p:grpSpPr>
            <a:xfrm>
              <a:off x="1506797" y="2190509"/>
              <a:ext cx="2475690" cy="1130627"/>
              <a:chOff x="1506797" y="2190509"/>
              <a:chExt cx="2475690" cy="1130627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1506797" y="2190509"/>
                <a:ext cx="2474729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rPr>
                  <a:t>Graph,Nodes,Edges,State</a:t>
                </a:r>
                <a:endParaRPr lang="en-IN" sz="1400" dirty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15" name="Group 14"/>
              <p:cNvGrpSpPr/>
              <p:nvPr/>
            </p:nvGrpSpPr>
            <p:grpSpPr>
              <a:xfrm>
                <a:off x="1507758" y="2492039"/>
                <a:ext cx="2474729" cy="829097"/>
                <a:chOff x="1522476" y="1942475"/>
                <a:chExt cx="2474729" cy="829097"/>
              </a:xfrm>
            </p:grpSpPr>
            <p:sp>
              <p:nvSpPr>
                <p:cNvPr id="16" name="TextBox 15"/>
                <p:cNvSpPr txBox="1"/>
                <p:nvPr/>
              </p:nvSpPr>
              <p:spPr>
                <a:xfrm>
                  <a:off x="1522476" y="1942475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 smtClean="0">
                      <a:latin typeface="Bahnschrift Light" pitchFamily="34" charset="0"/>
                      <a:ea typeface="Arial Unicode MS" pitchFamily="34" charset="-128"/>
                      <a:cs typeface="Arial Unicode MS" pitchFamily="34" charset="-128"/>
                    </a:rPr>
                    <a:t>Reducer</a:t>
                  </a:r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1522476" y="2248352"/>
                  <a:ext cx="2474729" cy="52322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 smtClean="0">
                      <a:latin typeface="Bahnschrift Light" pitchFamily="34" charset="0"/>
                      <a:ea typeface="Arial Unicode MS" pitchFamily="34" charset="-128"/>
                      <a:cs typeface="Arial Unicode MS" pitchFamily="34" charset="-128"/>
                    </a:rPr>
                    <a:t>Tool Calling &gt; Langchain &gt; Langgraph</a:t>
                  </a:r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</p:grpSp>
        </p:grpSp>
        <p:grpSp>
          <p:nvGrpSpPr>
            <p:cNvPr id="20" name="Group 19"/>
            <p:cNvGrpSpPr/>
            <p:nvPr/>
          </p:nvGrpSpPr>
          <p:grpSpPr>
            <a:xfrm>
              <a:off x="1504875" y="3102832"/>
              <a:ext cx="2475690" cy="915184"/>
              <a:chOff x="1506797" y="2190509"/>
              <a:chExt cx="2475690" cy="915184"/>
            </a:xfrm>
          </p:grpSpPr>
          <p:sp>
            <p:nvSpPr>
              <p:cNvPr id="21" name="TextBox 20"/>
              <p:cNvSpPr txBox="1"/>
              <p:nvPr/>
            </p:nvSpPr>
            <p:spPr>
              <a:xfrm>
                <a:off x="1506797" y="2190509"/>
                <a:ext cx="2474729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rPr>
                  <a:t>Checkpoint</a:t>
                </a:r>
                <a:endParaRPr lang="en-IN" sz="1400" dirty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22" name="Group 21"/>
              <p:cNvGrpSpPr/>
              <p:nvPr/>
            </p:nvGrpSpPr>
            <p:grpSpPr>
              <a:xfrm>
                <a:off x="1507758" y="2492039"/>
                <a:ext cx="2474729" cy="613654"/>
                <a:chOff x="1522476" y="1942475"/>
                <a:chExt cx="2474729" cy="613654"/>
              </a:xfrm>
            </p:grpSpPr>
            <p:sp>
              <p:nvSpPr>
                <p:cNvPr id="28" name="TextBox 27"/>
                <p:cNvSpPr txBox="1"/>
                <p:nvPr/>
              </p:nvSpPr>
              <p:spPr>
                <a:xfrm>
                  <a:off x="1522476" y="1942475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1522476" y="2248352"/>
                  <a:ext cx="2474729" cy="30777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IN" sz="1400" dirty="0">
                    <a:latin typeface="Bahnschrift Light" pitchFamily="34" charset="0"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0458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3254" y="-70422"/>
            <a:ext cx="1086923" cy="90076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248672" y="344387"/>
            <a:ext cx="6164485" cy="332515"/>
            <a:chOff x="248672" y="362197"/>
            <a:chExt cx="6164485" cy="332515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248672" y="688776"/>
              <a:ext cx="6164485" cy="59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/>
            <p:cNvSpPr/>
            <p:nvPr/>
          </p:nvSpPr>
          <p:spPr>
            <a:xfrm>
              <a:off x="391175" y="362197"/>
              <a:ext cx="5564781" cy="33251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600" b="1" dirty="0" smtClean="0"/>
            </a:p>
            <a:p>
              <a:r>
                <a:rPr lang="en-US" sz="1600" b="1" dirty="0" smtClean="0"/>
                <a:t>LangGraph </a:t>
              </a:r>
              <a:r>
                <a:rPr lang="en-US" sz="1600" b="1" dirty="0"/>
                <a:t>– Workflows as State Machines</a:t>
              </a:r>
            </a:p>
            <a:p>
              <a:endParaRPr lang="en-IN" sz="1600" dirty="0">
                <a:latin typeface="Bahnschrift" pitchFamily="34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1212501" y="1505025"/>
            <a:ext cx="8168616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Bahnschrift" pitchFamily="34" charset="0"/>
              </a:rPr>
              <a:t>Nodes</a:t>
            </a:r>
            <a:endParaRPr lang="en-US" sz="1600" dirty="0">
              <a:latin typeface="Bahnschrift" pitchFamily="34" charset="0"/>
            </a:endParaRPr>
          </a:p>
          <a:p>
            <a:pPr lvl="1"/>
            <a:r>
              <a:rPr lang="en-US" sz="1600" dirty="0"/>
              <a:t>Represent a discrete step in your workflow (e.g., a simple function).</a:t>
            </a:r>
          </a:p>
          <a:p>
            <a:pPr lvl="1"/>
            <a:r>
              <a:rPr lang="en-US" sz="1600" dirty="0"/>
              <a:t>Follow the Single Responsibility Principle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r>
              <a:rPr lang="en-US" sz="1600" dirty="0">
                <a:latin typeface="Bahnschrift" pitchFamily="34" charset="0"/>
              </a:rPr>
              <a:t>Edges</a:t>
            </a:r>
          </a:p>
          <a:p>
            <a:pPr lvl="1"/>
            <a:r>
              <a:rPr lang="en-US" sz="1600" dirty="0"/>
              <a:t>Define the order of execution.</a:t>
            </a:r>
          </a:p>
          <a:p>
            <a:pPr lvl="1"/>
            <a:r>
              <a:rPr lang="en-US" sz="1600" dirty="0"/>
              <a:t>Connect nodes together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r>
              <a:rPr lang="en-US" sz="1600" dirty="0">
                <a:latin typeface="Bahnschrift" pitchFamily="34" charset="0"/>
              </a:rPr>
              <a:t>State</a:t>
            </a:r>
          </a:p>
          <a:p>
            <a:pPr lvl="1"/>
            <a:r>
              <a:rPr lang="en-US" sz="1600" dirty="0"/>
              <a:t>Carries data through nodes.</a:t>
            </a:r>
          </a:p>
          <a:p>
            <a:pPr lvl="1"/>
            <a:r>
              <a:rPr lang="en-US" sz="1600" dirty="0"/>
              <a:t>Nodes read from and update the shared state.</a:t>
            </a:r>
            <a:endParaRPr lang="en-US" sz="1600" dirty="0"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96306" y="830343"/>
            <a:ext cx="43749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Bahnschrift" pitchFamily="34" charset="0"/>
              </a:rPr>
              <a:t>Components of a State Machine in LangGraph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586" y="516581"/>
            <a:ext cx="995250" cy="2932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2711" y="1668163"/>
            <a:ext cx="1005570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Bahnschrift" pitchFamily="34" charset="0"/>
              </a:rPr>
              <a:t>Clarity</a:t>
            </a:r>
            <a:r>
              <a:rPr lang="en-US" sz="1600" dirty="0" smtClean="0">
                <a:latin typeface="Bahnschrift" pitchFamily="34" charset="0"/>
              </a:rPr>
              <a:t> : </a:t>
            </a:r>
            <a:r>
              <a:rPr lang="en-US" sz="1600" dirty="0" smtClean="0"/>
              <a:t>Nodes </a:t>
            </a:r>
            <a:r>
              <a:rPr lang="en-US" sz="1600" dirty="0"/>
              <a:t>and transitions make workflows easier to understand and adapt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b="1" dirty="0">
                <a:latin typeface="Bahnschrift" pitchFamily="34" charset="0"/>
              </a:rPr>
              <a:t>Explicit </a:t>
            </a:r>
            <a:r>
              <a:rPr lang="en-US" sz="1600" b="1" dirty="0" smtClean="0">
                <a:latin typeface="Bahnschrift" pitchFamily="34" charset="0"/>
              </a:rPr>
              <a:t>Transitions </a:t>
            </a:r>
            <a:r>
              <a:rPr lang="en-US" sz="1600" dirty="0" smtClean="0">
                <a:latin typeface="Bahnschrift" pitchFamily="34" charset="0"/>
              </a:rPr>
              <a:t>: </a:t>
            </a:r>
            <a:r>
              <a:rPr lang="en-US" sz="1600" dirty="0" smtClean="0"/>
              <a:t>Edges </a:t>
            </a:r>
            <a:r>
              <a:rPr lang="en-US" sz="1600" dirty="0"/>
              <a:t>define clear data paths, avoiding hidden chains or nested calls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b="1" dirty="0">
                <a:latin typeface="Bahnschrift" pitchFamily="34" charset="0"/>
              </a:rPr>
              <a:t>Flexibility</a:t>
            </a:r>
            <a:r>
              <a:rPr lang="en-US" sz="1600" dirty="0">
                <a:latin typeface="Bahnschrift" pitchFamily="34" charset="0"/>
              </a:rPr>
              <a:t> : </a:t>
            </a:r>
            <a:r>
              <a:rPr lang="en-US" sz="1600" dirty="0" smtClean="0"/>
              <a:t>Nodes </a:t>
            </a:r>
            <a:r>
              <a:rPr lang="en-US" sz="1600" dirty="0"/>
              <a:t>and edges can be rearranged without disrupting the workflow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b="1" dirty="0">
                <a:latin typeface="Bahnschrift" pitchFamily="34" charset="0"/>
              </a:rPr>
              <a:t>Avoiding Complexity </a:t>
            </a:r>
            <a:r>
              <a:rPr lang="en-US" sz="1600" dirty="0">
                <a:latin typeface="Bahnschrift" pitchFamily="34" charset="0"/>
              </a:rPr>
              <a:t>: </a:t>
            </a:r>
            <a:r>
              <a:rPr lang="en-US" sz="1600" dirty="0" smtClean="0"/>
              <a:t>Prevents </a:t>
            </a:r>
            <a:r>
              <a:rPr lang="en-US" sz="1600" dirty="0"/>
              <a:t>the pitfalls of monolithic classes and convoluted chains.</a:t>
            </a:r>
          </a:p>
          <a:p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403653" y="444036"/>
            <a:ext cx="85302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Bahnschrift" pitchFamily="34" charset="0"/>
              </a:rPr>
              <a:t>Why graphs or state machines are the best approach for LLM-based workflows:</a:t>
            </a:r>
          </a:p>
        </p:txBody>
      </p:sp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" name="Group 20"/>
          <p:cNvGrpSpPr/>
          <p:nvPr/>
        </p:nvGrpSpPr>
        <p:grpSpPr>
          <a:xfrm>
            <a:off x="1915299" y="1099751"/>
            <a:ext cx="6845642" cy="3886445"/>
            <a:chOff x="4423720" y="1099751"/>
            <a:chExt cx="6845642" cy="3886445"/>
          </a:xfrm>
        </p:grpSpPr>
        <p:sp>
          <p:nvSpPr>
            <p:cNvPr id="8" name="Rounded Rectangle 7"/>
            <p:cNvSpPr/>
            <p:nvPr/>
          </p:nvSpPr>
          <p:spPr>
            <a:xfrm>
              <a:off x="4436076" y="1099751"/>
              <a:ext cx="1828800" cy="790148"/>
            </a:xfrm>
            <a:prstGeom prst="round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ahnschrift" pitchFamily="34" charset="0"/>
                </a:rPr>
                <a:t>Graph</a:t>
              </a:r>
              <a:endParaRPr lang="en-IN" dirty="0">
                <a:latin typeface="Bahnschrift" pitchFamily="34" charset="0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423720" y="2095160"/>
              <a:ext cx="1828800" cy="790148"/>
            </a:xfrm>
            <a:prstGeom prst="round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ahnschrift" pitchFamily="34" charset="0"/>
                </a:rPr>
                <a:t>State</a:t>
              </a:r>
              <a:endParaRPr lang="en-IN" dirty="0">
                <a:latin typeface="Bahnschrift" pitchFamily="34" charset="0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423720" y="3180984"/>
              <a:ext cx="1828800" cy="790148"/>
            </a:xfrm>
            <a:prstGeom prst="round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ahnschrift" pitchFamily="34" charset="0"/>
                </a:rPr>
                <a:t>Nodes</a:t>
              </a:r>
              <a:endParaRPr lang="en-IN" dirty="0">
                <a:latin typeface="Bahnschrift" pitchFamily="34" charset="0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423720" y="4196048"/>
              <a:ext cx="1828800" cy="790148"/>
            </a:xfrm>
            <a:prstGeom prst="round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ahnschrift" pitchFamily="34" charset="0"/>
                </a:rPr>
                <a:t>Edges</a:t>
              </a:r>
              <a:endParaRPr lang="en-IN" dirty="0">
                <a:latin typeface="Bahnschrift" pitchFamily="34" charset="0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811922" y="1099751"/>
              <a:ext cx="3457440" cy="531169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 smtClean="0"/>
            </a:p>
            <a:p>
              <a:pPr algn="ctr"/>
              <a:r>
                <a:rPr lang="en-US" sz="1600" dirty="0" smtClean="0"/>
                <a:t>The </a:t>
              </a:r>
              <a:r>
                <a:rPr lang="en-US" sz="1600" dirty="0"/>
                <a:t>Complete workflow structure</a:t>
              </a:r>
              <a:endParaRPr lang="en-IN" sz="1600" dirty="0"/>
            </a:p>
            <a:p>
              <a:pPr algn="ctr"/>
              <a:endParaRPr lang="en-IN" dirty="0">
                <a:latin typeface="Bahnschrift" pitchFamily="34" charset="0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025583" y="4353595"/>
              <a:ext cx="3243779" cy="50261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600" dirty="0" smtClean="0"/>
            </a:p>
            <a:p>
              <a:r>
                <a:rPr lang="en-US" sz="1600" dirty="0" smtClean="0"/>
                <a:t>Connection </a:t>
              </a:r>
              <a:r>
                <a:rPr lang="en-US" sz="1600" dirty="0"/>
                <a:t>between nodes</a:t>
              </a:r>
              <a:endParaRPr lang="en-IN" sz="1600" dirty="0"/>
            </a:p>
            <a:p>
              <a:pPr algn="ctr"/>
              <a:endParaRPr lang="en-IN" dirty="0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001184" y="3270373"/>
              <a:ext cx="3268178" cy="535508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600" dirty="0" smtClean="0"/>
            </a:p>
            <a:p>
              <a:r>
                <a:rPr lang="en-US" sz="1600" dirty="0" smtClean="0"/>
                <a:t>Steps </a:t>
              </a:r>
              <a:r>
                <a:rPr lang="en-US" sz="1600" dirty="0"/>
                <a:t>that modify state</a:t>
              </a:r>
              <a:endParaRPr lang="en-IN" sz="1600" dirty="0"/>
            </a:p>
            <a:p>
              <a:endParaRPr lang="en-IN" dirty="0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961661" y="2255112"/>
              <a:ext cx="3307701" cy="50731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 smtClean="0"/>
            </a:p>
            <a:p>
              <a:pPr algn="ctr"/>
              <a:r>
                <a:rPr lang="en-US" sz="1600" dirty="0" smtClean="0"/>
                <a:t>Data </a:t>
              </a:r>
              <a:r>
                <a:rPr lang="en-US" sz="1600" dirty="0"/>
                <a:t>Shared across the workflow</a:t>
              </a:r>
              <a:endParaRPr lang="en-IN" sz="1600" dirty="0"/>
            </a:p>
            <a:p>
              <a:pPr algn="ctr"/>
              <a:endParaRPr lang="en-IN" dirty="0"/>
            </a:p>
          </p:txBody>
        </p:sp>
        <p:sp>
          <p:nvSpPr>
            <p:cNvPr id="9" name="Equal 8"/>
            <p:cNvSpPr/>
            <p:nvPr/>
          </p:nvSpPr>
          <p:spPr>
            <a:xfrm>
              <a:off x="6573794" y="1358729"/>
              <a:ext cx="642552" cy="272191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22" name="Equal 21"/>
            <p:cNvSpPr/>
            <p:nvPr/>
          </p:nvSpPr>
          <p:spPr>
            <a:xfrm>
              <a:off x="6627340" y="2490234"/>
              <a:ext cx="642552" cy="272191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23" name="Equal 22"/>
            <p:cNvSpPr/>
            <p:nvPr/>
          </p:nvSpPr>
          <p:spPr>
            <a:xfrm>
              <a:off x="6627340" y="3439962"/>
              <a:ext cx="642552" cy="272191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24" name="Equal 23"/>
            <p:cNvSpPr/>
            <p:nvPr/>
          </p:nvSpPr>
          <p:spPr>
            <a:xfrm>
              <a:off x="6627340" y="4443183"/>
              <a:ext cx="642552" cy="272191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9306" y="1619455"/>
            <a:ext cx="7861111" cy="372409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7030A0"/>
                </a:solidFill>
                <a:cs typeface="Leelawadee" pitchFamily="34" charset="-34"/>
              </a:rPr>
              <a:t>from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typing </a:t>
            </a:r>
            <a:r>
              <a:rPr lang="en-IN" dirty="0">
                <a:solidFill>
                  <a:srgbClr val="7030A0"/>
                </a:solidFill>
                <a:cs typeface="Leelawadee" pitchFamily="34" charset="-34"/>
              </a:rPr>
              <a:t>import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TypedDict</a:t>
            </a:r>
          </a:p>
          <a:p>
            <a:r>
              <a:rPr lang="en-IN" dirty="0">
                <a:solidFill>
                  <a:srgbClr val="7030A0"/>
                </a:solidFill>
                <a:cs typeface="Leelawadee" pitchFamily="34" charset="-34"/>
              </a:rPr>
              <a:t>from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langgraph.graph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7030A0"/>
                </a:solidFill>
                <a:cs typeface="Leelawadee" pitchFamily="34" charset="-34"/>
              </a:rPr>
              <a:t>import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END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cs typeface="Leelawadee" pitchFamily="34" charset="-34"/>
              </a:rPr>
              <a:t>, </a:t>
            </a:r>
            <a:r>
              <a:rPr lang="en-IN" dirty="0" smtClean="0">
                <a:solidFill>
                  <a:srgbClr val="0070C0"/>
                </a:solidFill>
                <a:cs typeface="Leelawadee" pitchFamily="34" charset="-34"/>
              </a:rPr>
              <a:t>StateGraph</a:t>
            </a:r>
          </a:p>
          <a:p>
            <a:r>
              <a:rPr lang="en-IN" sz="2000" i="1" dirty="0">
                <a:solidFill>
                  <a:srgbClr val="7030A0"/>
                </a:solidFill>
              </a:rPr>
              <a:t>from</a:t>
            </a:r>
            <a:r>
              <a:rPr lang="en-IN" sz="2000" i="1" dirty="0"/>
              <a:t> </a:t>
            </a:r>
            <a:r>
              <a:rPr lang="en-IN" sz="2000" i="1" dirty="0">
                <a:solidFill>
                  <a:srgbClr val="0070C0"/>
                </a:solidFill>
                <a:cs typeface="Leelawadee" pitchFamily="34" charset="-34"/>
              </a:rPr>
              <a:t>IPython.display</a:t>
            </a:r>
            <a:r>
              <a:rPr lang="en-IN" sz="2000" i="1" dirty="0"/>
              <a:t> </a:t>
            </a:r>
            <a:r>
              <a:rPr lang="en-IN" sz="2000" i="1" dirty="0">
                <a:solidFill>
                  <a:srgbClr val="7030A0"/>
                </a:solidFill>
              </a:rPr>
              <a:t>import</a:t>
            </a:r>
            <a:r>
              <a:rPr lang="en-IN" sz="2000" i="1" dirty="0"/>
              <a:t> </a:t>
            </a:r>
            <a:r>
              <a:rPr lang="en-IN" sz="2000" i="1" dirty="0" smtClean="0">
                <a:solidFill>
                  <a:srgbClr val="0070C0"/>
                </a:solidFill>
                <a:cs typeface="Leelawadee" pitchFamily="34" charset="-34"/>
              </a:rPr>
              <a:t>Image</a:t>
            </a:r>
            <a:endParaRPr lang="en-IN" sz="2000" i="1" dirty="0">
              <a:solidFill>
                <a:srgbClr val="0070C0"/>
              </a:solidFill>
              <a:cs typeface="Leelawadee" pitchFamily="34" charset="-34"/>
            </a:endParaRPr>
          </a:p>
          <a:p>
            <a:endParaRPr lang="en-IN" dirty="0">
              <a:cs typeface="Leelawadee" pitchFamily="34" charset="-34"/>
            </a:endParaRPr>
          </a:p>
          <a:p>
            <a:r>
              <a:rPr lang="en-IN" dirty="0">
                <a:solidFill>
                  <a:srgbClr val="7030A0"/>
                </a:solidFill>
                <a:cs typeface="Leelawadee" pitchFamily="34" charset="-34"/>
              </a:rPr>
              <a:t>class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InputState</a:t>
            </a:r>
            <a:r>
              <a:rPr lang="en-IN" dirty="0">
                <a:solidFill>
                  <a:schemeClr val="accent2"/>
                </a:solidFill>
                <a:cs typeface="Leelawadee" pitchFamily="34" charset="-34"/>
              </a:rPr>
              <a:t>(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TypedDict</a:t>
            </a:r>
            <a:r>
              <a:rPr lang="en-IN" dirty="0">
                <a:solidFill>
                  <a:schemeClr val="accent2"/>
                </a:solidFill>
                <a:cs typeface="Leelawadee" pitchFamily="34" charset="-34"/>
              </a:rPr>
              <a:t>)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:</a:t>
            </a:r>
          </a:p>
          <a:p>
            <a:r>
              <a:rPr lang="en-IN" dirty="0">
                <a:cs typeface="Leelawadee" pitchFamily="34" charset="-34"/>
              </a:rPr>
              <a:t>    </a:t>
            </a:r>
            <a:r>
              <a:rPr lang="en-IN" dirty="0">
                <a:solidFill>
                  <a:srgbClr val="00B0F0"/>
                </a:solidFill>
                <a:cs typeface="Leelawadee" pitchFamily="34" charset="-34"/>
              </a:rPr>
              <a:t>string_value</a:t>
            </a:r>
            <a:r>
              <a:rPr lang="en-IN" dirty="0">
                <a:solidFill>
                  <a:schemeClr val="bg1"/>
                </a:solidFill>
                <a:cs typeface="Leelawadee" pitchFamily="34" charset="-34"/>
              </a:rPr>
              <a:t>: </a:t>
            </a:r>
            <a:r>
              <a:rPr lang="en-IN" dirty="0">
                <a:solidFill>
                  <a:srgbClr val="FF6743"/>
                </a:solidFill>
                <a:cs typeface="Leelawadee" pitchFamily="34" charset="-34"/>
              </a:rPr>
              <a:t>str</a:t>
            </a:r>
          </a:p>
          <a:p>
            <a:r>
              <a:rPr lang="en-IN" dirty="0">
                <a:cs typeface="Leelawadee" pitchFamily="34" charset="-34"/>
              </a:rPr>
              <a:t>    </a:t>
            </a:r>
            <a:r>
              <a:rPr lang="en-IN" dirty="0">
                <a:solidFill>
                  <a:srgbClr val="00B0F0"/>
                </a:solidFill>
                <a:cs typeface="Leelawadee" pitchFamily="34" charset="-34"/>
              </a:rPr>
              <a:t>numeric_value</a:t>
            </a:r>
            <a:r>
              <a:rPr lang="en-IN" dirty="0">
                <a:solidFill>
                  <a:schemeClr val="bg1"/>
                </a:solidFill>
                <a:cs typeface="Leelawadee" pitchFamily="34" charset="-34"/>
              </a:rPr>
              <a:t>: </a:t>
            </a:r>
            <a:r>
              <a:rPr lang="en-IN" dirty="0">
                <a:solidFill>
                  <a:srgbClr val="FF6743"/>
                </a:solidFill>
                <a:cs typeface="Leelawadee" pitchFamily="34" charset="-34"/>
              </a:rPr>
              <a:t>str</a:t>
            </a:r>
          </a:p>
          <a:p>
            <a:endParaRPr lang="en-IN" dirty="0">
              <a:cs typeface="Leelawadee" pitchFamily="34" charset="-34"/>
            </a:endParaRPr>
          </a:p>
          <a:p>
            <a:r>
              <a:rPr lang="en-IN" dirty="0">
                <a:solidFill>
                  <a:srgbClr val="7030A0"/>
                </a:solidFill>
                <a:cs typeface="Leelawadee" pitchFamily="34" charset="-34"/>
              </a:rPr>
              <a:t>def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modify_input_state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(</a:t>
            </a:r>
            <a:r>
              <a:rPr lang="en-IN" dirty="0">
                <a:solidFill>
                  <a:schemeClr val="accent1"/>
                </a:solidFill>
                <a:cs typeface="Leelawadee" pitchFamily="34" charset="-34"/>
              </a:rPr>
              <a:t>input_state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: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CC99"/>
                </a:solidFill>
                <a:cs typeface="Leelawadee" pitchFamily="34" charset="-34"/>
              </a:rPr>
              <a:t>InputState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)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chemeClr val="accent1"/>
                </a:solidFill>
                <a:cs typeface="Leelawadee" pitchFamily="34" charset="-34"/>
              </a:rPr>
              <a:t>-&gt;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CC99"/>
                </a:solidFill>
                <a:cs typeface="Leelawadee" pitchFamily="34" charset="-34"/>
              </a:rPr>
              <a:t>InputState</a:t>
            </a:r>
            <a:r>
              <a:rPr lang="en-IN" dirty="0">
                <a:solidFill>
                  <a:schemeClr val="bg1"/>
                </a:solidFill>
                <a:cs typeface="Leelawadee" pitchFamily="34" charset="-34"/>
              </a:rPr>
              <a:t>:</a:t>
            </a:r>
          </a:p>
          <a:p>
            <a:r>
              <a:rPr lang="en-IN" dirty="0">
                <a:cs typeface="Leelawadee" pitchFamily="34" charset="-34"/>
              </a:rPr>
              <a:t>    </a:t>
            </a:r>
            <a:r>
              <a:rPr lang="en-IN" dirty="0">
                <a:solidFill>
                  <a:srgbClr val="7030A0"/>
                </a:solidFill>
                <a:cs typeface="Leelawadee" pitchFamily="34" charset="-34"/>
              </a:rPr>
              <a:t>print</a:t>
            </a:r>
            <a:r>
              <a:rPr lang="en-IN" dirty="0">
                <a:solidFill>
                  <a:schemeClr val="accent2"/>
                </a:solidFill>
                <a:cs typeface="Leelawadee" pitchFamily="34" charset="-34"/>
              </a:rPr>
              <a:t>(</a:t>
            </a:r>
            <a:r>
              <a:rPr lang="en-IN" dirty="0">
                <a:solidFill>
                  <a:schemeClr val="accent1"/>
                </a:solidFill>
                <a:cs typeface="Leelawadee" pitchFamily="34" charset="-34"/>
              </a:rPr>
              <a:t>f"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{</a:t>
            </a:r>
            <a:r>
              <a:rPr lang="en-IN" dirty="0">
                <a:solidFill>
                  <a:schemeClr val="accent1"/>
                </a:solidFill>
                <a:cs typeface="Leelawadee" pitchFamily="34" charset="-34"/>
              </a:rPr>
              <a:t>input_state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[</a:t>
            </a:r>
            <a:r>
              <a:rPr lang="en-IN" dirty="0">
                <a:solidFill>
                  <a:srgbClr val="FF4B21"/>
                </a:solidFill>
                <a:cs typeface="Leelawadee" pitchFamily="34" charset="-34"/>
              </a:rPr>
              <a:t>'string_value'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]},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{</a:t>
            </a:r>
            <a:r>
              <a:rPr lang="en-IN" dirty="0">
                <a:solidFill>
                  <a:schemeClr val="accent1"/>
                </a:solidFill>
                <a:cs typeface="Leelawadee" pitchFamily="34" charset="-34"/>
              </a:rPr>
              <a:t>input_state</a:t>
            </a:r>
            <a:r>
              <a:rPr lang="en-IN" dirty="0">
                <a:solidFill>
                  <a:schemeClr val="accent4"/>
                </a:solidFill>
                <a:cs typeface="Leelawadee" pitchFamily="34" charset="-34"/>
              </a:rPr>
              <a:t>[</a:t>
            </a:r>
            <a:r>
              <a:rPr lang="en-IN" dirty="0">
                <a:solidFill>
                  <a:srgbClr val="FF4B21"/>
                </a:solidFill>
                <a:cs typeface="Leelawadee" pitchFamily="34" charset="-34"/>
              </a:rPr>
              <a:t>'numeric_value'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]</a:t>
            </a:r>
            <a:r>
              <a:rPr lang="en-IN" dirty="0">
                <a:solidFill>
                  <a:schemeClr val="accent1"/>
                </a:solidFill>
                <a:cs typeface="Leelawadee" pitchFamily="34" charset="-34"/>
              </a:rPr>
              <a:t>}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"</a:t>
            </a:r>
            <a:r>
              <a:rPr lang="en-IN" dirty="0">
                <a:solidFill>
                  <a:schemeClr val="accent2"/>
                </a:solidFill>
                <a:cs typeface="Leelawadee" pitchFamily="34" charset="-34"/>
              </a:rPr>
              <a:t>)</a:t>
            </a:r>
          </a:p>
          <a:p>
            <a:r>
              <a:rPr lang="en-IN" dirty="0">
                <a:cs typeface="Leelawadee" pitchFamily="34" charset="-34"/>
              </a:rPr>
              <a:t>    </a:t>
            </a:r>
            <a:r>
              <a:rPr lang="en-IN" dirty="0">
                <a:solidFill>
                  <a:srgbClr val="00B0F0"/>
                </a:solidFill>
                <a:cs typeface="Leelawadee" pitchFamily="34" charset="-34"/>
              </a:rPr>
              <a:t>input_state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[</a:t>
            </a:r>
            <a:r>
              <a:rPr lang="en-IN" dirty="0">
                <a:solidFill>
                  <a:srgbClr val="FF4B21"/>
                </a:solidFill>
                <a:cs typeface="Leelawadee" pitchFamily="34" charset="-34"/>
              </a:rPr>
              <a:t>'string_value'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]</a:t>
            </a:r>
            <a:r>
              <a:rPr lang="en-IN" dirty="0">
                <a:solidFill>
                  <a:schemeClr val="bg1"/>
                </a:solidFill>
                <a:cs typeface="Leelawadee" pitchFamily="34" charset="-34"/>
              </a:rPr>
              <a:t> = </a:t>
            </a:r>
            <a:r>
              <a:rPr lang="en-IN" dirty="0">
                <a:solidFill>
                  <a:srgbClr val="00B0F0"/>
                </a:solidFill>
                <a:cs typeface="Leelawadee" pitchFamily="34" charset="-34"/>
              </a:rPr>
              <a:t>input_state</a:t>
            </a:r>
            <a:r>
              <a:rPr lang="en-IN" dirty="0">
                <a:solidFill>
                  <a:schemeClr val="accent4"/>
                </a:solidFill>
                <a:cs typeface="Leelawadee" pitchFamily="34" charset="-34"/>
              </a:rPr>
              <a:t>[</a:t>
            </a:r>
            <a:r>
              <a:rPr lang="en-IN" dirty="0">
                <a:solidFill>
                  <a:srgbClr val="FF4B21"/>
                </a:solidFill>
                <a:cs typeface="Leelawadee" pitchFamily="34" charset="-34"/>
              </a:rPr>
              <a:t>'string_value'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]</a:t>
            </a:r>
            <a:r>
              <a:rPr lang="en-IN" dirty="0">
                <a:solidFill>
                  <a:schemeClr val="bg1"/>
                </a:solidFill>
                <a:cs typeface="Leelawadee" pitchFamily="34" charset="-34"/>
              </a:rPr>
              <a:t>.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upper()</a:t>
            </a:r>
          </a:p>
          <a:p>
            <a:r>
              <a:rPr lang="en-IN" dirty="0">
                <a:cs typeface="Leelawadee" pitchFamily="34" charset="-34"/>
              </a:rPr>
              <a:t>   </a:t>
            </a:r>
            <a:r>
              <a:rPr lang="en-IN" dirty="0">
                <a:solidFill>
                  <a:srgbClr val="00B0F0"/>
                </a:solidFill>
                <a:cs typeface="Leelawadee" pitchFamily="34" charset="-34"/>
              </a:rPr>
              <a:t> input_state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[</a:t>
            </a:r>
            <a:r>
              <a:rPr lang="en-IN" dirty="0">
                <a:solidFill>
                  <a:srgbClr val="FF4B21"/>
                </a:solidFill>
                <a:cs typeface="Leelawadee" pitchFamily="34" charset="-34"/>
              </a:rPr>
              <a:t>'numeric_value'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]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chemeClr val="bg1"/>
                </a:solidFill>
                <a:cs typeface="Leelawadee" pitchFamily="34" charset="-34"/>
              </a:rPr>
              <a:t>= </a:t>
            </a:r>
            <a:r>
              <a:rPr lang="en-IN" dirty="0">
                <a:solidFill>
                  <a:schemeClr val="accent1"/>
                </a:solidFill>
                <a:cs typeface="Leelawadee" pitchFamily="34" charset="-34"/>
              </a:rPr>
              <a:t>str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(int(</a:t>
            </a:r>
            <a:r>
              <a:rPr lang="en-IN" dirty="0">
                <a:solidFill>
                  <a:srgbClr val="00B0F0"/>
                </a:solidFill>
                <a:cs typeface="Leelawadee" pitchFamily="34" charset="-34"/>
              </a:rPr>
              <a:t>input_state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[</a:t>
            </a:r>
            <a:r>
              <a:rPr lang="en-IN" dirty="0">
                <a:solidFill>
                  <a:srgbClr val="FF4B21"/>
                </a:solidFill>
                <a:cs typeface="Leelawadee" pitchFamily="34" charset="-34"/>
              </a:rPr>
              <a:t>'numeric_value'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])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+ 1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)</a:t>
            </a:r>
          </a:p>
          <a:p>
            <a:r>
              <a:rPr lang="en-IN" dirty="0">
                <a:cs typeface="Leelawadee" pitchFamily="34" charset="-34"/>
              </a:rPr>
              <a:t>    </a:t>
            </a:r>
            <a:r>
              <a:rPr lang="en-IN" dirty="0">
                <a:solidFill>
                  <a:srgbClr val="7030A0"/>
                </a:solidFill>
                <a:cs typeface="Leelawadee" pitchFamily="34" charset="-34"/>
              </a:rPr>
              <a:t>return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 smtClean="0">
                <a:solidFill>
                  <a:srgbClr val="0070C0"/>
                </a:solidFill>
                <a:cs typeface="Leelawadee" pitchFamily="34" charset="-34"/>
              </a:rPr>
              <a:t>input_state</a:t>
            </a:r>
            <a:endParaRPr lang="en-IN" dirty="0">
              <a:cs typeface="Leelawadee" pitchFamily="34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274981" y="-143403"/>
            <a:ext cx="6339264" cy="34163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endParaRPr lang="en-IN" dirty="0" smtClean="0">
              <a:solidFill>
                <a:srgbClr val="0070C0"/>
              </a:solidFill>
              <a:cs typeface="Leelawadee" pitchFamily="34" charset="-34"/>
            </a:endParaRPr>
          </a:p>
          <a:p>
            <a:r>
              <a:rPr lang="en-IN" dirty="0" smtClean="0">
                <a:solidFill>
                  <a:srgbClr val="0070C0"/>
                </a:solidFill>
                <a:cs typeface="Leelawadee" pitchFamily="34" charset="-34"/>
              </a:rPr>
              <a:t>graph</a:t>
            </a:r>
            <a:r>
              <a:rPr lang="en-IN" dirty="0" smtClean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=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B0F0"/>
                </a:solidFill>
                <a:cs typeface="Leelawadee" pitchFamily="34" charset="-34"/>
              </a:rPr>
              <a:t>StateGraph</a:t>
            </a:r>
            <a:r>
              <a:rPr lang="en-IN" dirty="0">
                <a:solidFill>
                  <a:schemeClr val="accent2"/>
                </a:solidFill>
                <a:cs typeface="Leelawadee" pitchFamily="34" charset="-34"/>
              </a:rPr>
              <a:t>(</a:t>
            </a:r>
            <a:r>
              <a:rPr lang="en-IN" dirty="0">
                <a:solidFill>
                  <a:srgbClr val="00CC99"/>
                </a:solidFill>
                <a:cs typeface="Leelawadee" pitchFamily="34" charset="-34"/>
              </a:rPr>
              <a:t>InputState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)</a:t>
            </a:r>
          </a:p>
          <a:p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graph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.add_node</a:t>
            </a:r>
            <a:r>
              <a:rPr lang="en-IN" dirty="0">
                <a:solidFill>
                  <a:schemeClr val="accent2"/>
                </a:solidFill>
                <a:cs typeface="Leelawadee" pitchFamily="34" charset="-34"/>
              </a:rPr>
              <a:t>(</a:t>
            </a:r>
            <a:r>
              <a:rPr lang="en-IN" dirty="0">
                <a:solidFill>
                  <a:srgbClr val="00B050"/>
                </a:solidFill>
                <a:cs typeface="Leelawadee" pitchFamily="34" charset="-34"/>
              </a:rPr>
              <a:t>"branch_a"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,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modify_input_state</a:t>
            </a:r>
            <a:r>
              <a:rPr lang="en-IN" dirty="0" smtClean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)</a:t>
            </a:r>
            <a:endParaRPr lang="en-IN" dirty="0">
              <a:solidFill>
                <a:schemeClr val="accent4">
                  <a:lumMod val="50000"/>
                </a:schemeClr>
              </a:solidFill>
              <a:cs typeface="Leelawadee" pitchFamily="34" charset="-34"/>
            </a:endParaRPr>
          </a:p>
          <a:p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graph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.add_node</a:t>
            </a:r>
            <a:r>
              <a:rPr lang="en-IN" dirty="0">
                <a:solidFill>
                  <a:schemeClr val="accent2"/>
                </a:solidFill>
                <a:cs typeface="Leelawadee" pitchFamily="34" charset="-34"/>
              </a:rPr>
              <a:t>(</a:t>
            </a:r>
            <a:r>
              <a:rPr lang="en-IN" dirty="0">
                <a:solidFill>
                  <a:srgbClr val="00B050"/>
                </a:solidFill>
                <a:cs typeface="Leelawadee" pitchFamily="34" charset="-34"/>
              </a:rPr>
              <a:t>"branch_b"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,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modify_input_stat</a:t>
            </a:r>
            <a:r>
              <a:rPr lang="en-IN" dirty="0" smtClean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e)</a:t>
            </a:r>
            <a:endParaRPr lang="en-IN" dirty="0">
              <a:solidFill>
                <a:schemeClr val="accent4">
                  <a:lumMod val="50000"/>
                </a:schemeClr>
              </a:solidFill>
              <a:cs typeface="Leelawadee" pitchFamily="34" charset="-34"/>
            </a:endParaRPr>
          </a:p>
          <a:p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graph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.add_edge</a:t>
            </a:r>
            <a:r>
              <a:rPr lang="en-IN" dirty="0">
                <a:solidFill>
                  <a:schemeClr val="accent2"/>
                </a:solidFill>
                <a:cs typeface="Leelawadee" pitchFamily="34" charset="-34"/>
              </a:rPr>
              <a:t>(</a:t>
            </a:r>
            <a:r>
              <a:rPr lang="en-IN" dirty="0">
                <a:solidFill>
                  <a:srgbClr val="00B050"/>
                </a:solidFill>
                <a:cs typeface="Leelawadee" pitchFamily="34" charset="-34"/>
              </a:rPr>
              <a:t>"branch_a"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,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B050"/>
                </a:solidFill>
                <a:cs typeface="Leelawadee" pitchFamily="34" charset="-34"/>
              </a:rPr>
              <a:t>"branch_b"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)</a:t>
            </a:r>
          </a:p>
          <a:p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graph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.add_edge</a:t>
            </a:r>
            <a:r>
              <a:rPr lang="en-IN" dirty="0">
                <a:solidFill>
                  <a:schemeClr val="accent2"/>
                </a:solidFill>
                <a:cs typeface="Leelawadee" pitchFamily="34" charset="-34"/>
              </a:rPr>
              <a:t>(</a:t>
            </a:r>
            <a:r>
              <a:rPr lang="en-IN" dirty="0">
                <a:solidFill>
                  <a:srgbClr val="00B050"/>
                </a:solidFill>
                <a:cs typeface="Leelawadee" pitchFamily="34" charset="-34"/>
              </a:rPr>
              <a:t>"branch_b"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,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END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)</a:t>
            </a:r>
          </a:p>
          <a:p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graph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.set_entry_point</a:t>
            </a:r>
            <a:r>
              <a:rPr lang="en-IN" dirty="0">
                <a:solidFill>
                  <a:schemeClr val="accent2"/>
                </a:solidFill>
                <a:cs typeface="Leelawadee" pitchFamily="34" charset="-34"/>
              </a:rPr>
              <a:t>(</a:t>
            </a:r>
            <a:r>
              <a:rPr lang="en-IN" dirty="0">
                <a:solidFill>
                  <a:srgbClr val="00B050"/>
                </a:solidFill>
                <a:cs typeface="Leelawadee" pitchFamily="34" charset="-34"/>
              </a:rPr>
              <a:t>"branch_a"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)</a:t>
            </a:r>
          </a:p>
          <a:p>
            <a:endParaRPr lang="en-IN" dirty="0">
              <a:cs typeface="Leelawadee" pitchFamily="34" charset="-34"/>
            </a:endParaRPr>
          </a:p>
          <a:p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input_state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chemeClr val="bg1"/>
                </a:solidFill>
                <a:cs typeface="Leelawadee" pitchFamily="34" charset="-34"/>
              </a:rPr>
              <a:t>= 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{</a:t>
            </a:r>
            <a:r>
              <a:rPr lang="en-IN" dirty="0">
                <a:solidFill>
                  <a:srgbClr val="00B050"/>
                </a:solidFill>
                <a:cs typeface="Leelawadee" pitchFamily="34" charset="-34"/>
              </a:rPr>
              <a:t>"string_value"</a:t>
            </a:r>
            <a:r>
              <a:rPr lang="en-IN" dirty="0">
                <a:solidFill>
                  <a:schemeClr val="bg1"/>
                </a:solidFill>
                <a:cs typeface="Leelawadee" pitchFamily="34" charset="-34"/>
              </a:rPr>
              <a:t>: </a:t>
            </a:r>
            <a:r>
              <a:rPr lang="en-IN" dirty="0">
                <a:solidFill>
                  <a:srgbClr val="00B050"/>
                </a:solidFill>
                <a:cs typeface="Leelawadee" pitchFamily="34" charset="-34"/>
              </a:rPr>
              <a:t>"hello"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cs typeface="Leelawadee" pitchFamily="34" charset="-34"/>
              </a:rPr>
              <a:t>, </a:t>
            </a:r>
            <a:r>
              <a:rPr lang="en-IN" dirty="0">
                <a:solidFill>
                  <a:srgbClr val="00B050"/>
                </a:solidFill>
                <a:cs typeface="Leelawadee" pitchFamily="34" charset="-34"/>
              </a:rPr>
              <a:t>"numeric_value"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cs typeface="Leelawadee" pitchFamily="34" charset="-34"/>
              </a:rPr>
              <a:t>: </a:t>
            </a:r>
            <a:r>
              <a:rPr lang="en-IN" dirty="0">
                <a:solidFill>
                  <a:srgbClr val="00B050"/>
                </a:solidFill>
                <a:cs typeface="Leelawadee" pitchFamily="34" charset="-34"/>
              </a:rPr>
              <a:t>"1"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}</a:t>
            </a:r>
          </a:p>
          <a:p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runnable</a:t>
            </a:r>
            <a:r>
              <a:rPr lang="en-IN" dirty="0">
                <a:cs typeface="Leelawadee" pitchFamily="34" charset="-34"/>
              </a:rPr>
              <a:t> </a:t>
            </a:r>
            <a:r>
              <a:rPr lang="en-IN" dirty="0">
                <a:solidFill>
                  <a:schemeClr val="bg1"/>
                </a:solidFill>
                <a:cs typeface="Leelawadee" pitchFamily="34" charset="-34"/>
              </a:rPr>
              <a:t>= 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graph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cs typeface="Leelawadee" pitchFamily="34" charset="-34"/>
              </a:rPr>
              <a:t>.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compile</a:t>
            </a:r>
            <a:r>
              <a:rPr lang="en-IN" dirty="0" smtClean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()</a:t>
            </a:r>
          </a:p>
          <a:p>
            <a:r>
              <a:rPr lang="en-IN" i="1" dirty="0">
                <a:solidFill>
                  <a:srgbClr val="00B050"/>
                </a:solidFill>
              </a:rPr>
              <a:t>Image</a:t>
            </a:r>
            <a:r>
              <a:rPr lang="en-IN" i="1" dirty="0" smtClean="0">
                <a:solidFill>
                  <a:schemeClr val="accent2">
                    <a:lumMod val="50000"/>
                  </a:schemeClr>
                </a:solidFill>
              </a:rPr>
              <a:t>( </a:t>
            </a:r>
            <a:r>
              <a:rPr lang="en-IN" i="1" dirty="0" smtClean="0">
                <a:solidFill>
                  <a:srgbClr val="0070C0"/>
                </a:solidFill>
              </a:rPr>
              <a:t>runnable</a:t>
            </a:r>
            <a:r>
              <a:rPr lang="en-IN" i="1" dirty="0" smtClean="0">
                <a:solidFill>
                  <a:schemeClr val="bg1">
                    <a:lumMod val="95000"/>
                  </a:schemeClr>
                </a:solidFill>
              </a:rPr>
              <a:t>.</a:t>
            </a:r>
            <a:r>
              <a:rPr lang="en-IN" i="1" dirty="0" smtClean="0">
                <a:solidFill>
                  <a:schemeClr val="accent4">
                    <a:lumMod val="50000"/>
                  </a:schemeClr>
                </a:solidFill>
              </a:rPr>
              <a:t>get_graph</a:t>
            </a:r>
            <a:r>
              <a:rPr lang="en-IN" i="1" dirty="0">
                <a:solidFill>
                  <a:schemeClr val="accent4">
                    <a:lumMod val="50000"/>
                  </a:schemeClr>
                </a:solidFill>
              </a:rPr>
              <a:t>()</a:t>
            </a:r>
            <a:r>
              <a:rPr lang="en-IN" i="1" dirty="0">
                <a:solidFill>
                  <a:schemeClr val="bg1">
                    <a:lumMod val="95000"/>
                  </a:schemeClr>
                </a:solidFill>
              </a:rPr>
              <a:t>.</a:t>
            </a:r>
            <a:r>
              <a:rPr lang="en-IN" i="1" dirty="0">
                <a:solidFill>
                  <a:schemeClr val="accent4">
                    <a:lumMod val="50000"/>
                  </a:schemeClr>
                </a:solidFill>
              </a:rPr>
              <a:t>draw_mermaid_png</a:t>
            </a:r>
            <a:r>
              <a:rPr lang="en-IN" i="1" dirty="0" smtClean="0">
                <a:solidFill>
                  <a:schemeClr val="accent4">
                    <a:lumMod val="50000"/>
                  </a:schemeClr>
                </a:solidFill>
              </a:rPr>
              <a:t>() </a:t>
            </a:r>
            <a:r>
              <a:rPr lang="en-IN" i="1" dirty="0" smtClean="0">
                <a:solidFill>
                  <a:schemeClr val="accent2">
                    <a:lumMod val="50000"/>
                  </a:schemeClr>
                </a:solidFill>
              </a:rPr>
              <a:t>)</a:t>
            </a:r>
            <a:endParaRPr lang="en-IN" i="1" dirty="0">
              <a:solidFill>
                <a:schemeClr val="accent2">
                  <a:lumMod val="50000"/>
                </a:schemeClr>
              </a:solidFill>
              <a:cs typeface="Leelawadee" pitchFamily="34" charset="-34"/>
            </a:endParaRPr>
          </a:p>
          <a:p>
            <a:r>
              <a:rPr lang="en-IN" dirty="0">
                <a:solidFill>
                  <a:schemeClr val="accent1"/>
                </a:solidFill>
                <a:cs typeface="Leelawadee" pitchFamily="34" charset="-34"/>
              </a:rPr>
              <a:t>result</a:t>
            </a:r>
            <a:r>
              <a:rPr lang="en-IN" dirty="0">
                <a:solidFill>
                  <a:schemeClr val="bg1"/>
                </a:solidFill>
                <a:cs typeface="Leelawadee" pitchFamily="34" charset="-34"/>
              </a:rPr>
              <a:t> = </a:t>
            </a:r>
            <a:r>
              <a:rPr lang="en-IN" dirty="0">
                <a:solidFill>
                  <a:srgbClr val="0070C0"/>
                </a:solidFill>
                <a:cs typeface="Leelawadee" pitchFamily="34" charset="-34"/>
              </a:rPr>
              <a:t>runnable</a:t>
            </a:r>
            <a:r>
              <a:rPr lang="en-IN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.invoke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(</a:t>
            </a:r>
            <a:r>
              <a:rPr lang="en-IN" dirty="0">
                <a:solidFill>
                  <a:srgbClr val="00B0F0"/>
                </a:solidFill>
                <a:cs typeface="Leelawadee" pitchFamily="34" charset="-34"/>
              </a:rPr>
              <a:t>input_state</a:t>
            </a:r>
            <a:r>
              <a:rPr lang="en-IN" dirty="0" smtClean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)</a:t>
            </a:r>
            <a:endParaRPr lang="en-IN" dirty="0">
              <a:solidFill>
                <a:schemeClr val="accent2">
                  <a:lumMod val="50000"/>
                </a:schemeClr>
              </a:solidFill>
              <a:cs typeface="Leelawadee" pitchFamily="34" charset="-34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927275" y="5954859"/>
            <a:ext cx="6577762" cy="407668"/>
            <a:chOff x="4138211" y="4631025"/>
            <a:chExt cx="6577762" cy="407668"/>
          </a:xfrm>
        </p:grpSpPr>
        <p:sp>
          <p:nvSpPr>
            <p:cNvPr id="9" name="Rectangle 8"/>
            <p:cNvSpPr/>
            <p:nvPr/>
          </p:nvSpPr>
          <p:spPr>
            <a:xfrm>
              <a:off x="5053846" y="4638583"/>
              <a:ext cx="56621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2000" dirty="0" smtClean="0">
                  <a:solidFill>
                    <a:srgbClr val="00B050"/>
                  </a:solidFill>
                  <a:latin typeface="Bahnschrift" pitchFamily="34" charset="0"/>
                </a:rPr>
                <a:t>{ 'string_value‘ :  'HELLO‘ ,  'numeric_value‘ :  '3‘ }</a:t>
              </a:r>
              <a:endParaRPr lang="en-IN" sz="2000" dirty="0">
                <a:solidFill>
                  <a:srgbClr val="00B050"/>
                </a:solidFill>
                <a:latin typeface="Bahnschrift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38211" y="4631025"/>
              <a:ext cx="9156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chemeClr val="accent1"/>
                  </a:solidFill>
                  <a:latin typeface="Bahnschrift" pitchFamily="34" charset="0"/>
                </a:rPr>
                <a:t>output</a:t>
              </a:r>
              <a:endParaRPr lang="en-IN" sz="2000" dirty="0">
                <a:solidFill>
                  <a:schemeClr val="accent1"/>
                </a:solidFill>
                <a:latin typeface="Bahnschrif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2146" y="102163"/>
            <a:ext cx="27574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>
                <a:latin typeface="Bahnschrift Light" pitchFamily="34" charset="0"/>
                <a:cs typeface="Leelawadee" pitchFamily="34" charset="-34"/>
              </a:rPr>
              <a:t>add_conditional_edges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145" y="502273"/>
            <a:ext cx="7087645" cy="480131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1700" dirty="0">
                <a:solidFill>
                  <a:srgbClr val="7030A0"/>
                </a:solidFill>
                <a:cs typeface="Leelawadee" pitchFamily="34" charset="-34"/>
              </a:rPr>
              <a:t>from</a:t>
            </a:r>
            <a:r>
              <a:rPr lang="en-IN" sz="1700" dirty="0">
                <a:cs typeface="Leelawadee" pitchFamily="34" charset="-34"/>
              </a:rPr>
              <a:t> </a:t>
            </a:r>
            <a:r>
              <a:rPr lang="en-IN" sz="1700" dirty="0">
                <a:solidFill>
                  <a:srgbClr val="0070C0"/>
                </a:solidFill>
                <a:cs typeface="Leelawadee" pitchFamily="34" charset="-34"/>
              </a:rPr>
              <a:t>typing </a:t>
            </a:r>
            <a:r>
              <a:rPr lang="en-IN" sz="1700" dirty="0">
                <a:solidFill>
                  <a:srgbClr val="7030A0"/>
                </a:solidFill>
                <a:cs typeface="Leelawadee" pitchFamily="34" charset="-34"/>
              </a:rPr>
              <a:t>import</a:t>
            </a:r>
            <a:r>
              <a:rPr lang="en-IN" sz="1700" dirty="0">
                <a:cs typeface="Leelawadee" pitchFamily="34" charset="-34"/>
              </a:rPr>
              <a:t> </a:t>
            </a:r>
            <a:r>
              <a:rPr lang="en-IN" sz="1700" dirty="0">
                <a:solidFill>
                  <a:srgbClr val="0070C0"/>
                </a:solidFill>
                <a:cs typeface="Leelawadee" pitchFamily="34" charset="-34"/>
              </a:rPr>
              <a:t>TypedDict</a:t>
            </a:r>
          </a:p>
          <a:p>
            <a:r>
              <a:rPr lang="en-IN" sz="1700" dirty="0">
                <a:solidFill>
                  <a:srgbClr val="7030A0"/>
                </a:solidFill>
                <a:cs typeface="Leelawadee" pitchFamily="34" charset="-34"/>
              </a:rPr>
              <a:t>from</a:t>
            </a:r>
            <a:r>
              <a:rPr lang="en-IN" sz="1700" dirty="0">
                <a:cs typeface="Leelawadee" pitchFamily="34" charset="-34"/>
              </a:rPr>
              <a:t> </a:t>
            </a:r>
            <a:r>
              <a:rPr lang="en-IN" sz="1700" dirty="0">
                <a:solidFill>
                  <a:srgbClr val="0070C0"/>
                </a:solidFill>
                <a:cs typeface="Leelawadee" pitchFamily="34" charset="-34"/>
              </a:rPr>
              <a:t>langgraph.graph</a:t>
            </a:r>
            <a:r>
              <a:rPr lang="en-IN" sz="1700" dirty="0">
                <a:cs typeface="Leelawadee" pitchFamily="34" charset="-34"/>
              </a:rPr>
              <a:t> </a:t>
            </a:r>
            <a:r>
              <a:rPr lang="en-IN" sz="1700" dirty="0">
                <a:solidFill>
                  <a:srgbClr val="7030A0"/>
                </a:solidFill>
                <a:cs typeface="Leelawadee" pitchFamily="34" charset="-34"/>
              </a:rPr>
              <a:t>import</a:t>
            </a:r>
            <a:r>
              <a:rPr lang="en-IN" sz="1700" dirty="0">
                <a:cs typeface="Leelawadee" pitchFamily="34" charset="-34"/>
              </a:rPr>
              <a:t> </a:t>
            </a:r>
            <a:r>
              <a:rPr lang="en-IN" sz="1700" dirty="0">
                <a:solidFill>
                  <a:srgbClr val="0070C0"/>
                </a:solidFill>
                <a:cs typeface="Leelawadee" pitchFamily="34" charset="-34"/>
              </a:rPr>
              <a:t>END</a:t>
            </a:r>
            <a:r>
              <a:rPr lang="en-IN" sz="1700" dirty="0">
                <a:solidFill>
                  <a:schemeClr val="bg1">
                    <a:lumMod val="95000"/>
                  </a:schemeClr>
                </a:solidFill>
                <a:cs typeface="Leelawadee" pitchFamily="34" charset="-34"/>
              </a:rPr>
              <a:t>,</a:t>
            </a:r>
            <a:r>
              <a:rPr lang="en-IN" sz="1700" dirty="0">
                <a:cs typeface="Leelawadee" pitchFamily="34" charset="-34"/>
              </a:rPr>
              <a:t> </a:t>
            </a:r>
            <a:r>
              <a:rPr lang="en-IN" sz="1700" dirty="0" smtClean="0">
                <a:solidFill>
                  <a:srgbClr val="0070C0"/>
                </a:solidFill>
                <a:cs typeface="Leelawadee" pitchFamily="34" charset="-34"/>
              </a:rPr>
              <a:t>StateGraph</a:t>
            </a:r>
          </a:p>
          <a:p>
            <a:r>
              <a:rPr lang="en-IN" sz="1700" dirty="0">
                <a:solidFill>
                  <a:srgbClr val="7030A0"/>
                </a:solidFill>
              </a:rPr>
              <a:t>from</a:t>
            </a:r>
            <a:r>
              <a:rPr lang="en-IN" sz="1700" dirty="0"/>
              <a:t> </a:t>
            </a:r>
            <a:r>
              <a:rPr lang="en-IN" sz="1700" dirty="0">
                <a:solidFill>
                  <a:srgbClr val="0070C0"/>
                </a:solidFill>
                <a:cs typeface="Leelawadee" pitchFamily="34" charset="-34"/>
              </a:rPr>
              <a:t>IPython.display</a:t>
            </a:r>
            <a:r>
              <a:rPr lang="en-IN" sz="1700" dirty="0"/>
              <a:t> </a:t>
            </a:r>
            <a:r>
              <a:rPr lang="en-IN" sz="1700" dirty="0">
                <a:solidFill>
                  <a:srgbClr val="7030A0"/>
                </a:solidFill>
              </a:rPr>
              <a:t>import</a:t>
            </a:r>
            <a:r>
              <a:rPr lang="en-IN" sz="1700" dirty="0"/>
              <a:t> </a:t>
            </a:r>
            <a:r>
              <a:rPr lang="en-IN" sz="1700" dirty="0" smtClean="0">
                <a:solidFill>
                  <a:srgbClr val="0070C0"/>
                </a:solidFill>
                <a:cs typeface="Leelawadee" pitchFamily="34" charset="-34"/>
              </a:rPr>
              <a:t>Image</a:t>
            </a:r>
            <a:endParaRPr lang="en-IN" sz="1700" dirty="0">
              <a:solidFill>
                <a:srgbClr val="0070C0"/>
              </a:solidFill>
              <a:cs typeface="Leelawadee" pitchFamily="34" charset="-34"/>
            </a:endParaRPr>
          </a:p>
          <a:p>
            <a:endParaRPr lang="en-IN" sz="1700" dirty="0">
              <a:cs typeface="Leelawadee" pitchFamily="34" charset="-34"/>
            </a:endParaRPr>
          </a:p>
          <a:p>
            <a:r>
              <a:rPr lang="en-IN" sz="1700" dirty="0">
                <a:solidFill>
                  <a:srgbClr val="7030A0"/>
                </a:solidFill>
                <a:cs typeface="Leelawadee" pitchFamily="34" charset="-34"/>
              </a:rPr>
              <a:t>class</a:t>
            </a:r>
            <a:r>
              <a:rPr lang="en-IN" sz="1700" dirty="0">
                <a:cs typeface="Leelawadee" pitchFamily="34" charset="-34"/>
              </a:rPr>
              <a:t> </a:t>
            </a:r>
            <a:r>
              <a:rPr lang="en-IN" sz="1700" dirty="0">
                <a:solidFill>
                  <a:srgbClr val="0070C0"/>
                </a:solidFill>
                <a:cs typeface="Leelawadee" pitchFamily="34" charset="-34"/>
              </a:rPr>
              <a:t>InputState</a:t>
            </a:r>
            <a:r>
              <a:rPr lang="en-IN" sz="1700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(</a:t>
            </a:r>
            <a:r>
              <a:rPr lang="en-IN" sz="1700" dirty="0">
                <a:solidFill>
                  <a:srgbClr val="0070C0"/>
                </a:solidFill>
                <a:cs typeface="Leelawadee" pitchFamily="34" charset="-34"/>
              </a:rPr>
              <a:t>TypedDict</a:t>
            </a:r>
            <a:r>
              <a:rPr lang="en-IN" sz="1700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)</a:t>
            </a:r>
            <a:r>
              <a:rPr lang="en-IN" sz="1700" dirty="0">
                <a:solidFill>
                  <a:schemeClr val="accent1"/>
                </a:solidFill>
                <a:cs typeface="Leelawadee" pitchFamily="34" charset="-34"/>
              </a:rPr>
              <a:t>:</a:t>
            </a:r>
          </a:p>
          <a:p>
            <a:r>
              <a:rPr lang="en-IN" sz="1700" dirty="0">
                <a:cs typeface="Leelawadee" pitchFamily="34" charset="-34"/>
              </a:rPr>
              <a:t>    </a:t>
            </a:r>
            <a:r>
              <a:rPr lang="en-IN" sz="1700" dirty="0">
                <a:solidFill>
                  <a:srgbClr val="00B0F0"/>
                </a:solidFill>
                <a:cs typeface="Leelawadee" pitchFamily="34" charset="-34"/>
              </a:rPr>
              <a:t>string_value</a:t>
            </a:r>
            <a:r>
              <a:rPr lang="en-IN" sz="1700" dirty="0">
                <a:solidFill>
                  <a:schemeClr val="accent1"/>
                </a:solidFill>
                <a:cs typeface="Leelawadee" pitchFamily="34" charset="-34"/>
              </a:rPr>
              <a:t>:</a:t>
            </a:r>
            <a:r>
              <a:rPr lang="en-IN" sz="1700" dirty="0">
                <a:cs typeface="Leelawadee" pitchFamily="34" charset="-34"/>
              </a:rPr>
              <a:t> </a:t>
            </a:r>
            <a:r>
              <a:rPr lang="en-IN" sz="1700" dirty="0">
                <a:solidFill>
                  <a:srgbClr val="FF6743"/>
                </a:solidFill>
                <a:cs typeface="Leelawadee" pitchFamily="34" charset="-34"/>
              </a:rPr>
              <a:t>str</a:t>
            </a:r>
          </a:p>
          <a:p>
            <a:r>
              <a:rPr lang="en-IN" sz="1700" dirty="0">
                <a:cs typeface="Leelawadee" pitchFamily="34" charset="-34"/>
              </a:rPr>
              <a:t>    </a:t>
            </a:r>
            <a:r>
              <a:rPr lang="en-IN" sz="1700" dirty="0">
                <a:solidFill>
                  <a:srgbClr val="00B0F0"/>
                </a:solidFill>
                <a:cs typeface="Leelawadee" pitchFamily="34" charset="-34"/>
              </a:rPr>
              <a:t>numeric_value</a:t>
            </a:r>
            <a:r>
              <a:rPr lang="en-IN" sz="1700" dirty="0">
                <a:solidFill>
                  <a:schemeClr val="accent1"/>
                </a:solidFill>
                <a:cs typeface="Leelawadee" pitchFamily="34" charset="-34"/>
              </a:rPr>
              <a:t>:</a:t>
            </a:r>
            <a:r>
              <a:rPr lang="en-IN" sz="1700" dirty="0">
                <a:cs typeface="Leelawadee" pitchFamily="34" charset="-34"/>
              </a:rPr>
              <a:t> </a:t>
            </a:r>
            <a:r>
              <a:rPr lang="en-IN" sz="1700" dirty="0" smtClean="0">
                <a:solidFill>
                  <a:srgbClr val="FF6743"/>
                </a:solidFill>
                <a:cs typeface="Leelawadee" pitchFamily="34" charset="-34"/>
              </a:rPr>
              <a:t>int</a:t>
            </a:r>
            <a:endParaRPr lang="en-IN" sz="1700" dirty="0">
              <a:solidFill>
                <a:srgbClr val="FF6743"/>
              </a:solidFill>
              <a:cs typeface="Leelawadee" pitchFamily="34" charset="-34"/>
            </a:endParaRPr>
          </a:p>
          <a:p>
            <a:endParaRPr lang="en-IN" sz="1700" dirty="0">
              <a:cs typeface="Leelawadee" pitchFamily="34" charset="-34"/>
            </a:endParaRPr>
          </a:p>
          <a:p>
            <a:r>
              <a:rPr lang="en-IN" sz="1700" dirty="0">
                <a:solidFill>
                  <a:srgbClr val="7030A0"/>
                </a:solidFill>
                <a:cs typeface="Leelawadee" pitchFamily="34" charset="-34"/>
              </a:rPr>
              <a:t>def</a:t>
            </a:r>
            <a:r>
              <a:rPr lang="en-IN" sz="1700" dirty="0">
                <a:cs typeface="Leelawadee" pitchFamily="34" charset="-34"/>
              </a:rPr>
              <a:t> </a:t>
            </a:r>
            <a:r>
              <a:rPr lang="en-IN" sz="1700" dirty="0" smtClean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modify_input_state input_state</a:t>
            </a:r>
            <a:r>
              <a:rPr lang="en-IN" sz="1700" dirty="0" smtClean="0">
                <a:solidFill>
                  <a:srgbClr val="00B0F0"/>
                </a:solidFill>
                <a:cs typeface="Leelawadee" pitchFamily="34" charset="-34"/>
              </a:rPr>
              <a:t>: </a:t>
            </a:r>
            <a:r>
              <a:rPr lang="en-IN" sz="1700" dirty="0" smtClean="0">
                <a:solidFill>
                  <a:srgbClr val="0070C0"/>
                </a:solidFill>
                <a:cs typeface="Leelawadee" pitchFamily="34" charset="-34"/>
              </a:rPr>
              <a:t>(</a:t>
            </a:r>
            <a:r>
              <a:rPr lang="en-IN" sz="1700" dirty="0" smtClean="0">
                <a:solidFill>
                  <a:srgbClr val="00CC99"/>
                </a:solidFill>
                <a:cs typeface="Leelawadee" pitchFamily="34" charset="-34"/>
              </a:rPr>
              <a:t>InputState</a:t>
            </a:r>
            <a:r>
              <a:rPr lang="en-IN" sz="1700" dirty="0">
                <a:solidFill>
                  <a:srgbClr val="0070C0"/>
                </a:solidFill>
                <a:cs typeface="Leelawadee" pitchFamily="34" charset="-34"/>
              </a:rPr>
              <a:t>)</a:t>
            </a:r>
            <a:r>
              <a:rPr lang="en-IN" sz="1700" dirty="0">
                <a:cs typeface="Leelawadee" pitchFamily="34" charset="-34"/>
              </a:rPr>
              <a:t> </a:t>
            </a:r>
            <a:r>
              <a:rPr lang="en-IN" sz="1700" dirty="0">
                <a:solidFill>
                  <a:srgbClr val="0070C0"/>
                </a:solidFill>
                <a:cs typeface="Leelawadee" pitchFamily="34" charset="-34"/>
              </a:rPr>
              <a:t>-&gt; </a:t>
            </a:r>
            <a:r>
              <a:rPr lang="en-IN" sz="1700" dirty="0">
                <a:solidFill>
                  <a:srgbClr val="00CC99"/>
                </a:solidFill>
                <a:cs typeface="Leelawadee" pitchFamily="34" charset="-34"/>
              </a:rPr>
              <a:t>InputState</a:t>
            </a:r>
            <a:r>
              <a:rPr lang="en-IN" sz="1700" dirty="0">
                <a:solidFill>
                  <a:srgbClr val="0070C0"/>
                </a:solidFill>
                <a:cs typeface="Leelawadee" pitchFamily="34" charset="-34"/>
              </a:rPr>
              <a:t>:</a:t>
            </a:r>
          </a:p>
          <a:p>
            <a:r>
              <a:rPr lang="en-IN" sz="1700" dirty="0">
                <a:cs typeface="Leelawadee" pitchFamily="34" charset="-34"/>
              </a:rPr>
              <a:t>    </a:t>
            </a:r>
            <a:r>
              <a:rPr lang="en-IN" sz="1700" dirty="0">
                <a:solidFill>
                  <a:srgbClr val="7030A0"/>
                </a:solidFill>
                <a:cs typeface="Leelawadee" pitchFamily="34" charset="-34"/>
              </a:rPr>
              <a:t>print</a:t>
            </a:r>
            <a:r>
              <a:rPr lang="en-IN" sz="1700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(</a:t>
            </a:r>
            <a:r>
              <a:rPr lang="en-IN" sz="1700" dirty="0">
                <a:solidFill>
                  <a:srgbClr val="0070C0"/>
                </a:solidFill>
                <a:cs typeface="Leelawadee" pitchFamily="34" charset="-34"/>
              </a:rPr>
              <a:t>f</a:t>
            </a:r>
            <a:r>
              <a:rPr lang="en-IN" sz="1700" dirty="0" smtClean="0">
                <a:solidFill>
                  <a:srgbClr val="FF6743"/>
                </a:solidFill>
                <a:cs typeface="Leelawadee" pitchFamily="34" charset="-34"/>
              </a:rPr>
              <a:t>"</a:t>
            </a:r>
            <a:r>
              <a:rPr lang="en-IN" sz="1700" dirty="0" smtClean="0">
                <a:solidFill>
                  <a:srgbClr val="0070C0"/>
                </a:solidFill>
                <a:cs typeface="Leelawadee" pitchFamily="34" charset="-34"/>
              </a:rPr>
              <a:t>{ </a:t>
            </a:r>
            <a:r>
              <a:rPr lang="en-IN" sz="1700" dirty="0" smtClean="0">
                <a:solidFill>
                  <a:srgbClr val="00B0F0"/>
                </a:solidFill>
                <a:cs typeface="Leelawadee" pitchFamily="34" charset="-34"/>
              </a:rPr>
              <a:t>input_state</a:t>
            </a:r>
            <a:r>
              <a:rPr lang="en-IN" sz="1700" dirty="0">
                <a:solidFill>
                  <a:srgbClr val="0070C0"/>
                </a:solidFill>
                <a:cs typeface="Leelawadee" pitchFamily="34" charset="-34"/>
              </a:rPr>
              <a:t>[</a:t>
            </a:r>
            <a:r>
              <a:rPr lang="en-IN" sz="1700" dirty="0">
                <a:solidFill>
                  <a:srgbClr val="FF4B21"/>
                </a:solidFill>
                <a:cs typeface="Leelawadee" pitchFamily="34" charset="-34"/>
              </a:rPr>
              <a:t>'string_value'</a:t>
            </a:r>
            <a:r>
              <a:rPr lang="en-IN" sz="1700" dirty="0">
                <a:solidFill>
                  <a:srgbClr val="0070C0"/>
                </a:solidFill>
                <a:cs typeface="Leelawadee" pitchFamily="34" charset="-34"/>
              </a:rPr>
              <a:t>]},</a:t>
            </a:r>
            <a:r>
              <a:rPr lang="en-IN" sz="1700" dirty="0">
                <a:cs typeface="Leelawadee" pitchFamily="34" charset="-34"/>
              </a:rPr>
              <a:t> </a:t>
            </a:r>
            <a:r>
              <a:rPr lang="en-IN" sz="1700" dirty="0">
                <a:solidFill>
                  <a:srgbClr val="0070C0"/>
                </a:solidFill>
                <a:cs typeface="Leelawadee" pitchFamily="34" charset="-34"/>
              </a:rPr>
              <a:t>{</a:t>
            </a:r>
            <a:r>
              <a:rPr lang="en-IN" sz="1700" dirty="0">
                <a:solidFill>
                  <a:srgbClr val="00B0F0"/>
                </a:solidFill>
                <a:cs typeface="Leelawadee" pitchFamily="34" charset="-34"/>
              </a:rPr>
              <a:t>input_state</a:t>
            </a:r>
            <a:r>
              <a:rPr lang="en-IN" sz="1700" dirty="0">
                <a:solidFill>
                  <a:srgbClr val="0070C0"/>
                </a:solidFill>
                <a:cs typeface="Leelawadee" pitchFamily="34" charset="-34"/>
              </a:rPr>
              <a:t>[</a:t>
            </a:r>
            <a:r>
              <a:rPr lang="en-IN" sz="1700" dirty="0">
                <a:solidFill>
                  <a:srgbClr val="FF4B21"/>
                </a:solidFill>
                <a:cs typeface="Leelawadee" pitchFamily="34" charset="-34"/>
              </a:rPr>
              <a:t>'numeric_value'</a:t>
            </a:r>
            <a:r>
              <a:rPr lang="en-IN" sz="1700" dirty="0">
                <a:solidFill>
                  <a:srgbClr val="0070C0"/>
                </a:solidFill>
                <a:cs typeface="Leelawadee" pitchFamily="34" charset="-34"/>
              </a:rPr>
              <a:t>]}</a:t>
            </a:r>
            <a:r>
              <a:rPr lang="en-IN" sz="1700" dirty="0">
                <a:solidFill>
                  <a:srgbClr val="FF6743"/>
                </a:solidFill>
                <a:cs typeface="Leelawadee" pitchFamily="34" charset="-34"/>
              </a:rPr>
              <a:t>"</a:t>
            </a:r>
            <a:r>
              <a:rPr lang="en-IN" sz="1700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)</a:t>
            </a:r>
          </a:p>
          <a:p>
            <a:r>
              <a:rPr lang="en-IN" sz="1700" dirty="0">
                <a:cs typeface="Leelawadee" pitchFamily="34" charset="-34"/>
              </a:rPr>
              <a:t>    </a:t>
            </a:r>
            <a:r>
              <a:rPr lang="en-IN" sz="1700" dirty="0">
                <a:solidFill>
                  <a:srgbClr val="00B0F0"/>
                </a:solidFill>
                <a:cs typeface="Leelawadee" pitchFamily="34" charset="-34"/>
              </a:rPr>
              <a:t> input_state</a:t>
            </a:r>
            <a:r>
              <a:rPr lang="en-IN" sz="1700" dirty="0">
                <a:solidFill>
                  <a:srgbClr val="0070C0"/>
                </a:solidFill>
                <a:cs typeface="Leelawadee" pitchFamily="34" charset="-34"/>
              </a:rPr>
              <a:t>[</a:t>
            </a:r>
            <a:r>
              <a:rPr lang="en-IN" sz="1700" dirty="0">
                <a:solidFill>
                  <a:srgbClr val="FF4B21"/>
                </a:solidFill>
                <a:cs typeface="Leelawadee" pitchFamily="34" charset="-34"/>
              </a:rPr>
              <a:t>'numeric_value'</a:t>
            </a:r>
            <a:r>
              <a:rPr lang="en-IN" sz="1700" dirty="0">
                <a:solidFill>
                  <a:srgbClr val="0070C0"/>
                </a:solidFill>
                <a:cs typeface="Leelawadee" pitchFamily="34" charset="-34"/>
              </a:rPr>
              <a:t>]</a:t>
            </a:r>
            <a:r>
              <a:rPr lang="en-IN" sz="1700" dirty="0">
                <a:cs typeface="Leelawadee" pitchFamily="34" charset="-34"/>
              </a:rPr>
              <a:t> </a:t>
            </a:r>
            <a:r>
              <a:rPr lang="en-IN" sz="1700" dirty="0">
                <a:solidFill>
                  <a:srgbClr val="0070C0"/>
                </a:solidFill>
                <a:cs typeface="Leelawadee" pitchFamily="34" charset="-34"/>
              </a:rPr>
              <a:t>=</a:t>
            </a:r>
            <a:r>
              <a:rPr lang="en-IN" sz="1700" dirty="0">
                <a:cs typeface="Leelawadee" pitchFamily="34" charset="-34"/>
              </a:rPr>
              <a:t> </a:t>
            </a:r>
            <a:r>
              <a:rPr lang="en-IN" sz="1700" dirty="0" smtClean="0">
                <a:solidFill>
                  <a:srgbClr val="00B0F0"/>
                </a:solidFill>
                <a:cs typeface="Leelawadee" pitchFamily="34" charset="-34"/>
              </a:rPr>
              <a:t>input_state</a:t>
            </a:r>
            <a:r>
              <a:rPr lang="en-IN" sz="1700" dirty="0">
                <a:solidFill>
                  <a:srgbClr val="0070C0"/>
                </a:solidFill>
                <a:cs typeface="Leelawadee" pitchFamily="34" charset="-34"/>
              </a:rPr>
              <a:t>[</a:t>
            </a:r>
            <a:r>
              <a:rPr lang="en-IN" sz="1700" dirty="0">
                <a:solidFill>
                  <a:srgbClr val="FF4B21"/>
                </a:solidFill>
                <a:cs typeface="Leelawadee" pitchFamily="34" charset="-34"/>
              </a:rPr>
              <a:t>'numeric_value</a:t>
            </a:r>
            <a:r>
              <a:rPr lang="en-IN" sz="1700" dirty="0" smtClean="0">
                <a:solidFill>
                  <a:srgbClr val="FF4B21"/>
                </a:solidFill>
                <a:cs typeface="Leelawadee" pitchFamily="34" charset="-34"/>
              </a:rPr>
              <a:t>'</a:t>
            </a:r>
            <a:r>
              <a:rPr lang="en-IN" sz="1700" dirty="0" smtClean="0">
                <a:solidFill>
                  <a:srgbClr val="0070C0"/>
                </a:solidFill>
                <a:cs typeface="Leelawadee" pitchFamily="34" charset="-34"/>
              </a:rPr>
              <a:t>]</a:t>
            </a:r>
            <a:r>
              <a:rPr lang="en-IN" sz="1700" dirty="0" smtClean="0">
                <a:cs typeface="Leelawadee" pitchFamily="34" charset="-34"/>
              </a:rPr>
              <a:t> </a:t>
            </a:r>
            <a:r>
              <a:rPr lang="en-IN" sz="1700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+ </a:t>
            </a:r>
            <a:r>
              <a:rPr lang="en-IN" sz="1700" dirty="0" smtClean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1</a:t>
            </a:r>
            <a:endParaRPr lang="en-IN" sz="1700" dirty="0">
              <a:solidFill>
                <a:schemeClr val="accent2">
                  <a:lumMod val="50000"/>
                </a:schemeClr>
              </a:solidFill>
              <a:cs typeface="Leelawadee" pitchFamily="34" charset="-34"/>
            </a:endParaRPr>
          </a:p>
          <a:p>
            <a:r>
              <a:rPr lang="en-IN" sz="1700" dirty="0">
                <a:cs typeface="Leelawadee" pitchFamily="34" charset="-34"/>
              </a:rPr>
              <a:t>    </a:t>
            </a:r>
            <a:r>
              <a:rPr lang="en-IN" sz="1700" dirty="0">
                <a:solidFill>
                  <a:srgbClr val="7030A0"/>
                </a:solidFill>
                <a:cs typeface="Leelawadee" pitchFamily="34" charset="-34"/>
              </a:rPr>
              <a:t>return</a:t>
            </a:r>
            <a:r>
              <a:rPr lang="en-IN" sz="1700" dirty="0">
                <a:cs typeface="Leelawadee" pitchFamily="34" charset="-34"/>
              </a:rPr>
              <a:t> </a:t>
            </a:r>
            <a:r>
              <a:rPr lang="en-IN" sz="1700" dirty="0" smtClean="0">
                <a:solidFill>
                  <a:srgbClr val="0070C0"/>
                </a:solidFill>
                <a:cs typeface="Leelawadee" pitchFamily="34" charset="-34"/>
              </a:rPr>
              <a:t>input_state</a:t>
            </a:r>
          </a:p>
          <a:p>
            <a:endParaRPr lang="en-US" sz="1700" dirty="0">
              <a:solidFill>
                <a:srgbClr val="0070C0"/>
              </a:solidFill>
              <a:cs typeface="Leelawadee" pitchFamily="34" charset="-34"/>
            </a:endParaRPr>
          </a:p>
          <a:p>
            <a:r>
              <a:rPr lang="en-US" sz="1700" dirty="0">
                <a:solidFill>
                  <a:srgbClr val="7030A0"/>
                </a:solidFill>
                <a:cs typeface="Leelawadee" pitchFamily="34" charset="-34"/>
              </a:rPr>
              <a:t>def</a:t>
            </a:r>
            <a:r>
              <a:rPr lang="en-US" sz="1700" dirty="0"/>
              <a:t> </a:t>
            </a:r>
            <a:r>
              <a:rPr lang="en-US" sz="1700" dirty="0" smtClean="0">
                <a:solidFill>
                  <a:schemeClr val="accent2">
                    <a:lumMod val="50000"/>
                  </a:schemeClr>
                </a:solidFill>
              </a:rPr>
              <a:t>router(</a:t>
            </a:r>
            <a:r>
              <a:rPr lang="en-US" sz="1700" dirty="0" smtClean="0">
                <a:solidFill>
                  <a:srgbClr val="00B0F0"/>
                </a:solidFill>
              </a:rPr>
              <a:t>inputState : State</a:t>
            </a:r>
            <a:r>
              <a:rPr lang="en-US" sz="1700" dirty="0">
                <a:solidFill>
                  <a:schemeClr val="accent2">
                    <a:lumMod val="50000"/>
                  </a:schemeClr>
                </a:solidFill>
              </a:rPr>
              <a:t>) -&gt; </a:t>
            </a:r>
            <a:r>
              <a:rPr lang="en-US" sz="1700" dirty="0">
                <a:solidFill>
                  <a:srgbClr val="0070C0"/>
                </a:solidFill>
              </a:rPr>
              <a:t>str</a:t>
            </a:r>
            <a:r>
              <a:rPr lang="en-US" sz="1700" dirty="0">
                <a:solidFill>
                  <a:schemeClr val="accent2">
                    <a:lumMod val="50000"/>
                  </a:schemeClr>
                </a:solidFill>
              </a:rPr>
              <a:t>:</a:t>
            </a:r>
          </a:p>
          <a:p>
            <a:r>
              <a:rPr lang="en-US" sz="1700" dirty="0"/>
              <a:t>    </a:t>
            </a:r>
            <a:r>
              <a:rPr lang="en-US" sz="1700" dirty="0">
                <a:solidFill>
                  <a:srgbClr val="7030A0"/>
                </a:solidFill>
              </a:rPr>
              <a:t>if</a:t>
            </a:r>
            <a:r>
              <a:rPr lang="en-US" sz="1700" dirty="0"/>
              <a:t> </a:t>
            </a:r>
            <a:r>
              <a:rPr lang="en-US" sz="1700" dirty="0">
                <a:solidFill>
                  <a:srgbClr val="0070C0"/>
                </a:solidFill>
              </a:rPr>
              <a:t>inputState</a:t>
            </a:r>
            <a:r>
              <a:rPr lang="en-US" sz="1700" dirty="0">
                <a:solidFill>
                  <a:schemeClr val="accent2">
                    <a:lumMod val="50000"/>
                  </a:schemeClr>
                </a:solidFill>
              </a:rPr>
              <a:t>[</a:t>
            </a:r>
            <a:r>
              <a:rPr lang="en-US" sz="1700" dirty="0">
                <a:solidFill>
                  <a:srgbClr val="FF4B21"/>
                </a:solidFill>
              </a:rPr>
              <a:t>'number'</a:t>
            </a:r>
            <a:r>
              <a:rPr lang="en-US" sz="1700" dirty="0">
                <a:solidFill>
                  <a:schemeClr val="accent2">
                    <a:lumMod val="50000"/>
                  </a:schemeClr>
                </a:solidFill>
              </a:rPr>
              <a:t>]</a:t>
            </a:r>
            <a:r>
              <a:rPr lang="en-US" sz="1700" dirty="0"/>
              <a:t> </a:t>
            </a:r>
            <a:r>
              <a:rPr lang="en-US" sz="1700" dirty="0">
                <a:solidFill>
                  <a:schemeClr val="accent2">
                    <a:lumMod val="50000"/>
                  </a:schemeClr>
                </a:solidFill>
              </a:rPr>
              <a:t>&lt;4:</a:t>
            </a:r>
          </a:p>
          <a:p>
            <a:r>
              <a:rPr lang="en-US" sz="1700" dirty="0"/>
              <a:t>        </a:t>
            </a:r>
            <a:r>
              <a:rPr lang="en-US" sz="1700" dirty="0">
                <a:solidFill>
                  <a:srgbClr val="7030A0"/>
                </a:solidFill>
                <a:cs typeface="Leelawadee" pitchFamily="34" charset="-34"/>
              </a:rPr>
              <a:t>return</a:t>
            </a:r>
            <a:r>
              <a:rPr lang="en-US" sz="1700" dirty="0"/>
              <a:t> </a:t>
            </a:r>
            <a:r>
              <a:rPr lang="en-US" sz="1700" dirty="0">
                <a:solidFill>
                  <a:srgbClr val="FF4B21"/>
                </a:solidFill>
              </a:rPr>
              <a:t>"branch_a"</a:t>
            </a:r>
          </a:p>
          <a:p>
            <a:r>
              <a:rPr lang="en-US" sz="1700" dirty="0"/>
              <a:t>    </a:t>
            </a:r>
            <a:r>
              <a:rPr lang="en-US" sz="1700" dirty="0">
                <a:solidFill>
                  <a:srgbClr val="7030A0"/>
                </a:solidFill>
              </a:rPr>
              <a:t>else</a:t>
            </a:r>
            <a:r>
              <a:rPr lang="en-US" sz="1700" dirty="0">
                <a:solidFill>
                  <a:schemeClr val="bg1">
                    <a:lumMod val="95000"/>
                  </a:schemeClr>
                </a:solidFill>
              </a:rPr>
              <a:t>:</a:t>
            </a:r>
          </a:p>
          <a:p>
            <a:r>
              <a:rPr lang="en-US" sz="1700" dirty="0"/>
              <a:t>        </a:t>
            </a:r>
            <a:r>
              <a:rPr lang="en-US" sz="1700" dirty="0">
                <a:solidFill>
                  <a:srgbClr val="7030A0"/>
                </a:solidFill>
                <a:cs typeface="Leelawadee" pitchFamily="34" charset="-34"/>
              </a:rPr>
              <a:t>return</a:t>
            </a:r>
            <a:r>
              <a:rPr lang="en-US" sz="1700" dirty="0"/>
              <a:t> </a:t>
            </a:r>
            <a:r>
              <a:rPr lang="en-US" sz="1700" dirty="0">
                <a:solidFill>
                  <a:srgbClr val="FF4B21"/>
                </a:solidFill>
              </a:rPr>
              <a:t>"__end</a:t>
            </a:r>
            <a:r>
              <a:rPr lang="en-US" sz="1700" dirty="0" smtClean="0">
                <a:solidFill>
                  <a:srgbClr val="FF4B21"/>
                </a:solidFill>
              </a:rPr>
              <a:t>__"</a:t>
            </a:r>
            <a:endParaRPr lang="en-US" sz="1700" dirty="0">
              <a:solidFill>
                <a:srgbClr val="FF4B2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74225" y="3586435"/>
            <a:ext cx="7760043" cy="283154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IN" sz="1600" dirty="0" smtClean="0">
                <a:solidFill>
                  <a:srgbClr val="0070C0"/>
                </a:solidFill>
                <a:cs typeface="Leelawadee" pitchFamily="34" charset="-34"/>
              </a:rPr>
              <a:t>graph</a:t>
            </a:r>
            <a:r>
              <a:rPr lang="en-IN" sz="1600" dirty="0" smtClean="0">
                <a:cs typeface="Leelawadee" pitchFamily="34" charset="-34"/>
              </a:rPr>
              <a:t> </a:t>
            </a:r>
            <a:r>
              <a:rPr lang="en-IN" sz="1600" dirty="0">
                <a:solidFill>
                  <a:srgbClr val="0070C0"/>
                </a:solidFill>
                <a:cs typeface="Leelawadee" pitchFamily="34" charset="-34"/>
              </a:rPr>
              <a:t>=</a:t>
            </a:r>
            <a:r>
              <a:rPr lang="en-IN" sz="1600" dirty="0">
                <a:cs typeface="Leelawadee" pitchFamily="34" charset="-34"/>
              </a:rPr>
              <a:t> </a:t>
            </a:r>
            <a:r>
              <a:rPr lang="en-IN" sz="1600" dirty="0">
                <a:solidFill>
                  <a:srgbClr val="00B0F0"/>
                </a:solidFill>
                <a:cs typeface="Leelawadee" pitchFamily="34" charset="-34"/>
              </a:rPr>
              <a:t>StateGraph</a:t>
            </a:r>
            <a:r>
              <a:rPr lang="en-IN" sz="1600" dirty="0">
                <a:solidFill>
                  <a:srgbClr val="0070C0"/>
                </a:solidFill>
                <a:cs typeface="Leelawadee" pitchFamily="34" charset="-34"/>
              </a:rPr>
              <a:t>(</a:t>
            </a:r>
            <a:r>
              <a:rPr lang="en-IN" sz="1600" dirty="0">
                <a:solidFill>
                  <a:srgbClr val="00CC99"/>
                </a:solidFill>
                <a:cs typeface="Leelawadee" pitchFamily="34" charset="-34"/>
              </a:rPr>
              <a:t>InputState</a:t>
            </a:r>
            <a:r>
              <a:rPr lang="en-IN" sz="1600" dirty="0">
                <a:solidFill>
                  <a:srgbClr val="0070C0"/>
                </a:solidFill>
                <a:cs typeface="Leelawadee" pitchFamily="34" charset="-34"/>
              </a:rPr>
              <a:t>)</a:t>
            </a:r>
          </a:p>
          <a:p>
            <a:r>
              <a:rPr lang="en-IN" sz="1600" dirty="0">
                <a:solidFill>
                  <a:srgbClr val="0070C0"/>
                </a:solidFill>
                <a:cs typeface="Leelawadee" pitchFamily="34" charset="-34"/>
              </a:rPr>
              <a:t>graph</a:t>
            </a:r>
            <a:r>
              <a:rPr lang="en-IN" sz="1600" dirty="0">
                <a:solidFill>
                  <a:srgbClr val="00B050"/>
                </a:solidFill>
                <a:cs typeface="Leelawadee" pitchFamily="34" charset="-34"/>
              </a:rPr>
              <a:t>.</a:t>
            </a:r>
            <a:r>
              <a:rPr lang="en-IN" sz="1600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a</a:t>
            </a:r>
            <a:r>
              <a:rPr lang="en-IN" sz="1600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dd_node</a:t>
            </a:r>
            <a:r>
              <a:rPr lang="en-IN" sz="1600" dirty="0">
                <a:solidFill>
                  <a:srgbClr val="0070C0"/>
                </a:solidFill>
                <a:cs typeface="Leelawadee" pitchFamily="34" charset="-34"/>
              </a:rPr>
              <a:t>(</a:t>
            </a:r>
            <a:r>
              <a:rPr lang="en-IN" sz="1600" dirty="0">
                <a:solidFill>
                  <a:srgbClr val="00B050"/>
                </a:solidFill>
                <a:cs typeface="Leelawadee" pitchFamily="34" charset="-34"/>
              </a:rPr>
              <a:t>"branch_a"</a:t>
            </a:r>
            <a:r>
              <a:rPr lang="en-IN" sz="1600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,</a:t>
            </a:r>
            <a:r>
              <a:rPr lang="en-IN" sz="1600" dirty="0">
                <a:cs typeface="Leelawadee" pitchFamily="34" charset="-34"/>
              </a:rPr>
              <a:t> </a:t>
            </a:r>
            <a:r>
              <a:rPr lang="en-IN" sz="1600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modify_input_state</a:t>
            </a:r>
            <a:r>
              <a:rPr lang="en-IN" sz="1600" dirty="0" smtClean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)</a:t>
            </a:r>
            <a:endParaRPr lang="en-IN" sz="1600" dirty="0">
              <a:solidFill>
                <a:schemeClr val="accent2">
                  <a:lumMod val="50000"/>
                </a:schemeClr>
              </a:solidFill>
              <a:cs typeface="Leelawadee" pitchFamily="34" charset="-34"/>
            </a:endParaRPr>
          </a:p>
          <a:p>
            <a:r>
              <a:rPr lang="en-IN" sz="1600" dirty="0">
                <a:solidFill>
                  <a:srgbClr val="0070C0"/>
                </a:solidFill>
                <a:cs typeface="Leelawadee" pitchFamily="34" charset="-34"/>
              </a:rPr>
              <a:t>graph</a:t>
            </a:r>
            <a:r>
              <a:rPr lang="en-IN" sz="1600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.add_node</a:t>
            </a:r>
            <a:r>
              <a:rPr lang="en-IN" sz="1600" dirty="0">
                <a:solidFill>
                  <a:srgbClr val="0070C0"/>
                </a:solidFill>
                <a:cs typeface="Leelawadee" pitchFamily="34" charset="-34"/>
              </a:rPr>
              <a:t>(</a:t>
            </a:r>
            <a:r>
              <a:rPr lang="en-IN" sz="1600" dirty="0">
                <a:solidFill>
                  <a:srgbClr val="00B050"/>
                </a:solidFill>
                <a:cs typeface="Leelawadee" pitchFamily="34" charset="-34"/>
              </a:rPr>
              <a:t>"branch_b"</a:t>
            </a:r>
            <a:r>
              <a:rPr lang="en-IN" sz="1600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,</a:t>
            </a:r>
            <a:r>
              <a:rPr lang="en-IN" sz="1600" dirty="0">
                <a:cs typeface="Leelawadee" pitchFamily="34" charset="-34"/>
              </a:rPr>
              <a:t> </a:t>
            </a:r>
            <a:r>
              <a:rPr lang="en-IN" sz="1600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modify_input_stat</a:t>
            </a:r>
            <a:r>
              <a:rPr lang="en-IN" sz="1600" dirty="0" smtClean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e</a:t>
            </a:r>
            <a:r>
              <a:rPr lang="en-IN" sz="1600" dirty="0" smtClean="0">
                <a:solidFill>
                  <a:srgbClr val="0070C0"/>
                </a:solidFill>
                <a:cs typeface="Leelawadee" pitchFamily="34" charset="-34"/>
              </a:rPr>
              <a:t>)</a:t>
            </a:r>
            <a:endParaRPr lang="en-IN" sz="1600" dirty="0">
              <a:solidFill>
                <a:srgbClr val="0070C0"/>
              </a:solidFill>
              <a:cs typeface="Leelawadee" pitchFamily="34" charset="-34"/>
            </a:endParaRPr>
          </a:p>
          <a:p>
            <a:r>
              <a:rPr lang="en-IN" sz="1600" dirty="0">
                <a:solidFill>
                  <a:srgbClr val="0070C0"/>
                </a:solidFill>
                <a:cs typeface="Leelawadee" pitchFamily="34" charset="-34"/>
              </a:rPr>
              <a:t>graph</a:t>
            </a:r>
            <a:r>
              <a:rPr lang="en-IN" sz="1600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.add_edge</a:t>
            </a:r>
            <a:r>
              <a:rPr lang="en-IN" sz="1600" dirty="0">
                <a:solidFill>
                  <a:srgbClr val="0070C0"/>
                </a:solidFill>
                <a:cs typeface="Leelawadee" pitchFamily="34" charset="-34"/>
              </a:rPr>
              <a:t>("</a:t>
            </a:r>
            <a:r>
              <a:rPr lang="en-IN" sz="1600" dirty="0">
                <a:solidFill>
                  <a:srgbClr val="00B050"/>
                </a:solidFill>
                <a:cs typeface="Leelawadee" pitchFamily="34" charset="-34"/>
              </a:rPr>
              <a:t>branch_a"</a:t>
            </a:r>
            <a:r>
              <a:rPr lang="en-IN" sz="1600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,</a:t>
            </a:r>
            <a:r>
              <a:rPr lang="en-IN" sz="1600" dirty="0">
                <a:cs typeface="Leelawadee" pitchFamily="34" charset="-34"/>
              </a:rPr>
              <a:t> </a:t>
            </a:r>
            <a:r>
              <a:rPr lang="en-IN" sz="1600" dirty="0">
                <a:solidFill>
                  <a:srgbClr val="00B050"/>
                </a:solidFill>
                <a:cs typeface="Leelawadee" pitchFamily="34" charset="-34"/>
              </a:rPr>
              <a:t>"branch_b"</a:t>
            </a:r>
            <a:r>
              <a:rPr lang="en-IN" sz="1600" dirty="0">
                <a:solidFill>
                  <a:srgbClr val="0070C0"/>
                </a:solidFill>
                <a:cs typeface="Leelawadee" pitchFamily="34" charset="-34"/>
              </a:rPr>
              <a:t>)</a:t>
            </a:r>
          </a:p>
          <a:p>
            <a:r>
              <a:rPr lang="en-US" sz="1600" i="1" dirty="0" smtClean="0">
                <a:solidFill>
                  <a:srgbClr val="0070C0"/>
                </a:solidFill>
                <a:cs typeface="Leelawadee" pitchFamily="34" charset="-34"/>
              </a:rPr>
              <a:t>graph</a:t>
            </a:r>
            <a:r>
              <a:rPr lang="en-US" sz="1600" i="1" dirty="0" smtClean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.add_conditional_edg</a:t>
            </a:r>
            <a:r>
              <a:rPr lang="en-US" sz="1600" i="1" dirty="0" smtClean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e</a:t>
            </a:r>
            <a:r>
              <a:rPr lang="en-US" sz="1600" i="1" dirty="0" smtClean="0">
                <a:solidFill>
                  <a:schemeClr val="accent2">
                    <a:lumMod val="50000"/>
                  </a:schemeClr>
                </a:solidFill>
              </a:rPr>
              <a:t>s(</a:t>
            </a:r>
            <a:r>
              <a:rPr lang="en-US" sz="1600" i="1" dirty="0" smtClean="0">
                <a:solidFill>
                  <a:srgbClr val="00B050"/>
                </a:solidFill>
              </a:rPr>
              <a:t>"</a:t>
            </a:r>
            <a:r>
              <a:rPr lang="en-US" sz="1600" i="1" dirty="0">
                <a:solidFill>
                  <a:srgbClr val="00B050"/>
                </a:solidFill>
              </a:rPr>
              <a:t>branch_b"</a:t>
            </a:r>
            <a:r>
              <a:rPr lang="en-US" sz="1600" i="1" dirty="0">
                <a:solidFill>
                  <a:schemeClr val="accent2">
                    <a:lumMod val="50000"/>
                  </a:schemeClr>
                </a:solidFill>
              </a:rPr>
              <a:t>,</a:t>
            </a:r>
            <a:r>
              <a:rPr lang="en-US" sz="1600" i="1" dirty="0" smtClean="0">
                <a:solidFill>
                  <a:schemeClr val="accent2">
                    <a:lumMod val="50000"/>
                  </a:schemeClr>
                </a:solidFill>
              </a:rPr>
              <a:t>router</a:t>
            </a:r>
            <a:r>
              <a:rPr lang="en-US" sz="1600" i="1" dirty="0">
                <a:solidFill>
                  <a:schemeClr val="accent2">
                    <a:lumMod val="50000"/>
                  </a:schemeClr>
                </a:solidFill>
              </a:rPr>
              <a:t>,{</a:t>
            </a:r>
            <a:r>
              <a:rPr lang="en-US" sz="1600" i="1" dirty="0">
                <a:solidFill>
                  <a:srgbClr val="00B050"/>
                </a:solidFill>
              </a:rPr>
              <a:t>"branch_a"</a:t>
            </a:r>
            <a:r>
              <a:rPr lang="en-US" sz="1600" i="1" dirty="0">
                <a:solidFill>
                  <a:schemeClr val="accent2">
                    <a:lumMod val="50000"/>
                  </a:schemeClr>
                </a:solidFill>
              </a:rPr>
              <a:t>:</a:t>
            </a:r>
            <a:r>
              <a:rPr lang="en-US" sz="1600" i="1" dirty="0">
                <a:solidFill>
                  <a:srgbClr val="00B050"/>
                </a:solidFill>
              </a:rPr>
              <a:t>"branch_a"</a:t>
            </a:r>
            <a:r>
              <a:rPr lang="en-US" sz="1600" i="1" dirty="0">
                <a:solidFill>
                  <a:schemeClr val="accent2">
                    <a:lumMod val="50000"/>
                  </a:schemeClr>
                </a:solidFill>
              </a:rPr>
              <a:t>,</a:t>
            </a:r>
            <a:r>
              <a:rPr lang="en-US" sz="1600" i="1" dirty="0">
                <a:solidFill>
                  <a:srgbClr val="00B050"/>
                </a:solidFill>
              </a:rPr>
              <a:t>"__end__"</a:t>
            </a:r>
            <a:r>
              <a:rPr lang="en-US" sz="1600" i="1" dirty="0">
                <a:solidFill>
                  <a:schemeClr val="accent2">
                    <a:lumMod val="50000"/>
                  </a:schemeClr>
                </a:solidFill>
              </a:rPr>
              <a:t>:</a:t>
            </a:r>
            <a:r>
              <a:rPr lang="en-US" sz="1600" i="1" dirty="0">
                <a:solidFill>
                  <a:srgbClr val="0070C0"/>
                </a:solidFill>
              </a:rPr>
              <a:t>END</a:t>
            </a:r>
            <a:r>
              <a:rPr lang="en-US" sz="1600" i="1" dirty="0">
                <a:solidFill>
                  <a:schemeClr val="accent2">
                    <a:lumMod val="50000"/>
                  </a:schemeClr>
                </a:solidFill>
              </a:rPr>
              <a:t>})</a:t>
            </a:r>
          </a:p>
          <a:p>
            <a:r>
              <a:rPr lang="en-IN" sz="1600" dirty="0" smtClean="0">
                <a:solidFill>
                  <a:srgbClr val="0070C0"/>
                </a:solidFill>
                <a:cs typeface="Leelawadee" pitchFamily="34" charset="-34"/>
              </a:rPr>
              <a:t>graph</a:t>
            </a:r>
            <a:r>
              <a:rPr lang="en-IN" sz="1600" dirty="0" smtClean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.set_entry_poin</a:t>
            </a:r>
            <a:r>
              <a:rPr lang="en-IN" sz="1600" dirty="0" smtClean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t</a:t>
            </a:r>
            <a:r>
              <a:rPr lang="en-IN" sz="1600" dirty="0">
                <a:solidFill>
                  <a:srgbClr val="0070C0"/>
                </a:solidFill>
                <a:cs typeface="Leelawadee" pitchFamily="34" charset="-34"/>
              </a:rPr>
              <a:t>(</a:t>
            </a:r>
            <a:r>
              <a:rPr lang="en-IN" sz="1600" dirty="0">
                <a:solidFill>
                  <a:srgbClr val="00B050"/>
                </a:solidFill>
                <a:cs typeface="Leelawadee" pitchFamily="34" charset="-34"/>
              </a:rPr>
              <a:t>"branch_a"</a:t>
            </a:r>
            <a:r>
              <a:rPr lang="en-IN" sz="1600" dirty="0">
                <a:solidFill>
                  <a:srgbClr val="0070C0"/>
                </a:solidFill>
                <a:cs typeface="Leelawadee" pitchFamily="34" charset="-34"/>
              </a:rPr>
              <a:t>)</a:t>
            </a:r>
          </a:p>
          <a:p>
            <a:endParaRPr lang="en-IN" sz="1600" dirty="0">
              <a:cs typeface="Leelawadee" pitchFamily="34" charset="-34"/>
            </a:endParaRPr>
          </a:p>
          <a:p>
            <a:r>
              <a:rPr lang="en-IN" sz="1600" dirty="0">
                <a:solidFill>
                  <a:srgbClr val="0070C0"/>
                </a:solidFill>
                <a:cs typeface="Leelawadee" pitchFamily="34" charset="-34"/>
              </a:rPr>
              <a:t>input_state</a:t>
            </a:r>
            <a:r>
              <a:rPr lang="en-IN" sz="1600" dirty="0">
                <a:cs typeface="Leelawadee" pitchFamily="34" charset="-34"/>
              </a:rPr>
              <a:t> </a:t>
            </a:r>
            <a:r>
              <a:rPr lang="en-IN" sz="1600" dirty="0">
                <a:solidFill>
                  <a:srgbClr val="0070C0"/>
                </a:solidFill>
                <a:cs typeface="Leelawadee" pitchFamily="34" charset="-34"/>
              </a:rPr>
              <a:t>=</a:t>
            </a:r>
            <a:r>
              <a:rPr lang="en-IN" sz="1600" dirty="0">
                <a:cs typeface="Leelawadee" pitchFamily="34" charset="-34"/>
              </a:rPr>
              <a:t> </a:t>
            </a:r>
            <a:r>
              <a:rPr lang="en-IN" sz="1600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{</a:t>
            </a:r>
            <a:r>
              <a:rPr lang="en-IN" sz="1600" dirty="0">
                <a:solidFill>
                  <a:srgbClr val="00B050"/>
                </a:solidFill>
                <a:cs typeface="Leelawadee" pitchFamily="34" charset="-34"/>
              </a:rPr>
              <a:t>"string_value"</a:t>
            </a:r>
            <a:r>
              <a:rPr lang="en-IN" sz="1600" dirty="0">
                <a:solidFill>
                  <a:srgbClr val="0070C0"/>
                </a:solidFill>
                <a:cs typeface="Leelawadee" pitchFamily="34" charset="-34"/>
              </a:rPr>
              <a:t>:</a:t>
            </a:r>
            <a:r>
              <a:rPr lang="en-IN" sz="1600" dirty="0">
                <a:cs typeface="Leelawadee" pitchFamily="34" charset="-34"/>
              </a:rPr>
              <a:t> </a:t>
            </a:r>
            <a:r>
              <a:rPr lang="en-IN" sz="1600" dirty="0">
                <a:solidFill>
                  <a:srgbClr val="00B050"/>
                </a:solidFill>
                <a:cs typeface="Leelawadee" pitchFamily="34" charset="-34"/>
              </a:rPr>
              <a:t>"hello"</a:t>
            </a:r>
            <a:r>
              <a:rPr lang="en-IN" sz="1600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, </a:t>
            </a:r>
            <a:r>
              <a:rPr lang="en-IN" sz="1600" dirty="0">
                <a:solidFill>
                  <a:srgbClr val="00B050"/>
                </a:solidFill>
                <a:cs typeface="Leelawadee" pitchFamily="34" charset="-34"/>
              </a:rPr>
              <a:t>"numeric_value"</a:t>
            </a:r>
            <a:r>
              <a:rPr lang="en-IN" sz="1600" b="1" dirty="0">
                <a:solidFill>
                  <a:srgbClr val="0070C0"/>
                </a:solidFill>
                <a:cs typeface="Leelawadee" pitchFamily="34" charset="-34"/>
              </a:rPr>
              <a:t>:</a:t>
            </a:r>
            <a:r>
              <a:rPr lang="en-IN" sz="1600" dirty="0">
                <a:cs typeface="Leelawadee" pitchFamily="34" charset="-34"/>
              </a:rPr>
              <a:t> </a:t>
            </a:r>
            <a:r>
              <a:rPr lang="en-IN" sz="1600" dirty="0">
                <a:solidFill>
                  <a:srgbClr val="00B050"/>
                </a:solidFill>
                <a:cs typeface="Leelawadee" pitchFamily="34" charset="-34"/>
              </a:rPr>
              <a:t>"1"</a:t>
            </a:r>
            <a:r>
              <a:rPr lang="en-IN" sz="1600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}</a:t>
            </a:r>
          </a:p>
          <a:p>
            <a:r>
              <a:rPr lang="en-IN" sz="1600" dirty="0">
                <a:solidFill>
                  <a:srgbClr val="0070C0"/>
                </a:solidFill>
                <a:cs typeface="Leelawadee" pitchFamily="34" charset="-34"/>
              </a:rPr>
              <a:t>runnable</a:t>
            </a:r>
            <a:r>
              <a:rPr lang="en-IN" sz="1600" dirty="0">
                <a:cs typeface="Leelawadee" pitchFamily="34" charset="-34"/>
              </a:rPr>
              <a:t> </a:t>
            </a:r>
            <a:r>
              <a:rPr lang="en-IN" sz="1600" dirty="0">
                <a:solidFill>
                  <a:srgbClr val="0070C0"/>
                </a:solidFill>
                <a:cs typeface="Leelawadee" pitchFamily="34" charset="-34"/>
              </a:rPr>
              <a:t>= graph</a:t>
            </a:r>
            <a:r>
              <a:rPr lang="en-IN" sz="1600" dirty="0">
                <a:solidFill>
                  <a:schemeClr val="bg1">
                    <a:lumMod val="95000"/>
                  </a:schemeClr>
                </a:solidFill>
                <a:cs typeface="Leelawadee" pitchFamily="34" charset="-34"/>
              </a:rPr>
              <a:t>.</a:t>
            </a:r>
            <a:r>
              <a:rPr lang="en-IN" sz="1600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compile</a:t>
            </a:r>
            <a:r>
              <a:rPr lang="en-IN" sz="1600" dirty="0" smtClean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()</a:t>
            </a:r>
          </a:p>
          <a:p>
            <a:r>
              <a:rPr lang="en-IN" sz="1600" i="1" dirty="0">
                <a:solidFill>
                  <a:srgbClr val="00B050"/>
                </a:solidFill>
              </a:rPr>
              <a:t>Image</a:t>
            </a:r>
            <a:r>
              <a:rPr lang="en-IN" sz="1600" i="1" dirty="0" smtClean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n-IN" sz="1600" i="1" dirty="0" smtClean="0"/>
              <a:t> </a:t>
            </a:r>
            <a:r>
              <a:rPr lang="en-IN" sz="1600" i="1" dirty="0" smtClean="0">
                <a:solidFill>
                  <a:srgbClr val="0070C0"/>
                </a:solidFill>
              </a:rPr>
              <a:t>runnable</a:t>
            </a:r>
            <a:r>
              <a:rPr lang="en-IN" sz="1600" i="1" dirty="0" smtClean="0">
                <a:solidFill>
                  <a:schemeClr val="bg1">
                    <a:lumMod val="95000"/>
                  </a:schemeClr>
                </a:solidFill>
              </a:rPr>
              <a:t>.</a:t>
            </a:r>
            <a:r>
              <a:rPr lang="en-IN" sz="1600" i="1" dirty="0" smtClean="0">
                <a:solidFill>
                  <a:schemeClr val="accent4">
                    <a:lumMod val="50000"/>
                  </a:schemeClr>
                </a:solidFill>
              </a:rPr>
              <a:t>get_graph</a:t>
            </a:r>
            <a:r>
              <a:rPr lang="en-IN" sz="1600" i="1" dirty="0">
                <a:solidFill>
                  <a:schemeClr val="accent4">
                    <a:lumMod val="50000"/>
                  </a:schemeClr>
                </a:solidFill>
              </a:rPr>
              <a:t>()</a:t>
            </a:r>
            <a:r>
              <a:rPr lang="en-IN" sz="1600" i="1" dirty="0">
                <a:solidFill>
                  <a:schemeClr val="bg1">
                    <a:lumMod val="95000"/>
                  </a:schemeClr>
                </a:solidFill>
              </a:rPr>
              <a:t>.</a:t>
            </a:r>
            <a:r>
              <a:rPr lang="en-IN" sz="1600" i="1" dirty="0">
                <a:solidFill>
                  <a:schemeClr val="accent4">
                    <a:lumMod val="50000"/>
                  </a:schemeClr>
                </a:solidFill>
              </a:rPr>
              <a:t>draw_mermaid_png</a:t>
            </a:r>
            <a:r>
              <a:rPr lang="en-IN" sz="1600" i="1" dirty="0" smtClean="0">
                <a:solidFill>
                  <a:schemeClr val="accent4">
                    <a:lumMod val="50000"/>
                  </a:schemeClr>
                </a:solidFill>
              </a:rPr>
              <a:t>() </a:t>
            </a:r>
            <a:r>
              <a:rPr lang="en-IN" sz="1600" i="1" dirty="0" smtClean="0">
                <a:solidFill>
                  <a:schemeClr val="accent2">
                    <a:lumMod val="50000"/>
                  </a:schemeClr>
                </a:solidFill>
              </a:rPr>
              <a:t>)</a:t>
            </a:r>
            <a:endParaRPr lang="en-IN" sz="1600" i="1" dirty="0">
              <a:solidFill>
                <a:schemeClr val="accent2">
                  <a:lumMod val="50000"/>
                </a:schemeClr>
              </a:solidFill>
              <a:cs typeface="Leelawadee" pitchFamily="34" charset="-34"/>
            </a:endParaRPr>
          </a:p>
          <a:p>
            <a:r>
              <a:rPr lang="en-IN" sz="1600" dirty="0">
                <a:solidFill>
                  <a:schemeClr val="accent1"/>
                </a:solidFill>
                <a:cs typeface="Leelawadee" pitchFamily="34" charset="-34"/>
              </a:rPr>
              <a:t>result</a:t>
            </a:r>
            <a:r>
              <a:rPr lang="en-IN" sz="1600" dirty="0">
                <a:cs typeface="Leelawadee" pitchFamily="34" charset="-34"/>
              </a:rPr>
              <a:t> </a:t>
            </a:r>
            <a:r>
              <a:rPr lang="en-IN" sz="1600" dirty="0">
                <a:solidFill>
                  <a:srgbClr val="0070C0"/>
                </a:solidFill>
                <a:cs typeface="Leelawadee" pitchFamily="34" charset="-34"/>
              </a:rPr>
              <a:t>=</a:t>
            </a:r>
            <a:r>
              <a:rPr lang="en-IN" sz="1600" dirty="0">
                <a:cs typeface="Leelawadee" pitchFamily="34" charset="-34"/>
              </a:rPr>
              <a:t> </a:t>
            </a:r>
            <a:r>
              <a:rPr lang="en-IN" sz="1600" dirty="0">
                <a:solidFill>
                  <a:srgbClr val="0070C0"/>
                </a:solidFill>
                <a:cs typeface="Leelawadee" pitchFamily="34" charset="-34"/>
              </a:rPr>
              <a:t>runnable</a:t>
            </a:r>
            <a:r>
              <a:rPr lang="en-IN" sz="1600" dirty="0">
                <a:solidFill>
                  <a:schemeClr val="accent4">
                    <a:lumMod val="50000"/>
                  </a:schemeClr>
                </a:solidFill>
                <a:cs typeface="Leelawadee" pitchFamily="34" charset="-34"/>
              </a:rPr>
              <a:t>.invoke</a:t>
            </a:r>
            <a:r>
              <a:rPr lang="en-IN" sz="1600" dirty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(</a:t>
            </a:r>
            <a:r>
              <a:rPr lang="en-IN" sz="1600" dirty="0">
                <a:solidFill>
                  <a:srgbClr val="00B0F0"/>
                </a:solidFill>
                <a:cs typeface="Leelawadee" pitchFamily="34" charset="-34"/>
              </a:rPr>
              <a:t>input_state</a:t>
            </a:r>
            <a:r>
              <a:rPr lang="en-IN" sz="1600" dirty="0" smtClean="0">
                <a:solidFill>
                  <a:schemeClr val="accent2">
                    <a:lumMod val="50000"/>
                  </a:schemeClr>
                </a:solidFill>
                <a:cs typeface="Leelawadee" pitchFamily="34" charset="-34"/>
              </a:rPr>
              <a:t>)</a:t>
            </a:r>
            <a:endParaRPr lang="en-IN" sz="1600" dirty="0">
              <a:solidFill>
                <a:schemeClr val="accent2">
                  <a:lumMod val="50000"/>
                </a:schemeClr>
              </a:solidFill>
              <a:cs typeface="Leelawadee" pitchFamily="34" charset="-34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175" y="0"/>
            <a:ext cx="995250" cy="2932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69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48672" y="178130"/>
            <a:ext cx="2074398" cy="338450"/>
            <a:chOff x="248672" y="195940"/>
            <a:chExt cx="2074398" cy="338450"/>
          </a:xfrm>
          <a:solidFill>
            <a:schemeClr val="accent1">
              <a:lumMod val="75000"/>
            </a:schemeClr>
          </a:solidFill>
        </p:grpSpPr>
        <p:cxnSp>
          <p:nvCxnSpPr>
            <p:cNvPr id="5" name="Straight Connector 4"/>
            <p:cNvCxnSpPr/>
            <p:nvPr/>
          </p:nvCxnSpPr>
          <p:spPr>
            <a:xfrm flipV="1">
              <a:off x="248672" y="528455"/>
              <a:ext cx="2074398" cy="5935"/>
            </a:xfrm>
            <a:prstGeom prst="line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/>
            <p:cNvSpPr/>
            <p:nvPr/>
          </p:nvSpPr>
          <p:spPr>
            <a:xfrm>
              <a:off x="391175" y="195940"/>
              <a:ext cx="1601397" cy="332515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 smtClean="0">
                  <a:solidFill>
                    <a:schemeClr val="bg1"/>
                  </a:solidFill>
                  <a:latin typeface="Bahnschrift" pitchFamily="34" charset="0"/>
                </a:rPr>
                <a:t>Tool Calling</a:t>
              </a:r>
              <a:endParaRPr lang="en-IN" sz="1400" dirty="0">
                <a:solidFill>
                  <a:schemeClr val="bg1"/>
                </a:solidFill>
                <a:latin typeface="Bahnschrift" pitchFamily="34" charset="0"/>
              </a:endParaRPr>
            </a:p>
          </p:txBody>
        </p:sp>
      </p:grp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36812" y="620300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/>
              <a:t>Agents can interact with the “outside” world intelligently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dirty="0"/>
              <a:t>They can query databases or call APIs.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6812" y="1753064"/>
            <a:ext cx="83535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  <a:latin typeface="Bahnschrift" pitchFamily="34" charset="0"/>
              </a:rPr>
              <a:t>Tool/Function Calling</a:t>
            </a:r>
            <a:r>
              <a:rPr lang="en-US" sz="1600" dirty="0">
                <a:solidFill>
                  <a:srgbClr val="00B050"/>
                </a:solidFill>
                <a:latin typeface="Bahnschrift" pitchFamily="34" charset="0"/>
              </a:rPr>
              <a:t> </a:t>
            </a:r>
            <a:r>
              <a:rPr lang="en-US" sz="1600" dirty="0"/>
              <a:t>is the default mechanism to </a:t>
            </a:r>
            <a:r>
              <a:rPr lang="en-US" sz="1600" dirty="0" smtClean="0"/>
              <a:t>empower(</a:t>
            </a:r>
            <a:r>
              <a:rPr lang="en-US" sz="1600" i="1" dirty="0" smtClean="0">
                <a:solidFill>
                  <a:srgbClr val="7030A0"/>
                </a:solidFill>
              </a:rPr>
              <a:t>give power</a:t>
            </a:r>
            <a:r>
              <a:rPr lang="en-US" sz="1600" dirty="0" smtClean="0"/>
              <a:t>) </a:t>
            </a:r>
            <a:r>
              <a:rPr lang="en-US" sz="1600" dirty="0"/>
              <a:t>language models (LLMs).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6812" y="2370120"/>
            <a:ext cx="113003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Bahnschrift" pitchFamily="34" charset="0"/>
              </a:rPr>
              <a:t>Important</a:t>
            </a:r>
            <a:r>
              <a:rPr lang="en-US" sz="1600" dirty="0">
                <a:solidFill>
                  <a:srgbClr val="0070C0"/>
                </a:solidFill>
              </a:rPr>
              <a:t>: </a:t>
            </a:r>
            <a:r>
              <a:rPr lang="en-US" sz="1600" dirty="0"/>
              <a:t>The LLM does </a:t>
            </a:r>
            <a:r>
              <a:rPr lang="en-US" sz="1600" b="1" dirty="0"/>
              <a:t>not</a:t>
            </a:r>
            <a:r>
              <a:rPr lang="en-US" sz="1600" dirty="0"/>
              <a:t> directly call a function itself. Instead, it </a:t>
            </a:r>
            <a:r>
              <a:rPr lang="en-US" sz="1600" b="1" dirty="0"/>
              <a:t>suggests</a:t>
            </a:r>
            <a:r>
              <a:rPr lang="en-US" sz="1600" dirty="0"/>
              <a:t> a function to call along with its arguments.</a:t>
            </a:r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2147826" y="3903962"/>
            <a:ext cx="5836113" cy="193899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 smtClean="0">
                <a:solidFill>
                  <a:schemeClr val="bg1"/>
                </a:solidFill>
              </a:rPr>
              <a:t>[{</a:t>
            </a:r>
          </a:p>
          <a:p>
            <a:pPr lvl="1"/>
            <a:r>
              <a:rPr lang="en-IN" sz="2000" dirty="0" smtClean="0">
                <a:solidFill>
                  <a:srgbClr val="00B050"/>
                </a:solidFill>
              </a:rPr>
              <a:t>'name‘ </a:t>
            </a:r>
            <a:r>
              <a:rPr lang="en-IN" sz="2000" dirty="0" smtClean="0">
                <a:solidFill>
                  <a:schemeClr val="bg1"/>
                </a:solidFill>
              </a:rPr>
              <a:t>: </a:t>
            </a:r>
            <a:r>
              <a:rPr lang="en-IN" sz="2000" dirty="0" smtClean="0">
                <a:solidFill>
                  <a:srgbClr val="00B050"/>
                </a:solidFill>
              </a:rPr>
              <a:t>‘Getweather‘ , </a:t>
            </a:r>
          </a:p>
          <a:p>
            <a:pPr lvl="1"/>
            <a:r>
              <a:rPr lang="en-IN" sz="2000" dirty="0" smtClean="0">
                <a:solidFill>
                  <a:srgbClr val="00B050"/>
                </a:solidFill>
              </a:rPr>
              <a:t>'args‘ </a:t>
            </a:r>
            <a:r>
              <a:rPr lang="en-IN" sz="2000" dirty="0" smtClean="0">
                <a:solidFill>
                  <a:schemeClr val="bg1"/>
                </a:solidFill>
              </a:rPr>
              <a:t>:  { </a:t>
            </a:r>
            <a:r>
              <a:rPr lang="en-IN" sz="2000" dirty="0" smtClean="0">
                <a:solidFill>
                  <a:srgbClr val="00B050"/>
                </a:solidFill>
              </a:rPr>
              <a:t>'location</a:t>
            </a:r>
            <a:r>
              <a:rPr lang="en-IN" sz="2000" dirty="0">
                <a:solidFill>
                  <a:srgbClr val="00B050"/>
                </a:solidFill>
              </a:rPr>
              <a:t>': </a:t>
            </a:r>
            <a:r>
              <a:rPr lang="en-IN" sz="2000" dirty="0" smtClean="0">
                <a:solidFill>
                  <a:srgbClr val="00B050"/>
                </a:solidFill>
              </a:rPr>
              <a:t>'Munich‘ </a:t>
            </a:r>
            <a:r>
              <a:rPr lang="en-IN" sz="2000" dirty="0" smtClean="0">
                <a:solidFill>
                  <a:schemeClr val="bg1"/>
                </a:solidFill>
              </a:rPr>
              <a:t>}</a:t>
            </a:r>
            <a:r>
              <a:rPr lang="en-IN" sz="2000" dirty="0" smtClean="0">
                <a:solidFill>
                  <a:srgbClr val="00B050"/>
                </a:solidFill>
              </a:rPr>
              <a:t>, </a:t>
            </a:r>
          </a:p>
          <a:p>
            <a:pPr lvl="1"/>
            <a:r>
              <a:rPr lang="en-IN" sz="2000" dirty="0" smtClean="0">
                <a:solidFill>
                  <a:srgbClr val="00B050"/>
                </a:solidFill>
              </a:rPr>
              <a:t>'id</a:t>
            </a:r>
            <a:r>
              <a:rPr lang="en-IN" sz="2000" dirty="0">
                <a:solidFill>
                  <a:srgbClr val="00B050"/>
                </a:solidFill>
              </a:rPr>
              <a:t>'</a:t>
            </a:r>
            <a:r>
              <a:rPr lang="en-IN" sz="2000" dirty="0">
                <a:solidFill>
                  <a:schemeClr val="bg1"/>
                </a:solidFill>
              </a:rPr>
              <a:t>: </a:t>
            </a:r>
            <a:r>
              <a:rPr lang="en-IN" sz="2000" dirty="0">
                <a:solidFill>
                  <a:srgbClr val="00B050"/>
                </a:solidFill>
              </a:rPr>
              <a:t>'call_WYPHvi0IndQ4oeBZiuNhr', </a:t>
            </a:r>
            <a:endParaRPr lang="en-IN" sz="2000" dirty="0" smtClean="0">
              <a:solidFill>
                <a:srgbClr val="00B050"/>
              </a:solidFill>
            </a:endParaRPr>
          </a:p>
          <a:p>
            <a:pPr lvl="1"/>
            <a:r>
              <a:rPr lang="en-IN" sz="2000" dirty="0" smtClean="0">
                <a:solidFill>
                  <a:srgbClr val="00B050"/>
                </a:solidFill>
              </a:rPr>
              <a:t>'type</a:t>
            </a:r>
            <a:r>
              <a:rPr lang="en-IN" sz="2000" dirty="0">
                <a:solidFill>
                  <a:srgbClr val="00B050"/>
                </a:solidFill>
              </a:rPr>
              <a:t>'</a:t>
            </a:r>
            <a:r>
              <a:rPr lang="en-IN" sz="2000" dirty="0">
                <a:solidFill>
                  <a:schemeClr val="bg1"/>
                </a:solidFill>
              </a:rPr>
              <a:t>: </a:t>
            </a:r>
            <a:r>
              <a:rPr lang="en-IN" sz="2000" dirty="0" smtClean="0">
                <a:solidFill>
                  <a:srgbClr val="00B050"/>
                </a:solidFill>
              </a:rPr>
              <a:t>'tool_call‘</a:t>
            </a:r>
          </a:p>
          <a:p>
            <a:r>
              <a:rPr lang="en-IN" sz="2000" dirty="0" smtClean="0">
                <a:solidFill>
                  <a:schemeClr val="bg1"/>
                </a:solidFill>
              </a:rPr>
              <a:t>}]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95777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57200" y="457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762000" y="7620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914400" y="914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grpSp>
        <p:nvGrpSpPr>
          <p:cNvPr id="14" name="Group 13"/>
          <p:cNvGrpSpPr/>
          <p:nvPr/>
        </p:nvGrpSpPr>
        <p:grpSpPr>
          <a:xfrm>
            <a:off x="343469" y="378893"/>
            <a:ext cx="9141725" cy="4770537"/>
            <a:chOff x="343469" y="378893"/>
            <a:chExt cx="9141725" cy="4770537"/>
          </a:xfrm>
        </p:grpSpPr>
        <p:grpSp>
          <p:nvGrpSpPr>
            <p:cNvPr id="8" name="Group 7"/>
            <p:cNvGrpSpPr/>
            <p:nvPr/>
          </p:nvGrpSpPr>
          <p:grpSpPr>
            <a:xfrm>
              <a:off x="343469" y="378893"/>
              <a:ext cx="9141725" cy="4770537"/>
              <a:chOff x="343469" y="378893"/>
              <a:chExt cx="9141725" cy="4770537"/>
            </a:xfrm>
          </p:grpSpPr>
          <p:sp>
            <p:nvSpPr>
              <p:cNvPr id="3" name="Rectangle 1"/>
              <p:cNvSpPr>
                <a:spLocks noChangeArrowheads="1"/>
              </p:cNvSpPr>
              <p:nvPr/>
            </p:nvSpPr>
            <p:spPr bwMode="auto">
              <a:xfrm>
                <a:off x="343469" y="378893"/>
                <a:ext cx="9141725" cy="4770537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from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00CC99"/>
                    </a:solidFill>
                    <a:effectLst/>
                    <a:cs typeface="Arial" pitchFamily="34" charset="0"/>
                  </a:rPr>
                  <a:t>langchain_openai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import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00CC99"/>
                    </a:solidFill>
                    <a:effectLst/>
                    <a:cs typeface="Arial" pitchFamily="34" charset="0"/>
                  </a:rPr>
                  <a:t>AzureChatOpenAI, AzureOpenAIEmbeddings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from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00CC99"/>
                    </a:solidFill>
                    <a:effectLst/>
                    <a:cs typeface="Arial" pitchFamily="34" charset="0"/>
                  </a:rPr>
                  <a:t>langchain.prompts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import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00CC99"/>
                    </a:solidFill>
                    <a:effectLst/>
                    <a:cs typeface="Arial" pitchFamily="34" charset="0"/>
                  </a:rPr>
                  <a:t>PromptTemplate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from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lang="en-US" sz="1600" dirty="0">
                    <a:solidFill>
                      <a:srgbClr val="00CC99"/>
                    </a:solidFill>
                    <a:cs typeface="Arial" pitchFamily="34" charset="0"/>
                  </a:rPr>
                  <a:t>dotenv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import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chemeClr val="accent4"/>
                    </a:solidFill>
                    <a:effectLst/>
                    <a:cs typeface="Arial" pitchFamily="34" charset="0"/>
                  </a:rPr>
                  <a:t>load_dotenv, find_dotenv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import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lang="en-US" sz="1600" dirty="0">
                    <a:solidFill>
                      <a:srgbClr val="00CC99"/>
                    </a:solidFill>
                    <a:cs typeface="Arial" pitchFamily="34" charset="0"/>
                  </a:rPr>
                  <a:t>os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from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l</a:t>
                </a:r>
                <a:r>
                  <a:rPr lang="en-US" sz="1600" dirty="0">
                    <a:solidFill>
                      <a:srgbClr val="00CC99"/>
                    </a:solidFill>
                    <a:cs typeface="Arial" pitchFamily="34" charset="0"/>
                  </a:rPr>
                  <a:t>angchain_core.tools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import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tool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from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lang="en-US" sz="1600" dirty="0">
                    <a:solidFill>
                      <a:srgbClr val="00CC99"/>
                    </a:solidFill>
                    <a:cs typeface="Arial" pitchFamily="34" charset="0"/>
                  </a:rPr>
                  <a:t>langchain_core.messages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import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lang="en-US" sz="1600" dirty="0">
                    <a:solidFill>
                      <a:srgbClr val="00CC99"/>
                    </a:solidFill>
                    <a:cs typeface="Arial" pitchFamily="34" charset="0"/>
                  </a:rPr>
                  <a:t>HumanMessage, AIMessage, ToolMessage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sz="1600" dirty="0">
                  <a:solidFill>
                    <a:srgbClr val="D4D4D4"/>
                  </a:solidFill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chemeClr val="accent4"/>
                    </a:solidFill>
                    <a:effectLst/>
                    <a:cs typeface="Arial" pitchFamily="34" charset="0"/>
                  </a:rPr>
                  <a:t>load_dotenv(find_dotenv()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,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00B0F0"/>
                    </a:solidFill>
                    <a:effectLst/>
                    <a:cs typeface="Arial" pitchFamily="34" charset="0"/>
                  </a:rPr>
                  <a:t>override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=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True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)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chemeClr val="accent1"/>
                    </a:solidFill>
                    <a:effectLst/>
                    <a:cs typeface="Arial" pitchFamily="34" charset="0"/>
                  </a:rPr>
                  <a:t>endpoint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= os.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chemeClr val="accent4"/>
                    </a:solidFill>
                    <a:effectLst/>
                    <a:cs typeface="Arial" pitchFamily="34" charset="0"/>
                  </a:rPr>
                  <a:t>getenv(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CE9178"/>
                    </a:solidFill>
                    <a:effectLst/>
                    <a:cs typeface="Arial" pitchFamily="34" charset="0"/>
                  </a:rPr>
                  <a:t>"ENDPOINT_URL"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chemeClr val="accent4"/>
                    </a:solidFill>
                    <a:effectLst/>
                    <a:cs typeface="Arial" pitchFamily="34" charset="0"/>
                  </a:rPr>
                  <a:t>)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chemeClr val="accent5"/>
                    </a:solidFill>
                    <a:effectLst/>
                    <a:cs typeface="Arial" pitchFamily="34" charset="0"/>
                  </a:rPr>
                  <a:t>subscription_key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= os.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chemeClr val="accent4"/>
                    </a:solidFill>
                    <a:effectLst/>
                    <a:cs typeface="Arial" pitchFamily="34" charset="0"/>
                  </a:rPr>
                  <a:t>getenv(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CE9178"/>
                    </a:solidFill>
                    <a:effectLst/>
                    <a:cs typeface="Arial" pitchFamily="34" charset="0"/>
                  </a:rPr>
                  <a:t>"AZURE_OPENAI_API_KEY"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chemeClr val="accent4"/>
                    </a:solidFill>
                    <a:effectLst/>
                    <a:cs typeface="Arial" pitchFamily="34" charset="0"/>
                  </a:rPr>
                  <a:t>)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chemeClr val="accent5"/>
                    </a:solidFill>
                    <a:effectLst/>
                    <a:cs typeface="Arial" pitchFamily="34" charset="0"/>
                  </a:rPr>
                  <a:t>api_version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=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CE9178"/>
                    </a:solidFill>
                    <a:effectLst/>
                    <a:cs typeface="Arial" pitchFamily="34" charset="0"/>
                  </a:rPr>
                  <a:t>"2025-01-01-preview"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sz="1600" dirty="0">
                  <a:solidFill>
                    <a:srgbClr val="D4D4D4"/>
                  </a:solidFill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@tool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def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CDCAA"/>
                    </a:solidFill>
                    <a:effectLst/>
                    <a:cs typeface="Arial" pitchFamily="34" charset="0"/>
                  </a:rPr>
                  <a:t>currentTemperature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(country: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4EC9B0"/>
                    </a:solidFill>
                    <a:effectLst/>
                    <a:cs typeface="Arial" pitchFamily="34" charset="0"/>
                  </a:rPr>
                  <a:t>str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) -&gt;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4EC9B0"/>
                    </a:solidFill>
                    <a:effectLst/>
                    <a:cs typeface="Arial" pitchFamily="34" charset="0"/>
                  </a:rPr>
                  <a:t>int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CE9178"/>
                    </a:solidFill>
                    <a:effectLst/>
                    <a:cs typeface="Arial" pitchFamily="34" charset="0"/>
                  </a:rPr>
                  <a:t>'''current temperature of the country'''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</a:p>
              <a:p>
                <a:pPr lvl="1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if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country.startswith(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CE9178"/>
                    </a:solidFill>
                    <a:effectLst/>
                    <a:cs typeface="Arial" pitchFamily="34" charset="0"/>
                  </a:rPr>
                  <a:t>"i"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): </a:t>
                </a:r>
              </a:p>
              <a:p>
                <a:pPr lvl="2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return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B5CEA8"/>
                    </a:solidFill>
                    <a:effectLst/>
                    <a:cs typeface="Arial" pitchFamily="34" charset="0"/>
                  </a:rPr>
                  <a:t>10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elif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country.startswith(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CE9178"/>
                    </a:solidFill>
                    <a:effectLst/>
                    <a:cs typeface="Arial" pitchFamily="34" charset="0"/>
                  </a:rPr>
                  <a:t>"u"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): </a:t>
                </a:r>
              </a:p>
              <a:p>
                <a:pPr lvl="2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return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B5CEA8"/>
                    </a:solidFill>
                    <a:effectLst/>
                    <a:cs typeface="Arial" pitchFamily="34" charset="0"/>
                  </a:rPr>
                  <a:t>20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</a:p>
              <a:p>
                <a:pPr lvl="2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else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: </a:t>
                </a:r>
              </a:p>
              <a:p>
                <a:pPr lvl="2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return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B5CEA8"/>
                    </a:solidFill>
                    <a:effectLst/>
                    <a:cs typeface="Arial" pitchFamily="34" charset="0"/>
                  </a:rPr>
                  <a:t>30</a:t>
                </a: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7151428" y="4692230"/>
                <a:ext cx="2333766" cy="457200"/>
              </a:xfrm>
              <a:prstGeom prst="rect">
                <a:avLst/>
              </a:prstGeom>
              <a:solidFill>
                <a:srgbClr val="FF6743"/>
              </a:solidFill>
              <a:ln>
                <a:solidFill>
                  <a:srgbClr val="FF674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solidFill>
                      <a:schemeClr val="bg1"/>
                    </a:solidFill>
                    <a:latin typeface="Bahnschrift" pitchFamily="34" charset="0"/>
                  </a:rPr>
                  <a:t>Langchain Tool Calling</a:t>
                </a:r>
                <a:endParaRPr lang="en-IN" sz="1600" dirty="0">
                  <a:solidFill>
                    <a:schemeClr val="bg1"/>
                  </a:solidFill>
                  <a:latin typeface="Bahnschrift" pitchFamily="34" charset="0"/>
                </a:endParaRPr>
              </a:p>
            </p:txBody>
          </p:sp>
        </p:grpSp>
        <p:sp>
          <p:nvSpPr>
            <p:cNvPr id="10" name="Dodecagon 9"/>
            <p:cNvSpPr/>
            <p:nvPr/>
          </p:nvSpPr>
          <p:spPr>
            <a:xfrm>
              <a:off x="6694228" y="4692230"/>
              <a:ext cx="457200" cy="457200"/>
            </a:xfrm>
            <a:prstGeom prst="dodecagon">
              <a:avLst/>
            </a:prstGeom>
            <a:solidFill>
              <a:srgbClr val="FF6743"/>
            </a:solidFill>
            <a:ln>
              <a:solidFill>
                <a:srgbClr val="FF67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Bahnschrift" pitchFamily="34" charset="0"/>
                </a:rPr>
                <a:t>1</a:t>
              </a:r>
              <a:endParaRPr lang="en-IN" dirty="0">
                <a:latin typeface="Bahnschrif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8408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313899" y="217193"/>
            <a:ext cx="11552830" cy="4524315"/>
            <a:chOff x="313899" y="217193"/>
            <a:chExt cx="11552830" cy="4524315"/>
          </a:xfrm>
        </p:grpSpPr>
        <p:sp>
          <p:nvSpPr>
            <p:cNvPr id="2" name="Rectangle 1"/>
            <p:cNvSpPr>
              <a:spLocks noChangeArrowheads="1"/>
            </p:cNvSpPr>
            <p:nvPr/>
          </p:nvSpPr>
          <p:spPr bwMode="auto">
            <a:xfrm>
              <a:off x="313899" y="217193"/>
              <a:ext cx="11552830" cy="452431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9525">
              <a:solidFill>
                <a:srgbClr val="92D05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 smtClean="0">
                  <a:solidFill>
                    <a:schemeClr val="accent1"/>
                  </a:solidFill>
                  <a:cs typeface="Arial" pitchFamily="34" charset="0"/>
                </a:rPr>
                <a:t>tool_mapping</a:t>
              </a:r>
              <a:r>
                <a:rPr lang="en-US" dirty="0" smtClean="0">
                  <a:solidFill>
                    <a:srgbClr val="D4D4D4"/>
                  </a:solidFill>
                  <a:cs typeface="Arial" pitchFamily="34" charset="0"/>
                </a:rPr>
                <a:t> = { </a:t>
              </a:r>
              <a:r>
                <a:rPr lang="en-US" dirty="0" smtClean="0">
                  <a:solidFill>
                    <a:srgbClr val="CE9178"/>
                  </a:solidFill>
                  <a:cs typeface="Arial" pitchFamily="34" charset="0"/>
                </a:rPr>
                <a:t>"currentTemperature"</a:t>
              </a:r>
              <a:r>
                <a:rPr lang="en-US" dirty="0" smtClean="0">
                  <a:solidFill>
                    <a:srgbClr val="D4D4D4"/>
                  </a:solidFill>
                  <a:cs typeface="Arial" pitchFamily="34" charset="0"/>
                </a:rPr>
                <a:t>: </a:t>
              </a:r>
              <a:r>
                <a:rPr lang="en-US" dirty="0" smtClean="0">
                  <a:solidFill>
                    <a:schemeClr val="accent4"/>
                  </a:solidFill>
                  <a:cs typeface="Arial" pitchFamily="34" charset="0"/>
                </a:rPr>
                <a:t>currentTemperature </a:t>
              </a:r>
              <a:r>
                <a:rPr lang="en-US" dirty="0" smtClean="0">
                  <a:solidFill>
                    <a:srgbClr val="D4D4D4"/>
                  </a:solidFill>
                  <a:cs typeface="Arial" pitchFamily="34" charset="0"/>
                </a:rPr>
                <a:t>}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 smtClean="0">
                  <a:solidFill>
                    <a:schemeClr val="accent1"/>
                  </a:solidFill>
                  <a:cs typeface="Arial" pitchFamily="34" charset="0"/>
                </a:rPr>
                <a:t>tools</a:t>
              </a:r>
              <a:r>
                <a:rPr lang="en-US" dirty="0" smtClean="0">
                  <a:solidFill>
                    <a:srgbClr val="D4D4D4"/>
                  </a:solidFill>
                  <a:cs typeface="Arial" pitchFamily="34" charset="0"/>
                </a:rPr>
                <a:t> </a:t>
              </a:r>
              <a:r>
                <a:rPr lang="en-US" dirty="0">
                  <a:solidFill>
                    <a:srgbClr val="D4D4D4"/>
                  </a:solidFill>
                  <a:cs typeface="Arial" pitchFamily="34" charset="0"/>
                </a:rPr>
                <a:t>= [currentTemperature]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accent1"/>
                  </a:solidFill>
                  <a:cs typeface="Arial" pitchFamily="34" charset="0"/>
                </a:rPr>
                <a:t>llm</a:t>
              </a:r>
              <a:r>
                <a:rPr lang="en-US" dirty="0">
                  <a:solidFill>
                    <a:srgbClr val="D4D4D4"/>
                  </a:solidFill>
                  <a:cs typeface="Arial" pitchFamily="34" charset="0"/>
                </a:rPr>
                <a:t> = </a:t>
              </a:r>
              <a:r>
                <a:rPr lang="en-US" dirty="0">
                  <a:solidFill>
                    <a:srgbClr val="15C2FF"/>
                  </a:solidFill>
                  <a:cs typeface="Arial" pitchFamily="34" charset="0"/>
                </a:rPr>
                <a:t>AzureChatOpenAI</a:t>
              </a:r>
              <a:r>
                <a:rPr lang="en-US" dirty="0">
                  <a:solidFill>
                    <a:srgbClr val="D4D4D4"/>
                  </a:solidFill>
                  <a:cs typeface="Arial" pitchFamily="34" charset="0"/>
                </a:rPr>
                <a:t>( </a:t>
              </a:r>
              <a:r>
                <a:rPr lang="en-US" dirty="0" smtClean="0">
                  <a:solidFill>
                    <a:srgbClr val="0070C0"/>
                  </a:solidFill>
                  <a:cs typeface="Arial" pitchFamily="34" charset="0"/>
                </a:rPr>
                <a:t>azure_endpoint</a:t>
              </a:r>
              <a:r>
                <a:rPr lang="en-US" dirty="0" smtClean="0">
                  <a:solidFill>
                    <a:srgbClr val="D4D4D4"/>
                  </a:solidFill>
                  <a:cs typeface="Arial" pitchFamily="34" charset="0"/>
                </a:rPr>
                <a:t>=</a:t>
              </a:r>
              <a:r>
                <a:rPr lang="en-US" dirty="0" smtClean="0">
                  <a:solidFill>
                    <a:srgbClr val="0070C0"/>
                  </a:solidFill>
                  <a:cs typeface="Arial" pitchFamily="34" charset="0"/>
                </a:rPr>
                <a:t>endpoint</a:t>
              </a:r>
              <a:r>
                <a:rPr lang="en-US" dirty="0">
                  <a:solidFill>
                    <a:srgbClr val="D4D4D4"/>
                  </a:solidFill>
                  <a:cs typeface="Arial" pitchFamily="34" charset="0"/>
                </a:rPr>
                <a:t>, </a:t>
              </a:r>
              <a:r>
                <a:rPr lang="en-US" dirty="0" smtClean="0">
                  <a:solidFill>
                    <a:srgbClr val="0070C0"/>
                  </a:solidFill>
                  <a:cs typeface="Arial" pitchFamily="34" charset="0"/>
                </a:rPr>
                <a:t>api_key</a:t>
              </a:r>
              <a:r>
                <a:rPr lang="en-US" dirty="0" smtClean="0">
                  <a:solidFill>
                    <a:srgbClr val="D4D4D4"/>
                  </a:solidFill>
                  <a:cs typeface="Arial" pitchFamily="34" charset="0"/>
                </a:rPr>
                <a:t>=</a:t>
              </a:r>
              <a:r>
                <a:rPr lang="en-US" dirty="0" smtClean="0">
                  <a:solidFill>
                    <a:srgbClr val="0070C0"/>
                  </a:solidFill>
                  <a:cs typeface="Arial" pitchFamily="34" charset="0"/>
                </a:rPr>
                <a:t>subscription_key </a:t>
              </a:r>
              <a:r>
                <a:rPr lang="en-US" dirty="0" smtClean="0">
                  <a:solidFill>
                    <a:srgbClr val="D4D4D4"/>
                  </a:solidFill>
                  <a:cs typeface="Arial" pitchFamily="34" charset="0"/>
                </a:rPr>
                <a:t>, </a:t>
              </a:r>
              <a:r>
                <a:rPr lang="en-US" dirty="0" smtClean="0">
                  <a:solidFill>
                    <a:srgbClr val="0070C0"/>
                  </a:solidFill>
                  <a:cs typeface="Arial" pitchFamily="34" charset="0"/>
                </a:rPr>
                <a:t>api_version</a:t>
              </a:r>
              <a:r>
                <a:rPr lang="en-US" dirty="0" smtClean="0">
                  <a:solidFill>
                    <a:srgbClr val="D4D4D4"/>
                  </a:solidFill>
                  <a:cs typeface="Arial" pitchFamily="34" charset="0"/>
                </a:rPr>
                <a:t>=</a:t>
              </a:r>
              <a:r>
                <a:rPr lang="en-US" dirty="0" smtClean="0">
                  <a:solidFill>
                    <a:srgbClr val="0070C0"/>
                  </a:solidFill>
                  <a:cs typeface="Arial" pitchFamily="34" charset="0"/>
                </a:rPr>
                <a:t>api_version</a:t>
              </a:r>
              <a:r>
                <a:rPr lang="en-US" dirty="0" smtClean="0">
                  <a:solidFill>
                    <a:srgbClr val="D4D4D4"/>
                  </a:solidFill>
                  <a:cs typeface="Arial" pitchFamily="34" charset="0"/>
                </a:rPr>
                <a:t> </a:t>
              </a:r>
              <a:r>
                <a:rPr lang="en-US" dirty="0" smtClean="0">
                  <a:solidFill>
                    <a:schemeClr val="accent4"/>
                  </a:solidFill>
                  <a:cs typeface="Arial" pitchFamily="34" charset="0"/>
                </a:rPr>
                <a:t>).</a:t>
              </a:r>
              <a:r>
                <a:rPr lang="en-US" dirty="0">
                  <a:solidFill>
                    <a:schemeClr val="accent4"/>
                  </a:solidFill>
                  <a:cs typeface="Arial" pitchFamily="34" charset="0"/>
                </a:rPr>
                <a:t>bind_tools(</a:t>
              </a:r>
              <a:r>
                <a:rPr lang="en-US" dirty="0">
                  <a:solidFill>
                    <a:srgbClr val="D4D4D4"/>
                  </a:solidFill>
                  <a:cs typeface="Arial" pitchFamily="34" charset="0"/>
                </a:rPr>
                <a:t>tools</a:t>
              </a:r>
              <a:r>
                <a:rPr lang="en-US" dirty="0">
                  <a:solidFill>
                    <a:schemeClr val="accent4"/>
                  </a:solidFill>
                  <a:cs typeface="Arial" pitchFamily="34" charset="0"/>
                </a:rPr>
                <a:t>) 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0" lang="en-US" b="0" i="0" u="none" strike="noStrike" cap="none" normalizeH="0" baseline="0" dirty="0" smtClean="0">
                <a:ln>
                  <a:noFill/>
                </a:ln>
                <a:solidFill>
                  <a:srgbClr val="D4D4D4"/>
                </a:solidFill>
                <a:effectLst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b="0" i="0" u="none" strike="noStrike" cap="none" normalizeH="0" baseline="0" dirty="0" smtClean="0">
                <a:ln>
                  <a:noFill/>
                </a:ln>
                <a:solidFill>
                  <a:srgbClr val="D4D4D4"/>
                </a:solidFill>
                <a:effectLst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cs typeface="Arial" pitchFamily="34" charset="0"/>
                </a:rPr>
                <a:t>messages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= [HumanMessage(content=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"current temperature of pakistan"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)]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cs typeface="Arial" pitchFamily="34" charset="0"/>
                </a:rPr>
                <a:t>llm_output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= llm.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invoke(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messages)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messages.append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(l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lm_output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)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solidFill>
                  <a:srgbClr val="D4D4D4"/>
                </a:solidFill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for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00CC99"/>
                  </a:solidFill>
                  <a:effectLst/>
                  <a:cs typeface="Arial" pitchFamily="34" charset="0"/>
                </a:rPr>
                <a:t>tool_call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569CD6"/>
                  </a:solidFill>
                  <a:effectLst/>
                  <a:cs typeface="Arial" pitchFamily="34" charset="0"/>
                </a:rPr>
                <a:t>in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00CC99"/>
                  </a:solidFill>
                  <a:effectLst/>
                  <a:cs typeface="Arial" pitchFamily="34" charset="0"/>
                </a:rPr>
                <a:t>llm_output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.tool_calls: 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cs typeface="Arial" pitchFamily="34" charset="0"/>
                </a:rPr>
                <a:t>tool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=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00CC99"/>
                  </a:solidFill>
                  <a:effectLst/>
                  <a:cs typeface="Arial" pitchFamily="34" charset="0"/>
                </a:rPr>
                <a:t>tool_mapping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[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00CC99"/>
                  </a:solidFill>
                  <a:effectLst/>
                  <a:cs typeface="Arial" pitchFamily="34" charset="0"/>
                </a:rPr>
                <a:t>tool_call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[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"name"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]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]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cs typeface="Arial" pitchFamily="34" charset="0"/>
                </a:rPr>
                <a:t>tool_output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=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00CC99"/>
                  </a:solidFill>
                  <a:effectLst/>
                  <a:cs typeface="Arial" pitchFamily="34" charset="0"/>
                </a:rPr>
                <a:t>tool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.invoke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(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00CC99"/>
                  </a:solidFill>
                  <a:effectLst/>
                  <a:cs typeface="Arial" pitchFamily="34" charset="0"/>
                </a:rPr>
                <a:t>tool_call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[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"args"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]) 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00CC99"/>
                  </a:solidFill>
                  <a:effectLst/>
                  <a:cs typeface="Arial" pitchFamily="34" charset="0"/>
                </a:rPr>
                <a:t>messages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.append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(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00CC99"/>
                  </a:solidFill>
                  <a:effectLst/>
                  <a:cs typeface="Arial" pitchFamily="34" charset="0"/>
                </a:rPr>
                <a:t>ToolMessage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(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cs typeface="Arial" pitchFamily="34" charset="0"/>
                </a:rPr>
                <a:t>content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=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cs typeface="Arial" pitchFamily="34" charset="0"/>
                </a:rPr>
                <a:t>tool_output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,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cs typeface="Arial" pitchFamily="34" charset="0"/>
                </a:rPr>
                <a:t>tool_call_id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=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cs typeface="Arial" pitchFamily="34" charset="0"/>
                </a:rPr>
                <a:t>tool_call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[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CE9178"/>
                  </a:solidFill>
                  <a:effectLst/>
                  <a:cs typeface="Arial" pitchFamily="34" charset="0"/>
                </a:rPr>
                <a:t>"id"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]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)) </a:t>
              </a:r>
            </a:p>
            <a:p>
              <a:pPr lv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0" lang="en-US" b="0" i="0" u="none" strike="noStrike" cap="none" normalizeH="0" baseline="0" dirty="0" smtClean="0">
                <a:ln>
                  <a:noFill/>
                </a:ln>
                <a:solidFill>
                  <a:srgbClr val="D4D4D4"/>
                </a:solidFill>
                <a:effectLst/>
                <a:cs typeface="Arial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cs typeface="Arial" pitchFamily="34" charset="0"/>
                </a:rPr>
                <a:t>res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 = 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cs typeface="Arial" pitchFamily="34" charset="0"/>
                </a:rPr>
                <a:t>llm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rPr>
                <a:t>.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invoke(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00B0F0"/>
                  </a:solidFill>
                  <a:effectLst/>
                  <a:cs typeface="Arial" pitchFamily="34" charset="0"/>
                </a:rPr>
                <a:t>messages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accent4"/>
                  </a:solidFill>
                  <a:effectLst/>
                  <a:cs typeface="Arial" pitchFamily="34" charset="0"/>
                </a:rPr>
                <a:t>) 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9532963" y="2479350"/>
              <a:ext cx="2333766" cy="457200"/>
            </a:xfrm>
            <a:prstGeom prst="rect">
              <a:avLst/>
            </a:prstGeom>
            <a:solidFill>
              <a:srgbClr val="FF6743"/>
            </a:solidFill>
            <a:ln>
              <a:solidFill>
                <a:srgbClr val="FF67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bg1"/>
                  </a:solidFill>
                  <a:latin typeface="Bahnschrift" pitchFamily="34" charset="0"/>
                </a:rPr>
                <a:t>Langchain Tool Calling</a:t>
              </a:r>
              <a:endParaRPr lang="en-IN" sz="1600" dirty="0">
                <a:solidFill>
                  <a:schemeClr val="bg1"/>
                </a:solidFill>
                <a:latin typeface="Bahnschrift" pitchFamily="34" charset="0"/>
              </a:endParaRPr>
            </a:p>
          </p:txBody>
        </p:sp>
        <p:sp>
          <p:nvSpPr>
            <p:cNvPr id="6" name="Dodecagon 5"/>
            <p:cNvSpPr/>
            <p:nvPr/>
          </p:nvSpPr>
          <p:spPr>
            <a:xfrm>
              <a:off x="9075763" y="2479350"/>
              <a:ext cx="457200" cy="457200"/>
            </a:xfrm>
            <a:prstGeom prst="dodecagon">
              <a:avLst/>
            </a:prstGeom>
            <a:solidFill>
              <a:srgbClr val="FF6743"/>
            </a:solidFill>
            <a:ln>
              <a:solidFill>
                <a:srgbClr val="FF67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Bahnschrift" pitchFamily="34" charset="0"/>
                </a:rPr>
                <a:t>2</a:t>
              </a:r>
              <a:endParaRPr lang="en-IN" dirty="0">
                <a:latin typeface="Bahnschrif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4848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57200" y="457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762000" y="7620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914400" y="914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381000"/>
            <a:ext cx="12192000" cy="0"/>
          </a:xfrm>
          <a:prstGeom prst="line">
            <a:avLst/>
          </a:prstGeom>
          <a:ln w="28575"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665329" y="685800"/>
            <a:ext cx="8896063" cy="5355312"/>
            <a:chOff x="762000" y="762000"/>
            <a:chExt cx="8896063" cy="5355312"/>
          </a:xfrm>
        </p:grpSpPr>
        <p:grpSp>
          <p:nvGrpSpPr>
            <p:cNvPr id="8" name="Group 7"/>
            <p:cNvGrpSpPr/>
            <p:nvPr/>
          </p:nvGrpSpPr>
          <p:grpSpPr>
            <a:xfrm>
              <a:off x="762000" y="762000"/>
              <a:ext cx="8896063" cy="5355312"/>
              <a:chOff x="343469" y="86506"/>
              <a:chExt cx="7440848" cy="5355312"/>
            </a:xfrm>
          </p:grpSpPr>
          <p:sp>
            <p:nvSpPr>
              <p:cNvPr id="3" name="Rectangle 1"/>
              <p:cNvSpPr>
                <a:spLocks noChangeArrowheads="1"/>
              </p:cNvSpPr>
              <p:nvPr/>
            </p:nvSpPr>
            <p:spPr bwMode="auto">
              <a:xfrm>
                <a:off x="343469" y="86506"/>
                <a:ext cx="7303867" cy="5355312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from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00CC99"/>
                    </a:solidFill>
                    <a:effectLst/>
                    <a:cs typeface="Arial" pitchFamily="34" charset="0"/>
                  </a:rPr>
                  <a:t>langchain_openai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import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00CC99"/>
                    </a:solidFill>
                    <a:effectLst/>
                    <a:cs typeface="Arial" pitchFamily="34" charset="0"/>
                  </a:rPr>
                  <a:t>AzureChatOpenAI, AzureOpenAIEmbeddings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from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00CC99"/>
                    </a:solidFill>
                    <a:effectLst/>
                    <a:cs typeface="Arial" pitchFamily="34" charset="0"/>
                  </a:rPr>
                  <a:t>langchain.prompts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import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00CC99"/>
                    </a:solidFill>
                    <a:effectLst/>
                    <a:cs typeface="Arial" pitchFamily="34" charset="0"/>
                  </a:rPr>
                  <a:t>PromptTemplate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from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lang="en-US" dirty="0">
                    <a:solidFill>
                      <a:srgbClr val="00CC99"/>
                    </a:solidFill>
                    <a:cs typeface="Arial" pitchFamily="34" charset="0"/>
                  </a:rPr>
                  <a:t>dotenv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import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chemeClr val="accent4"/>
                    </a:solidFill>
                    <a:effectLst/>
                    <a:cs typeface="Arial" pitchFamily="34" charset="0"/>
                  </a:rPr>
                  <a:t>load_dotenv, find_dotenv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import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lang="en-US" dirty="0">
                    <a:solidFill>
                      <a:srgbClr val="00CC99"/>
                    </a:solidFill>
                    <a:cs typeface="Arial" pitchFamily="34" charset="0"/>
                  </a:rPr>
                  <a:t>os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from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l</a:t>
                </a:r>
                <a:r>
                  <a:rPr lang="en-US" dirty="0">
                    <a:solidFill>
                      <a:srgbClr val="00CC99"/>
                    </a:solidFill>
                    <a:cs typeface="Arial" pitchFamily="34" charset="0"/>
                  </a:rPr>
                  <a:t>angchain_core.tools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import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tool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from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lang="en-US" dirty="0">
                    <a:solidFill>
                      <a:srgbClr val="00CC99"/>
                    </a:solidFill>
                    <a:cs typeface="Arial" pitchFamily="34" charset="0"/>
                  </a:rPr>
                  <a:t>langchain_core.messages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import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lang="en-US" dirty="0">
                    <a:solidFill>
                      <a:srgbClr val="00CC99"/>
                    </a:solidFill>
                    <a:cs typeface="Arial" pitchFamily="34" charset="0"/>
                  </a:rPr>
                  <a:t>HumanMessage, AIMessage, ToolMessage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dirty="0">
                  <a:solidFill>
                    <a:srgbClr val="D4D4D4"/>
                  </a:solidFill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chemeClr val="accent4"/>
                    </a:solidFill>
                    <a:effectLst/>
                    <a:cs typeface="Arial" pitchFamily="34" charset="0"/>
                  </a:rPr>
                  <a:t>load_dotenv(find_dotenv()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,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00B0F0"/>
                    </a:solidFill>
                    <a:effectLst/>
                    <a:cs typeface="Arial" pitchFamily="34" charset="0"/>
                  </a:rPr>
                  <a:t>override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=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True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)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chemeClr val="accent1"/>
                    </a:solidFill>
                    <a:effectLst/>
                    <a:cs typeface="Arial" pitchFamily="34" charset="0"/>
                  </a:rPr>
                  <a:t>endpoint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= os.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chemeClr val="accent4"/>
                    </a:solidFill>
                    <a:effectLst/>
                    <a:cs typeface="Arial" pitchFamily="34" charset="0"/>
                  </a:rPr>
                  <a:t>getenv(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CE9178"/>
                    </a:solidFill>
                    <a:effectLst/>
                    <a:cs typeface="Arial" pitchFamily="34" charset="0"/>
                  </a:rPr>
                  <a:t>"ENDPOINT_URL"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chemeClr val="accent4"/>
                    </a:solidFill>
                    <a:effectLst/>
                    <a:cs typeface="Arial" pitchFamily="34" charset="0"/>
                  </a:rPr>
                  <a:t>)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chemeClr val="accent5"/>
                    </a:solidFill>
                    <a:effectLst/>
                    <a:cs typeface="Arial" pitchFamily="34" charset="0"/>
                  </a:rPr>
                  <a:t>subscription_key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= os.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chemeClr val="accent4"/>
                    </a:solidFill>
                    <a:effectLst/>
                    <a:cs typeface="Arial" pitchFamily="34" charset="0"/>
                  </a:rPr>
                  <a:t>getenv(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CE9178"/>
                    </a:solidFill>
                    <a:effectLst/>
                    <a:cs typeface="Arial" pitchFamily="34" charset="0"/>
                  </a:rPr>
                  <a:t>"AZURE_OPENAI_API_KEY"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chemeClr val="accent4"/>
                    </a:solidFill>
                    <a:effectLst/>
                    <a:cs typeface="Arial" pitchFamily="34" charset="0"/>
                  </a:rPr>
                  <a:t>)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chemeClr val="accent5"/>
                    </a:solidFill>
                    <a:effectLst/>
                    <a:cs typeface="Arial" pitchFamily="34" charset="0"/>
                  </a:rPr>
                  <a:t>api_version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=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CE9178"/>
                    </a:solidFill>
                    <a:effectLst/>
                    <a:cs typeface="Arial" pitchFamily="34" charset="0"/>
                  </a:rPr>
                  <a:t>"2025-01-01-preview"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dirty="0">
                  <a:solidFill>
                    <a:srgbClr val="D4D4D4"/>
                  </a:solidFill>
                  <a:cs typeface="Arial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@tool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def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CDCAA"/>
                    </a:solidFill>
                    <a:effectLst/>
                    <a:cs typeface="Arial" pitchFamily="34" charset="0"/>
                  </a:rPr>
                  <a:t>currentTemperature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(country: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4EC9B0"/>
                    </a:solidFill>
                    <a:effectLst/>
                    <a:cs typeface="Arial" pitchFamily="34" charset="0"/>
                  </a:rPr>
                  <a:t>str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) -&gt;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4EC9B0"/>
                    </a:solidFill>
                    <a:effectLst/>
                    <a:cs typeface="Arial" pitchFamily="34" charset="0"/>
                  </a:rPr>
                  <a:t>int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CE9178"/>
                    </a:solidFill>
                    <a:effectLst/>
                    <a:cs typeface="Arial" pitchFamily="34" charset="0"/>
                  </a:rPr>
                  <a:t>'''current temperature of the country'''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</a:p>
              <a:p>
                <a:pPr lvl="1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if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country.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chemeClr val="accent4"/>
                    </a:solidFill>
                    <a:effectLst/>
                    <a:cs typeface="Arial" pitchFamily="34" charset="0"/>
                  </a:rPr>
                  <a:t>startswith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(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CE9178"/>
                    </a:solidFill>
                    <a:effectLst/>
                    <a:cs typeface="Arial" pitchFamily="34" charset="0"/>
                  </a:rPr>
                  <a:t>"i"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): </a:t>
                </a:r>
              </a:p>
              <a:p>
                <a:pPr lvl="2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return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B5CEA8"/>
                    </a:solidFill>
                    <a:effectLst/>
                    <a:cs typeface="Arial" pitchFamily="34" charset="0"/>
                  </a:rPr>
                  <a:t>10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elif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country.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chemeClr val="accent4"/>
                    </a:solidFill>
                    <a:effectLst/>
                    <a:cs typeface="Arial" pitchFamily="34" charset="0"/>
                  </a:rPr>
                  <a:t>startswith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(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CE9178"/>
                    </a:solidFill>
                    <a:effectLst/>
                    <a:cs typeface="Arial" pitchFamily="34" charset="0"/>
                  </a:rPr>
                  <a:t>"u"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): </a:t>
                </a:r>
              </a:p>
              <a:p>
                <a:pPr lvl="2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return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B5CEA8"/>
                    </a:solidFill>
                    <a:effectLst/>
                    <a:cs typeface="Arial" pitchFamily="34" charset="0"/>
                  </a:rPr>
                  <a:t>20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</a:p>
              <a:p>
                <a:pPr lvl="2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else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: </a:t>
                </a:r>
              </a:p>
              <a:p>
                <a:pPr lvl="2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569CD6"/>
                    </a:solidFill>
                    <a:effectLst/>
                    <a:cs typeface="Arial" pitchFamily="34" charset="0"/>
                  </a:rPr>
                  <a:t>return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B5CEA8"/>
                    </a:solidFill>
                    <a:effectLst/>
                    <a:cs typeface="Arial" pitchFamily="34" charset="0"/>
                  </a:rPr>
                  <a:t>30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6654208" y="706342"/>
                <a:ext cx="1130109" cy="457200"/>
              </a:xfrm>
              <a:prstGeom prst="rect">
                <a:avLst/>
              </a:prstGeom>
              <a:solidFill>
                <a:srgbClr val="15C2FF"/>
              </a:solidFill>
              <a:ln>
                <a:solidFill>
                  <a:srgbClr val="15C2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bg1"/>
                    </a:solidFill>
                    <a:latin typeface="Bahnschrift" pitchFamily="34" charset="0"/>
                  </a:rPr>
                  <a:t>Langgraph</a:t>
                </a:r>
                <a:endParaRPr lang="en-IN" dirty="0">
                  <a:solidFill>
                    <a:schemeClr val="bg1"/>
                  </a:solidFill>
                  <a:latin typeface="Bahnschrift" pitchFamily="34" charset="0"/>
                </a:endParaRPr>
              </a:p>
            </p:txBody>
          </p:sp>
        </p:grpSp>
        <p:sp>
          <p:nvSpPr>
            <p:cNvPr id="18" name="Flowchart: Connector 17"/>
            <p:cNvSpPr/>
            <p:nvPr/>
          </p:nvSpPr>
          <p:spPr>
            <a:xfrm>
              <a:off x="7849737" y="1381836"/>
              <a:ext cx="457200" cy="457200"/>
            </a:xfrm>
            <a:prstGeom prst="flowChartConnector">
              <a:avLst/>
            </a:prstGeom>
            <a:solidFill>
              <a:srgbClr val="15C2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" pitchFamily="34" charset="0"/>
                </a:rPr>
                <a:t>1</a:t>
              </a:r>
              <a:endParaRPr lang="en-IN" sz="2000" dirty="0">
                <a:latin typeface="Bahnschrif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6164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641444" y="431084"/>
            <a:ext cx="10515600" cy="5078313"/>
            <a:chOff x="641444" y="431084"/>
            <a:chExt cx="10515600" cy="5078313"/>
          </a:xfrm>
        </p:grpSpPr>
        <p:grpSp>
          <p:nvGrpSpPr>
            <p:cNvPr id="2" name="Group 1"/>
            <p:cNvGrpSpPr/>
            <p:nvPr/>
          </p:nvGrpSpPr>
          <p:grpSpPr>
            <a:xfrm>
              <a:off x="641444" y="431084"/>
              <a:ext cx="10515600" cy="5078313"/>
              <a:chOff x="191069" y="433906"/>
              <a:chExt cx="10515600" cy="5078313"/>
            </a:xfrm>
          </p:grpSpPr>
          <p:sp>
            <p:nvSpPr>
              <p:cNvPr id="3" name="Rectangle 2"/>
              <p:cNvSpPr>
                <a:spLocks noChangeArrowheads="1"/>
              </p:cNvSpPr>
              <p:nvPr/>
            </p:nvSpPr>
            <p:spPr bwMode="auto">
              <a:xfrm>
                <a:off x="191069" y="433906"/>
                <a:ext cx="10351828" cy="5078313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 w="9525">
                <a:solidFill>
                  <a:srgbClr val="92D05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 smtClean="0">
                    <a:solidFill>
                      <a:schemeClr val="accent1"/>
                    </a:solidFill>
                    <a:cs typeface="Arial" pitchFamily="34" charset="0"/>
                  </a:rPr>
                  <a:t>tool_mapping</a:t>
                </a:r>
                <a:r>
                  <a:rPr lang="en-US" dirty="0" smtClean="0">
                    <a:solidFill>
                      <a:srgbClr val="D4D4D4"/>
                    </a:solidFill>
                    <a:cs typeface="Arial" pitchFamily="34" charset="0"/>
                  </a:rPr>
                  <a:t> = </a:t>
                </a:r>
                <a:r>
                  <a:rPr lang="en-US" dirty="0" smtClean="0">
                    <a:solidFill>
                      <a:schemeClr val="accent4"/>
                    </a:solidFill>
                    <a:cs typeface="Arial" pitchFamily="34" charset="0"/>
                  </a:rPr>
                  <a:t>{ </a:t>
                </a:r>
                <a:r>
                  <a:rPr lang="en-US" dirty="0" smtClean="0">
                    <a:solidFill>
                      <a:srgbClr val="CE9178"/>
                    </a:solidFill>
                    <a:cs typeface="Arial" pitchFamily="34" charset="0"/>
                  </a:rPr>
                  <a:t>"currentTemperature"</a:t>
                </a:r>
                <a:r>
                  <a:rPr lang="en-US" dirty="0" smtClean="0">
                    <a:solidFill>
                      <a:srgbClr val="D4D4D4"/>
                    </a:solidFill>
                    <a:cs typeface="Arial" pitchFamily="34" charset="0"/>
                  </a:rPr>
                  <a:t>: </a:t>
                </a:r>
                <a:r>
                  <a:rPr lang="en-US" dirty="0" smtClean="0">
                    <a:solidFill>
                      <a:schemeClr val="accent4"/>
                    </a:solidFill>
                    <a:cs typeface="Arial" pitchFamily="34" charset="0"/>
                  </a:rPr>
                  <a:t>currentTemperature }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 smtClean="0">
                    <a:solidFill>
                      <a:schemeClr val="accent1"/>
                    </a:solidFill>
                    <a:cs typeface="Arial" pitchFamily="34" charset="0"/>
                  </a:rPr>
                  <a:t>tools</a:t>
                </a:r>
                <a:r>
                  <a:rPr lang="en-US" dirty="0" smtClean="0">
                    <a:solidFill>
                      <a:srgbClr val="D4D4D4"/>
                    </a:solidFill>
                    <a:cs typeface="Arial" pitchFamily="34" charset="0"/>
                  </a:rPr>
                  <a:t> </a:t>
                </a:r>
                <a:r>
                  <a:rPr lang="en-US" dirty="0">
                    <a:solidFill>
                      <a:srgbClr val="D4D4D4"/>
                    </a:solidFill>
                    <a:cs typeface="Arial" pitchFamily="34" charset="0"/>
                  </a:rPr>
                  <a:t>= </a:t>
                </a:r>
                <a:r>
                  <a:rPr lang="en-US" dirty="0">
                    <a:solidFill>
                      <a:schemeClr val="accent4"/>
                    </a:solidFill>
                    <a:cs typeface="Arial" pitchFamily="34" charset="0"/>
                  </a:rPr>
                  <a:t>[currentTemperature]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>
                    <a:solidFill>
                      <a:schemeClr val="accent1"/>
                    </a:solidFill>
                    <a:cs typeface="Arial" pitchFamily="34" charset="0"/>
                  </a:rPr>
                  <a:t>llm</a:t>
                </a:r>
                <a:r>
                  <a:rPr lang="en-US" dirty="0">
                    <a:solidFill>
                      <a:srgbClr val="D4D4D4"/>
                    </a:solidFill>
                    <a:cs typeface="Arial" pitchFamily="34" charset="0"/>
                  </a:rPr>
                  <a:t> = </a:t>
                </a:r>
                <a:r>
                  <a:rPr lang="en-US" dirty="0">
                    <a:solidFill>
                      <a:srgbClr val="15C2FF"/>
                    </a:solidFill>
                    <a:cs typeface="Arial" pitchFamily="34" charset="0"/>
                  </a:rPr>
                  <a:t>AzureChatOpenAI</a:t>
                </a:r>
                <a:r>
                  <a:rPr lang="en-US" dirty="0">
                    <a:solidFill>
                      <a:srgbClr val="D4D4D4"/>
                    </a:solidFill>
                    <a:cs typeface="Arial" pitchFamily="34" charset="0"/>
                  </a:rPr>
                  <a:t>( </a:t>
                </a:r>
                <a:r>
                  <a:rPr lang="en-US" dirty="0" smtClean="0">
                    <a:solidFill>
                      <a:srgbClr val="0070C0"/>
                    </a:solidFill>
                    <a:cs typeface="Arial" pitchFamily="34" charset="0"/>
                  </a:rPr>
                  <a:t>azure_endpoint</a:t>
                </a:r>
                <a:r>
                  <a:rPr lang="en-US" dirty="0" smtClean="0">
                    <a:solidFill>
                      <a:srgbClr val="D4D4D4"/>
                    </a:solidFill>
                    <a:cs typeface="Arial" pitchFamily="34" charset="0"/>
                  </a:rPr>
                  <a:t>=</a:t>
                </a:r>
                <a:r>
                  <a:rPr lang="en-US" dirty="0" smtClean="0">
                    <a:solidFill>
                      <a:srgbClr val="0070C0"/>
                    </a:solidFill>
                    <a:cs typeface="Arial" pitchFamily="34" charset="0"/>
                  </a:rPr>
                  <a:t>endpoint</a:t>
                </a:r>
                <a:r>
                  <a:rPr lang="en-US" dirty="0">
                    <a:solidFill>
                      <a:srgbClr val="D4D4D4"/>
                    </a:solidFill>
                    <a:cs typeface="Arial" pitchFamily="34" charset="0"/>
                  </a:rPr>
                  <a:t>, </a:t>
                </a:r>
                <a:r>
                  <a:rPr lang="en-US" dirty="0" smtClean="0">
                    <a:solidFill>
                      <a:srgbClr val="0070C0"/>
                    </a:solidFill>
                    <a:cs typeface="Arial" pitchFamily="34" charset="0"/>
                  </a:rPr>
                  <a:t>api_key</a:t>
                </a:r>
                <a:r>
                  <a:rPr lang="en-US" dirty="0" smtClean="0">
                    <a:solidFill>
                      <a:srgbClr val="D4D4D4"/>
                    </a:solidFill>
                    <a:cs typeface="Arial" pitchFamily="34" charset="0"/>
                  </a:rPr>
                  <a:t>=</a:t>
                </a:r>
                <a:r>
                  <a:rPr lang="en-US" dirty="0" smtClean="0">
                    <a:solidFill>
                      <a:srgbClr val="0070C0"/>
                    </a:solidFill>
                    <a:cs typeface="Arial" pitchFamily="34" charset="0"/>
                  </a:rPr>
                  <a:t>subscription_key </a:t>
                </a:r>
                <a:r>
                  <a:rPr lang="en-US" dirty="0" smtClean="0">
                    <a:solidFill>
                      <a:srgbClr val="D4D4D4"/>
                    </a:solidFill>
                    <a:cs typeface="Arial" pitchFamily="34" charset="0"/>
                  </a:rPr>
                  <a:t>, </a:t>
                </a:r>
                <a:r>
                  <a:rPr lang="en-US" dirty="0" smtClean="0">
                    <a:solidFill>
                      <a:srgbClr val="0070C0"/>
                    </a:solidFill>
                    <a:cs typeface="Arial" pitchFamily="34" charset="0"/>
                  </a:rPr>
                  <a:t>api_version</a:t>
                </a:r>
                <a:r>
                  <a:rPr lang="en-US" dirty="0" smtClean="0">
                    <a:solidFill>
                      <a:srgbClr val="D4D4D4"/>
                    </a:solidFill>
                    <a:cs typeface="Arial" pitchFamily="34" charset="0"/>
                  </a:rPr>
                  <a:t>=</a:t>
                </a:r>
                <a:r>
                  <a:rPr lang="en-US" dirty="0" smtClean="0">
                    <a:solidFill>
                      <a:srgbClr val="0070C0"/>
                    </a:solidFill>
                    <a:cs typeface="Arial" pitchFamily="34" charset="0"/>
                  </a:rPr>
                  <a:t>api_version</a:t>
                </a:r>
                <a:r>
                  <a:rPr lang="en-US" dirty="0" smtClean="0">
                    <a:solidFill>
                      <a:srgbClr val="D4D4D4"/>
                    </a:solidFill>
                    <a:cs typeface="Arial" pitchFamily="34" charset="0"/>
                  </a:rPr>
                  <a:t> </a:t>
                </a:r>
                <a:r>
                  <a:rPr lang="en-US" dirty="0" smtClean="0">
                    <a:solidFill>
                      <a:schemeClr val="accent4"/>
                    </a:solidFill>
                    <a:cs typeface="Arial" pitchFamily="34" charset="0"/>
                  </a:rPr>
                  <a:t>).</a:t>
                </a:r>
                <a:r>
                  <a:rPr lang="en-US" dirty="0">
                    <a:solidFill>
                      <a:schemeClr val="accent4"/>
                    </a:solidFill>
                    <a:cs typeface="Arial" pitchFamily="34" charset="0"/>
                  </a:rPr>
                  <a:t>bind_tools(</a:t>
                </a:r>
                <a:r>
                  <a:rPr lang="en-US" dirty="0">
                    <a:solidFill>
                      <a:srgbClr val="D4D4D4"/>
                    </a:solidFill>
                    <a:cs typeface="Arial" pitchFamily="34" charset="0"/>
                  </a:rPr>
                  <a:t>tools</a:t>
                </a:r>
                <a:r>
                  <a:rPr lang="en-US" dirty="0">
                    <a:solidFill>
                      <a:schemeClr val="accent4"/>
                    </a:solidFill>
                    <a:cs typeface="Arial" pitchFamily="34" charset="0"/>
                  </a:rPr>
                  <a:t>) </a:t>
                </a:r>
              </a:p>
              <a:p>
                <a:pPr lvl="1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endParaRPr>
              </a:p>
              <a:p>
                <a:r>
                  <a:rPr lang="en-IN" dirty="0">
                    <a:solidFill>
                      <a:srgbClr val="7030A0"/>
                    </a:solidFill>
                  </a:rPr>
                  <a:t>def</a:t>
                </a:r>
                <a:r>
                  <a:rPr lang="en-IN" dirty="0">
                    <a:solidFill>
                      <a:schemeClr val="bg1"/>
                    </a:solidFill>
                  </a:rPr>
                  <a:t> </a:t>
                </a:r>
                <a:r>
                  <a:rPr lang="en-IN" dirty="0">
                    <a:solidFill>
                      <a:schemeClr val="accent4"/>
                    </a:solidFill>
                  </a:rPr>
                  <a:t>call_model(</a:t>
                </a:r>
                <a:r>
                  <a:rPr lang="en-IN" dirty="0">
                    <a:solidFill>
                      <a:srgbClr val="00B0F0"/>
                    </a:solidFill>
                  </a:rPr>
                  <a:t>state</a:t>
                </a:r>
                <a:r>
                  <a:rPr lang="en-IN" dirty="0">
                    <a:solidFill>
                      <a:schemeClr val="accent4"/>
                    </a:solidFill>
                  </a:rPr>
                  <a:t>:</a:t>
                </a:r>
                <a:r>
                  <a:rPr lang="en-IN" dirty="0">
                    <a:solidFill>
                      <a:srgbClr val="00CC99"/>
                    </a:solidFill>
                  </a:rPr>
                  <a:t>MessagesState)</a:t>
                </a:r>
                <a:r>
                  <a:rPr lang="en-IN" dirty="0">
                    <a:solidFill>
                      <a:schemeClr val="accent4"/>
                    </a:solidFill>
                  </a:rPr>
                  <a:t>:</a:t>
                </a:r>
              </a:p>
              <a:p>
                <a:r>
                  <a:rPr lang="en-IN" dirty="0">
                    <a:solidFill>
                      <a:schemeClr val="bg1"/>
                    </a:solidFill>
                  </a:rPr>
                  <a:t>    </a:t>
                </a:r>
                <a:r>
                  <a:rPr lang="en-IN" dirty="0">
                    <a:solidFill>
                      <a:schemeClr val="accent5"/>
                    </a:solidFill>
                  </a:rPr>
                  <a:t>messages</a:t>
                </a:r>
                <a:r>
                  <a:rPr lang="en-IN" dirty="0">
                    <a:solidFill>
                      <a:schemeClr val="bg1"/>
                    </a:solidFill>
                  </a:rPr>
                  <a:t>=</a:t>
                </a:r>
                <a:r>
                  <a:rPr lang="en-IN" dirty="0">
                    <a:solidFill>
                      <a:srgbClr val="00B0F0"/>
                    </a:solidFill>
                  </a:rPr>
                  <a:t>state</a:t>
                </a:r>
                <a:r>
                  <a:rPr lang="en-IN" dirty="0">
                    <a:solidFill>
                      <a:schemeClr val="accent4"/>
                    </a:solidFill>
                  </a:rPr>
                  <a:t>[</a:t>
                </a:r>
                <a:r>
                  <a:rPr lang="en-IN" dirty="0">
                    <a:solidFill>
                      <a:srgbClr val="FF6743"/>
                    </a:solidFill>
                  </a:rPr>
                  <a:t>"messages"</a:t>
                </a:r>
                <a:r>
                  <a:rPr lang="en-IN" dirty="0">
                    <a:solidFill>
                      <a:schemeClr val="accent4"/>
                    </a:solidFill>
                  </a:rPr>
                  <a:t>]</a:t>
                </a:r>
              </a:p>
              <a:p>
                <a:r>
                  <a:rPr lang="en-IN" dirty="0">
                    <a:solidFill>
                      <a:schemeClr val="bg1"/>
                    </a:solidFill>
                  </a:rPr>
                  <a:t>    </a:t>
                </a:r>
                <a:r>
                  <a:rPr lang="en-IN" dirty="0">
                    <a:solidFill>
                      <a:schemeClr val="accent5"/>
                    </a:solidFill>
                  </a:rPr>
                  <a:t>result</a:t>
                </a:r>
                <a:r>
                  <a:rPr lang="en-IN" dirty="0">
                    <a:solidFill>
                      <a:schemeClr val="bg1"/>
                    </a:solidFill>
                  </a:rPr>
                  <a:t>=llm.</a:t>
                </a:r>
                <a:r>
                  <a:rPr lang="en-IN" dirty="0">
                    <a:solidFill>
                      <a:schemeClr val="accent4"/>
                    </a:solidFill>
                  </a:rPr>
                  <a:t>invoke(</a:t>
                </a:r>
                <a:r>
                  <a:rPr lang="en-IN" dirty="0">
                    <a:solidFill>
                      <a:srgbClr val="FF6743"/>
                    </a:solidFill>
                  </a:rPr>
                  <a:t>messages</a:t>
                </a:r>
                <a:r>
                  <a:rPr lang="en-IN" dirty="0">
                    <a:solidFill>
                      <a:schemeClr val="accent4"/>
                    </a:solidFill>
                  </a:rPr>
                  <a:t>)</a:t>
                </a:r>
              </a:p>
              <a:p>
                <a:r>
                  <a:rPr lang="en-IN" dirty="0">
                    <a:solidFill>
                      <a:schemeClr val="bg1"/>
                    </a:solidFill>
                  </a:rPr>
                  <a:t>    </a:t>
                </a:r>
                <a:r>
                  <a:rPr lang="en-IN" dirty="0">
                    <a:solidFill>
                      <a:srgbClr val="7030A0"/>
                    </a:solidFill>
                  </a:rPr>
                  <a:t>return</a:t>
                </a:r>
                <a:r>
                  <a:rPr lang="en-IN" dirty="0">
                    <a:solidFill>
                      <a:schemeClr val="bg1"/>
                    </a:solidFill>
                  </a:rPr>
                  <a:t> {</a:t>
                </a:r>
                <a:r>
                  <a:rPr lang="en-IN" dirty="0">
                    <a:solidFill>
                      <a:srgbClr val="FF6743"/>
                    </a:solidFill>
                  </a:rPr>
                  <a:t>"messages"</a:t>
                </a:r>
                <a:r>
                  <a:rPr lang="en-IN" dirty="0">
                    <a:solidFill>
                      <a:schemeClr val="bg1"/>
                    </a:solidFill>
                  </a:rPr>
                  <a:t>: </a:t>
                </a:r>
                <a:r>
                  <a:rPr lang="en-IN" dirty="0">
                    <a:solidFill>
                      <a:schemeClr val="accent4"/>
                    </a:solidFill>
                  </a:rPr>
                  <a:t>[</a:t>
                </a:r>
                <a:r>
                  <a:rPr lang="en-IN" dirty="0">
                    <a:solidFill>
                      <a:schemeClr val="accent5"/>
                    </a:solidFill>
                  </a:rPr>
                  <a:t>result]}</a:t>
                </a:r>
              </a:p>
              <a:p>
                <a:r>
                  <a:rPr lang="en-IN" dirty="0">
                    <a:solidFill>
                      <a:schemeClr val="bg1"/>
                    </a:solidFill>
                  </a:rPr>
                  <a:t/>
                </a:r>
                <a:br>
                  <a:rPr lang="en-IN" dirty="0">
                    <a:solidFill>
                      <a:schemeClr val="bg1"/>
                    </a:solidFill>
                  </a:rPr>
                </a:br>
                <a:r>
                  <a:rPr lang="en-IN" dirty="0">
                    <a:solidFill>
                      <a:srgbClr val="7030A0"/>
                    </a:solidFill>
                  </a:rPr>
                  <a:t>def</a:t>
                </a:r>
                <a:r>
                  <a:rPr lang="en-IN" dirty="0">
                    <a:solidFill>
                      <a:schemeClr val="bg1"/>
                    </a:solidFill>
                  </a:rPr>
                  <a:t> </a:t>
                </a:r>
                <a:r>
                  <a:rPr lang="en-IN" dirty="0">
                    <a:solidFill>
                      <a:schemeClr val="accent4"/>
                    </a:solidFill>
                  </a:rPr>
                  <a:t>should_continue</a:t>
                </a:r>
                <a:r>
                  <a:rPr lang="en-IN" dirty="0">
                    <a:solidFill>
                      <a:schemeClr val="bg1"/>
                    </a:solidFill>
                  </a:rPr>
                  <a:t>(state:</a:t>
                </a:r>
                <a:r>
                  <a:rPr lang="en-IN" dirty="0">
                    <a:solidFill>
                      <a:schemeClr val="accent5"/>
                    </a:solidFill>
                  </a:rPr>
                  <a:t>MessagesState</a:t>
                </a:r>
                <a:r>
                  <a:rPr lang="en-IN" dirty="0">
                    <a:solidFill>
                      <a:schemeClr val="bg1"/>
                    </a:solidFill>
                  </a:rPr>
                  <a:t>):</a:t>
                </a:r>
              </a:p>
              <a:p>
                <a:r>
                  <a:rPr lang="en-IN" dirty="0">
                    <a:solidFill>
                      <a:schemeClr val="bg1"/>
                    </a:solidFill>
                  </a:rPr>
                  <a:t>   </a:t>
                </a:r>
                <a:r>
                  <a:rPr lang="en-IN" dirty="0">
                    <a:solidFill>
                      <a:schemeClr val="accent5"/>
                    </a:solidFill>
                  </a:rPr>
                  <a:t> messages</a:t>
                </a:r>
                <a:r>
                  <a:rPr lang="en-IN" dirty="0">
                    <a:solidFill>
                      <a:schemeClr val="bg1"/>
                    </a:solidFill>
                  </a:rPr>
                  <a:t>=</a:t>
                </a:r>
                <a:r>
                  <a:rPr lang="en-IN" dirty="0">
                    <a:solidFill>
                      <a:srgbClr val="00CC99"/>
                    </a:solidFill>
                  </a:rPr>
                  <a:t>state</a:t>
                </a:r>
                <a:r>
                  <a:rPr lang="en-IN" dirty="0">
                    <a:solidFill>
                      <a:schemeClr val="accent4"/>
                    </a:solidFill>
                  </a:rPr>
                  <a:t>[</a:t>
                </a:r>
                <a:r>
                  <a:rPr lang="en-IN" dirty="0">
                    <a:solidFill>
                      <a:srgbClr val="FF6743"/>
                    </a:solidFill>
                  </a:rPr>
                  <a:t>"messages"</a:t>
                </a:r>
                <a:r>
                  <a:rPr lang="en-IN" dirty="0">
                    <a:solidFill>
                      <a:schemeClr val="accent4"/>
                    </a:solidFill>
                  </a:rPr>
                  <a:t>]</a:t>
                </a:r>
              </a:p>
              <a:p>
                <a:r>
                  <a:rPr lang="en-IN" dirty="0">
                    <a:solidFill>
                      <a:schemeClr val="bg1"/>
                    </a:solidFill>
                  </a:rPr>
                  <a:t>    </a:t>
                </a:r>
                <a:r>
                  <a:rPr lang="en-IN" dirty="0">
                    <a:solidFill>
                      <a:schemeClr val="accent5"/>
                    </a:solidFill>
                  </a:rPr>
                  <a:t>last_message</a:t>
                </a:r>
                <a:r>
                  <a:rPr lang="en-IN" dirty="0">
                    <a:solidFill>
                      <a:schemeClr val="bg1"/>
                    </a:solidFill>
                  </a:rPr>
                  <a:t>=</a:t>
                </a:r>
                <a:r>
                  <a:rPr lang="en-IN" dirty="0">
                    <a:solidFill>
                      <a:srgbClr val="00CC99"/>
                    </a:solidFill>
                  </a:rPr>
                  <a:t>messages</a:t>
                </a:r>
                <a:r>
                  <a:rPr lang="en-IN" dirty="0">
                    <a:solidFill>
                      <a:schemeClr val="bg1"/>
                    </a:solidFill>
                  </a:rPr>
                  <a:t>[-1]</a:t>
                </a:r>
              </a:p>
              <a:p>
                <a:r>
                  <a:rPr lang="en-IN" dirty="0">
                    <a:solidFill>
                      <a:schemeClr val="bg1"/>
                    </a:solidFill>
                  </a:rPr>
                  <a:t>    </a:t>
                </a:r>
                <a:r>
                  <a:rPr lang="en-IN" dirty="0">
                    <a:solidFill>
                      <a:srgbClr val="7030A0"/>
                    </a:solidFill>
                  </a:rPr>
                  <a:t>if</a:t>
                </a:r>
                <a:r>
                  <a:rPr lang="en-IN" dirty="0">
                    <a:solidFill>
                      <a:schemeClr val="bg1"/>
                    </a:solidFill>
                  </a:rPr>
                  <a:t> </a:t>
                </a:r>
                <a:r>
                  <a:rPr lang="en-IN" dirty="0">
                    <a:solidFill>
                      <a:srgbClr val="00B0F0"/>
                    </a:solidFill>
                  </a:rPr>
                  <a:t>last_message.tool_calls</a:t>
                </a:r>
                <a:r>
                  <a:rPr lang="en-IN" dirty="0">
                    <a:solidFill>
                      <a:schemeClr val="bg1"/>
                    </a:solidFill>
                  </a:rPr>
                  <a:t>:</a:t>
                </a:r>
              </a:p>
              <a:p>
                <a:r>
                  <a:rPr lang="en-IN" dirty="0">
                    <a:solidFill>
                      <a:schemeClr val="bg1"/>
                    </a:solidFill>
                  </a:rPr>
                  <a:t>        </a:t>
                </a:r>
                <a:r>
                  <a:rPr lang="en-IN" dirty="0">
                    <a:solidFill>
                      <a:srgbClr val="7030A0"/>
                    </a:solidFill>
                  </a:rPr>
                  <a:t>return</a:t>
                </a:r>
                <a:r>
                  <a:rPr lang="en-IN" dirty="0">
                    <a:solidFill>
                      <a:schemeClr val="bg1"/>
                    </a:solidFill>
                  </a:rPr>
                  <a:t> </a:t>
                </a:r>
                <a:r>
                  <a:rPr lang="en-IN" dirty="0">
                    <a:solidFill>
                      <a:srgbClr val="FF6743"/>
                    </a:solidFill>
                  </a:rPr>
                  <a:t>"tools"</a:t>
                </a:r>
              </a:p>
              <a:p>
                <a:r>
                  <a:rPr lang="en-IN" dirty="0">
                    <a:solidFill>
                      <a:schemeClr val="bg1"/>
                    </a:solidFill>
                  </a:rPr>
                  <a:t>    </a:t>
                </a:r>
                <a:r>
                  <a:rPr lang="en-IN" dirty="0">
                    <a:solidFill>
                      <a:srgbClr val="7030A0"/>
                    </a:solidFill>
                  </a:rPr>
                  <a:t>else</a:t>
                </a:r>
                <a:r>
                  <a:rPr lang="en-IN" dirty="0">
                    <a:solidFill>
                      <a:schemeClr val="bg1"/>
                    </a:solidFill>
                  </a:rPr>
                  <a:t>:</a:t>
                </a:r>
              </a:p>
              <a:p>
                <a:r>
                  <a:rPr lang="en-IN" dirty="0">
                    <a:solidFill>
                      <a:schemeClr val="bg1"/>
                    </a:solidFill>
                  </a:rPr>
                  <a:t>        </a:t>
                </a:r>
                <a:r>
                  <a:rPr lang="en-IN" dirty="0">
                    <a:solidFill>
                      <a:srgbClr val="7030A0"/>
                    </a:solidFill>
                  </a:rPr>
                  <a:t>return</a:t>
                </a:r>
                <a:r>
                  <a:rPr lang="en-IN" dirty="0">
                    <a:solidFill>
                      <a:schemeClr val="bg1"/>
                    </a:solidFill>
                  </a:rPr>
                  <a:t> </a:t>
                </a:r>
                <a:r>
                  <a:rPr lang="en-IN" dirty="0">
                    <a:solidFill>
                      <a:schemeClr val="accent5"/>
                    </a:solidFill>
                  </a:rPr>
                  <a:t>END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endParaRPr>
              </a:p>
            </p:txBody>
          </p:sp>
          <p:sp>
            <p:nvSpPr>
              <p:cNvPr id="4" name="Rectangle 3"/>
              <p:cNvSpPr/>
              <p:nvPr/>
            </p:nvSpPr>
            <p:spPr>
              <a:xfrm>
                <a:off x="9355542" y="1675853"/>
                <a:ext cx="1351127" cy="4572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bg1"/>
                    </a:solidFill>
                    <a:latin typeface="Bahnschrift" pitchFamily="34" charset="0"/>
                  </a:rPr>
                  <a:t>langgraph</a:t>
                </a:r>
                <a:endParaRPr lang="en-IN" dirty="0">
                  <a:solidFill>
                    <a:schemeClr val="bg1"/>
                  </a:solidFill>
                  <a:latin typeface="Bahnschrift" pitchFamily="34" charset="0"/>
                </a:endParaRPr>
              </a:p>
            </p:txBody>
          </p:sp>
        </p:grpSp>
        <p:sp>
          <p:nvSpPr>
            <p:cNvPr id="7" name="Flowchart: Connector 6"/>
            <p:cNvSpPr/>
            <p:nvPr/>
          </p:nvSpPr>
          <p:spPr>
            <a:xfrm>
              <a:off x="9348717" y="1673031"/>
              <a:ext cx="457200" cy="457200"/>
            </a:xfrm>
            <a:prstGeom prst="flowChartConnector">
              <a:avLst/>
            </a:prstGeom>
            <a:solidFill>
              <a:srgbClr val="15C2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" pitchFamily="34" charset="0"/>
                </a:rPr>
                <a:t>2</a:t>
              </a:r>
              <a:endParaRPr lang="en-IN" sz="2000" dirty="0">
                <a:latin typeface="Bahnschrif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3370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025571" y="552408"/>
            <a:ext cx="10083707" cy="4708981"/>
            <a:chOff x="752616" y="552409"/>
            <a:chExt cx="10083707" cy="4708981"/>
          </a:xfrm>
        </p:grpSpPr>
        <p:grpSp>
          <p:nvGrpSpPr>
            <p:cNvPr id="5" name="Group 4"/>
            <p:cNvGrpSpPr/>
            <p:nvPr/>
          </p:nvGrpSpPr>
          <p:grpSpPr>
            <a:xfrm>
              <a:off x="752616" y="552409"/>
              <a:ext cx="10083707" cy="4708981"/>
              <a:chOff x="928048" y="557840"/>
              <a:chExt cx="10083707" cy="4708981"/>
            </a:xfrm>
          </p:grpSpPr>
          <p:sp>
            <p:nvSpPr>
              <p:cNvPr id="2" name="Rectangle 1"/>
              <p:cNvSpPr>
                <a:spLocks noChangeArrowheads="1"/>
              </p:cNvSpPr>
              <p:nvPr/>
            </p:nvSpPr>
            <p:spPr bwMode="auto">
              <a:xfrm>
                <a:off x="928048" y="557840"/>
                <a:ext cx="9908275" cy="470898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  <a:effectLst/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1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endParaRPr>
              </a:p>
              <a:p>
                <a:pPr lvl="1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graph =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4EC9B0"/>
                    </a:solidFill>
                    <a:effectLst/>
                    <a:cs typeface="Arial" pitchFamily="34" charset="0"/>
                  </a:rPr>
                  <a:t>StateGraph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(MessagesState)</a:t>
                </a:r>
              </a:p>
              <a:p>
                <a:pPr lvl="1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tool_node =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4EC9B0"/>
                    </a:solidFill>
                    <a:effectLst/>
                    <a:cs typeface="Arial" pitchFamily="34" charset="0"/>
                  </a:rPr>
                  <a:t>ToolNode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(tools) </a:t>
                </a:r>
              </a:p>
              <a:p>
                <a:pPr lvl="1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endParaRPr>
              </a:p>
              <a:p>
                <a:pPr lvl="1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graph.add_node(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CE9178"/>
                    </a:solidFill>
                    <a:effectLst/>
                    <a:cs typeface="Arial" pitchFamily="34" charset="0"/>
                  </a:rPr>
                  <a:t>"agent"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, call_model) </a:t>
                </a:r>
              </a:p>
              <a:p>
                <a:pPr lvl="1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graph.add_node(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CE9178"/>
                    </a:solidFill>
                    <a:effectLst/>
                    <a:cs typeface="Arial" pitchFamily="34" charset="0"/>
                  </a:rPr>
                  <a:t>"tools"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, tool_node) </a:t>
                </a:r>
              </a:p>
              <a:p>
                <a:pPr lvl="1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b="0" i="0" u="none" strike="noStrike" cap="none" normalizeH="0" baseline="0" dirty="0" smtClean="0">
                  <a:ln>
                    <a:noFill/>
                  </a:ln>
                  <a:solidFill>
                    <a:srgbClr val="D4D4D4"/>
                  </a:solidFill>
                  <a:effectLst/>
                  <a:cs typeface="Arial" pitchFamily="34" charset="0"/>
                </a:endParaRPr>
              </a:p>
              <a:p>
                <a:pPr lvl="1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graph.add_edge(START,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CE9178"/>
                    </a:solidFill>
                    <a:effectLst/>
                    <a:cs typeface="Arial" pitchFamily="34" charset="0"/>
                  </a:rPr>
                  <a:t>"agent"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) </a:t>
                </a:r>
              </a:p>
              <a:p>
                <a:pPr lvl="1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graph.add_conditional_edges(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CE9178"/>
                    </a:solidFill>
                    <a:effectLst/>
                    <a:cs typeface="Arial" pitchFamily="34" charset="0"/>
                  </a:rPr>
                  <a:t>"agent"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, should_continue) </a:t>
                </a:r>
              </a:p>
              <a:p>
                <a:pPr lvl="1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graph.add_edge(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CE9178"/>
                    </a:solidFill>
                    <a:effectLst/>
                    <a:cs typeface="Arial" pitchFamily="34" charset="0"/>
                  </a:rPr>
                  <a:t>"tools"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,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CE9178"/>
                    </a:solidFill>
                    <a:effectLst/>
                    <a:cs typeface="Arial" pitchFamily="34" charset="0"/>
                  </a:rPr>
                  <a:t>"agent"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) </a:t>
                </a:r>
              </a:p>
              <a:p>
                <a:pPr lvl="1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solidFill>
                    <a:srgbClr val="D4D4D4"/>
                  </a:solidFill>
                  <a:cs typeface="Arial" pitchFamily="34" charset="0"/>
                </a:endParaRPr>
              </a:p>
              <a:p>
                <a:pPr lvl="1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runnable = graph.compile()</a:t>
                </a:r>
              </a:p>
              <a:p>
                <a:pPr lvl="1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</a:t>
                </a:r>
                <a:r>
                  <a:rPr kumimoji="0" lang="en-US" b="0" i="1" u="none" strike="noStrike" cap="none" normalizeH="0" baseline="0" dirty="0" smtClean="0">
                    <a:ln>
                      <a:noFill/>
                    </a:ln>
                    <a:solidFill>
                      <a:srgbClr val="6A9955"/>
                    </a:solidFill>
                    <a:effectLst/>
                    <a:cs typeface="Arial" pitchFamily="34" charset="0"/>
                  </a:rPr>
                  <a:t># Image(runnable.get_graph().draw_mermaid_png())</a:t>
                </a:r>
              </a:p>
              <a:p>
                <a:pPr lvl="1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 res = runnable.invoke({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CE9178"/>
                    </a:solidFill>
                    <a:effectLst/>
                    <a:cs typeface="Arial" pitchFamily="34" charset="0"/>
                  </a:rPr>
                  <a:t>"messages"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: [HumanMessage(content=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CE9178"/>
                    </a:solidFill>
                    <a:effectLst/>
                    <a:cs typeface="Arial" pitchFamily="34" charset="0"/>
                  </a:rPr>
                  <a:t>"what is the current temperature in china?"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)] }) </a:t>
                </a:r>
              </a:p>
              <a:p>
                <a:pPr lvl="1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rgbClr val="D4D4D4"/>
                    </a:solidFill>
                    <a:effectLst/>
                    <a:cs typeface="Arial" pitchFamily="34" charset="0"/>
                  </a:rPr>
                  <a:t>res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cs typeface="Arial" pitchFamily="34" charset="0"/>
                  </a:rPr>
                  <a:t> </a:t>
                </a:r>
              </a:p>
              <a:p>
                <a:pPr lvl="1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cs typeface="Arial" pitchFamily="34" charset="0"/>
                </a:endParaRPr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9660628" y="1341087"/>
                <a:ext cx="1351127" cy="4572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bg1"/>
                    </a:solidFill>
                    <a:latin typeface="Bahnschrift" pitchFamily="34" charset="0"/>
                  </a:rPr>
                  <a:t>langgraph</a:t>
                </a:r>
                <a:endParaRPr lang="en-IN" dirty="0">
                  <a:solidFill>
                    <a:schemeClr val="bg1"/>
                  </a:solidFill>
                  <a:latin typeface="Bahnschrift" pitchFamily="34" charset="0"/>
                </a:endParaRPr>
              </a:p>
            </p:txBody>
          </p:sp>
        </p:grpSp>
        <p:sp>
          <p:nvSpPr>
            <p:cNvPr id="6" name="Flowchart: Connector 5"/>
            <p:cNvSpPr/>
            <p:nvPr/>
          </p:nvSpPr>
          <p:spPr>
            <a:xfrm>
              <a:off x="9027996" y="1335656"/>
              <a:ext cx="457200" cy="457200"/>
            </a:xfrm>
            <a:prstGeom prst="flowChartConnector">
              <a:avLst/>
            </a:prstGeom>
            <a:solidFill>
              <a:srgbClr val="15C2FF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" pitchFamily="34" charset="0"/>
                </a:rPr>
                <a:t>3</a:t>
              </a:r>
              <a:endParaRPr lang="en-IN" sz="2000" dirty="0">
                <a:latin typeface="Bahnschrif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3209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40137</TotalTime>
  <Words>857</Words>
  <Application>Microsoft Office PowerPoint</Application>
  <PresentationFormat>Custom</PresentationFormat>
  <Paragraphs>215</Paragraphs>
  <Slides>12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1751</cp:revision>
  <dcterms:created xsi:type="dcterms:W3CDTF">2024-01-26T15:11:46Z</dcterms:created>
  <dcterms:modified xsi:type="dcterms:W3CDTF">2026-02-23T18:39:36Z</dcterms:modified>
</cp:coreProperties>
</file>