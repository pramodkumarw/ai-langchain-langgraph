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50" r:id="rId2"/>
    <p:sldId id="422" r:id="rId3"/>
    <p:sldId id="449" r:id="rId4"/>
    <p:sldId id="440" r:id="rId5"/>
    <p:sldId id="446" r:id="rId6"/>
    <p:sldId id="443" r:id="rId7"/>
    <p:sldId id="44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450"/>
          </p14:sldIdLst>
        </p14:section>
        <p14:section name="LangChain" id="{FEB3B35D-C60A-4223-8E10-10DFC2E07C67}">
          <p14:sldIdLst>
            <p14:sldId id="422"/>
            <p14:sldId id="449"/>
          </p14:sldIdLst>
        </p14:section>
        <p14:section name="Core Concepts" id="{64E5C771-6711-4108-95A3-FAFB67804861}">
          <p14:sldIdLst>
            <p14:sldId id="440"/>
            <p14:sldId id="446"/>
          </p14:sldIdLst>
        </p14:section>
        <p14:section name="Graph,Nodes,Edges" id="{063D6AEB-9870-469A-9FEA-F7DF6FCD60DA}">
          <p14:sldIdLst>
            <p14:sldId id="443"/>
            <p14:sldId id="445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D05E"/>
    <a:srgbClr val="CC3300"/>
    <a:srgbClr val="00CC99"/>
    <a:srgbClr val="15C2FF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5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702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28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25-02-2026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5821509" y="1224076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401287" y="193757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Langgraph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0" y="1"/>
            <a:ext cx="1253546" cy="1038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09077" y="659589"/>
            <a:ext cx="120417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Segoe UI Black" pitchFamily="34" charset="0"/>
                <a:ea typeface="Segoe UI Black" pitchFamily="34" charset="0"/>
              </a:rPr>
              <a:t>Langchain</a:t>
            </a:r>
            <a:endParaRPr lang="en-IN" sz="1600" dirty="0">
              <a:latin typeface="Arial Rounded MT Bold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07757" y="1746132"/>
            <a:ext cx="3105185" cy="1827507"/>
            <a:chOff x="1504875" y="2190509"/>
            <a:chExt cx="2477612" cy="1827507"/>
          </a:xfrm>
        </p:grpSpPr>
        <p:grpSp>
          <p:nvGrpSpPr>
            <p:cNvPr id="2" name="Group 1"/>
            <p:cNvGrpSpPr/>
            <p:nvPr/>
          </p:nvGrpSpPr>
          <p:grpSpPr>
            <a:xfrm>
              <a:off x="1506797" y="2190509"/>
              <a:ext cx="2475690" cy="915184"/>
              <a:chOff x="1506797" y="2190509"/>
              <a:chExt cx="2475690" cy="915184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1504875" y="3102832"/>
              <a:ext cx="2475690" cy="915184"/>
              <a:chOff x="1506797" y="2190509"/>
              <a:chExt cx="2475690" cy="915184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869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33" name="Footer Placeholder 32">
            <a:extLst>
              <a:ext uri="{FF2B5EF4-FFF2-40B4-BE49-F238E27FC236}">
                <a16:creationId xmlns="" xmlns:a16="http://schemas.microsoft.com/office/drawing/2014/main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" name="Rectangle 2"/>
          <p:cNvSpPr/>
          <p:nvPr/>
        </p:nvSpPr>
        <p:spPr>
          <a:xfrm>
            <a:off x="2313709" y="930671"/>
            <a:ext cx="935181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LangChain is an open-source library designed to simplify the process of building LLM based applications.</a:t>
            </a:r>
            <a:endParaRPr lang="en-IN" sz="1600" dirty="0"/>
          </a:p>
        </p:txBody>
      </p:sp>
      <p:grpSp>
        <p:nvGrpSpPr>
          <p:cNvPr id="9" name="Group 8"/>
          <p:cNvGrpSpPr/>
          <p:nvPr/>
        </p:nvGrpSpPr>
        <p:grpSpPr>
          <a:xfrm>
            <a:off x="1619247" y="399031"/>
            <a:ext cx="2301589" cy="369332"/>
            <a:chOff x="1619247" y="399031"/>
            <a:chExt cx="2301589" cy="369332"/>
          </a:xfrm>
        </p:grpSpPr>
        <p:sp>
          <p:nvSpPr>
            <p:cNvPr id="2" name="Rectangle 1"/>
            <p:cNvSpPr/>
            <p:nvPr/>
          </p:nvSpPr>
          <p:spPr>
            <a:xfrm>
              <a:off x="1619247" y="399031"/>
              <a:ext cx="21002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>
                  <a:latin typeface="Bahnschrift" pitchFamily="34" charset="0"/>
                </a:rPr>
                <a:t>What is LangChain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717964" y="768363"/>
              <a:ext cx="2202872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2313709" y="1955907"/>
            <a:ext cx="95596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It provides modular building blocks that let you create sophisticated LLM-based workflows with ease.</a:t>
            </a:r>
            <a:endParaRPr lang="en-IN" sz="1600" dirty="0"/>
          </a:p>
        </p:txBody>
      </p:sp>
      <p:sp>
        <p:nvSpPr>
          <p:cNvPr id="11" name="Rectangle 10"/>
          <p:cNvSpPr/>
          <p:nvPr/>
        </p:nvSpPr>
        <p:spPr>
          <a:xfrm>
            <a:off x="2313709" y="2745570"/>
            <a:ext cx="41969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Bahnschrift" pitchFamily="34" charset="0"/>
              </a:rPr>
              <a:t>LangChain consists of multiple components</a:t>
            </a:r>
            <a:endParaRPr lang="en-IN" sz="1600" dirty="0">
              <a:latin typeface="Bahnschrift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19399" y="3202954"/>
            <a:ext cx="905394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IN" sz="1600" b="1" dirty="0" smtClean="0"/>
              <a:t>Model</a:t>
            </a:r>
            <a:r>
              <a:rPr lang="en-IN" sz="1600" dirty="0" smtClean="0"/>
              <a:t> </a:t>
            </a:r>
            <a:r>
              <a:rPr lang="en-IN" sz="1600" dirty="0"/>
              <a:t>components gives use a unified interface to interact with various LLM providers</a:t>
            </a:r>
          </a:p>
          <a:p>
            <a:pPr marL="400050" indent="-400050">
              <a:buFont typeface="+mj-lt"/>
              <a:buAutoNum type="romanUcPeriod"/>
            </a:pPr>
            <a:r>
              <a:rPr lang="en-IN" sz="1600" b="1" dirty="0" smtClean="0"/>
              <a:t>Prompts</a:t>
            </a:r>
            <a:r>
              <a:rPr lang="en-IN" sz="1600" dirty="0" smtClean="0"/>
              <a:t> </a:t>
            </a:r>
            <a:r>
              <a:rPr lang="en-IN" sz="1600" dirty="0"/>
              <a:t>component helps you engineer prompts</a:t>
            </a:r>
          </a:p>
          <a:p>
            <a:pPr marL="400050" indent="-400050">
              <a:buFont typeface="+mj-lt"/>
              <a:buAutoNum type="romanUcPeriod"/>
            </a:pPr>
            <a:r>
              <a:rPr lang="en-IN" sz="1600" b="1" dirty="0" smtClean="0"/>
              <a:t>Retrievers</a:t>
            </a:r>
            <a:r>
              <a:rPr lang="en-IN" sz="1600" dirty="0" smtClean="0"/>
              <a:t> </a:t>
            </a:r>
            <a:r>
              <a:rPr lang="en-IN" sz="1600" dirty="0"/>
              <a:t>component helps you fetch relevant documents from a vector 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3709" y="5239389"/>
            <a:ext cx="40787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But the biggest offering of LangChain is Chains.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33" name="Footer Placeholder 32">
            <a:extLst>
              <a:ext uri="{FF2B5EF4-FFF2-40B4-BE49-F238E27FC236}">
                <a16:creationId xmlns="" xmlns:a16="http://schemas.microsoft.com/office/drawing/2014/main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2" name="Rectangle 1"/>
          <p:cNvSpPr/>
          <p:nvPr/>
        </p:nvSpPr>
        <p:spPr>
          <a:xfrm>
            <a:off x="1540032" y="381272"/>
            <a:ext cx="31598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Bahnschrift" pitchFamily="34" charset="0"/>
              </a:rPr>
              <a:t>What can you do with LangChain</a:t>
            </a:r>
            <a:endParaRPr lang="en-IN" sz="1600" dirty="0">
              <a:latin typeface="Bahnschrift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13709" y="936010"/>
            <a:ext cx="7315200" cy="107721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1600" dirty="0" smtClean="0"/>
              <a:t>Simple </a:t>
            </a:r>
            <a:r>
              <a:rPr lang="en-US" sz="1600" dirty="0"/>
              <a:t>conversational workflows like </a:t>
            </a:r>
            <a:r>
              <a:rPr lang="en-US" sz="1600" dirty="0" smtClean="0"/>
              <a:t>Chatbot, </a:t>
            </a:r>
            <a:r>
              <a:rPr lang="en-US" sz="1600" dirty="0"/>
              <a:t>Text Summarizers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dirty="0" smtClean="0"/>
              <a:t>Multistep </a:t>
            </a:r>
            <a:r>
              <a:rPr lang="en-US" sz="1600" dirty="0"/>
              <a:t>workflows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600" dirty="0" smtClean="0"/>
              <a:t>RAG</a:t>
            </a:r>
            <a:endParaRPr lang="en-US" sz="1600" dirty="0"/>
          </a:p>
          <a:p>
            <a:pPr marL="400050" indent="-400050">
              <a:buFont typeface="+mj-lt"/>
              <a:buAutoNum type="romanUcPeriod"/>
            </a:pPr>
            <a:r>
              <a:rPr lang="en-US" sz="1600" dirty="0" smtClean="0"/>
              <a:t>Basic </a:t>
            </a:r>
            <a:r>
              <a:rPr lang="en-US" sz="1600" dirty="0"/>
              <a:t>level Agents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0183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1714500"/>
            <a:ext cx="634365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149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33" name="Footer Placeholder 32">
            <a:extLst>
              <a:ext uri="{FF2B5EF4-FFF2-40B4-BE49-F238E27FC236}">
                <a16:creationId xmlns="" xmlns:a16="http://schemas.microsoft.com/office/drawing/2014/main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142" y="396661"/>
            <a:ext cx="667702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604654" y="5089589"/>
            <a:ext cx="6096000" cy="707886"/>
            <a:chOff x="3318771" y="2692753"/>
            <a:chExt cx="6096000" cy="707886"/>
          </a:xfrm>
        </p:grpSpPr>
        <p:sp>
          <p:nvSpPr>
            <p:cNvPr id="10" name="Rectangle 9"/>
            <p:cNvSpPr/>
            <p:nvPr/>
          </p:nvSpPr>
          <p:spPr>
            <a:xfrm>
              <a:off x="3318771" y="3062085"/>
              <a:ext cx="6096000" cy="338554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txBody>
            <a:bodyPr>
              <a:spAutoFit/>
            </a:bodyPr>
            <a:lstStyle/>
            <a:p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a </a:t>
              </a:r>
              <a:r>
                <a:rPr lang="en-US" sz="1600" dirty="0">
                  <a:latin typeface="Arial" pitchFamily="34" charset="0"/>
                  <a:cs typeface="Arial" pitchFamily="34" charset="0"/>
                </a:rPr>
                <a:t>series of task that we execute in order to achieve a goal</a:t>
              </a:r>
              <a:endParaRPr lang="en-IN" sz="1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18771" y="2692753"/>
              <a:ext cx="1231427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Bahnschrift" pitchFamily="34" charset="0"/>
                </a:rPr>
                <a:t>Workflow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1365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0691" y="640278"/>
            <a:ext cx="919941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Here each Nodes Represent a task just a python function</a:t>
            </a:r>
          </a:p>
          <a:p>
            <a:endParaRPr lang="en-US" sz="1600" dirty="0"/>
          </a:p>
          <a:p>
            <a:r>
              <a:rPr lang="en-US" sz="1600" dirty="0"/>
              <a:t>in </a:t>
            </a:r>
            <a:r>
              <a:rPr lang="en-US" sz="1600" dirty="0" smtClean="0"/>
              <a:t>Langgraph </a:t>
            </a:r>
            <a:r>
              <a:rPr lang="en-US" sz="1600" dirty="0"/>
              <a:t>, Graph which we made it is a sets of python fun which interconnected with the help of edges</a:t>
            </a:r>
          </a:p>
          <a:p>
            <a:endParaRPr lang="en-US" sz="1600" dirty="0"/>
          </a:p>
          <a:p>
            <a:r>
              <a:rPr lang="en-US" sz="1600" dirty="0"/>
              <a:t>Edges just explain  which node going to </a:t>
            </a:r>
            <a:r>
              <a:rPr lang="en-US" sz="1600" dirty="0" smtClean="0"/>
              <a:t>execute </a:t>
            </a:r>
            <a:r>
              <a:rPr lang="en-US" sz="1600" dirty="0"/>
              <a:t>after </a:t>
            </a:r>
            <a:r>
              <a:rPr lang="en-US" sz="1600" dirty="0" smtClean="0"/>
              <a:t>execution </a:t>
            </a:r>
            <a:r>
              <a:rPr lang="en-US" sz="1600" dirty="0"/>
              <a:t>of a specific node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3048000" y="282883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Sequential  Edges</a:t>
            </a:r>
          </a:p>
          <a:p>
            <a:r>
              <a:rPr lang="en-US" sz="1600" dirty="0"/>
              <a:t>Parallel Edges</a:t>
            </a:r>
          </a:p>
          <a:p>
            <a:r>
              <a:rPr lang="en-US" sz="1600" dirty="0"/>
              <a:t>Branching edges</a:t>
            </a:r>
          </a:p>
          <a:p>
            <a:r>
              <a:rPr lang="en-US" sz="1600" dirty="0"/>
              <a:t>Loop Edges</a:t>
            </a:r>
          </a:p>
        </p:txBody>
      </p:sp>
    </p:spTree>
    <p:extLst>
      <p:ext uri="{BB962C8B-B14F-4D97-AF65-F5344CB8AC3E}">
        <p14:creationId xmlns:p14="http://schemas.microsoft.com/office/powerpoint/2010/main" val="318085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70467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24056</TotalTime>
  <Words>238</Words>
  <Application>Microsoft Office PowerPoint</Application>
  <PresentationFormat>Custom</PresentationFormat>
  <Paragraphs>53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989</cp:revision>
  <dcterms:created xsi:type="dcterms:W3CDTF">2024-01-26T15:11:46Z</dcterms:created>
  <dcterms:modified xsi:type="dcterms:W3CDTF">2026-02-25T08:15:14Z</dcterms:modified>
</cp:coreProperties>
</file>