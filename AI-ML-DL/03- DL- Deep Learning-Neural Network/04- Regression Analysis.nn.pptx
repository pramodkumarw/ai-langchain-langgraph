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85" r:id="rId2"/>
    <p:sldId id="388" r:id="rId3"/>
    <p:sldId id="415" r:id="rId4"/>
    <p:sldId id="416" r:id="rId5"/>
    <p:sldId id="418" r:id="rId6"/>
    <p:sldId id="419" r:id="rId7"/>
    <p:sldId id="420" r:id="rId8"/>
    <p:sldId id="421" r:id="rId9"/>
    <p:sldId id="423" r:id="rId10"/>
    <p:sldId id="42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53F305DE-E919-46C9-8C7C-4B59AF1E2526}">
          <p14:sldIdLst>
            <p14:sldId id="285"/>
            <p14:sldId id="388"/>
          </p14:sldIdLst>
        </p14:section>
        <p14:section name="Regression Analysis" id="{E11988D7-3771-4A77-8873-7FDC139C863C}">
          <p14:sldIdLst>
            <p14:sldId id="415"/>
            <p14:sldId id="416"/>
            <p14:sldId id="418"/>
            <p14:sldId id="419"/>
            <p14:sldId id="420"/>
            <p14:sldId id="421"/>
            <p14:sldId id="423"/>
            <p14:sldId id="424"/>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43"/>
    <a:srgbClr val="00D05E"/>
    <a:srgbClr val="FF0066"/>
    <a:srgbClr val="FF4B21"/>
    <a:srgbClr val="CC3300"/>
    <a:srgbClr val="00CC99"/>
    <a:srgbClr val="15C2FF"/>
    <a:srgbClr val="FFCC29"/>
    <a:srgbClr val="F5E47F"/>
    <a:srgbClr val="F2D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89" autoAdjust="0"/>
    <p:restoredTop sz="98577" autoAdjust="0"/>
  </p:normalViewPr>
  <p:slideViewPr>
    <p:cSldViewPr snapToGrid="0">
      <p:cViewPr>
        <p:scale>
          <a:sx n="80" d="100"/>
          <a:sy n="80" d="100"/>
        </p:scale>
        <p:origin x="-120" y="-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90"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01-01-2026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1/1/2026</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1/1/2026</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1/1/2026</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1/1/2026</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1/1/2026</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1/1/2026</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1/1/2026</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1/1/2026</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1/1/2026</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1/1/2026</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1/1/2026</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1/1/2026</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xmlns=""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xmlns=""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6141493" y="1535723"/>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506796" y="4097983"/>
            <a:ext cx="2443370" cy="276999"/>
          </a:xfrm>
          <a:prstGeom prst="rect">
            <a:avLst/>
          </a:prstGeom>
          <a:solidFill>
            <a:srgbClr val="F5E47F"/>
          </a:solidFill>
          <a:ln>
            <a:solidFill>
              <a:schemeClr val="bg1">
                <a:lumMod val="75000"/>
              </a:schemeClr>
            </a:solidFill>
          </a:ln>
        </p:spPr>
        <p:txBody>
          <a:bodyPr wrap="square" rtlCol="0">
            <a:spAutoFit/>
          </a:bodyPr>
          <a:lstStyle/>
          <a:p>
            <a:r>
              <a:rPr lang="en-US" sz="1200" dirty="0">
                <a:latin typeface="Bahnschrift Light" pitchFamily="34" charset="0"/>
                <a:ea typeface="Arial Unicode MS" pitchFamily="34" charset="-128"/>
                <a:cs typeface="Arial Unicode MS" pitchFamily="34" charset="-128"/>
              </a:rPr>
              <a:t>ANN,CNN,RNN</a:t>
            </a:r>
            <a:endParaRPr lang="en-IN" sz="1200" dirty="0">
              <a:latin typeface="Bahnschrift Light" pitchFamily="34" charset="0"/>
              <a:ea typeface="Arial Unicode MS" pitchFamily="34" charset="-128"/>
              <a:cs typeface="Arial Unicode MS" pitchFamily="34" charset="-128"/>
            </a:endParaRPr>
          </a:p>
        </p:txBody>
      </p:sp>
      <p:sp>
        <p:nvSpPr>
          <p:cNvPr id="16" name="TextBox 15"/>
          <p:cNvSpPr txBox="1"/>
          <p:nvPr/>
        </p:nvSpPr>
        <p:spPr>
          <a:xfrm>
            <a:off x="6508276" y="2590642"/>
            <a:ext cx="2564728" cy="276999"/>
          </a:xfrm>
          <a:prstGeom prst="rect">
            <a:avLst/>
          </a:prstGeom>
          <a:solidFill>
            <a:schemeClr val="bg2">
              <a:lumMod val="90000"/>
            </a:schemeClr>
          </a:solidFill>
          <a:ln>
            <a:solidFill>
              <a:schemeClr val="bg1">
                <a:lumMod val="8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Backward error propagation</a:t>
            </a:r>
            <a:endParaRPr lang="en-IN" sz="1200" dirty="0">
              <a:latin typeface="Bahnschrift Light" pitchFamily="34" charset="0"/>
              <a:ea typeface="Arial Unicode MS" pitchFamily="34" charset="-128"/>
              <a:cs typeface="Arial Unicode MS" pitchFamily="34" charset="-128"/>
            </a:endParaRPr>
          </a:p>
        </p:txBody>
      </p:sp>
      <p:sp>
        <p:nvSpPr>
          <p:cNvPr id="17" name="TextBox 16"/>
          <p:cNvSpPr txBox="1"/>
          <p:nvPr/>
        </p:nvSpPr>
        <p:spPr>
          <a:xfrm>
            <a:off x="6523039" y="1542342"/>
            <a:ext cx="2564729" cy="276999"/>
          </a:xfrm>
          <a:prstGeom prst="rect">
            <a:avLst/>
          </a:prstGeom>
          <a:solidFill>
            <a:schemeClr val="accent4">
              <a:lumMod val="40000"/>
              <a:lumOff val="60000"/>
            </a:schemeClr>
          </a:solidFill>
          <a:ln>
            <a:solidFill>
              <a:schemeClr val="bg1">
                <a:lumMod val="8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Neural Network –How it works</a:t>
            </a:r>
            <a:endParaRPr lang="en-IN" sz="1200" dirty="0">
              <a:latin typeface="Bahnschrift Light" pitchFamily="34" charset="0"/>
              <a:ea typeface="Arial Unicode MS" pitchFamily="34" charset="-128"/>
              <a:cs typeface="Arial Unicode MS" pitchFamily="34" charset="-128"/>
            </a:endParaRPr>
          </a:p>
        </p:txBody>
      </p: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06796" y="4466783"/>
            <a:ext cx="2421558" cy="276999"/>
          </a:xfrm>
          <a:prstGeom prst="rect">
            <a:avLst/>
          </a:prstGeom>
          <a:solidFill>
            <a:schemeClr val="accent4">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ANN</a:t>
            </a:r>
            <a:endParaRPr lang="en-IN" sz="1200" dirty="0">
              <a:latin typeface="Bahnschrift Light" pitchFamily="34" charset="0"/>
              <a:ea typeface="Arial Unicode MS" pitchFamily="34" charset="-128"/>
              <a:cs typeface="Arial Unicode MS" pitchFamily="34" charset="-128"/>
            </a:endParaRPr>
          </a:p>
        </p:txBody>
      </p:sp>
      <p:sp>
        <p:nvSpPr>
          <p:cNvPr id="13" name="TextBox 12">
            <a:hlinkClick r:id="" action="ppaction://noaction"/>
          </p:cNvPr>
          <p:cNvSpPr txBox="1"/>
          <p:nvPr/>
        </p:nvSpPr>
        <p:spPr>
          <a:xfrm>
            <a:off x="1506796" y="4788897"/>
            <a:ext cx="2421558"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 action="ppaction://noaction"/>
              </a:rPr>
              <a:t>RNN</a:t>
            </a:r>
            <a:endParaRPr lang="en-IN" sz="1200" dirty="0">
              <a:latin typeface="Bahnschrift Light" pitchFamily="34" charset="0"/>
              <a:ea typeface="Arial Unicode MS" pitchFamily="34" charset="-128"/>
              <a:cs typeface="Arial Unicode MS" pitchFamily="34" charset="-128"/>
            </a:endParaRPr>
          </a:p>
        </p:txBody>
      </p:sp>
      <p:grpSp>
        <p:nvGrpSpPr>
          <p:cNvPr id="2" name="Group 1"/>
          <p:cNvGrpSpPr/>
          <p:nvPr/>
        </p:nvGrpSpPr>
        <p:grpSpPr>
          <a:xfrm>
            <a:off x="2467226" y="5161273"/>
            <a:ext cx="2443370" cy="837354"/>
            <a:chOff x="1871428" y="3642863"/>
            <a:chExt cx="2443370" cy="837354"/>
          </a:xfrm>
        </p:grpSpPr>
        <p:sp>
          <p:nvSpPr>
            <p:cNvPr id="14" name="TextBox 13">
              <a:hlinkClick r:id="" action="ppaction://noaction"/>
            </p:cNvPr>
            <p:cNvSpPr txBox="1"/>
            <p:nvPr/>
          </p:nvSpPr>
          <p:spPr>
            <a:xfrm>
              <a:off x="1871428" y="3642863"/>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Type of RNN</a:t>
              </a:r>
              <a:endParaRPr lang="en-IN" sz="1200" dirty="0">
                <a:latin typeface="Bahnschrift Light" pitchFamily="34" charset="0"/>
                <a:ea typeface="Arial Unicode MS" pitchFamily="34" charset="-128"/>
                <a:cs typeface="Arial Unicode MS" pitchFamily="34" charset="-128"/>
              </a:endParaRPr>
            </a:p>
          </p:txBody>
        </p:sp>
        <p:sp>
          <p:nvSpPr>
            <p:cNvPr id="19" name="TextBox 18">
              <a:hlinkClick r:id="" action="ppaction://noaction"/>
            </p:cNvPr>
            <p:cNvSpPr txBox="1"/>
            <p:nvPr/>
          </p:nvSpPr>
          <p:spPr>
            <a:xfrm>
              <a:off x="1871428" y="3919862"/>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Problem with RNN</a:t>
              </a:r>
              <a:endParaRPr lang="en-IN" sz="1200" dirty="0">
                <a:latin typeface="Bahnschrift Light" pitchFamily="34" charset="0"/>
                <a:ea typeface="Arial Unicode MS" pitchFamily="34" charset="-128"/>
                <a:cs typeface="Arial Unicode MS" pitchFamily="34" charset="-128"/>
              </a:endParaRPr>
            </a:p>
          </p:txBody>
        </p:sp>
        <p:sp>
          <p:nvSpPr>
            <p:cNvPr id="20" name="TextBox 19">
              <a:hlinkClick r:id="" action="ppaction://noaction"/>
            </p:cNvPr>
            <p:cNvSpPr txBox="1"/>
            <p:nvPr/>
          </p:nvSpPr>
          <p:spPr>
            <a:xfrm>
              <a:off x="1871428" y="4203218"/>
              <a:ext cx="2443370" cy="276999"/>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 action="ppaction://noaction"/>
                </a:rPr>
                <a:t>LSTM</a:t>
              </a:r>
              <a:endParaRPr lang="en-IN" sz="1200" dirty="0">
                <a:latin typeface="Bahnschrift Light" pitchFamily="34" charset="0"/>
                <a:ea typeface="Arial Unicode MS" pitchFamily="34" charset="-128"/>
                <a:cs typeface="Arial Unicode MS" pitchFamily="34" charset="-128"/>
              </a:endParaRPr>
            </a:p>
          </p:txBody>
        </p:sp>
      </p:grpSp>
      <p:sp>
        <p:nvSpPr>
          <p:cNvPr id="21" name="TextBox 20">
            <a:hlinkClick r:id="" action="ppaction://noaction"/>
          </p:cNvPr>
          <p:cNvSpPr txBox="1"/>
          <p:nvPr/>
        </p:nvSpPr>
        <p:spPr>
          <a:xfrm>
            <a:off x="1506796" y="3778904"/>
            <a:ext cx="2443370" cy="276999"/>
          </a:xfrm>
          <a:prstGeom prst="rect">
            <a:avLst/>
          </a:prstGeom>
          <a:solidFill>
            <a:schemeClr val="accent6">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Time Series Data</a:t>
            </a:r>
            <a:endParaRPr lang="en-IN" sz="1200" dirty="0">
              <a:latin typeface="Bahnschrift Light" pitchFamily="34" charset="0"/>
              <a:ea typeface="Arial Unicode MS" pitchFamily="34" charset="-128"/>
              <a:cs typeface="Arial Unicode MS" pitchFamily="34" charset="-128"/>
            </a:endParaRPr>
          </a:p>
        </p:txBody>
      </p:sp>
      <p:sp>
        <p:nvSpPr>
          <p:cNvPr id="22" name="TextBox 21"/>
          <p:cNvSpPr txBox="1"/>
          <p:nvPr/>
        </p:nvSpPr>
        <p:spPr>
          <a:xfrm>
            <a:off x="6438922" y="4557681"/>
            <a:ext cx="2564728" cy="276999"/>
          </a:xfrm>
          <a:prstGeom prst="rect">
            <a:avLst/>
          </a:prstGeom>
          <a:solidFill>
            <a:srgbClr val="FFCC29"/>
          </a:solidFill>
          <a:ln>
            <a:solidFill>
              <a:schemeClr val="bg1">
                <a:lumMod val="85000"/>
              </a:schemeClr>
            </a:solidFill>
          </a:ln>
        </p:spPr>
        <p:txBody>
          <a:bodyPr wrap="square" rtlCol="0">
            <a:spAutoFit/>
          </a:bodyPr>
          <a:lstStyle>
            <a:defPPr>
              <a:defRPr lang="en-US"/>
            </a:defPPr>
            <a:lvl1pPr>
              <a:defRPr sz="1200">
                <a:latin typeface="Bahnschrift Light" pitchFamily="34" charset="0"/>
                <a:ea typeface="Arial Unicode MS" pitchFamily="34" charset="-128"/>
                <a:cs typeface="Arial Unicode MS" pitchFamily="34" charset="-128"/>
              </a:defRPr>
            </a:lvl1pPr>
          </a:lstStyle>
          <a:p>
            <a:r>
              <a:rPr lang="en-IN" dirty="0"/>
              <a:t>Neural Network-Layman term</a:t>
            </a:r>
          </a:p>
        </p:txBody>
      </p:sp>
      <p:sp>
        <p:nvSpPr>
          <p:cNvPr id="23" name="Google Shape;143;p1">
            <a:extLst>
              <a:ext uri="{FF2B5EF4-FFF2-40B4-BE49-F238E27FC236}">
                <a16:creationId xmlns:a16="http://schemas.microsoft.com/office/drawing/2014/main" xmlns="" id="{E4949A97-DC03-56A5-2E5A-3DD3913AA0EF}"/>
              </a:ext>
            </a:extLst>
          </p:cNvPr>
          <p:cNvSpPr txBox="1">
            <a:spLocks noGrp="1"/>
          </p:cNvSpPr>
          <p:nvPr/>
        </p:nvSpPr>
        <p:spPr>
          <a:xfrm>
            <a:off x="1774208" y="193757"/>
            <a:ext cx="4951915" cy="111369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Neural Network</a:t>
            </a:r>
          </a:p>
          <a:p>
            <a:endParaRPr lang="it-IT" sz="4000" b="1" dirty="0">
              <a:solidFill>
                <a:schemeClr val="tx1"/>
              </a:solidFill>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 y="1"/>
            <a:ext cx="1903189" cy="1577228"/>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a16="http://schemas.microsoft.com/office/drawing/2014/main" xmlns=""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8918" y="42717"/>
            <a:ext cx="3201582" cy="124017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1506796" y="1542342"/>
            <a:ext cx="2474730" cy="925166"/>
            <a:chOff x="1522475" y="1942475"/>
            <a:chExt cx="2474730" cy="925166"/>
          </a:xfrm>
        </p:grpSpPr>
        <p:sp>
          <p:nvSpPr>
            <p:cNvPr id="9" name="TextBox 8"/>
            <p:cNvSpPr txBox="1"/>
            <p:nvPr/>
          </p:nvSpPr>
          <p:spPr>
            <a:xfrm>
              <a:off x="1522476" y="1942475"/>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a:latin typeface="Bahnschrift Light" pitchFamily="34" charset="0"/>
                  <a:ea typeface="Arial Unicode MS" pitchFamily="34" charset="-128"/>
                  <a:cs typeface="Arial Unicode MS" pitchFamily="34" charset="-128"/>
                </a:rPr>
                <a:t>Neural network &amp; History</a:t>
              </a:r>
              <a:endParaRPr lang="en-IN" sz="1200" dirty="0">
                <a:latin typeface="Bahnschrift Light" pitchFamily="34" charset="0"/>
                <a:ea typeface="Arial Unicode MS" pitchFamily="34" charset="-128"/>
                <a:cs typeface="Arial Unicode MS" pitchFamily="34" charset="-128"/>
              </a:endParaRPr>
            </a:p>
          </p:txBody>
        </p:sp>
        <p:sp>
          <p:nvSpPr>
            <p:cNvPr id="26" name="TextBox 25"/>
            <p:cNvSpPr txBox="1"/>
            <p:nvPr/>
          </p:nvSpPr>
          <p:spPr>
            <a:xfrm>
              <a:off x="1522475" y="2262356"/>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rPr>
                <a:t>Component of Neural network</a:t>
              </a:r>
              <a:endParaRPr lang="en-IN" sz="1200" dirty="0">
                <a:latin typeface="Bahnschrift Light" pitchFamily="34" charset="0"/>
                <a:ea typeface="Arial Unicode MS" pitchFamily="34" charset="-128"/>
                <a:cs typeface="Arial Unicode MS" pitchFamily="34" charset="-128"/>
              </a:endParaRPr>
            </a:p>
          </p:txBody>
        </p:sp>
        <p:sp>
          <p:nvSpPr>
            <p:cNvPr id="27" name="TextBox 26"/>
            <p:cNvSpPr txBox="1"/>
            <p:nvPr/>
          </p:nvSpPr>
          <p:spPr>
            <a:xfrm>
              <a:off x="1522476" y="2590642"/>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Light" pitchFamily="34" charset="0"/>
                  <a:ea typeface="Arial Unicode MS" pitchFamily="34" charset="-128"/>
                  <a:cs typeface="Arial Unicode MS" pitchFamily="34" charset="-128"/>
                  <a:hlinkClick r:id="" action="ppaction://noaction"/>
                </a:rPr>
                <a:t>Activation Function</a:t>
              </a:r>
              <a:endParaRPr lang="en-IN" sz="1200" dirty="0">
                <a:latin typeface="Bahnschrift Light" pitchFamily="34" charset="0"/>
                <a:ea typeface="Arial Unicode MS" pitchFamily="34" charset="-128"/>
                <a:cs typeface="Arial Unicode MS" pitchFamily="34" charset="-128"/>
              </a:endParaRPr>
            </a:p>
          </p:txBody>
        </p:sp>
      </p:grpSp>
    </p:spTree>
    <p:extLst>
      <p:ext uri="{BB962C8B-B14F-4D97-AF65-F5344CB8AC3E}">
        <p14:creationId xmlns:p14="http://schemas.microsoft.com/office/powerpoint/2010/main" val="8045807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99370" y="5117964"/>
            <a:ext cx="1573829" cy="338554"/>
          </a:xfrm>
          <a:prstGeom prst="rect">
            <a:avLst/>
          </a:prstGeom>
          <a:solidFill>
            <a:schemeClr val="accent4">
              <a:lumMod val="20000"/>
              <a:lumOff val="80000"/>
            </a:schemeClr>
          </a:solidFill>
          <a:ln>
            <a:solidFill>
              <a:schemeClr val="bg1">
                <a:lumMod val="75000"/>
              </a:schemeClr>
            </a:solidFill>
          </a:ln>
        </p:spPr>
        <p:txBody>
          <a:bodyPr wrap="none">
            <a:spAutoFit/>
          </a:bodyPr>
          <a:lstStyle/>
          <a:p>
            <a:r>
              <a:rPr lang="en-IN" sz="1600" dirty="0"/>
              <a:t>feed forward NN</a:t>
            </a:r>
          </a:p>
        </p:txBody>
      </p:sp>
      <p:sp>
        <p:nvSpPr>
          <p:cNvPr id="6" name="Rectangle 5"/>
          <p:cNvSpPr/>
          <p:nvPr/>
        </p:nvSpPr>
        <p:spPr>
          <a:xfrm>
            <a:off x="7121701" y="2558114"/>
            <a:ext cx="2502545" cy="338554"/>
          </a:xfrm>
          <a:prstGeom prst="rect">
            <a:avLst/>
          </a:prstGeom>
          <a:solidFill>
            <a:schemeClr val="accent1">
              <a:lumMod val="20000"/>
              <a:lumOff val="80000"/>
            </a:schemeClr>
          </a:solidFill>
          <a:ln>
            <a:solidFill>
              <a:schemeClr val="bg1">
                <a:lumMod val="75000"/>
              </a:schemeClr>
            </a:solidFill>
          </a:ln>
        </p:spPr>
        <p:txBody>
          <a:bodyPr wrap="none">
            <a:spAutoFit/>
          </a:bodyPr>
          <a:lstStyle/>
          <a:p>
            <a:r>
              <a:rPr lang="en-IN" sz="1600" dirty="0"/>
              <a:t>Vanishing Gradient </a:t>
            </a:r>
            <a:r>
              <a:rPr lang="en-IN" sz="1600" dirty="0" smtClean="0"/>
              <a:t>Problem</a:t>
            </a:r>
            <a:endParaRPr lang="en-IN" sz="1600" dirty="0"/>
          </a:p>
        </p:txBody>
      </p:sp>
      <p:sp>
        <p:nvSpPr>
          <p:cNvPr id="7" name="Rectangle 6"/>
          <p:cNvSpPr/>
          <p:nvPr/>
        </p:nvSpPr>
        <p:spPr>
          <a:xfrm>
            <a:off x="7073758" y="1049600"/>
            <a:ext cx="1261884" cy="369332"/>
          </a:xfrm>
          <a:prstGeom prst="rect">
            <a:avLst/>
          </a:prstGeom>
          <a:solidFill>
            <a:schemeClr val="accent5">
              <a:lumMod val="20000"/>
              <a:lumOff val="80000"/>
            </a:schemeClr>
          </a:solidFill>
          <a:ln>
            <a:solidFill>
              <a:schemeClr val="bg1">
                <a:lumMod val="75000"/>
              </a:schemeClr>
            </a:solidFill>
          </a:ln>
        </p:spPr>
        <p:txBody>
          <a:bodyPr wrap="none">
            <a:spAutoFit/>
          </a:bodyPr>
          <a:lstStyle/>
          <a:p>
            <a:r>
              <a:rPr lang="en-IN" dirty="0"/>
              <a:t>Time Series</a:t>
            </a:r>
          </a:p>
        </p:txBody>
      </p:sp>
      <p:sp>
        <p:nvSpPr>
          <p:cNvPr id="8" name="Rectangle 7"/>
          <p:cNvSpPr/>
          <p:nvPr/>
        </p:nvSpPr>
        <p:spPr>
          <a:xfrm>
            <a:off x="7219150" y="4142067"/>
            <a:ext cx="848309" cy="338554"/>
          </a:xfrm>
          <a:prstGeom prst="rect">
            <a:avLst/>
          </a:prstGeom>
          <a:solidFill>
            <a:srgbClr val="00CC99"/>
          </a:solidFill>
          <a:ln>
            <a:solidFill>
              <a:schemeClr val="bg1">
                <a:lumMod val="75000"/>
              </a:schemeClr>
            </a:solidFill>
          </a:ln>
        </p:spPr>
        <p:txBody>
          <a:bodyPr wrap="none">
            <a:spAutoFit/>
          </a:bodyPr>
          <a:lstStyle/>
          <a:p>
            <a:r>
              <a:rPr lang="en-IN" sz="1600" dirty="0"/>
              <a:t>Sigmoid</a:t>
            </a:r>
          </a:p>
        </p:txBody>
      </p:sp>
      <p:sp>
        <p:nvSpPr>
          <p:cNvPr id="10" name="Rectangle 9"/>
          <p:cNvSpPr/>
          <p:nvPr/>
        </p:nvSpPr>
        <p:spPr>
          <a:xfrm>
            <a:off x="8175759" y="1913185"/>
            <a:ext cx="601447" cy="338554"/>
          </a:xfrm>
          <a:prstGeom prst="rect">
            <a:avLst/>
          </a:prstGeom>
          <a:solidFill>
            <a:schemeClr val="accent6">
              <a:lumMod val="40000"/>
              <a:lumOff val="60000"/>
            </a:schemeClr>
          </a:solidFill>
          <a:ln>
            <a:solidFill>
              <a:schemeClr val="bg1">
                <a:lumMod val="75000"/>
              </a:schemeClr>
            </a:solidFill>
          </a:ln>
        </p:spPr>
        <p:txBody>
          <a:bodyPr wrap="none">
            <a:spAutoFit/>
          </a:bodyPr>
          <a:lstStyle/>
          <a:p>
            <a:r>
              <a:rPr lang="en-IN" sz="1600" dirty="0"/>
              <a:t>TanH</a:t>
            </a:r>
          </a:p>
        </p:txBody>
      </p:sp>
      <p:sp>
        <p:nvSpPr>
          <p:cNvPr id="11" name="Rectangle 10"/>
          <p:cNvSpPr/>
          <p:nvPr/>
        </p:nvSpPr>
        <p:spPr>
          <a:xfrm>
            <a:off x="6924487" y="1740903"/>
            <a:ext cx="549766" cy="338554"/>
          </a:xfrm>
          <a:prstGeom prst="rect">
            <a:avLst/>
          </a:prstGeom>
          <a:solidFill>
            <a:srgbClr val="FFFF00"/>
          </a:solidFill>
          <a:ln>
            <a:solidFill>
              <a:schemeClr val="bg1">
                <a:lumMod val="75000"/>
              </a:schemeClr>
            </a:solidFill>
          </a:ln>
        </p:spPr>
        <p:txBody>
          <a:bodyPr wrap="none">
            <a:spAutoFit/>
          </a:bodyPr>
          <a:lstStyle/>
          <a:p>
            <a:r>
              <a:rPr lang="en-IN" sz="1600" dirty="0"/>
              <a:t>Relu</a:t>
            </a:r>
          </a:p>
        </p:txBody>
      </p:sp>
      <p:sp>
        <p:nvSpPr>
          <p:cNvPr id="12" name="TextBox 11"/>
          <p:cNvSpPr txBox="1"/>
          <p:nvPr/>
        </p:nvSpPr>
        <p:spPr>
          <a:xfrm>
            <a:off x="239614" y="1115311"/>
            <a:ext cx="1951175" cy="307777"/>
          </a:xfrm>
          <a:prstGeom prst="rect">
            <a:avLst/>
          </a:prstGeom>
          <a:solidFill>
            <a:srgbClr val="FF6743"/>
          </a:solidFill>
          <a:ln>
            <a:solidFill>
              <a:srgbClr val="FF6743"/>
            </a:solidFill>
          </a:ln>
        </p:spPr>
        <p:txBody>
          <a:bodyPr wrap="none" rtlCol="0">
            <a:spAutoFit/>
          </a:bodyPr>
          <a:lstStyle>
            <a:defPPr>
              <a:defRPr lang="en-US"/>
            </a:defPPr>
            <a:lvl1pPr>
              <a:defRPr sz="1400">
                <a:solidFill>
                  <a:schemeClr val="bg1"/>
                </a:solidFill>
              </a:defRPr>
            </a:lvl1pPr>
          </a:lstStyle>
          <a:p>
            <a:r>
              <a:rPr lang="en-US" dirty="0">
                <a:latin typeface="Arial Rounded MT Bold" pitchFamily="34" charset="0"/>
              </a:rPr>
              <a:t>Loss </a:t>
            </a:r>
            <a:r>
              <a:rPr lang="en-US" dirty="0" smtClean="0">
                <a:latin typeface="Arial Rounded MT Bold" pitchFamily="34" charset="0"/>
              </a:rPr>
              <a:t>/Cost Function </a:t>
            </a:r>
            <a:endParaRPr lang="en-IN" dirty="0">
              <a:latin typeface="Arial Rounded MT Bold" pitchFamily="34" charset="0"/>
            </a:endParaRPr>
          </a:p>
        </p:txBody>
      </p:sp>
      <p:sp>
        <p:nvSpPr>
          <p:cNvPr id="13" name="TextBox 12"/>
          <p:cNvSpPr txBox="1"/>
          <p:nvPr/>
        </p:nvSpPr>
        <p:spPr>
          <a:xfrm>
            <a:off x="7513206" y="3574871"/>
            <a:ext cx="1412118" cy="307777"/>
          </a:xfrm>
          <a:prstGeom prst="rect">
            <a:avLst/>
          </a:prstGeom>
          <a:solidFill>
            <a:srgbClr val="FF6743"/>
          </a:solidFill>
          <a:ln>
            <a:solidFill>
              <a:srgbClr val="FF6743"/>
            </a:solidFill>
          </a:ln>
        </p:spPr>
        <p:txBody>
          <a:bodyPr wrap="none" rtlCol="0">
            <a:spAutoFit/>
          </a:bodyPr>
          <a:lstStyle/>
          <a:p>
            <a:r>
              <a:rPr lang="en-US" sz="1400" dirty="0" smtClean="0">
                <a:solidFill>
                  <a:schemeClr val="bg1"/>
                </a:solidFill>
                <a:latin typeface="Arial Rounded MT Bold" pitchFamily="34" charset="0"/>
              </a:rPr>
              <a:t>Learning Rate</a:t>
            </a:r>
            <a:endParaRPr lang="en-IN" sz="1400" dirty="0">
              <a:solidFill>
                <a:schemeClr val="bg1"/>
              </a:solidFill>
              <a:latin typeface="Arial Rounded MT Bold" pitchFamily="34" charset="0"/>
            </a:endParaRPr>
          </a:p>
        </p:txBody>
      </p:sp>
      <p:sp>
        <p:nvSpPr>
          <p:cNvPr id="15" name="Rectangle 14"/>
          <p:cNvSpPr/>
          <p:nvPr/>
        </p:nvSpPr>
        <p:spPr>
          <a:xfrm>
            <a:off x="239614" y="740545"/>
            <a:ext cx="1720664" cy="307777"/>
          </a:xfrm>
          <a:prstGeom prst="rect">
            <a:avLst/>
          </a:prstGeom>
          <a:solidFill>
            <a:srgbClr val="FF6743"/>
          </a:solidFill>
          <a:ln>
            <a:solidFill>
              <a:srgbClr val="FF6743"/>
            </a:solidFill>
          </a:ln>
        </p:spPr>
        <p:txBody>
          <a:bodyPr wrap="none" rtlCol="0">
            <a:spAutoFit/>
          </a:bodyPr>
          <a:lstStyle/>
          <a:p>
            <a:r>
              <a:rPr lang="en-IN" sz="1400" dirty="0">
                <a:solidFill>
                  <a:schemeClr val="bg1"/>
                </a:solidFill>
                <a:latin typeface="Arial Rounded MT Bold" pitchFamily="34" charset="0"/>
              </a:rPr>
              <a:t>Gradient </a:t>
            </a:r>
            <a:r>
              <a:rPr lang="en-IN" sz="1400" dirty="0" smtClean="0">
                <a:solidFill>
                  <a:schemeClr val="bg1"/>
                </a:solidFill>
                <a:latin typeface="Arial Rounded MT Bold" pitchFamily="34" charset="0"/>
              </a:rPr>
              <a:t>Descent</a:t>
            </a:r>
            <a:endParaRPr lang="en-IN" sz="1400" dirty="0">
              <a:solidFill>
                <a:schemeClr val="bg1"/>
              </a:solidFill>
              <a:latin typeface="Arial Rounded MT Bold" pitchFamily="34" charset="0"/>
            </a:endParaRPr>
          </a:p>
        </p:txBody>
      </p:sp>
      <p:grpSp>
        <p:nvGrpSpPr>
          <p:cNvPr id="22" name="Group 21"/>
          <p:cNvGrpSpPr/>
          <p:nvPr/>
        </p:nvGrpSpPr>
        <p:grpSpPr>
          <a:xfrm>
            <a:off x="109182" y="105120"/>
            <a:ext cx="11969087" cy="6237066"/>
            <a:chOff x="240961" y="259267"/>
            <a:chExt cx="11969087" cy="6237066"/>
          </a:xfrm>
        </p:grpSpPr>
        <p:grpSp>
          <p:nvGrpSpPr>
            <p:cNvPr id="3" name="Group 2"/>
            <p:cNvGrpSpPr/>
            <p:nvPr/>
          </p:nvGrpSpPr>
          <p:grpSpPr>
            <a:xfrm>
              <a:off x="240961" y="596463"/>
              <a:ext cx="11969087" cy="5899870"/>
              <a:chOff x="240961" y="596463"/>
              <a:chExt cx="11969087" cy="5899870"/>
            </a:xfrm>
          </p:grpSpPr>
          <p:grpSp>
            <p:nvGrpSpPr>
              <p:cNvPr id="18" name="Group 17"/>
              <p:cNvGrpSpPr/>
              <p:nvPr/>
            </p:nvGrpSpPr>
            <p:grpSpPr>
              <a:xfrm>
                <a:off x="240961" y="596463"/>
                <a:ext cx="11969087" cy="5899869"/>
                <a:chOff x="-664863" y="576834"/>
                <a:chExt cx="11969087" cy="5899869"/>
              </a:xfrm>
            </p:grpSpPr>
            <p:cxnSp>
              <p:nvCxnSpPr>
                <p:cNvPr id="14" name="Straight Connector 13"/>
                <p:cNvCxnSpPr/>
                <p:nvPr/>
              </p:nvCxnSpPr>
              <p:spPr>
                <a:xfrm>
                  <a:off x="-664863" y="576834"/>
                  <a:ext cx="11969087" cy="3731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50567" y="594518"/>
                  <a:ext cx="0" cy="58821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a:off x="3318681" y="614148"/>
                <a:ext cx="0" cy="58821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9" name="Flowchart: Connector 18"/>
            <p:cNvSpPr/>
            <p:nvPr/>
          </p:nvSpPr>
          <p:spPr>
            <a:xfrm>
              <a:off x="371393" y="259267"/>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Rounded MT Bold" pitchFamily="34" charset="0"/>
                </a:rPr>
                <a:t>1</a:t>
              </a:r>
              <a:endParaRPr lang="en-IN" sz="1600" dirty="0">
                <a:latin typeface="Arial Rounded MT Bold" pitchFamily="34" charset="0"/>
              </a:endParaRPr>
            </a:p>
          </p:txBody>
        </p:sp>
        <p:sp>
          <p:nvSpPr>
            <p:cNvPr id="20" name="Flowchart: Connector 19"/>
            <p:cNvSpPr/>
            <p:nvPr/>
          </p:nvSpPr>
          <p:spPr>
            <a:xfrm>
              <a:off x="3476409" y="259267"/>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Rounded MT Bold" pitchFamily="34" charset="0"/>
                </a:rPr>
                <a:t>2</a:t>
              </a:r>
              <a:endParaRPr lang="en-IN" sz="1600" dirty="0">
                <a:latin typeface="Arial Rounded MT Bold" pitchFamily="34" charset="0"/>
              </a:endParaRPr>
            </a:p>
          </p:txBody>
        </p:sp>
        <p:sp>
          <p:nvSpPr>
            <p:cNvPr id="21" name="Flowchart: Connector 20"/>
            <p:cNvSpPr/>
            <p:nvPr/>
          </p:nvSpPr>
          <p:spPr>
            <a:xfrm>
              <a:off x="7037370" y="272463"/>
              <a:ext cx="324000" cy="324000"/>
            </a:xfrm>
            <a:prstGeom prst="flowChartConnector">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Rounded MT Bold" pitchFamily="34" charset="0"/>
                </a:rPr>
                <a:t>3</a:t>
              </a:r>
              <a:endParaRPr lang="en-IN" sz="1600" dirty="0">
                <a:latin typeface="Arial Rounded MT Bold" pitchFamily="34" charset="0"/>
              </a:endParaRPr>
            </a:p>
          </p:txBody>
        </p:sp>
      </p:grpSp>
    </p:spTree>
    <p:extLst>
      <p:ext uri="{BB962C8B-B14F-4D97-AF65-F5344CB8AC3E}">
        <p14:creationId xmlns:p14="http://schemas.microsoft.com/office/powerpoint/2010/main" val="1372006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63840" y="225268"/>
            <a:ext cx="1831215" cy="318308"/>
            <a:chOff x="1492971" y="258160"/>
            <a:chExt cx="2415586" cy="318308"/>
          </a:xfrm>
          <a:solidFill>
            <a:schemeClr val="accent5">
              <a:lumMod val="75000"/>
            </a:schemeClr>
          </a:solidFill>
        </p:grpSpPr>
        <p:sp>
          <p:nvSpPr>
            <p:cNvPr id="3" name="Rectangle 2"/>
            <p:cNvSpPr/>
            <p:nvPr/>
          </p:nvSpPr>
          <p:spPr>
            <a:xfrm>
              <a:off x="1492971" y="258160"/>
              <a:ext cx="2415586" cy="307777"/>
            </a:xfrm>
            <a:prstGeom prst="rect">
              <a:avLst/>
            </a:prstGeom>
            <a:grpFill/>
            <a:ln>
              <a:solidFill>
                <a:schemeClr val="bg1"/>
              </a:solidFill>
            </a:ln>
          </p:spPr>
          <p:txBody>
            <a:bodyPr wrap="square" rtlCol="0">
              <a:spAutoFit/>
            </a:bodyPr>
            <a:lstStyle/>
            <a:p>
              <a:r>
                <a:rPr lang="en-US" sz="1400" dirty="0" smtClean="0">
                  <a:solidFill>
                    <a:schemeClr val="bg1"/>
                  </a:solidFill>
                  <a:latin typeface="Bahnschrift Light" pitchFamily="34" charset="0"/>
                  <a:ea typeface="Arial Unicode MS" pitchFamily="34" charset="-128"/>
                  <a:cs typeface="Arial Unicode MS" pitchFamily="34" charset="-128"/>
                </a:rPr>
                <a:t>Regression Analysis</a:t>
              </a:r>
              <a:endParaRPr lang="en-IN" sz="1400" dirty="0">
                <a:solidFill>
                  <a:schemeClr val="bg1"/>
                </a:solidFill>
                <a:latin typeface="Bahnschrift Light" pitchFamily="34" charset="0"/>
                <a:ea typeface="Arial Unicode MS" pitchFamily="34" charset="-128"/>
                <a:cs typeface="Arial Unicode MS" pitchFamily="34" charset="-128"/>
              </a:endParaRPr>
            </a:p>
          </p:txBody>
        </p:sp>
        <p:cxnSp>
          <p:nvCxnSpPr>
            <p:cNvPr id="4" name="Straight Connector 3"/>
            <p:cNvCxnSpPr/>
            <p:nvPr/>
          </p:nvCxnSpPr>
          <p:spPr>
            <a:xfrm>
              <a:off x="1492971" y="576468"/>
              <a:ext cx="2415585" cy="0"/>
            </a:xfrm>
            <a:prstGeom prst="line">
              <a:avLst/>
            </a:prstGeom>
            <a:grpFill/>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1398500" y="660481"/>
            <a:ext cx="2881558" cy="323165"/>
          </a:xfrm>
          <a:prstGeom prst="rect">
            <a:avLst/>
          </a:prstGeom>
          <a:noFill/>
        </p:spPr>
        <p:txBody>
          <a:bodyPr wrap="none" rtlCol="0">
            <a:spAutoFit/>
          </a:bodyPr>
          <a:lstStyle/>
          <a:p>
            <a:r>
              <a:rPr lang="en-US" sz="1500" dirty="0"/>
              <a:t>Supervised learning are two types:</a:t>
            </a:r>
            <a:endParaRPr lang="en-IN" sz="1500" dirty="0"/>
          </a:p>
        </p:txBody>
      </p:sp>
      <p:sp>
        <p:nvSpPr>
          <p:cNvPr id="15" name="Rectangle 14"/>
          <p:cNvSpPr/>
          <p:nvPr/>
        </p:nvSpPr>
        <p:spPr>
          <a:xfrm>
            <a:off x="788781" y="2965839"/>
            <a:ext cx="7500195" cy="553998"/>
          </a:xfrm>
          <a:prstGeom prst="rect">
            <a:avLst/>
          </a:prstGeom>
        </p:spPr>
        <p:txBody>
          <a:bodyPr wrap="square">
            <a:spAutoFit/>
          </a:bodyPr>
          <a:lstStyle/>
          <a:p>
            <a:pPr marL="285750" indent="-285750">
              <a:buFont typeface="Wingdings" pitchFamily="2" charset="2"/>
              <a:buChar char="§"/>
            </a:pPr>
            <a:r>
              <a:rPr lang="en-US" sz="1500" dirty="0"/>
              <a:t>Used to predict continuous numerical values by learning relationships between input variables (features) and an output variable (target).</a:t>
            </a:r>
            <a:endParaRPr lang="en-IN" sz="1500" dirty="0"/>
          </a:p>
        </p:txBody>
      </p:sp>
      <p:grpSp>
        <p:nvGrpSpPr>
          <p:cNvPr id="20" name="Group 19"/>
          <p:cNvGrpSpPr/>
          <p:nvPr/>
        </p:nvGrpSpPr>
        <p:grpSpPr>
          <a:xfrm>
            <a:off x="2839279" y="1069166"/>
            <a:ext cx="8379546" cy="1815429"/>
            <a:chOff x="2826852" y="1151906"/>
            <a:chExt cx="8379546" cy="1815429"/>
          </a:xfrm>
        </p:grpSpPr>
        <p:grpSp>
          <p:nvGrpSpPr>
            <p:cNvPr id="14" name="Group 13"/>
            <p:cNvGrpSpPr/>
            <p:nvPr/>
          </p:nvGrpSpPr>
          <p:grpSpPr>
            <a:xfrm>
              <a:off x="3705101" y="1151906"/>
              <a:ext cx="7501297" cy="1416890"/>
              <a:chOff x="3705101" y="1151906"/>
              <a:chExt cx="7501297" cy="1416890"/>
            </a:xfrm>
          </p:grpSpPr>
          <p:grpSp>
            <p:nvGrpSpPr>
              <p:cNvPr id="12" name="Group 11"/>
              <p:cNvGrpSpPr/>
              <p:nvPr/>
            </p:nvGrpSpPr>
            <p:grpSpPr>
              <a:xfrm>
                <a:off x="3705101" y="1151906"/>
                <a:ext cx="2989613" cy="1205291"/>
                <a:chOff x="3705101" y="1151906"/>
                <a:chExt cx="2989613" cy="1205291"/>
              </a:xfrm>
            </p:grpSpPr>
            <p:sp>
              <p:nvSpPr>
                <p:cNvPr id="6" name="TextBox 5"/>
                <p:cNvSpPr txBox="1"/>
                <p:nvPr/>
              </p:nvSpPr>
              <p:spPr>
                <a:xfrm>
                  <a:off x="3705101" y="1151906"/>
                  <a:ext cx="2766951" cy="553998"/>
                </a:xfrm>
                <a:prstGeom prst="rect">
                  <a:avLst/>
                </a:prstGeom>
                <a:noFill/>
                <a:ln>
                  <a:noFill/>
                </a:ln>
              </p:spPr>
              <p:txBody>
                <a:bodyPr wrap="square" rtlCol="0">
                  <a:spAutoFit/>
                </a:bodyPr>
                <a:lstStyle/>
                <a:p>
                  <a:pPr marL="285750" indent="-285750">
                    <a:buFont typeface="Wingdings" pitchFamily="2" charset="2"/>
                    <a:buChar char="§"/>
                  </a:pPr>
                  <a:r>
                    <a:rPr lang="en-US" sz="1500" dirty="0"/>
                    <a:t>Regression</a:t>
                  </a:r>
                </a:p>
                <a:p>
                  <a:pPr marL="285750" indent="-285750">
                    <a:buFont typeface="Wingdings" pitchFamily="2" charset="2"/>
                    <a:buChar char="§"/>
                  </a:pPr>
                  <a:r>
                    <a:rPr lang="en-US" sz="1500" dirty="0"/>
                    <a:t>Classification</a:t>
                  </a:r>
                  <a:endParaRPr lang="en-IN" sz="1500" dirty="0"/>
                </a:p>
              </p:txBody>
            </p:sp>
            <p:cxnSp>
              <p:nvCxnSpPr>
                <p:cNvPr id="8" name="Straight Arrow Connector 7"/>
                <p:cNvCxnSpPr/>
                <p:nvPr/>
              </p:nvCxnSpPr>
              <p:spPr>
                <a:xfrm>
                  <a:off x="5236467" y="1705904"/>
                  <a:ext cx="1458247" cy="651293"/>
                </a:xfrm>
                <a:prstGeom prst="straightConnector1">
                  <a:avLst/>
                </a:prstGeom>
                <a:ln>
                  <a:solidFill>
                    <a:srgbClr val="00D05E"/>
                  </a:solidFill>
                  <a:tailEnd type="arrow"/>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6694714" y="2245631"/>
                <a:ext cx="4511684" cy="323165"/>
              </a:xfrm>
              <a:prstGeom prst="rect">
                <a:avLst/>
              </a:prstGeom>
              <a:noFill/>
            </p:spPr>
            <p:txBody>
              <a:bodyPr wrap="none" rtlCol="0">
                <a:spAutoFit/>
              </a:bodyPr>
              <a:lstStyle/>
              <a:p>
                <a:pPr marL="285750" indent="-285750">
                  <a:buFont typeface="Wingdings" pitchFamily="2" charset="2"/>
                  <a:buChar char="§"/>
                </a:pPr>
                <a:r>
                  <a:rPr lang="en-US" sz="1500" dirty="0"/>
                  <a:t>Categorize  anything in one , two or multiple classes</a:t>
                </a:r>
                <a:endParaRPr lang="en-IN" sz="1500" dirty="0"/>
              </a:p>
            </p:txBody>
          </p:sp>
        </p:grpSp>
        <p:cxnSp>
          <p:nvCxnSpPr>
            <p:cNvPr id="16" name="Straight Arrow Connector 15"/>
            <p:cNvCxnSpPr/>
            <p:nvPr/>
          </p:nvCxnSpPr>
          <p:spPr>
            <a:xfrm flipH="1">
              <a:off x="2826852" y="1271962"/>
              <a:ext cx="1009930" cy="1695373"/>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grpSp>
      <p:sp>
        <p:nvSpPr>
          <p:cNvPr id="24" name="Rectangle 23"/>
          <p:cNvSpPr/>
          <p:nvPr/>
        </p:nvSpPr>
        <p:spPr>
          <a:xfrm>
            <a:off x="1806653" y="3623079"/>
            <a:ext cx="7871738" cy="553998"/>
          </a:xfrm>
          <a:prstGeom prst="rect">
            <a:avLst/>
          </a:prstGeom>
        </p:spPr>
        <p:txBody>
          <a:bodyPr wrap="square">
            <a:spAutoFit/>
          </a:bodyPr>
          <a:lstStyle/>
          <a:p>
            <a:pPr marL="285750" indent="-285750">
              <a:buFont typeface="Wingdings" pitchFamily="2" charset="2"/>
              <a:buChar char="§"/>
            </a:pPr>
            <a:r>
              <a:rPr lang="en-US" sz="1500" dirty="0"/>
              <a:t>It helps to understand how changes in one or more factors influence our outcome and </a:t>
            </a:r>
          </a:p>
          <a:p>
            <a:pPr marL="285750" indent="-285750">
              <a:buFont typeface="Wingdings" pitchFamily="2" charset="2"/>
              <a:buChar char="§"/>
            </a:pPr>
            <a:r>
              <a:rPr lang="en-US" sz="1500" dirty="0"/>
              <a:t>is widely used in forecasting, risk analysis, decision-making and trend estimation</a:t>
            </a:r>
            <a:endParaRPr lang="en-IN" sz="1500" dirty="0"/>
          </a:p>
        </p:txBody>
      </p:sp>
      <p:sp>
        <p:nvSpPr>
          <p:cNvPr id="25" name="Rectangle 24"/>
          <p:cNvSpPr/>
          <p:nvPr/>
        </p:nvSpPr>
        <p:spPr>
          <a:xfrm>
            <a:off x="2988839" y="4428529"/>
            <a:ext cx="6096000" cy="784830"/>
          </a:xfrm>
          <a:prstGeom prst="rect">
            <a:avLst/>
          </a:prstGeom>
        </p:spPr>
        <p:txBody>
          <a:bodyPr>
            <a:spAutoFit/>
          </a:bodyPr>
          <a:lstStyle/>
          <a:p>
            <a:pPr marL="285750" indent="-285750">
              <a:buFont typeface="Wingdings" pitchFamily="2" charset="2"/>
              <a:buChar char="§"/>
            </a:pPr>
            <a:r>
              <a:rPr lang="en-US" sz="1500" dirty="0"/>
              <a:t>Salary prediction based upon experience</a:t>
            </a:r>
          </a:p>
          <a:p>
            <a:pPr marL="285750" indent="-285750">
              <a:buFont typeface="Wingdings" pitchFamily="2" charset="2"/>
              <a:buChar char="§"/>
            </a:pPr>
            <a:r>
              <a:rPr lang="en-US" sz="1500" dirty="0"/>
              <a:t>Exam score based on study hours</a:t>
            </a:r>
          </a:p>
          <a:p>
            <a:pPr marL="285750" indent="-285750">
              <a:buFont typeface="Wingdings" pitchFamily="2" charset="2"/>
              <a:buChar char="§"/>
            </a:pPr>
            <a:r>
              <a:rPr lang="en-US" sz="1500" dirty="0"/>
              <a:t>Car resale price based upon vehicle age</a:t>
            </a:r>
            <a:endParaRPr lang="en-IN" sz="1500" dirty="0"/>
          </a:p>
        </p:txBody>
      </p:sp>
    </p:spTree>
    <p:extLst>
      <p:ext uri="{BB962C8B-B14F-4D97-AF65-F5344CB8AC3E}">
        <p14:creationId xmlns:p14="http://schemas.microsoft.com/office/powerpoint/2010/main" val="96977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63781" y="212800"/>
            <a:ext cx="1219245" cy="378539"/>
            <a:chOff x="654700" y="411277"/>
            <a:chExt cx="1219245" cy="378539"/>
          </a:xfrm>
        </p:grpSpPr>
        <p:sp>
          <p:nvSpPr>
            <p:cNvPr id="2" name="TextBox 1"/>
            <p:cNvSpPr txBox="1"/>
            <p:nvPr/>
          </p:nvSpPr>
          <p:spPr>
            <a:xfrm>
              <a:off x="902525" y="451262"/>
              <a:ext cx="971420" cy="338554"/>
            </a:xfrm>
            <a:prstGeom prst="rect">
              <a:avLst/>
            </a:prstGeom>
            <a:noFill/>
          </p:spPr>
          <p:txBody>
            <a:bodyPr wrap="none" rtlCol="0">
              <a:spAutoFit/>
            </a:bodyPr>
            <a:lstStyle/>
            <a:p>
              <a:r>
                <a:rPr lang="en-US" sz="1600" dirty="0" smtClean="0">
                  <a:solidFill>
                    <a:srgbClr val="0070C0"/>
                  </a:solidFill>
                  <a:latin typeface="Arial Rounded MT Bold" pitchFamily="34" charset="0"/>
                  <a:ea typeface="Arial Unicode MS" pitchFamily="34" charset="-128"/>
                  <a:cs typeface="Arial Unicode MS" pitchFamily="34" charset="-128"/>
                </a:rPr>
                <a:t>Outliers</a:t>
              </a:r>
              <a:endParaRPr lang="en-IN" sz="1600" dirty="0">
                <a:solidFill>
                  <a:srgbClr val="0070C0"/>
                </a:solidFill>
                <a:latin typeface="Arial Rounded MT Bold" pitchFamily="34" charset="0"/>
                <a:ea typeface="Arial Unicode MS" pitchFamily="34" charset="-128"/>
                <a:cs typeface="Arial Unicode MS" pitchFamily="34" charset="-128"/>
              </a:endParaRPr>
            </a:p>
          </p:txBody>
        </p:sp>
        <p:sp>
          <p:nvSpPr>
            <p:cNvPr id="5" name="Rectangle 4"/>
            <p:cNvSpPr/>
            <p:nvPr/>
          </p:nvSpPr>
          <p:spPr>
            <a:xfrm>
              <a:off x="654700" y="411277"/>
              <a:ext cx="418704" cy="369332"/>
            </a:xfrm>
            <a:prstGeom prst="rect">
              <a:avLst/>
            </a:prstGeom>
          </p:spPr>
          <p:txBody>
            <a:bodyPr wrap="none">
              <a:spAutoFit/>
            </a:bodyPr>
            <a:lstStyle/>
            <a:p>
              <a:r>
                <a:rPr lang="en-IN" dirty="0"/>
                <a:t>📌</a:t>
              </a:r>
            </a:p>
          </p:txBody>
        </p:sp>
      </p:grpSp>
      <p:sp>
        <p:nvSpPr>
          <p:cNvPr id="3" name="Rectangle 2"/>
          <p:cNvSpPr/>
          <p:nvPr/>
        </p:nvSpPr>
        <p:spPr>
          <a:xfrm>
            <a:off x="1197316" y="707019"/>
            <a:ext cx="10226746" cy="338554"/>
          </a:xfrm>
          <a:prstGeom prst="rect">
            <a:avLst/>
          </a:prstGeom>
        </p:spPr>
        <p:txBody>
          <a:bodyPr wrap="square">
            <a:spAutoFit/>
          </a:bodyPr>
          <a:lstStyle/>
          <a:p>
            <a:r>
              <a:rPr lang="en-US" sz="1600" dirty="0" smtClean="0"/>
              <a:t>outliers </a:t>
            </a:r>
            <a:r>
              <a:rPr lang="en-US" sz="1600" dirty="0"/>
              <a:t>are data points that </a:t>
            </a:r>
            <a:r>
              <a:rPr lang="en-US" sz="1400" dirty="0">
                <a:solidFill>
                  <a:srgbClr val="0070C0"/>
                </a:solidFill>
                <a:latin typeface="Bahnschrift Light" pitchFamily="34" charset="0"/>
              </a:rPr>
              <a:t>deviate significantly from the general distribution of the </a:t>
            </a:r>
            <a:r>
              <a:rPr lang="en-US" sz="1400" dirty="0" smtClean="0">
                <a:solidFill>
                  <a:srgbClr val="0070C0"/>
                </a:solidFill>
                <a:latin typeface="Bahnschrift Light" pitchFamily="34" charset="0"/>
              </a:rPr>
              <a:t>dataset points</a:t>
            </a:r>
            <a:r>
              <a:rPr lang="en-US" sz="1600" dirty="0" smtClean="0"/>
              <a:t>.</a:t>
            </a:r>
            <a:r>
              <a:rPr lang="en-US" sz="1600" dirty="0"/>
              <a:t> </a:t>
            </a:r>
            <a:endParaRPr lang="en-IN" sz="1600" dirty="0"/>
          </a:p>
        </p:txBody>
      </p:sp>
      <p:sp>
        <p:nvSpPr>
          <p:cNvPr id="7" name="Rectangle 6"/>
          <p:cNvSpPr/>
          <p:nvPr/>
        </p:nvSpPr>
        <p:spPr>
          <a:xfrm>
            <a:off x="2454233" y="1824910"/>
            <a:ext cx="9421091" cy="523220"/>
          </a:xfrm>
          <a:prstGeom prst="rect">
            <a:avLst/>
          </a:prstGeom>
        </p:spPr>
        <p:txBody>
          <a:bodyPr wrap="square">
            <a:spAutoFit/>
          </a:bodyPr>
          <a:lstStyle/>
          <a:p>
            <a:r>
              <a:rPr lang="en-US" sz="1400" dirty="0"/>
              <a:t> ﻿For instance, in a dataset of monthly sales figures, if the income for one month are extensively higher than the sales for all of the different months, that high sales determine would be considered an outlier</a:t>
            </a:r>
            <a:endParaRPr lang="en-IN" sz="1400" dirty="0"/>
          </a:p>
        </p:txBody>
      </p:sp>
      <p:grpSp>
        <p:nvGrpSpPr>
          <p:cNvPr id="12" name="Group 11"/>
          <p:cNvGrpSpPr/>
          <p:nvPr/>
        </p:nvGrpSpPr>
        <p:grpSpPr>
          <a:xfrm>
            <a:off x="1683026" y="1181679"/>
            <a:ext cx="10007703" cy="523220"/>
            <a:chOff x="1915122" y="1443289"/>
            <a:chExt cx="10007703" cy="523220"/>
          </a:xfrm>
        </p:grpSpPr>
        <p:sp>
          <p:nvSpPr>
            <p:cNvPr id="4" name="Rectangle 3"/>
            <p:cNvSpPr/>
            <p:nvPr/>
          </p:nvSpPr>
          <p:spPr>
            <a:xfrm>
              <a:off x="2173184" y="1443289"/>
              <a:ext cx="9749641" cy="523220"/>
            </a:xfrm>
            <a:prstGeom prst="rect">
              <a:avLst/>
            </a:prstGeom>
          </p:spPr>
          <p:txBody>
            <a:bodyPr wrap="square">
              <a:spAutoFit/>
            </a:bodyPr>
            <a:lstStyle/>
            <a:p>
              <a:r>
                <a:rPr lang="en-US" sz="1400" dirty="0"/>
                <a:t>These anomalies can </a:t>
              </a:r>
              <a:r>
                <a:rPr lang="en-US" sz="1400" dirty="0" smtClean="0"/>
                <a:t>appear as </a:t>
              </a:r>
              <a:r>
                <a:rPr lang="en-US" sz="1400" dirty="0"/>
                <a:t>surprisingly high or low values, disrupting the distribution of </a:t>
              </a:r>
              <a:r>
                <a:rPr lang="en-US" sz="1400" dirty="0" smtClean="0"/>
                <a:t>data. These irregular(anomaly) </a:t>
              </a:r>
              <a:r>
                <a:rPr lang="en-US" sz="1400" dirty="0"/>
                <a:t>points can shift the distribution, making the data less reliable</a:t>
              </a:r>
              <a:endParaRPr lang="en-IN" sz="1400" dirty="0"/>
            </a:p>
          </p:txBody>
        </p:sp>
        <p:sp>
          <p:nvSpPr>
            <p:cNvPr id="11" name="Rectangle 10"/>
            <p:cNvSpPr/>
            <p:nvPr/>
          </p:nvSpPr>
          <p:spPr>
            <a:xfrm>
              <a:off x="1915122" y="1443289"/>
              <a:ext cx="377026" cy="400110"/>
            </a:xfrm>
            <a:prstGeom prst="rect">
              <a:avLst/>
            </a:prstGeom>
          </p:spPr>
          <p:txBody>
            <a:bodyPr wrap="none">
              <a:spAutoFit/>
            </a:bodyPr>
            <a:lstStyle/>
            <a:p>
              <a:r>
                <a:rPr lang="en-IN" sz="2000" dirty="0"/>
                <a:t>♀</a:t>
              </a:r>
            </a:p>
          </p:txBody>
        </p:sp>
      </p:grpSp>
      <p:grpSp>
        <p:nvGrpSpPr>
          <p:cNvPr id="39" name="Group 38"/>
          <p:cNvGrpSpPr/>
          <p:nvPr/>
        </p:nvGrpSpPr>
        <p:grpSpPr>
          <a:xfrm>
            <a:off x="1325089" y="2873829"/>
            <a:ext cx="3847606" cy="3302223"/>
            <a:chOff x="1347355" y="2612701"/>
            <a:chExt cx="3847606" cy="3302223"/>
          </a:xfrm>
        </p:grpSpPr>
        <p:grpSp>
          <p:nvGrpSpPr>
            <p:cNvPr id="32" name="Group 31"/>
            <p:cNvGrpSpPr/>
            <p:nvPr/>
          </p:nvGrpSpPr>
          <p:grpSpPr>
            <a:xfrm>
              <a:off x="1347355" y="2612701"/>
              <a:ext cx="3847606" cy="3302223"/>
              <a:chOff x="610486" y="819527"/>
              <a:chExt cx="3847606" cy="3302223"/>
            </a:xfrm>
          </p:grpSpPr>
          <p:grpSp>
            <p:nvGrpSpPr>
              <p:cNvPr id="18" name="Group 17"/>
              <p:cNvGrpSpPr/>
              <p:nvPr/>
            </p:nvGrpSpPr>
            <p:grpSpPr>
              <a:xfrm>
                <a:off x="610486" y="819527"/>
                <a:ext cx="3847606" cy="3302223"/>
                <a:chOff x="2280062" y="2255429"/>
                <a:chExt cx="3847606" cy="3302223"/>
              </a:xfrm>
            </p:grpSpPr>
            <p:cxnSp>
              <p:nvCxnSpPr>
                <p:cNvPr id="14" name="Straight Connector 13"/>
                <p:cNvCxnSpPr/>
                <p:nvPr/>
              </p:nvCxnSpPr>
              <p:spPr>
                <a:xfrm>
                  <a:off x="2280062" y="2255429"/>
                  <a:ext cx="0" cy="33022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280062" y="5557652"/>
                  <a:ext cx="38476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Flowchart: Connector 18"/>
              <p:cNvSpPr/>
              <p:nvPr/>
            </p:nvSpPr>
            <p:spPr>
              <a:xfrm>
                <a:off x="1080655" y="3598223"/>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Flowchart: Connector 19"/>
              <p:cNvSpPr/>
              <p:nvPr/>
            </p:nvSpPr>
            <p:spPr>
              <a:xfrm>
                <a:off x="1233055" y="3750623"/>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Flowchart: Connector 20"/>
              <p:cNvSpPr/>
              <p:nvPr/>
            </p:nvSpPr>
            <p:spPr>
              <a:xfrm>
                <a:off x="1503219" y="3601686"/>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lowchart: Connector 21"/>
              <p:cNvSpPr/>
              <p:nvPr/>
            </p:nvSpPr>
            <p:spPr>
              <a:xfrm>
                <a:off x="1499755" y="3356758"/>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Flowchart: Connector 22"/>
              <p:cNvSpPr/>
              <p:nvPr/>
            </p:nvSpPr>
            <p:spPr>
              <a:xfrm>
                <a:off x="1728355" y="3500274"/>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Flowchart: Connector 23"/>
              <p:cNvSpPr/>
              <p:nvPr/>
            </p:nvSpPr>
            <p:spPr>
              <a:xfrm>
                <a:off x="1309255" y="3382511"/>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lowchart: Connector 24"/>
              <p:cNvSpPr/>
              <p:nvPr/>
            </p:nvSpPr>
            <p:spPr>
              <a:xfrm>
                <a:off x="1461655" y="3826823"/>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Flowchart: Connector 25"/>
              <p:cNvSpPr/>
              <p:nvPr/>
            </p:nvSpPr>
            <p:spPr>
              <a:xfrm>
                <a:off x="1824987" y="3793176"/>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Flowchart: Connector 26"/>
              <p:cNvSpPr/>
              <p:nvPr/>
            </p:nvSpPr>
            <p:spPr>
              <a:xfrm>
                <a:off x="2419989" y="3385974"/>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Flowchart: Connector 27"/>
              <p:cNvSpPr/>
              <p:nvPr/>
            </p:nvSpPr>
            <p:spPr>
              <a:xfrm>
                <a:off x="2283423" y="3179618"/>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Flowchart: Connector 28"/>
              <p:cNvSpPr/>
              <p:nvPr/>
            </p:nvSpPr>
            <p:spPr>
              <a:xfrm>
                <a:off x="2152300" y="3408218"/>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Flowchart: Connector 29"/>
              <p:cNvSpPr/>
              <p:nvPr/>
            </p:nvSpPr>
            <p:spPr>
              <a:xfrm>
                <a:off x="1717364" y="1496034"/>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Flowchart: Connector 30"/>
              <p:cNvSpPr/>
              <p:nvPr/>
            </p:nvSpPr>
            <p:spPr>
              <a:xfrm>
                <a:off x="1274619" y="1267434"/>
                <a:ext cx="228600" cy="228600"/>
              </a:xfrm>
              <a:prstGeom prst="flowChartConnector">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cxnSp>
          <p:nvCxnSpPr>
            <p:cNvPr id="34" name="Straight Connector 33"/>
            <p:cNvCxnSpPr/>
            <p:nvPr/>
          </p:nvCxnSpPr>
          <p:spPr>
            <a:xfrm flipV="1">
              <a:off x="2240088" y="2766951"/>
              <a:ext cx="1334385" cy="201880"/>
            </a:xfrm>
            <a:prstGeom prst="line">
              <a:avLst/>
            </a:prstGeom>
            <a:ln>
              <a:solidFill>
                <a:srgbClr val="CC33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889169" y="2766951"/>
              <a:ext cx="685304" cy="522257"/>
            </a:xfrm>
            <a:prstGeom prst="line">
              <a:avLst/>
            </a:prstGeom>
            <a:ln>
              <a:solidFill>
                <a:srgbClr val="CC3300"/>
              </a:solidFill>
            </a:ln>
          </p:spPr>
          <p:style>
            <a:lnRef idx="1">
              <a:schemeClr val="accent1"/>
            </a:lnRef>
            <a:fillRef idx="0">
              <a:schemeClr val="accent1"/>
            </a:fillRef>
            <a:effectRef idx="0">
              <a:schemeClr val="accent1"/>
            </a:effectRef>
            <a:fontRef idx="minor">
              <a:schemeClr val="tx1"/>
            </a:fontRef>
          </p:style>
        </p:cxnSp>
        <p:sp>
          <p:nvSpPr>
            <p:cNvPr id="37" name="Flowchart: Connector 36"/>
            <p:cNvSpPr/>
            <p:nvPr/>
          </p:nvSpPr>
          <p:spPr>
            <a:xfrm>
              <a:off x="1831452" y="2935207"/>
              <a:ext cx="457200" cy="457200"/>
            </a:xfrm>
            <a:prstGeom prst="flowChartConnector">
              <a:avLst/>
            </a:prstGeom>
            <a:no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Flowchart: Connector 37"/>
            <p:cNvSpPr/>
            <p:nvPr/>
          </p:nvSpPr>
          <p:spPr>
            <a:xfrm>
              <a:off x="2354388" y="3177620"/>
              <a:ext cx="457200" cy="457200"/>
            </a:xfrm>
            <a:prstGeom prst="flowChartConnector">
              <a:avLst/>
            </a:prstGeom>
            <a:no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1" name="TextBox 40"/>
          <p:cNvSpPr txBox="1"/>
          <p:nvPr/>
        </p:nvSpPr>
        <p:spPr>
          <a:xfrm>
            <a:off x="3363192" y="2744457"/>
            <a:ext cx="814325" cy="338554"/>
          </a:xfrm>
          <a:prstGeom prst="rect">
            <a:avLst/>
          </a:prstGeom>
          <a:noFill/>
        </p:spPr>
        <p:txBody>
          <a:bodyPr wrap="none" rtlCol="0">
            <a:spAutoFit/>
          </a:bodyPr>
          <a:lstStyle/>
          <a:p>
            <a:r>
              <a:rPr lang="en-US" sz="1600" dirty="0" smtClean="0">
                <a:solidFill>
                  <a:schemeClr val="bg2">
                    <a:lumMod val="10000"/>
                  </a:schemeClr>
                </a:solidFill>
              </a:rPr>
              <a:t>outliers</a:t>
            </a:r>
            <a:endParaRPr lang="en-IN" sz="1600" dirty="0">
              <a:solidFill>
                <a:schemeClr val="bg2">
                  <a:lumMod val="10000"/>
                </a:schemeClr>
              </a:solidFill>
            </a:endParaRPr>
          </a:p>
        </p:txBody>
      </p:sp>
    </p:spTree>
    <p:extLst>
      <p:ext uri="{BB962C8B-B14F-4D97-AF65-F5344CB8AC3E}">
        <p14:creationId xmlns:p14="http://schemas.microsoft.com/office/powerpoint/2010/main" val="4151751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067" y="343027"/>
            <a:ext cx="5252852" cy="1384995"/>
          </a:xfrm>
          <a:prstGeom prst="rect">
            <a:avLst/>
          </a:prstGeom>
        </p:spPr>
        <p:txBody>
          <a:bodyPr wrap="square">
            <a:spAutoFit/>
          </a:bodyPr>
          <a:lstStyle/>
          <a:p>
            <a:r>
              <a:rPr lang="en-US" sz="1400" dirty="0"/>
              <a:t>Dataset - Bhaut Sare (बहुत सारे - many)</a:t>
            </a:r>
          </a:p>
          <a:p>
            <a:pPr lvl="2"/>
            <a:r>
              <a:rPr lang="en-US" sz="1400" dirty="0"/>
              <a:t>Record</a:t>
            </a:r>
          </a:p>
          <a:p>
            <a:pPr lvl="2"/>
            <a:r>
              <a:rPr lang="en-US" sz="1400" dirty="0"/>
              <a:t>or Observation</a:t>
            </a:r>
          </a:p>
          <a:p>
            <a:pPr lvl="2"/>
            <a:r>
              <a:rPr lang="en-US" sz="1400" dirty="0"/>
              <a:t>or Sample</a:t>
            </a:r>
          </a:p>
          <a:p>
            <a:pPr lvl="2"/>
            <a:r>
              <a:rPr lang="en-US" sz="1400" dirty="0"/>
              <a:t>or Data Point</a:t>
            </a:r>
          </a:p>
          <a:p>
            <a:pPr lvl="1"/>
            <a:r>
              <a:rPr lang="en-US" sz="1400" dirty="0"/>
              <a:t>Same thing different name.</a:t>
            </a:r>
          </a:p>
        </p:txBody>
      </p:sp>
      <p:sp>
        <p:nvSpPr>
          <p:cNvPr id="3" name="Rectangle 2"/>
          <p:cNvSpPr/>
          <p:nvPr/>
        </p:nvSpPr>
        <p:spPr>
          <a:xfrm>
            <a:off x="613558" y="2045417"/>
            <a:ext cx="2117887" cy="307777"/>
          </a:xfrm>
          <a:prstGeom prst="rect">
            <a:avLst/>
          </a:prstGeom>
        </p:spPr>
        <p:txBody>
          <a:bodyPr wrap="none">
            <a:spAutoFit/>
          </a:bodyPr>
          <a:lstStyle/>
          <a:p>
            <a:r>
              <a:rPr lang="en-US" sz="1400" dirty="0">
                <a:latin typeface="Bahnschrift SemiBold" pitchFamily="34" charset="0"/>
              </a:rPr>
              <a:t>​Marks</a:t>
            </a:r>
            <a:r>
              <a:rPr lang="en-US" sz="1400" dirty="0"/>
              <a:t>: 15, 20, 25, 20, 100</a:t>
            </a:r>
            <a:endParaRPr lang="en-IN" sz="1400" dirty="0"/>
          </a:p>
        </p:txBody>
      </p:sp>
      <p:cxnSp>
        <p:nvCxnSpPr>
          <p:cNvPr id="6" name="Straight Connector 5"/>
          <p:cNvCxnSpPr/>
          <p:nvPr/>
        </p:nvCxnSpPr>
        <p:spPr>
          <a:xfrm>
            <a:off x="285008" y="1914298"/>
            <a:ext cx="120138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417615" y="2671948"/>
            <a:ext cx="1909949" cy="1175657"/>
            <a:chOff x="417615" y="2671948"/>
            <a:chExt cx="1909949" cy="1175657"/>
          </a:xfrm>
        </p:grpSpPr>
        <p:sp>
          <p:nvSpPr>
            <p:cNvPr id="7" name="Rectangle 6"/>
            <p:cNvSpPr/>
            <p:nvPr/>
          </p:nvSpPr>
          <p:spPr>
            <a:xfrm>
              <a:off x="1460665" y="2671948"/>
              <a:ext cx="866899" cy="117565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0" name="Straight Arrow Connector 9"/>
            <p:cNvCxnSpPr/>
            <p:nvPr/>
          </p:nvCxnSpPr>
          <p:spPr>
            <a:xfrm flipV="1">
              <a:off x="417615" y="2925288"/>
              <a:ext cx="1056904" cy="8312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17615" y="3117272"/>
              <a:ext cx="1056904" cy="8312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17615" y="3311236"/>
              <a:ext cx="1056904" cy="8312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417615" y="3493323"/>
              <a:ext cx="1056904" cy="83127"/>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3396343" y="2199305"/>
            <a:ext cx="2244436" cy="1648300"/>
            <a:chOff x="3396343" y="2199305"/>
            <a:chExt cx="2244436" cy="1648300"/>
          </a:xfrm>
        </p:grpSpPr>
        <p:cxnSp>
          <p:nvCxnSpPr>
            <p:cNvPr id="18" name="Straight Connector 17"/>
            <p:cNvCxnSpPr/>
            <p:nvPr/>
          </p:nvCxnSpPr>
          <p:spPr>
            <a:xfrm>
              <a:off x="3396343" y="2199305"/>
              <a:ext cx="0" cy="16483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396343" y="3847605"/>
              <a:ext cx="224443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23" name="Curved Connector 22"/>
          <p:cNvCxnSpPr>
            <a:stCxn id="7" idx="0"/>
          </p:cNvCxnSpPr>
          <p:nvPr/>
        </p:nvCxnSpPr>
        <p:spPr>
          <a:xfrm rot="5400000" flipH="1" flipV="1">
            <a:off x="2616482" y="1630827"/>
            <a:ext cx="318754" cy="1763488"/>
          </a:xfrm>
          <a:prstGeom prst="curvedConnector2">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3396343" y="2671948"/>
            <a:ext cx="2244436" cy="1175657"/>
          </a:xfrm>
          <a:prstGeom prst="line">
            <a:avLst/>
          </a:prstGeom>
        </p:spPr>
        <p:style>
          <a:lnRef idx="1">
            <a:schemeClr val="accent1"/>
          </a:lnRef>
          <a:fillRef idx="0">
            <a:schemeClr val="accent1"/>
          </a:fillRef>
          <a:effectRef idx="0">
            <a:schemeClr val="accent1"/>
          </a:effectRef>
          <a:fontRef idx="minor">
            <a:schemeClr val="tx1"/>
          </a:fontRef>
        </p:style>
      </p:cxnSp>
      <p:sp>
        <p:nvSpPr>
          <p:cNvPr id="35" name="Flowchart: Connector 34"/>
          <p:cNvSpPr/>
          <p:nvPr/>
        </p:nvSpPr>
        <p:spPr>
          <a:xfrm>
            <a:off x="4085111" y="3576450"/>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6" name="Flowchart: Connector 35"/>
          <p:cNvSpPr/>
          <p:nvPr/>
        </p:nvSpPr>
        <p:spPr>
          <a:xfrm>
            <a:off x="3905002" y="3576450"/>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7" name="Flowchart: Connector 36"/>
          <p:cNvSpPr/>
          <p:nvPr/>
        </p:nvSpPr>
        <p:spPr>
          <a:xfrm>
            <a:off x="4237511" y="3728850"/>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8" name="Flowchart: Connector 37"/>
          <p:cNvSpPr/>
          <p:nvPr/>
        </p:nvSpPr>
        <p:spPr>
          <a:xfrm>
            <a:off x="4009526" y="3311236"/>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9" name="Flowchart: Connector 38"/>
          <p:cNvSpPr/>
          <p:nvPr/>
        </p:nvSpPr>
        <p:spPr>
          <a:xfrm>
            <a:off x="4279822" y="3560240"/>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0" name="Flowchart: Connector 39"/>
          <p:cNvSpPr/>
          <p:nvPr/>
        </p:nvSpPr>
        <p:spPr>
          <a:xfrm>
            <a:off x="3908960" y="377560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1" name="Flowchart: Connector 40"/>
          <p:cNvSpPr/>
          <p:nvPr/>
        </p:nvSpPr>
        <p:spPr>
          <a:xfrm>
            <a:off x="4252113" y="3223776"/>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2" name="Flowchart: Connector 41"/>
          <p:cNvSpPr/>
          <p:nvPr/>
        </p:nvSpPr>
        <p:spPr>
          <a:xfrm>
            <a:off x="4434201" y="3347236"/>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3" name="Flowchart: Connector 42"/>
          <p:cNvSpPr/>
          <p:nvPr/>
        </p:nvSpPr>
        <p:spPr>
          <a:xfrm>
            <a:off x="4506311" y="3498886"/>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4" name="Flowchart: Connector 43"/>
          <p:cNvSpPr/>
          <p:nvPr/>
        </p:nvSpPr>
        <p:spPr>
          <a:xfrm>
            <a:off x="4390657" y="363903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5" name="Flowchart: Connector 44"/>
          <p:cNvSpPr/>
          <p:nvPr/>
        </p:nvSpPr>
        <p:spPr>
          <a:xfrm>
            <a:off x="4765588" y="3326694"/>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6" name="Flowchart: Connector 45"/>
          <p:cNvSpPr/>
          <p:nvPr/>
        </p:nvSpPr>
        <p:spPr>
          <a:xfrm>
            <a:off x="4578311" y="305912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7" name="Flowchart: Connector 46"/>
          <p:cNvSpPr/>
          <p:nvPr/>
        </p:nvSpPr>
        <p:spPr>
          <a:xfrm>
            <a:off x="4612331" y="3347236"/>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8" name="Flowchart: Connector 47"/>
          <p:cNvSpPr/>
          <p:nvPr/>
        </p:nvSpPr>
        <p:spPr>
          <a:xfrm>
            <a:off x="4924301" y="3114543"/>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49" name="Flowchart: Connector 48"/>
          <p:cNvSpPr/>
          <p:nvPr/>
        </p:nvSpPr>
        <p:spPr>
          <a:xfrm>
            <a:off x="4765588" y="295145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0" name="Flowchart: Connector 49"/>
          <p:cNvSpPr/>
          <p:nvPr/>
        </p:nvSpPr>
        <p:spPr>
          <a:xfrm>
            <a:off x="5110347" y="302312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1" name="Flowchart: Connector 50"/>
          <p:cNvSpPr/>
          <p:nvPr/>
        </p:nvSpPr>
        <p:spPr>
          <a:xfrm>
            <a:off x="4960301" y="2853288"/>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2" name="Flowchart: Connector 51"/>
          <p:cNvSpPr/>
          <p:nvPr/>
        </p:nvSpPr>
        <p:spPr>
          <a:xfrm>
            <a:off x="3657603" y="2199305"/>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3" name="Flowchart: Connector 52"/>
          <p:cNvSpPr/>
          <p:nvPr/>
        </p:nvSpPr>
        <p:spPr>
          <a:xfrm>
            <a:off x="3845250" y="2281194"/>
            <a:ext cx="72000" cy="72000"/>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4" name="TextBox 53"/>
          <p:cNvSpPr txBox="1"/>
          <p:nvPr/>
        </p:nvSpPr>
        <p:spPr>
          <a:xfrm>
            <a:off x="9737765" y="224764"/>
            <a:ext cx="1366080" cy="307777"/>
          </a:xfrm>
          <a:prstGeom prst="rect">
            <a:avLst/>
          </a:prstGeom>
          <a:solidFill>
            <a:schemeClr val="accent6">
              <a:lumMod val="60000"/>
              <a:lumOff val="40000"/>
            </a:schemeClr>
          </a:solidFill>
        </p:spPr>
        <p:txBody>
          <a:bodyPr wrap="none" rtlCol="0">
            <a:spAutoFit/>
          </a:bodyPr>
          <a:lstStyle/>
          <a:p>
            <a:r>
              <a:rPr lang="en-US" sz="1400" dirty="0"/>
              <a:t>Outlier</a:t>
            </a:r>
            <a:r>
              <a:rPr lang="en-US" sz="1400" dirty="0" smtClean="0"/>
              <a:t>( unsual )</a:t>
            </a:r>
            <a:endParaRPr lang="en-IN" sz="1400" dirty="0"/>
          </a:p>
        </p:txBody>
      </p:sp>
      <p:sp>
        <p:nvSpPr>
          <p:cNvPr id="55" name="TextBox 54"/>
          <p:cNvSpPr txBox="1"/>
          <p:nvPr/>
        </p:nvSpPr>
        <p:spPr>
          <a:xfrm>
            <a:off x="7517081" y="2213434"/>
            <a:ext cx="2608984" cy="307777"/>
          </a:xfrm>
          <a:prstGeom prst="rect">
            <a:avLst/>
          </a:prstGeom>
          <a:noFill/>
        </p:spPr>
        <p:txBody>
          <a:bodyPr wrap="none" rtlCol="0">
            <a:spAutoFit/>
          </a:bodyPr>
          <a:lstStyle/>
          <a:p>
            <a:r>
              <a:rPr lang="en-US" sz="1400" dirty="0" smtClean="0"/>
              <a:t>Marks&lt;35 – require extra classes </a:t>
            </a:r>
            <a:endParaRPr lang="en-IN" sz="1400" dirty="0"/>
          </a:p>
        </p:txBody>
      </p:sp>
      <p:grpSp>
        <p:nvGrpSpPr>
          <p:cNvPr id="77" name="Group 76"/>
          <p:cNvGrpSpPr/>
          <p:nvPr/>
        </p:nvGrpSpPr>
        <p:grpSpPr>
          <a:xfrm>
            <a:off x="7623958" y="2818639"/>
            <a:ext cx="2345514" cy="312486"/>
            <a:chOff x="7623958" y="2818639"/>
            <a:chExt cx="2345514" cy="312486"/>
          </a:xfrm>
        </p:grpSpPr>
        <p:sp>
          <p:nvSpPr>
            <p:cNvPr id="56" name="TextBox 55"/>
            <p:cNvSpPr txBox="1"/>
            <p:nvPr/>
          </p:nvSpPr>
          <p:spPr>
            <a:xfrm>
              <a:off x="7623958" y="2823348"/>
              <a:ext cx="2345514" cy="307777"/>
            </a:xfrm>
            <a:prstGeom prst="rect">
              <a:avLst/>
            </a:prstGeom>
            <a:noFill/>
          </p:spPr>
          <p:txBody>
            <a:bodyPr wrap="none" rtlCol="0">
              <a:spAutoFit/>
            </a:bodyPr>
            <a:lstStyle/>
            <a:p>
              <a:r>
                <a:rPr lang="en-US" sz="1400" dirty="0" smtClean="0"/>
                <a:t>15+20+25+20+100=180/5=36</a:t>
              </a:r>
              <a:endParaRPr lang="en-IN" sz="1400" dirty="0"/>
            </a:p>
          </p:txBody>
        </p:sp>
        <p:sp>
          <p:nvSpPr>
            <p:cNvPr id="58" name="Flowchart: Connector 57"/>
            <p:cNvSpPr/>
            <p:nvPr/>
          </p:nvSpPr>
          <p:spPr>
            <a:xfrm>
              <a:off x="8724777" y="2818639"/>
              <a:ext cx="288000" cy="288000"/>
            </a:xfrm>
            <a:prstGeom prst="flowChartConnector">
              <a:avLst/>
            </a:prstGeom>
            <a:noFill/>
            <a:ln>
              <a:solidFill>
                <a:srgbClr val="FF6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9" name="TextBox 58"/>
          <p:cNvSpPr txBox="1"/>
          <p:nvPr/>
        </p:nvSpPr>
        <p:spPr>
          <a:xfrm>
            <a:off x="607063" y="4144488"/>
            <a:ext cx="3542829" cy="307777"/>
          </a:xfrm>
          <a:prstGeom prst="rect">
            <a:avLst/>
          </a:prstGeom>
          <a:noFill/>
        </p:spPr>
        <p:txBody>
          <a:bodyPr wrap="none" rtlCol="0">
            <a:spAutoFit/>
          </a:bodyPr>
          <a:lstStyle/>
          <a:p>
            <a:r>
              <a:rPr lang="en-US" sz="1400" dirty="0" smtClean="0"/>
              <a:t>Outliers are problematic for model prediction.</a:t>
            </a:r>
            <a:endParaRPr lang="en-IN" sz="1400" dirty="0"/>
          </a:p>
        </p:txBody>
      </p:sp>
      <p:cxnSp>
        <p:nvCxnSpPr>
          <p:cNvPr id="61" name="Straight Connector 60"/>
          <p:cNvCxnSpPr/>
          <p:nvPr/>
        </p:nvCxnSpPr>
        <p:spPr>
          <a:xfrm>
            <a:off x="285008" y="4096987"/>
            <a:ext cx="11906992" cy="47501"/>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Curved Connector 62"/>
          <p:cNvCxnSpPr/>
          <p:nvPr/>
        </p:nvCxnSpPr>
        <p:spPr>
          <a:xfrm>
            <a:off x="902527" y="4358243"/>
            <a:ext cx="296881" cy="237509"/>
          </a:xfrm>
          <a:prstGeom prst="curvedConnector3">
            <a:avLst>
              <a:gd name="adj1" fmla="val -10000"/>
            </a:avLst>
          </a:prstGeom>
          <a:ln>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1330036" y="4595752"/>
            <a:ext cx="4012765" cy="307777"/>
          </a:xfrm>
          <a:prstGeom prst="rect">
            <a:avLst/>
          </a:prstGeom>
          <a:noFill/>
        </p:spPr>
        <p:txBody>
          <a:bodyPr wrap="none" rtlCol="0">
            <a:spAutoFit/>
          </a:bodyPr>
          <a:lstStyle/>
          <a:p>
            <a:r>
              <a:rPr lang="en-US" sz="1400" dirty="0" smtClean="0"/>
              <a:t>Sometimes it is dangerous but sometimes it is useful</a:t>
            </a:r>
            <a:endParaRPr lang="en-IN" sz="1400" dirty="0"/>
          </a:p>
        </p:txBody>
      </p:sp>
      <p:sp>
        <p:nvSpPr>
          <p:cNvPr id="74" name="TextBox 73"/>
          <p:cNvSpPr txBox="1"/>
          <p:nvPr/>
        </p:nvSpPr>
        <p:spPr>
          <a:xfrm>
            <a:off x="2021970" y="4925866"/>
            <a:ext cx="3794180" cy="307777"/>
          </a:xfrm>
          <a:prstGeom prst="rect">
            <a:avLst/>
          </a:prstGeom>
          <a:solidFill>
            <a:schemeClr val="accent1">
              <a:lumMod val="20000"/>
              <a:lumOff val="80000"/>
            </a:schemeClr>
          </a:solidFill>
          <a:ln>
            <a:solidFill>
              <a:schemeClr val="bg1">
                <a:lumMod val="85000"/>
              </a:schemeClr>
            </a:solidFill>
          </a:ln>
        </p:spPr>
        <p:txBody>
          <a:bodyPr wrap="square" rtlCol="0">
            <a:spAutoFit/>
          </a:bodyPr>
          <a:lstStyle/>
          <a:p>
            <a:r>
              <a:rPr lang="en-US" sz="1400" dirty="0" smtClean="0"/>
              <a:t>Problematic-Employee Avgas salary calculation</a:t>
            </a:r>
            <a:endParaRPr lang="en-IN" sz="1400" dirty="0"/>
          </a:p>
        </p:txBody>
      </p:sp>
      <p:sp>
        <p:nvSpPr>
          <p:cNvPr id="76" name="TextBox 75"/>
          <p:cNvSpPr txBox="1"/>
          <p:nvPr/>
        </p:nvSpPr>
        <p:spPr>
          <a:xfrm>
            <a:off x="2021970" y="5270466"/>
            <a:ext cx="3794180" cy="307777"/>
          </a:xfrm>
          <a:prstGeom prst="rect">
            <a:avLst/>
          </a:prstGeom>
          <a:solidFill>
            <a:schemeClr val="accent3">
              <a:lumMod val="20000"/>
              <a:lumOff val="80000"/>
            </a:schemeClr>
          </a:solidFill>
          <a:ln>
            <a:solidFill>
              <a:schemeClr val="bg1">
                <a:lumMod val="95000"/>
              </a:schemeClr>
            </a:solidFill>
          </a:ln>
        </p:spPr>
        <p:txBody>
          <a:bodyPr wrap="none" rtlCol="0">
            <a:spAutoFit/>
          </a:bodyPr>
          <a:lstStyle/>
          <a:p>
            <a:r>
              <a:rPr lang="en-US" sz="1400" dirty="0" smtClean="0"/>
              <a:t>Useful –Fraud detection in credit card transaction</a:t>
            </a:r>
            <a:endParaRPr lang="en-IN" sz="1400" dirty="0"/>
          </a:p>
        </p:txBody>
      </p:sp>
      <p:cxnSp>
        <p:nvCxnSpPr>
          <p:cNvPr id="79" name="Straight Connector 78"/>
          <p:cNvCxnSpPr/>
          <p:nvPr/>
        </p:nvCxnSpPr>
        <p:spPr>
          <a:xfrm>
            <a:off x="9179626" y="4236821"/>
            <a:ext cx="0" cy="23750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a:off x="9295388" y="4298376"/>
            <a:ext cx="1475328" cy="835985"/>
            <a:chOff x="9295388" y="4298376"/>
            <a:chExt cx="1475328" cy="835985"/>
          </a:xfrm>
        </p:grpSpPr>
        <p:sp>
          <p:nvSpPr>
            <p:cNvPr id="81" name="TextBox 80"/>
            <p:cNvSpPr txBox="1"/>
            <p:nvPr/>
          </p:nvSpPr>
          <p:spPr>
            <a:xfrm>
              <a:off x="9295388" y="4298376"/>
              <a:ext cx="830677" cy="307777"/>
            </a:xfrm>
            <a:prstGeom prst="rect">
              <a:avLst/>
            </a:prstGeom>
            <a:noFill/>
            <a:ln>
              <a:solidFill>
                <a:schemeClr val="accent2">
                  <a:lumMod val="20000"/>
                  <a:lumOff val="80000"/>
                </a:schemeClr>
              </a:solidFill>
            </a:ln>
          </p:spPr>
          <p:txBody>
            <a:bodyPr wrap="none" rtlCol="0">
              <a:spAutoFit/>
            </a:bodyPr>
            <a:lstStyle/>
            <a:p>
              <a:r>
                <a:rPr lang="en-US" sz="1400" dirty="0" smtClean="0"/>
                <a:t>Anomaly</a:t>
              </a:r>
              <a:endParaRPr lang="en-IN" sz="1400" dirty="0"/>
            </a:p>
          </p:txBody>
        </p:sp>
        <p:sp>
          <p:nvSpPr>
            <p:cNvPr id="83" name="Rectangle 82"/>
            <p:cNvSpPr/>
            <p:nvPr/>
          </p:nvSpPr>
          <p:spPr>
            <a:xfrm>
              <a:off x="9481413" y="4672696"/>
              <a:ext cx="1289303" cy="461665"/>
            </a:xfrm>
            <a:prstGeom prst="rect">
              <a:avLst/>
            </a:prstGeom>
          </p:spPr>
          <p:txBody>
            <a:bodyPr wrap="square">
              <a:spAutoFit/>
            </a:bodyPr>
            <a:lstStyle/>
            <a:p>
              <a:r>
                <a:rPr lang="hi-IN" sz="1200" dirty="0"/>
                <a:t>अनियमितता</a:t>
              </a:r>
            </a:p>
            <a:p>
              <a:r>
                <a:rPr lang="hi-IN" sz="1200" dirty="0"/>
                <a:t>असंगति</a:t>
              </a:r>
              <a:endParaRPr lang="en-IN" sz="1200" dirty="0"/>
            </a:p>
          </p:txBody>
        </p:sp>
      </p:grpSp>
    </p:spTree>
    <p:extLst>
      <p:ext uri="{BB962C8B-B14F-4D97-AF65-F5344CB8AC3E}">
        <p14:creationId xmlns:p14="http://schemas.microsoft.com/office/powerpoint/2010/main" val="907551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
        <p:nvSpPr>
          <p:cNvPr id="2" name="TextBox 1"/>
          <p:cNvSpPr txBox="1"/>
          <p:nvPr/>
        </p:nvSpPr>
        <p:spPr>
          <a:xfrm>
            <a:off x="273134" y="379793"/>
            <a:ext cx="5882508" cy="307777"/>
          </a:xfrm>
          <a:prstGeom prst="rect">
            <a:avLst/>
          </a:prstGeom>
          <a:noFill/>
        </p:spPr>
        <p:txBody>
          <a:bodyPr wrap="none" rtlCol="0">
            <a:spAutoFit/>
          </a:bodyPr>
          <a:lstStyle/>
          <a:p>
            <a:r>
              <a:rPr lang="en-US" sz="1400" dirty="0" smtClean="0"/>
              <a:t>There are many types of outliers. That we must trim during our model training</a:t>
            </a:r>
            <a:endParaRPr lang="en-IN" sz="1400" dirty="0"/>
          </a:p>
        </p:txBody>
      </p:sp>
      <p:sp>
        <p:nvSpPr>
          <p:cNvPr id="3" name="TextBox 2"/>
          <p:cNvSpPr txBox="1"/>
          <p:nvPr/>
        </p:nvSpPr>
        <p:spPr>
          <a:xfrm>
            <a:off x="722289" y="931123"/>
            <a:ext cx="1999265" cy="338554"/>
          </a:xfrm>
          <a:prstGeom prst="rect">
            <a:avLst/>
          </a:prstGeom>
          <a:noFill/>
          <a:ln>
            <a:solidFill>
              <a:schemeClr val="bg1">
                <a:lumMod val="95000"/>
              </a:schemeClr>
            </a:solidFill>
          </a:ln>
        </p:spPr>
        <p:txBody>
          <a:bodyPr wrap="none" rtlCol="0">
            <a:spAutoFit/>
          </a:bodyPr>
          <a:lstStyle/>
          <a:p>
            <a:r>
              <a:rPr lang="en-US" sz="1600" dirty="0" smtClean="0"/>
              <a:t>Main Cause of Outlier</a:t>
            </a:r>
            <a:endParaRPr lang="en-IN" sz="1600" dirty="0"/>
          </a:p>
        </p:txBody>
      </p:sp>
      <p:grpSp>
        <p:nvGrpSpPr>
          <p:cNvPr id="8" name="Group 7"/>
          <p:cNvGrpSpPr/>
          <p:nvPr/>
        </p:nvGrpSpPr>
        <p:grpSpPr>
          <a:xfrm>
            <a:off x="1338083" y="1326566"/>
            <a:ext cx="9630888" cy="954108"/>
            <a:chOff x="1338083" y="1326566"/>
            <a:chExt cx="9630888" cy="954108"/>
          </a:xfrm>
        </p:grpSpPr>
        <p:sp>
          <p:nvSpPr>
            <p:cNvPr id="5" name="TextBox 4"/>
            <p:cNvSpPr txBox="1"/>
            <p:nvPr/>
          </p:nvSpPr>
          <p:spPr>
            <a:xfrm>
              <a:off x="1338084" y="1326566"/>
              <a:ext cx="9630887" cy="307777"/>
            </a:xfrm>
            <a:prstGeom prst="rect">
              <a:avLst/>
            </a:prstGeom>
            <a:solidFill>
              <a:schemeClr val="accent2">
                <a:lumMod val="20000"/>
                <a:lumOff val="80000"/>
              </a:schemeClr>
            </a:solidFill>
            <a:ln>
              <a:solidFill>
                <a:schemeClr val="bg1">
                  <a:lumMod val="75000"/>
                </a:schemeClr>
              </a:solidFill>
            </a:ln>
          </p:spPr>
          <p:txBody>
            <a:bodyPr wrap="square" rtlCol="0">
              <a:spAutoFit/>
            </a:bodyPr>
            <a:lstStyle/>
            <a:p>
              <a:r>
                <a:rPr lang="en-US" sz="1400" dirty="0" smtClean="0">
                  <a:latin typeface="Bahnschrift SemiBold" pitchFamily="34" charset="0"/>
                </a:rPr>
                <a:t>Data Entry Error </a:t>
              </a:r>
              <a:r>
                <a:rPr lang="en-US" sz="1400" dirty="0" smtClean="0"/>
                <a:t>– Simple human error while entering data can create extreme values. Just like age-300</a:t>
              </a:r>
              <a:endParaRPr lang="en-IN" sz="1400" dirty="0"/>
            </a:p>
          </p:txBody>
        </p:sp>
        <p:sp>
          <p:nvSpPr>
            <p:cNvPr id="6" name="TextBox 5"/>
            <p:cNvSpPr txBox="1"/>
            <p:nvPr/>
          </p:nvSpPr>
          <p:spPr>
            <a:xfrm>
              <a:off x="1338084" y="1634343"/>
              <a:ext cx="9630886" cy="307777"/>
            </a:xfrm>
            <a:prstGeom prst="rect">
              <a:avLst/>
            </a:prstGeom>
            <a:solidFill>
              <a:schemeClr val="accent4">
                <a:lumMod val="20000"/>
                <a:lumOff val="80000"/>
              </a:schemeClr>
            </a:solidFill>
            <a:ln>
              <a:solidFill>
                <a:schemeClr val="bg1">
                  <a:lumMod val="75000"/>
                </a:schemeClr>
              </a:solidFill>
            </a:ln>
          </p:spPr>
          <p:txBody>
            <a:bodyPr wrap="square" rtlCol="0">
              <a:spAutoFit/>
            </a:bodyPr>
            <a:lstStyle/>
            <a:p>
              <a:r>
                <a:rPr lang="en-US" sz="1400" dirty="0">
                  <a:latin typeface="Bahnschrift SemiBold" pitchFamily="34" charset="0"/>
                </a:rPr>
                <a:t>Measurement Error</a:t>
              </a:r>
              <a:r>
                <a:rPr lang="en-US" sz="1400" b="1" dirty="0"/>
                <a:t>:</a:t>
              </a:r>
              <a:r>
                <a:rPr lang="en-US" sz="1400" dirty="0"/>
                <a:t> Faulty device or experimental setup problems can cause abnormally high or low readings.</a:t>
              </a:r>
              <a:endParaRPr lang="en-IN" sz="1400" dirty="0"/>
            </a:p>
          </p:txBody>
        </p:sp>
        <p:sp>
          <p:nvSpPr>
            <p:cNvPr id="7" name="Rectangle 6"/>
            <p:cNvSpPr/>
            <p:nvPr/>
          </p:nvSpPr>
          <p:spPr>
            <a:xfrm>
              <a:off x="1338083" y="1942120"/>
              <a:ext cx="9630887" cy="338554"/>
            </a:xfrm>
            <a:prstGeom prst="rect">
              <a:avLst/>
            </a:prstGeom>
            <a:solidFill>
              <a:schemeClr val="accent3">
                <a:lumMod val="20000"/>
                <a:lumOff val="80000"/>
              </a:schemeClr>
            </a:solidFill>
            <a:ln>
              <a:solidFill>
                <a:schemeClr val="bg1">
                  <a:lumMod val="75000"/>
                </a:schemeClr>
              </a:solidFill>
            </a:ln>
          </p:spPr>
          <p:txBody>
            <a:bodyPr wrap="square">
              <a:spAutoFit/>
            </a:bodyPr>
            <a:lstStyle/>
            <a:p>
              <a:pPr fontAlgn="base"/>
              <a:r>
                <a:rPr lang="en-US" sz="1400" dirty="0">
                  <a:latin typeface="Bahnschrift SemiBold" pitchFamily="34" charset="0"/>
                </a:rPr>
                <a:t>Intentional Outliers</a:t>
              </a:r>
              <a:r>
                <a:rPr lang="en-US" sz="1600" b="1" dirty="0"/>
                <a:t>:</a:t>
              </a:r>
              <a:r>
                <a:rPr lang="en-US" sz="1600" dirty="0"/>
                <a:t> </a:t>
              </a:r>
              <a:r>
                <a:rPr lang="en-US" sz="1400" dirty="0"/>
                <a:t>In some cases, data might be manipulated deliberately to produce outlier effects, often seen in fraud cases.</a:t>
              </a:r>
            </a:p>
          </p:txBody>
        </p:sp>
      </p:grpSp>
    </p:spTree>
    <p:extLst>
      <p:ext uri="{BB962C8B-B14F-4D97-AF65-F5344CB8AC3E}">
        <p14:creationId xmlns:p14="http://schemas.microsoft.com/office/powerpoint/2010/main" val="3698018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6539" y="762529"/>
            <a:ext cx="11431908" cy="1231106"/>
          </a:xfrm>
          <a:prstGeom prst="rect">
            <a:avLst/>
          </a:prstGeom>
        </p:spPr>
        <p:txBody>
          <a:bodyPr wrap="square">
            <a:spAutoFit/>
          </a:bodyPr>
          <a:lstStyle/>
          <a:p>
            <a:r>
              <a:rPr lang="en-US" sz="1400" dirty="0"/>
              <a:t>Linear Regression is a supervised learning algorithm that is used to </a:t>
            </a:r>
            <a:r>
              <a:rPr lang="en-US" sz="1400" dirty="0" smtClean="0"/>
              <a:t>model</a:t>
            </a:r>
            <a:r>
              <a:rPr lang="en-US" sz="1500" i="1" dirty="0" smtClean="0">
                <a:solidFill>
                  <a:srgbClr val="0070C0"/>
                </a:solidFill>
              </a:rPr>
              <a:t>(establish) the </a:t>
            </a:r>
            <a:r>
              <a:rPr lang="en-US" sz="1500" i="1" dirty="0">
                <a:solidFill>
                  <a:srgbClr val="0070C0"/>
                </a:solidFill>
              </a:rPr>
              <a:t>relationship between a dependent variable and an independent variable</a:t>
            </a:r>
            <a:r>
              <a:rPr lang="en-US" sz="1400" dirty="0"/>
              <a:t>. </a:t>
            </a:r>
            <a:endParaRPr lang="en-US" sz="1400" dirty="0" smtClean="0"/>
          </a:p>
          <a:p>
            <a:endParaRPr lang="en-US" sz="1400" dirty="0"/>
          </a:p>
          <a:p>
            <a:r>
              <a:rPr lang="en-US" sz="1400" dirty="0" smtClean="0"/>
              <a:t>This </a:t>
            </a:r>
            <a:r>
              <a:rPr lang="en-US" sz="1400" dirty="0"/>
              <a:t>algorithm </a:t>
            </a:r>
            <a:r>
              <a:rPr lang="en-US" sz="1600" i="1" dirty="0">
                <a:solidFill>
                  <a:srgbClr val="7030A0"/>
                </a:solidFill>
              </a:rPr>
              <a:t>finds the best fit straight line </a:t>
            </a:r>
            <a:r>
              <a:rPr lang="en-US" sz="1400" dirty="0"/>
              <a:t>relationship (linear equation) between the two variables. This statistical method is then used to predict the </a:t>
            </a:r>
            <a:endParaRPr lang="en-US" sz="1400" dirty="0" smtClean="0"/>
          </a:p>
          <a:p>
            <a:r>
              <a:rPr lang="en-US" sz="1400" dirty="0" smtClean="0"/>
              <a:t>outcome </a:t>
            </a:r>
            <a:r>
              <a:rPr lang="en-US" sz="1400" dirty="0"/>
              <a:t>of future events and is quite useful for predictive analysis.</a:t>
            </a:r>
            <a:endParaRPr lang="en-IN" sz="1400" dirty="0"/>
          </a:p>
        </p:txBody>
      </p:sp>
      <p:grpSp>
        <p:nvGrpSpPr>
          <p:cNvPr id="9" name="Group 8"/>
          <p:cNvGrpSpPr/>
          <p:nvPr/>
        </p:nvGrpSpPr>
        <p:grpSpPr>
          <a:xfrm>
            <a:off x="90317" y="193710"/>
            <a:ext cx="5023773" cy="461665"/>
            <a:chOff x="90317" y="193710"/>
            <a:chExt cx="5023773" cy="461665"/>
          </a:xfrm>
        </p:grpSpPr>
        <p:sp>
          <p:nvSpPr>
            <p:cNvPr id="2" name="Rectangle 1"/>
            <p:cNvSpPr/>
            <p:nvPr/>
          </p:nvSpPr>
          <p:spPr>
            <a:xfrm>
              <a:off x="485900" y="239877"/>
              <a:ext cx="4628190" cy="338554"/>
            </a:xfrm>
            <a:prstGeom prst="rect">
              <a:avLst/>
            </a:prstGeom>
            <a:noFill/>
          </p:spPr>
          <p:txBody>
            <a:bodyPr wrap="none">
              <a:spAutoFit/>
            </a:bodyPr>
            <a:lstStyle/>
            <a:p>
              <a:pPr fontAlgn="base"/>
              <a:r>
                <a:rPr lang="en-IN" sz="1600" b="1" dirty="0">
                  <a:latin typeface="Bahnschrift SemiBold" pitchFamily="34" charset="0"/>
                </a:rPr>
                <a:t>Linear </a:t>
              </a:r>
              <a:r>
                <a:rPr lang="en-IN" sz="1600" b="1" dirty="0" smtClean="0">
                  <a:latin typeface="Bahnschrift SemiBold" pitchFamily="34" charset="0"/>
                </a:rPr>
                <a:t>Regression (find out relation bet x and y)</a:t>
              </a:r>
              <a:r>
                <a:rPr lang="en-IN" sz="1600" b="1" dirty="0">
                  <a:latin typeface="Bahnschrift SemiBold" pitchFamily="34" charset="0"/>
                </a:rPr>
                <a:t> </a:t>
              </a:r>
            </a:p>
          </p:txBody>
        </p:sp>
        <p:sp>
          <p:nvSpPr>
            <p:cNvPr id="3" name="Rectangle 2"/>
            <p:cNvSpPr/>
            <p:nvPr/>
          </p:nvSpPr>
          <p:spPr>
            <a:xfrm>
              <a:off x="90317" y="193710"/>
              <a:ext cx="492443" cy="461665"/>
            </a:xfrm>
            <a:prstGeom prst="rect">
              <a:avLst/>
            </a:prstGeom>
          </p:spPr>
          <p:txBody>
            <a:bodyPr wrap="none">
              <a:spAutoFit/>
            </a:bodyPr>
            <a:lstStyle/>
            <a:p>
              <a:r>
                <a:rPr lang="en-IN" sz="2400" dirty="0"/>
                <a:t>✿</a:t>
              </a:r>
            </a:p>
          </p:txBody>
        </p:sp>
        <p:cxnSp>
          <p:nvCxnSpPr>
            <p:cNvPr id="8" name="Straight Connector 7"/>
            <p:cNvCxnSpPr/>
            <p:nvPr/>
          </p:nvCxnSpPr>
          <p:spPr>
            <a:xfrm>
              <a:off x="178130" y="609209"/>
              <a:ext cx="200297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1151906" y="1950062"/>
            <a:ext cx="10390910" cy="523220"/>
          </a:xfrm>
          <a:prstGeom prst="rect">
            <a:avLst/>
          </a:prstGeom>
        </p:spPr>
        <p:txBody>
          <a:bodyPr wrap="square">
            <a:spAutoFit/>
          </a:bodyPr>
          <a:lstStyle/>
          <a:p>
            <a:r>
              <a:rPr lang="en-US" sz="1400" dirty="0"/>
              <a:t>Suppose you want to determine the salary of a person based on the number of years of work experience they have. What is usually seen is as the number of years of experience increases, their salary increases. Now we can say that:</a:t>
            </a:r>
            <a:endParaRPr lang="en-IN" sz="1400" dirty="0"/>
          </a:p>
        </p:txBody>
      </p:sp>
      <p:grpSp>
        <p:nvGrpSpPr>
          <p:cNvPr id="13" name="Group 12"/>
          <p:cNvGrpSpPr/>
          <p:nvPr/>
        </p:nvGrpSpPr>
        <p:grpSpPr>
          <a:xfrm>
            <a:off x="2181101" y="2782669"/>
            <a:ext cx="9694224" cy="621929"/>
            <a:chOff x="2181101" y="2782669"/>
            <a:chExt cx="9694224" cy="621929"/>
          </a:xfrm>
        </p:grpSpPr>
        <p:sp>
          <p:nvSpPr>
            <p:cNvPr id="11" name="Rectangle 10"/>
            <p:cNvSpPr/>
            <p:nvPr/>
          </p:nvSpPr>
          <p:spPr>
            <a:xfrm>
              <a:off x="2181101" y="2782669"/>
              <a:ext cx="9682348" cy="307777"/>
            </a:xfrm>
            <a:prstGeom prst="rect">
              <a:avLst/>
            </a:prstGeom>
          </p:spPr>
          <p:txBody>
            <a:bodyPr wrap="square">
              <a:spAutoFit/>
            </a:bodyPr>
            <a:lstStyle/>
            <a:p>
              <a:pPr marL="285750" indent="-285750">
                <a:buFont typeface="Wingdings" pitchFamily="2" charset="2"/>
                <a:buChar char="§"/>
              </a:pPr>
              <a:r>
                <a:rPr lang="en-US" sz="1400" dirty="0"/>
                <a:t>Here years of experience is the independent variable. It’s a parameter that can be controlled or checked.</a:t>
              </a:r>
              <a:endParaRPr lang="en-IN" sz="1400" dirty="0"/>
            </a:p>
          </p:txBody>
        </p:sp>
        <p:sp>
          <p:nvSpPr>
            <p:cNvPr id="12" name="Rectangle 11"/>
            <p:cNvSpPr/>
            <p:nvPr/>
          </p:nvSpPr>
          <p:spPr>
            <a:xfrm>
              <a:off x="2181101" y="3096821"/>
              <a:ext cx="9694224" cy="307777"/>
            </a:xfrm>
            <a:prstGeom prst="rect">
              <a:avLst/>
            </a:prstGeom>
          </p:spPr>
          <p:txBody>
            <a:bodyPr wrap="square">
              <a:spAutoFit/>
            </a:bodyPr>
            <a:lstStyle/>
            <a:p>
              <a:pPr marL="285750" indent="-285750">
                <a:buFont typeface="Wingdings" pitchFamily="2" charset="2"/>
                <a:buChar char="§"/>
              </a:pPr>
              <a:r>
                <a:rPr lang="en-US" sz="1400" dirty="0"/>
                <a:t>The Salary of the person is the dependent variable as its value depends on the years of work experience a person has.</a:t>
              </a:r>
              <a:endParaRPr lang="en-IN" sz="1400" dirty="0"/>
            </a:p>
          </p:txBody>
        </p:sp>
      </p:grpSp>
      <p:sp>
        <p:nvSpPr>
          <p:cNvPr id="14" name="Rectangle 13"/>
          <p:cNvSpPr/>
          <p:nvPr/>
        </p:nvSpPr>
        <p:spPr>
          <a:xfrm>
            <a:off x="1151906" y="3937597"/>
            <a:ext cx="7241148" cy="307777"/>
          </a:xfrm>
          <a:prstGeom prst="rect">
            <a:avLst/>
          </a:prstGeom>
        </p:spPr>
        <p:txBody>
          <a:bodyPr wrap="square">
            <a:spAutoFit/>
          </a:bodyPr>
          <a:lstStyle/>
          <a:p>
            <a:r>
              <a:rPr lang="en-US" sz="1400" i="1" dirty="0"/>
              <a:t>The value of the dependent variable is predicted using the value of an independent variable.</a:t>
            </a:r>
            <a:endParaRPr lang="en-IN" sz="1400" i="1" dirty="0"/>
          </a:p>
        </p:txBody>
      </p:sp>
      <p:grpSp>
        <p:nvGrpSpPr>
          <p:cNvPr id="32" name="Group 31"/>
          <p:cNvGrpSpPr/>
          <p:nvPr/>
        </p:nvGrpSpPr>
        <p:grpSpPr>
          <a:xfrm>
            <a:off x="6347361" y="4953030"/>
            <a:ext cx="4615658" cy="328015"/>
            <a:chOff x="6347361" y="4953030"/>
            <a:chExt cx="4615658" cy="328015"/>
          </a:xfrm>
        </p:grpSpPr>
        <p:sp>
          <p:nvSpPr>
            <p:cNvPr id="30" name="TextBox 29"/>
            <p:cNvSpPr txBox="1"/>
            <p:nvPr/>
          </p:nvSpPr>
          <p:spPr>
            <a:xfrm>
              <a:off x="6347361" y="4973268"/>
              <a:ext cx="1316386" cy="307777"/>
            </a:xfrm>
            <a:prstGeom prst="rect">
              <a:avLst/>
            </a:prstGeom>
            <a:noFill/>
          </p:spPr>
          <p:txBody>
            <a:bodyPr wrap="none" rtlCol="0">
              <a:spAutoFit/>
            </a:bodyPr>
            <a:lstStyle/>
            <a:p>
              <a:r>
                <a:rPr lang="en-US" sz="1400" dirty="0" smtClean="0"/>
                <a:t>M=slope of line</a:t>
              </a:r>
              <a:endParaRPr lang="en-IN" sz="1400" dirty="0"/>
            </a:p>
          </p:txBody>
        </p:sp>
        <p:sp>
          <p:nvSpPr>
            <p:cNvPr id="31" name="TextBox 30"/>
            <p:cNvSpPr txBox="1"/>
            <p:nvPr/>
          </p:nvSpPr>
          <p:spPr>
            <a:xfrm>
              <a:off x="7550931" y="4953030"/>
              <a:ext cx="3412088" cy="307777"/>
            </a:xfrm>
            <a:prstGeom prst="rect">
              <a:avLst/>
            </a:prstGeom>
            <a:noFill/>
          </p:spPr>
          <p:txBody>
            <a:bodyPr wrap="none" rtlCol="0">
              <a:spAutoFit/>
            </a:bodyPr>
            <a:lstStyle/>
            <a:p>
              <a:r>
                <a:rPr lang="en-US" sz="1400" dirty="0" smtClean="0"/>
                <a:t>(How much y changes for a unit change in X)</a:t>
              </a:r>
              <a:endParaRPr lang="en-IN" sz="1400" dirty="0"/>
            </a:p>
          </p:txBody>
        </p:sp>
      </p:grpSp>
      <p:sp>
        <p:nvSpPr>
          <p:cNvPr id="34" name="TextBox 33"/>
          <p:cNvSpPr txBox="1"/>
          <p:nvPr/>
        </p:nvSpPr>
        <p:spPr>
          <a:xfrm>
            <a:off x="5252135" y="5973288"/>
            <a:ext cx="3221138" cy="307777"/>
          </a:xfrm>
          <a:prstGeom prst="rect">
            <a:avLst/>
          </a:prstGeom>
          <a:noFill/>
        </p:spPr>
        <p:txBody>
          <a:bodyPr wrap="none" rtlCol="0">
            <a:spAutoFit/>
          </a:bodyPr>
          <a:lstStyle/>
          <a:p>
            <a:r>
              <a:rPr lang="en-US" sz="1400" dirty="0" smtClean="0"/>
              <a:t>b=b is intercept (the value of y when x=0)</a:t>
            </a:r>
            <a:endParaRPr lang="en-IN" sz="1400" dirty="0"/>
          </a:p>
        </p:txBody>
      </p:sp>
      <p:grpSp>
        <p:nvGrpSpPr>
          <p:cNvPr id="37" name="Group 36"/>
          <p:cNvGrpSpPr/>
          <p:nvPr/>
        </p:nvGrpSpPr>
        <p:grpSpPr>
          <a:xfrm>
            <a:off x="1466602" y="4441371"/>
            <a:ext cx="4585891" cy="1116281"/>
            <a:chOff x="1466602" y="4441371"/>
            <a:chExt cx="4585891" cy="1116281"/>
          </a:xfrm>
        </p:grpSpPr>
        <p:grpSp>
          <p:nvGrpSpPr>
            <p:cNvPr id="29" name="Group 28"/>
            <p:cNvGrpSpPr/>
            <p:nvPr/>
          </p:nvGrpSpPr>
          <p:grpSpPr>
            <a:xfrm>
              <a:off x="1644935" y="4501515"/>
              <a:ext cx="4373264" cy="836550"/>
              <a:chOff x="1644935" y="4501515"/>
              <a:chExt cx="4373264" cy="836550"/>
            </a:xfrm>
          </p:grpSpPr>
          <p:grpSp>
            <p:nvGrpSpPr>
              <p:cNvPr id="18" name="Group 17"/>
              <p:cNvGrpSpPr/>
              <p:nvPr/>
            </p:nvGrpSpPr>
            <p:grpSpPr>
              <a:xfrm>
                <a:off x="2481943" y="4999511"/>
                <a:ext cx="1967304" cy="338554"/>
                <a:chOff x="2481943" y="4999511"/>
                <a:chExt cx="1967304" cy="338554"/>
              </a:xfrm>
            </p:grpSpPr>
            <p:sp>
              <p:nvSpPr>
                <p:cNvPr id="15" name="TextBox 14"/>
                <p:cNvSpPr txBox="1"/>
                <p:nvPr/>
              </p:nvSpPr>
              <p:spPr>
                <a:xfrm>
                  <a:off x="3443844" y="4999511"/>
                  <a:ext cx="1005403" cy="338554"/>
                </a:xfrm>
                <a:prstGeom prst="rect">
                  <a:avLst/>
                </a:prstGeom>
                <a:solidFill>
                  <a:srgbClr val="92D050"/>
                </a:solidFill>
                <a:ln>
                  <a:solidFill>
                    <a:schemeClr val="bg1">
                      <a:lumMod val="50000"/>
                    </a:schemeClr>
                  </a:solidFill>
                </a:ln>
              </p:spPr>
              <p:txBody>
                <a:bodyPr wrap="none" rtlCol="0">
                  <a:spAutoFit/>
                </a:bodyPr>
                <a:lstStyle/>
                <a:p>
                  <a:r>
                    <a:rPr lang="en-US" sz="1600" dirty="0" smtClean="0"/>
                    <a:t>Y= mX  +b</a:t>
                  </a:r>
                  <a:endParaRPr lang="en-IN" sz="1600" dirty="0"/>
                </a:p>
              </p:txBody>
            </p:sp>
            <p:cxnSp>
              <p:nvCxnSpPr>
                <p:cNvPr id="17" name="Straight Arrow Connector 16"/>
                <p:cNvCxnSpPr/>
                <p:nvPr/>
              </p:nvCxnSpPr>
              <p:spPr>
                <a:xfrm>
                  <a:off x="2481943" y="4999511"/>
                  <a:ext cx="878774" cy="169277"/>
                </a:xfrm>
                <a:prstGeom prst="straightConnector1">
                  <a:avLst/>
                </a:prstGeom>
                <a:ln>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1644935" y="4706102"/>
                <a:ext cx="986104" cy="307777"/>
              </a:xfrm>
              <a:prstGeom prst="rect">
                <a:avLst/>
              </a:prstGeom>
              <a:noFill/>
            </p:spPr>
            <p:txBody>
              <a:bodyPr wrap="none" rtlCol="0">
                <a:spAutoFit/>
              </a:bodyPr>
              <a:lstStyle/>
              <a:p>
                <a:r>
                  <a:rPr lang="en-US" sz="1400" dirty="0" smtClean="0"/>
                  <a:t>dependent</a:t>
                </a:r>
                <a:endParaRPr lang="en-IN" sz="1600" dirty="0"/>
              </a:p>
            </p:txBody>
          </p:sp>
          <p:sp>
            <p:nvSpPr>
              <p:cNvPr id="20" name="TextBox 19"/>
              <p:cNvSpPr txBox="1"/>
              <p:nvPr/>
            </p:nvSpPr>
            <p:spPr>
              <a:xfrm>
                <a:off x="4892634" y="4501515"/>
                <a:ext cx="1125565" cy="307777"/>
              </a:xfrm>
              <a:prstGeom prst="rect">
                <a:avLst/>
              </a:prstGeom>
              <a:noFill/>
            </p:spPr>
            <p:txBody>
              <a:bodyPr wrap="none" rtlCol="0">
                <a:spAutoFit/>
              </a:bodyPr>
              <a:lstStyle/>
              <a:p>
                <a:r>
                  <a:rPr lang="en-US" sz="1400" dirty="0" smtClean="0"/>
                  <a:t>Independent</a:t>
                </a:r>
                <a:endParaRPr lang="en-IN" sz="1400" dirty="0"/>
              </a:p>
            </p:txBody>
          </p:sp>
          <p:cxnSp>
            <p:nvCxnSpPr>
              <p:cNvPr id="26" name="Straight Arrow Connector 25"/>
              <p:cNvCxnSpPr/>
              <p:nvPr/>
            </p:nvCxnSpPr>
            <p:spPr>
              <a:xfrm flipH="1">
                <a:off x="4514604" y="4784068"/>
                <a:ext cx="378030" cy="215444"/>
              </a:xfrm>
              <a:prstGeom prst="straightConnector1">
                <a:avLst/>
              </a:prstGeom>
              <a:ln>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36" name="Rectangle 35"/>
            <p:cNvSpPr/>
            <p:nvPr/>
          </p:nvSpPr>
          <p:spPr>
            <a:xfrm>
              <a:off x="1466602" y="4441371"/>
              <a:ext cx="4585891" cy="1116281"/>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3698018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
        <p:nvSpPr>
          <p:cNvPr id="2" name="TextBox 1"/>
          <p:cNvSpPr txBox="1"/>
          <p:nvPr/>
        </p:nvSpPr>
        <p:spPr>
          <a:xfrm>
            <a:off x="653143" y="581891"/>
            <a:ext cx="534698" cy="338554"/>
          </a:xfrm>
          <a:prstGeom prst="rect">
            <a:avLst/>
          </a:prstGeom>
          <a:solidFill>
            <a:schemeClr val="accent3">
              <a:lumMod val="20000"/>
              <a:lumOff val="80000"/>
            </a:schemeClr>
          </a:solidFill>
          <a:ln>
            <a:solidFill>
              <a:schemeClr val="bg1">
                <a:lumMod val="75000"/>
              </a:schemeClr>
            </a:solidFill>
          </a:ln>
        </p:spPr>
        <p:txBody>
          <a:bodyPr wrap="none" rtlCol="0">
            <a:spAutoFit/>
          </a:bodyPr>
          <a:lstStyle/>
          <a:p>
            <a:r>
              <a:rPr lang="en-US" sz="1600" dirty="0" smtClean="0"/>
              <a:t>e.g. </a:t>
            </a:r>
            <a:endParaRPr lang="en-IN" sz="1600" dirty="0"/>
          </a:p>
        </p:txBody>
      </p:sp>
      <p:sp>
        <p:nvSpPr>
          <p:cNvPr id="3" name="TextBox 2"/>
          <p:cNvSpPr txBox="1"/>
          <p:nvPr/>
        </p:nvSpPr>
        <p:spPr>
          <a:xfrm>
            <a:off x="1233044" y="643446"/>
            <a:ext cx="3759427" cy="307777"/>
          </a:xfrm>
          <a:prstGeom prst="rect">
            <a:avLst/>
          </a:prstGeom>
          <a:noFill/>
        </p:spPr>
        <p:txBody>
          <a:bodyPr wrap="none" rtlCol="0">
            <a:spAutoFit/>
          </a:bodyPr>
          <a:lstStyle/>
          <a:p>
            <a:r>
              <a:rPr lang="en-US" sz="1400" dirty="0" smtClean="0"/>
              <a:t>Presume we need to find annual sell of company.</a:t>
            </a:r>
          </a:p>
        </p:txBody>
      </p:sp>
      <p:grpSp>
        <p:nvGrpSpPr>
          <p:cNvPr id="8" name="Group 7"/>
          <p:cNvGrpSpPr/>
          <p:nvPr/>
        </p:nvGrpSpPr>
        <p:grpSpPr>
          <a:xfrm>
            <a:off x="1584402" y="1241924"/>
            <a:ext cx="6096000" cy="978408"/>
            <a:chOff x="2213795" y="1213653"/>
            <a:chExt cx="6096000" cy="978408"/>
          </a:xfrm>
        </p:grpSpPr>
        <p:sp>
          <p:nvSpPr>
            <p:cNvPr id="5" name="Rectangle 4"/>
            <p:cNvSpPr/>
            <p:nvPr/>
          </p:nvSpPr>
          <p:spPr>
            <a:xfrm>
              <a:off x="2213795" y="1884284"/>
              <a:ext cx="6096000" cy="307777"/>
            </a:xfrm>
            <a:prstGeom prst="rect">
              <a:avLst/>
            </a:prstGeom>
            <a:solidFill>
              <a:schemeClr val="accent2">
                <a:lumMod val="20000"/>
                <a:lumOff val="80000"/>
              </a:schemeClr>
            </a:solidFill>
            <a:ln>
              <a:solidFill>
                <a:schemeClr val="bg1">
                  <a:lumMod val="75000"/>
                </a:schemeClr>
              </a:solidFill>
            </a:ln>
          </p:spPr>
          <p:txBody>
            <a:bodyPr>
              <a:spAutoFit/>
            </a:bodyPr>
            <a:lstStyle/>
            <a:p>
              <a:r>
                <a:rPr lang="en-US" sz="1400" dirty="0" smtClean="0"/>
                <a:t>All </a:t>
              </a:r>
              <a:r>
                <a:rPr lang="en-US" sz="1400" dirty="0"/>
                <a:t>factor that affect annual sell is </a:t>
              </a:r>
              <a:r>
                <a:rPr lang="en-US" sz="1400" dirty="0" smtClean="0"/>
                <a:t>called independent variable</a:t>
              </a:r>
              <a:endParaRPr lang="en-IN" sz="1400" dirty="0"/>
            </a:p>
          </p:txBody>
        </p:sp>
        <p:sp>
          <p:nvSpPr>
            <p:cNvPr id="6" name="Rectangle 5"/>
            <p:cNvSpPr/>
            <p:nvPr/>
          </p:nvSpPr>
          <p:spPr>
            <a:xfrm>
              <a:off x="2225669" y="1213653"/>
              <a:ext cx="6084125" cy="307777"/>
            </a:xfrm>
            <a:prstGeom prst="rect">
              <a:avLst/>
            </a:prstGeom>
            <a:solidFill>
              <a:schemeClr val="accent1">
                <a:lumMod val="20000"/>
                <a:lumOff val="80000"/>
              </a:schemeClr>
            </a:solidFill>
            <a:ln>
              <a:solidFill>
                <a:schemeClr val="bg1">
                  <a:lumMod val="75000"/>
                </a:schemeClr>
              </a:solidFill>
            </a:ln>
          </p:spPr>
          <p:txBody>
            <a:bodyPr wrap="square">
              <a:spAutoFit/>
            </a:bodyPr>
            <a:lstStyle/>
            <a:p>
              <a:r>
                <a:rPr lang="en-US" sz="1400" dirty="0"/>
                <a:t>Thousand of factors that affect out company annual sell.</a:t>
              </a:r>
            </a:p>
          </p:txBody>
        </p:sp>
        <p:sp>
          <p:nvSpPr>
            <p:cNvPr id="7" name="Rectangle 6"/>
            <p:cNvSpPr/>
            <p:nvPr/>
          </p:nvSpPr>
          <p:spPr>
            <a:xfrm>
              <a:off x="2225670" y="1539244"/>
              <a:ext cx="6084125" cy="307777"/>
            </a:xfrm>
            <a:prstGeom prst="rect">
              <a:avLst/>
            </a:prstGeom>
            <a:solidFill>
              <a:schemeClr val="accent6">
                <a:lumMod val="20000"/>
                <a:lumOff val="80000"/>
              </a:schemeClr>
            </a:solidFill>
            <a:ln>
              <a:solidFill>
                <a:schemeClr val="bg1">
                  <a:lumMod val="75000"/>
                </a:schemeClr>
              </a:solidFill>
            </a:ln>
          </p:spPr>
          <p:txBody>
            <a:bodyPr wrap="square">
              <a:spAutoFit/>
            </a:bodyPr>
            <a:lstStyle/>
            <a:p>
              <a:r>
                <a:rPr lang="en-US" sz="1400" dirty="0"/>
                <a:t>So annual sell depends upon many factors .So annual sell is dependent variable </a:t>
              </a:r>
            </a:p>
          </p:txBody>
        </p:sp>
      </p:grpSp>
    </p:spTree>
    <p:extLst>
      <p:ext uri="{BB962C8B-B14F-4D97-AF65-F5344CB8AC3E}">
        <p14:creationId xmlns:p14="http://schemas.microsoft.com/office/powerpoint/2010/main" val="3698018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90317" y="193710"/>
            <a:ext cx="2664758" cy="461665"/>
            <a:chOff x="90317" y="193710"/>
            <a:chExt cx="2664758" cy="461665"/>
          </a:xfrm>
        </p:grpSpPr>
        <p:sp>
          <p:nvSpPr>
            <p:cNvPr id="6" name="Rectangle 5"/>
            <p:cNvSpPr/>
            <p:nvPr/>
          </p:nvSpPr>
          <p:spPr>
            <a:xfrm>
              <a:off x="485900" y="239877"/>
              <a:ext cx="2055371" cy="338554"/>
            </a:xfrm>
            <a:prstGeom prst="rect">
              <a:avLst/>
            </a:prstGeom>
          </p:spPr>
          <p:txBody>
            <a:bodyPr wrap="none">
              <a:spAutoFit/>
            </a:bodyPr>
            <a:lstStyle/>
            <a:p>
              <a:pPr fontAlgn="base"/>
              <a:r>
                <a:rPr lang="en-IN" sz="1600" b="1" dirty="0" smtClean="0">
                  <a:latin typeface="Bahnschrift SemiBold" pitchFamily="34" charset="0"/>
                </a:rPr>
                <a:t>Logistic Regression</a:t>
              </a:r>
              <a:r>
                <a:rPr lang="en-IN" sz="1600" b="1" dirty="0">
                  <a:latin typeface="Bahnschrift SemiBold" pitchFamily="34" charset="0"/>
                </a:rPr>
                <a:t> </a:t>
              </a:r>
            </a:p>
          </p:txBody>
        </p:sp>
        <p:sp>
          <p:nvSpPr>
            <p:cNvPr id="7" name="Rectangle 6"/>
            <p:cNvSpPr/>
            <p:nvPr/>
          </p:nvSpPr>
          <p:spPr>
            <a:xfrm>
              <a:off x="90317" y="193710"/>
              <a:ext cx="492443" cy="461665"/>
            </a:xfrm>
            <a:prstGeom prst="rect">
              <a:avLst/>
            </a:prstGeom>
          </p:spPr>
          <p:txBody>
            <a:bodyPr wrap="none">
              <a:spAutoFit/>
            </a:bodyPr>
            <a:lstStyle/>
            <a:p>
              <a:r>
                <a:rPr lang="en-IN" sz="2400" dirty="0"/>
                <a:t>✿</a:t>
              </a:r>
            </a:p>
          </p:txBody>
        </p:sp>
        <p:cxnSp>
          <p:nvCxnSpPr>
            <p:cNvPr id="8" name="Straight Connector 7"/>
            <p:cNvCxnSpPr/>
            <p:nvPr/>
          </p:nvCxnSpPr>
          <p:spPr>
            <a:xfrm>
              <a:off x="178130" y="609209"/>
              <a:ext cx="257694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831274" y="669482"/>
            <a:ext cx="4516580" cy="338554"/>
          </a:xfrm>
          <a:prstGeom prst="rect">
            <a:avLst/>
          </a:prstGeom>
        </p:spPr>
        <p:txBody>
          <a:bodyPr wrap="square">
            <a:spAutoFit/>
          </a:bodyPr>
          <a:lstStyle/>
          <a:p>
            <a:r>
              <a:rPr lang="en-US" sz="1600" dirty="0"/>
              <a:t>It is used when our dependent variable is </a:t>
            </a:r>
            <a:r>
              <a:rPr lang="en-US" sz="1600" dirty="0" smtClean="0"/>
              <a:t>binary</a:t>
            </a:r>
            <a:r>
              <a:rPr lang="en-US" sz="1600" dirty="0"/>
              <a:t>.</a:t>
            </a:r>
            <a:endParaRPr lang="en-IN" sz="1600" dirty="0"/>
          </a:p>
        </p:txBody>
      </p:sp>
      <p:grpSp>
        <p:nvGrpSpPr>
          <p:cNvPr id="11" name="Group 10"/>
          <p:cNvGrpSpPr/>
          <p:nvPr/>
        </p:nvGrpSpPr>
        <p:grpSpPr>
          <a:xfrm>
            <a:off x="1227116" y="1183934"/>
            <a:ext cx="10664041" cy="553998"/>
            <a:chOff x="1227116" y="1183934"/>
            <a:chExt cx="10664041" cy="553998"/>
          </a:xfrm>
        </p:grpSpPr>
        <p:sp>
          <p:nvSpPr>
            <p:cNvPr id="3" name="Rectangle 2"/>
            <p:cNvSpPr/>
            <p:nvPr/>
          </p:nvSpPr>
          <p:spPr>
            <a:xfrm>
              <a:off x="1227116" y="1183934"/>
              <a:ext cx="10664041" cy="553998"/>
            </a:xfrm>
            <a:prstGeom prst="rect">
              <a:avLst/>
            </a:prstGeom>
            <a:ln>
              <a:solidFill>
                <a:schemeClr val="bg1">
                  <a:lumMod val="95000"/>
                </a:schemeClr>
              </a:solidFill>
            </a:ln>
          </p:spPr>
          <p:txBody>
            <a:bodyPr wrap="square">
              <a:spAutoFit/>
            </a:bodyPr>
            <a:lstStyle/>
            <a:p>
              <a:r>
                <a:rPr lang="en-US" sz="1500" dirty="0"/>
                <a:t> It just means a variable that has only 2 </a:t>
              </a:r>
              <a:r>
                <a:rPr lang="en-US" sz="1500" dirty="0" smtClean="0"/>
                <a:t>outputs. For </a:t>
              </a:r>
              <a:r>
                <a:rPr lang="en-US" sz="1500" dirty="0"/>
                <a:t>example, A person will survive this accident or not, The student will pass this exam or not. The outcome can either be yes or no (2 outputs). </a:t>
              </a:r>
              <a:endParaRPr lang="en-IN" sz="1500" dirty="0"/>
            </a:p>
          </p:txBody>
        </p:sp>
        <p:cxnSp>
          <p:nvCxnSpPr>
            <p:cNvPr id="9" name="Straight Connector 8"/>
            <p:cNvCxnSpPr/>
            <p:nvPr/>
          </p:nvCxnSpPr>
          <p:spPr>
            <a:xfrm>
              <a:off x="1227116" y="1183934"/>
              <a:ext cx="0" cy="553998"/>
            </a:xfrm>
            <a:prstGeom prst="line">
              <a:avLst/>
            </a:prstGeom>
            <a:ln w="28575">
              <a:solidFill>
                <a:srgbClr val="00D05E"/>
              </a:solidFill>
            </a:ln>
          </p:spPr>
          <p:style>
            <a:lnRef idx="1">
              <a:schemeClr val="accent1"/>
            </a:lnRef>
            <a:fillRef idx="0">
              <a:schemeClr val="accent1"/>
            </a:fillRef>
            <a:effectRef idx="0">
              <a:schemeClr val="accent1"/>
            </a:effectRef>
            <a:fontRef idx="minor">
              <a:schemeClr val="tx1"/>
            </a:fontRef>
          </p:style>
        </p:cxnSp>
      </p:grpSp>
      <p:pic>
        <p:nvPicPr>
          <p:cNvPr id="1026" name="Picture 2" descr="C:\Users\User\Desktop\Cap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309" y="1840673"/>
            <a:ext cx="3790977" cy="3803306"/>
          </a:xfrm>
          <a:prstGeom prst="rect">
            <a:avLst/>
          </a:prstGeom>
          <a:noFill/>
          <a:ln>
            <a:solidFill>
              <a:schemeClr val="bg2">
                <a:lumMod val="90000"/>
              </a:schemeClr>
            </a:solidFill>
          </a:ln>
          <a:extLst>
            <a:ext uri="{909E8E84-426E-40DD-AFC4-6F175D3DCCD1}">
              <a14:hiddenFill xmlns:a14="http://schemas.microsoft.com/office/drawing/2010/main">
                <a:solidFill>
                  <a:srgbClr val="FFFFFF"/>
                </a:solidFill>
              </a14:hiddenFill>
            </a:ext>
          </a:extLst>
        </p:spPr>
      </p:pic>
      <p:sp>
        <p:nvSpPr>
          <p:cNvPr id="12" name="Rectangle 11"/>
          <p:cNvSpPr/>
          <p:nvPr/>
        </p:nvSpPr>
        <p:spPr>
          <a:xfrm>
            <a:off x="336538" y="5924291"/>
            <a:ext cx="11855462" cy="323165"/>
          </a:xfrm>
          <a:prstGeom prst="rect">
            <a:avLst/>
          </a:prstGeom>
        </p:spPr>
        <p:txBody>
          <a:bodyPr wrap="square">
            <a:spAutoFit/>
          </a:bodyPr>
          <a:lstStyle/>
          <a:p>
            <a:r>
              <a:rPr lang="en-US" sz="1500" dirty="0">
                <a:solidFill>
                  <a:srgbClr val="FF0066"/>
                </a:solidFill>
                <a:latin typeface="Bahnschrift" pitchFamily="34" charset="0"/>
              </a:rPr>
              <a:t>S</a:t>
            </a:r>
            <a:r>
              <a:rPr lang="en-US" sz="1500" dirty="0" smtClean="0">
                <a:solidFill>
                  <a:srgbClr val="FF0066"/>
                </a:solidFill>
                <a:latin typeface="Bahnschrift" pitchFamily="34" charset="0"/>
              </a:rPr>
              <a:t>igmoid </a:t>
            </a:r>
            <a:r>
              <a:rPr lang="en-US" sz="1500" dirty="0">
                <a:solidFill>
                  <a:srgbClr val="FF0066"/>
                </a:solidFill>
                <a:latin typeface="Bahnschrift" pitchFamily="34" charset="0"/>
              </a:rPr>
              <a:t>function</a:t>
            </a:r>
            <a:r>
              <a:rPr lang="en-US" sz="1500" dirty="0"/>
              <a:t> has values very close to either 0 or 1 across most of its domain. This fact makes it suitable for application in classification methods.</a:t>
            </a:r>
            <a:endParaRPr lang="en-IN" sz="1500" dirty="0"/>
          </a:p>
        </p:txBody>
      </p:sp>
    </p:spTree>
    <p:extLst>
      <p:ext uri="{BB962C8B-B14F-4D97-AF65-F5344CB8AC3E}">
        <p14:creationId xmlns:p14="http://schemas.microsoft.com/office/powerpoint/2010/main" val="64643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4793" y="328696"/>
            <a:ext cx="4389471" cy="307777"/>
          </a:xfrm>
          <a:prstGeom prst="rect">
            <a:avLst/>
          </a:prstGeom>
        </p:spPr>
        <p:txBody>
          <a:bodyPr wrap="none">
            <a:spAutoFit/>
          </a:bodyPr>
          <a:lstStyle/>
          <a:p>
            <a:r>
              <a:rPr lang="en-US" sz="1400" dirty="0">
                <a:solidFill>
                  <a:srgbClr val="0070C0"/>
                </a:solidFill>
                <a:latin typeface="Arial Rounded MT Bold" pitchFamily="34" charset="0"/>
              </a:rPr>
              <a:t>What are the applications of logistic regression?</a:t>
            </a:r>
          </a:p>
        </p:txBody>
      </p:sp>
      <p:sp>
        <p:nvSpPr>
          <p:cNvPr id="6" name="Rectangle 5"/>
          <p:cNvSpPr/>
          <p:nvPr/>
        </p:nvSpPr>
        <p:spPr>
          <a:xfrm>
            <a:off x="1154824" y="965236"/>
            <a:ext cx="9390465" cy="4247317"/>
          </a:xfrm>
          <a:prstGeom prst="rect">
            <a:avLst/>
          </a:prstGeom>
          <a:ln>
            <a:solidFill>
              <a:schemeClr val="bg1">
                <a:lumMod val="95000"/>
              </a:schemeClr>
            </a:solidFill>
          </a:ln>
        </p:spPr>
        <p:txBody>
          <a:bodyPr wrap="square">
            <a:spAutoFit/>
          </a:bodyPr>
          <a:lstStyle/>
          <a:p>
            <a:r>
              <a:rPr lang="en-US" b="1" dirty="0" smtClean="0"/>
              <a:t>Manufacturing</a:t>
            </a:r>
            <a:endParaRPr lang="en-US" b="1" dirty="0"/>
          </a:p>
          <a:p>
            <a:r>
              <a:rPr lang="en-US" sz="1400" dirty="0"/>
              <a:t>Manufacturing companies use logistic regression analysis to estimate the probability of part failure in machinery. They then plan maintenance schedules based on this estimate to minimize future failures</a:t>
            </a:r>
            <a:r>
              <a:rPr lang="en-US" sz="1400" dirty="0" smtClean="0"/>
              <a:t>.</a:t>
            </a:r>
          </a:p>
          <a:p>
            <a:endParaRPr lang="en-US" dirty="0"/>
          </a:p>
          <a:p>
            <a:r>
              <a:rPr lang="en-US" b="1" dirty="0" smtClean="0"/>
              <a:t>Healthcare</a:t>
            </a:r>
            <a:endParaRPr lang="en-US" b="1" dirty="0"/>
          </a:p>
          <a:p>
            <a:r>
              <a:rPr lang="en-US" sz="1400" dirty="0"/>
              <a:t>Medical researchers plan preventive care and treatment by predicting the likelihood of disease in patients. They use logistic regression models to compare the impact of family history or genes on diseases. </a:t>
            </a:r>
          </a:p>
          <a:p>
            <a:endParaRPr lang="en-US" dirty="0"/>
          </a:p>
          <a:p>
            <a:r>
              <a:rPr lang="en-US" b="1" dirty="0"/>
              <a:t>Finance </a:t>
            </a:r>
          </a:p>
          <a:p>
            <a:r>
              <a:rPr lang="en-US" sz="1400" dirty="0"/>
              <a:t>Financial companies have to analyze financial transactions for fraud and assess loan applications and insurance applications for risk. These problems are suitable for a logistic regression model because they have discrete outcomes, like high risk or low risk and fraudulent or not fraudulent. </a:t>
            </a:r>
            <a:r>
              <a:rPr lang="en-US" dirty="0"/>
              <a:t> </a:t>
            </a:r>
            <a:endParaRPr lang="en-US" dirty="0" smtClean="0"/>
          </a:p>
          <a:p>
            <a:endParaRPr lang="en-US" dirty="0"/>
          </a:p>
          <a:p>
            <a:r>
              <a:rPr lang="en-US" b="1" dirty="0"/>
              <a:t>Marketing</a:t>
            </a:r>
          </a:p>
          <a:p>
            <a:r>
              <a:rPr lang="en-US" sz="1400" dirty="0"/>
              <a:t>Online advertising tools use the logistic regression model to predict if users will click on an advertisement. As a result, marketers can analyze user responses to different words and images and create high-performing advertisements with which customers will engage.</a:t>
            </a:r>
          </a:p>
        </p:txBody>
      </p:sp>
    </p:spTree>
    <p:extLst>
      <p:ext uri="{BB962C8B-B14F-4D97-AF65-F5344CB8AC3E}">
        <p14:creationId xmlns:p14="http://schemas.microsoft.com/office/powerpoint/2010/main" val="1399605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37449</TotalTime>
  <Words>753</Words>
  <Application>Microsoft Office PowerPoint</Application>
  <PresentationFormat>Custom</PresentationFormat>
  <Paragraphs>109</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1573</cp:revision>
  <dcterms:created xsi:type="dcterms:W3CDTF">2024-01-26T15:11:46Z</dcterms:created>
  <dcterms:modified xsi:type="dcterms:W3CDTF">2025-12-31T19:02:41Z</dcterms:modified>
</cp:coreProperties>
</file>