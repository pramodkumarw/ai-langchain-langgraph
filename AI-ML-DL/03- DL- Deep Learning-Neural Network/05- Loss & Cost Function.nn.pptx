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85" r:id="rId2"/>
    <p:sldId id="409" r:id="rId3"/>
    <p:sldId id="423" r:id="rId4"/>
    <p:sldId id="424" r:id="rId5"/>
    <p:sldId id="425" r:id="rId6"/>
    <p:sldId id="426" r:id="rId7"/>
    <p:sldId id="427" r:id="rId8"/>
    <p:sldId id="410" r:id="rId9"/>
    <p:sldId id="412" r:id="rId10"/>
    <p:sldId id="417" r:id="rId11"/>
    <p:sldId id="42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53F305DE-E919-46C9-8C7C-4B59AF1E2526}">
          <p14:sldIdLst>
            <p14:sldId id="285"/>
          </p14:sldIdLst>
        </p14:section>
        <p14:section name="Loss/Cost function" id="{ECC48208-658C-481E-A78A-5216D663A4C2}">
          <p14:sldIdLst>
            <p14:sldId id="409"/>
            <p14:sldId id="423"/>
            <p14:sldId id="424"/>
            <p14:sldId id="425"/>
            <p14:sldId id="426"/>
            <p14:sldId id="427"/>
            <p14:sldId id="410"/>
            <p14:sldId id="412"/>
          </p14:sldIdLst>
        </p14:section>
        <p14:section name="Loss Function Type" id="{B4AC9A4C-CA83-43A4-8053-4E3D0E38348C}">
          <p14:sldIdLst>
            <p14:sldId id="417"/>
            <p14:sldId id="422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B21"/>
    <a:srgbClr val="CC3300"/>
    <a:srgbClr val="FF6743"/>
    <a:srgbClr val="00D05E"/>
    <a:srgbClr val="FF0066"/>
    <a:srgbClr val="00CC99"/>
    <a:srgbClr val="15C2FF"/>
    <a:srgbClr val="FFCC29"/>
    <a:srgbClr val="F5E47F"/>
    <a:srgbClr val="F2D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9" autoAdjust="0"/>
    <p:restoredTop sz="98577" autoAdjust="0"/>
  </p:normalViewPr>
  <p:slideViewPr>
    <p:cSldViewPr snapToGrid="0">
      <p:cViewPr>
        <p:scale>
          <a:sx n="70" d="100"/>
          <a:sy n="70" d="100"/>
        </p:scale>
        <p:origin x="-522" y="-1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90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260610" y="1282890"/>
            <a:ext cx="13648" cy="532227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28608" y="1877021"/>
            <a:ext cx="2443370" cy="276999"/>
          </a:xfrm>
          <a:prstGeom prst="rect">
            <a:avLst/>
          </a:prstGeom>
          <a:solidFill>
            <a:srgbClr val="F5E47F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ANN,CNN,RNN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126638" y="1038851"/>
            <a:ext cx="1093640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528608" y="2245821"/>
            <a:ext cx="2421558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ANN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3" name="TextBox 12">
            <a:hlinkClick r:id="" action="ppaction://noaction"/>
          </p:cNvPr>
          <p:cNvSpPr txBox="1"/>
          <p:nvPr/>
        </p:nvSpPr>
        <p:spPr>
          <a:xfrm>
            <a:off x="1528608" y="2567935"/>
            <a:ext cx="242155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  <a:hlinkClick r:id="" action="ppaction://noaction"/>
              </a:rPr>
              <a:t>RNN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1" name="TextBox 20">
            <a:hlinkClick r:id="" action="ppaction://noaction"/>
          </p:cNvPr>
          <p:cNvSpPr txBox="1"/>
          <p:nvPr/>
        </p:nvSpPr>
        <p:spPr>
          <a:xfrm>
            <a:off x="1528608" y="1557942"/>
            <a:ext cx="244337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Time Series Data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3" name="Google Shape;143;p1">
            <a:extLst>
              <a:ext uri="{FF2B5EF4-FFF2-40B4-BE49-F238E27FC236}">
                <a16:creationId xmlns:a16="http://schemas.microsoft.com/office/drawing/2014/main" xmlns="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1774207" y="151254"/>
            <a:ext cx="6764711" cy="1274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4000" b="1" dirty="0" smtClean="0">
                <a:solidFill>
                  <a:schemeClr val="tx1"/>
                </a:solidFill>
                <a:latin typeface="Segoe UI Black" pitchFamily="34" charset="0"/>
                <a:ea typeface="Segoe UI Black" pitchFamily="34" charset="0"/>
              </a:rPr>
              <a:t>Loss/Cost Function </a:t>
            </a:r>
            <a:r>
              <a:rPr lang="it-IT" sz="1100" b="1" dirty="0" smtClean="0">
                <a:solidFill>
                  <a:schemeClr val="tx1"/>
                </a:solidFill>
                <a:latin typeface="Segoe UI Black" pitchFamily="34" charset="0"/>
                <a:ea typeface="Segoe UI Black" pitchFamily="34" charset="0"/>
              </a:rPr>
              <a:t>Neural Network</a:t>
            </a:r>
          </a:p>
          <a:p>
            <a:endParaRPr lang="it-IT" sz="4000" b="1" dirty="0">
              <a:solidFill>
                <a:schemeClr val="tx1"/>
              </a:solidFill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51" y="1"/>
            <a:ext cx="1903189" cy="157722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8918" y="42717"/>
            <a:ext cx="3201582" cy="1240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7929787" y="1939833"/>
            <a:ext cx="3128325" cy="613765"/>
            <a:chOff x="6476640" y="3009506"/>
            <a:chExt cx="3128325" cy="61376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8" name="TextBox 27"/>
            <p:cNvSpPr txBox="1"/>
            <p:nvPr/>
          </p:nvSpPr>
          <p:spPr>
            <a:xfrm>
              <a:off x="6476640" y="3009506"/>
              <a:ext cx="1837362" cy="307777"/>
            </a:xfrm>
            <a:prstGeom prst="rect">
              <a:avLst/>
            </a:prstGeom>
            <a:solidFill>
              <a:srgbClr val="FF6743"/>
            </a:solidFill>
            <a:ln>
              <a:solidFill>
                <a:srgbClr val="FF6743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400">
                  <a:solidFill>
                    <a:schemeClr val="bg1"/>
                  </a:solidFill>
                </a:defRPr>
              </a:lvl1pPr>
            </a:lstStyle>
            <a:p>
              <a:r>
                <a:rPr lang="en-US" dirty="0">
                  <a:latin typeface="Bahnschrift SemiLight" pitchFamily="34" charset="0"/>
                </a:rPr>
                <a:t>Loss </a:t>
              </a:r>
              <a:r>
                <a:rPr lang="en-US" dirty="0" smtClean="0">
                  <a:latin typeface="Bahnschrift SemiLight" pitchFamily="34" charset="0"/>
                </a:rPr>
                <a:t>/Cost Function </a:t>
              </a:r>
              <a:endParaRPr lang="en-IN" dirty="0">
                <a:latin typeface="Bahnschrift SemiLight" pitchFamily="34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533564" y="3315494"/>
              <a:ext cx="2071401" cy="307777"/>
            </a:xfrm>
            <a:prstGeom prst="rect">
              <a:avLst/>
            </a:prstGeom>
            <a:solidFill>
              <a:srgbClr val="FF4B21"/>
            </a:solidFill>
            <a:ln>
              <a:solidFill>
                <a:srgbClr val="FF6743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400">
                  <a:solidFill>
                    <a:schemeClr val="bg1"/>
                  </a:solidFill>
                  <a:latin typeface="Bahnschrift SemiLight" pitchFamily="34" charset="0"/>
                </a:defRPr>
              </a:lvl1pPr>
            </a:lstStyle>
            <a:p>
              <a:r>
                <a:rPr lang="en-US" dirty="0"/>
                <a:t>Mean Squared Error Fn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80458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63840" y="225268"/>
            <a:ext cx="1988092" cy="318298"/>
            <a:chOff x="1492971" y="258160"/>
            <a:chExt cx="1988092" cy="318298"/>
          </a:xfrm>
          <a:solidFill>
            <a:schemeClr val="accent5">
              <a:lumMod val="75000"/>
            </a:schemeClr>
          </a:solidFill>
        </p:grpSpPr>
        <p:sp>
          <p:nvSpPr>
            <p:cNvPr id="5" name="Rectangle 4"/>
            <p:cNvSpPr/>
            <p:nvPr/>
          </p:nvSpPr>
          <p:spPr>
            <a:xfrm>
              <a:off x="1492971" y="258160"/>
              <a:ext cx="1973718" cy="30777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Cost fn/Loss function</a:t>
              </a:r>
              <a:endParaRPr lang="en-IN" sz="1400" dirty="0">
                <a:solidFill>
                  <a:schemeClr val="bg1"/>
                </a:solidFill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1507346" y="576458"/>
              <a:ext cx="1973717" cy="0"/>
            </a:xfrm>
            <a:prstGeom prst="line">
              <a:avLst/>
            </a:prstGeom>
            <a:grp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 8"/>
          <p:cNvSpPr/>
          <p:nvPr/>
        </p:nvSpPr>
        <p:spPr>
          <a:xfrm>
            <a:off x="429937" y="738919"/>
            <a:ext cx="1073393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"</a:t>
            </a:r>
            <a:r>
              <a:rPr lang="en-US" sz="1600" i="1" dirty="0"/>
              <a:t>minimize the cost function</a:t>
            </a:r>
            <a:r>
              <a:rPr lang="en-US" sz="1600" dirty="0"/>
              <a:t>" means reducing the error between the model’s prediction and the actual result.</a:t>
            </a:r>
            <a:endParaRPr lang="en-IN" sz="1600" dirty="0"/>
          </a:p>
        </p:txBody>
      </p:sp>
      <p:sp>
        <p:nvSpPr>
          <p:cNvPr id="10" name="Rectangle 9"/>
          <p:cNvSpPr/>
          <p:nvPr/>
        </p:nvSpPr>
        <p:spPr>
          <a:xfrm>
            <a:off x="429937" y="1441987"/>
            <a:ext cx="1470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🔍 </a:t>
            </a:r>
            <a:r>
              <a:rPr lang="en-IN" dirty="0" smtClean="0"/>
              <a:t> </a:t>
            </a:r>
            <a:r>
              <a:rPr lang="en-IN" b="1" dirty="0" smtClean="0">
                <a:latin typeface="Bahnschrift" pitchFamily="34" charset="0"/>
              </a:rPr>
              <a:t>Analogy</a:t>
            </a:r>
            <a:r>
              <a:rPr lang="en-IN" b="1" dirty="0">
                <a:latin typeface="Bahnschrift" pitchFamily="34" charset="0"/>
              </a:rPr>
              <a:t>:</a:t>
            </a:r>
            <a:r>
              <a:rPr lang="en-IN" dirty="0">
                <a:latin typeface="Bahnschrift" pitchFamily="34" charset="0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5158" y="1933854"/>
            <a:ext cx="1139581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Imagine you're doing archery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dirty="0"/>
              <a:t>The bullseye = correct answer</a:t>
            </a:r>
          </a:p>
          <a:p>
            <a:r>
              <a:rPr lang="en-US" sz="1600" dirty="0"/>
              <a:t>Your arrow = model’s prediction</a:t>
            </a:r>
          </a:p>
          <a:p>
            <a:r>
              <a:rPr lang="en-US" sz="1600" dirty="0"/>
              <a:t>Distance between them = error (cost) Minimizing the cost function means adjusting your aim so the arrow hits the bullseye every time.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273132" y="738919"/>
            <a:ext cx="5810258" cy="3387864"/>
            <a:chOff x="273132" y="738919"/>
            <a:chExt cx="5810258" cy="3387864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273132" y="738919"/>
              <a:ext cx="261258" cy="304931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334252" y="3788229"/>
              <a:ext cx="57491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The main purpose of cost and loss function is to minimize the error</a:t>
              </a:r>
              <a:endParaRPr lang="en-IN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42727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Navigating the Future of Learning​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523525"/>
            <a:ext cx="120468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en-IN" sz="1600" b="1" dirty="0">
                <a:latin typeface="Bahnschrift SemiBold" pitchFamily="34" charset="0"/>
              </a:rPr>
              <a:t>Linear </a:t>
            </a:r>
            <a:r>
              <a:rPr lang="en-IN" sz="1600" b="1" dirty="0" smtClean="0">
                <a:latin typeface="Bahnschrift SemiBold" pitchFamily="34" charset="0"/>
              </a:rPr>
              <a:t>Regression (find out relation bet x(independent) and y(dependent) )</a:t>
            </a:r>
            <a:r>
              <a:rPr lang="en-IN" sz="1600" b="1" dirty="0">
                <a:latin typeface="Bahnschrift SemiBold" pitchFamily="34" charset="0"/>
              </a:rPr>
              <a:t> </a:t>
            </a:r>
            <a:r>
              <a:rPr lang="en-IN" sz="1600" b="1" dirty="0" smtClean="0">
                <a:latin typeface="Bahnschrift SemiBold" pitchFamily="34" charset="0"/>
              </a:rPr>
              <a:t> but how ,by ploting a line that line is called best fit line</a:t>
            </a:r>
            <a:endParaRPr lang="en-IN" sz="1600" b="1" dirty="0">
              <a:latin typeface="Bahnschrift SemiBold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368490"/>
            <a:ext cx="12192000" cy="27295"/>
          </a:xfrm>
          <a:prstGeom prst="line">
            <a:avLst/>
          </a:prstGeom>
          <a:ln w="127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1023581" y="1504498"/>
            <a:ext cx="10617959" cy="2554545"/>
            <a:chOff x="1023581" y="1504498"/>
            <a:chExt cx="10617959" cy="2554545"/>
          </a:xfrm>
        </p:grpSpPr>
        <p:sp>
          <p:nvSpPr>
            <p:cNvPr id="8" name="Rectangle 7"/>
            <p:cNvSpPr/>
            <p:nvPr/>
          </p:nvSpPr>
          <p:spPr>
            <a:xfrm>
              <a:off x="1023581" y="1504498"/>
              <a:ext cx="10617959" cy="25545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/>
                <a:t>The cost function says: “Alright, you have drawn a line for linear regression. But is your line perfectly correct? Is it guaranteed that your line has no error? Is it certain that your model’s predictions have no error</a:t>
              </a:r>
              <a:r>
                <a:rPr lang="en-US" sz="1600" dirty="0" smtClean="0"/>
                <a:t>?”</a:t>
              </a:r>
            </a:p>
            <a:p>
              <a:endParaRPr lang="en-US" sz="1600" dirty="0"/>
            </a:p>
            <a:p>
              <a:r>
                <a:rPr lang="en-US" sz="1600" dirty="0"/>
                <a:t>Your accuracy </a:t>
              </a:r>
              <a:r>
                <a:rPr lang="en-US" sz="1600" dirty="0" smtClean="0"/>
                <a:t>is being </a:t>
              </a:r>
              <a:r>
                <a:rPr lang="en-US" sz="1600" dirty="0"/>
                <a:t>100% might not be possible. It’s not necessary that you always get 100%. </a:t>
              </a:r>
              <a:endParaRPr lang="en-US" sz="1600" dirty="0" smtClean="0"/>
            </a:p>
            <a:p>
              <a:endParaRPr lang="en-US" sz="1600" dirty="0"/>
            </a:p>
            <a:p>
              <a:r>
                <a:rPr lang="en-US" sz="1600" dirty="0" smtClean="0"/>
                <a:t>So</a:t>
              </a:r>
              <a:r>
                <a:rPr lang="en-US" sz="1600" dirty="0"/>
                <a:t>, the cost function tells you: “Whatever error has been introduced in your modeling, in your best‑fitting line, I will measure it. That’s my job</a:t>
              </a:r>
              <a:r>
                <a:rPr lang="en-US" sz="1600" dirty="0" smtClean="0"/>
                <a:t>.”</a:t>
              </a:r>
            </a:p>
            <a:p>
              <a:endParaRPr lang="en-US" sz="1600" dirty="0"/>
            </a:p>
            <a:p>
              <a:r>
                <a:rPr lang="en-US" sz="1600" dirty="0"/>
                <a:t>In other words, the cost function says: “I will measure the difference — the error — between the predicted value (the one your model gives) and the actual value (the ground truth).”</a:t>
              </a:r>
            </a:p>
          </p:txBody>
        </p:sp>
        <p:cxnSp>
          <p:nvCxnSpPr>
            <p:cNvPr id="3" name="Straight Connector 2"/>
            <p:cNvCxnSpPr/>
            <p:nvPr/>
          </p:nvCxnSpPr>
          <p:spPr>
            <a:xfrm>
              <a:off x="1023581" y="1504498"/>
              <a:ext cx="0" cy="2554545"/>
            </a:xfrm>
            <a:prstGeom prst="line">
              <a:avLst/>
            </a:prstGeom>
            <a:ln w="19050">
              <a:solidFill>
                <a:srgbClr val="00D0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5430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3290" y="335340"/>
            <a:ext cx="109818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the cost is the error in out </a:t>
            </a:r>
            <a:r>
              <a:rPr lang="en-US" sz="1600" dirty="0" smtClean="0"/>
              <a:t>predicted value. We </a:t>
            </a:r>
            <a:r>
              <a:rPr lang="en-US" sz="1600" dirty="0"/>
              <a:t>will use the means Square Error function o </a:t>
            </a:r>
            <a:r>
              <a:rPr lang="en-US" sz="1600" dirty="0" smtClean="0"/>
              <a:t>calculate </a:t>
            </a:r>
            <a:r>
              <a:rPr lang="en-US" sz="1600" dirty="0"/>
              <a:t>the cost</a:t>
            </a:r>
            <a:endParaRPr lang="en-IN" sz="1600" dirty="0"/>
          </a:p>
        </p:txBody>
      </p:sp>
      <p:grpSp>
        <p:nvGrpSpPr>
          <p:cNvPr id="78" name="Group 77"/>
          <p:cNvGrpSpPr/>
          <p:nvPr/>
        </p:nvGrpSpPr>
        <p:grpSpPr>
          <a:xfrm>
            <a:off x="2129777" y="1433048"/>
            <a:ext cx="4518518" cy="3867214"/>
            <a:chOff x="519878" y="1433048"/>
            <a:chExt cx="4518518" cy="3867214"/>
          </a:xfrm>
        </p:grpSpPr>
        <p:grpSp>
          <p:nvGrpSpPr>
            <p:cNvPr id="66" name="Group 65"/>
            <p:cNvGrpSpPr/>
            <p:nvPr/>
          </p:nvGrpSpPr>
          <p:grpSpPr>
            <a:xfrm>
              <a:off x="1240048" y="1796956"/>
              <a:ext cx="2938154" cy="2533932"/>
              <a:chOff x="1705098" y="1805049"/>
              <a:chExt cx="2938154" cy="2533932"/>
            </a:xfrm>
          </p:grpSpPr>
          <p:grpSp>
            <p:nvGrpSpPr>
              <p:cNvPr id="65" name="Group 64"/>
              <p:cNvGrpSpPr/>
              <p:nvPr/>
            </p:nvGrpSpPr>
            <p:grpSpPr>
              <a:xfrm>
                <a:off x="1705098" y="1805049"/>
                <a:ext cx="2938154" cy="2533932"/>
                <a:chOff x="1705098" y="1805049"/>
                <a:chExt cx="2938154" cy="2533932"/>
              </a:xfrm>
            </p:grpSpPr>
            <p:grpSp>
              <p:nvGrpSpPr>
                <p:cNvPr id="38" name="Group 37"/>
                <p:cNvGrpSpPr/>
                <p:nvPr/>
              </p:nvGrpSpPr>
              <p:grpSpPr>
                <a:xfrm>
                  <a:off x="1705098" y="1805049"/>
                  <a:ext cx="2938154" cy="2533932"/>
                  <a:chOff x="1705098" y="1805049"/>
                  <a:chExt cx="2938154" cy="2533932"/>
                </a:xfrm>
              </p:grpSpPr>
              <p:grpSp>
                <p:nvGrpSpPr>
                  <p:cNvPr id="34" name="Group 33"/>
                  <p:cNvGrpSpPr/>
                  <p:nvPr/>
                </p:nvGrpSpPr>
                <p:grpSpPr>
                  <a:xfrm>
                    <a:off x="1705098" y="1805049"/>
                    <a:ext cx="2938154" cy="2228603"/>
                    <a:chOff x="3902033" y="3135086"/>
                    <a:chExt cx="2938154" cy="2228603"/>
                  </a:xfrm>
                </p:grpSpPr>
                <p:grpSp>
                  <p:nvGrpSpPr>
                    <p:cNvPr id="24" name="Group 23"/>
                    <p:cNvGrpSpPr/>
                    <p:nvPr/>
                  </p:nvGrpSpPr>
                  <p:grpSpPr>
                    <a:xfrm>
                      <a:off x="3930732" y="3135086"/>
                      <a:ext cx="2909455" cy="2228603"/>
                      <a:chOff x="3930732" y="3135086"/>
                      <a:chExt cx="2909455" cy="2228603"/>
                    </a:xfrm>
                  </p:grpSpPr>
                  <p:grpSp>
                    <p:nvGrpSpPr>
                      <p:cNvPr id="21" name="Group 20"/>
                      <p:cNvGrpSpPr/>
                      <p:nvPr/>
                    </p:nvGrpSpPr>
                    <p:grpSpPr>
                      <a:xfrm>
                        <a:off x="3930732" y="3135086"/>
                        <a:ext cx="2909455" cy="2228603"/>
                        <a:chOff x="3930732" y="3135086"/>
                        <a:chExt cx="2909455" cy="2228603"/>
                      </a:xfrm>
                    </p:grpSpPr>
                    <p:cxnSp>
                      <p:nvCxnSpPr>
                        <p:cNvPr id="5" name="Straight Connector 4"/>
                        <p:cNvCxnSpPr/>
                        <p:nvPr/>
                      </p:nvCxnSpPr>
                      <p:spPr>
                        <a:xfrm>
                          <a:off x="3930732" y="3135086"/>
                          <a:ext cx="9896" cy="2228603"/>
                        </a:xfrm>
                        <a:prstGeom prst="line">
                          <a:avLst/>
                        </a:prstGeom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" name="Straight Connector 7"/>
                        <p:cNvCxnSpPr/>
                        <p:nvPr/>
                      </p:nvCxnSpPr>
                      <p:spPr>
                        <a:xfrm flipH="1">
                          <a:off x="3940628" y="5363689"/>
                          <a:ext cx="2899559" cy="0"/>
                        </a:xfrm>
                        <a:prstGeom prst="line">
                          <a:avLst/>
                        </a:prstGeom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23" name="Group 22"/>
                      <p:cNvGrpSpPr/>
                      <p:nvPr/>
                    </p:nvGrpSpPr>
                    <p:grpSpPr>
                      <a:xfrm>
                        <a:off x="4213761" y="3255818"/>
                        <a:ext cx="2062348" cy="2107871"/>
                        <a:chOff x="4213761" y="3255818"/>
                        <a:chExt cx="2062348" cy="2107871"/>
                      </a:xfrm>
                    </p:grpSpPr>
                    <p:cxnSp>
                      <p:nvCxnSpPr>
                        <p:cNvPr id="10" name="Straight Connector 9"/>
                        <p:cNvCxnSpPr/>
                        <p:nvPr/>
                      </p:nvCxnSpPr>
                      <p:spPr>
                        <a:xfrm>
                          <a:off x="6258296" y="3255818"/>
                          <a:ext cx="17813" cy="2094017"/>
                        </a:xfrm>
                        <a:prstGeom prst="line">
                          <a:avLst/>
                        </a:prstGeom>
                        <a:ln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4" name="Straight Connector 13"/>
                        <p:cNvCxnSpPr/>
                        <p:nvPr/>
                      </p:nvCxnSpPr>
                      <p:spPr>
                        <a:xfrm>
                          <a:off x="4510644" y="3323112"/>
                          <a:ext cx="17813" cy="2038598"/>
                        </a:xfrm>
                        <a:prstGeom prst="line">
                          <a:avLst/>
                        </a:prstGeom>
                        <a:ln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5" name="Straight Connector 14"/>
                        <p:cNvCxnSpPr/>
                        <p:nvPr/>
                      </p:nvCxnSpPr>
                      <p:spPr>
                        <a:xfrm>
                          <a:off x="4843154" y="3311237"/>
                          <a:ext cx="17813" cy="2038598"/>
                        </a:xfrm>
                        <a:prstGeom prst="line">
                          <a:avLst/>
                        </a:prstGeom>
                        <a:ln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6" name="Straight Connector 15"/>
                        <p:cNvCxnSpPr/>
                        <p:nvPr/>
                      </p:nvCxnSpPr>
                      <p:spPr>
                        <a:xfrm>
                          <a:off x="5185558" y="3311237"/>
                          <a:ext cx="17813" cy="2038598"/>
                        </a:xfrm>
                        <a:prstGeom prst="line">
                          <a:avLst/>
                        </a:prstGeom>
                        <a:ln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7" name="Straight Connector 16"/>
                        <p:cNvCxnSpPr/>
                        <p:nvPr/>
                      </p:nvCxnSpPr>
                      <p:spPr>
                        <a:xfrm>
                          <a:off x="5436742" y="3323112"/>
                          <a:ext cx="17813" cy="2038598"/>
                        </a:xfrm>
                        <a:prstGeom prst="line">
                          <a:avLst/>
                        </a:prstGeom>
                        <a:ln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8" name="Straight Connector 17"/>
                        <p:cNvCxnSpPr/>
                        <p:nvPr/>
                      </p:nvCxnSpPr>
                      <p:spPr>
                        <a:xfrm>
                          <a:off x="5674426" y="3311237"/>
                          <a:ext cx="17813" cy="2038598"/>
                        </a:xfrm>
                        <a:prstGeom prst="line">
                          <a:avLst/>
                        </a:prstGeom>
                        <a:ln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9" name="Straight Connector 18"/>
                        <p:cNvCxnSpPr/>
                        <p:nvPr/>
                      </p:nvCxnSpPr>
                      <p:spPr>
                        <a:xfrm>
                          <a:off x="5995059" y="3325091"/>
                          <a:ext cx="17813" cy="2038598"/>
                        </a:xfrm>
                        <a:prstGeom prst="line">
                          <a:avLst/>
                        </a:prstGeom>
                        <a:ln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0" name="Straight Connector 19"/>
                        <p:cNvCxnSpPr/>
                        <p:nvPr/>
                      </p:nvCxnSpPr>
                      <p:spPr>
                        <a:xfrm>
                          <a:off x="4213761" y="3311237"/>
                          <a:ext cx="17813" cy="2038598"/>
                        </a:xfrm>
                        <a:prstGeom prst="line">
                          <a:avLst/>
                        </a:prstGeom>
                        <a:ln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grpSp>
                  <p:nvGrpSpPr>
                    <p:cNvPr id="27" name="Group 26"/>
                    <p:cNvGrpSpPr/>
                    <p:nvPr/>
                  </p:nvGrpSpPr>
                  <p:grpSpPr>
                    <a:xfrm>
                      <a:off x="3902033" y="3441865"/>
                      <a:ext cx="2615364" cy="1676400"/>
                      <a:chOff x="3902033" y="3441865"/>
                      <a:chExt cx="2615364" cy="1676400"/>
                    </a:xfrm>
                  </p:grpSpPr>
                  <p:cxnSp>
                    <p:nvCxnSpPr>
                      <p:cNvPr id="26" name="Straight Connector 25"/>
                      <p:cNvCxnSpPr/>
                      <p:nvPr/>
                    </p:nvCxnSpPr>
                    <p:spPr>
                      <a:xfrm>
                        <a:off x="3940628" y="5094514"/>
                        <a:ext cx="2567050" cy="23751"/>
                      </a:xfrm>
                      <a:prstGeom prst="line">
                        <a:avLst/>
                      </a:prstGeom>
                      <a:ln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8" name="Straight Connector 27"/>
                      <p:cNvCxnSpPr/>
                      <p:nvPr/>
                    </p:nvCxnSpPr>
                    <p:spPr>
                      <a:xfrm>
                        <a:off x="3940628" y="4819402"/>
                        <a:ext cx="2567050" cy="23751"/>
                      </a:xfrm>
                      <a:prstGeom prst="line">
                        <a:avLst/>
                      </a:prstGeom>
                      <a:ln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9" name="Straight Connector 28"/>
                      <p:cNvCxnSpPr/>
                      <p:nvPr/>
                    </p:nvCxnSpPr>
                    <p:spPr>
                      <a:xfrm>
                        <a:off x="3950347" y="4534395"/>
                        <a:ext cx="2567050" cy="23751"/>
                      </a:xfrm>
                      <a:prstGeom prst="line">
                        <a:avLst/>
                      </a:prstGeom>
                      <a:ln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0" name="Straight Connector 29"/>
                      <p:cNvCxnSpPr/>
                      <p:nvPr/>
                    </p:nvCxnSpPr>
                    <p:spPr>
                      <a:xfrm>
                        <a:off x="3902033" y="4265221"/>
                        <a:ext cx="2567050" cy="23751"/>
                      </a:xfrm>
                      <a:prstGeom prst="line">
                        <a:avLst/>
                      </a:prstGeom>
                      <a:ln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" name="Straight Connector 30"/>
                      <p:cNvCxnSpPr/>
                      <p:nvPr/>
                    </p:nvCxnSpPr>
                    <p:spPr>
                      <a:xfrm>
                        <a:off x="3902033" y="4000005"/>
                        <a:ext cx="2567050" cy="23751"/>
                      </a:xfrm>
                      <a:prstGeom prst="line">
                        <a:avLst/>
                      </a:prstGeom>
                      <a:ln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2" name="Straight Connector 31"/>
                      <p:cNvCxnSpPr/>
                      <p:nvPr/>
                    </p:nvCxnSpPr>
                    <p:spPr>
                      <a:xfrm>
                        <a:off x="3910939" y="3692326"/>
                        <a:ext cx="2567050" cy="23751"/>
                      </a:xfrm>
                      <a:prstGeom prst="line">
                        <a:avLst/>
                      </a:prstGeom>
                      <a:ln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3" name="Straight Connector 32"/>
                      <p:cNvCxnSpPr/>
                      <p:nvPr/>
                    </p:nvCxnSpPr>
                    <p:spPr>
                      <a:xfrm>
                        <a:off x="3910939" y="3441865"/>
                        <a:ext cx="2567050" cy="23751"/>
                      </a:xfrm>
                      <a:prstGeom prst="line">
                        <a:avLst/>
                      </a:prstGeom>
                      <a:ln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1906238" y="4019622"/>
                    <a:ext cx="25680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50" dirty="0" smtClean="0"/>
                      <a:t>1</a:t>
                    </a:r>
                    <a:endParaRPr lang="en-IN" sz="1050" dirty="0"/>
                  </a:p>
                </p:txBody>
              </p:sp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2203121" y="4025736"/>
                    <a:ext cx="25680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50" dirty="0" smtClean="0"/>
                      <a:t>2</a:t>
                    </a:r>
                    <a:endParaRPr lang="en-IN" sz="1050" dirty="0"/>
                  </a:p>
                </p:txBody>
              </p:sp>
              <p:sp>
                <p:nvSpPr>
                  <p:cNvPr id="41" name="TextBox 40"/>
                  <p:cNvSpPr txBox="1"/>
                  <p:nvPr/>
                </p:nvSpPr>
                <p:spPr>
                  <a:xfrm>
                    <a:off x="2517818" y="4019622"/>
                    <a:ext cx="25680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50" dirty="0" smtClean="0"/>
                      <a:t>3</a:t>
                    </a:r>
                    <a:endParaRPr lang="en-IN" sz="1050" dirty="0"/>
                  </a:p>
                </p:txBody>
              </p:sp>
              <p:sp>
                <p:nvSpPr>
                  <p:cNvPr id="42" name="TextBox 41"/>
                  <p:cNvSpPr txBox="1"/>
                  <p:nvPr/>
                </p:nvSpPr>
                <p:spPr>
                  <a:xfrm>
                    <a:off x="2860222" y="4033652"/>
                    <a:ext cx="25680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50" dirty="0" smtClean="0"/>
                      <a:t>4</a:t>
                    </a:r>
                    <a:endParaRPr lang="en-IN" sz="1050" dirty="0"/>
                  </a:p>
                </p:txBody>
              </p:sp>
              <p:sp>
                <p:nvSpPr>
                  <p:cNvPr id="43" name="TextBox 42"/>
                  <p:cNvSpPr txBox="1"/>
                  <p:nvPr/>
                </p:nvSpPr>
                <p:spPr>
                  <a:xfrm>
                    <a:off x="3129219" y="4009902"/>
                    <a:ext cx="25680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50" dirty="0" smtClean="0"/>
                      <a:t>5</a:t>
                    </a:r>
                    <a:endParaRPr lang="en-IN" sz="1050" dirty="0"/>
                  </a:p>
                </p:txBody>
              </p:sp>
              <p:sp>
                <p:nvSpPr>
                  <p:cNvPr id="44" name="TextBox 43"/>
                  <p:cNvSpPr txBox="1"/>
                  <p:nvPr/>
                </p:nvSpPr>
                <p:spPr>
                  <a:xfrm>
                    <a:off x="3412921" y="4077371"/>
                    <a:ext cx="25680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50" dirty="0" smtClean="0"/>
                      <a:t>6</a:t>
                    </a:r>
                    <a:endParaRPr lang="en-IN" sz="1050" dirty="0"/>
                  </a:p>
                </p:txBody>
              </p:sp>
              <p:sp>
                <p:nvSpPr>
                  <p:cNvPr id="46" name="TextBox 45"/>
                  <p:cNvSpPr txBox="1"/>
                  <p:nvPr/>
                </p:nvSpPr>
                <p:spPr>
                  <a:xfrm>
                    <a:off x="3688033" y="4069278"/>
                    <a:ext cx="25680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50" dirty="0" smtClean="0"/>
                      <a:t>7</a:t>
                    </a:r>
                    <a:endParaRPr lang="en-IN" sz="1050" dirty="0"/>
                  </a:p>
                </p:txBody>
              </p:sp>
              <p:sp>
                <p:nvSpPr>
                  <p:cNvPr id="47" name="TextBox 46"/>
                  <p:cNvSpPr txBox="1"/>
                  <p:nvPr/>
                </p:nvSpPr>
                <p:spPr>
                  <a:xfrm>
                    <a:off x="3970069" y="4025560"/>
                    <a:ext cx="25680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50" dirty="0" smtClean="0"/>
                      <a:t>8</a:t>
                    </a:r>
                    <a:endParaRPr lang="en-IN" sz="1050" dirty="0"/>
                  </a:p>
                </p:txBody>
              </p:sp>
            </p:grpSp>
            <p:cxnSp>
              <p:nvCxnSpPr>
                <p:cNvPr id="50" name="Straight Connector 49"/>
                <p:cNvCxnSpPr/>
                <p:nvPr/>
              </p:nvCxnSpPr>
              <p:spPr>
                <a:xfrm flipV="1">
                  <a:off x="1753412" y="2386040"/>
                  <a:ext cx="2557331" cy="139031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9" name="Straight Connector 58"/>
              <p:cNvCxnSpPr/>
              <p:nvPr/>
            </p:nvCxnSpPr>
            <p:spPr>
              <a:xfrm>
                <a:off x="4079174" y="2541319"/>
                <a:ext cx="0" cy="1524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Flowchart: Connector 61"/>
              <p:cNvSpPr/>
              <p:nvPr/>
            </p:nvSpPr>
            <p:spPr>
              <a:xfrm>
                <a:off x="2601125" y="2946202"/>
                <a:ext cx="108000" cy="10800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61" name="Group 60"/>
              <p:cNvGrpSpPr/>
              <p:nvPr/>
            </p:nvGrpSpPr>
            <p:grpSpPr>
              <a:xfrm>
                <a:off x="1980639" y="2617519"/>
                <a:ext cx="2143628" cy="1016330"/>
                <a:chOff x="1980639" y="2617519"/>
                <a:chExt cx="2143628" cy="1016330"/>
              </a:xfrm>
            </p:grpSpPr>
            <p:cxnSp>
              <p:nvCxnSpPr>
                <p:cNvPr id="52" name="Straight Connector 51"/>
                <p:cNvCxnSpPr/>
                <p:nvPr/>
              </p:nvCxnSpPr>
              <p:spPr>
                <a:xfrm>
                  <a:off x="2034639" y="3081196"/>
                  <a:ext cx="0" cy="55265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>
                <a:xfrm>
                  <a:off x="2656116" y="3014353"/>
                  <a:ext cx="0" cy="28105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>
                <a:xfrm>
                  <a:off x="3815937" y="2669968"/>
                  <a:ext cx="497" cy="55814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" name="Flowchart: Connector 59"/>
                <p:cNvSpPr/>
                <p:nvPr/>
              </p:nvSpPr>
              <p:spPr>
                <a:xfrm>
                  <a:off x="1980639" y="3027196"/>
                  <a:ext cx="108000" cy="108000"/>
                </a:xfrm>
                <a:prstGeom prst="flowChartConnector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63" name="Flowchart: Connector 62"/>
                <p:cNvSpPr/>
                <p:nvPr/>
              </p:nvSpPr>
              <p:spPr>
                <a:xfrm>
                  <a:off x="3744124" y="3108233"/>
                  <a:ext cx="108000" cy="108000"/>
                </a:xfrm>
                <a:prstGeom prst="flowChartConnector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64" name="Flowchart: Connector 63"/>
                <p:cNvSpPr/>
                <p:nvPr/>
              </p:nvSpPr>
              <p:spPr>
                <a:xfrm>
                  <a:off x="4016267" y="2617519"/>
                  <a:ext cx="108000" cy="108000"/>
                </a:xfrm>
                <a:prstGeom prst="flowChartConnector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</p:grpSp>
        <p:grpSp>
          <p:nvGrpSpPr>
            <p:cNvPr id="69" name="Group 68"/>
            <p:cNvGrpSpPr/>
            <p:nvPr/>
          </p:nvGrpSpPr>
          <p:grpSpPr>
            <a:xfrm>
              <a:off x="519878" y="3100140"/>
              <a:ext cx="1036394" cy="525616"/>
              <a:chOff x="519878" y="3100140"/>
              <a:chExt cx="1036394" cy="525616"/>
            </a:xfrm>
          </p:grpSpPr>
          <p:sp>
            <p:nvSpPr>
              <p:cNvPr id="67" name="Left Brace 66"/>
              <p:cNvSpPr/>
              <p:nvPr/>
            </p:nvSpPr>
            <p:spPr>
              <a:xfrm>
                <a:off x="1150020" y="3100140"/>
                <a:ext cx="406252" cy="525616"/>
              </a:xfrm>
              <a:prstGeom prst="leftBrace">
                <a:avLst/>
              </a:prstGeom>
              <a:ln w="19050">
                <a:solidFill>
                  <a:srgbClr val="FF4B2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519878" y="3208140"/>
                <a:ext cx="55656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6743"/>
                    </a:solidFill>
                    <a:latin typeface="Bahnschrift SemiLight" pitchFamily="34" charset="0"/>
                    <a:cs typeface="Arial" pitchFamily="34" charset="0"/>
                  </a:rPr>
                  <a:t>Error</a:t>
                </a:r>
                <a:endParaRPr lang="en-IN" sz="1200" dirty="0">
                  <a:solidFill>
                    <a:srgbClr val="FF6743"/>
                  </a:solidFill>
                  <a:latin typeface="Bahnschrift SemiLight" pitchFamily="34" charset="0"/>
                  <a:cs typeface="Arial" pitchFamily="34" charset="0"/>
                </a:endParaRPr>
              </a:p>
            </p:txBody>
          </p:sp>
        </p:grpSp>
        <p:cxnSp>
          <p:nvCxnSpPr>
            <p:cNvPr id="72" name="Straight Arrow Connector 71"/>
            <p:cNvCxnSpPr/>
            <p:nvPr/>
          </p:nvCxnSpPr>
          <p:spPr>
            <a:xfrm flipV="1">
              <a:off x="1569589" y="1710047"/>
              <a:ext cx="629393" cy="1201210"/>
            </a:xfrm>
            <a:prstGeom prst="straightConnector1">
              <a:avLst/>
            </a:prstGeom>
            <a:ln>
              <a:solidFill>
                <a:srgbClr val="FF4B2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>
              <a:off x="2299192" y="1433048"/>
              <a:ext cx="15483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solidFill>
                    <a:srgbClr val="FF6743"/>
                  </a:solidFill>
                  <a:latin typeface="Bahnschrift SemiLight" pitchFamily="34" charset="0"/>
                  <a:cs typeface="Arial" pitchFamily="34" charset="0"/>
                </a:rPr>
                <a:t>Measured value( Yi)</a:t>
              </a:r>
              <a:endParaRPr lang="en-IN" sz="1200" dirty="0">
                <a:solidFill>
                  <a:srgbClr val="FF6743"/>
                </a:solidFill>
                <a:latin typeface="Bahnschrift SemiLight" pitchFamily="34" charset="0"/>
                <a:cs typeface="Arial" pitchFamily="34" charset="0"/>
              </a:endParaRPr>
            </a:p>
          </p:txBody>
        </p:sp>
        <p:cxnSp>
          <p:nvCxnSpPr>
            <p:cNvPr id="75" name="Straight Arrow Connector 74"/>
            <p:cNvCxnSpPr/>
            <p:nvPr/>
          </p:nvCxnSpPr>
          <p:spPr>
            <a:xfrm>
              <a:off x="1569589" y="3625756"/>
              <a:ext cx="1222981" cy="1492509"/>
            </a:xfrm>
            <a:prstGeom prst="straightConnector1">
              <a:avLst/>
            </a:prstGeom>
            <a:ln>
              <a:solidFill>
                <a:srgbClr val="FF4B2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2843756" y="5023263"/>
              <a:ext cx="2194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>
                  <a:solidFill>
                    <a:srgbClr val="FF6743"/>
                  </a:solidFill>
                  <a:latin typeface="Bahnschrift SemiLight" pitchFamily="34" charset="0"/>
                  <a:cs typeface="Arial" pitchFamily="34" charset="0"/>
                </a:defRPr>
              </a:lvl1pPr>
            </a:lstStyle>
            <a:p>
              <a:r>
                <a:rPr lang="en-US" dirty="0"/>
                <a:t>Predicted Value ( y predicted)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503510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9390" y="205728"/>
            <a:ext cx="112821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We will use </a:t>
            </a:r>
            <a:r>
              <a:rPr lang="en-US" sz="1600" dirty="0" smtClean="0"/>
              <a:t>the </a:t>
            </a:r>
            <a:r>
              <a:rPr lang="en-US" sz="1600" b="1" dirty="0" smtClean="0"/>
              <a:t>Mean </a:t>
            </a:r>
            <a:r>
              <a:rPr lang="en-US" sz="1600" b="1" dirty="0"/>
              <a:t>Squared Error function </a:t>
            </a:r>
            <a:r>
              <a:rPr lang="en-US" sz="1600" dirty="0"/>
              <a:t>to </a:t>
            </a:r>
            <a:r>
              <a:rPr lang="en-US" sz="1600" dirty="0" smtClean="0"/>
              <a:t>calculate </a:t>
            </a:r>
            <a:r>
              <a:rPr lang="en-US" sz="1600" dirty="0"/>
              <a:t>the </a:t>
            </a:r>
            <a:r>
              <a:rPr lang="en-US" sz="1600" dirty="0" smtClean="0"/>
              <a:t>loss. There </a:t>
            </a:r>
            <a:r>
              <a:rPr lang="en-US" sz="1600" dirty="0"/>
              <a:t>are three steps in this function:</a:t>
            </a:r>
            <a:endParaRPr lang="en-IN" sz="1600" dirty="0"/>
          </a:p>
        </p:txBody>
      </p:sp>
      <p:sp>
        <p:nvSpPr>
          <p:cNvPr id="3" name="Rectangle 2"/>
          <p:cNvSpPr/>
          <p:nvPr/>
        </p:nvSpPr>
        <p:spPr>
          <a:xfrm>
            <a:off x="1614985" y="783075"/>
            <a:ext cx="8457063" cy="861774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600" dirty="0"/>
              <a:t>Find the difference between the actual y and predicted y </a:t>
            </a:r>
            <a:r>
              <a:rPr lang="en-US" sz="1600" dirty="0" smtClean="0"/>
              <a:t>value (</a:t>
            </a:r>
            <a:r>
              <a:rPr lang="en-US" sz="1600" dirty="0"/>
              <a:t>y</a:t>
            </a:r>
            <a:r>
              <a:rPr lang="en-US" sz="1600" dirty="0" smtClean="0"/>
              <a:t>= mx + c</a:t>
            </a:r>
            <a:r>
              <a:rPr lang="en-US" sz="1600" dirty="0"/>
              <a:t>), for a given x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dirty="0"/>
              <a:t>Square this </a:t>
            </a:r>
            <a:r>
              <a:rPr lang="en-US" sz="1600" dirty="0" smtClean="0"/>
              <a:t>difference</a:t>
            </a:r>
            <a:endParaRPr lang="en-US" sz="1600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dirty="0"/>
              <a:t>find the means of squares for every value in X</a:t>
            </a:r>
            <a:endParaRPr lang="en-IN" sz="1600" dirty="0"/>
          </a:p>
        </p:txBody>
      </p:sp>
      <p:sp>
        <p:nvSpPr>
          <p:cNvPr id="5" name="Rectangle 4"/>
          <p:cNvSpPr/>
          <p:nvPr/>
        </p:nvSpPr>
        <p:spPr>
          <a:xfrm>
            <a:off x="2479343" y="3229306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Actual values- predicted values=Y-Y'</a:t>
            </a:r>
          </a:p>
          <a:p>
            <a:r>
              <a:rPr lang="en-US" sz="1400" dirty="0"/>
              <a:t>Where </a:t>
            </a:r>
            <a:r>
              <a:rPr lang="en-US" sz="1400" dirty="0">
                <a:solidFill>
                  <a:srgbClr val="CC3300"/>
                </a:solidFill>
              </a:rPr>
              <a:t>Y</a:t>
            </a:r>
            <a:r>
              <a:rPr lang="en-US" sz="1400" dirty="0"/>
              <a:t>=</a:t>
            </a:r>
            <a:r>
              <a:rPr lang="en-US" sz="1400" dirty="0">
                <a:solidFill>
                  <a:srgbClr val="CC3300"/>
                </a:solidFill>
              </a:rPr>
              <a:t>Actual Value</a:t>
            </a:r>
          </a:p>
          <a:p>
            <a:r>
              <a:rPr lang="en-US" sz="1400" dirty="0">
                <a:solidFill>
                  <a:srgbClr val="CC3300"/>
                </a:solidFill>
              </a:rPr>
              <a:t>Y'</a:t>
            </a:r>
            <a:r>
              <a:rPr lang="en-US" sz="1400" dirty="0"/>
              <a:t>=</a:t>
            </a:r>
            <a:r>
              <a:rPr lang="en-US" sz="1400" dirty="0">
                <a:solidFill>
                  <a:srgbClr val="CC3300"/>
                </a:solidFill>
              </a:rPr>
              <a:t>Predicted value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809" y="2115678"/>
            <a:ext cx="6209731" cy="3704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8497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3163" y="287824"/>
            <a:ext cx="7801972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Similarly </a:t>
            </a:r>
            <a:r>
              <a:rPr lang="en-US" sz="1600" dirty="0"/>
              <a:t>,We have to find this cost function for all data </a:t>
            </a:r>
            <a:r>
              <a:rPr lang="en-US" sz="1600" dirty="0" smtClean="0"/>
              <a:t>points, then </a:t>
            </a:r>
            <a:r>
              <a:rPr lang="en-US" sz="1600" dirty="0"/>
              <a:t>we can write like this:</a:t>
            </a:r>
          </a:p>
          <a:p>
            <a:endParaRPr lang="en-US" sz="1600" dirty="0"/>
          </a:p>
          <a:p>
            <a:r>
              <a:rPr lang="en-US" sz="1600" dirty="0"/>
              <a:t>Cost function0(d0)=Y0-Y0</a:t>
            </a:r>
            <a:r>
              <a:rPr lang="en-US" sz="1600" dirty="0" smtClean="0"/>
              <a:t>'</a:t>
            </a:r>
            <a:endParaRPr lang="en-US" sz="1600" dirty="0"/>
          </a:p>
          <a:p>
            <a:r>
              <a:rPr lang="en-US" sz="1600" dirty="0"/>
              <a:t>Cost </a:t>
            </a:r>
            <a:r>
              <a:rPr lang="en-US" sz="1600" dirty="0" smtClean="0"/>
              <a:t>function1(d1)=Y1-Y1'</a:t>
            </a:r>
            <a:endParaRPr lang="en-US" sz="1600" dirty="0"/>
          </a:p>
          <a:p>
            <a:r>
              <a:rPr lang="en-US" sz="1600" dirty="0"/>
              <a:t>Cost </a:t>
            </a:r>
            <a:r>
              <a:rPr lang="en-US" sz="1600" dirty="0" smtClean="0"/>
              <a:t>function2(d2)=Y2-Y2'</a:t>
            </a:r>
            <a:endParaRPr lang="en-US" sz="1600" dirty="0"/>
          </a:p>
          <a:p>
            <a:r>
              <a:rPr lang="en-US" sz="1600" dirty="0"/>
              <a:t>Cost </a:t>
            </a:r>
            <a:r>
              <a:rPr lang="en-US" sz="1600" dirty="0" smtClean="0"/>
              <a:t>function3(d3)=Y3-Y3'</a:t>
            </a:r>
            <a:endParaRPr lang="en-US" sz="1600" dirty="0"/>
          </a:p>
          <a:p>
            <a:r>
              <a:rPr lang="en-US" sz="1600" dirty="0" smtClean="0"/>
              <a:t>………………………………………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 smtClean="0"/>
              <a:t>……………………………………….</a:t>
            </a:r>
            <a:endParaRPr lang="en-US" sz="1600" dirty="0"/>
          </a:p>
          <a:p>
            <a:r>
              <a:rPr lang="en-US" sz="1600" dirty="0"/>
              <a:t>Cost </a:t>
            </a:r>
            <a:r>
              <a:rPr lang="en-US" sz="1600" dirty="0" smtClean="0"/>
              <a:t>function n( </a:t>
            </a:r>
            <a:r>
              <a:rPr lang="en-US" sz="1600" dirty="0" err="1" smtClean="0"/>
              <a:t>dn</a:t>
            </a:r>
            <a:r>
              <a:rPr lang="en-US" sz="1600" dirty="0" smtClean="0"/>
              <a:t>)=Yn-Yn'</a:t>
            </a:r>
            <a:endParaRPr lang="en-IN" sz="1600" dirty="0"/>
          </a:p>
        </p:txBody>
      </p:sp>
      <p:grpSp>
        <p:nvGrpSpPr>
          <p:cNvPr id="6" name="Group 5"/>
          <p:cNvGrpSpPr/>
          <p:nvPr/>
        </p:nvGrpSpPr>
        <p:grpSpPr>
          <a:xfrm>
            <a:off x="609322" y="3468920"/>
            <a:ext cx="3814827" cy="1080247"/>
            <a:chOff x="1412265" y="3866627"/>
            <a:chExt cx="3814827" cy="1080247"/>
          </a:xfrm>
        </p:grpSpPr>
        <p:sp>
          <p:nvSpPr>
            <p:cNvPr id="3" name="Rectangle 2"/>
            <p:cNvSpPr/>
            <p:nvPr/>
          </p:nvSpPr>
          <p:spPr>
            <a:xfrm>
              <a:off x="1412265" y="3866627"/>
              <a:ext cx="38148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Mean Squared Error Cost function equation</a:t>
              </a:r>
              <a:endParaRPr lang="en-IN" sz="1600" dirty="0"/>
            </a:p>
          </p:txBody>
        </p:sp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6342" y="4291823"/>
              <a:ext cx="2024702" cy="655051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" name="Group 9"/>
          <p:cNvGrpSpPr/>
          <p:nvPr/>
        </p:nvGrpSpPr>
        <p:grpSpPr>
          <a:xfrm>
            <a:off x="609322" y="4793514"/>
            <a:ext cx="7905884" cy="1012533"/>
            <a:chOff x="1295177" y="5167943"/>
            <a:chExt cx="7905884" cy="1012533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1876" y="5529601"/>
              <a:ext cx="2903901" cy="65087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Rectangle 4"/>
            <p:cNvSpPr/>
            <p:nvPr/>
          </p:nvSpPr>
          <p:spPr>
            <a:xfrm>
              <a:off x="1295177" y="5167943"/>
              <a:ext cx="790588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/>
                <a:t>Here Yi is the actual value and </a:t>
              </a:r>
              <a:r>
                <a:rPr lang="en-US" sz="1600" dirty="0" smtClean="0"/>
                <a:t>Y^i </a:t>
              </a:r>
              <a:r>
                <a:rPr lang="en-US" sz="1600" dirty="0"/>
                <a:t>is the predicted value</a:t>
              </a:r>
              <a:r>
                <a:rPr lang="en-US" sz="1600" dirty="0" smtClean="0"/>
                <a:t>, lets </a:t>
              </a:r>
              <a:r>
                <a:rPr lang="en-US" sz="1600" dirty="0"/>
                <a:t>substitute the value of </a:t>
              </a:r>
              <a:r>
                <a:rPr lang="en-US" sz="1600" dirty="0" smtClean="0"/>
                <a:t>Y^i</a:t>
              </a:r>
              <a:r>
                <a:rPr lang="en-US" sz="1600" dirty="0"/>
                <a:t>:</a:t>
              </a:r>
              <a:endParaRPr lang="en-IN" sz="1600" dirty="0"/>
            </a:p>
          </p:txBody>
        </p:sp>
      </p:grpSp>
      <p:sp>
        <p:nvSpPr>
          <p:cNvPr id="7" name="Rectangle 6"/>
          <p:cNvSpPr/>
          <p:nvPr/>
        </p:nvSpPr>
        <p:spPr>
          <a:xfrm>
            <a:off x="609322" y="5932629"/>
            <a:ext cx="113461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So we square the error and find the </a:t>
            </a:r>
            <a:r>
              <a:rPr lang="en-US" sz="1600" dirty="0" smtClean="0"/>
              <a:t>mean, hence </a:t>
            </a:r>
            <a:r>
              <a:rPr lang="en-US" sz="1600" dirty="0"/>
              <a:t>the name Mean Squared </a:t>
            </a:r>
            <a:r>
              <a:rPr lang="en-US" sz="1600" dirty="0" smtClean="0"/>
              <a:t>Error. Now </a:t>
            </a:r>
            <a:r>
              <a:rPr lang="en-US" sz="1600" dirty="0"/>
              <a:t>that we have defined the loss </a:t>
            </a:r>
            <a:r>
              <a:rPr lang="en-US" sz="1600" dirty="0" smtClean="0"/>
              <a:t>function, lets </a:t>
            </a:r>
            <a:r>
              <a:rPr lang="en-US" sz="1600" dirty="0"/>
              <a:t>get into in the interesting </a:t>
            </a:r>
            <a:r>
              <a:rPr lang="en-US" sz="1600" dirty="0" smtClean="0"/>
              <a:t>part- minimizing </a:t>
            </a:r>
            <a:r>
              <a:rPr lang="en-US" sz="1600" dirty="0"/>
              <a:t>it and find m and c by </a:t>
            </a:r>
            <a:r>
              <a:rPr lang="en-US" sz="1600" b="1" dirty="0" smtClean="0">
                <a:latin typeface="Bahnschrift SemiLight" pitchFamily="34" charset="0"/>
              </a:rPr>
              <a:t>Gradient Descent</a:t>
            </a:r>
            <a:endParaRPr lang="en-IN" sz="1600" b="1" dirty="0">
              <a:latin typeface="Bahnschrift SemiLight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41193" y="3102239"/>
            <a:ext cx="11614245" cy="6823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249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Navigating the Future of Learning​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3351249" y="2043331"/>
            <a:ext cx="3953251" cy="379147"/>
            <a:chOff x="3351249" y="2043331"/>
            <a:chExt cx="3953251" cy="379147"/>
          </a:xfrm>
        </p:grpSpPr>
        <p:sp>
          <p:nvSpPr>
            <p:cNvPr id="5" name="Rectangle 4"/>
            <p:cNvSpPr/>
            <p:nvPr/>
          </p:nvSpPr>
          <p:spPr>
            <a:xfrm>
              <a:off x="5433410" y="2043331"/>
              <a:ext cx="1871090" cy="369332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Model accuracy↓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351249" y="2053146"/>
              <a:ext cx="1640834" cy="369332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Cost function↑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351249" y="3103730"/>
            <a:ext cx="3953251" cy="392036"/>
            <a:chOff x="3351249" y="2806132"/>
            <a:chExt cx="3953251" cy="392036"/>
          </a:xfrm>
        </p:grpSpPr>
        <p:sp>
          <p:nvSpPr>
            <p:cNvPr id="3" name="Rectangle 2"/>
            <p:cNvSpPr/>
            <p:nvPr/>
          </p:nvSpPr>
          <p:spPr>
            <a:xfrm>
              <a:off x="3351249" y="2828836"/>
              <a:ext cx="1640834" cy="369332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 smtClean="0"/>
                <a:t>Cost </a:t>
              </a:r>
              <a:r>
                <a:rPr lang="en-US" dirty="0"/>
                <a:t>function</a:t>
              </a:r>
              <a:r>
                <a:rPr lang="en-US" dirty="0" smtClean="0"/>
                <a:t>↓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433410" y="2806132"/>
              <a:ext cx="1871090" cy="369332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Model accuracy↑</a:t>
              </a:r>
            </a:p>
          </p:txBody>
        </p:sp>
      </p:grpSp>
      <p:cxnSp>
        <p:nvCxnSpPr>
          <p:cNvPr id="11" name="Straight Connector 10"/>
          <p:cNvCxnSpPr/>
          <p:nvPr/>
        </p:nvCxnSpPr>
        <p:spPr>
          <a:xfrm>
            <a:off x="2620370" y="2729552"/>
            <a:ext cx="5322627" cy="5459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616291" y="479680"/>
            <a:ext cx="11284557" cy="400110"/>
            <a:chOff x="475264" y="556624"/>
            <a:chExt cx="11284557" cy="400110"/>
          </a:xfrm>
        </p:grpSpPr>
        <p:sp>
          <p:nvSpPr>
            <p:cNvPr id="2" name="Rectangle 1"/>
            <p:cNvSpPr/>
            <p:nvPr/>
          </p:nvSpPr>
          <p:spPr>
            <a:xfrm>
              <a:off x="791570" y="556624"/>
              <a:ext cx="1096825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The objective is to learn the values of parameters (aka feature weights) that minimize the cost function</a:t>
              </a:r>
              <a:r>
                <a:rPr lang="en-US" dirty="0" smtClean="0"/>
                <a:t>.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75264" y="556624"/>
              <a:ext cx="44114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2000" dirty="0"/>
                <a:t>➡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16291" y="1002900"/>
            <a:ext cx="10834180" cy="461665"/>
            <a:chOff x="616291" y="1002900"/>
            <a:chExt cx="10834180" cy="461665"/>
          </a:xfrm>
        </p:grpSpPr>
        <p:sp>
          <p:nvSpPr>
            <p:cNvPr id="14" name="Rectangle 13"/>
            <p:cNvSpPr/>
            <p:nvPr/>
          </p:nvSpPr>
          <p:spPr>
            <a:xfrm>
              <a:off x="932597" y="1002900"/>
              <a:ext cx="1051787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Most widely used </a:t>
              </a:r>
              <a:r>
                <a:rPr lang="en-US" sz="2400" dirty="0">
                  <a:solidFill>
                    <a:srgbClr val="FF4B21"/>
                  </a:solidFill>
                </a:rPr>
                <a:t>optimization technique to minimize the loss </a:t>
              </a:r>
              <a:r>
                <a:rPr lang="en-US" dirty="0"/>
                <a:t>is called the </a:t>
              </a:r>
              <a:r>
                <a:rPr lang="en-US" b="1" dirty="0"/>
                <a:t>Gradient Descent</a:t>
              </a:r>
              <a:r>
                <a:rPr lang="en-US" dirty="0"/>
                <a:t>.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16291" y="1002900"/>
              <a:ext cx="44114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2000" dirty="0"/>
                <a:t>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4087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56739" y="809472"/>
            <a:ext cx="44556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Let’s assume we’re doing a simple regression: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560" y="1538856"/>
            <a:ext cx="2458418" cy="740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3" name="Group 12"/>
          <p:cNvGrpSpPr/>
          <p:nvPr/>
        </p:nvGrpSpPr>
        <p:grpSpPr>
          <a:xfrm>
            <a:off x="497004" y="255474"/>
            <a:ext cx="2149948" cy="369332"/>
            <a:chOff x="497004" y="255474"/>
            <a:chExt cx="2149948" cy="369332"/>
          </a:xfrm>
        </p:grpSpPr>
        <p:sp>
          <p:nvSpPr>
            <p:cNvPr id="2" name="Rectangle 1"/>
            <p:cNvSpPr/>
            <p:nvPr/>
          </p:nvSpPr>
          <p:spPr>
            <a:xfrm>
              <a:off x="497004" y="255474"/>
              <a:ext cx="214994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b="1" dirty="0"/>
                <a:t>🔍 </a:t>
              </a:r>
              <a:r>
                <a:rPr lang="en-IN" dirty="0" smtClean="0"/>
                <a:t> </a:t>
              </a:r>
              <a:r>
                <a:rPr lang="en-IN" dirty="0" smtClean="0">
                  <a:latin typeface="Bahnschrift" pitchFamily="34" charset="0"/>
                </a:rPr>
                <a:t>Technical </a:t>
              </a:r>
              <a:r>
                <a:rPr lang="en-IN" dirty="0">
                  <a:latin typeface="Bahnschrift" pitchFamily="34" charset="0"/>
                </a:rPr>
                <a:t>Angle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497004" y="624806"/>
              <a:ext cx="2137014" cy="0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/>
          <p:cNvSpPr/>
          <p:nvPr/>
        </p:nvSpPr>
        <p:spPr>
          <a:xfrm>
            <a:off x="1958675" y="3014160"/>
            <a:ext cx="40165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This is called </a:t>
            </a:r>
            <a:r>
              <a:rPr lang="en-US" b="1" dirty="0">
                <a:solidFill>
                  <a:srgbClr val="00CC99"/>
                </a:solidFill>
              </a:rPr>
              <a:t>Mean Squared Error (MSE)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 rot="10800000" flipV="1">
            <a:off x="2524836" y="3528198"/>
            <a:ext cx="91712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itchFamily="34" charset="0"/>
                <a:cs typeface="Arial" charset="0"/>
              </a:rPr>
              <a:t>If the difference between the prediction and the actual value is large → the cost will be high.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itchFamily="34" charset="0"/>
                <a:cs typeface="Arial" charset="0"/>
              </a:rPr>
              <a:t>If the prediction is close to the actual value → the cost will be low.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24835" y="4542037"/>
            <a:ext cx="82841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goal of training is to bring this cost down to the </a:t>
            </a:r>
            <a:r>
              <a:rPr lang="en-US" b="1" dirty="0">
                <a:solidFill>
                  <a:srgbClr val="00B0F0"/>
                </a:solidFill>
              </a:rPr>
              <a:t>minimum possible value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5765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557939" y="200883"/>
            <a:ext cx="2776594" cy="369332"/>
            <a:chOff x="557939" y="200883"/>
            <a:chExt cx="2776594" cy="369332"/>
          </a:xfrm>
        </p:grpSpPr>
        <p:sp>
          <p:nvSpPr>
            <p:cNvPr id="2" name="Rectangle 1"/>
            <p:cNvSpPr/>
            <p:nvPr/>
          </p:nvSpPr>
          <p:spPr>
            <a:xfrm>
              <a:off x="557939" y="200883"/>
              <a:ext cx="27765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🚀</a:t>
              </a:r>
              <a:r>
                <a:rPr lang="en-US" dirty="0"/>
                <a:t> </a:t>
              </a:r>
              <a:r>
                <a:rPr lang="en-US" dirty="0" smtClean="0"/>
                <a:t> How </a:t>
              </a:r>
              <a:r>
                <a:rPr lang="en-US" dirty="0"/>
                <a:t>do we minimize it?</a:t>
              </a:r>
              <a:endParaRPr lang="en-IN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557939" y="570215"/>
              <a:ext cx="2776594" cy="0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1097593" y="1115283"/>
            <a:ext cx="4752840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sz="1600" dirty="0"/>
              <a:t>We use optimization techniques like </a:t>
            </a:r>
            <a:r>
              <a:rPr lang="en-IN" sz="1600" b="1" dirty="0"/>
              <a:t>Gradient Descent</a:t>
            </a:r>
            <a:r>
              <a:rPr lang="en-IN" sz="16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593" y="1505184"/>
            <a:ext cx="10557595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The model’s parameters (such as weights and biases) are adjusted step by step so that the cost function gradually decreases.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637244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Navigating the Future of Learning​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225430" y="200883"/>
            <a:ext cx="2250937" cy="360253"/>
            <a:chOff x="557939" y="200883"/>
            <a:chExt cx="2250937" cy="360253"/>
          </a:xfrm>
        </p:grpSpPr>
        <p:sp>
          <p:nvSpPr>
            <p:cNvPr id="5" name="Rectangle 4"/>
            <p:cNvSpPr/>
            <p:nvPr/>
          </p:nvSpPr>
          <p:spPr>
            <a:xfrm>
              <a:off x="557939" y="200883"/>
              <a:ext cx="2250937" cy="33855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D05E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</a:rPr>
                <a:t>🚀</a:t>
              </a:r>
              <a:r>
                <a:rPr lang="en-US" sz="1600" dirty="0">
                  <a:solidFill>
                    <a:schemeClr val="bg1"/>
                  </a:solidFill>
                </a:rPr>
                <a:t> </a:t>
              </a:r>
              <a:r>
                <a:rPr lang="en-US" sz="1600" dirty="0" smtClean="0">
                  <a:solidFill>
                    <a:schemeClr val="bg1"/>
                  </a:solidFill>
                </a:rPr>
                <a:t> </a:t>
              </a:r>
              <a:r>
                <a:rPr lang="en-US" sz="1600" dirty="0" smtClean="0">
                  <a:solidFill>
                    <a:schemeClr val="bg1"/>
                  </a:solidFill>
                  <a:latin typeface="Bahnschrift SemiBold" pitchFamily="34" charset="0"/>
                </a:rPr>
                <a:t>Loss Function</a:t>
              </a:r>
              <a:r>
                <a:rPr lang="en-IN" sz="1600" dirty="0" smtClean="0">
                  <a:solidFill>
                    <a:schemeClr val="bg1"/>
                  </a:solidFill>
                  <a:latin typeface="Bahnschrift SemiBold" pitchFamily="34" charset="0"/>
                </a:rPr>
                <a:t> Type</a:t>
              </a:r>
              <a:endParaRPr lang="en-US" sz="1600" dirty="0" smtClean="0">
                <a:solidFill>
                  <a:schemeClr val="bg1"/>
                </a:solidFill>
                <a:latin typeface="Bahnschrift SemiBold" pitchFamily="34" charset="0"/>
              </a:endParaRPr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557939" y="561136"/>
              <a:ext cx="2250937" cy="0"/>
            </a:xfrm>
            <a:prstGeom prst="line">
              <a:avLst/>
            </a:prstGeom>
            <a:ln>
              <a:solidFill>
                <a:srgbClr val="00D0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 8"/>
          <p:cNvSpPr/>
          <p:nvPr/>
        </p:nvSpPr>
        <p:spPr>
          <a:xfrm>
            <a:off x="1025392" y="786141"/>
            <a:ext cx="2536656" cy="3385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sz="1600" b="1" dirty="0"/>
              <a:t>Mean Absolute Error (MAE)</a:t>
            </a:r>
            <a:endParaRPr lang="en-IN" sz="1600" dirty="0"/>
          </a:p>
        </p:txBody>
      </p:sp>
      <p:sp>
        <p:nvSpPr>
          <p:cNvPr id="10" name="Rectangle 9"/>
          <p:cNvSpPr/>
          <p:nvPr/>
        </p:nvSpPr>
        <p:spPr>
          <a:xfrm>
            <a:off x="1025392" y="1193470"/>
            <a:ext cx="2536656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IN" sz="1600" b="1" dirty="0"/>
              <a:t>Mean Squared Error (MSE)</a:t>
            </a:r>
            <a:r>
              <a:rPr lang="en-IN" sz="16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483355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Navigating the Future of Learning​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018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37590</TotalTime>
  <Words>681</Words>
  <Application>Microsoft Office PowerPoint</Application>
  <PresentationFormat>Custom</PresentationFormat>
  <Paragraphs>84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1605</cp:revision>
  <dcterms:created xsi:type="dcterms:W3CDTF">2024-01-26T15:11:46Z</dcterms:created>
  <dcterms:modified xsi:type="dcterms:W3CDTF">2026-01-05T20:23:27Z</dcterms:modified>
</cp:coreProperties>
</file>