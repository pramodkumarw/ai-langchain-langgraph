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85" r:id="rId2"/>
    <p:sldId id="388" r:id="rId3"/>
    <p:sldId id="399" r:id="rId4"/>
    <p:sldId id="400" r:id="rId5"/>
    <p:sldId id="401" r:id="rId6"/>
    <p:sldId id="402" r:id="rId7"/>
    <p:sldId id="403" r:id="rId8"/>
    <p:sldId id="404" r:id="rId9"/>
    <p:sldId id="405" r:id="rId10"/>
    <p:sldId id="406" r:id="rId11"/>
    <p:sldId id="407" r:id="rId12"/>
    <p:sldId id="408" r:id="rId13"/>
    <p:sldId id="341" r:id="rId14"/>
    <p:sldId id="373" r:id="rId15"/>
    <p:sldId id="372" r:id="rId16"/>
    <p:sldId id="375" r:id="rId17"/>
    <p:sldId id="379" r:id="rId18"/>
    <p:sldId id="378" r:id="rId19"/>
    <p:sldId id="380" r:id="rId20"/>
    <p:sldId id="381" r:id="rId21"/>
    <p:sldId id="382" r:id="rId22"/>
    <p:sldId id="384" r:id="rId23"/>
    <p:sldId id="383" r:id="rId24"/>
    <p:sldId id="387" r:id="rId25"/>
    <p:sldId id="385" r:id="rId26"/>
    <p:sldId id="386" r:id="rId27"/>
    <p:sldId id="286" r:id="rId28"/>
    <p:sldId id="292" r:id="rId29"/>
    <p:sldId id="371" r:id="rId30"/>
    <p:sldId id="343" r:id="rId31"/>
    <p:sldId id="344" r:id="rId32"/>
    <p:sldId id="345" r:id="rId33"/>
    <p:sldId id="349" r:id="rId34"/>
    <p:sldId id="347" r:id="rId35"/>
    <p:sldId id="352" r:id="rId36"/>
    <p:sldId id="350" r:id="rId37"/>
    <p:sldId id="351" r:id="rId38"/>
    <p:sldId id="353" r:id="rId39"/>
    <p:sldId id="354" r:id="rId40"/>
    <p:sldId id="362" r:id="rId41"/>
    <p:sldId id="363" r:id="rId42"/>
    <p:sldId id="356" r:id="rId43"/>
    <p:sldId id="355" r:id="rId44"/>
    <p:sldId id="357" r:id="rId45"/>
    <p:sldId id="389" r:id="rId46"/>
    <p:sldId id="370" r:id="rId47"/>
    <p:sldId id="358" r:id="rId48"/>
    <p:sldId id="365" r:id="rId49"/>
    <p:sldId id="366" r:id="rId50"/>
    <p:sldId id="364" r:id="rId51"/>
    <p:sldId id="367" r:id="rId52"/>
    <p:sldId id="294" r:id="rId53"/>
    <p:sldId id="295" r:id="rId54"/>
    <p:sldId id="298" r:id="rId55"/>
    <p:sldId id="297" r:id="rId56"/>
    <p:sldId id="296" r:id="rId57"/>
    <p:sldId id="299"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53F305DE-E919-46C9-8C7C-4B59AF1E2526}">
          <p14:sldIdLst>
            <p14:sldId id="285"/>
            <p14:sldId id="388"/>
          </p14:sldIdLst>
        </p14:section>
        <p14:section name="Perceptron" id="{2EBB4FAB-0199-4124-A02D-EE0DE41FDE4C}">
          <p14:sldIdLst>
            <p14:sldId id="399"/>
            <p14:sldId id="400"/>
            <p14:sldId id="401"/>
            <p14:sldId id="402"/>
            <p14:sldId id="403"/>
            <p14:sldId id="404"/>
            <p14:sldId id="405"/>
            <p14:sldId id="406"/>
            <p14:sldId id="407"/>
          </p14:sldIdLst>
        </p14:section>
        <p14:section name="Function of ML- freq. used" id="{5E205FFB-8EB0-43E6-9C5F-8D5158FE5F48}">
          <p14:sldIdLst>
            <p14:sldId id="408"/>
          </p14:sldIdLst>
        </p14:section>
        <p14:section name="Components of NN" id="{339CB216-9BBB-4E69-B914-82B559EAF8B6}">
          <p14:sldIdLst>
            <p14:sldId id="341"/>
            <p14:sldId id="373"/>
            <p14:sldId id="372"/>
            <p14:sldId id="375"/>
          </p14:sldIdLst>
        </p14:section>
        <p14:section name="Activation Function" id="{E1BAC7AF-61D8-4DEC-BAD0-FB23394DF7F4}">
          <p14:sldIdLst>
            <p14:sldId id="379"/>
            <p14:sldId id="378"/>
            <p14:sldId id="380"/>
            <p14:sldId id="381"/>
          </p14:sldIdLst>
        </p14:section>
        <p14:section name="Maths Behind NN" id="{B695F269-4531-442C-8DBE-28D36EC893B4}">
          <p14:sldIdLst>
            <p14:sldId id="382"/>
            <p14:sldId id="384"/>
            <p14:sldId id="383"/>
            <p14:sldId id="387"/>
            <p14:sldId id="385"/>
            <p14:sldId id="386"/>
          </p14:sldIdLst>
        </p14:section>
        <p14:section name="ANN,CNN,RNN" id="{EAF7085A-7B4C-4504-AD28-8357C10D009F}">
          <p14:sldIdLst>
            <p14:sldId id="286"/>
            <p14:sldId id="292"/>
          </p14:sldIdLst>
        </p14:section>
        <p14:section name="ANN" id="{08FF2E01-533A-49DD-B940-B83885340ADF}">
          <p14:sldIdLst>
            <p14:sldId id="371"/>
          </p14:sldIdLst>
        </p14:section>
        <p14:section name="RNN" id="{FF42B8AC-D1D8-48B7-BEAF-D01F0FE483A4}">
          <p14:sldIdLst>
            <p14:sldId id="343"/>
            <p14:sldId id="344"/>
            <p14:sldId id="345"/>
            <p14:sldId id="349"/>
            <p14:sldId id="347"/>
            <p14:sldId id="352"/>
            <p14:sldId id="350"/>
            <p14:sldId id="351"/>
          </p14:sldIdLst>
        </p14:section>
        <p14:section name="Types of RNN" id="{6490EC17-99BD-4AB0-B260-08E67A057EE4}">
          <p14:sldIdLst>
            <p14:sldId id="353"/>
            <p14:sldId id="354"/>
            <p14:sldId id="362"/>
            <p14:sldId id="363"/>
          </p14:sldIdLst>
        </p14:section>
        <p14:section name="Problem with RNN" id="{461EC67C-0FEA-4426-A02E-183396CCE3AC}">
          <p14:sldIdLst>
            <p14:sldId id="356"/>
            <p14:sldId id="355"/>
            <p14:sldId id="357"/>
            <p14:sldId id="389"/>
          </p14:sldIdLst>
        </p14:section>
        <p14:section name="LSTM" id="{724C6469-92D2-4BF4-83D8-7DFA3F76886E}">
          <p14:sldIdLst>
            <p14:sldId id="370"/>
            <p14:sldId id="358"/>
            <p14:sldId id="365"/>
            <p14:sldId id="366"/>
            <p14:sldId id="364"/>
            <p14:sldId id="367"/>
          </p14:sldIdLst>
        </p14:section>
        <p14:section name="Neural Network-Layman term" id="{E4CE2632-8479-4259-B5AF-FE7D641A66E4}">
          <p14:sldIdLst>
            <p14:sldId id="294"/>
            <p14:sldId id="295"/>
            <p14:sldId id="298"/>
            <p14:sldId id="297"/>
            <p14:sldId id="296"/>
            <p14:sldId id="299"/>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743"/>
    <a:srgbClr val="00D05E"/>
    <a:srgbClr val="FF0066"/>
    <a:srgbClr val="FF4B21"/>
    <a:srgbClr val="CC3300"/>
    <a:srgbClr val="00CC99"/>
    <a:srgbClr val="15C2FF"/>
    <a:srgbClr val="FFCC29"/>
    <a:srgbClr val="F5E47F"/>
    <a:srgbClr val="F2D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89" autoAdjust="0"/>
    <p:restoredTop sz="98577" autoAdjust="0"/>
  </p:normalViewPr>
  <p:slideViewPr>
    <p:cSldViewPr snapToGrid="0">
      <p:cViewPr>
        <p:scale>
          <a:sx n="80" d="100"/>
          <a:sy n="80" d="100"/>
        </p:scale>
        <p:origin x="-120" y="-3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90"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02-01-2026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dirty="0"/>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57</a:t>
            </a:fld>
            <a:endParaRPr lang="en-IN" dirty="0"/>
          </a:p>
        </p:txBody>
      </p:sp>
    </p:spTree>
    <p:extLst>
      <p:ext uri="{BB962C8B-B14F-4D97-AF65-F5344CB8AC3E}">
        <p14:creationId xmlns:p14="http://schemas.microsoft.com/office/powerpoint/2010/main" val="20322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AB8C62A8-5E14-FA7C-D2D9-A91C5617AEE2}"/>
              </a:ext>
            </a:extLst>
          </p:cNvPr>
          <p:cNvSpPr>
            <a:spLocks noGrp="1"/>
          </p:cNvSpPr>
          <p:nvPr>
            <p:ph type="dt" sz="half" idx="10"/>
          </p:nvPr>
        </p:nvSpPr>
        <p:spPr/>
        <p:txBody>
          <a:bodyPr/>
          <a:lstStyle/>
          <a:p>
            <a:fld id="{617C7221-54BD-4A63-8AE7-749436A8A0E0}" type="datetime1">
              <a:rPr lang="en-US" smtClean="0"/>
              <a:t>1/2/2026</a:t>
            </a:fld>
            <a:endParaRPr lang="en-US" dirty="0"/>
          </a:p>
        </p:txBody>
      </p:sp>
      <p:sp>
        <p:nvSpPr>
          <p:cNvPr id="5" name="Footer Placeholder 4">
            <a:extLst>
              <a:ext uri="{FF2B5EF4-FFF2-40B4-BE49-F238E27FC236}">
                <a16:creationId xmlns="" xmlns:a16="http://schemas.microsoft.com/office/drawing/2014/main" id="{EA5CADB1-111D-22D3-EDB1-E043DC323ABF}"/>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34537FB2-C318-A7C1-BABA-0AC6FA5B35AC}"/>
              </a:ext>
            </a:extLst>
          </p:cNvPr>
          <p:cNvSpPr>
            <a:spLocks noGrp="1"/>
          </p:cNvSpPr>
          <p:nvPr>
            <p:ph type="dt" sz="half" idx="10"/>
          </p:nvPr>
        </p:nvSpPr>
        <p:spPr/>
        <p:txBody>
          <a:bodyPr/>
          <a:lstStyle/>
          <a:p>
            <a:fld id="{15296570-B1EA-4487-BE32-F708B8E167B2}" type="datetime1">
              <a:rPr lang="en-US" smtClean="0"/>
              <a:t>1/2/2026</a:t>
            </a:fld>
            <a:endParaRPr lang="en-US" dirty="0"/>
          </a:p>
        </p:txBody>
      </p:sp>
      <p:sp>
        <p:nvSpPr>
          <p:cNvPr id="5" name="Footer Placeholder 4">
            <a:extLst>
              <a:ext uri="{FF2B5EF4-FFF2-40B4-BE49-F238E27FC236}">
                <a16:creationId xmlns="" xmlns:a16="http://schemas.microsoft.com/office/drawing/2014/main" id="{914FC2A1-527D-0AA9-D04D-3D2766CE0E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88B15D29-75FB-CFE9-A973-A208274B95BA}"/>
              </a:ext>
            </a:extLst>
          </p:cNvPr>
          <p:cNvSpPr>
            <a:spLocks noGrp="1"/>
          </p:cNvSpPr>
          <p:nvPr>
            <p:ph type="dt" sz="half" idx="10"/>
          </p:nvPr>
        </p:nvSpPr>
        <p:spPr/>
        <p:txBody>
          <a:bodyPr/>
          <a:lstStyle/>
          <a:p>
            <a:fld id="{4F9442CB-DE38-41A3-9AEC-FC7F477AE398}" type="datetime1">
              <a:rPr lang="en-US" smtClean="0"/>
              <a:t>1/2/2026</a:t>
            </a:fld>
            <a:endParaRPr lang="en-US" dirty="0"/>
          </a:p>
        </p:txBody>
      </p:sp>
      <p:sp>
        <p:nvSpPr>
          <p:cNvPr id="5" name="Footer Placeholder 4">
            <a:extLst>
              <a:ext uri="{FF2B5EF4-FFF2-40B4-BE49-F238E27FC236}">
                <a16:creationId xmlns="" xmlns:a16="http://schemas.microsoft.com/office/drawing/2014/main" id="{E9168659-4604-1E12-A046-E65E9BFA0D3E}"/>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D29CEC8B-FF84-E5F1-CD4B-B7DEE25F0DBA}"/>
              </a:ext>
            </a:extLst>
          </p:cNvPr>
          <p:cNvSpPr>
            <a:spLocks noGrp="1"/>
          </p:cNvSpPr>
          <p:nvPr>
            <p:ph type="dt" sz="half" idx="10"/>
          </p:nvPr>
        </p:nvSpPr>
        <p:spPr/>
        <p:txBody>
          <a:bodyPr/>
          <a:lstStyle/>
          <a:p>
            <a:fld id="{4259B145-4D2C-4B0D-B0F3-3793104D85F9}" type="datetime1">
              <a:rPr lang="en-US" smtClean="0"/>
              <a:t>1/2/2026</a:t>
            </a:fld>
            <a:endParaRPr lang="en-US" dirty="0"/>
          </a:p>
        </p:txBody>
      </p:sp>
      <p:sp>
        <p:nvSpPr>
          <p:cNvPr id="6" name="Footer Placeholder 5">
            <a:extLst>
              <a:ext uri="{FF2B5EF4-FFF2-40B4-BE49-F238E27FC236}">
                <a16:creationId xmlns="" xmlns:a16="http://schemas.microsoft.com/office/drawing/2014/main" id="{083D1157-B890-E7C2-8551-9CFA55DF17F2}"/>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12806B38-A61F-CFF2-455E-2A0DB1CBD281}"/>
              </a:ext>
            </a:extLst>
          </p:cNvPr>
          <p:cNvSpPr>
            <a:spLocks noGrp="1"/>
          </p:cNvSpPr>
          <p:nvPr>
            <p:ph type="dt" sz="half" idx="10"/>
          </p:nvPr>
        </p:nvSpPr>
        <p:spPr/>
        <p:txBody>
          <a:bodyPr/>
          <a:lstStyle/>
          <a:p>
            <a:fld id="{041CBCE3-C8C5-4329-ADE4-5F8D67D78882}" type="datetime1">
              <a:rPr lang="en-US" smtClean="0"/>
              <a:t>1/2/2026</a:t>
            </a:fld>
            <a:endParaRPr lang="en-US" dirty="0"/>
          </a:p>
        </p:txBody>
      </p:sp>
      <p:sp>
        <p:nvSpPr>
          <p:cNvPr id="8" name="Footer Placeholder 7">
            <a:extLst>
              <a:ext uri="{FF2B5EF4-FFF2-40B4-BE49-F238E27FC236}">
                <a16:creationId xmlns="" xmlns:a16="http://schemas.microsoft.com/office/drawing/2014/main" id="{0A1ADB39-BBED-F460-3284-9B01BBA78120}"/>
              </a:ext>
            </a:extLst>
          </p:cNvPr>
          <p:cNvSpPr>
            <a:spLocks noGrp="1"/>
          </p:cNvSpPr>
          <p:nvPr>
            <p:ph type="ftr" sz="quarter" idx="11"/>
          </p:nvPr>
        </p:nvSpPr>
        <p:spPr/>
        <p:txBody>
          <a:bodyPr/>
          <a:lstStyle/>
          <a:p>
            <a:r>
              <a:rPr lang="en-US" dirty="0"/>
              <a:t>Navigating the Future of Learning​</a:t>
            </a:r>
          </a:p>
        </p:txBody>
      </p:sp>
      <p:sp>
        <p:nvSpPr>
          <p:cNvPr id="9" name="Slide Number Placeholder 8">
            <a:extLst>
              <a:ext uri="{FF2B5EF4-FFF2-40B4-BE49-F238E27FC236}">
                <a16:creationId xmlns="" xmlns:a16="http://schemas.microsoft.com/office/drawing/2014/main"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1B459199-60FE-8A27-4D17-58FA57F038D5}"/>
              </a:ext>
            </a:extLst>
          </p:cNvPr>
          <p:cNvSpPr>
            <a:spLocks noGrp="1"/>
          </p:cNvSpPr>
          <p:nvPr>
            <p:ph type="dt" sz="half" idx="10"/>
          </p:nvPr>
        </p:nvSpPr>
        <p:spPr/>
        <p:txBody>
          <a:bodyPr/>
          <a:lstStyle/>
          <a:p>
            <a:fld id="{EA95BDD6-391D-4D68-9A24-8E7CE46A4DC4}" type="datetime1">
              <a:rPr lang="en-US" smtClean="0"/>
              <a:t>1/2/2026</a:t>
            </a:fld>
            <a:endParaRPr lang="en-US" dirty="0"/>
          </a:p>
        </p:txBody>
      </p:sp>
      <p:sp>
        <p:nvSpPr>
          <p:cNvPr id="4" name="Footer Placeholder 3">
            <a:extLst>
              <a:ext uri="{FF2B5EF4-FFF2-40B4-BE49-F238E27FC236}">
                <a16:creationId xmlns="" xmlns:a16="http://schemas.microsoft.com/office/drawing/2014/main" id="{9B5772E0-839B-C3B1-7E64-0C8677352A57}"/>
              </a:ext>
            </a:extLst>
          </p:cNvPr>
          <p:cNvSpPr>
            <a:spLocks noGrp="1"/>
          </p:cNvSpPr>
          <p:nvPr>
            <p:ph type="ftr" sz="quarter" idx="11"/>
          </p:nvPr>
        </p:nvSpPr>
        <p:spPr/>
        <p:txBody>
          <a:bodyPr/>
          <a:lstStyle/>
          <a:p>
            <a:r>
              <a:rPr lang="en-US" dirty="0"/>
              <a:t>Navigating the Future of Learning​</a:t>
            </a:r>
          </a:p>
        </p:txBody>
      </p:sp>
      <p:sp>
        <p:nvSpPr>
          <p:cNvPr id="5" name="Slide Number Placeholder 4">
            <a:extLst>
              <a:ext uri="{FF2B5EF4-FFF2-40B4-BE49-F238E27FC236}">
                <a16:creationId xmlns="" xmlns:a16="http://schemas.microsoft.com/office/drawing/2014/main"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271F3F0-F2B3-F675-7BAB-1AD2134ACD0F}"/>
              </a:ext>
            </a:extLst>
          </p:cNvPr>
          <p:cNvSpPr>
            <a:spLocks noGrp="1"/>
          </p:cNvSpPr>
          <p:nvPr>
            <p:ph type="dt" sz="half" idx="10"/>
          </p:nvPr>
        </p:nvSpPr>
        <p:spPr/>
        <p:txBody>
          <a:bodyPr/>
          <a:lstStyle/>
          <a:p>
            <a:fld id="{1B3E1E7A-3F60-43E8-97A9-E03FDFF3291A}" type="datetime1">
              <a:rPr lang="en-US" smtClean="0"/>
              <a:t>1/2/2026</a:t>
            </a:fld>
            <a:endParaRPr lang="en-US" dirty="0"/>
          </a:p>
        </p:txBody>
      </p:sp>
      <p:sp>
        <p:nvSpPr>
          <p:cNvPr id="3" name="Footer Placeholder 2">
            <a:extLst>
              <a:ext uri="{FF2B5EF4-FFF2-40B4-BE49-F238E27FC236}">
                <a16:creationId xmlns="" xmlns:a16="http://schemas.microsoft.com/office/drawing/2014/main" id="{1A44FB0A-DFB7-0737-F37C-440DCA486D73}"/>
              </a:ext>
            </a:extLst>
          </p:cNvPr>
          <p:cNvSpPr>
            <a:spLocks noGrp="1"/>
          </p:cNvSpPr>
          <p:nvPr>
            <p:ph type="ftr" sz="quarter" idx="11"/>
          </p:nvPr>
        </p:nvSpPr>
        <p:spPr/>
        <p:txBody>
          <a:bodyPr/>
          <a:lstStyle/>
          <a:p>
            <a:r>
              <a:rPr lang="en-US" dirty="0"/>
              <a:t>Navigating the Future of Learning​</a:t>
            </a:r>
          </a:p>
        </p:txBody>
      </p:sp>
      <p:sp>
        <p:nvSpPr>
          <p:cNvPr id="4" name="Slide Number Placeholder 3">
            <a:extLst>
              <a:ext uri="{FF2B5EF4-FFF2-40B4-BE49-F238E27FC236}">
                <a16:creationId xmlns="" xmlns:a16="http://schemas.microsoft.com/office/drawing/2014/main"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215BCDEF-8A4D-1FA5-888F-D5A3A2CEE9D4}"/>
              </a:ext>
            </a:extLst>
          </p:cNvPr>
          <p:cNvSpPr>
            <a:spLocks noGrp="1"/>
          </p:cNvSpPr>
          <p:nvPr>
            <p:ph type="dt" sz="half" idx="10"/>
          </p:nvPr>
        </p:nvSpPr>
        <p:spPr/>
        <p:txBody>
          <a:bodyPr/>
          <a:lstStyle/>
          <a:p>
            <a:fld id="{041F2EE0-C06F-41F5-AFE0-7056E3A01EDC}" type="datetime1">
              <a:rPr lang="en-US" smtClean="0"/>
              <a:t>1/2/2026</a:t>
            </a:fld>
            <a:endParaRPr lang="en-US" dirty="0"/>
          </a:p>
        </p:txBody>
      </p:sp>
      <p:sp>
        <p:nvSpPr>
          <p:cNvPr id="6" name="Footer Placeholder 5">
            <a:extLst>
              <a:ext uri="{FF2B5EF4-FFF2-40B4-BE49-F238E27FC236}">
                <a16:creationId xmlns="" xmlns:a16="http://schemas.microsoft.com/office/drawing/2014/main" id="{81C4BD8F-AAAC-F32F-ABC2-37A3D3BC6296}"/>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 xmlns:a16="http://schemas.microsoft.com/office/drawing/2014/main"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996AEC32-A02D-AF36-A64E-290A392B42FC}"/>
              </a:ext>
            </a:extLst>
          </p:cNvPr>
          <p:cNvSpPr>
            <a:spLocks noGrp="1"/>
          </p:cNvSpPr>
          <p:nvPr>
            <p:ph type="dt" sz="half" idx="10"/>
          </p:nvPr>
        </p:nvSpPr>
        <p:spPr/>
        <p:txBody>
          <a:bodyPr/>
          <a:lstStyle/>
          <a:p>
            <a:fld id="{93A105E1-88D0-4311-A599-0C8A6973053A}" type="datetime1">
              <a:rPr lang="en-US" smtClean="0"/>
              <a:t>1/2/2026</a:t>
            </a:fld>
            <a:endParaRPr lang="en-US" dirty="0"/>
          </a:p>
        </p:txBody>
      </p:sp>
      <p:sp>
        <p:nvSpPr>
          <p:cNvPr id="6" name="Footer Placeholder 5">
            <a:extLst>
              <a:ext uri="{FF2B5EF4-FFF2-40B4-BE49-F238E27FC236}">
                <a16:creationId xmlns="" xmlns:a16="http://schemas.microsoft.com/office/drawing/2014/main" id="{26B0ECF5-F111-F43D-1DD0-2623EE225A1F}"/>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1DDBB31-5065-A920-BCE3-A6379F318E85}"/>
              </a:ext>
            </a:extLst>
          </p:cNvPr>
          <p:cNvSpPr>
            <a:spLocks noGrp="1"/>
          </p:cNvSpPr>
          <p:nvPr>
            <p:ph type="dt" sz="half" idx="10"/>
          </p:nvPr>
        </p:nvSpPr>
        <p:spPr/>
        <p:txBody>
          <a:bodyPr/>
          <a:lstStyle/>
          <a:p>
            <a:fld id="{159EA562-091E-45D6-BEDF-3C68FB2023F1}" type="datetime1">
              <a:rPr lang="en-US" smtClean="0"/>
              <a:t>1/2/2026</a:t>
            </a:fld>
            <a:endParaRPr lang="en-US" dirty="0"/>
          </a:p>
        </p:txBody>
      </p:sp>
      <p:sp>
        <p:nvSpPr>
          <p:cNvPr id="5" name="Footer Placeholder 4">
            <a:extLst>
              <a:ext uri="{FF2B5EF4-FFF2-40B4-BE49-F238E27FC236}">
                <a16:creationId xmlns="" xmlns:a16="http://schemas.microsoft.com/office/drawing/2014/main" id="{8650F398-CC52-3E67-DDF6-C862313CC4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DA404C4-6EA5-D815-E9B2-7CDBB94E9D0D}"/>
              </a:ext>
            </a:extLst>
          </p:cNvPr>
          <p:cNvSpPr>
            <a:spLocks noGrp="1"/>
          </p:cNvSpPr>
          <p:nvPr>
            <p:ph type="dt" sz="half" idx="10"/>
          </p:nvPr>
        </p:nvSpPr>
        <p:spPr/>
        <p:txBody>
          <a:bodyPr/>
          <a:lstStyle/>
          <a:p>
            <a:fld id="{DDF14D94-52B8-43E9-A8F3-BD9E24437DA3}" type="datetime1">
              <a:rPr lang="en-US" smtClean="0"/>
              <a:t>1/2/2026</a:t>
            </a:fld>
            <a:endParaRPr lang="en-US" dirty="0"/>
          </a:p>
        </p:txBody>
      </p:sp>
      <p:sp>
        <p:nvSpPr>
          <p:cNvPr id="5" name="Footer Placeholder 4">
            <a:extLst>
              <a:ext uri="{FF2B5EF4-FFF2-40B4-BE49-F238E27FC236}">
                <a16:creationId xmlns="" xmlns:a16="http://schemas.microsoft.com/office/drawing/2014/main" id="{97EFDD0D-44E3-A86F-6F17-A722DA9F5AB5}"/>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1/2/2026</a:t>
            </a:fld>
            <a:endParaRPr lang="en-US" dirty="0"/>
          </a:p>
        </p:txBody>
      </p:sp>
      <p:sp>
        <p:nvSpPr>
          <p:cNvPr id="5" name="Footer Placeholder 4">
            <a:extLst>
              <a:ext uri="{FF2B5EF4-FFF2-40B4-BE49-F238E27FC236}">
                <a16:creationId xmlns="" xmlns:a16="http://schemas.microsoft.com/office/drawing/2014/main"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Navigating the Future of Learning​</a:t>
            </a:r>
          </a:p>
        </p:txBody>
      </p:sp>
      <p:sp>
        <p:nvSpPr>
          <p:cNvPr id="6" name="Slide Number Placeholder 5">
            <a:extLst>
              <a:ext uri="{FF2B5EF4-FFF2-40B4-BE49-F238E27FC236}">
                <a16:creationId xmlns="" xmlns:a16="http://schemas.microsoft.com/office/drawing/2014/main"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dirty="0"/>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0.xml"/><Relationship Id="rId7" Type="http://schemas.openxmlformats.org/officeDocument/2006/relationships/slide" Target="slide17.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 Target="slide4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hyperlink" Target="https://www.google.com/search?num=10&amp;newwindow=1&amp;sca_esv=40968150e120a79c&amp;rlz=1C1ONGR_enIN1176IN1176&amp;biw=1813&amp;bih=854&amp;sxsrf=AE3TifNgcRWjAsjRIw_zOU_8c-KrjcWsCQ:1763964064440&amp;q=sigmoid+function&amp;source=lnms&amp;fbs=AIIjpHxU7SXXniUZfeShr2fp4giZ1Y6MJ25_tmWITc7uy4KIegmO5mMVANqcM7XWkBOa06dn2D9OWgTLQfUrJnETgD74K6SEfsAH6_UMIpQhMcLwTNrqJgio_wiu8wnJyAP8BoclIqLdyOU_odFWwGWV3ipe08WREZgLcc24x-zxGLn7Iw1cp3FdCTooSI0v-KuT4tXwE5iXLeznTw6lmfqASe49S2SXt_FR4nqbc8rw-aozAHWT2NA&amp;sa=X&amp;ved=2ahUKEwi9i-qcjoqRAxXz-zgGHaaGOPsQgK4QegYIAQgAEAc"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cxnSp>
        <p:nvCxnSpPr>
          <p:cNvPr id="3" name="Straight Connector 2"/>
          <p:cNvCxnSpPr/>
          <p:nvPr/>
        </p:nvCxnSpPr>
        <p:spPr>
          <a:xfrm>
            <a:off x="6141493" y="1535723"/>
            <a:ext cx="13648" cy="532227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506796" y="4097983"/>
            <a:ext cx="2443370" cy="276999"/>
          </a:xfrm>
          <a:prstGeom prst="rect">
            <a:avLst/>
          </a:prstGeom>
          <a:solidFill>
            <a:srgbClr val="F5E47F"/>
          </a:solidFill>
          <a:ln>
            <a:solidFill>
              <a:schemeClr val="bg1">
                <a:lumMod val="75000"/>
              </a:schemeClr>
            </a:solidFill>
          </a:ln>
        </p:spPr>
        <p:txBody>
          <a:bodyPr wrap="square" rtlCol="0">
            <a:spAutoFit/>
          </a:bodyPr>
          <a:lstStyle/>
          <a:p>
            <a:r>
              <a:rPr lang="en-US" sz="1200" dirty="0">
                <a:latin typeface="Bahnschrift Light" pitchFamily="34" charset="0"/>
                <a:ea typeface="Arial Unicode MS" pitchFamily="34" charset="-128"/>
                <a:cs typeface="Arial Unicode MS" pitchFamily="34" charset="-128"/>
              </a:rPr>
              <a:t>ANN,CNN,RNN</a:t>
            </a:r>
            <a:endParaRPr lang="en-IN" sz="1200" dirty="0">
              <a:latin typeface="Bahnschrift Light" pitchFamily="34" charset="0"/>
              <a:ea typeface="Arial Unicode MS" pitchFamily="34" charset="-128"/>
              <a:cs typeface="Arial Unicode MS" pitchFamily="34" charset="-128"/>
            </a:endParaRPr>
          </a:p>
        </p:txBody>
      </p:sp>
      <p:sp>
        <p:nvSpPr>
          <p:cNvPr id="16" name="TextBox 15"/>
          <p:cNvSpPr txBox="1"/>
          <p:nvPr/>
        </p:nvSpPr>
        <p:spPr>
          <a:xfrm>
            <a:off x="6508276" y="2590642"/>
            <a:ext cx="2564728" cy="276999"/>
          </a:xfrm>
          <a:prstGeom prst="rect">
            <a:avLst/>
          </a:prstGeom>
          <a:solidFill>
            <a:schemeClr val="bg2">
              <a:lumMod val="90000"/>
            </a:schemeClr>
          </a:solidFill>
          <a:ln>
            <a:solidFill>
              <a:schemeClr val="bg1">
                <a:lumMod val="8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Backward error propagation</a:t>
            </a:r>
            <a:endParaRPr lang="en-IN" sz="1200" dirty="0">
              <a:latin typeface="Bahnschrift Light" pitchFamily="34" charset="0"/>
              <a:ea typeface="Arial Unicode MS" pitchFamily="34" charset="-128"/>
              <a:cs typeface="Arial Unicode MS" pitchFamily="34" charset="-128"/>
            </a:endParaRPr>
          </a:p>
        </p:txBody>
      </p:sp>
      <p:sp>
        <p:nvSpPr>
          <p:cNvPr id="17" name="TextBox 16"/>
          <p:cNvSpPr txBox="1"/>
          <p:nvPr/>
        </p:nvSpPr>
        <p:spPr>
          <a:xfrm>
            <a:off x="6523039" y="1542342"/>
            <a:ext cx="2564729" cy="276999"/>
          </a:xfrm>
          <a:prstGeom prst="rect">
            <a:avLst/>
          </a:prstGeom>
          <a:solidFill>
            <a:schemeClr val="accent4">
              <a:lumMod val="40000"/>
              <a:lumOff val="60000"/>
            </a:schemeClr>
          </a:solidFill>
          <a:ln>
            <a:solidFill>
              <a:schemeClr val="bg1">
                <a:lumMod val="8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Neural Network –How it works</a:t>
            </a:r>
            <a:endParaRPr lang="en-IN" sz="1200" dirty="0">
              <a:latin typeface="Bahnschrift Light" pitchFamily="34" charset="0"/>
              <a:ea typeface="Arial Unicode MS" pitchFamily="34" charset="-128"/>
              <a:cs typeface="Arial Unicode MS" pitchFamily="34" charset="-128"/>
            </a:endParaRPr>
          </a:p>
        </p:txBody>
      </p:sp>
      <p:cxnSp>
        <p:nvCxnSpPr>
          <p:cNvPr id="18" name="Straight Connector 17"/>
          <p:cNvCxnSpPr/>
          <p:nvPr/>
        </p:nvCxnSpPr>
        <p:spPr>
          <a:xfrm>
            <a:off x="1126638" y="1038851"/>
            <a:ext cx="1093640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506796" y="4466783"/>
            <a:ext cx="2421558" cy="276999"/>
          </a:xfrm>
          <a:prstGeom prst="rect">
            <a:avLst/>
          </a:prstGeom>
          <a:solidFill>
            <a:schemeClr val="accent4">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ANN</a:t>
            </a:r>
            <a:endParaRPr lang="en-IN" sz="1200" dirty="0">
              <a:latin typeface="Bahnschrift Light" pitchFamily="34" charset="0"/>
              <a:ea typeface="Arial Unicode MS" pitchFamily="34" charset="-128"/>
              <a:cs typeface="Arial Unicode MS" pitchFamily="34" charset="-128"/>
            </a:endParaRPr>
          </a:p>
        </p:txBody>
      </p:sp>
      <p:sp>
        <p:nvSpPr>
          <p:cNvPr id="13" name="TextBox 12">
            <a:hlinkClick r:id="rId3" action="ppaction://hlinksldjump"/>
          </p:cNvPr>
          <p:cNvSpPr txBox="1"/>
          <p:nvPr/>
        </p:nvSpPr>
        <p:spPr>
          <a:xfrm>
            <a:off x="1506796" y="4788897"/>
            <a:ext cx="2421558" cy="276999"/>
          </a:xfrm>
          <a:prstGeom prst="rect">
            <a:avLst/>
          </a:prstGeom>
          <a:solidFill>
            <a:schemeClr val="accent2">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hlinkClick r:id="rId3" action="ppaction://hlinksldjump"/>
              </a:rPr>
              <a:t>RNN</a:t>
            </a:r>
            <a:endParaRPr lang="en-IN" sz="1200" dirty="0">
              <a:latin typeface="Bahnschrift Light" pitchFamily="34" charset="0"/>
              <a:ea typeface="Arial Unicode MS" pitchFamily="34" charset="-128"/>
              <a:cs typeface="Arial Unicode MS" pitchFamily="34" charset="-128"/>
            </a:endParaRPr>
          </a:p>
        </p:txBody>
      </p:sp>
      <p:grpSp>
        <p:nvGrpSpPr>
          <p:cNvPr id="2" name="Group 1"/>
          <p:cNvGrpSpPr/>
          <p:nvPr/>
        </p:nvGrpSpPr>
        <p:grpSpPr>
          <a:xfrm>
            <a:off x="2467226" y="5161273"/>
            <a:ext cx="2443370" cy="837354"/>
            <a:chOff x="1871428" y="3642863"/>
            <a:chExt cx="2443370" cy="837354"/>
          </a:xfrm>
        </p:grpSpPr>
        <p:sp>
          <p:nvSpPr>
            <p:cNvPr id="14" name="TextBox 13">
              <a:hlinkClick r:id="rId3" action="ppaction://hlinksldjump"/>
            </p:cNvPr>
            <p:cNvSpPr txBox="1"/>
            <p:nvPr/>
          </p:nvSpPr>
          <p:spPr>
            <a:xfrm>
              <a:off x="1871428" y="3642863"/>
              <a:ext cx="2443370" cy="276999"/>
            </a:xfrm>
            <a:prstGeom prst="rect">
              <a:avLst/>
            </a:prstGeom>
            <a:solidFill>
              <a:schemeClr val="accent2">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Type of RNN</a:t>
              </a:r>
              <a:endParaRPr lang="en-IN" sz="1200" dirty="0">
                <a:latin typeface="Bahnschrift Light" pitchFamily="34" charset="0"/>
                <a:ea typeface="Arial Unicode MS" pitchFamily="34" charset="-128"/>
                <a:cs typeface="Arial Unicode MS" pitchFamily="34" charset="-128"/>
              </a:endParaRPr>
            </a:p>
          </p:txBody>
        </p:sp>
        <p:sp>
          <p:nvSpPr>
            <p:cNvPr id="19" name="TextBox 18">
              <a:hlinkClick r:id="rId3" action="ppaction://hlinksldjump"/>
            </p:cNvPr>
            <p:cNvSpPr txBox="1"/>
            <p:nvPr/>
          </p:nvSpPr>
          <p:spPr>
            <a:xfrm>
              <a:off x="1871428" y="3919862"/>
              <a:ext cx="2443370" cy="276999"/>
            </a:xfrm>
            <a:prstGeom prst="rect">
              <a:avLst/>
            </a:prstGeom>
            <a:solidFill>
              <a:schemeClr val="accent2">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Problem with RNN</a:t>
              </a:r>
              <a:endParaRPr lang="en-IN" sz="1200" dirty="0">
                <a:latin typeface="Bahnschrift Light" pitchFamily="34" charset="0"/>
                <a:ea typeface="Arial Unicode MS" pitchFamily="34" charset="-128"/>
                <a:cs typeface="Arial Unicode MS" pitchFamily="34" charset="-128"/>
              </a:endParaRPr>
            </a:p>
          </p:txBody>
        </p:sp>
        <p:sp>
          <p:nvSpPr>
            <p:cNvPr id="20" name="TextBox 19">
              <a:hlinkClick r:id="rId3" action="ppaction://hlinksldjump"/>
            </p:cNvPr>
            <p:cNvSpPr txBox="1"/>
            <p:nvPr/>
          </p:nvSpPr>
          <p:spPr>
            <a:xfrm>
              <a:off x="1871428" y="4203218"/>
              <a:ext cx="2443370" cy="276999"/>
            </a:xfrm>
            <a:prstGeom prst="rect">
              <a:avLst/>
            </a:prstGeom>
            <a:solidFill>
              <a:schemeClr val="accent2">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hlinkClick r:id="rId4" action="ppaction://hlinksldjump"/>
                </a:rPr>
                <a:t>LSTM</a:t>
              </a:r>
              <a:endParaRPr lang="en-IN" sz="1200" dirty="0">
                <a:latin typeface="Bahnschrift Light" pitchFamily="34" charset="0"/>
                <a:ea typeface="Arial Unicode MS" pitchFamily="34" charset="-128"/>
                <a:cs typeface="Arial Unicode MS" pitchFamily="34" charset="-128"/>
              </a:endParaRPr>
            </a:p>
          </p:txBody>
        </p:sp>
      </p:grpSp>
      <p:sp>
        <p:nvSpPr>
          <p:cNvPr id="21" name="TextBox 20">
            <a:hlinkClick r:id="rId3" action="ppaction://hlinksldjump"/>
          </p:cNvPr>
          <p:cNvSpPr txBox="1"/>
          <p:nvPr/>
        </p:nvSpPr>
        <p:spPr>
          <a:xfrm>
            <a:off x="1506796" y="3778904"/>
            <a:ext cx="2443370" cy="276999"/>
          </a:xfrm>
          <a:prstGeom prst="rect">
            <a:avLst/>
          </a:prstGeom>
          <a:solidFill>
            <a:schemeClr val="accent6">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Time Series Data</a:t>
            </a:r>
            <a:endParaRPr lang="en-IN" sz="1200" dirty="0">
              <a:latin typeface="Bahnschrift Light" pitchFamily="34" charset="0"/>
              <a:ea typeface="Arial Unicode MS" pitchFamily="34" charset="-128"/>
              <a:cs typeface="Arial Unicode MS" pitchFamily="34" charset="-128"/>
            </a:endParaRPr>
          </a:p>
        </p:txBody>
      </p:sp>
      <p:sp>
        <p:nvSpPr>
          <p:cNvPr id="22" name="TextBox 21"/>
          <p:cNvSpPr txBox="1"/>
          <p:nvPr/>
        </p:nvSpPr>
        <p:spPr>
          <a:xfrm>
            <a:off x="6438922" y="4557681"/>
            <a:ext cx="2564728" cy="276999"/>
          </a:xfrm>
          <a:prstGeom prst="rect">
            <a:avLst/>
          </a:prstGeom>
          <a:solidFill>
            <a:srgbClr val="FFCC29"/>
          </a:solidFill>
          <a:ln>
            <a:solidFill>
              <a:schemeClr val="bg1">
                <a:lumMod val="85000"/>
              </a:schemeClr>
            </a:solidFill>
          </a:ln>
        </p:spPr>
        <p:txBody>
          <a:bodyPr wrap="square" rtlCol="0">
            <a:spAutoFit/>
          </a:bodyPr>
          <a:lstStyle>
            <a:defPPr>
              <a:defRPr lang="en-US"/>
            </a:defPPr>
            <a:lvl1pPr>
              <a:defRPr sz="1200">
                <a:latin typeface="Bahnschrift Light" pitchFamily="34" charset="0"/>
                <a:ea typeface="Arial Unicode MS" pitchFamily="34" charset="-128"/>
                <a:cs typeface="Arial Unicode MS" pitchFamily="34" charset="-128"/>
              </a:defRPr>
            </a:lvl1pPr>
          </a:lstStyle>
          <a:p>
            <a:r>
              <a:rPr lang="en-IN" dirty="0"/>
              <a:t>Neural Network-Layman term</a:t>
            </a:r>
          </a:p>
        </p:txBody>
      </p:sp>
      <p:sp>
        <p:nvSpPr>
          <p:cNvPr id="23" name="Google Shape;143;p1">
            <a:extLst>
              <a:ext uri="{FF2B5EF4-FFF2-40B4-BE49-F238E27FC236}">
                <a16:creationId xmlns:a16="http://schemas.microsoft.com/office/drawing/2014/main" xmlns="" id="{E4949A97-DC03-56A5-2E5A-3DD3913AA0EF}"/>
              </a:ext>
            </a:extLst>
          </p:cNvPr>
          <p:cNvSpPr txBox="1">
            <a:spLocks noGrp="1"/>
          </p:cNvSpPr>
          <p:nvPr/>
        </p:nvSpPr>
        <p:spPr>
          <a:xfrm>
            <a:off x="1774208" y="193757"/>
            <a:ext cx="4951915" cy="1113692"/>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sz="4400" b="1" dirty="0" smtClean="0">
                <a:solidFill>
                  <a:schemeClr val="tx1"/>
                </a:solidFill>
                <a:latin typeface="Segoe UI Black" pitchFamily="34" charset="0"/>
                <a:ea typeface="Segoe UI Black" pitchFamily="34" charset="0"/>
              </a:rPr>
              <a:t>Neural Network</a:t>
            </a:r>
          </a:p>
          <a:p>
            <a:endParaRPr lang="it-IT" sz="4000" b="1" dirty="0">
              <a:solidFill>
                <a:schemeClr val="tx1"/>
              </a:solidFill>
            </a:endParaRPr>
          </a:p>
        </p:txBody>
      </p:sp>
      <p:pic>
        <p:nvPicPr>
          <p:cNvPr id="2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1" y="1"/>
            <a:ext cx="1903189" cy="1577228"/>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24">
            <a:extLst>
              <a:ext uri="{FF2B5EF4-FFF2-40B4-BE49-F238E27FC236}">
                <a16:creationId xmlns:a16="http://schemas.microsoft.com/office/drawing/2014/main" xmlns="" id="{8E4B4487-5609-54AF-1FCA-AB3F6B737A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38918" y="42717"/>
            <a:ext cx="3201582" cy="1240173"/>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1506796" y="1542342"/>
            <a:ext cx="2474730" cy="925166"/>
            <a:chOff x="1522475" y="1942475"/>
            <a:chExt cx="2474730" cy="925166"/>
          </a:xfrm>
        </p:grpSpPr>
        <p:sp>
          <p:nvSpPr>
            <p:cNvPr id="9" name="TextBox 8"/>
            <p:cNvSpPr txBox="1"/>
            <p:nvPr/>
          </p:nvSpPr>
          <p:spPr>
            <a:xfrm>
              <a:off x="1522476" y="1942475"/>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200" dirty="0">
                  <a:latin typeface="Bahnschrift Light" pitchFamily="34" charset="0"/>
                  <a:ea typeface="Arial Unicode MS" pitchFamily="34" charset="-128"/>
                  <a:cs typeface="Arial Unicode MS" pitchFamily="34" charset="-128"/>
                </a:rPr>
                <a:t>Neural network &amp; History</a:t>
              </a:r>
              <a:endParaRPr lang="en-IN" sz="1200" dirty="0">
                <a:latin typeface="Bahnschrift Light" pitchFamily="34" charset="0"/>
                <a:ea typeface="Arial Unicode MS" pitchFamily="34" charset="-128"/>
                <a:cs typeface="Arial Unicode MS" pitchFamily="34" charset="-128"/>
              </a:endParaRPr>
            </a:p>
          </p:txBody>
        </p:sp>
        <p:sp>
          <p:nvSpPr>
            <p:cNvPr id="26" name="TextBox 25"/>
            <p:cNvSpPr txBox="1"/>
            <p:nvPr/>
          </p:nvSpPr>
          <p:spPr>
            <a:xfrm>
              <a:off x="1522475" y="2262356"/>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Component of Neural network</a:t>
              </a:r>
              <a:endParaRPr lang="en-IN" sz="1200" dirty="0">
                <a:latin typeface="Bahnschrift Light" pitchFamily="34" charset="0"/>
                <a:ea typeface="Arial Unicode MS" pitchFamily="34" charset="-128"/>
                <a:cs typeface="Arial Unicode MS" pitchFamily="34" charset="-128"/>
              </a:endParaRPr>
            </a:p>
          </p:txBody>
        </p:sp>
        <p:sp>
          <p:nvSpPr>
            <p:cNvPr id="27" name="TextBox 26"/>
            <p:cNvSpPr txBox="1"/>
            <p:nvPr/>
          </p:nvSpPr>
          <p:spPr>
            <a:xfrm>
              <a:off x="1522476" y="2590642"/>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hlinkClick r:id="rId7" action="ppaction://hlinksldjump"/>
                </a:rPr>
                <a:t>Activation Function</a:t>
              </a:r>
              <a:endParaRPr lang="en-IN" sz="1200" dirty="0">
                <a:latin typeface="Bahnschrift Light" pitchFamily="34" charset="0"/>
                <a:ea typeface="Arial Unicode MS" pitchFamily="34" charset="-128"/>
                <a:cs typeface="Arial Unicode MS" pitchFamily="34" charset="-128"/>
              </a:endParaRPr>
            </a:p>
          </p:txBody>
        </p:sp>
      </p:grpSp>
    </p:spTree>
    <p:extLst>
      <p:ext uri="{BB962C8B-B14F-4D97-AF65-F5344CB8AC3E}">
        <p14:creationId xmlns:p14="http://schemas.microsoft.com/office/powerpoint/2010/main" val="8045807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99370" y="5117964"/>
            <a:ext cx="1573829" cy="338554"/>
          </a:xfrm>
          <a:prstGeom prst="rect">
            <a:avLst/>
          </a:prstGeom>
          <a:solidFill>
            <a:schemeClr val="accent4">
              <a:lumMod val="20000"/>
              <a:lumOff val="80000"/>
            </a:schemeClr>
          </a:solidFill>
          <a:ln>
            <a:solidFill>
              <a:schemeClr val="bg1">
                <a:lumMod val="75000"/>
              </a:schemeClr>
            </a:solidFill>
          </a:ln>
        </p:spPr>
        <p:txBody>
          <a:bodyPr wrap="none">
            <a:spAutoFit/>
          </a:bodyPr>
          <a:lstStyle/>
          <a:p>
            <a:r>
              <a:rPr lang="en-IN" sz="1600" dirty="0"/>
              <a:t>feed forward NN</a:t>
            </a:r>
          </a:p>
        </p:txBody>
      </p:sp>
      <p:sp>
        <p:nvSpPr>
          <p:cNvPr id="6" name="Rectangle 5"/>
          <p:cNvSpPr/>
          <p:nvPr/>
        </p:nvSpPr>
        <p:spPr>
          <a:xfrm>
            <a:off x="7121701" y="2558114"/>
            <a:ext cx="2502545" cy="338554"/>
          </a:xfrm>
          <a:prstGeom prst="rect">
            <a:avLst/>
          </a:prstGeom>
          <a:solidFill>
            <a:schemeClr val="accent1">
              <a:lumMod val="20000"/>
              <a:lumOff val="80000"/>
            </a:schemeClr>
          </a:solidFill>
          <a:ln>
            <a:solidFill>
              <a:schemeClr val="bg1">
                <a:lumMod val="75000"/>
              </a:schemeClr>
            </a:solidFill>
          </a:ln>
        </p:spPr>
        <p:txBody>
          <a:bodyPr wrap="none">
            <a:spAutoFit/>
          </a:bodyPr>
          <a:lstStyle/>
          <a:p>
            <a:r>
              <a:rPr lang="en-IN" sz="1600" dirty="0"/>
              <a:t>Vanishing Gradient </a:t>
            </a:r>
            <a:r>
              <a:rPr lang="en-IN" sz="1600" dirty="0" smtClean="0"/>
              <a:t>Problem</a:t>
            </a:r>
            <a:endParaRPr lang="en-IN" sz="1600" dirty="0"/>
          </a:p>
        </p:txBody>
      </p:sp>
      <p:sp>
        <p:nvSpPr>
          <p:cNvPr id="7" name="Rectangle 6"/>
          <p:cNvSpPr/>
          <p:nvPr/>
        </p:nvSpPr>
        <p:spPr>
          <a:xfrm>
            <a:off x="7073758" y="1049600"/>
            <a:ext cx="1261884" cy="369332"/>
          </a:xfrm>
          <a:prstGeom prst="rect">
            <a:avLst/>
          </a:prstGeom>
          <a:solidFill>
            <a:schemeClr val="accent5">
              <a:lumMod val="20000"/>
              <a:lumOff val="80000"/>
            </a:schemeClr>
          </a:solidFill>
          <a:ln>
            <a:solidFill>
              <a:schemeClr val="bg1">
                <a:lumMod val="75000"/>
              </a:schemeClr>
            </a:solidFill>
          </a:ln>
        </p:spPr>
        <p:txBody>
          <a:bodyPr wrap="none">
            <a:spAutoFit/>
          </a:bodyPr>
          <a:lstStyle/>
          <a:p>
            <a:r>
              <a:rPr lang="en-IN" dirty="0"/>
              <a:t>Time Series</a:t>
            </a:r>
          </a:p>
        </p:txBody>
      </p:sp>
      <p:sp>
        <p:nvSpPr>
          <p:cNvPr id="8" name="Rectangle 7"/>
          <p:cNvSpPr/>
          <p:nvPr/>
        </p:nvSpPr>
        <p:spPr>
          <a:xfrm>
            <a:off x="7219150" y="4142067"/>
            <a:ext cx="848309" cy="338554"/>
          </a:xfrm>
          <a:prstGeom prst="rect">
            <a:avLst/>
          </a:prstGeom>
          <a:solidFill>
            <a:srgbClr val="00CC99"/>
          </a:solidFill>
          <a:ln>
            <a:solidFill>
              <a:schemeClr val="bg1">
                <a:lumMod val="75000"/>
              </a:schemeClr>
            </a:solidFill>
          </a:ln>
        </p:spPr>
        <p:txBody>
          <a:bodyPr wrap="none">
            <a:spAutoFit/>
          </a:bodyPr>
          <a:lstStyle/>
          <a:p>
            <a:r>
              <a:rPr lang="en-IN" sz="1600" dirty="0"/>
              <a:t>Sigmoid</a:t>
            </a:r>
          </a:p>
        </p:txBody>
      </p:sp>
      <p:sp>
        <p:nvSpPr>
          <p:cNvPr id="10" name="Rectangle 9"/>
          <p:cNvSpPr/>
          <p:nvPr/>
        </p:nvSpPr>
        <p:spPr>
          <a:xfrm>
            <a:off x="8175759" y="1913185"/>
            <a:ext cx="601447" cy="338554"/>
          </a:xfrm>
          <a:prstGeom prst="rect">
            <a:avLst/>
          </a:prstGeom>
          <a:solidFill>
            <a:schemeClr val="accent6">
              <a:lumMod val="40000"/>
              <a:lumOff val="60000"/>
            </a:schemeClr>
          </a:solidFill>
          <a:ln>
            <a:solidFill>
              <a:schemeClr val="bg1">
                <a:lumMod val="75000"/>
              </a:schemeClr>
            </a:solidFill>
          </a:ln>
        </p:spPr>
        <p:txBody>
          <a:bodyPr wrap="none">
            <a:spAutoFit/>
          </a:bodyPr>
          <a:lstStyle/>
          <a:p>
            <a:r>
              <a:rPr lang="en-IN" sz="1600" dirty="0"/>
              <a:t>TanH</a:t>
            </a:r>
          </a:p>
        </p:txBody>
      </p:sp>
      <p:sp>
        <p:nvSpPr>
          <p:cNvPr id="11" name="Rectangle 10"/>
          <p:cNvSpPr/>
          <p:nvPr/>
        </p:nvSpPr>
        <p:spPr>
          <a:xfrm>
            <a:off x="6924487" y="1740903"/>
            <a:ext cx="549766" cy="338554"/>
          </a:xfrm>
          <a:prstGeom prst="rect">
            <a:avLst/>
          </a:prstGeom>
          <a:solidFill>
            <a:srgbClr val="FFFF00"/>
          </a:solidFill>
          <a:ln>
            <a:solidFill>
              <a:schemeClr val="bg1">
                <a:lumMod val="75000"/>
              </a:schemeClr>
            </a:solidFill>
          </a:ln>
        </p:spPr>
        <p:txBody>
          <a:bodyPr wrap="none">
            <a:spAutoFit/>
          </a:bodyPr>
          <a:lstStyle/>
          <a:p>
            <a:r>
              <a:rPr lang="en-IN" sz="1600" dirty="0"/>
              <a:t>Relu</a:t>
            </a:r>
          </a:p>
        </p:txBody>
      </p:sp>
      <p:sp>
        <p:nvSpPr>
          <p:cNvPr id="12" name="TextBox 11"/>
          <p:cNvSpPr txBox="1"/>
          <p:nvPr/>
        </p:nvSpPr>
        <p:spPr>
          <a:xfrm>
            <a:off x="239614" y="1115311"/>
            <a:ext cx="1951175" cy="307777"/>
          </a:xfrm>
          <a:prstGeom prst="rect">
            <a:avLst/>
          </a:prstGeom>
          <a:solidFill>
            <a:srgbClr val="FF6743"/>
          </a:solidFill>
          <a:ln>
            <a:solidFill>
              <a:srgbClr val="FF6743"/>
            </a:solidFill>
          </a:ln>
        </p:spPr>
        <p:txBody>
          <a:bodyPr wrap="none" rtlCol="0">
            <a:spAutoFit/>
          </a:bodyPr>
          <a:lstStyle>
            <a:defPPr>
              <a:defRPr lang="en-US"/>
            </a:defPPr>
            <a:lvl1pPr>
              <a:defRPr sz="1400">
                <a:solidFill>
                  <a:schemeClr val="bg1"/>
                </a:solidFill>
              </a:defRPr>
            </a:lvl1pPr>
          </a:lstStyle>
          <a:p>
            <a:r>
              <a:rPr lang="en-US" dirty="0">
                <a:latin typeface="Arial Rounded MT Bold" pitchFamily="34" charset="0"/>
              </a:rPr>
              <a:t>Loss </a:t>
            </a:r>
            <a:r>
              <a:rPr lang="en-US" dirty="0" smtClean="0">
                <a:latin typeface="Arial Rounded MT Bold" pitchFamily="34" charset="0"/>
              </a:rPr>
              <a:t>/Cost Function </a:t>
            </a:r>
            <a:endParaRPr lang="en-IN" dirty="0">
              <a:latin typeface="Arial Rounded MT Bold" pitchFamily="34" charset="0"/>
            </a:endParaRPr>
          </a:p>
        </p:txBody>
      </p:sp>
      <p:sp>
        <p:nvSpPr>
          <p:cNvPr id="13" name="TextBox 12"/>
          <p:cNvSpPr txBox="1"/>
          <p:nvPr/>
        </p:nvSpPr>
        <p:spPr>
          <a:xfrm>
            <a:off x="7513206" y="3574871"/>
            <a:ext cx="1412118" cy="307777"/>
          </a:xfrm>
          <a:prstGeom prst="rect">
            <a:avLst/>
          </a:prstGeom>
          <a:solidFill>
            <a:srgbClr val="FF6743"/>
          </a:solidFill>
          <a:ln>
            <a:solidFill>
              <a:srgbClr val="FF6743"/>
            </a:solidFill>
          </a:ln>
        </p:spPr>
        <p:txBody>
          <a:bodyPr wrap="none" rtlCol="0">
            <a:spAutoFit/>
          </a:bodyPr>
          <a:lstStyle/>
          <a:p>
            <a:r>
              <a:rPr lang="en-US" sz="1400" dirty="0" smtClean="0">
                <a:solidFill>
                  <a:schemeClr val="bg1"/>
                </a:solidFill>
                <a:latin typeface="Arial Rounded MT Bold" pitchFamily="34" charset="0"/>
              </a:rPr>
              <a:t>Learning Rate</a:t>
            </a:r>
            <a:endParaRPr lang="en-IN" sz="1400" dirty="0">
              <a:solidFill>
                <a:schemeClr val="bg1"/>
              </a:solidFill>
              <a:latin typeface="Arial Rounded MT Bold" pitchFamily="34" charset="0"/>
            </a:endParaRPr>
          </a:p>
        </p:txBody>
      </p:sp>
      <p:sp>
        <p:nvSpPr>
          <p:cNvPr id="15" name="Rectangle 14"/>
          <p:cNvSpPr/>
          <p:nvPr/>
        </p:nvSpPr>
        <p:spPr>
          <a:xfrm>
            <a:off x="239614" y="740545"/>
            <a:ext cx="1720664" cy="307777"/>
          </a:xfrm>
          <a:prstGeom prst="rect">
            <a:avLst/>
          </a:prstGeom>
          <a:solidFill>
            <a:srgbClr val="FF6743"/>
          </a:solidFill>
          <a:ln>
            <a:solidFill>
              <a:srgbClr val="FF6743"/>
            </a:solidFill>
          </a:ln>
        </p:spPr>
        <p:txBody>
          <a:bodyPr wrap="none" rtlCol="0">
            <a:spAutoFit/>
          </a:bodyPr>
          <a:lstStyle/>
          <a:p>
            <a:r>
              <a:rPr lang="en-IN" sz="1400" dirty="0">
                <a:solidFill>
                  <a:schemeClr val="bg1"/>
                </a:solidFill>
                <a:latin typeface="Arial Rounded MT Bold" pitchFamily="34" charset="0"/>
              </a:rPr>
              <a:t>Gradient </a:t>
            </a:r>
            <a:r>
              <a:rPr lang="en-IN" sz="1400" dirty="0" smtClean="0">
                <a:solidFill>
                  <a:schemeClr val="bg1"/>
                </a:solidFill>
                <a:latin typeface="Arial Rounded MT Bold" pitchFamily="34" charset="0"/>
              </a:rPr>
              <a:t>Descent</a:t>
            </a:r>
            <a:endParaRPr lang="en-IN" sz="1400" dirty="0">
              <a:solidFill>
                <a:schemeClr val="bg1"/>
              </a:solidFill>
              <a:latin typeface="Arial Rounded MT Bold" pitchFamily="34" charset="0"/>
            </a:endParaRPr>
          </a:p>
        </p:txBody>
      </p:sp>
      <p:grpSp>
        <p:nvGrpSpPr>
          <p:cNvPr id="22" name="Group 21"/>
          <p:cNvGrpSpPr/>
          <p:nvPr/>
        </p:nvGrpSpPr>
        <p:grpSpPr>
          <a:xfrm>
            <a:off x="109182" y="105120"/>
            <a:ext cx="11969087" cy="6237066"/>
            <a:chOff x="240961" y="259267"/>
            <a:chExt cx="11969087" cy="6237066"/>
          </a:xfrm>
        </p:grpSpPr>
        <p:grpSp>
          <p:nvGrpSpPr>
            <p:cNvPr id="3" name="Group 2"/>
            <p:cNvGrpSpPr/>
            <p:nvPr/>
          </p:nvGrpSpPr>
          <p:grpSpPr>
            <a:xfrm>
              <a:off x="240961" y="596463"/>
              <a:ext cx="11969087" cy="5899870"/>
              <a:chOff x="240961" y="596463"/>
              <a:chExt cx="11969087" cy="5899870"/>
            </a:xfrm>
          </p:grpSpPr>
          <p:grpSp>
            <p:nvGrpSpPr>
              <p:cNvPr id="18" name="Group 17"/>
              <p:cNvGrpSpPr/>
              <p:nvPr/>
            </p:nvGrpSpPr>
            <p:grpSpPr>
              <a:xfrm>
                <a:off x="240961" y="596463"/>
                <a:ext cx="11969087" cy="5899869"/>
                <a:chOff x="-664863" y="576834"/>
                <a:chExt cx="11969087" cy="5899869"/>
              </a:xfrm>
            </p:grpSpPr>
            <p:cxnSp>
              <p:nvCxnSpPr>
                <p:cNvPr id="14" name="Straight Connector 13"/>
                <p:cNvCxnSpPr/>
                <p:nvPr/>
              </p:nvCxnSpPr>
              <p:spPr>
                <a:xfrm>
                  <a:off x="-664863" y="576834"/>
                  <a:ext cx="11969087" cy="3731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950567" y="594518"/>
                  <a:ext cx="0" cy="58821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p:cNvCxnSpPr/>
              <p:nvPr/>
            </p:nvCxnSpPr>
            <p:spPr>
              <a:xfrm>
                <a:off x="3318681" y="614148"/>
                <a:ext cx="0" cy="58821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19" name="Flowchart: Connector 18"/>
            <p:cNvSpPr/>
            <p:nvPr/>
          </p:nvSpPr>
          <p:spPr>
            <a:xfrm>
              <a:off x="371393" y="259267"/>
              <a:ext cx="324000" cy="324000"/>
            </a:xfrm>
            <a:prstGeom prst="flowChartConnector">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Arial Rounded MT Bold" pitchFamily="34" charset="0"/>
                </a:rPr>
                <a:t>1</a:t>
              </a:r>
              <a:endParaRPr lang="en-IN" sz="1600" dirty="0">
                <a:latin typeface="Arial Rounded MT Bold" pitchFamily="34" charset="0"/>
              </a:endParaRPr>
            </a:p>
          </p:txBody>
        </p:sp>
        <p:sp>
          <p:nvSpPr>
            <p:cNvPr id="20" name="Flowchart: Connector 19"/>
            <p:cNvSpPr/>
            <p:nvPr/>
          </p:nvSpPr>
          <p:spPr>
            <a:xfrm>
              <a:off x="3476409" y="259267"/>
              <a:ext cx="324000" cy="324000"/>
            </a:xfrm>
            <a:prstGeom prst="flowChartConnector">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Rounded MT Bold" pitchFamily="34" charset="0"/>
                </a:rPr>
                <a:t>2</a:t>
              </a:r>
              <a:endParaRPr lang="en-IN" sz="1600" dirty="0">
                <a:latin typeface="Arial Rounded MT Bold" pitchFamily="34" charset="0"/>
              </a:endParaRPr>
            </a:p>
          </p:txBody>
        </p:sp>
        <p:sp>
          <p:nvSpPr>
            <p:cNvPr id="21" name="Flowchart: Connector 20"/>
            <p:cNvSpPr/>
            <p:nvPr/>
          </p:nvSpPr>
          <p:spPr>
            <a:xfrm>
              <a:off x="7037370" y="272463"/>
              <a:ext cx="324000" cy="324000"/>
            </a:xfrm>
            <a:prstGeom prst="flowChartConnector">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Rounded MT Bold" pitchFamily="34" charset="0"/>
                </a:rPr>
                <a:t>3</a:t>
              </a:r>
              <a:endParaRPr lang="en-IN" sz="1600" dirty="0">
                <a:latin typeface="Arial Rounded MT Bold" pitchFamily="34" charset="0"/>
              </a:endParaRPr>
            </a:p>
          </p:txBody>
        </p:sp>
      </p:grpSp>
    </p:spTree>
    <p:extLst>
      <p:ext uri="{BB962C8B-B14F-4D97-AF65-F5344CB8AC3E}">
        <p14:creationId xmlns:p14="http://schemas.microsoft.com/office/powerpoint/2010/main" val="1372006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374703" y="579745"/>
            <a:ext cx="11817297" cy="584775"/>
          </a:xfrm>
          <a:prstGeom prst="rect">
            <a:avLst/>
          </a:prstGeom>
        </p:spPr>
        <p:txBody>
          <a:bodyPr wrap="square">
            <a:spAutoFit/>
          </a:bodyPr>
          <a:lstStyle/>
          <a:p>
            <a:r>
              <a:rPr lang="en-US" sz="1600" dirty="0">
                <a:ea typeface="Arial Unicode MS" pitchFamily="34" charset="-128"/>
                <a:cs typeface="Arial Unicode MS" pitchFamily="34" charset="-128"/>
              </a:rPr>
              <a:t>perceptron is also an algorithm used for supervised machine learning. Just like linear regression ,logistic regression</a:t>
            </a:r>
          </a:p>
          <a:p>
            <a:r>
              <a:rPr lang="en-US" sz="1600" dirty="0">
                <a:ea typeface="Arial Unicode MS" pitchFamily="34" charset="-128"/>
                <a:cs typeface="Arial Unicode MS" pitchFamily="34" charset="-128"/>
              </a:rPr>
              <a:t>Perceptron is not just an algorithm, you can also call it a mathematical model or function.</a:t>
            </a:r>
            <a:endParaRPr lang="en-IN" sz="1600" dirty="0">
              <a:ea typeface="Arial Unicode MS" pitchFamily="34" charset="-128"/>
              <a:cs typeface="Arial Unicode MS" pitchFamily="34" charset="-128"/>
            </a:endParaRPr>
          </a:p>
        </p:txBody>
      </p:sp>
      <p:sp>
        <p:nvSpPr>
          <p:cNvPr id="5" name="Rectangle 4"/>
          <p:cNvSpPr/>
          <p:nvPr/>
        </p:nvSpPr>
        <p:spPr>
          <a:xfrm>
            <a:off x="175658" y="4891640"/>
            <a:ext cx="11615951" cy="1785104"/>
          </a:xfrm>
          <a:prstGeom prst="rect">
            <a:avLst/>
          </a:prstGeom>
        </p:spPr>
        <p:txBody>
          <a:bodyPr wrap="square">
            <a:spAutoFit/>
          </a:bodyPr>
          <a:lstStyle/>
          <a:p>
            <a:r>
              <a:rPr lang="en-US" sz="1600" dirty="0">
                <a:ea typeface="Arial Unicode MS" pitchFamily="34" charset="-128"/>
                <a:cs typeface="Arial Unicode MS" pitchFamily="34" charset="-128"/>
              </a:rPr>
              <a:t>First, let’s talk about the different parts. </a:t>
            </a:r>
          </a:p>
          <a:p>
            <a:r>
              <a:rPr lang="en-US" sz="1600" dirty="0">
                <a:ea typeface="Arial Unicode MS" pitchFamily="34" charset="-128"/>
                <a:cs typeface="Arial Unicode MS" pitchFamily="34" charset="-128"/>
              </a:rPr>
              <a:t>So, first, you provide inputs to the perceptron from this side—these are </a:t>
            </a:r>
            <a:r>
              <a:rPr lang="en-US" sz="1600" b="1" dirty="0">
                <a:ea typeface="Arial Unicode MS" pitchFamily="34" charset="-128"/>
                <a:cs typeface="Arial Unicode MS" pitchFamily="34" charset="-128"/>
              </a:rPr>
              <a:t>x1 </a:t>
            </a:r>
            <a:r>
              <a:rPr lang="en-US" sz="1600" dirty="0">
                <a:ea typeface="Arial Unicode MS" pitchFamily="34" charset="-128"/>
                <a:cs typeface="Arial Unicode MS" pitchFamily="34" charset="-128"/>
              </a:rPr>
              <a:t>and </a:t>
            </a:r>
            <a:r>
              <a:rPr lang="en-US" sz="1600" b="1" dirty="0">
                <a:ea typeface="Arial Unicode MS" pitchFamily="34" charset="-128"/>
                <a:cs typeface="Arial Unicode MS" pitchFamily="34" charset="-128"/>
              </a:rPr>
              <a:t>x2</a:t>
            </a:r>
            <a:r>
              <a:rPr lang="en-US" sz="1600" dirty="0">
                <a:ea typeface="Arial Unicode MS" pitchFamily="34" charset="-128"/>
                <a:cs typeface="Arial Unicode MS" pitchFamily="34" charset="-128"/>
              </a:rPr>
              <a:t>. These are the actual inputs. Now, what is this 1? I’ll explain it in a bit. Then, these connections between the input and the block are called weights and bias.</a:t>
            </a:r>
          </a:p>
          <a:p>
            <a:endParaRPr lang="en-US" sz="1400" dirty="0"/>
          </a:p>
          <a:p>
            <a:r>
              <a:rPr lang="en-US" sz="1600" dirty="0">
                <a:ea typeface="Arial Unicode MS" pitchFamily="34" charset="-128"/>
                <a:cs typeface="Arial Unicode MS" pitchFamily="34" charset="-128"/>
              </a:rPr>
              <a:t> For example, this w1w1 and w2w2 are both weights. I'm writing here: these are called weights. This connection through 1 is called bias, so I’ve represented it as b.The process is, things come together at </a:t>
            </a:r>
            <a:r>
              <a:rPr lang="en-US" sz="1600" b="1" dirty="0">
                <a:solidFill>
                  <a:srgbClr val="0070C0"/>
                </a:solidFill>
                <a:latin typeface="Bahnschrift SemiBold" pitchFamily="34" charset="0"/>
                <a:ea typeface="Arial Unicode MS" pitchFamily="34" charset="-128"/>
                <a:cs typeface="Arial Unicode MS" pitchFamily="34" charset="-128"/>
              </a:rPr>
              <a:t>summation</a:t>
            </a:r>
            <a:r>
              <a:rPr lang="en-US" sz="1600" dirty="0">
                <a:ea typeface="Arial Unicode MS" pitchFamily="34" charset="-128"/>
                <a:cs typeface="Arial Unicode MS" pitchFamily="34" charset="-128"/>
              </a:rPr>
              <a:t> point—the sum is computed, specifically via a dot product. We do 1x1×w1, x2×w2, and b×1b×1. So, in this part, this operation happens. Let’s call the output z. Then z moves to the </a:t>
            </a:r>
            <a:r>
              <a:rPr lang="en-US" sz="1600" dirty="0">
                <a:solidFill>
                  <a:srgbClr val="0070C0"/>
                </a:solidFill>
                <a:latin typeface="Bahnschrift SemiBold" pitchFamily="34" charset="0"/>
                <a:ea typeface="Arial Unicode MS" pitchFamily="34" charset="-128"/>
                <a:cs typeface="Arial Unicode MS" pitchFamily="34" charset="-128"/>
              </a:rPr>
              <a:t>activation function</a:t>
            </a:r>
            <a:r>
              <a:rPr lang="en-US" sz="1600" dirty="0">
                <a:ea typeface="Arial Unicode MS" pitchFamily="34" charset="-128"/>
                <a:cs typeface="Arial Unicode MS" pitchFamily="34" charset="-128"/>
              </a:rPr>
              <a:t>.</a:t>
            </a:r>
          </a:p>
        </p:txBody>
      </p:sp>
      <p:sp>
        <p:nvSpPr>
          <p:cNvPr id="20" name="Rectangle 19"/>
          <p:cNvSpPr/>
          <p:nvPr/>
        </p:nvSpPr>
        <p:spPr>
          <a:xfrm>
            <a:off x="2140602" y="1398675"/>
            <a:ext cx="7825155" cy="338554"/>
          </a:xfrm>
          <a:prstGeom prst="rect">
            <a:avLst/>
          </a:prstGeom>
        </p:spPr>
        <p:txBody>
          <a:bodyPr wrap="square">
            <a:spAutoFit/>
          </a:bodyPr>
          <a:lstStyle/>
          <a:p>
            <a:r>
              <a:rPr lang="en-US" sz="1600" dirty="0">
                <a:ea typeface="Arial Unicode MS" pitchFamily="34" charset="-128"/>
                <a:cs typeface="Arial Unicode MS" pitchFamily="34" charset="-128"/>
              </a:rPr>
              <a:t>That's why, before learning deep learning, you must understand perceptron's very well</a:t>
            </a:r>
            <a:endParaRPr lang="en-IN" sz="1600" dirty="0">
              <a:ea typeface="Arial Unicode MS" pitchFamily="34" charset="-128"/>
              <a:cs typeface="Arial Unicode MS" pitchFamily="34" charset="-128"/>
            </a:endParaRPr>
          </a:p>
        </p:txBody>
      </p:sp>
      <p:grpSp>
        <p:nvGrpSpPr>
          <p:cNvPr id="1031" name="Group 1030"/>
          <p:cNvGrpSpPr/>
          <p:nvPr/>
        </p:nvGrpSpPr>
        <p:grpSpPr>
          <a:xfrm>
            <a:off x="5938299" y="1981941"/>
            <a:ext cx="5818339" cy="668285"/>
            <a:chOff x="3282462" y="1663188"/>
            <a:chExt cx="6663318" cy="668285"/>
          </a:xfrm>
        </p:grpSpPr>
        <p:grpSp>
          <p:nvGrpSpPr>
            <p:cNvPr id="1028" name="Group 1027"/>
            <p:cNvGrpSpPr/>
            <p:nvPr/>
          </p:nvGrpSpPr>
          <p:grpSpPr>
            <a:xfrm>
              <a:off x="3282462" y="1663188"/>
              <a:ext cx="3346937" cy="326796"/>
              <a:chOff x="3282462" y="1663188"/>
              <a:chExt cx="3346937" cy="326796"/>
            </a:xfrm>
          </p:grpSpPr>
          <p:grpSp>
            <p:nvGrpSpPr>
              <p:cNvPr id="1025" name="Group 1024"/>
              <p:cNvGrpSpPr/>
              <p:nvPr/>
            </p:nvGrpSpPr>
            <p:grpSpPr>
              <a:xfrm>
                <a:off x="3282462" y="1663188"/>
                <a:ext cx="3346937" cy="326796"/>
                <a:chOff x="3282462" y="1663188"/>
                <a:chExt cx="3346937" cy="326796"/>
              </a:xfrm>
            </p:grpSpPr>
            <p:sp>
              <p:nvSpPr>
                <p:cNvPr id="28" name="TextBox 27"/>
                <p:cNvSpPr txBox="1"/>
                <p:nvPr/>
              </p:nvSpPr>
              <p:spPr>
                <a:xfrm>
                  <a:off x="3282462" y="1682207"/>
                  <a:ext cx="911211" cy="307777"/>
                </a:xfrm>
                <a:prstGeom prst="rect">
                  <a:avLst/>
                </a:prstGeom>
                <a:noFill/>
                <a:ln>
                  <a:noFill/>
                </a:ln>
              </p:spPr>
              <p:txBody>
                <a:bodyPr wrap="none" rtlCol="0">
                  <a:spAutoFit/>
                </a:bodyPr>
                <a:lstStyle/>
                <a:p>
                  <a:r>
                    <a:rPr lang="en-US" sz="1400" dirty="0" smtClean="0"/>
                    <a:t>Algorithm</a:t>
                  </a:r>
                  <a:endParaRPr lang="en-IN" sz="1400" dirty="0"/>
                </a:p>
              </p:txBody>
            </p:sp>
            <p:sp>
              <p:nvSpPr>
                <p:cNvPr id="31" name="Freeform 30"/>
                <p:cNvSpPr/>
                <p:nvPr/>
              </p:nvSpPr>
              <p:spPr>
                <a:xfrm>
                  <a:off x="4193673" y="1817077"/>
                  <a:ext cx="737761" cy="45719"/>
                </a:xfrm>
                <a:custGeom>
                  <a:avLst/>
                  <a:gdLst>
                    <a:gd name="connsiteX0" fmla="*/ 0 w 691661"/>
                    <a:gd name="connsiteY0" fmla="*/ 105508 h 105508"/>
                    <a:gd name="connsiteX1" fmla="*/ 70338 w 691661"/>
                    <a:gd name="connsiteY1" fmla="*/ 82061 h 105508"/>
                    <a:gd name="connsiteX2" fmla="*/ 164123 w 691661"/>
                    <a:gd name="connsiteY2" fmla="*/ 46892 h 105508"/>
                    <a:gd name="connsiteX3" fmla="*/ 574431 w 691661"/>
                    <a:gd name="connsiteY3" fmla="*/ 35169 h 105508"/>
                    <a:gd name="connsiteX4" fmla="*/ 633046 w 691661"/>
                    <a:gd name="connsiteY4" fmla="*/ 23446 h 105508"/>
                    <a:gd name="connsiteX5" fmla="*/ 691661 w 691661"/>
                    <a:gd name="connsiteY5" fmla="*/ 0 h 105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1661" h="105508">
                      <a:moveTo>
                        <a:pt x="0" y="105508"/>
                      </a:moveTo>
                      <a:cubicBezTo>
                        <a:pt x="23446" y="97692"/>
                        <a:pt x="47063" y="90373"/>
                        <a:pt x="70338" y="82061"/>
                      </a:cubicBezTo>
                      <a:cubicBezTo>
                        <a:pt x="101780" y="70831"/>
                        <a:pt x="130879" y="49984"/>
                        <a:pt x="164123" y="46892"/>
                      </a:cubicBezTo>
                      <a:cubicBezTo>
                        <a:pt x="300360" y="34219"/>
                        <a:pt x="437662" y="39077"/>
                        <a:pt x="574431" y="35169"/>
                      </a:cubicBezTo>
                      <a:cubicBezTo>
                        <a:pt x="593969" y="31261"/>
                        <a:pt x="613716" y="28279"/>
                        <a:pt x="633046" y="23446"/>
                      </a:cubicBezTo>
                      <a:cubicBezTo>
                        <a:pt x="662018" y="16203"/>
                        <a:pt x="667406" y="12128"/>
                        <a:pt x="691661" y="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024" name="TextBox 1023"/>
                <p:cNvSpPr txBox="1"/>
                <p:nvPr/>
              </p:nvSpPr>
              <p:spPr>
                <a:xfrm>
                  <a:off x="4931434" y="1663188"/>
                  <a:ext cx="1697965" cy="307777"/>
                </a:xfrm>
                <a:prstGeom prst="rect">
                  <a:avLst/>
                </a:prstGeom>
                <a:noFill/>
                <a:ln>
                  <a:noFill/>
                </a:ln>
              </p:spPr>
              <p:txBody>
                <a:bodyPr wrap="none" rtlCol="0">
                  <a:spAutoFit/>
                </a:bodyPr>
                <a:lstStyle/>
                <a:p>
                  <a:r>
                    <a:rPr lang="en-US" sz="1400" dirty="0" smtClean="0"/>
                    <a:t>Supervised Learning </a:t>
                  </a:r>
                  <a:endParaRPr lang="en-IN" sz="1400" dirty="0"/>
                </a:p>
              </p:txBody>
            </p:sp>
          </p:grpSp>
          <p:sp>
            <p:nvSpPr>
              <p:cNvPr id="1027" name="Freeform 1026"/>
              <p:cNvSpPr/>
              <p:nvPr/>
            </p:nvSpPr>
            <p:spPr>
              <a:xfrm>
                <a:off x="4853354" y="1758462"/>
                <a:ext cx="82061" cy="152400"/>
              </a:xfrm>
              <a:custGeom>
                <a:avLst/>
                <a:gdLst>
                  <a:gd name="connsiteX0" fmla="*/ 0 w 82061"/>
                  <a:gd name="connsiteY0" fmla="*/ 0 h 152400"/>
                  <a:gd name="connsiteX1" fmla="*/ 82061 w 82061"/>
                  <a:gd name="connsiteY1" fmla="*/ 70338 h 152400"/>
                  <a:gd name="connsiteX2" fmla="*/ 23446 w 82061"/>
                  <a:gd name="connsiteY2" fmla="*/ 128953 h 152400"/>
                  <a:gd name="connsiteX3" fmla="*/ 0 w 82061"/>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2061" h="152400">
                    <a:moveTo>
                      <a:pt x="0" y="0"/>
                    </a:moveTo>
                    <a:cubicBezTo>
                      <a:pt x="12339" y="7403"/>
                      <a:pt x="82061" y="37861"/>
                      <a:pt x="82061" y="70338"/>
                    </a:cubicBezTo>
                    <a:cubicBezTo>
                      <a:pt x="82061" y="98473"/>
                      <a:pt x="39077" y="116448"/>
                      <a:pt x="23446" y="128953"/>
                    </a:cubicBezTo>
                    <a:cubicBezTo>
                      <a:pt x="14815" y="135858"/>
                      <a:pt x="0" y="152400"/>
                      <a:pt x="0" y="1524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sp>
          <p:nvSpPr>
            <p:cNvPr id="1030" name="TextBox 1029"/>
            <p:cNvSpPr txBox="1"/>
            <p:nvPr/>
          </p:nvSpPr>
          <p:spPr>
            <a:xfrm>
              <a:off x="7702062" y="1663188"/>
              <a:ext cx="2243718" cy="338554"/>
            </a:xfrm>
            <a:prstGeom prst="rect">
              <a:avLst/>
            </a:prstGeom>
            <a:noFill/>
          </p:spPr>
          <p:txBody>
            <a:bodyPr wrap="none" rtlCol="0">
              <a:spAutoFit/>
            </a:bodyPr>
            <a:lstStyle/>
            <a:p>
              <a:r>
                <a:rPr lang="en-US" sz="1600" i="1" dirty="0" smtClean="0">
                  <a:solidFill>
                    <a:srgbClr val="CC3300"/>
                  </a:solidFill>
                </a:rPr>
                <a:t>- </a:t>
              </a:r>
              <a:r>
                <a:rPr lang="en-IN" sz="1600" i="1" dirty="0">
                  <a:solidFill>
                    <a:srgbClr val="CC3300"/>
                  </a:solidFill>
                </a:rPr>
                <a:t>Mathematics </a:t>
              </a:r>
              <a:r>
                <a:rPr lang="en-US" sz="1600" i="1" dirty="0" smtClean="0">
                  <a:solidFill>
                    <a:srgbClr val="CC3300"/>
                  </a:solidFill>
                </a:rPr>
                <a:t>model</a:t>
              </a:r>
              <a:endParaRPr lang="en-IN" sz="1600" i="1" dirty="0">
                <a:solidFill>
                  <a:srgbClr val="CC3300"/>
                </a:solidFill>
              </a:endParaRPr>
            </a:p>
          </p:txBody>
        </p:sp>
        <p:sp>
          <p:nvSpPr>
            <p:cNvPr id="39" name="TextBox 38"/>
            <p:cNvSpPr txBox="1"/>
            <p:nvPr/>
          </p:nvSpPr>
          <p:spPr>
            <a:xfrm>
              <a:off x="7702062" y="1992919"/>
              <a:ext cx="1105521" cy="338554"/>
            </a:xfrm>
            <a:prstGeom prst="rect">
              <a:avLst/>
            </a:prstGeom>
            <a:noFill/>
          </p:spPr>
          <p:txBody>
            <a:bodyPr wrap="none" rtlCol="0">
              <a:spAutoFit/>
            </a:bodyPr>
            <a:lstStyle/>
            <a:p>
              <a:r>
                <a:rPr lang="en-US" sz="1400" i="1" dirty="0" smtClean="0">
                  <a:solidFill>
                    <a:srgbClr val="CC3300"/>
                  </a:solidFill>
                </a:rPr>
                <a:t>- </a:t>
              </a:r>
              <a:r>
                <a:rPr lang="en-US" sz="1600" i="1" dirty="0" smtClean="0">
                  <a:solidFill>
                    <a:srgbClr val="CC3300"/>
                  </a:solidFill>
                </a:rPr>
                <a:t>function</a:t>
              </a:r>
              <a:endParaRPr lang="en-IN" sz="1400" i="1" dirty="0">
                <a:solidFill>
                  <a:srgbClr val="CC3300"/>
                </a:solidFill>
              </a:endParaRPr>
            </a:p>
          </p:txBody>
        </p:sp>
      </p:grpSp>
      <p:sp>
        <p:nvSpPr>
          <p:cNvPr id="1032" name="TextBox 1031"/>
          <p:cNvSpPr txBox="1"/>
          <p:nvPr/>
        </p:nvSpPr>
        <p:spPr>
          <a:xfrm>
            <a:off x="10761108" y="518567"/>
            <a:ext cx="859723" cy="584775"/>
          </a:xfrm>
          <a:prstGeom prst="rect">
            <a:avLst/>
          </a:prstGeom>
          <a:noFill/>
        </p:spPr>
        <p:txBody>
          <a:bodyPr wrap="none" rtlCol="0">
            <a:spAutoFit/>
          </a:bodyPr>
          <a:lstStyle/>
          <a:p>
            <a:r>
              <a:rPr lang="en-US" sz="1600" dirty="0">
                <a:ea typeface="Arial Unicode MS" pitchFamily="34" charset="-128"/>
                <a:cs typeface="Arial Unicode MS" pitchFamily="34" charset="-128"/>
              </a:rPr>
              <a:t>Weights</a:t>
            </a:r>
          </a:p>
          <a:p>
            <a:r>
              <a:rPr lang="en-US" sz="1600" dirty="0">
                <a:ea typeface="Arial Unicode MS" pitchFamily="34" charset="-128"/>
                <a:cs typeface="Arial Unicode MS" pitchFamily="34" charset="-128"/>
              </a:rPr>
              <a:t>bias</a:t>
            </a:r>
            <a:endParaRPr lang="en-IN" sz="1600" dirty="0">
              <a:ea typeface="Arial Unicode MS" pitchFamily="34" charset="-128"/>
              <a:cs typeface="Arial Unicode MS" pitchFamily="34" charset="-128"/>
            </a:endParaRPr>
          </a:p>
        </p:txBody>
      </p:sp>
      <p:grpSp>
        <p:nvGrpSpPr>
          <p:cNvPr id="40" name="Group 39"/>
          <p:cNvGrpSpPr/>
          <p:nvPr/>
        </p:nvGrpSpPr>
        <p:grpSpPr>
          <a:xfrm>
            <a:off x="1709050" y="2500819"/>
            <a:ext cx="5401384" cy="1954946"/>
            <a:chOff x="3259015" y="1781831"/>
            <a:chExt cx="5401384" cy="1954946"/>
          </a:xfrm>
        </p:grpSpPr>
        <p:grpSp>
          <p:nvGrpSpPr>
            <p:cNvPr id="1035" name="Group 1034"/>
            <p:cNvGrpSpPr/>
            <p:nvPr/>
          </p:nvGrpSpPr>
          <p:grpSpPr>
            <a:xfrm>
              <a:off x="4396153" y="2215661"/>
              <a:ext cx="2124806" cy="715107"/>
              <a:chOff x="4396153" y="2215661"/>
              <a:chExt cx="2124806" cy="715107"/>
            </a:xfrm>
          </p:grpSpPr>
          <p:sp>
            <p:nvSpPr>
              <p:cNvPr id="21" name="Flowchart: Connector 20"/>
              <p:cNvSpPr/>
              <p:nvPr/>
            </p:nvSpPr>
            <p:spPr>
              <a:xfrm>
                <a:off x="4396153" y="2215661"/>
                <a:ext cx="691661" cy="71510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t>
                </a:r>
              </a:p>
            </p:txBody>
          </p:sp>
          <p:sp>
            <p:nvSpPr>
              <p:cNvPr id="22" name="Flowchart: Connector 21"/>
              <p:cNvSpPr/>
              <p:nvPr/>
            </p:nvSpPr>
            <p:spPr>
              <a:xfrm>
                <a:off x="6063759" y="2344615"/>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a:t>
                </a:r>
                <a:endParaRPr lang="en-IN" dirty="0"/>
              </a:p>
            </p:txBody>
          </p:sp>
          <p:sp>
            <p:nvSpPr>
              <p:cNvPr id="1033" name="Freeform 1032"/>
              <p:cNvSpPr/>
              <p:nvPr/>
            </p:nvSpPr>
            <p:spPr>
              <a:xfrm>
                <a:off x="5111262" y="2555631"/>
                <a:ext cx="961292" cy="117231"/>
              </a:xfrm>
              <a:custGeom>
                <a:avLst/>
                <a:gdLst>
                  <a:gd name="connsiteX0" fmla="*/ 0 w 961292"/>
                  <a:gd name="connsiteY0" fmla="*/ 70338 h 117231"/>
                  <a:gd name="connsiteX1" fmla="*/ 128953 w 961292"/>
                  <a:gd name="connsiteY1" fmla="*/ 58615 h 117231"/>
                  <a:gd name="connsiteX2" fmla="*/ 269630 w 961292"/>
                  <a:gd name="connsiteY2" fmla="*/ 35169 h 117231"/>
                  <a:gd name="connsiteX3" fmla="*/ 961292 w 961292"/>
                  <a:gd name="connsiteY3" fmla="*/ 23446 h 117231"/>
                  <a:gd name="connsiteX4" fmla="*/ 902676 w 961292"/>
                  <a:gd name="connsiteY4" fmla="*/ 11723 h 117231"/>
                  <a:gd name="connsiteX5" fmla="*/ 867507 w 961292"/>
                  <a:gd name="connsiteY5" fmla="*/ 0 h 117231"/>
                  <a:gd name="connsiteX6" fmla="*/ 914400 w 961292"/>
                  <a:gd name="connsiteY6" fmla="*/ 11723 h 117231"/>
                  <a:gd name="connsiteX7" fmla="*/ 926123 w 961292"/>
                  <a:gd name="connsiteY7" fmla="*/ 58615 h 117231"/>
                  <a:gd name="connsiteX8" fmla="*/ 890953 w 961292"/>
                  <a:gd name="connsiteY8" fmla="*/ 82061 h 117231"/>
                  <a:gd name="connsiteX9" fmla="*/ 844061 w 961292"/>
                  <a:gd name="connsiteY9" fmla="*/ 105507 h 117231"/>
                  <a:gd name="connsiteX10" fmla="*/ 820615 w 961292"/>
                  <a:gd name="connsiteY10" fmla="*/ 117231 h 11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1292" h="117231">
                    <a:moveTo>
                      <a:pt x="0" y="70338"/>
                    </a:moveTo>
                    <a:cubicBezTo>
                      <a:pt x="42984" y="66430"/>
                      <a:pt x="86154" y="64197"/>
                      <a:pt x="128953" y="58615"/>
                    </a:cubicBezTo>
                    <a:cubicBezTo>
                      <a:pt x="176093" y="52466"/>
                      <a:pt x="222133" y="37176"/>
                      <a:pt x="269630" y="35169"/>
                    </a:cubicBezTo>
                    <a:cubicBezTo>
                      <a:pt x="500012" y="25435"/>
                      <a:pt x="730738" y="27354"/>
                      <a:pt x="961292" y="23446"/>
                    </a:cubicBezTo>
                    <a:cubicBezTo>
                      <a:pt x="941753" y="19538"/>
                      <a:pt x="922007" y="16556"/>
                      <a:pt x="902676" y="11723"/>
                    </a:cubicBezTo>
                    <a:cubicBezTo>
                      <a:pt x="890688" y="8726"/>
                      <a:pt x="855150" y="0"/>
                      <a:pt x="867507" y="0"/>
                    </a:cubicBezTo>
                    <a:cubicBezTo>
                      <a:pt x="883619" y="0"/>
                      <a:pt x="898769" y="7815"/>
                      <a:pt x="914400" y="11723"/>
                    </a:cubicBezTo>
                    <a:cubicBezTo>
                      <a:pt x="918308" y="27354"/>
                      <a:pt x="931218" y="43330"/>
                      <a:pt x="926123" y="58615"/>
                    </a:cubicBezTo>
                    <a:cubicBezTo>
                      <a:pt x="921667" y="71981"/>
                      <a:pt x="903186" y="75071"/>
                      <a:pt x="890953" y="82061"/>
                    </a:cubicBezTo>
                    <a:cubicBezTo>
                      <a:pt x="875780" y="90731"/>
                      <a:pt x="859692" y="97691"/>
                      <a:pt x="844061" y="105507"/>
                    </a:cubicBezTo>
                    <a:lnTo>
                      <a:pt x="820615" y="117231"/>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034" name="TextBox 1033"/>
              <p:cNvSpPr txBox="1"/>
              <p:nvPr/>
            </p:nvSpPr>
            <p:spPr>
              <a:xfrm>
                <a:off x="5380892" y="2488196"/>
                <a:ext cx="276038" cy="369332"/>
              </a:xfrm>
              <a:prstGeom prst="rect">
                <a:avLst/>
              </a:prstGeom>
              <a:noFill/>
            </p:spPr>
            <p:txBody>
              <a:bodyPr wrap="none" rtlCol="0">
                <a:spAutoFit/>
              </a:bodyPr>
              <a:lstStyle/>
              <a:p>
                <a:r>
                  <a:rPr lang="en-US" dirty="0" smtClean="0"/>
                  <a:t>z</a:t>
                </a:r>
                <a:endParaRPr lang="en-IN" dirty="0"/>
              </a:p>
            </p:txBody>
          </p:sp>
        </p:grpSp>
        <p:grpSp>
          <p:nvGrpSpPr>
            <p:cNvPr id="36" name="Group 35"/>
            <p:cNvGrpSpPr/>
            <p:nvPr/>
          </p:nvGrpSpPr>
          <p:grpSpPr>
            <a:xfrm>
              <a:off x="3414529" y="1781831"/>
              <a:ext cx="1082915" cy="615554"/>
              <a:chOff x="3414529" y="1781831"/>
              <a:chExt cx="1082915" cy="615554"/>
            </a:xfrm>
          </p:grpSpPr>
          <p:cxnSp>
            <p:nvCxnSpPr>
              <p:cNvPr id="1041" name="Straight Connector 1040"/>
              <p:cNvCxnSpPr>
                <a:endCxn id="21" idx="1"/>
              </p:cNvCxnSpPr>
              <p:nvPr/>
            </p:nvCxnSpPr>
            <p:spPr>
              <a:xfrm>
                <a:off x="3716215" y="1981941"/>
                <a:ext cx="781229" cy="338445"/>
              </a:xfrm>
              <a:prstGeom prst="line">
                <a:avLst/>
              </a:prstGeom>
            </p:spPr>
            <p:style>
              <a:lnRef idx="1">
                <a:schemeClr val="accent1"/>
              </a:lnRef>
              <a:fillRef idx="0">
                <a:schemeClr val="accent1"/>
              </a:fillRef>
              <a:effectRef idx="0">
                <a:schemeClr val="accent1"/>
              </a:effectRef>
              <a:fontRef idx="minor">
                <a:schemeClr val="tx1"/>
              </a:fontRef>
            </p:style>
          </p:cxnSp>
          <p:sp>
            <p:nvSpPr>
              <p:cNvPr id="1044" name="TextBox 1043"/>
              <p:cNvSpPr txBox="1"/>
              <p:nvPr/>
            </p:nvSpPr>
            <p:spPr>
              <a:xfrm>
                <a:off x="3414529" y="1781831"/>
                <a:ext cx="276038" cy="307777"/>
              </a:xfrm>
              <a:prstGeom prst="rect">
                <a:avLst/>
              </a:prstGeom>
              <a:noFill/>
            </p:spPr>
            <p:txBody>
              <a:bodyPr wrap="none" rtlCol="0">
                <a:spAutoFit/>
              </a:bodyPr>
              <a:lstStyle/>
              <a:p>
                <a:r>
                  <a:rPr lang="en-US" sz="1400" dirty="0" smtClean="0"/>
                  <a:t>1</a:t>
                </a:r>
                <a:endParaRPr lang="en-IN" sz="1400" dirty="0"/>
              </a:p>
            </p:txBody>
          </p:sp>
          <p:sp>
            <p:nvSpPr>
              <p:cNvPr id="1045" name="TextBox 1044"/>
              <p:cNvSpPr txBox="1"/>
              <p:nvPr/>
            </p:nvSpPr>
            <p:spPr>
              <a:xfrm>
                <a:off x="3987292" y="2089608"/>
                <a:ext cx="279244" cy="307777"/>
              </a:xfrm>
              <a:prstGeom prst="rect">
                <a:avLst/>
              </a:prstGeom>
              <a:noFill/>
            </p:spPr>
            <p:txBody>
              <a:bodyPr wrap="none" rtlCol="0">
                <a:spAutoFit/>
              </a:bodyPr>
              <a:lstStyle/>
              <a:p>
                <a:r>
                  <a:rPr lang="en-US" sz="1400" dirty="0" smtClean="0"/>
                  <a:t>b</a:t>
                </a:r>
                <a:endParaRPr lang="en-IN" sz="1400" dirty="0"/>
              </a:p>
            </p:txBody>
          </p:sp>
        </p:grpSp>
        <p:grpSp>
          <p:nvGrpSpPr>
            <p:cNvPr id="34" name="Group 33"/>
            <p:cNvGrpSpPr/>
            <p:nvPr/>
          </p:nvGrpSpPr>
          <p:grpSpPr>
            <a:xfrm>
              <a:off x="3810000" y="2826043"/>
              <a:ext cx="758862" cy="910734"/>
              <a:chOff x="3810000" y="2826043"/>
              <a:chExt cx="758862" cy="910734"/>
            </a:xfrm>
          </p:grpSpPr>
          <p:cxnSp>
            <p:nvCxnSpPr>
              <p:cNvPr id="1037" name="Straight Connector 1036"/>
              <p:cNvCxnSpPr>
                <a:endCxn id="21" idx="3"/>
              </p:cNvCxnSpPr>
              <p:nvPr/>
            </p:nvCxnSpPr>
            <p:spPr>
              <a:xfrm flipV="1">
                <a:off x="3962400" y="2826043"/>
                <a:ext cx="535044" cy="602957"/>
              </a:xfrm>
              <a:prstGeom prst="line">
                <a:avLst/>
              </a:prstGeom>
            </p:spPr>
            <p:style>
              <a:lnRef idx="1">
                <a:schemeClr val="accent1"/>
              </a:lnRef>
              <a:fillRef idx="0">
                <a:schemeClr val="accent1"/>
              </a:fillRef>
              <a:effectRef idx="0">
                <a:schemeClr val="accent1"/>
              </a:effectRef>
              <a:fontRef idx="minor">
                <a:schemeClr val="tx1"/>
              </a:fontRef>
            </p:style>
          </p:cxnSp>
          <p:sp>
            <p:nvSpPr>
              <p:cNvPr id="1042" name="TextBox 1041"/>
              <p:cNvSpPr txBox="1"/>
              <p:nvPr/>
            </p:nvSpPr>
            <p:spPr>
              <a:xfrm>
                <a:off x="3810000" y="3429000"/>
                <a:ext cx="354584" cy="307777"/>
              </a:xfrm>
              <a:prstGeom prst="rect">
                <a:avLst/>
              </a:prstGeom>
              <a:noFill/>
            </p:spPr>
            <p:txBody>
              <a:bodyPr wrap="none" rtlCol="0">
                <a:spAutoFit/>
              </a:bodyPr>
              <a:lstStyle/>
              <a:p>
                <a:r>
                  <a:rPr lang="en-US" sz="1400" dirty="0" smtClean="0"/>
                  <a:t>x1</a:t>
                </a:r>
                <a:endParaRPr lang="en-IN" sz="1400" dirty="0"/>
              </a:p>
            </p:txBody>
          </p:sp>
          <p:sp>
            <p:nvSpPr>
              <p:cNvPr id="1046" name="TextBox 1045"/>
              <p:cNvSpPr txBox="1"/>
              <p:nvPr/>
            </p:nvSpPr>
            <p:spPr>
              <a:xfrm>
                <a:off x="4164584" y="3127521"/>
                <a:ext cx="404278" cy="307777"/>
              </a:xfrm>
              <a:prstGeom prst="rect">
                <a:avLst/>
              </a:prstGeom>
              <a:noFill/>
            </p:spPr>
            <p:txBody>
              <a:bodyPr wrap="none" rtlCol="0">
                <a:spAutoFit/>
              </a:bodyPr>
              <a:lstStyle/>
              <a:p>
                <a:r>
                  <a:rPr lang="en-US" sz="1400" dirty="0" smtClean="0"/>
                  <a:t>w1</a:t>
                </a:r>
                <a:endParaRPr lang="en-IN" sz="1400" dirty="0"/>
              </a:p>
            </p:txBody>
          </p:sp>
        </p:grpSp>
        <p:grpSp>
          <p:nvGrpSpPr>
            <p:cNvPr id="35" name="Group 34"/>
            <p:cNvGrpSpPr/>
            <p:nvPr/>
          </p:nvGrpSpPr>
          <p:grpSpPr>
            <a:xfrm>
              <a:off x="3259015" y="2614246"/>
              <a:ext cx="1137138" cy="366393"/>
              <a:chOff x="3259015" y="2614246"/>
              <a:chExt cx="1137138" cy="366393"/>
            </a:xfrm>
          </p:grpSpPr>
          <p:cxnSp>
            <p:nvCxnSpPr>
              <p:cNvPr id="1039" name="Straight Connector 1038"/>
              <p:cNvCxnSpPr/>
              <p:nvPr/>
            </p:nvCxnSpPr>
            <p:spPr>
              <a:xfrm>
                <a:off x="3446584" y="2672862"/>
                <a:ext cx="949569" cy="0"/>
              </a:xfrm>
              <a:prstGeom prst="line">
                <a:avLst/>
              </a:prstGeom>
            </p:spPr>
            <p:style>
              <a:lnRef idx="1">
                <a:schemeClr val="accent1"/>
              </a:lnRef>
              <a:fillRef idx="0">
                <a:schemeClr val="accent1"/>
              </a:fillRef>
              <a:effectRef idx="0">
                <a:schemeClr val="accent1"/>
              </a:effectRef>
              <a:fontRef idx="minor">
                <a:schemeClr val="tx1"/>
              </a:fontRef>
            </p:style>
          </p:cxnSp>
          <p:sp>
            <p:nvSpPr>
              <p:cNvPr id="1043" name="TextBox 1042"/>
              <p:cNvSpPr txBox="1"/>
              <p:nvPr/>
            </p:nvSpPr>
            <p:spPr>
              <a:xfrm>
                <a:off x="3259015" y="2672862"/>
                <a:ext cx="354584" cy="307777"/>
              </a:xfrm>
              <a:prstGeom prst="rect">
                <a:avLst/>
              </a:prstGeom>
              <a:noFill/>
            </p:spPr>
            <p:txBody>
              <a:bodyPr wrap="none" rtlCol="0">
                <a:spAutoFit/>
              </a:bodyPr>
              <a:lstStyle/>
              <a:p>
                <a:r>
                  <a:rPr lang="en-US" sz="1400" dirty="0" smtClean="0"/>
                  <a:t>x2</a:t>
                </a:r>
                <a:endParaRPr lang="en-IN" sz="1400" dirty="0"/>
              </a:p>
            </p:txBody>
          </p:sp>
          <p:sp>
            <p:nvSpPr>
              <p:cNvPr id="1047" name="TextBox 1046"/>
              <p:cNvSpPr txBox="1"/>
              <p:nvPr/>
            </p:nvSpPr>
            <p:spPr>
              <a:xfrm>
                <a:off x="3921368" y="2614246"/>
                <a:ext cx="404278" cy="307777"/>
              </a:xfrm>
              <a:prstGeom prst="rect">
                <a:avLst/>
              </a:prstGeom>
              <a:noFill/>
            </p:spPr>
            <p:txBody>
              <a:bodyPr wrap="none" rtlCol="0">
                <a:spAutoFit/>
              </a:bodyPr>
              <a:lstStyle/>
              <a:p>
                <a:r>
                  <a:rPr lang="en-US" sz="1400" dirty="0" smtClean="0"/>
                  <a:t>w2</a:t>
                </a:r>
                <a:endParaRPr lang="en-IN" dirty="0"/>
              </a:p>
            </p:txBody>
          </p:sp>
        </p:grpSp>
        <p:sp>
          <p:nvSpPr>
            <p:cNvPr id="1048" name="TextBox 1047"/>
            <p:cNvSpPr txBox="1"/>
            <p:nvPr/>
          </p:nvSpPr>
          <p:spPr>
            <a:xfrm>
              <a:off x="4624819" y="3367445"/>
              <a:ext cx="1451038" cy="307777"/>
            </a:xfrm>
            <a:prstGeom prst="rect">
              <a:avLst/>
            </a:prstGeom>
            <a:noFill/>
          </p:spPr>
          <p:txBody>
            <a:bodyPr wrap="none" rtlCol="0">
              <a:spAutoFit/>
            </a:bodyPr>
            <a:lstStyle/>
            <a:p>
              <a:r>
                <a:rPr lang="en-US" sz="1400" dirty="0" smtClean="0"/>
                <a:t>Z=x1w1+ x2w3+b</a:t>
              </a:r>
              <a:endParaRPr lang="en-IN" sz="1400" dirty="0"/>
            </a:p>
          </p:txBody>
        </p:sp>
        <p:sp>
          <p:nvSpPr>
            <p:cNvPr id="1049" name="Freeform 1048"/>
            <p:cNvSpPr/>
            <p:nvPr/>
          </p:nvSpPr>
          <p:spPr>
            <a:xfrm>
              <a:off x="4839723" y="3022703"/>
              <a:ext cx="177754" cy="376989"/>
            </a:xfrm>
            <a:custGeom>
              <a:avLst/>
              <a:gdLst>
                <a:gd name="connsiteX0" fmla="*/ 177754 w 177754"/>
                <a:gd name="connsiteY0" fmla="*/ 376989 h 376989"/>
                <a:gd name="connsiteX1" fmla="*/ 154308 w 177754"/>
                <a:gd name="connsiteY1" fmla="*/ 306651 h 376989"/>
                <a:gd name="connsiteX2" fmla="*/ 119139 w 177754"/>
                <a:gd name="connsiteY2" fmla="*/ 248035 h 376989"/>
                <a:gd name="connsiteX3" fmla="*/ 107415 w 177754"/>
                <a:gd name="connsiteY3" fmla="*/ 212866 h 376989"/>
                <a:gd name="connsiteX4" fmla="*/ 83969 w 177754"/>
                <a:gd name="connsiteY4" fmla="*/ 165974 h 376989"/>
                <a:gd name="connsiteX5" fmla="*/ 60523 w 177754"/>
                <a:gd name="connsiteY5" fmla="*/ 95635 h 376989"/>
                <a:gd name="connsiteX6" fmla="*/ 25354 w 177754"/>
                <a:gd name="connsiteY6" fmla="*/ 25297 h 376989"/>
                <a:gd name="connsiteX7" fmla="*/ 60523 w 177754"/>
                <a:gd name="connsiteY7" fmla="*/ 13574 h 376989"/>
                <a:gd name="connsiteX8" fmla="*/ 25354 w 177754"/>
                <a:gd name="connsiteY8" fmla="*/ 1851 h 376989"/>
                <a:gd name="connsiteX9" fmla="*/ 1908 w 177754"/>
                <a:gd name="connsiteY9" fmla="*/ 37020 h 376989"/>
                <a:gd name="connsiteX10" fmla="*/ 1908 w 177754"/>
                <a:gd name="connsiteY10" fmla="*/ 83912 h 37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754" h="376989">
                  <a:moveTo>
                    <a:pt x="177754" y="376989"/>
                  </a:moveTo>
                  <a:cubicBezTo>
                    <a:pt x="169939" y="353543"/>
                    <a:pt x="164535" y="329150"/>
                    <a:pt x="154308" y="306651"/>
                  </a:cubicBezTo>
                  <a:cubicBezTo>
                    <a:pt x="144879" y="285908"/>
                    <a:pt x="129329" y="268415"/>
                    <a:pt x="119139" y="248035"/>
                  </a:cubicBezTo>
                  <a:cubicBezTo>
                    <a:pt x="113613" y="236982"/>
                    <a:pt x="112283" y="224224"/>
                    <a:pt x="107415" y="212866"/>
                  </a:cubicBezTo>
                  <a:cubicBezTo>
                    <a:pt x="100531" y="196803"/>
                    <a:pt x="90459" y="182200"/>
                    <a:pt x="83969" y="165974"/>
                  </a:cubicBezTo>
                  <a:cubicBezTo>
                    <a:pt x="74790" y="143027"/>
                    <a:pt x="74232" y="116199"/>
                    <a:pt x="60523" y="95635"/>
                  </a:cubicBezTo>
                  <a:cubicBezTo>
                    <a:pt x="30222" y="50184"/>
                    <a:pt x="41532" y="73832"/>
                    <a:pt x="25354" y="25297"/>
                  </a:cubicBezTo>
                  <a:cubicBezTo>
                    <a:pt x="37077" y="21389"/>
                    <a:pt x="60523" y="25931"/>
                    <a:pt x="60523" y="13574"/>
                  </a:cubicBezTo>
                  <a:cubicBezTo>
                    <a:pt x="60523" y="1217"/>
                    <a:pt x="36827" y="-2738"/>
                    <a:pt x="25354" y="1851"/>
                  </a:cubicBezTo>
                  <a:cubicBezTo>
                    <a:pt x="12272" y="7084"/>
                    <a:pt x="5779" y="23473"/>
                    <a:pt x="1908" y="37020"/>
                  </a:cubicBezTo>
                  <a:cubicBezTo>
                    <a:pt x="-2386" y="52049"/>
                    <a:pt x="1908" y="68281"/>
                    <a:pt x="1908" y="83912"/>
                  </a:cubicBezTo>
                </a:path>
              </a:pathLst>
            </a:cu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nvGrpSpPr>
            <p:cNvPr id="38" name="Group 37"/>
            <p:cNvGrpSpPr/>
            <p:nvPr/>
          </p:nvGrpSpPr>
          <p:grpSpPr>
            <a:xfrm>
              <a:off x="6518031" y="2401742"/>
              <a:ext cx="1048218" cy="307777"/>
              <a:chOff x="6518031" y="2401742"/>
              <a:chExt cx="1048218" cy="307777"/>
            </a:xfrm>
          </p:grpSpPr>
          <p:sp>
            <p:nvSpPr>
              <p:cNvPr id="1050" name="Freeform 1049"/>
              <p:cNvSpPr/>
              <p:nvPr/>
            </p:nvSpPr>
            <p:spPr>
              <a:xfrm>
                <a:off x="6518031" y="2552004"/>
                <a:ext cx="363415" cy="85852"/>
              </a:xfrm>
              <a:custGeom>
                <a:avLst/>
                <a:gdLst>
                  <a:gd name="connsiteX0" fmla="*/ 0 w 363415"/>
                  <a:gd name="connsiteY0" fmla="*/ 27073 h 85852"/>
                  <a:gd name="connsiteX1" fmla="*/ 328246 w 363415"/>
                  <a:gd name="connsiteY1" fmla="*/ 15350 h 85852"/>
                  <a:gd name="connsiteX2" fmla="*/ 293077 w 363415"/>
                  <a:gd name="connsiteY2" fmla="*/ 3627 h 85852"/>
                  <a:gd name="connsiteX3" fmla="*/ 363415 w 363415"/>
                  <a:gd name="connsiteY3" fmla="*/ 38796 h 85852"/>
                  <a:gd name="connsiteX4" fmla="*/ 328246 w 363415"/>
                  <a:gd name="connsiteY4" fmla="*/ 73965 h 85852"/>
                  <a:gd name="connsiteX5" fmla="*/ 269631 w 363415"/>
                  <a:gd name="connsiteY5" fmla="*/ 85688 h 85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3415" h="85852">
                    <a:moveTo>
                      <a:pt x="0" y="27073"/>
                    </a:moveTo>
                    <a:cubicBezTo>
                      <a:pt x="109415" y="23165"/>
                      <a:pt x="219110" y="24081"/>
                      <a:pt x="328246" y="15350"/>
                    </a:cubicBezTo>
                    <a:cubicBezTo>
                      <a:pt x="340564" y="14365"/>
                      <a:pt x="293077" y="-8730"/>
                      <a:pt x="293077" y="3627"/>
                    </a:cubicBezTo>
                    <a:cubicBezTo>
                      <a:pt x="293077" y="18777"/>
                      <a:pt x="354743" y="35905"/>
                      <a:pt x="363415" y="38796"/>
                    </a:cubicBezTo>
                    <a:cubicBezTo>
                      <a:pt x="351692" y="50519"/>
                      <a:pt x="342040" y="64769"/>
                      <a:pt x="328246" y="73965"/>
                    </a:cubicBezTo>
                    <a:cubicBezTo>
                      <a:pt x="306954" y="88159"/>
                      <a:pt x="291968" y="85688"/>
                      <a:pt x="269631" y="85688"/>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051" name="TextBox 1050"/>
              <p:cNvSpPr txBox="1"/>
              <p:nvPr/>
            </p:nvSpPr>
            <p:spPr>
              <a:xfrm>
                <a:off x="6881446" y="2401742"/>
                <a:ext cx="684803" cy="307777"/>
              </a:xfrm>
              <a:prstGeom prst="rect">
                <a:avLst/>
              </a:prstGeom>
              <a:noFill/>
            </p:spPr>
            <p:txBody>
              <a:bodyPr wrap="none" rtlCol="0">
                <a:spAutoFit/>
              </a:bodyPr>
              <a:lstStyle/>
              <a:p>
                <a:r>
                  <a:rPr lang="en-US" sz="1400" dirty="0" smtClean="0"/>
                  <a:t>output</a:t>
                </a:r>
                <a:endParaRPr lang="en-IN" sz="1400" dirty="0"/>
              </a:p>
            </p:txBody>
          </p:sp>
        </p:grpSp>
        <p:grpSp>
          <p:nvGrpSpPr>
            <p:cNvPr id="37" name="Group 36"/>
            <p:cNvGrpSpPr/>
            <p:nvPr/>
          </p:nvGrpSpPr>
          <p:grpSpPr>
            <a:xfrm>
              <a:off x="6295292" y="2848237"/>
              <a:ext cx="2365107" cy="523419"/>
              <a:chOff x="6295292" y="2848237"/>
              <a:chExt cx="2365107" cy="523419"/>
            </a:xfrm>
          </p:grpSpPr>
          <p:sp>
            <p:nvSpPr>
              <p:cNvPr id="1052" name="Freeform 1051"/>
              <p:cNvSpPr/>
              <p:nvPr/>
            </p:nvSpPr>
            <p:spPr>
              <a:xfrm>
                <a:off x="6295292" y="2848237"/>
                <a:ext cx="457200" cy="492840"/>
              </a:xfrm>
              <a:custGeom>
                <a:avLst/>
                <a:gdLst>
                  <a:gd name="connsiteX0" fmla="*/ 457200 w 457200"/>
                  <a:gd name="connsiteY0" fmla="*/ 492840 h 492840"/>
                  <a:gd name="connsiteX1" fmla="*/ 328246 w 457200"/>
                  <a:gd name="connsiteY1" fmla="*/ 352163 h 492840"/>
                  <a:gd name="connsiteX2" fmla="*/ 269631 w 457200"/>
                  <a:gd name="connsiteY2" fmla="*/ 293548 h 492840"/>
                  <a:gd name="connsiteX3" fmla="*/ 175846 w 457200"/>
                  <a:gd name="connsiteY3" fmla="*/ 199763 h 492840"/>
                  <a:gd name="connsiteX4" fmla="*/ 128954 w 457200"/>
                  <a:gd name="connsiteY4" fmla="*/ 129425 h 492840"/>
                  <a:gd name="connsiteX5" fmla="*/ 58616 w 457200"/>
                  <a:gd name="connsiteY5" fmla="*/ 35640 h 492840"/>
                  <a:gd name="connsiteX6" fmla="*/ 46893 w 457200"/>
                  <a:gd name="connsiteY6" fmla="*/ 471 h 492840"/>
                  <a:gd name="connsiteX7" fmla="*/ 117231 w 457200"/>
                  <a:gd name="connsiteY7" fmla="*/ 23917 h 492840"/>
                  <a:gd name="connsiteX8" fmla="*/ 70339 w 457200"/>
                  <a:gd name="connsiteY8" fmla="*/ 12194 h 492840"/>
                  <a:gd name="connsiteX9" fmla="*/ 11723 w 457200"/>
                  <a:gd name="connsiteY9" fmla="*/ 105978 h 492840"/>
                  <a:gd name="connsiteX10" fmla="*/ 0 w 457200"/>
                  <a:gd name="connsiteY10" fmla="*/ 152871 h 49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7200" h="492840">
                    <a:moveTo>
                      <a:pt x="457200" y="492840"/>
                    </a:moveTo>
                    <a:cubicBezTo>
                      <a:pt x="278526" y="314164"/>
                      <a:pt x="487943" y="527828"/>
                      <a:pt x="328246" y="352163"/>
                    </a:cubicBezTo>
                    <a:cubicBezTo>
                      <a:pt x="309659" y="331718"/>
                      <a:pt x="287128" y="314934"/>
                      <a:pt x="269631" y="293548"/>
                    </a:cubicBezTo>
                    <a:cubicBezTo>
                      <a:pt x="191281" y="197786"/>
                      <a:pt x="261441" y="242559"/>
                      <a:pt x="175846" y="199763"/>
                    </a:cubicBezTo>
                    <a:cubicBezTo>
                      <a:pt x="160215" y="176317"/>
                      <a:pt x="148879" y="149351"/>
                      <a:pt x="128954" y="129425"/>
                    </a:cubicBezTo>
                    <a:cubicBezTo>
                      <a:pt x="101182" y="101652"/>
                      <a:pt x="71871" y="75405"/>
                      <a:pt x="58616" y="35640"/>
                    </a:cubicBezTo>
                    <a:cubicBezTo>
                      <a:pt x="54708" y="23917"/>
                      <a:pt x="34776" y="2894"/>
                      <a:pt x="46893" y="471"/>
                    </a:cubicBezTo>
                    <a:cubicBezTo>
                      <a:pt x="71127" y="-4376"/>
                      <a:pt x="141207" y="29911"/>
                      <a:pt x="117231" y="23917"/>
                    </a:cubicBezTo>
                    <a:lnTo>
                      <a:pt x="70339" y="12194"/>
                    </a:lnTo>
                    <a:cubicBezTo>
                      <a:pt x="-5693" y="31202"/>
                      <a:pt x="29725" y="6967"/>
                      <a:pt x="11723" y="105978"/>
                    </a:cubicBezTo>
                    <a:cubicBezTo>
                      <a:pt x="8841" y="121830"/>
                      <a:pt x="0" y="152871"/>
                      <a:pt x="0" y="152871"/>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053" name="TextBox 1052"/>
              <p:cNvSpPr txBox="1"/>
              <p:nvPr/>
            </p:nvSpPr>
            <p:spPr>
              <a:xfrm>
                <a:off x="6733910" y="3094657"/>
                <a:ext cx="1926489" cy="276999"/>
              </a:xfrm>
              <a:prstGeom prst="rect">
                <a:avLst/>
              </a:prstGeom>
              <a:noFill/>
            </p:spPr>
            <p:txBody>
              <a:bodyPr wrap="none" rtlCol="0">
                <a:spAutoFit/>
              </a:bodyPr>
              <a:lstStyle/>
              <a:p>
                <a:r>
                  <a:rPr lang="en-US" sz="1200" dirty="0" smtClean="0"/>
                  <a:t>Activation function(step fn )</a:t>
                </a:r>
                <a:endParaRPr lang="en-IN" sz="1200" dirty="0"/>
              </a:p>
            </p:txBody>
          </p:sp>
        </p:grpSp>
      </p:grpSp>
      <p:sp>
        <p:nvSpPr>
          <p:cNvPr id="1054" name="TextBox 1053"/>
          <p:cNvSpPr txBox="1"/>
          <p:nvPr/>
        </p:nvSpPr>
        <p:spPr>
          <a:xfrm>
            <a:off x="10238433" y="3013008"/>
            <a:ext cx="707373" cy="523220"/>
          </a:xfrm>
          <a:prstGeom prst="rect">
            <a:avLst/>
          </a:prstGeom>
          <a:noFill/>
        </p:spPr>
        <p:txBody>
          <a:bodyPr wrap="none" rtlCol="0">
            <a:spAutoFit/>
          </a:bodyPr>
          <a:lstStyle/>
          <a:p>
            <a:r>
              <a:rPr lang="en-US" sz="1400" dirty="0" smtClean="0"/>
              <a:t>Ranges</a:t>
            </a:r>
          </a:p>
          <a:p>
            <a:r>
              <a:rPr lang="en-US" sz="1400" dirty="0" smtClean="0"/>
              <a:t>-1 ,1</a:t>
            </a:r>
            <a:endParaRPr lang="en-IN" sz="1400" dirty="0"/>
          </a:p>
        </p:txBody>
      </p:sp>
      <p:grpSp>
        <p:nvGrpSpPr>
          <p:cNvPr id="33" name="Group 32"/>
          <p:cNvGrpSpPr/>
          <p:nvPr/>
        </p:nvGrpSpPr>
        <p:grpSpPr>
          <a:xfrm>
            <a:off x="8156135" y="3256876"/>
            <a:ext cx="1058735" cy="692588"/>
            <a:chOff x="9448800" y="3211197"/>
            <a:chExt cx="1058735" cy="692588"/>
          </a:xfrm>
        </p:grpSpPr>
        <p:sp>
          <p:nvSpPr>
            <p:cNvPr id="1055" name="Right Brace 1054"/>
            <p:cNvSpPr/>
            <p:nvPr/>
          </p:nvSpPr>
          <p:spPr>
            <a:xfrm>
              <a:off x="9448800" y="3211197"/>
              <a:ext cx="331294" cy="69258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32" name="TextBox 31"/>
            <p:cNvSpPr txBox="1"/>
            <p:nvPr/>
          </p:nvSpPr>
          <p:spPr>
            <a:xfrm>
              <a:off x="9795481" y="3326658"/>
              <a:ext cx="712054" cy="461665"/>
            </a:xfrm>
            <a:prstGeom prst="rect">
              <a:avLst/>
            </a:prstGeom>
            <a:noFill/>
          </p:spPr>
          <p:txBody>
            <a:bodyPr wrap="none" rtlCol="0">
              <a:spAutoFit/>
            </a:bodyPr>
            <a:lstStyle/>
            <a:p>
              <a:r>
                <a:rPr lang="en-US" sz="1200" dirty="0" smtClean="0">
                  <a:latin typeface="Arial Unicode MS" pitchFamily="34" charset="-128"/>
                  <a:ea typeface="Arial Unicode MS" pitchFamily="34" charset="-128"/>
                  <a:cs typeface="Arial Unicode MS" pitchFamily="34" charset="-128"/>
                </a:rPr>
                <a:t>Z&gt;=0 1</a:t>
              </a:r>
            </a:p>
            <a:p>
              <a:r>
                <a:rPr lang="en-US" sz="1200" dirty="0" smtClean="0">
                  <a:latin typeface="Arial Unicode MS" pitchFamily="34" charset="-128"/>
                  <a:ea typeface="Arial Unicode MS" pitchFamily="34" charset="-128"/>
                  <a:cs typeface="Arial Unicode MS" pitchFamily="34" charset="-128"/>
                </a:rPr>
                <a:t>Z&lt;0    0</a:t>
              </a:r>
              <a:endParaRPr lang="en-IN" sz="1200" dirty="0">
                <a:latin typeface="Arial Unicode MS" pitchFamily="34" charset="-128"/>
                <a:ea typeface="Arial Unicode MS" pitchFamily="34" charset="-128"/>
                <a:cs typeface="Arial Unicode MS" pitchFamily="34" charset="-128"/>
              </a:endParaRPr>
            </a:p>
          </p:txBody>
        </p:sp>
      </p:grpSp>
      <p:grpSp>
        <p:nvGrpSpPr>
          <p:cNvPr id="51" name="Group 50"/>
          <p:cNvGrpSpPr/>
          <p:nvPr/>
        </p:nvGrpSpPr>
        <p:grpSpPr>
          <a:xfrm>
            <a:off x="27364" y="159172"/>
            <a:ext cx="1992505" cy="350008"/>
            <a:chOff x="1492972" y="258160"/>
            <a:chExt cx="1992505" cy="350008"/>
          </a:xfrm>
          <a:solidFill>
            <a:schemeClr val="accent5">
              <a:lumMod val="75000"/>
            </a:schemeClr>
          </a:solidFill>
        </p:grpSpPr>
        <p:sp>
          <p:nvSpPr>
            <p:cNvPr id="52" name="Rectangle 51"/>
            <p:cNvSpPr/>
            <p:nvPr/>
          </p:nvSpPr>
          <p:spPr>
            <a:xfrm>
              <a:off x="1492972" y="258160"/>
              <a:ext cx="1992505" cy="338554"/>
            </a:xfrm>
            <a:prstGeom prst="rect">
              <a:avLst/>
            </a:prstGeom>
            <a:grpFill/>
            <a:ln>
              <a:solidFill>
                <a:schemeClr val="bg1"/>
              </a:solidFill>
            </a:ln>
          </p:spPr>
          <p:txBody>
            <a:bodyPr wrap="square" rtlCol="0">
              <a:spAutoFit/>
            </a:bodyPr>
            <a:lstStyle/>
            <a:p>
              <a:r>
                <a:rPr lang="en-US" sz="1600" dirty="0" smtClean="0">
                  <a:solidFill>
                    <a:schemeClr val="bg1"/>
                  </a:solidFill>
                  <a:latin typeface="Bahnschrift Light" pitchFamily="34" charset="0"/>
                  <a:ea typeface="Arial Unicode MS" pitchFamily="34" charset="-128"/>
                  <a:cs typeface="Arial Unicode MS" pitchFamily="34" charset="-128"/>
                </a:rPr>
                <a:t>Perceptron</a:t>
              </a:r>
              <a:endParaRPr lang="en-IN" sz="1600" dirty="0">
                <a:solidFill>
                  <a:schemeClr val="bg1"/>
                </a:solidFill>
                <a:latin typeface="Bahnschrift Light" pitchFamily="34" charset="0"/>
                <a:ea typeface="Arial Unicode MS" pitchFamily="34" charset="-128"/>
                <a:cs typeface="Arial Unicode MS" pitchFamily="34" charset="-128"/>
              </a:endParaRPr>
            </a:p>
          </p:txBody>
        </p:sp>
        <p:cxnSp>
          <p:nvCxnSpPr>
            <p:cNvPr id="53" name="Straight Connector 52"/>
            <p:cNvCxnSpPr/>
            <p:nvPr/>
          </p:nvCxnSpPr>
          <p:spPr>
            <a:xfrm>
              <a:off x="1492972" y="608168"/>
              <a:ext cx="1992505" cy="0"/>
            </a:xfrm>
            <a:prstGeom prst="line">
              <a:avLst/>
            </a:prstGeom>
            <a:grpFill/>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215792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109182" y="182775"/>
            <a:ext cx="11965587" cy="830997"/>
          </a:xfrm>
          <a:prstGeom prst="rect">
            <a:avLst/>
          </a:prstGeom>
        </p:spPr>
        <p:txBody>
          <a:bodyPr wrap="square">
            <a:spAutoFit/>
          </a:bodyPr>
          <a:lstStyle/>
          <a:p>
            <a:r>
              <a:rPr lang="en-US" sz="1600" dirty="0">
                <a:ea typeface="Arial Unicode MS" pitchFamily="34" charset="-128"/>
                <a:cs typeface="Arial Unicode MS" pitchFamily="34" charset="-128"/>
              </a:rPr>
              <a:t>activation function brings z into a given range. This could be -1 to 1, 0 to 1, or something else. The purpose of the activation function is to restrict the value because weights, inputs, and bias can take any number. To bring it into range, we use a mathematical function, like a step function, if the value of z&gt;=0, output is 1; if z&lt;0, output is 0. </a:t>
            </a:r>
            <a:endParaRPr lang="en-IN" sz="1600" dirty="0">
              <a:ea typeface="Arial Unicode MS" pitchFamily="34" charset="-128"/>
              <a:cs typeface="Arial Unicode MS" pitchFamily="34" charset="-128"/>
            </a:endParaRPr>
          </a:p>
        </p:txBody>
      </p:sp>
      <p:sp>
        <p:nvSpPr>
          <p:cNvPr id="3" name="Rectangle 2"/>
          <p:cNvSpPr/>
          <p:nvPr/>
        </p:nvSpPr>
        <p:spPr>
          <a:xfrm>
            <a:off x="859809" y="1142702"/>
            <a:ext cx="11015669" cy="830997"/>
          </a:xfrm>
          <a:prstGeom prst="rect">
            <a:avLst/>
          </a:prstGeom>
        </p:spPr>
        <p:txBody>
          <a:bodyPr wrap="square">
            <a:spAutoFit/>
          </a:bodyPr>
          <a:lstStyle/>
          <a:p>
            <a:r>
              <a:rPr lang="en-US" sz="1600" dirty="0">
                <a:latin typeface="Bahnschrift SemiBold" pitchFamily="34" charset="0"/>
                <a:ea typeface="Arial Unicode MS" pitchFamily="34" charset="-128"/>
                <a:cs typeface="Arial Unicode MS" pitchFamily="34" charset="-128"/>
              </a:rPr>
              <a:t>Let’s take a small problem</a:t>
            </a:r>
            <a:r>
              <a:rPr lang="en-US" sz="1600" dirty="0">
                <a:ea typeface="Arial Unicode MS" pitchFamily="34" charset="-128"/>
                <a:cs typeface="Arial Unicode MS" pitchFamily="34" charset="-128"/>
              </a:rPr>
              <a:t>—suppose we are solving a machine learning problem and we have data for some students. Assume we have data for 1,000 students. The data includes the IQ of each student, their college CGPA, and whether or not they got placed (placement as one or not).</a:t>
            </a:r>
            <a:endParaRPr lang="en-IN" sz="1600" dirty="0">
              <a:ea typeface="Arial Unicode MS" pitchFamily="34" charset="-128"/>
              <a:cs typeface="Arial Unicode MS" pitchFamily="34" charset="-128"/>
            </a:endParaRPr>
          </a:p>
        </p:txBody>
      </p:sp>
      <p:sp>
        <p:nvSpPr>
          <p:cNvPr id="5" name="Rectangle 4"/>
          <p:cNvSpPr/>
          <p:nvPr/>
        </p:nvSpPr>
        <p:spPr>
          <a:xfrm>
            <a:off x="204717" y="3880991"/>
            <a:ext cx="11741096" cy="830997"/>
          </a:xfrm>
          <a:prstGeom prst="rect">
            <a:avLst/>
          </a:prstGeom>
        </p:spPr>
        <p:txBody>
          <a:bodyPr wrap="square">
            <a:spAutoFit/>
          </a:bodyPr>
          <a:lstStyle/>
          <a:p>
            <a:r>
              <a:rPr lang="en-US" sz="1600" dirty="0">
                <a:ea typeface="Arial Unicode MS" pitchFamily="34" charset="-128"/>
                <a:cs typeface="Arial Unicode MS" pitchFamily="34" charset="-128"/>
              </a:rPr>
              <a:t>For example, for one student, the data could be: 78, 7.8, and the placement is done (1). For another, it could be 69, 5.1, and this student wasn't placed (0). So, let’s say our problem is to create a predictor, a model, such that when we give it this type of data, the model learns from it and in the future, when we provide a student's IQ and CGPA, it can predict whether the student will get placed or not.</a:t>
            </a:r>
            <a:endParaRPr lang="en-IN" sz="1600" dirty="0">
              <a:ea typeface="Arial Unicode MS" pitchFamily="34" charset="-128"/>
              <a:cs typeface="Arial Unicode MS" pitchFamily="34" charset="-128"/>
            </a:endParaRPr>
          </a:p>
        </p:txBody>
      </p:sp>
      <p:sp>
        <p:nvSpPr>
          <p:cNvPr id="9" name="Rectangle 8"/>
          <p:cNvSpPr/>
          <p:nvPr/>
        </p:nvSpPr>
        <p:spPr>
          <a:xfrm>
            <a:off x="204717" y="5009905"/>
            <a:ext cx="11741096" cy="1292662"/>
          </a:xfrm>
          <a:prstGeom prst="rect">
            <a:avLst/>
          </a:prstGeom>
        </p:spPr>
        <p:txBody>
          <a:bodyPr wrap="square">
            <a:spAutoFit/>
          </a:bodyPr>
          <a:lstStyle/>
          <a:p>
            <a:r>
              <a:rPr lang="en-US" sz="1600" dirty="0">
                <a:ea typeface="Arial Unicode MS" pitchFamily="34" charset="-128"/>
                <a:cs typeface="Arial Unicode MS" pitchFamily="34" charset="-128"/>
              </a:rPr>
              <a:t>So, in this perceptron model, we will do both: </a:t>
            </a:r>
          </a:p>
          <a:p>
            <a:pPr marL="0" lvl="1" indent="-285750">
              <a:buFont typeface="Wingdings" pitchFamily="2" charset="2"/>
              <a:buChar char="§"/>
            </a:pPr>
            <a:r>
              <a:rPr lang="en-US" sz="1600" dirty="0">
                <a:ea typeface="Arial Unicode MS" pitchFamily="34" charset="-128"/>
                <a:cs typeface="Arial Unicode MS" pitchFamily="34" charset="-128"/>
              </a:rPr>
              <a:t>First train it, </a:t>
            </a:r>
          </a:p>
          <a:p>
            <a:pPr marL="0" lvl="1" indent="-285750">
              <a:buFont typeface="Wingdings" pitchFamily="2" charset="2"/>
              <a:buChar char="§"/>
            </a:pPr>
            <a:r>
              <a:rPr lang="en-US" sz="1600" dirty="0">
                <a:ea typeface="Arial Unicode MS" pitchFamily="34" charset="-128"/>
                <a:cs typeface="Arial Unicode MS" pitchFamily="34" charset="-128"/>
              </a:rPr>
              <a:t>and then use it for prediction</a:t>
            </a:r>
            <a:r>
              <a:rPr lang="en-US" sz="1400" dirty="0" smtClean="0"/>
              <a:t>.</a:t>
            </a:r>
          </a:p>
          <a:p>
            <a:endParaRPr lang="en-US" sz="1400" dirty="0"/>
          </a:p>
          <a:p>
            <a:r>
              <a:rPr lang="en-US" sz="1600" dirty="0">
                <a:ea typeface="Arial Unicode MS" pitchFamily="34" charset="-128"/>
                <a:cs typeface="Arial Unicode MS" pitchFamily="34" charset="-128"/>
              </a:rPr>
              <a:t>Let me explain how training works. For training, we take each student one by one and send them through this process.</a:t>
            </a:r>
            <a:endParaRPr lang="en-IN" sz="1600" dirty="0">
              <a:ea typeface="Arial Unicode MS" pitchFamily="34" charset="-128"/>
              <a:cs typeface="Arial Unicode MS" pitchFamily="34" charset="-128"/>
            </a:endParaRPr>
          </a:p>
        </p:txBody>
      </p:sp>
      <p:graphicFrame>
        <p:nvGraphicFramePr>
          <p:cNvPr id="10" name="Table 9"/>
          <p:cNvGraphicFramePr>
            <a:graphicFrameLocks noGrp="1"/>
          </p:cNvGraphicFramePr>
          <p:nvPr>
            <p:extLst>
              <p:ext uri="{D42A27DB-BD31-4B8C-83A1-F6EECF244321}">
                <p14:modId xmlns:p14="http://schemas.microsoft.com/office/powerpoint/2010/main" val="395483131"/>
              </p:ext>
            </p:extLst>
          </p:nvPr>
        </p:nvGraphicFramePr>
        <p:xfrm>
          <a:off x="3427161" y="1973699"/>
          <a:ext cx="3524622" cy="1332262"/>
        </p:xfrm>
        <a:graphic>
          <a:graphicData uri="http://schemas.openxmlformats.org/drawingml/2006/table">
            <a:tbl>
              <a:tblPr firstRow="1" bandRow="1">
                <a:tableStyleId>{616DA210-FB5B-4158-B5E0-FEB733F419BA}</a:tableStyleId>
              </a:tblPr>
              <a:tblGrid>
                <a:gridCol w="1059426"/>
                <a:gridCol w="1181665"/>
                <a:gridCol w="1283531"/>
              </a:tblGrid>
              <a:tr h="600742">
                <a:tc>
                  <a:txBody>
                    <a:bodyPr/>
                    <a:lstStyle/>
                    <a:p>
                      <a:r>
                        <a:rPr lang="en-US" sz="1800" dirty="0" smtClean="0"/>
                        <a:t>IQ</a:t>
                      </a:r>
                      <a:endParaRPr lang="en-IN" sz="1800" dirty="0"/>
                    </a:p>
                  </a:txBody>
                  <a:tcPr>
                    <a:solidFill>
                      <a:schemeClr val="bg1">
                        <a:lumMod val="95000"/>
                      </a:schemeClr>
                    </a:solidFill>
                  </a:tcPr>
                </a:tc>
                <a:tc>
                  <a:txBody>
                    <a:bodyPr/>
                    <a:lstStyle/>
                    <a:p>
                      <a:r>
                        <a:rPr lang="en-US" sz="1800" dirty="0" smtClean="0"/>
                        <a:t>CGPA</a:t>
                      </a:r>
                      <a:endParaRPr lang="en-IN" sz="1800" dirty="0"/>
                    </a:p>
                  </a:txBody>
                  <a:tcPr>
                    <a:solidFill>
                      <a:schemeClr val="bg1">
                        <a:lumMod val="95000"/>
                      </a:schemeClr>
                    </a:solidFill>
                  </a:tcPr>
                </a:tc>
                <a:tc>
                  <a:txBody>
                    <a:bodyPr/>
                    <a:lstStyle/>
                    <a:p>
                      <a:r>
                        <a:rPr lang="en-US" sz="1800" dirty="0" smtClean="0"/>
                        <a:t>Placed</a:t>
                      </a:r>
                      <a:endParaRPr lang="en-IN" sz="1800" dirty="0"/>
                    </a:p>
                  </a:txBody>
                  <a:tcPr>
                    <a:solidFill>
                      <a:schemeClr val="bg1">
                        <a:lumMod val="95000"/>
                      </a:schemeClr>
                    </a:solidFill>
                  </a:tcPr>
                </a:tc>
              </a:tr>
              <a:tr h="347798">
                <a:tc>
                  <a:txBody>
                    <a:bodyPr/>
                    <a:lstStyle/>
                    <a:p>
                      <a:r>
                        <a:rPr lang="en-US" sz="1800" dirty="0" smtClean="0"/>
                        <a:t>78</a:t>
                      </a:r>
                      <a:endParaRPr lang="en-IN" sz="1800" dirty="0"/>
                    </a:p>
                  </a:txBody>
                  <a:tcPr>
                    <a:noFill/>
                  </a:tcPr>
                </a:tc>
                <a:tc>
                  <a:txBody>
                    <a:bodyPr/>
                    <a:lstStyle/>
                    <a:p>
                      <a:r>
                        <a:rPr lang="en-US" sz="1800" dirty="0" smtClean="0"/>
                        <a:t>7.8</a:t>
                      </a:r>
                      <a:endParaRPr lang="en-IN" sz="1800" dirty="0"/>
                    </a:p>
                  </a:txBody>
                  <a:tcPr>
                    <a:noFill/>
                  </a:tcPr>
                </a:tc>
                <a:tc>
                  <a:txBody>
                    <a:bodyPr/>
                    <a:lstStyle/>
                    <a:p>
                      <a:r>
                        <a:rPr lang="en-US" sz="1800" dirty="0" smtClean="0"/>
                        <a:t>1</a:t>
                      </a:r>
                      <a:endParaRPr lang="en-IN" sz="1800" dirty="0"/>
                    </a:p>
                  </a:txBody>
                  <a:tcPr>
                    <a:noFill/>
                  </a:tcPr>
                </a:tc>
              </a:tr>
              <a:tr h="347798">
                <a:tc>
                  <a:txBody>
                    <a:bodyPr/>
                    <a:lstStyle/>
                    <a:p>
                      <a:r>
                        <a:rPr lang="en-US" sz="1800" dirty="0" smtClean="0"/>
                        <a:t>69</a:t>
                      </a:r>
                      <a:endParaRPr lang="en-IN" sz="1800" dirty="0"/>
                    </a:p>
                  </a:txBody>
                  <a:tcPr/>
                </a:tc>
                <a:tc>
                  <a:txBody>
                    <a:bodyPr/>
                    <a:lstStyle/>
                    <a:p>
                      <a:r>
                        <a:rPr lang="en-US" sz="1800" dirty="0" smtClean="0"/>
                        <a:t>5.1</a:t>
                      </a:r>
                      <a:endParaRPr lang="en-IN" sz="1800" dirty="0"/>
                    </a:p>
                  </a:txBody>
                  <a:tcPr/>
                </a:tc>
                <a:tc>
                  <a:txBody>
                    <a:bodyPr/>
                    <a:lstStyle/>
                    <a:p>
                      <a:r>
                        <a:rPr lang="en-US" sz="1800" dirty="0" smtClean="0"/>
                        <a:t>0</a:t>
                      </a:r>
                      <a:endParaRPr lang="en-IN" sz="1800" dirty="0"/>
                    </a:p>
                  </a:txBody>
                  <a:tcPr/>
                </a:tc>
              </a:tr>
            </a:tbl>
          </a:graphicData>
        </a:graphic>
      </p:graphicFrame>
    </p:spTree>
    <p:extLst>
      <p:ext uri="{BB962C8B-B14F-4D97-AF65-F5344CB8AC3E}">
        <p14:creationId xmlns:p14="http://schemas.microsoft.com/office/powerpoint/2010/main" val="19158852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228600"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525109" y="189521"/>
            <a:ext cx="11453444" cy="830997"/>
          </a:xfrm>
          <a:prstGeom prst="rect">
            <a:avLst/>
          </a:prstGeom>
          <a:ln>
            <a:noFill/>
          </a:ln>
        </p:spPr>
        <p:txBody>
          <a:bodyPr wrap="square">
            <a:spAutoFit/>
          </a:bodyPr>
          <a:lstStyle/>
          <a:p>
            <a:r>
              <a:rPr lang="en-US" sz="1600" dirty="0">
                <a:ea typeface="Arial Unicode MS" pitchFamily="34" charset="-128"/>
                <a:cs typeface="Arial Unicode MS" pitchFamily="34" charset="-128"/>
              </a:rPr>
              <a:t>For every student, x1 will be their IQ value and x2 will be their CGPA. For example, for the first student, you input 78 here and 7.8 here. Since we already know the correct output (placement), you can calculate the output. Depending on what the output is, you train this model accordingly</a:t>
            </a:r>
            <a:endParaRPr lang="en-IN" sz="1600" dirty="0">
              <a:ea typeface="Arial Unicode MS" pitchFamily="34" charset="-128"/>
              <a:cs typeface="Arial Unicode MS" pitchFamily="34" charset="-128"/>
            </a:endParaRPr>
          </a:p>
        </p:txBody>
      </p:sp>
      <p:sp>
        <p:nvSpPr>
          <p:cNvPr id="3" name="Rectangle 2"/>
          <p:cNvSpPr/>
          <p:nvPr/>
        </p:nvSpPr>
        <p:spPr>
          <a:xfrm>
            <a:off x="427600" y="3306170"/>
            <a:ext cx="11133558" cy="584775"/>
          </a:xfrm>
          <a:prstGeom prst="rect">
            <a:avLst/>
          </a:prstGeom>
          <a:ln>
            <a:noFill/>
          </a:ln>
        </p:spPr>
        <p:txBody>
          <a:bodyPr wrap="square">
            <a:spAutoFit/>
          </a:bodyPr>
          <a:lstStyle/>
          <a:p>
            <a:r>
              <a:rPr lang="en-US" sz="1600" dirty="0">
                <a:ea typeface="Arial Unicode MS" pitchFamily="34" charset="-128"/>
                <a:cs typeface="Arial Unicode MS" pitchFamily="34" charset="-128"/>
              </a:rPr>
              <a:t>Basically, the idea is very simple—in this whole process, you need to calculate the values of w1, w2, and bb. The core objective of the whole training process is to figure out these </a:t>
            </a:r>
            <a:r>
              <a:rPr lang="en-US" sz="1600" dirty="0">
                <a:solidFill>
                  <a:srgbClr val="FF0066"/>
                </a:solidFill>
                <a:latin typeface="Bahnschrift" pitchFamily="34" charset="0"/>
              </a:rPr>
              <a:t>weights and bias values</a:t>
            </a:r>
            <a:r>
              <a:rPr lang="en-US" sz="1400" dirty="0"/>
              <a:t>. </a:t>
            </a:r>
            <a:endParaRPr lang="en-IN" sz="1400" dirty="0"/>
          </a:p>
        </p:txBody>
      </p:sp>
      <p:sp>
        <p:nvSpPr>
          <p:cNvPr id="5" name="Rectangle 4"/>
          <p:cNvSpPr/>
          <p:nvPr/>
        </p:nvSpPr>
        <p:spPr>
          <a:xfrm>
            <a:off x="327799" y="4157578"/>
            <a:ext cx="11864201" cy="2492990"/>
          </a:xfrm>
          <a:prstGeom prst="rect">
            <a:avLst/>
          </a:prstGeom>
        </p:spPr>
        <p:txBody>
          <a:bodyPr wrap="square">
            <a:spAutoFit/>
          </a:bodyPr>
          <a:lstStyle/>
          <a:p>
            <a:r>
              <a:rPr lang="en-US" sz="1600" dirty="0">
                <a:ea typeface="Arial Unicode MS" pitchFamily="34" charset="-128"/>
                <a:cs typeface="Arial Unicode MS" pitchFamily="34" charset="-128"/>
              </a:rPr>
              <a:t>Once you have calculated the weights and bias after training, you can do prediction. Here’s how: assume the weight values are something, let’s say w1 is n, w2 is t, and b is x—these are calculated during training. Now, suppose you get a new student whose CGPA is 5.1 and IQ is 100, and you want to use the perceptron to predict</a:t>
            </a:r>
            <a:r>
              <a:rPr lang="en-US" sz="1400" dirty="0" smtClean="0"/>
              <a:t>.</a:t>
            </a:r>
          </a:p>
          <a:p>
            <a:endParaRPr lang="en-US" sz="1400" dirty="0"/>
          </a:p>
          <a:p>
            <a:r>
              <a:rPr lang="en-US" sz="1600" dirty="0">
                <a:ea typeface="Arial Unicode MS" pitchFamily="34" charset="-128"/>
                <a:cs typeface="Arial Unicode MS" pitchFamily="34" charset="-128"/>
              </a:rPr>
              <a:t>You would pass 100 as x1 (IQ) and 5.1 as x2 (CGPA). Then you sum them:</a:t>
            </a:r>
            <a:r>
              <a:rPr lang="en-US" sz="1400" dirty="0"/>
              <a:t> </a:t>
            </a:r>
            <a:r>
              <a:rPr lang="en-US" sz="1600" dirty="0">
                <a:solidFill>
                  <a:srgbClr val="FF0066"/>
                </a:solidFill>
                <a:latin typeface="Bahnschrift" pitchFamily="34" charset="0"/>
              </a:rPr>
              <a:t>100×w1+5.1×w2+b</a:t>
            </a:r>
            <a:r>
              <a:rPr lang="en-US" sz="1400" dirty="0" smtClean="0"/>
              <a:t>. </a:t>
            </a:r>
            <a:r>
              <a:rPr lang="en-US" sz="1600" dirty="0">
                <a:ea typeface="Arial Unicode MS" pitchFamily="34" charset="-128"/>
                <a:cs typeface="Arial Unicode MS" pitchFamily="34" charset="-128"/>
              </a:rPr>
              <a:t>Let’s say b is 3 for now. You calculate z=100×w1+5.1×w2+3. This is your z.Now, you pass this zz through the activation function (like the step function). If z≥0z≥0, you say the student will be placed. If zz is negative, you say the student will not be placed.</a:t>
            </a:r>
          </a:p>
          <a:p>
            <a:endParaRPr lang="en-US" sz="1400" dirty="0"/>
          </a:p>
          <a:p>
            <a:r>
              <a:rPr lang="en-US" sz="1600" dirty="0">
                <a:ea typeface="Arial Unicode MS" pitchFamily="34" charset="-128"/>
                <a:cs typeface="Arial Unicode MS" pitchFamily="34" charset="-128"/>
              </a:rPr>
              <a:t>So, this is how you make a prediction with a perceptron. But for that, you need to know your weights and bias, which in turn comes from the training process, for which you need data—just like with any other machine learning algorithm.</a:t>
            </a:r>
          </a:p>
        </p:txBody>
      </p:sp>
      <p:grpSp>
        <p:nvGrpSpPr>
          <p:cNvPr id="10" name="Group 9"/>
          <p:cNvGrpSpPr/>
          <p:nvPr/>
        </p:nvGrpSpPr>
        <p:grpSpPr>
          <a:xfrm>
            <a:off x="5700846" y="1031349"/>
            <a:ext cx="4307234" cy="1954946"/>
            <a:chOff x="3259015" y="1781831"/>
            <a:chExt cx="4307234" cy="1954946"/>
          </a:xfrm>
        </p:grpSpPr>
        <p:grpSp>
          <p:nvGrpSpPr>
            <p:cNvPr id="11" name="Group 10"/>
            <p:cNvGrpSpPr/>
            <p:nvPr/>
          </p:nvGrpSpPr>
          <p:grpSpPr>
            <a:xfrm>
              <a:off x="4396153" y="2215661"/>
              <a:ext cx="2124806" cy="715107"/>
              <a:chOff x="4396153" y="2215661"/>
              <a:chExt cx="2124806" cy="715107"/>
            </a:xfrm>
          </p:grpSpPr>
          <p:sp>
            <p:nvSpPr>
              <p:cNvPr id="32" name="Flowchart: Connector 31"/>
              <p:cNvSpPr/>
              <p:nvPr/>
            </p:nvSpPr>
            <p:spPr>
              <a:xfrm>
                <a:off x="4396153" y="2215661"/>
                <a:ext cx="691661" cy="71510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t>
                </a:r>
              </a:p>
            </p:txBody>
          </p:sp>
          <p:sp>
            <p:nvSpPr>
              <p:cNvPr id="33" name="Flowchart: Connector 32"/>
              <p:cNvSpPr/>
              <p:nvPr/>
            </p:nvSpPr>
            <p:spPr>
              <a:xfrm>
                <a:off x="6063759" y="2344615"/>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a:t>
                </a:r>
                <a:endParaRPr lang="en-IN" dirty="0"/>
              </a:p>
            </p:txBody>
          </p:sp>
          <p:sp>
            <p:nvSpPr>
              <p:cNvPr id="34" name="Freeform 33"/>
              <p:cNvSpPr/>
              <p:nvPr/>
            </p:nvSpPr>
            <p:spPr>
              <a:xfrm>
                <a:off x="5111262" y="2555631"/>
                <a:ext cx="961292" cy="117231"/>
              </a:xfrm>
              <a:custGeom>
                <a:avLst/>
                <a:gdLst>
                  <a:gd name="connsiteX0" fmla="*/ 0 w 961292"/>
                  <a:gd name="connsiteY0" fmla="*/ 70338 h 117231"/>
                  <a:gd name="connsiteX1" fmla="*/ 128953 w 961292"/>
                  <a:gd name="connsiteY1" fmla="*/ 58615 h 117231"/>
                  <a:gd name="connsiteX2" fmla="*/ 269630 w 961292"/>
                  <a:gd name="connsiteY2" fmla="*/ 35169 h 117231"/>
                  <a:gd name="connsiteX3" fmla="*/ 961292 w 961292"/>
                  <a:gd name="connsiteY3" fmla="*/ 23446 h 117231"/>
                  <a:gd name="connsiteX4" fmla="*/ 902676 w 961292"/>
                  <a:gd name="connsiteY4" fmla="*/ 11723 h 117231"/>
                  <a:gd name="connsiteX5" fmla="*/ 867507 w 961292"/>
                  <a:gd name="connsiteY5" fmla="*/ 0 h 117231"/>
                  <a:gd name="connsiteX6" fmla="*/ 914400 w 961292"/>
                  <a:gd name="connsiteY6" fmla="*/ 11723 h 117231"/>
                  <a:gd name="connsiteX7" fmla="*/ 926123 w 961292"/>
                  <a:gd name="connsiteY7" fmla="*/ 58615 h 117231"/>
                  <a:gd name="connsiteX8" fmla="*/ 890953 w 961292"/>
                  <a:gd name="connsiteY8" fmla="*/ 82061 h 117231"/>
                  <a:gd name="connsiteX9" fmla="*/ 844061 w 961292"/>
                  <a:gd name="connsiteY9" fmla="*/ 105507 h 117231"/>
                  <a:gd name="connsiteX10" fmla="*/ 820615 w 961292"/>
                  <a:gd name="connsiteY10" fmla="*/ 117231 h 11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1292" h="117231">
                    <a:moveTo>
                      <a:pt x="0" y="70338"/>
                    </a:moveTo>
                    <a:cubicBezTo>
                      <a:pt x="42984" y="66430"/>
                      <a:pt x="86154" y="64197"/>
                      <a:pt x="128953" y="58615"/>
                    </a:cubicBezTo>
                    <a:cubicBezTo>
                      <a:pt x="176093" y="52466"/>
                      <a:pt x="222133" y="37176"/>
                      <a:pt x="269630" y="35169"/>
                    </a:cubicBezTo>
                    <a:cubicBezTo>
                      <a:pt x="500012" y="25435"/>
                      <a:pt x="730738" y="27354"/>
                      <a:pt x="961292" y="23446"/>
                    </a:cubicBezTo>
                    <a:cubicBezTo>
                      <a:pt x="941753" y="19538"/>
                      <a:pt x="922007" y="16556"/>
                      <a:pt x="902676" y="11723"/>
                    </a:cubicBezTo>
                    <a:cubicBezTo>
                      <a:pt x="890688" y="8726"/>
                      <a:pt x="855150" y="0"/>
                      <a:pt x="867507" y="0"/>
                    </a:cubicBezTo>
                    <a:cubicBezTo>
                      <a:pt x="883619" y="0"/>
                      <a:pt x="898769" y="7815"/>
                      <a:pt x="914400" y="11723"/>
                    </a:cubicBezTo>
                    <a:cubicBezTo>
                      <a:pt x="918308" y="27354"/>
                      <a:pt x="931218" y="43330"/>
                      <a:pt x="926123" y="58615"/>
                    </a:cubicBezTo>
                    <a:cubicBezTo>
                      <a:pt x="921667" y="71981"/>
                      <a:pt x="903186" y="75071"/>
                      <a:pt x="890953" y="82061"/>
                    </a:cubicBezTo>
                    <a:cubicBezTo>
                      <a:pt x="875780" y="90731"/>
                      <a:pt x="859692" y="97691"/>
                      <a:pt x="844061" y="105507"/>
                    </a:cubicBezTo>
                    <a:lnTo>
                      <a:pt x="820615" y="117231"/>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35" name="TextBox 34"/>
              <p:cNvSpPr txBox="1"/>
              <p:nvPr/>
            </p:nvSpPr>
            <p:spPr>
              <a:xfrm>
                <a:off x="5380892" y="2488196"/>
                <a:ext cx="276038" cy="369332"/>
              </a:xfrm>
              <a:prstGeom prst="rect">
                <a:avLst/>
              </a:prstGeom>
              <a:noFill/>
            </p:spPr>
            <p:txBody>
              <a:bodyPr wrap="none" rtlCol="0">
                <a:spAutoFit/>
              </a:bodyPr>
              <a:lstStyle/>
              <a:p>
                <a:r>
                  <a:rPr lang="en-US" dirty="0" smtClean="0"/>
                  <a:t>z</a:t>
                </a:r>
                <a:endParaRPr lang="en-IN" dirty="0"/>
              </a:p>
            </p:txBody>
          </p:sp>
        </p:grpSp>
        <p:grpSp>
          <p:nvGrpSpPr>
            <p:cNvPr id="12" name="Group 11"/>
            <p:cNvGrpSpPr/>
            <p:nvPr/>
          </p:nvGrpSpPr>
          <p:grpSpPr>
            <a:xfrm>
              <a:off x="3414529" y="1781831"/>
              <a:ext cx="1082915" cy="615554"/>
              <a:chOff x="3414529" y="1781831"/>
              <a:chExt cx="1082915" cy="615554"/>
            </a:xfrm>
          </p:grpSpPr>
          <p:cxnSp>
            <p:nvCxnSpPr>
              <p:cNvPr id="29" name="Straight Connector 28"/>
              <p:cNvCxnSpPr>
                <a:endCxn id="32" idx="1"/>
              </p:cNvCxnSpPr>
              <p:nvPr/>
            </p:nvCxnSpPr>
            <p:spPr>
              <a:xfrm>
                <a:off x="3716215" y="1981941"/>
                <a:ext cx="781229" cy="338445"/>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414529" y="1781831"/>
                <a:ext cx="276038" cy="307777"/>
              </a:xfrm>
              <a:prstGeom prst="rect">
                <a:avLst/>
              </a:prstGeom>
              <a:noFill/>
            </p:spPr>
            <p:txBody>
              <a:bodyPr wrap="none" rtlCol="0">
                <a:spAutoFit/>
              </a:bodyPr>
              <a:lstStyle/>
              <a:p>
                <a:r>
                  <a:rPr lang="en-US" sz="1400" dirty="0" smtClean="0"/>
                  <a:t>1</a:t>
                </a:r>
                <a:endParaRPr lang="en-IN" sz="1400" dirty="0"/>
              </a:p>
            </p:txBody>
          </p:sp>
          <p:sp>
            <p:nvSpPr>
              <p:cNvPr id="31" name="TextBox 30"/>
              <p:cNvSpPr txBox="1"/>
              <p:nvPr/>
            </p:nvSpPr>
            <p:spPr>
              <a:xfrm>
                <a:off x="3987292" y="2089608"/>
                <a:ext cx="279244" cy="307777"/>
              </a:xfrm>
              <a:prstGeom prst="rect">
                <a:avLst/>
              </a:prstGeom>
              <a:noFill/>
            </p:spPr>
            <p:txBody>
              <a:bodyPr wrap="none" rtlCol="0">
                <a:spAutoFit/>
              </a:bodyPr>
              <a:lstStyle/>
              <a:p>
                <a:r>
                  <a:rPr lang="en-US" sz="1400" dirty="0" smtClean="0"/>
                  <a:t>b</a:t>
                </a:r>
                <a:endParaRPr lang="en-IN" sz="1400" dirty="0"/>
              </a:p>
            </p:txBody>
          </p:sp>
        </p:grpSp>
        <p:grpSp>
          <p:nvGrpSpPr>
            <p:cNvPr id="13" name="Group 12"/>
            <p:cNvGrpSpPr/>
            <p:nvPr/>
          </p:nvGrpSpPr>
          <p:grpSpPr>
            <a:xfrm>
              <a:off x="3810000" y="2826043"/>
              <a:ext cx="758862" cy="910734"/>
              <a:chOff x="3810000" y="2826043"/>
              <a:chExt cx="758862" cy="910734"/>
            </a:xfrm>
          </p:grpSpPr>
          <p:cxnSp>
            <p:nvCxnSpPr>
              <p:cNvPr id="26" name="Straight Connector 25"/>
              <p:cNvCxnSpPr>
                <a:endCxn id="32" idx="3"/>
              </p:cNvCxnSpPr>
              <p:nvPr/>
            </p:nvCxnSpPr>
            <p:spPr>
              <a:xfrm flipV="1">
                <a:off x="3962400" y="2826043"/>
                <a:ext cx="535044" cy="602957"/>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810000" y="3429000"/>
                <a:ext cx="367408" cy="307777"/>
              </a:xfrm>
              <a:prstGeom prst="rect">
                <a:avLst/>
              </a:prstGeom>
              <a:noFill/>
            </p:spPr>
            <p:txBody>
              <a:bodyPr wrap="none" rtlCol="0">
                <a:spAutoFit/>
              </a:bodyPr>
              <a:lstStyle/>
              <a:p>
                <a:r>
                  <a:rPr lang="en-US" sz="1400" dirty="0" smtClean="0"/>
                  <a:t>78</a:t>
                </a:r>
                <a:endParaRPr lang="en-IN" sz="1400" dirty="0"/>
              </a:p>
            </p:txBody>
          </p:sp>
          <p:sp>
            <p:nvSpPr>
              <p:cNvPr id="28" name="TextBox 27"/>
              <p:cNvSpPr txBox="1"/>
              <p:nvPr/>
            </p:nvSpPr>
            <p:spPr>
              <a:xfrm>
                <a:off x="4164584" y="3127521"/>
                <a:ext cx="404278" cy="307777"/>
              </a:xfrm>
              <a:prstGeom prst="rect">
                <a:avLst/>
              </a:prstGeom>
              <a:noFill/>
            </p:spPr>
            <p:txBody>
              <a:bodyPr wrap="none" rtlCol="0">
                <a:spAutoFit/>
              </a:bodyPr>
              <a:lstStyle/>
              <a:p>
                <a:r>
                  <a:rPr lang="en-US" sz="1400" dirty="0" smtClean="0"/>
                  <a:t>w1</a:t>
                </a:r>
                <a:endParaRPr lang="en-IN" sz="1400" dirty="0"/>
              </a:p>
            </p:txBody>
          </p:sp>
        </p:grpSp>
        <p:grpSp>
          <p:nvGrpSpPr>
            <p:cNvPr id="14" name="Group 13"/>
            <p:cNvGrpSpPr/>
            <p:nvPr/>
          </p:nvGrpSpPr>
          <p:grpSpPr>
            <a:xfrm>
              <a:off x="3259015" y="2614246"/>
              <a:ext cx="1137138" cy="366393"/>
              <a:chOff x="3259015" y="2614246"/>
              <a:chExt cx="1137138" cy="366393"/>
            </a:xfrm>
          </p:grpSpPr>
          <p:cxnSp>
            <p:nvCxnSpPr>
              <p:cNvPr id="23" name="Straight Connector 22"/>
              <p:cNvCxnSpPr/>
              <p:nvPr/>
            </p:nvCxnSpPr>
            <p:spPr>
              <a:xfrm>
                <a:off x="3446584" y="2672862"/>
                <a:ext cx="949569"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259015" y="2672862"/>
                <a:ext cx="412292" cy="307777"/>
              </a:xfrm>
              <a:prstGeom prst="rect">
                <a:avLst/>
              </a:prstGeom>
              <a:noFill/>
            </p:spPr>
            <p:txBody>
              <a:bodyPr wrap="none" rtlCol="0">
                <a:spAutoFit/>
              </a:bodyPr>
              <a:lstStyle/>
              <a:p>
                <a:r>
                  <a:rPr lang="en-US" sz="1400" dirty="0" smtClean="0"/>
                  <a:t>7.8</a:t>
                </a:r>
                <a:endParaRPr lang="en-IN" sz="1400" dirty="0"/>
              </a:p>
            </p:txBody>
          </p:sp>
          <p:sp>
            <p:nvSpPr>
              <p:cNvPr id="25" name="TextBox 24"/>
              <p:cNvSpPr txBox="1"/>
              <p:nvPr/>
            </p:nvSpPr>
            <p:spPr>
              <a:xfrm>
                <a:off x="3921368" y="2614246"/>
                <a:ext cx="404278" cy="307777"/>
              </a:xfrm>
              <a:prstGeom prst="rect">
                <a:avLst/>
              </a:prstGeom>
              <a:noFill/>
            </p:spPr>
            <p:txBody>
              <a:bodyPr wrap="none" rtlCol="0">
                <a:spAutoFit/>
              </a:bodyPr>
              <a:lstStyle/>
              <a:p>
                <a:r>
                  <a:rPr lang="en-US" sz="1400" dirty="0" smtClean="0"/>
                  <a:t>w2</a:t>
                </a:r>
                <a:endParaRPr lang="en-IN" dirty="0"/>
              </a:p>
            </p:txBody>
          </p:sp>
        </p:grpSp>
        <p:grpSp>
          <p:nvGrpSpPr>
            <p:cNvPr id="17" name="Group 16"/>
            <p:cNvGrpSpPr/>
            <p:nvPr/>
          </p:nvGrpSpPr>
          <p:grpSpPr>
            <a:xfrm>
              <a:off x="6518031" y="2401742"/>
              <a:ext cx="1048218" cy="307777"/>
              <a:chOff x="6518031" y="2401742"/>
              <a:chExt cx="1048218" cy="307777"/>
            </a:xfrm>
          </p:grpSpPr>
          <p:sp>
            <p:nvSpPr>
              <p:cNvPr id="21" name="Freeform 20"/>
              <p:cNvSpPr/>
              <p:nvPr/>
            </p:nvSpPr>
            <p:spPr>
              <a:xfrm>
                <a:off x="6518031" y="2552004"/>
                <a:ext cx="363415" cy="85852"/>
              </a:xfrm>
              <a:custGeom>
                <a:avLst/>
                <a:gdLst>
                  <a:gd name="connsiteX0" fmla="*/ 0 w 363415"/>
                  <a:gd name="connsiteY0" fmla="*/ 27073 h 85852"/>
                  <a:gd name="connsiteX1" fmla="*/ 328246 w 363415"/>
                  <a:gd name="connsiteY1" fmla="*/ 15350 h 85852"/>
                  <a:gd name="connsiteX2" fmla="*/ 293077 w 363415"/>
                  <a:gd name="connsiteY2" fmla="*/ 3627 h 85852"/>
                  <a:gd name="connsiteX3" fmla="*/ 363415 w 363415"/>
                  <a:gd name="connsiteY3" fmla="*/ 38796 h 85852"/>
                  <a:gd name="connsiteX4" fmla="*/ 328246 w 363415"/>
                  <a:gd name="connsiteY4" fmla="*/ 73965 h 85852"/>
                  <a:gd name="connsiteX5" fmla="*/ 269631 w 363415"/>
                  <a:gd name="connsiteY5" fmla="*/ 85688 h 85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3415" h="85852">
                    <a:moveTo>
                      <a:pt x="0" y="27073"/>
                    </a:moveTo>
                    <a:cubicBezTo>
                      <a:pt x="109415" y="23165"/>
                      <a:pt x="219110" y="24081"/>
                      <a:pt x="328246" y="15350"/>
                    </a:cubicBezTo>
                    <a:cubicBezTo>
                      <a:pt x="340564" y="14365"/>
                      <a:pt x="293077" y="-8730"/>
                      <a:pt x="293077" y="3627"/>
                    </a:cubicBezTo>
                    <a:cubicBezTo>
                      <a:pt x="293077" y="18777"/>
                      <a:pt x="354743" y="35905"/>
                      <a:pt x="363415" y="38796"/>
                    </a:cubicBezTo>
                    <a:cubicBezTo>
                      <a:pt x="351692" y="50519"/>
                      <a:pt x="342040" y="64769"/>
                      <a:pt x="328246" y="73965"/>
                    </a:cubicBezTo>
                    <a:cubicBezTo>
                      <a:pt x="306954" y="88159"/>
                      <a:pt x="291968" y="85688"/>
                      <a:pt x="269631" y="85688"/>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2" name="TextBox 21"/>
              <p:cNvSpPr txBox="1"/>
              <p:nvPr/>
            </p:nvSpPr>
            <p:spPr>
              <a:xfrm>
                <a:off x="6881446" y="2401742"/>
                <a:ext cx="684803" cy="307777"/>
              </a:xfrm>
              <a:prstGeom prst="rect">
                <a:avLst/>
              </a:prstGeom>
              <a:noFill/>
            </p:spPr>
            <p:txBody>
              <a:bodyPr wrap="none" rtlCol="0">
                <a:spAutoFit/>
              </a:bodyPr>
              <a:lstStyle/>
              <a:p>
                <a:r>
                  <a:rPr lang="en-US" sz="1400" dirty="0" smtClean="0"/>
                  <a:t>output</a:t>
                </a:r>
                <a:endParaRPr lang="en-IN" sz="1400" dirty="0"/>
              </a:p>
            </p:txBody>
          </p:sp>
        </p:grpSp>
      </p:grpSp>
      <p:graphicFrame>
        <p:nvGraphicFramePr>
          <p:cNvPr id="37" name="Table 36"/>
          <p:cNvGraphicFramePr>
            <a:graphicFrameLocks noGrp="1"/>
          </p:cNvGraphicFramePr>
          <p:nvPr>
            <p:extLst>
              <p:ext uri="{D42A27DB-BD31-4B8C-83A1-F6EECF244321}">
                <p14:modId xmlns:p14="http://schemas.microsoft.com/office/powerpoint/2010/main" val="2883973252"/>
              </p:ext>
            </p:extLst>
          </p:nvPr>
        </p:nvGraphicFramePr>
        <p:xfrm>
          <a:off x="994011" y="1185237"/>
          <a:ext cx="2608998" cy="1345690"/>
        </p:xfrm>
        <a:graphic>
          <a:graphicData uri="http://schemas.openxmlformats.org/drawingml/2006/table">
            <a:tbl>
              <a:tblPr firstRow="1" bandRow="1">
                <a:tableStyleId>{616DA210-FB5B-4158-B5E0-FEB733F419BA}</a:tableStyleId>
              </a:tblPr>
              <a:tblGrid>
                <a:gridCol w="784209"/>
                <a:gridCol w="874693"/>
                <a:gridCol w="950096"/>
              </a:tblGrid>
              <a:tr h="623612">
                <a:tc>
                  <a:txBody>
                    <a:bodyPr/>
                    <a:lstStyle/>
                    <a:p>
                      <a:r>
                        <a:rPr lang="en-US" sz="1600" dirty="0" smtClean="0"/>
                        <a:t>IQ</a:t>
                      </a:r>
                      <a:endParaRPr lang="en-IN" sz="1600" dirty="0"/>
                    </a:p>
                  </a:txBody>
                  <a:tcPr>
                    <a:solidFill>
                      <a:schemeClr val="bg1">
                        <a:lumMod val="95000"/>
                      </a:schemeClr>
                    </a:solidFill>
                  </a:tcPr>
                </a:tc>
                <a:tc>
                  <a:txBody>
                    <a:bodyPr/>
                    <a:lstStyle/>
                    <a:p>
                      <a:r>
                        <a:rPr lang="en-US" sz="1600" dirty="0" smtClean="0"/>
                        <a:t>CGPA</a:t>
                      </a:r>
                      <a:endParaRPr lang="en-IN" sz="1600" dirty="0"/>
                    </a:p>
                  </a:txBody>
                  <a:tcPr>
                    <a:solidFill>
                      <a:schemeClr val="bg1">
                        <a:lumMod val="95000"/>
                      </a:schemeClr>
                    </a:solidFill>
                  </a:tcPr>
                </a:tc>
                <a:tc>
                  <a:txBody>
                    <a:bodyPr/>
                    <a:lstStyle/>
                    <a:p>
                      <a:r>
                        <a:rPr lang="en-US" sz="1600" dirty="0" smtClean="0"/>
                        <a:t>Placed</a:t>
                      </a:r>
                      <a:endParaRPr lang="en-IN" sz="1600" dirty="0"/>
                    </a:p>
                  </a:txBody>
                  <a:tcPr>
                    <a:solidFill>
                      <a:schemeClr val="bg1">
                        <a:lumMod val="95000"/>
                      </a:schemeClr>
                    </a:solidFill>
                  </a:tcPr>
                </a:tc>
              </a:tr>
              <a:tr h="361039">
                <a:tc>
                  <a:txBody>
                    <a:bodyPr/>
                    <a:lstStyle/>
                    <a:p>
                      <a:r>
                        <a:rPr lang="en-US" sz="1600" dirty="0" smtClean="0"/>
                        <a:t>78</a:t>
                      </a:r>
                      <a:endParaRPr lang="en-IN" sz="1600" dirty="0"/>
                    </a:p>
                  </a:txBody>
                  <a:tcPr>
                    <a:noFill/>
                  </a:tcPr>
                </a:tc>
                <a:tc>
                  <a:txBody>
                    <a:bodyPr/>
                    <a:lstStyle/>
                    <a:p>
                      <a:r>
                        <a:rPr lang="en-US" sz="1600" dirty="0" smtClean="0"/>
                        <a:t>7.8</a:t>
                      </a:r>
                      <a:endParaRPr lang="en-IN" sz="1600" dirty="0"/>
                    </a:p>
                  </a:txBody>
                  <a:tcPr>
                    <a:noFill/>
                  </a:tcPr>
                </a:tc>
                <a:tc>
                  <a:txBody>
                    <a:bodyPr/>
                    <a:lstStyle/>
                    <a:p>
                      <a:r>
                        <a:rPr lang="en-US" sz="1600" dirty="0" smtClean="0"/>
                        <a:t>1</a:t>
                      </a:r>
                      <a:endParaRPr lang="en-IN" sz="1600" dirty="0"/>
                    </a:p>
                  </a:txBody>
                  <a:tcPr>
                    <a:noFill/>
                  </a:tcPr>
                </a:tc>
              </a:tr>
              <a:tr h="361039">
                <a:tc>
                  <a:txBody>
                    <a:bodyPr/>
                    <a:lstStyle/>
                    <a:p>
                      <a:r>
                        <a:rPr lang="en-US" sz="1600" dirty="0" smtClean="0"/>
                        <a:t>69</a:t>
                      </a:r>
                      <a:endParaRPr lang="en-IN" sz="1600" dirty="0"/>
                    </a:p>
                  </a:txBody>
                  <a:tcPr/>
                </a:tc>
                <a:tc>
                  <a:txBody>
                    <a:bodyPr/>
                    <a:lstStyle/>
                    <a:p>
                      <a:r>
                        <a:rPr lang="en-US" sz="1600" dirty="0" smtClean="0"/>
                        <a:t>5.1</a:t>
                      </a:r>
                      <a:endParaRPr lang="en-IN" sz="1600" dirty="0"/>
                    </a:p>
                  </a:txBody>
                  <a:tcPr/>
                </a:tc>
                <a:tc>
                  <a:txBody>
                    <a:bodyPr/>
                    <a:lstStyle/>
                    <a:p>
                      <a:r>
                        <a:rPr lang="en-US" sz="1600" dirty="0" smtClean="0"/>
                        <a:t>0</a:t>
                      </a:r>
                      <a:endParaRPr lang="en-IN" sz="1600" dirty="0"/>
                    </a:p>
                  </a:txBody>
                  <a:tcPr/>
                </a:tc>
              </a:tr>
            </a:tbl>
          </a:graphicData>
        </a:graphic>
      </p:graphicFrame>
      <p:sp>
        <p:nvSpPr>
          <p:cNvPr id="2048" name="TextBox 2047"/>
          <p:cNvSpPr txBox="1"/>
          <p:nvPr/>
        </p:nvSpPr>
        <p:spPr>
          <a:xfrm>
            <a:off x="3957272" y="2203407"/>
            <a:ext cx="901209" cy="523220"/>
          </a:xfrm>
          <a:prstGeom prst="rect">
            <a:avLst/>
          </a:prstGeom>
          <a:noFill/>
        </p:spPr>
        <p:txBody>
          <a:bodyPr wrap="none" rtlCol="0">
            <a:spAutoFit/>
          </a:bodyPr>
          <a:lstStyle/>
          <a:p>
            <a:r>
              <a:rPr lang="en-US" sz="1400" dirty="0" smtClean="0">
                <a:latin typeface="Arial Unicode MS" pitchFamily="34" charset="-128"/>
                <a:ea typeface="Arial Unicode MS" pitchFamily="34" charset="-128"/>
                <a:cs typeface="Arial Unicode MS" pitchFamily="34" charset="-128"/>
              </a:rPr>
              <a:t>X1- iq</a:t>
            </a:r>
          </a:p>
          <a:p>
            <a:r>
              <a:rPr lang="en-US" sz="1400" dirty="0" smtClean="0">
                <a:latin typeface="Arial Unicode MS" pitchFamily="34" charset="-128"/>
                <a:ea typeface="Arial Unicode MS" pitchFamily="34" charset="-128"/>
                <a:cs typeface="Arial Unicode MS" pitchFamily="34" charset="-128"/>
              </a:rPr>
              <a:t>X2- cgpa</a:t>
            </a:r>
            <a:endParaRPr lang="en-IN" sz="1400" dirty="0">
              <a:latin typeface="Arial Unicode MS" pitchFamily="34" charset="-128"/>
              <a:ea typeface="Arial Unicode MS" pitchFamily="34" charset="-128"/>
              <a:cs typeface="Arial Unicode MS" pitchFamily="34" charset="-128"/>
            </a:endParaRPr>
          </a:p>
        </p:txBody>
      </p:sp>
      <p:grpSp>
        <p:nvGrpSpPr>
          <p:cNvPr id="2054" name="Group 2053"/>
          <p:cNvGrpSpPr/>
          <p:nvPr/>
        </p:nvGrpSpPr>
        <p:grpSpPr>
          <a:xfrm>
            <a:off x="10177874" y="1077515"/>
            <a:ext cx="1716282" cy="736288"/>
            <a:chOff x="10163907" y="1087058"/>
            <a:chExt cx="1716282" cy="736288"/>
          </a:xfrm>
        </p:grpSpPr>
        <p:sp>
          <p:nvSpPr>
            <p:cNvPr id="2052" name="Freeform 2051"/>
            <p:cNvSpPr/>
            <p:nvPr/>
          </p:nvSpPr>
          <p:spPr>
            <a:xfrm>
              <a:off x="10163907" y="1087058"/>
              <a:ext cx="574431" cy="351567"/>
            </a:xfrm>
            <a:custGeom>
              <a:avLst/>
              <a:gdLst>
                <a:gd name="connsiteX0" fmla="*/ 0 w 1148862"/>
                <a:gd name="connsiteY0" fmla="*/ 0 h 692819"/>
                <a:gd name="connsiteX1" fmla="*/ 304800 w 1148862"/>
                <a:gd name="connsiteY1" fmla="*/ 199292 h 692819"/>
                <a:gd name="connsiteX2" fmla="*/ 386862 w 1148862"/>
                <a:gd name="connsiteY2" fmla="*/ 257908 h 692819"/>
                <a:gd name="connsiteX3" fmla="*/ 480646 w 1148862"/>
                <a:gd name="connsiteY3" fmla="*/ 293077 h 692819"/>
                <a:gd name="connsiteX4" fmla="*/ 539262 w 1148862"/>
                <a:gd name="connsiteY4" fmla="*/ 328246 h 692819"/>
                <a:gd name="connsiteX5" fmla="*/ 609600 w 1148862"/>
                <a:gd name="connsiteY5" fmla="*/ 363415 h 692819"/>
                <a:gd name="connsiteX6" fmla="*/ 715108 w 1148862"/>
                <a:gd name="connsiteY6" fmla="*/ 433754 h 692819"/>
                <a:gd name="connsiteX7" fmla="*/ 762000 w 1148862"/>
                <a:gd name="connsiteY7" fmla="*/ 457200 h 692819"/>
                <a:gd name="connsiteX8" fmla="*/ 890954 w 1148862"/>
                <a:gd name="connsiteY8" fmla="*/ 527538 h 692819"/>
                <a:gd name="connsiteX9" fmla="*/ 949570 w 1148862"/>
                <a:gd name="connsiteY9" fmla="*/ 562708 h 692819"/>
                <a:gd name="connsiteX10" fmla="*/ 1078523 w 1148862"/>
                <a:gd name="connsiteY10" fmla="*/ 633046 h 692819"/>
                <a:gd name="connsiteX11" fmla="*/ 1066800 w 1148862"/>
                <a:gd name="connsiteY11" fmla="*/ 597877 h 692819"/>
                <a:gd name="connsiteX12" fmla="*/ 1043354 w 1148862"/>
                <a:gd name="connsiteY12" fmla="*/ 562708 h 692819"/>
                <a:gd name="connsiteX13" fmla="*/ 1090246 w 1148862"/>
                <a:gd name="connsiteY13" fmla="*/ 597877 h 692819"/>
                <a:gd name="connsiteX14" fmla="*/ 1148862 w 1148862"/>
                <a:gd name="connsiteY14" fmla="*/ 644769 h 692819"/>
                <a:gd name="connsiteX15" fmla="*/ 1137139 w 1148862"/>
                <a:gd name="connsiteY15" fmla="*/ 679938 h 692819"/>
                <a:gd name="connsiteX16" fmla="*/ 1031631 w 1148862"/>
                <a:gd name="connsiteY16" fmla="*/ 691662 h 692819"/>
                <a:gd name="connsiteX17" fmla="*/ 820616 w 1148862"/>
                <a:gd name="connsiteY17" fmla="*/ 691662 h 692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8862" h="692819">
                  <a:moveTo>
                    <a:pt x="0" y="0"/>
                  </a:moveTo>
                  <a:cubicBezTo>
                    <a:pt x="155562" y="155562"/>
                    <a:pt x="17090" y="33306"/>
                    <a:pt x="304800" y="199292"/>
                  </a:cubicBezTo>
                  <a:cubicBezTo>
                    <a:pt x="333917" y="216090"/>
                    <a:pt x="357201" y="242089"/>
                    <a:pt x="386862" y="257908"/>
                  </a:cubicBezTo>
                  <a:cubicBezTo>
                    <a:pt x="416321" y="273620"/>
                    <a:pt x="450332" y="279086"/>
                    <a:pt x="480646" y="293077"/>
                  </a:cubicBezTo>
                  <a:cubicBezTo>
                    <a:pt x="501335" y="302625"/>
                    <a:pt x="519258" y="317335"/>
                    <a:pt x="539262" y="328246"/>
                  </a:cubicBezTo>
                  <a:cubicBezTo>
                    <a:pt x="562275" y="340798"/>
                    <a:pt x="587122" y="349928"/>
                    <a:pt x="609600" y="363415"/>
                  </a:cubicBezTo>
                  <a:cubicBezTo>
                    <a:pt x="829866" y="495576"/>
                    <a:pt x="458814" y="291369"/>
                    <a:pt x="715108" y="433754"/>
                  </a:cubicBezTo>
                  <a:cubicBezTo>
                    <a:pt x="730384" y="442241"/>
                    <a:pt x="747015" y="448209"/>
                    <a:pt x="762000" y="457200"/>
                  </a:cubicBezTo>
                  <a:cubicBezTo>
                    <a:pt x="879130" y="527477"/>
                    <a:pt x="784309" y="484880"/>
                    <a:pt x="890954" y="527538"/>
                  </a:cubicBezTo>
                  <a:cubicBezTo>
                    <a:pt x="932212" y="568798"/>
                    <a:pt x="893769" y="537344"/>
                    <a:pt x="949570" y="562708"/>
                  </a:cubicBezTo>
                  <a:cubicBezTo>
                    <a:pt x="1033157" y="600702"/>
                    <a:pt x="1023463" y="596339"/>
                    <a:pt x="1078523" y="633046"/>
                  </a:cubicBezTo>
                  <a:cubicBezTo>
                    <a:pt x="1074615" y="621323"/>
                    <a:pt x="1072326" y="608930"/>
                    <a:pt x="1066800" y="597877"/>
                  </a:cubicBezTo>
                  <a:cubicBezTo>
                    <a:pt x="1060499" y="585275"/>
                    <a:pt x="1029265" y="562708"/>
                    <a:pt x="1043354" y="562708"/>
                  </a:cubicBezTo>
                  <a:cubicBezTo>
                    <a:pt x="1062892" y="562708"/>
                    <a:pt x="1075236" y="585369"/>
                    <a:pt x="1090246" y="597877"/>
                  </a:cubicBezTo>
                  <a:cubicBezTo>
                    <a:pt x="1157062" y="653556"/>
                    <a:pt x="1061913" y="586803"/>
                    <a:pt x="1148862" y="644769"/>
                  </a:cubicBezTo>
                  <a:cubicBezTo>
                    <a:pt x="1144954" y="656492"/>
                    <a:pt x="1148612" y="675349"/>
                    <a:pt x="1137139" y="679938"/>
                  </a:cubicBezTo>
                  <a:cubicBezTo>
                    <a:pt x="1104284" y="693080"/>
                    <a:pt x="1066993" y="690352"/>
                    <a:pt x="1031631" y="691662"/>
                  </a:cubicBezTo>
                  <a:cubicBezTo>
                    <a:pt x="961341" y="694266"/>
                    <a:pt x="890954" y="691662"/>
                    <a:pt x="820616" y="691662"/>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053" name="TextBox 2052"/>
            <p:cNvSpPr txBox="1"/>
            <p:nvPr/>
          </p:nvSpPr>
          <p:spPr>
            <a:xfrm>
              <a:off x="10738338" y="1177015"/>
              <a:ext cx="1141851" cy="646331"/>
            </a:xfrm>
            <a:prstGeom prst="rect">
              <a:avLst/>
            </a:prstGeom>
            <a:noFill/>
          </p:spPr>
          <p:txBody>
            <a:bodyPr wrap="none" rtlCol="0">
              <a:spAutoFit/>
            </a:bodyPr>
            <a:lstStyle/>
            <a:p>
              <a:r>
                <a:rPr lang="en-US" dirty="0" smtClean="0"/>
                <a:t>Training</a:t>
              </a:r>
            </a:p>
            <a:p>
              <a:r>
                <a:rPr lang="en-US" dirty="0" smtClean="0"/>
                <a:t>Prediction</a:t>
              </a:r>
              <a:endParaRPr lang="en-IN" dirty="0"/>
            </a:p>
          </p:txBody>
        </p:sp>
      </p:grpSp>
    </p:spTree>
    <p:extLst>
      <p:ext uri="{BB962C8B-B14F-4D97-AF65-F5344CB8AC3E}">
        <p14:creationId xmlns:p14="http://schemas.microsoft.com/office/powerpoint/2010/main" val="16820682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9" name="Group 8"/>
          <p:cNvGrpSpPr/>
          <p:nvPr/>
        </p:nvGrpSpPr>
        <p:grpSpPr>
          <a:xfrm>
            <a:off x="4250614" y="356991"/>
            <a:ext cx="4448298" cy="2016501"/>
            <a:chOff x="3259015" y="1781831"/>
            <a:chExt cx="4448298" cy="2016501"/>
          </a:xfrm>
        </p:grpSpPr>
        <p:grpSp>
          <p:nvGrpSpPr>
            <p:cNvPr id="10" name="Group 9"/>
            <p:cNvGrpSpPr/>
            <p:nvPr/>
          </p:nvGrpSpPr>
          <p:grpSpPr>
            <a:xfrm>
              <a:off x="4396153" y="2215661"/>
              <a:ext cx="2124806" cy="734200"/>
              <a:chOff x="4396153" y="2215661"/>
              <a:chExt cx="2124806" cy="734200"/>
            </a:xfrm>
          </p:grpSpPr>
          <p:sp>
            <p:nvSpPr>
              <p:cNvPr id="26" name="Flowchart: Connector 25"/>
              <p:cNvSpPr/>
              <p:nvPr/>
            </p:nvSpPr>
            <p:spPr>
              <a:xfrm>
                <a:off x="4396153" y="2215661"/>
                <a:ext cx="691661" cy="71510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a:t>
                </a:r>
              </a:p>
            </p:txBody>
          </p:sp>
          <p:sp>
            <p:nvSpPr>
              <p:cNvPr id="27" name="Flowchart: Connector 26"/>
              <p:cNvSpPr/>
              <p:nvPr/>
            </p:nvSpPr>
            <p:spPr>
              <a:xfrm>
                <a:off x="6063759" y="2344615"/>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f</a:t>
                </a:r>
                <a:endParaRPr lang="en-IN" sz="2400" dirty="0"/>
              </a:p>
            </p:txBody>
          </p:sp>
          <p:sp>
            <p:nvSpPr>
              <p:cNvPr id="28" name="Freeform 27"/>
              <p:cNvSpPr/>
              <p:nvPr/>
            </p:nvSpPr>
            <p:spPr>
              <a:xfrm>
                <a:off x="5111262" y="2555631"/>
                <a:ext cx="961292" cy="117231"/>
              </a:xfrm>
              <a:custGeom>
                <a:avLst/>
                <a:gdLst>
                  <a:gd name="connsiteX0" fmla="*/ 0 w 961292"/>
                  <a:gd name="connsiteY0" fmla="*/ 70338 h 117231"/>
                  <a:gd name="connsiteX1" fmla="*/ 128953 w 961292"/>
                  <a:gd name="connsiteY1" fmla="*/ 58615 h 117231"/>
                  <a:gd name="connsiteX2" fmla="*/ 269630 w 961292"/>
                  <a:gd name="connsiteY2" fmla="*/ 35169 h 117231"/>
                  <a:gd name="connsiteX3" fmla="*/ 961292 w 961292"/>
                  <a:gd name="connsiteY3" fmla="*/ 23446 h 117231"/>
                  <a:gd name="connsiteX4" fmla="*/ 902676 w 961292"/>
                  <a:gd name="connsiteY4" fmla="*/ 11723 h 117231"/>
                  <a:gd name="connsiteX5" fmla="*/ 867507 w 961292"/>
                  <a:gd name="connsiteY5" fmla="*/ 0 h 117231"/>
                  <a:gd name="connsiteX6" fmla="*/ 914400 w 961292"/>
                  <a:gd name="connsiteY6" fmla="*/ 11723 h 117231"/>
                  <a:gd name="connsiteX7" fmla="*/ 926123 w 961292"/>
                  <a:gd name="connsiteY7" fmla="*/ 58615 h 117231"/>
                  <a:gd name="connsiteX8" fmla="*/ 890953 w 961292"/>
                  <a:gd name="connsiteY8" fmla="*/ 82061 h 117231"/>
                  <a:gd name="connsiteX9" fmla="*/ 844061 w 961292"/>
                  <a:gd name="connsiteY9" fmla="*/ 105507 h 117231"/>
                  <a:gd name="connsiteX10" fmla="*/ 820615 w 961292"/>
                  <a:gd name="connsiteY10" fmla="*/ 117231 h 11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1292" h="117231">
                    <a:moveTo>
                      <a:pt x="0" y="70338"/>
                    </a:moveTo>
                    <a:cubicBezTo>
                      <a:pt x="42984" y="66430"/>
                      <a:pt x="86154" y="64197"/>
                      <a:pt x="128953" y="58615"/>
                    </a:cubicBezTo>
                    <a:cubicBezTo>
                      <a:pt x="176093" y="52466"/>
                      <a:pt x="222133" y="37176"/>
                      <a:pt x="269630" y="35169"/>
                    </a:cubicBezTo>
                    <a:cubicBezTo>
                      <a:pt x="500012" y="25435"/>
                      <a:pt x="730738" y="27354"/>
                      <a:pt x="961292" y="23446"/>
                    </a:cubicBezTo>
                    <a:cubicBezTo>
                      <a:pt x="941753" y="19538"/>
                      <a:pt x="922007" y="16556"/>
                      <a:pt x="902676" y="11723"/>
                    </a:cubicBezTo>
                    <a:cubicBezTo>
                      <a:pt x="890688" y="8726"/>
                      <a:pt x="855150" y="0"/>
                      <a:pt x="867507" y="0"/>
                    </a:cubicBezTo>
                    <a:cubicBezTo>
                      <a:pt x="883619" y="0"/>
                      <a:pt x="898769" y="7815"/>
                      <a:pt x="914400" y="11723"/>
                    </a:cubicBezTo>
                    <a:cubicBezTo>
                      <a:pt x="918308" y="27354"/>
                      <a:pt x="931218" y="43330"/>
                      <a:pt x="926123" y="58615"/>
                    </a:cubicBezTo>
                    <a:cubicBezTo>
                      <a:pt x="921667" y="71981"/>
                      <a:pt x="903186" y="75071"/>
                      <a:pt x="890953" y="82061"/>
                    </a:cubicBezTo>
                    <a:cubicBezTo>
                      <a:pt x="875780" y="90731"/>
                      <a:pt x="859692" y="97691"/>
                      <a:pt x="844061" y="105507"/>
                    </a:cubicBezTo>
                    <a:lnTo>
                      <a:pt x="820615" y="117231"/>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400" dirty="0"/>
              </a:p>
            </p:txBody>
          </p:sp>
          <p:sp>
            <p:nvSpPr>
              <p:cNvPr id="29" name="TextBox 28"/>
              <p:cNvSpPr txBox="1"/>
              <p:nvPr/>
            </p:nvSpPr>
            <p:spPr>
              <a:xfrm>
                <a:off x="5380892" y="2488196"/>
                <a:ext cx="306494" cy="461665"/>
              </a:xfrm>
              <a:prstGeom prst="rect">
                <a:avLst/>
              </a:prstGeom>
              <a:noFill/>
            </p:spPr>
            <p:txBody>
              <a:bodyPr wrap="none" rtlCol="0">
                <a:spAutoFit/>
              </a:bodyPr>
              <a:lstStyle/>
              <a:p>
                <a:r>
                  <a:rPr lang="en-US" sz="2400" dirty="0" smtClean="0"/>
                  <a:t>z</a:t>
                </a:r>
                <a:endParaRPr lang="en-IN" sz="2400" dirty="0"/>
              </a:p>
            </p:txBody>
          </p:sp>
        </p:grpSp>
        <p:grpSp>
          <p:nvGrpSpPr>
            <p:cNvPr id="11" name="Group 10"/>
            <p:cNvGrpSpPr/>
            <p:nvPr/>
          </p:nvGrpSpPr>
          <p:grpSpPr>
            <a:xfrm>
              <a:off x="3414529" y="1781831"/>
              <a:ext cx="1082915" cy="677109"/>
              <a:chOff x="3414529" y="1781831"/>
              <a:chExt cx="1082915" cy="677109"/>
            </a:xfrm>
          </p:grpSpPr>
          <p:cxnSp>
            <p:nvCxnSpPr>
              <p:cNvPr id="23" name="Straight Connector 22"/>
              <p:cNvCxnSpPr>
                <a:endCxn id="26" idx="1"/>
              </p:cNvCxnSpPr>
              <p:nvPr/>
            </p:nvCxnSpPr>
            <p:spPr>
              <a:xfrm>
                <a:off x="3716215" y="1981941"/>
                <a:ext cx="781229" cy="338445"/>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414529" y="1781831"/>
                <a:ext cx="301686" cy="369332"/>
              </a:xfrm>
              <a:prstGeom prst="rect">
                <a:avLst/>
              </a:prstGeom>
              <a:noFill/>
            </p:spPr>
            <p:txBody>
              <a:bodyPr wrap="none" rtlCol="0">
                <a:spAutoFit/>
              </a:bodyPr>
              <a:lstStyle/>
              <a:p>
                <a:r>
                  <a:rPr lang="en-US" dirty="0" smtClean="0"/>
                  <a:t>1</a:t>
                </a:r>
                <a:endParaRPr lang="en-IN" dirty="0"/>
              </a:p>
            </p:txBody>
          </p:sp>
          <p:sp>
            <p:nvSpPr>
              <p:cNvPr id="25" name="TextBox 24"/>
              <p:cNvSpPr txBox="1"/>
              <p:nvPr/>
            </p:nvSpPr>
            <p:spPr>
              <a:xfrm>
                <a:off x="3987292" y="2089608"/>
                <a:ext cx="306494" cy="369332"/>
              </a:xfrm>
              <a:prstGeom prst="rect">
                <a:avLst/>
              </a:prstGeom>
              <a:noFill/>
            </p:spPr>
            <p:txBody>
              <a:bodyPr wrap="none" rtlCol="0">
                <a:spAutoFit/>
              </a:bodyPr>
              <a:lstStyle/>
              <a:p>
                <a:r>
                  <a:rPr lang="en-US" dirty="0" smtClean="0"/>
                  <a:t>b</a:t>
                </a:r>
                <a:endParaRPr lang="en-IN" dirty="0"/>
              </a:p>
            </p:txBody>
          </p:sp>
        </p:grpSp>
        <p:grpSp>
          <p:nvGrpSpPr>
            <p:cNvPr id="12" name="Group 11"/>
            <p:cNvGrpSpPr/>
            <p:nvPr/>
          </p:nvGrpSpPr>
          <p:grpSpPr>
            <a:xfrm>
              <a:off x="3810000" y="2826043"/>
              <a:ext cx="821378" cy="972289"/>
              <a:chOff x="3810000" y="2826043"/>
              <a:chExt cx="821378" cy="972289"/>
            </a:xfrm>
          </p:grpSpPr>
          <p:cxnSp>
            <p:nvCxnSpPr>
              <p:cNvPr id="20" name="Straight Connector 19"/>
              <p:cNvCxnSpPr>
                <a:endCxn id="26" idx="3"/>
              </p:cNvCxnSpPr>
              <p:nvPr/>
            </p:nvCxnSpPr>
            <p:spPr>
              <a:xfrm flipV="1">
                <a:off x="3962400" y="2826043"/>
                <a:ext cx="535044" cy="602957"/>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810000" y="3429000"/>
                <a:ext cx="418704" cy="369332"/>
              </a:xfrm>
              <a:prstGeom prst="rect">
                <a:avLst/>
              </a:prstGeom>
              <a:noFill/>
            </p:spPr>
            <p:txBody>
              <a:bodyPr wrap="none" rtlCol="0">
                <a:spAutoFit/>
              </a:bodyPr>
              <a:lstStyle/>
              <a:p>
                <a:r>
                  <a:rPr lang="en-US" dirty="0" smtClean="0"/>
                  <a:t>78</a:t>
                </a:r>
                <a:endParaRPr lang="en-IN" dirty="0"/>
              </a:p>
            </p:txBody>
          </p:sp>
          <p:sp>
            <p:nvSpPr>
              <p:cNvPr id="22" name="TextBox 21"/>
              <p:cNvSpPr txBox="1"/>
              <p:nvPr/>
            </p:nvSpPr>
            <p:spPr>
              <a:xfrm>
                <a:off x="4164584" y="3127521"/>
                <a:ext cx="466794" cy="369332"/>
              </a:xfrm>
              <a:prstGeom prst="rect">
                <a:avLst/>
              </a:prstGeom>
              <a:noFill/>
            </p:spPr>
            <p:txBody>
              <a:bodyPr wrap="none" rtlCol="0">
                <a:spAutoFit/>
              </a:bodyPr>
              <a:lstStyle/>
              <a:p>
                <a:r>
                  <a:rPr lang="en-US" dirty="0" smtClean="0"/>
                  <a:t>w1</a:t>
                </a:r>
                <a:endParaRPr lang="en-IN" dirty="0"/>
              </a:p>
            </p:txBody>
          </p:sp>
        </p:grpSp>
        <p:grpSp>
          <p:nvGrpSpPr>
            <p:cNvPr id="13" name="Group 12"/>
            <p:cNvGrpSpPr/>
            <p:nvPr/>
          </p:nvGrpSpPr>
          <p:grpSpPr>
            <a:xfrm>
              <a:off x="3259015" y="2614246"/>
              <a:ext cx="1137138" cy="427948"/>
              <a:chOff x="3259015" y="2614246"/>
              <a:chExt cx="1137138" cy="427948"/>
            </a:xfrm>
          </p:grpSpPr>
          <p:cxnSp>
            <p:nvCxnSpPr>
              <p:cNvPr id="17" name="Straight Connector 16"/>
              <p:cNvCxnSpPr/>
              <p:nvPr/>
            </p:nvCxnSpPr>
            <p:spPr>
              <a:xfrm>
                <a:off x="3446584" y="2672862"/>
                <a:ext cx="949569"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259015" y="2672862"/>
                <a:ext cx="476412" cy="369332"/>
              </a:xfrm>
              <a:prstGeom prst="rect">
                <a:avLst/>
              </a:prstGeom>
              <a:noFill/>
            </p:spPr>
            <p:txBody>
              <a:bodyPr wrap="none" rtlCol="0">
                <a:spAutoFit/>
              </a:bodyPr>
              <a:lstStyle/>
              <a:p>
                <a:r>
                  <a:rPr lang="en-US" dirty="0" smtClean="0"/>
                  <a:t>7.8</a:t>
                </a:r>
                <a:endParaRPr lang="en-IN" dirty="0"/>
              </a:p>
            </p:txBody>
          </p:sp>
          <p:sp>
            <p:nvSpPr>
              <p:cNvPr id="19" name="TextBox 18"/>
              <p:cNvSpPr txBox="1"/>
              <p:nvPr/>
            </p:nvSpPr>
            <p:spPr>
              <a:xfrm>
                <a:off x="3921368" y="2614246"/>
                <a:ext cx="466794" cy="369332"/>
              </a:xfrm>
              <a:prstGeom prst="rect">
                <a:avLst/>
              </a:prstGeom>
              <a:noFill/>
            </p:spPr>
            <p:txBody>
              <a:bodyPr wrap="none" rtlCol="0">
                <a:spAutoFit/>
              </a:bodyPr>
              <a:lstStyle/>
              <a:p>
                <a:r>
                  <a:rPr lang="en-US" dirty="0" smtClean="0"/>
                  <a:t>w2</a:t>
                </a:r>
                <a:endParaRPr lang="en-IN" sz="2400" dirty="0"/>
              </a:p>
            </p:txBody>
          </p:sp>
        </p:grpSp>
        <p:grpSp>
          <p:nvGrpSpPr>
            <p:cNvPr id="14" name="Group 13"/>
            <p:cNvGrpSpPr/>
            <p:nvPr/>
          </p:nvGrpSpPr>
          <p:grpSpPr>
            <a:xfrm>
              <a:off x="6518031" y="2401742"/>
              <a:ext cx="1189282" cy="369332"/>
              <a:chOff x="6518031" y="2401742"/>
              <a:chExt cx="1189282" cy="369332"/>
            </a:xfrm>
          </p:grpSpPr>
          <p:sp>
            <p:nvSpPr>
              <p:cNvPr id="15" name="Freeform 14"/>
              <p:cNvSpPr/>
              <p:nvPr/>
            </p:nvSpPr>
            <p:spPr>
              <a:xfrm>
                <a:off x="6518031" y="2552004"/>
                <a:ext cx="363415" cy="85852"/>
              </a:xfrm>
              <a:custGeom>
                <a:avLst/>
                <a:gdLst>
                  <a:gd name="connsiteX0" fmla="*/ 0 w 363415"/>
                  <a:gd name="connsiteY0" fmla="*/ 27073 h 85852"/>
                  <a:gd name="connsiteX1" fmla="*/ 328246 w 363415"/>
                  <a:gd name="connsiteY1" fmla="*/ 15350 h 85852"/>
                  <a:gd name="connsiteX2" fmla="*/ 293077 w 363415"/>
                  <a:gd name="connsiteY2" fmla="*/ 3627 h 85852"/>
                  <a:gd name="connsiteX3" fmla="*/ 363415 w 363415"/>
                  <a:gd name="connsiteY3" fmla="*/ 38796 h 85852"/>
                  <a:gd name="connsiteX4" fmla="*/ 328246 w 363415"/>
                  <a:gd name="connsiteY4" fmla="*/ 73965 h 85852"/>
                  <a:gd name="connsiteX5" fmla="*/ 269631 w 363415"/>
                  <a:gd name="connsiteY5" fmla="*/ 85688 h 85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3415" h="85852">
                    <a:moveTo>
                      <a:pt x="0" y="27073"/>
                    </a:moveTo>
                    <a:cubicBezTo>
                      <a:pt x="109415" y="23165"/>
                      <a:pt x="219110" y="24081"/>
                      <a:pt x="328246" y="15350"/>
                    </a:cubicBezTo>
                    <a:cubicBezTo>
                      <a:pt x="340564" y="14365"/>
                      <a:pt x="293077" y="-8730"/>
                      <a:pt x="293077" y="3627"/>
                    </a:cubicBezTo>
                    <a:cubicBezTo>
                      <a:pt x="293077" y="18777"/>
                      <a:pt x="354743" y="35905"/>
                      <a:pt x="363415" y="38796"/>
                    </a:cubicBezTo>
                    <a:cubicBezTo>
                      <a:pt x="351692" y="50519"/>
                      <a:pt x="342040" y="64769"/>
                      <a:pt x="328246" y="73965"/>
                    </a:cubicBezTo>
                    <a:cubicBezTo>
                      <a:pt x="306954" y="88159"/>
                      <a:pt x="291968" y="85688"/>
                      <a:pt x="269631" y="85688"/>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400" dirty="0"/>
              </a:p>
            </p:txBody>
          </p:sp>
          <p:sp>
            <p:nvSpPr>
              <p:cNvPr id="16" name="TextBox 15"/>
              <p:cNvSpPr txBox="1"/>
              <p:nvPr/>
            </p:nvSpPr>
            <p:spPr>
              <a:xfrm>
                <a:off x="6881446" y="2401742"/>
                <a:ext cx="825867" cy="369332"/>
              </a:xfrm>
              <a:prstGeom prst="rect">
                <a:avLst/>
              </a:prstGeom>
              <a:noFill/>
            </p:spPr>
            <p:txBody>
              <a:bodyPr wrap="none" rtlCol="0">
                <a:spAutoFit/>
              </a:bodyPr>
              <a:lstStyle/>
              <a:p>
                <a:r>
                  <a:rPr lang="en-US" dirty="0" smtClean="0"/>
                  <a:t>output</a:t>
                </a:r>
                <a:endParaRPr lang="en-IN" dirty="0"/>
              </a:p>
            </p:txBody>
          </p:sp>
        </p:grpSp>
      </p:grpSp>
      <p:graphicFrame>
        <p:nvGraphicFramePr>
          <p:cNvPr id="30" name="Table 29"/>
          <p:cNvGraphicFramePr>
            <a:graphicFrameLocks noGrp="1"/>
          </p:cNvGraphicFramePr>
          <p:nvPr>
            <p:extLst>
              <p:ext uri="{D42A27DB-BD31-4B8C-83A1-F6EECF244321}">
                <p14:modId xmlns:p14="http://schemas.microsoft.com/office/powerpoint/2010/main" val="2344670586"/>
              </p:ext>
            </p:extLst>
          </p:nvPr>
        </p:nvGraphicFramePr>
        <p:xfrm>
          <a:off x="636544" y="664768"/>
          <a:ext cx="2948330" cy="1524059"/>
        </p:xfrm>
        <a:graphic>
          <a:graphicData uri="http://schemas.openxmlformats.org/drawingml/2006/table">
            <a:tbl>
              <a:tblPr firstRow="1" bandRow="1">
                <a:tableStyleId>{616DA210-FB5B-4158-B5E0-FEB733F419BA}</a:tableStyleId>
              </a:tblPr>
              <a:tblGrid>
                <a:gridCol w="886205"/>
                <a:gridCol w="988457"/>
                <a:gridCol w="1073668"/>
              </a:tblGrid>
              <a:tr h="706271">
                <a:tc>
                  <a:txBody>
                    <a:bodyPr/>
                    <a:lstStyle/>
                    <a:p>
                      <a:r>
                        <a:rPr lang="en-US" sz="1600" dirty="0" smtClean="0"/>
                        <a:t>IQ</a:t>
                      </a:r>
                      <a:endParaRPr lang="en-IN" sz="1600" dirty="0"/>
                    </a:p>
                  </a:txBody>
                  <a:tcPr>
                    <a:solidFill>
                      <a:schemeClr val="bg1">
                        <a:lumMod val="95000"/>
                      </a:schemeClr>
                    </a:solidFill>
                  </a:tcPr>
                </a:tc>
                <a:tc>
                  <a:txBody>
                    <a:bodyPr/>
                    <a:lstStyle/>
                    <a:p>
                      <a:r>
                        <a:rPr lang="en-US" sz="1400" dirty="0" smtClean="0"/>
                        <a:t>CGPA</a:t>
                      </a:r>
                      <a:endParaRPr lang="en-IN" sz="1400" dirty="0"/>
                    </a:p>
                  </a:txBody>
                  <a:tcPr>
                    <a:solidFill>
                      <a:schemeClr val="bg1">
                        <a:lumMod val="95000"/>
                      </a:schemeClr>
                    </a:solidFill>
                  </a:tcPr>
                </a:tc>
                <a:tc>
                  <a:txBody>
                    <a:bodyPr/>
                    <a:lstStyle/>
                    <a:p>
                      <a:r>
                        <a:rPr lang="en-US" sz="1600" dirty="0" smtClean="0"/>
                        <a:t>Placed</a:t>
                      </a:r>
                      <a:endParaRPr lang="en-IN" sz="1600" dirty="0"/>
                    </a:p>
                  </a:txBody>
                  <a:tcPr>
                    <a:solidFill>
                      <a:schemeClr val="bg1">
                        <a:lumMod val="95000"/>
                      </a:schemeClr>
                    </a:solidFill>
                  </a:tcPr>
                </a:tc>
              </a:tr>
              <a:tr h="408894">
                <a:tc>
                  <a:txBody>
                    <a:bodyPr/>
                    <a:lstStyle/>
                    <a:p>
                      <a:r>
                        <a:rPr lang="en-US" sz="1600" dirty="0" smtClean="0"/>
                        <a:t>78</a:t>
                      </a:r>
                      <a:endParaRPr lang="en-IN" sz="1600" dirty="0"/>
                    </a:p>
                  </a:txBody>
                  <a:tcPr>
                    <a:noFill/>
                  </a:tcPr>
                </a:tc>
                <a:tc>
                  <a:txBody>
                    <a:bodyPr/>
                    <a:lstStyle/>
                    <a:p>
                      <a:r>
                        <a:rPr lang="en-US" sz="1400" dirty="0" smtClean="0"/>
                        <a:t>7.8</a:t>
                      </a:r>
                      <a:endParaRPr lang="en-IN" sz="1400" dirty="0"/>
                    </a:p>
                  </a:txBody>
                  <a:tcPr>
                    <a:noFill/>
                  </a:tcPr>
                </a:tc>
                <a:tc>
                  <a:txBody>
                    <a:bodyPr/>
                    <a:lstStyle/>
                    <a:p>
                      <a:r>
                        <a:rPr lang="en-US" sz="1600" dirty="0" smtClean="0"/>
                        <a:t>1</a:t>
                      </a:r>
                      <a:endParaRPr lang="en-IN" sz="1600" dirty="0"/>
                    </a:p>
                  </a:txBody>
                  <a:tcPr>
                    <a:noFill/>
                  </a:tcPr>
                </a:tc>
              </a:tr>
              <a:tr h="408894">
                <a:tc>
                  <a:txBody>
                    <a:bodyPr/>
                    <a:lstStyle/>
                    <a:p>
                      <a:r>
                        <a:rPr lang="en-US" sz="1600" dirty="0" smtClean="0"/>
                        <a:t>69</a:t>
                      </a:r>
                      <a:endParaRPr lang="en-IN" sz="1600" dirty="0"/>
                    </a:p>
                  </a:txBody>
                  <a:tcPr/>
                </a:tc>
                <a:tc>
                  <a:txBody>
                    <a:bodyPr/>
                    <a:lstStyle/>
                    <a:p>
                      <a:r>
                        <a:rPr lang="en-US" sz="1400" dirty="0" smtClean="0"/>
                        <a:t>5.1</a:t>
                      </a:r>
                      <a:endParaRPr lang="en-IN" sz="1400" dirty="0"/>
                    </a:p>
                  </a:txBody>
                  <a:tcPr/>
                </a:tc>
                <a:tc>
                  <a:txBody>
                    <a:bodyPr/>
                    <a:lstStyle/>
                    <a:p>
                      <a:r>
                        <a:rPr lang="en-US" sz="1600" dirty="0" smtClean="0"/>
                        <a:t>0</a:t>
                      </a:r>
                      <a:endParaRPr lang="en-IN" sz="1600" dirty="0"/>
                    </a:p>
                  </a:txBody>
                  <a:tcPr/>
                </a:tc>
              </a:tr>
            </a:tbl>
          </a:graphicData>
        </a:graphic>
      </p:graphicFrame>
      <p:sp>
        <p:nvSpPr>
          <p:cNvPr id="2" name="TextBox 1"/>
          <p:cNvSpPr txBox="1"/>
          <p:nvPr/>
        </p:nvSpPr>
        <p:spPr>
          <a:xfrm>
            <a:off x="598227" y="172325"/>
            <a:ext cx="1404487" cy="369332"/>
          </a:xfrm>
          <a:prstGeom prst="rect">
            <a:avLst/>
          </a:prstGeom>
          <a:noFill/>
        </p:spPr>
        <p:txBody>
          <a:bodyPr wrap="none" rtlCol="0">
            <a:spAutoFit/>
          </a:bodyPr>
          <a:lstStyle/>
          <a:p>
            <a:r>
              <a:rPr lang="en-US" dirty="0" smtClean="0"/>
              <a:t>1000 records</a:t>
            </a:r>
            <a:endParaRPr lang="en-IN" dirty="0"/>
          </a:p>
        </p:txBody>
      </p:sp>
      <p:sp>
        <p:nvSpPr>
          <p:cNvPr id="31" name="Rectangle 30"/>
          <p:cNvSpPr/>
          <p:nvPr/>
        </p:nvSpPr>
        <p:spPr>
          <a:xfrm>
            <a:off x="387334" y="3384640"/>
            <a:ext cx="11384158" cy="1292662"/>
          </a:xfrm>
          <a:prstGeom prst="rect">
            <a:avLst/>
          </a:prstGeom>
        </p:spPr>
        <p:txBody>
          <a:bodyPr wrap="square">
            <a:spAutoFit/>
          </a:bodyPr>
          <a:lstStyle/>
          <a:p>
            <a:r>
              <a:rPr lang="en-US" sz="1600" dirty="0">
                <a:ea typeface="Arial Unicode MS" pitchFamily="34" charset="-128"/>
                <a:cs typeface="Arial Unicode MS" pitchFamily="34" charset="-128"/>
              </a:rPr>
              <a:t>you may also wonder: what if I have more than two input columns? For example, in addition to IQ and CGPA, what if I also have the student's state (Maharashtra, West Bengal, UP)? That too is an input.</a:t>
            </a:r>
          </a:p>
          <a:p>
            <a:r>
              <a:rPr lang="en-US" sz="1600" dirty="0">
                <a:ea typeface="Arial Unicode MS" pitchFamily="34" charset="-128"/>
                <a:cs typeface="Arial Unicode MS" pitchFamily="34" charset="-128"/>
              </a:rPr>
              <a:t>So, what would your perceptron look like? It's simple: you provide as many x values as you have columns. If there's a third input, you'll have an x3 and a connection for it (with weight w3). Your summation now becomes</a:t>
            </a:r>
            <a:r>
              <a:rPr lang="en-US" sz="1400" dirty="0"/>
              <a:t> </a:t>
            </a:r>
            <a:r>
              <a:rPr lang="en-US" sz="1400" dirty="0" smtClean="0"/>
              <a:t>  </a:t>
            </a:r>
          </a:p>
          <a:p>
            <a:r>
              <a:rPr lang="en-US" sz="1400" i="1" dirty="0"/>
              <a:t> </a:t>
            </a:r>
            <a:r>
              <a:rPr lang="en-US" sz="1400" i="1" dirty="0" smtClean="0"/>
              <a:t>                                            </a:t>
            </a:r>
            <a:endParaRPr lang="en-US" dirty="0">
              <a:latin typeface="Arial Rounded MT Bold" pitchFamily="34" charset="0"/>
            </a:endParaRPr>
          </a:p>
        </p:txBody>
      </p:sp>
      <p:sp>
        <p:nvSpPr>
          <p:cNvPr id="3" name="Rectangle 2"/>
          <p:cNvSpPr/>
          <p:nvPr/>
        </p:nvSpPr>
        <p:spPr>
          <a:xfrm>
            <a:off x="3584874" y="5096596"/>
            <a:ext cx="2738250" cy="369332"/>
          </a:xfrm>
          <a:prstGeom prst="rect">
            <a:avLst/>
          </a:prstGeom>
        </p:spPr>
        <p:txBody>
          <a:bodyPr wrap="none">
            <a:spAutoFit/>
          </a:bodyPr>
          <a:lstStyle/>
          <a:p>
            <a:r>
              <a:rPr lang="en-US" dirty="0">
                <a:latin typeface="Arial Rounded MT Bold" pitchFamily="34" charset="0"/>
              </a:rPr>
              <a:t>z=w1x1+w2x2+w3x3+b</a:t>
            </a:r>
          </a:p>
        </p:txBody>
      </p:sp>
    </p:spTree>
    <p:extLst>
      <p:ext uri="{BB962C8B-B14F-4D97-AF65-F5344CB8AC3E}">
        <p14:creationId xmlns:p14="http://schemas.microsoft.com/office/powerpoint/2010/main" val="23678347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82063" y="4530451"/>
            <a:ext cx="12109937" cy="2062103"/>
          </a:xfrm>
          <a:prstGeom prst="rect">
            <a:avLst/>
          </a:prstGeom>
        </p:spPr>
        <p:txBody>
          <a:bodyPr wrap="square">
            <a:spAutoFit/>
          </a:bodyPr>
          <a:lstStyle/>
          <a:p>
            <a:r>
              <a:rPr lang="en-US" sz="1600" dirty="0">
                <a:ea typeface="Arial Unicode MS" pitchFamily="34" charset="-128"/>
                <a:cs typeface="Arial Unicode MS" pitchFamily="34" charset="-128"/>
              </a:rPr>
              <a:t>Let me explain what these weights mean. These weights actually tell you about the strength of the connection between each input (e.g., IQ, CGPA) and your model. In other words, IQ feeds in through one connection and CGPA through another, and you can see which factor is more important when deciding whether a student gets placed.</a:t>
            </a:r>
          </a:p>
          <a:p>
            <a:r>
              <a:rPr lang="en-US" sz="1600" dirty="0">
                <a:ea typeface="Arial Unicode MS" pitchFamily="34" charset="-128"/>
                <a:cs typeface="Arial Unicode MS" pitchFamily="34" charset="-128"/>
              </a:rPr>
              <a:t>In this example, CGPA is a more important factor than IQ for determining placement. Why? Because the weight for CGPA is greater than the weight for IQ—in fact, it’s twice as large. So, you can say that CGPA is a significantly more important feature than IQ for predicting whether a student will get placed according to this model.</a:t>
            </a:r>
          </a:p>
          <a:p>
            <a:r>
              <a:rPr lang="en-US" sz="1600" dirty="0">
                <a:ea typeface="Arial Unicode MS" pitchFamily="34" charset="-128"/>
                <a:cs typeface="Arial Unicode MS" pitchFamily="34" charset="-128"/>
              </a:rPr>
              <a:t>That’s what the weights tell you: which input is more important and which is less important. So, you can draw the interpretation that weights represent feature importance in the perceptron model.</a:t>
            </a:r>
          </a:p>
        </p:txBody>
      </p:sp>
      <p:grpSp>
        <p:nvGrpSpPr>
          <p:cNvPr id="4096" name="Group 4095"/>
          <p:cNvGrpSpPr/>
          <p:nvPr/>
        </p:nvGrpSpPr>
        <p:grpSpPr>
          <a:xfrm>
            <a:off x="2384712" y="1453009"/>
            <a:ext cx="4988813" cy="2085707"/>
            <a:chOff x="3295562" y="1343294"/>
            <a:chExt cx="4988813" cy="2085707"/>
          </a:xfrm>
        </p:grpSpPr>
        <p:grpSp>
          <p:nvGrpSpPr>
            <p:cNvPr id="9" name="Group 8"/>
            <p:cNvGrpSpPr/>
            <p:nvPr/>
          </p:nvGrpSpPr>
          <p:grpSpPr>
            <a:xfrm>
              <a:off x="3295562" y="1343294"/>
              <a:ext cx="4988813" cy="1985723"/>
              <a:chOff x="2646365" y="1781831"/>
              <a:chExt cx="4988813" cy="1985723"/>
            </a:xfrm>
          </p:grpSpPr>
          <p:grpSp>
            <p:nvGrpSpPr>
              <p:cNvPr id="10" name="Group 9"/>
              <p:cNvGrpSpPr/>
              <p:nvPr/>
            </p:nvGrpSpPr>
            <p:grpSpPr>
              <a:xfrm>
                <a:off x="4396153" y="2215661"/>
                <a:ext cx="2124806" cy="715107"/>
                <a:chOff x="4396153" y="2215661"/>
                <a:chExt cx="2124806" cy="715107"/>
              </a:xfrm>
            </p:grpSpPr>
            <p:sp>
              <p:nvSpPr>
                <p:cNvPr id="26" name="Flowchart: Connector 25"/>
                <p:cNvSpPr/>
                <p:nvPr/>
              </p:nvSpPr>
              <p:spPr>
                <a:xfrm>
                  <a:off x="4396153" y="2215661"/>
                  <a:ext cx="691661" cy="71510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a:t>
                  </a:r>
                </a:p>
              </p:txBody>
            </p:sp>
            <p:sp>
              <p:nvSpPr>
                <p:cNvPr id="27" name="Flowchart: Connector 26"/>
                <p:cNvSpPr/>
                <p:nvPr/>
              </p:nvSpPr>
              <p:spPr>
                <a:xfrm>
                  <a:off x="6063759" y="2344615"/>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f</a:t>
                  </a:r>
                  <a:endParaRPr lang="en-IN" sz="2000" dirty="0"/>
                </a:p>
              </p:txBody>
            </p:sp>
            <p:sp>
              <p:nvSpPr>
                <p:cNvPr id="28" name="Freeform 27"/>
                <p:cNvSpPr/>
                <p:nvPr/>
              </p:nvSpPr>
              <p:spPr>
                <a:xfrm>
                  <a:off x="5111262" y="2555631"/>
                  <a:ext cx="961292" cy="117231"/>
                </a:xfrm>
                <a:custGeom>
                  <a:avLst/>
                  <a:gdLst>
                    <a:gd name="connsiteX0" fmla="*/ 0 w 961292"/>
                    <a:gd name="connsiteY0" fmla="*/ 70338 h 117231"/>
                    <a:gd name="connsiteX1" fmla="*/ 128953 w 961292"/>
                    <a:gd name="connsiteY1" fmla="*/ 58615 h 117231"/>
                    <a:gd name="connsiteX2" fmla="*/ 269630 w 961292"/>
                    <a:gd name="connsiteY2" fmla="*/ 35169 h 117231"/>
                    <a:gd name="connsiteX3" fmla="*/ 961292 w 961292"/>
                    <a:gd name="connsiteY3" fmla="*/ 23446 h 117231"/>
                    <a:gd name="connsiteX4" fmla="*/ 902676 w 961292"/>
                    <a:gd name="connsiteY4" fmla="*/ 11723 h 117231"/>
                    <a:gd name="connsiteX5" fmla="*/ 867507 w 961292"/>
                    <a:gd name="connsiteY5" fmla="*/ 0 h 117231"/>
                    <a:gd name="connsiteX6" fmla="*/ 914400 w 961292"/>
                    <a:gd name="connsiteY6" fmla="*/ 11723 h 117231"/>
                    <a:gd name="connsiteX7" fmla="*/ 926123 w 961292"/>
                    <a:gd name="connsiteY7" fmla="*/ 58615 h 117231"/>
                    <a:gd name="connsiteX8" fmla="*/ 890953 w 961292"/>
                    <a:gd name="connsiteY8" fmla="*/ 82061 h 117231"/>
                    <a:gd name="connsiteX9" fmla="*/ 844061 w 961292"/>
                    <a:gd name="connsiteY9" fmla="*/ 105507 h 117231"/>
                    <a:gd name="connsiteX10" fmla="*/ 820615 w 961292"/>
                    <a:gd name="connsiteY10" fmla="*/ 117231 h 11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1292" h="117231">
                      <a:moveTo>
                        <a:pt x="0" y="70338"/>
                      </a:moveTo>
                      <a:cubicBezTo>
                        <a:pt x="42984" y="66430"/>
                        <a:pt x="86154" y="64197"/>
                        <a:pt x="128953" y="58615"/>
                      </a:cubicBezTo>
                      <a:cubicBezTo>
                        <a:pt x="176093" y="52466"/>
                        <a:pt x="222133" y="37176"/>
                        <a:pt x="269630" y="35169"/>
                      </a:cubicBezTo>
                      <a:cubicBezTo>
                        <a:pt x="500012" y="25435"/>
                        <a:pt x="730738" y="27354"/>
                        <a:pt x="961292" y="23446"/>
                      </a:cubicBezTo>
                      <a:cubicBezTo>
                        <a:pt x="941753" y="19538"/>
                        <a:pt x="922007" y="16556"/>
                        <a:pt x="902676" y="11723"/>
                      </a:cubicBezTo>
                      <a:cubicBezTo>
                        <a:pt x="890688" y="8726"/>
                        <a:pt x="855150" y="0"/>
                        <a:pt x="867507" y="0"/>
                      </a:cubicBezTo>
                      <a:cubicBezTo>
                        <a:pt x="883619" y="0"/>
                        <a:pt x="898769" y="7815"/>
                        <a:pt x="914400" y="11723"/>
                      </a:cubicBezTo>
                      <a:cubicBezTo>
                        <a:pt x="918308" y="27354"/>
                        <a:pt x="931218" y="43330"/>
                        <a:pt x="926123" y="58615"/>
                      </a:cubicBezTo>
                      <a:cubicBezTo>
                        <a:pt x="921667" y="71981"/>
                        <a:pt x="903186" y="75071"/>
                        <a:pt x="890953" y="82061"/>
                      </a:cubicBezTo>
                      <a:cubicBezTo>
                        <a:pt x="875780" y="90731"/>
                        <a:pt x="859692" y="97691"/>
                        <a:pt x="844061" y="105507"/>
                      </a:cubicBezTo>
                      <a:lnTo>
                        <a:pt x="820615" y="117231"/>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dirty="0"/>
                </a:p>
              </p:txBody>
            </p:sp>
            <p:sp>
              <p:nvSpPr>
                <p:cNvPr id="29" name="TextBox 28"/>
                <p:cNvSpPr txBox="1"/>
                <p:nvPr/>
              </p:nvSpPr>
              <p:spPr>
                <a:xfrm>
                  <a:off x="5380892" y="2488196"/>
                  <a:ext cx="285656" cy="400110"/>
                </a:xfrm>
                <a:prstGeom prst="rect">
                  <a:avLst/>
                </a:prstGeom>
                <a:noFill/>
              </p:spPr>
              <p:txBody>
                <a:bodyPr wrap="none" rtlCol="0">
                  <a:spAutoFit/>
                </a:bodyPr>
                <a:lstStyle/>
                <a:p>
                  <a:r>
                    <a:rPr lang="en-US" sz="2000" dirty="0" smtClean="0"/>
                    <a:t>z</a:t>
                  </a:r>
                  <a:endParaRPr lang="en-IN" sz="2000" dirty="0"/>
                </a:p>
              </p:txBody>
            </p:sp>
          </p:grpSp>
          <p:grpSp>
            <p:nvGrpSpPr>
              <p:cNvPr id="11" name="Group 10"/>
              <p:cNvGrpSpPr/>
              <p:nvPr/>
            </p:nvGrpSpPr>
            <p:grpSpPr>
              <a:xfrm>
                <a:off x="3414529" y="1781831"/>
                <a:ext cx="1082915" cy="646331"/>
                <a:chOff x="3414529" y="1781831"/>
                <a:chExt cx="1082915" cy="646331"/>
              </a:xfrm>
            </p:grpSpPr>
            <p:cxnSp>
              <p:nvCxnSpPr>
                <p:cNvPr id="23" name="Straight Connector 22"/>
                <p:cNvCxnSpPr>
                  <a:endCxn id="26" idx="1"/>
                </p:cNvCxnSpPr>
                <p:nvPr/>
              </p:nvCxnSpPr>
              <p:spPr>
                <a:xfrm>
                  <a:off x="3716215" y="1981941"/>
                  <a:ext cx="781229" cy="338445"/>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414529" y="1781831"/>
                  <a:ext cx="288862" cy="338554"/>
                </a:xfrm>
                <a:prstGeom prst="rect">
                  <a:avLst/>
                </a:prstGeom>
                <a:noFill/>
              </p:spPr>
              <p:txBody>
                <a:bodyPr wrap="none" rtlCol="0">
                  <a:spAutoFit/>
                </a:bodyPr>
                <a:lstStyle/>
                <a:p>
                  <a:r>
                    <a:rPr lang="en-US" sz="1600" dirty="0" smtClean="0"/>
                    <a:t>1</a:t>
                  </a:r>
                  <a:endParaRPr lang="en-IN" sz="1600" dirty="0"/>
                </a:p>
              </p:txBody>
            </p:sp>
            <p:sp>
              <p:nvSpPr>
                <p:cNvPr id="25" name="TextBox 24"/>
                <p:cNvSpPr txBox="1"/>
                <p:nvPr/>
              </p:nvSpPr>
              <p:spPr>
                <a:xfrm>
                  <a:off x="3987292" y="2089608"/>
                  <a:ext cx="292068" cy="338554"/>
                </a:xfrm>
                <a:prstGeom prst="rect">
                  <a:avLst/>
                </a:prstGeom>
                <a:noFill/>
              </p:spPr>
              <p:txBody>
                <a:bodyPr wrap="none" rtlCol="0">
                  <a:spAutoFit/>
                </a:bodyPr>
                <a:lstStyle/>
                <a:p>
                  <a:r>
                    <a:rPr lang="en-US" sz="1600" dirty="0" smtClean="0"/>
                    <a:t>b</a:t>
                  </a:r>
                  <a:endParaRPr lang="en-IN" sz="1600" dirty="0"/>
                </a:p>
              </p:txBody>
            </p:sp>
          </p:grpSp>
          <p:grpSp>
            <p:nvGrpSpPr>
              <p:cNvPr id="12" name="Group 11"/>
              <p:cNvGrpSpPr/>
              <p:nvPr/>
            </p:nvGrpSpPr>
            <p:grpSpPr>
              <a:xfrm>
                <a:off x="3255030" y="2826043"/>
                <a:ext cx="1587945" cy="941511"/>
                <a:chOff x="3255030" y="2826043"/>
                <a:chExt cx="1587945" cy="941511"/>
              </a:xfrm>
            </p:grpSpPr>
            <p:cxnSp>
              <p:nvCxnSpPr>
                <p:cNvPr id="20" name="Straight Connector 19"/>
                <p:cNvCxnSpPr>
                  <a:endCxn id="26" idx="3"/>
                </p:cNvCxnSpPr>
                <p:nvPr/>
              </p:nvCxnSpPr>
              <p:spPr>
                <a:xfrm flipV="1">
                  <a:off x="3962400" y="2826043"/>
                  <a:ext cx="535044" cy="602957"/>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255030" y="3429000"/>
                  <a:ext cx="651140" cy="338554"/>
                </a:xfrm>
                <a:prstGeom prst="rect">
                  <a:avLst/>
                </a:prstGeom>
                <a:noFill/>
              </p:spPr>
              <p:txBody>
                <a:bodyPr wrap="none" rtlCol="0">
                  <a:spAutoFit/>
                </a:bodyPr>
                <a:lstStyle/>
                <a:p>
                  <a:r>
                    <a:rPr lang="en-US" sz="1600" dirty="0" smtClean="0"/>
                    <a:t>X2=iq</a:t>
                  </a:r>
                  <a:endParaRPr lang="en-IN" sz="1600" dirty="0"/>
                </a:p>
              </p:txBody>
            </p:sp>
            <p:sp>
              <p:nvSpPr>
                <p:cNvPr id="22" name="TextBox 21"/>
                <p:cNvSpPr txBox="1"/>
                <p:nvPr/>
              </p:nvSpPr>
              <p:spPr>
                <a:xfrm>
                  <a:off x="4164584" y="3127521"/>
                  <a:ext cx="678391" cy="338554"/>
                </a:xfrm>
                <a:prstGeom prst="rect">
                  <a:avLst/>
                </a:prstGeom>
                <a:noFill/>
              </p:spPr>
              <p:txBody>
                <a:bodyPr wrap="none" rtlCol="0">
                  <a:spAutoFit/>
                </a:bodyPr>
                <a:lstStyle/>
                <a:p>
                  <a:r>
                    <a:rPr lang="en-US" sz="1600" dirty="0" smtClean="0"/>
                    <a:t>W1=2</a:t>
                  </a:r>
                  <a:endParaRPr lang="en-IN" sz="1600" dirty="0"/>
                </a:p>
              </p:txBody>
            </p:sp>
          </p:grpSp>
          <p:grpSp>
            <p:nvGrpSpPr>
              <p:cNvPr id="13" name="Group 12"/>
              <p:cNvGrpSpPr/>
              <p:nvPr/>
            </p:nvGrpSpPr>
            <p:grpSpPr>
              <a:xfrm>
                <a:off x="2646365" y="2614246"/>
                <a:ext cx="1953394" cy="347299"/>
                <a:chOff x="2646365" y="2614246"/>
                <a:chExt cx="1953394" cy="347299"/>
              </a:xfrm>
            </p:grpSpPr>
            <p:cxnSp>
              <p:nvCxnSpPr>
                <p:cNvPr id="17" name="Straight Connector 16"/>
                <p:cNvCxnSpPr/>
                <p:nvPr/>
              </p:nvCxnSpPr>
              <p:spPr>
                <a:xfrm>
                  <a:off x="3446584" y="2672862"/>
                  <a:ext cx="949569"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646365" y="2622991"/>
                  <a:ext cx="885179" cy="338554"/>
                </a:xfrm>
                <a:prstGeom prst="rect">
                  <a:avLst/>
                </a:prstGeom>
                <a:noFill/>
              </p:spPr>
              <p:txBody>
                <a:bodyPr wrap="none" rtlCol="0">
                  <a:spAutoFit/>
                </a:bodyPr>
                <a:lstStyle/>
                <a:p>
                  <a:r>
                    <a:rPr lang="en-US" sz="1600" dirty="0" smtClean="0"/>
                    <a:t>X2=cgpa</a:t>
                  </a:r>
                  <a:endParaRPr lang="en-IN" sz="1600" dirty="0"/>
                </a:p>
              </p:txBody>
            </p:sp>
            <p:sp>
              <p:nvSpPr>
                <p:cNvPr id="19" name="TextBox 18"/>
                <p:cNvSpPr txBox="1"/>
                <p:nvPr/>
              </p:nvSpPr>
              <p:spPr>
                <a:xfrm>
                  <a:off x="3921368" y="2614246"/>
                  <a:ext cx="678391" cy="338554"/>
                </a:xfrm>
                <a:prstGeom prst="rect">
                  <a:avLst/>
                </a:prstGeom>
                <a:noFill/>
              </p:spPr>
              <p:txBody>
                <a:bodyPr wrap="none" rtlCol="0">
                  <a:spAutoFit/>
                </a:bodyPr>
                <a:lstStyle/>
                <a:p>
                  <a:r>
                    <a:rPr lang="en-US" sz="1600" dirty="0" smtClean="0"/>
                    <a:t>W2=4</a:t>
                  </a:r>
                  <a:endParaRPr lang="en-IN" sz="2000" dirty="0"/>
                </a:p>
              </p:txBody>
            </p:sp>
          </p:grpSp>
          <p:grpSp>
            <p:nvGrpSpPr>
              <p:cNvPr id="14" name="Group 13"/>
              <p:cNvGrpSpPr/>
              <p:nvPr/>
            </p:nvGrpSpPr>
            <p:grpSpPr>
              <a:xfrm>
                <a:off x="6518031" y="2401742"/>
                <a:ext cx="1117147" cy="338554"/>
                <a:chOff x="6518031" y="2401742"/>
                <a:chExt cx="1117147" cy="338554"/>
              </a:xfrm>
            </p:grpSpPr>
            <p:sp>
              <p:nvSpPr>
                <p:cNvPr id="15" name="Freeform 14"/>
                <p:cNvSpPr/>
                <p:nvPr/>
              </p:nvSpPr>
              <p:spPr>
                <a:xfrm>
                  <a:off x="6518031" y="2552004"/>
                  <a:ext cx="363415" cy="85852"/>
                </a:xfrm>
                <a:custGeom>
                  <a:avLst/>
                  <a:gdLst>
                    <a:gd name="connsiteX0" fmla="*/ 0 w 363415"/>
                    <a:gd name="connsiteY0" fmla="*/ 27073 h 85852"/>
                    <a:gd name="connsiteX1" fmla="*/ 328246 w 363415"/>
                    <a:gd name="connsiteY1" fmla="*/ 15350 h 85852"/>
                    <a:gd name="connsiteX2" fmla="*/ 293077 w 363415"/>
                    <a:gd name="connsiteY2" fmla="*/ 3627 h 85852"/>
                    <a:gd name="connsiteX3" fmla="*/ 363415 w 363415"/>
                    <a:gd name="connsiteY3" fmla="*/ 38796 h 85852"/>
                    <a:gd name="connsiteX4" fmla="*/ 328246 w 363415"/>
                    <a:gd name="connsiteY4" fmla="*/ 73965 h 85852"/>
                    <a:gd name="connsiteX5" fmla="*/ 269631 w 363415"/>
                    <a:gd name="connsiteY5" fmla="*/ 85688 h 85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3415" h="85852">
                      <a:moveTo>
                        <a:pt x="0" y="27073"/>
                      </a:moveTo>
                      <a:cubicBezTo>
                        <a:pt x="109415" y="23165"/>
                        <a:pt x="219110" y="24081"/>
                        <a:pt x="328246" y="15350"/>
                      </a:cubicBezTo>
                      <a:cubicBezTo>
                        <a:pt x="340564" y="14365"/>
                        <a:pt x="293077" y="-8730"/>
                        <a:pt x="293077" y="3627"/>
                      </a:cubicBezTo>
                      <a:cubicBezTo>
                        <a:pt x="293077" y="18777"/>
                        <a:pt x="354743" y="35905"/>
                        <a:pt x="363415" y="38796"/>
                      </a:cubicBezTo>
                      <a:cubicBezTo>
                        <a:pt x="351692" y="50519"/>
                        <a:pt x="342040" y="64769"/>
                        <a:pt x="328246" y="73965"/>
                      </a:cubicBezTo>
                      <a:cubicBezTo>
                        <a:pt x="306954" y="88159"/>
                        <a:pt x="291968" y="85688"/>
                        <a:pt x="269631" y="85688"/>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dirty="0"/>
                </a:p>
              </p:txBody>
            </p:sp>
            <p:sp>
              <p:nvSpPr>
                <p:cNvPr id="16" name="TextBox 15"/>
                <p:cNvSpPr txBox="1"/>
                <p:nvPr/>
              </p:nvSpPr>
              <p:spPr>
                <a:xfrm>
                  <a:off x="6881446" y="2401742"/>
                  <a:ext cx="753732" cy="338554"/>
                </a:xfrm>
                <a:prstGeom prst="rect">
                  <a:avLst/>
                </a:prstGeom>
                <a:noFill/>
              </p:spPr>
              <p:txBody>
                <a:bodyPr wrap="none" rtlCol="0">
                  <a:spAutoFit/>
                </a:bodyPr>
                <a:lstStyle/>
                <a:p>
                  <a:r>
                    <a:rPr lang="en-US" sz="1600" dirty="0" smtClean="0"/>
                    <a:t>output</a:t>
                  </a:r>
                  <a:endParaRPr lang="en-IN" sz="1600" dirty="0"/>
                </a:p>
              </p:txBody>
            </p:sp>
          </p:grpSp>
        </p:grpSp>
        <p:cxnSp>
          <p:nvCxnSpPr>
            <p:cNvPr id="5" name="Straight Arrow Connector 4"/>
            <p:cNvCxnSpPr>
              <a:endCxn id="22" idx="2"/>
            </p:cNvCxnSpPr>
            <p:nvPr/>
          </p:nvCxnSpPr>
          <p:spPr>
            <a:xfrm flipH="1" flipV="1">
              <a:off x="5152977" y="3027538"/>
              <a:ext cx="35065" cy="4014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063726" y="1804959"/>
              <a:ext cx="572763" cy="3943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4097" name="Rectangle 4096"/>
          <p:cNvSpPr/>
          <p:nvPr/>
        </p:nvSpPr>
        <p:spPr>
          <a:xfrm>
            <a:off x="191069" y="249764"/>
            <a:ext cx="11778193" cy="830997"/>
          </a:xfrm>
          <a:prstGeom prst="rect">
            <a:avLst/>
          </a:prstGeom>
        </p:spPr>
        <p:txBody>
          <a:bodyPr wrap="square">
            <a:spAutoFit/>
          </a:bodyPr>
          <a:lstStyle/>
          <a:p>
            <a:r>
              <a:rPr lang="en-US" sz="1600" dirty="0">
                <a:ea typeface="Arial Unicode MS" pitchFamily="34" charset="-128"/>
                <a:cs typeface="Arial Unicode MS" pitchFamily="34" charset="-128"/>
              </a:rPr>
              <a:t>We have data about students’ IQ and CGPA, as well as whether each student got placed or not. Now, suppose we train a perceptron model using this data, and let’s say we get specific values for the weights and the bias. Assume that the value of w1 (corresponding to IQ) is 2, the value of w2 (corresponding to CGPA) is 4, and the value of the bias is 1 for now.</a:t>
            </a:r>
          </a:p>
        </p:txBody>
      </p:sp>
      <p:grpSp>
        <p:nvGrpSpPr>
          <p:cNvPr id="4103" name="Group 4102"/>
          <p:cNvGrpSpPr/>
          <p:nvPr/>
        </p:nvGrpSpPr>
        <p:grpSpPr>
          <a:xfrm>
            <a:off x="9924256" y="1517635"/>
            <a:ext cx="1639243" cy="978228"/>
            <a:chOff x="9334617" y="2174129"/>
            <a:chExt cx="1639243" cy="978228"/>
          </a:xfrm>
        </p:grpSpPr>
        <p:sp>
          <p:nvSpPr>
            <p:cNvPr id="4099" name="Left Brace 4098"/>
            <p:cNvSpPr/>
            <p:nvPr/>
          </p:nvSpPr>
          <p:spPr>
            <a:xfrm>
              <a:off x="9334617" y="2234325"/>
              <a:ext cx="155448" cy="914400"/>
            </a:xfrm>
            <a:prstGeom prst="leftBrace">
              <a:avLst/>
            </a:pr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400" dirty="0">
                <a:solidFill>
                  <a:srgbClr val="FF0066"/>
                </a:solidFill>
              </a:endParaRPr>
            </a:p>
          </p:txBody>
        </p:sp>
        <p:sp>
          <p:nvSpPr>
            <p:cNvPr id="4100" name="Right Brace 4099"/>
            <p:cNvSpPr/>
            <p:nvPr/>
          </p:nvSpPr>
          <p:spPr>
            <a:xfrm>
              <a:off x="10818412" y="2174129"/>
              <a:ext cx="155448" cy="914400"/>
            </a:xfrm>
            <a:prstGeom prst="rightBrace">
              <a:avLst/>
            </a:pr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400" dirty="0">
                <a:solidFill>
                  <a:srgbClr val="FF0066"/>
                </a:solidFill>
              </a:endParaRPr>
            </a:p>
          </p:txBody>
        </p:sp>
        <p:sp>
          <p:nvSpPr>
            <p:cNvPr id="4101" name="TextBox 4100"/>
            <p:cNvSpPr txBox="1"/>
            <p:nvPr/>
          </p:nvSpPr>
          <p:spPr>
            <a:xfrm>
              <a:off x="9440125" y="2418607"/>
              <a:ext cx="865558" cy="369332"/>
            </a:xfrm>
            <a:prstGeom prst="rect">
              <a:avLst/>
            </a:prstGeom>
            <a:noFill/>
            <a:ln>
              <a:noFill/>
            </a:ln>
          </p:spPr>
          <p:txBody>
            <a:bodyPr wrap="none" rtlCol="0">
              <a:spAutoFit/>
            </a:bodyPr>
            <a:lstStyle/>
            <a:p>
              <a:r>
                <a:rPr lang="en-US" i="1" dirty="0" smtClean="0">
                  <a:solidFill>
                    <a:srgbClr val="FF0066"/>
                  </a:solidFill>
                </a:rPr>
                <a:t>feature</a:t>
              </a:r>
              <a:endParaRPr lang="en-IN" i="1" dirty="0">
                <a:solidFill>
                  <a:srgbClr val="FF0066"/>
                </a:solidFill>
              </a:endParaRPr>
            </a:p>
          </p:txBody>
        </p:sp>
        <p:sp>
          <p:nvSpPr>
            <p:cNvPr id="4102" name="TextBox 4101"/>
            <p:cNvSpPr txBox="1"/>
            <p:nvPr/>
          </p:nvSpPr>
          <p:spPr>
            <a:xfrm>
              <a:off x="9565953" y="2783025"/>
              <a:ext cx="1252459" cy="369332"/>
            </a:xfrm>
            <a:prstGeom prst="rect">
              <a:avLst/>
            </a:prstGeom>
            <a:noFill/>
            <a:ln>
              <a:noFill/>
            </a:ln>
          </p:spPr>
          <p:txBody>
            <a:bodyPr wrap="none" rtlCol="0">
              <a:spAutoFit/>
            </a:bodyPr>
            <a:lstStyle/>
            <a:p>
              <a:r>
                <a:rPr lang="en-US" i="1" dirty="0" smtClean="0">
                  <a:solidFill>
                    <a:srgbClr val="FF0066"/>
                  </a:solidFill>
                </a:rPr>
                <a:t>importance</a:t>
              </a:r>
              <a:endParaRPr lang="en-IN" i="1" dirty="0">
                <a:solidFill>
                  <a:srgbClr val="FF0066"/>
                </a:solidFill>
              </a:endParaRPr>
            </a:p>
          </p:txBody>
        </p:sp>
      </p:grpSp>
      <p:graphicFrame>
        <p:nvGraphicFramePr>
          <p:cNvPr id="41" name="Table 40"/>
          <p:cNvGraphicFramePr>
            <a:graphicFrameLocks noGrp="1"/>
          </p:cNvGraphicFramePr>
          <p:nvPr>
            <p:extLst>
              <p:ext uri="{D42A27DB-BD31-4B8C-83A1-F6EECF244321}">
                <p14:modId xmlns:p14="http://schemas.microsoft.com/office/powerpoint/2010/main" val="3750861145"/>
              </p:ext>
            </p:extLst>
          </p:nvPr>
        </p:nvGraphicFramePr>
        <p:xfrm>
          <a:off x="8868818" y="3017520"/>
          <a:ext cx="2539233" cy="1005840"/>
        </p:xfrm>
        <a:graphic>
          <a:graphicData uri="http://schemas.openxmlformats.org/drawingml/2006/table">
            <a:tbl>
              <a:tblPr firstRow="1" bandRow="1">
                <a:tableStyleId>{616DA210-FB5B-4158-B5E0-FEB733F419BA}</a:tableStyleId>
              </a:tblPr>
              <a:tblGrid>
                <a:gridCol w="763239"/>
                <a:gridCol w="851303"/>
                <a:gridCol w="924691"/>
              </a:tblGrid>
              <a:tr h="263253">
                <a:tc>
                  <a:txBody>
                    <a:bodyPr/>
                    <a:lstStyle/>
                    <a:p>
                      <a:r>
                        <a:rPr lang="en-US" sz="1600" dirty="0" smtClean="0"/>
                        <a:t>IQ</a:t>
                      </a:r>
                      <a:endParaRPr lang="en-IN" sz="1600" dirty="0"/>
                    </a:p>
                  </a:txBody>
                  <a:tcPr>
                    <a:solidFill>
                      <a:schemeClr val="bg1">
                        <a:lumMod val="95000"/>
                      </a:schemeClr>
                    </a:solidFill>
                  </a:tcPr>
                </a:tc>
                <a:tc>
                  <a:txBody>
                    <a:bodyPr/>
                    <a:lstStyle/>
                    <a:p>
                      <a:r>
                        <a:rPr lang="en-US" sz="1400" dirty="0" smtClean="0"/>
                        <a:t>CGPA</a:t>
                      </a:r>
                      <a:endParaRPr lang="en-IN" sz="1400" dirty="0"/>
                    </a:p>
                  </a:txBody>
                  <a:tcPr>
                    <a:solidFill>
                      <a:schemeClr val="bg1">
                        <a:lumMod val="95000"/>
                      </a:schemeClr>
                    </a:solidFill>
                  </a:tcPr>
                </a:tc>
                <a:tc>
                  <a:txBody>
                    <a:bodyPr/>
                    <a:lstStyle/>
                    <a:p>
                      <a:r>
                        <a:rPr lang="en-US" sz="1600" dirty="0" smtClean="0"/>
                        <a:t>Placed</a:t>
                      </a:r>
                      <a:endParaRPr lang="en-IN" sz="1600" dirty="0"/>
                    </a:p>
                  </a:txBody>
                  <a:tcPr>
                    <a:solidFill>
                      <a:schemeClr val="bg1">
                        <a:lumMod val="95000"/>
                      </a:schemeClr>
                    </a:solidFill>
                  </a:tcPr>
                </a:tc>
              </a:tr>
              <a:tr h="263253">
                <a:tc>
                  <a:txBody>
                    <a:bodyPr/>
                    <a:lstStyle/>
                    <a:p>
                      <a:r>
                        <a:rPr lang="en-US" sz="1600" dirty="0" smtClean="0"/>
                        <a:t>78</a:t>
                      </a:r>
                      <a:endParaRPr lang="en-IN" sz="1600" dirty="0"/>
                    </a:p>
                  </a:txBody>
                  <a:tcPr>
                    <a:noFill/>
                  </a:tcPr>
                </a:tc>
                <a:tc>
                  <a:txBody>
                    <a:bodyPr/>
                    <a:lstStyle/>
                    <a:p>
                      <a:r>
                        <a:rPr lang="en-US" sz="1400" dirty="0" smtClean="0"/>
                        <a:t>7.8</a:t>
                      </a:r>
                      <a:endParaRPr lang="en-IN" sz="1400" dirty="0"/>
                    </a:p>
                  </a:txBody>
                  <a:tcPr>
                    <a:noFill/>
                  </a:tcPr>
                </a:tc>
                <a:tc>
                  <a:txBody>
                    <a:bodyPr/>
                    <a:lstStyle/>
                    <a:p>
                      <a:r>
                        <a:rPr lang="en-US" sz="1600" dirty="0" smtClean="0"/>
                        <a:t>1</a:t>
                      </a:r>
                      <a:endParaRPr lang="en-IN" sz="1600" dirty="0"/>
                    </a:p>
                  </a:txBody>
                  <a:tcPr>
                    <a:noFill/>
                  </a:tcPr>
                </a:tc>
              </a:tr>
              <a:tr h="263253">
                <a:tc>
                  <a:txBody>
                    <a:bodyPr/>
                    <a:lstStyle/>
                    <a:p>
                      <a:r>
                        <a:rPr lang="en-US" sz="1600" dirty="0" smtClean="0"/>
                        <a:t>69</a:t>
                      </a:r>
                      <a:endParaRPr lang="en-IN" sz="1600" dirty="0"/>
                    </a:p>
                  </a:txBody>
                  <a:tcPr/>
                </a:tc>
                <a:tc>
                  <a:txBody>
                    <a:bodyPr/>
                    <a:lstStyle/>
                    <a:p>
                      <a:r>
                        <a:rPr lang="en-US" sz="1400" dirty="0" smtClean="0"/>
                        <a:t>5.1</a:t>
                      </a:r>
                      <a:endParaRPr lang="en-IN" sz="1400" dirty="0"/>
                    </a:p>
                  </a:txBody>
                  <a:tcPr/>
                </a:tc>
                <a:tc>
                  <a:txBody>
                    <a:bodyPr/>
                    <a:lstStyle/>
                    <a:p>
                      <a:r>
                        <a:rPr lang="en-US" sz="1600" dirty="0" smtClean="0"/>
                        <a:t>0</a:t>
                      </a:r>
                      <a:endParaRPr lang="en-IN" sz="1600" dirty="0"/>
                    </a:p>
                  </a:txBody>
                  <a:tcPr/>
                </a:tc>
              </a:tr>
            </a:tbl>
          </a:graphicData>
        </a:graphic>
      </p:graphicFrame>
    </p:spTree>
    <p:extLst>
      <p:ext uri="{BB962C8B-B14F-4D97-AF65-F5344CB8AC3E}">
        <p14:creationId xmlns:p14="http://schemas.microsoft.com/office/powerpoint/2010/main" val="3686778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177422" y="236364"/>
            <a:ext cx="11803563" cy="1754326"/>
          </a:xfrm>
          <a:prstGeom prst="rect">
            <a:avLst/>
          </a:prstGeom>
        </p:spPr>
        <p:txBody>
          <a:bodyPr wrap="square">
            <a:spAutoFit/>
          </a:bodyPr>
          <a:lstStyle/>
          <a:p>
            <a:r>
              <a:rPr lang="en-US" sz="1600" dirty="0">
                <a:ea typeface="Arial Unicode MS" pitchFamily="34" charset="-128"/>
                <a:cs typeface="Arial Unicode MS" pitchFamily="34" charset="-128"/>
              </a:rPr>
              <a:t>The perceptron, as we just saw, is a very simple model. It basically has two steps: summation and the step function operation. Let’s draw this more clearly:</a:t>
            </a:r>
          </a:p>
          <a:p>
            <a:pPr marL="1371600" lvl="4" indent="-285750">
              <a:buFont typeface="Wingdings" pitchFamily="2" charset="2"/>
              <a:buChar char="§"/>
            </a:pPr>
            <a:r>
              <a:rPr lang="en-US" sz="1600" dirty="0">
                <a:ea typeface="Arial Unicode MS" pitchFamily="34" charset="-128"/>
                <a:cs typeface="Arial Unicode MS" pitchFamily="34" charset="-128"/>
              </a:rPr>
              <a:t>First, there's the summation</a:t>
            </a:r>
          </a:p>
          <a:p>
            <a:pPr marL="1371600" lvl="4" indent="-285750">
              <a:buFont typeface="Wingdings" pitchFamily="2" charset="2"/>
              <a:buChar char="§"/>
            </a:pPr>
            <a:r>
              <a:rPr lang="en-US" sz="1600" dirty="0">
                <a:ea typeface="Arial Unicode MS" pitchFamily="34" charset="-128"/>
                <a:cs typeface="Arial Unicode MS" pitchFamily="34" charset="-128"/>
              </a:rPr>
              <a:t>Then, there's the activation function (step function)</a:t>
            </a:r>
          </a:p>
          <a:p>
            <a:pPr marL="1371600" lvl="4" indent="-285750">
              <a:buFont typeface="Wingdings" pitchFamily="2" charset="2"/>
              <a:buChar char="§"/>
            </a:pPr>
            <a:r>
              <a:rPr lang="en-US" sz="1600" dirty="0">
                <a:ea typeface="Arial Unicode MS" pitchFamily="34" charset="-128"/>
                <a:cs typeface="Arial Unicode MS" pitchFamily="34" charset="-128"/>
              </a:rPr>
              <a:t>These are our inputs: w1, w2, bias, x1, x2</a:t>
            </a:r>
          </a:p>
          <a:p>
            <a:pPr marL="742950" lvl="1" indent="-285750">
              <a:buFont typeface="Wingdings" pitchFamily="2" charset="2"/>
              <a:buChar char="§"/>
            </a:pPr>
            <a:endParaRPr lang="en-US" sz="1400" dirty="0"/>
          </a:p>
          <a:p>
            <a:endParaRPr lang="en-US" sz="1400"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6370" y="695906"/>
            <a:ext cx="4344102" cy="3041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77422" y="3997349"/>
            <a:ext cx="11803563" cy="584775"/>
          </a:xfrm>
          <a:prstGeom prst="rect">
            <a:avLst/>
          </a:prstGeom>
        </p:spPr>
        <p:txBody>
          <a:bodyPr wrap="square">
            <a:spAutoFit/>
          </a:bodyPr>
          <a:lstStyle/>
          <a:p>
            <a:r>
              <a:rPr lang="en-US" sz="1600" dirty="0">
                <a:ea typeface="Arial Unicode MS" pitchFamily="34" charset="-128"/>
                <a:cs typeface="Arial Unicode MS" pitchFamily="34" charset="-128"/>
              </a:rPr>
              <a:t>Suppose we have a dataset with IQ, CGPA, and placement result for a thousand students. If we look at this visually, the perceptron is basically a function whose output is either 1 or 0 because it uses a step function.</a:t>
            </a:r>
          </a:p>
        </p:txBody>
      </p:sp>
      <p:sp>
        <p:nvSpPr>
          <p:cNvPr id="9" name="Rectangle 8"/>
          <p:cNvSpPr/>
          <p:nvPr/>
        </p:nvSpPr>
        <p:spPr>
          <a:xfrm>
            <a:off x="177422" y="4889061"/>
            <a:ext cx="11444658" cy="1785104"/>
          </a:xfrm>
          <a:prstGeom prst="rect">
            <a:avLst/>
          </a:prstGeom>
        </p:spPr>
        <p:txBody>
          <a:bodyPr wrap="square">
            <a:spAutoFit/>
          </a:bodyPr>
          <a:lstStyle/>
          <a:p>
            <a:r>
              <a:rPr lang="en-US" sz="1600" dirty="0">
                <a:ea typeface="Arial Unicode MS" pitchFamily="34" charset="-128"/>
                <a:cs typeface="Arial Unicode MS" pitchFamily="34" charset="-128"/>
              </a:rPr>
              <a:t>So, you can write y as a function of z, where</a:t>
            </a:r>
          </a:p>
          <a:p>
            <a:r>
              <a:rPr lang="en-US" sz="1600" dirty="0">
                <a:ea typeface="Arial Unicode MS" pitchFamily="34" charset="-128"/>
                <a:cs typeface="Arial Unicode MS" pitchFamily="34" charset="-128"/>
              </a:rPr>
              <a:t>           y=f(z)</a:t>
            </a:r>
          </a:p>
          <a:p>
            <a:pPr marL="0" lvl="1"/>
            <a:r>
              <a:rPr lang="en-US" sz="1600" dirty="0">
                <a:ea typeface="Arial Unicode MS" pitchFamily="34" charset="-128"/>
                <a:cs typeface="Arial Unicode MS" pitchFamily="34" charset="-128"/>
              </a:rPr>
              <a:t>z=w1x1+w2x2+b</a:t>
            </a:r>
          </a:p>
          <a:p>
            <a:r>
              <a:rPr lang="en-US" sz="1600" dirty="0">
                <a:ea typeface="Arial Unicode MS" pitchFamily="34" charset="-128"/>
                <a:cs typeface="Arial Unicode MS" pitchFamily="34" charset="-128"/>
              </a:rPr>
              <a:t>Now, the output will be 1 if z≥0z≥0, </a:t>
            </a:r>
          </a:p>
          <a:p>
            <a:r>
              <a:rPr lang="en-US" sz="1600" dirty="0">
                <a:ea typeface="Arial Unicode MS" pitchFamily="34" charset="-128"/>
                <a:cs typeface="Arial Unicode MS" pitchFamily="34" charset="-128"/>
              </a:rPr>
              <a:t>and the output will be 0 if z&lt;0z&lt;0. </a:t>
            </a:r>
          </a:p>
          <a:p>
            <a:endParaRPr lang="en-US" sz="1400" dirty="0"/>
          </a:p>
          <a:p>
            <a:r>
              <a:rPr lang="en-US" sz="1600" dirty="0">
                <a:ea typeface="Arial Unicode MS" pitchFamily="34" charset="-128"/>
                <a:cs typeface="Arial Unicode MS" pitchFamily="34" charset="-128"/>
              </a:rPr>
              <a:t>So, y is a function of z, and this z is calculated using the above logic.</a:t>
            </a:r>
          </a:p>
        </p:txBody>
      </p:sp>
    </p:spTree>
    <p:extLst>
      <p:ext uri="{BB962C8B-B14F-4D97-AF65-F5344CB8AC3E}">
        <p14:creationId xmlns:p14="http://schemas.microsoft.com/office/powerpoint/2010/main" val="9155145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421820" y="136767"/>
            <a:ext cx="3071867" cy="338554"/>
          </a:xfrm>
          <a:prstGeom prst="rect">
            <a:avLst/>
          </a:prstGeom>
        </p:spPr>
        <p:txBody>
          <a:bodyPr wrap="none">
            <a:spAutoFit/>
          </a:bodyPr>
          <a:lstStyle/>
          <a:p>
            <a:r>
              <a:rPr lang="en-US" sz="1600" dirty="0">
                <a:latin typeface="Arial Rounded MT Bold" pitchFamily="34" charset="0"/>
              </a:rPr>
              <a:t>Suppose we plot our dataset:</a:t>
            </a:r>
          </a:p>
        </p:txBody>
      </p:sp>
      <p:sp>
        <p:nvSpPr>
          <p:cNvPr id="3" name="Rectangle 2"/>
          <p:cNvSpPr/>
          <p:nvPr/>
        </p:nvSpPr>
        <p:spPr>
          <a:xfrm>
            <a:off x="1002411" y="641565"/>
            <a:ext cx="8155237" cy="1569660"/>
          </a:xfrm>
          <a:prstGeom prst="rect">
            <a:avLst/>
          </a:prstGeom>
        </p:spPr>
        <p:txBody>
          <a:bodyPr wrap="square">
            <a:spAutoFit/>
          </a:bodyPr>
          <a:lstStyle/>
          <a:p>
            <a:r>
              <a:rPr lang="en-US" sz="1600" dirty="0">
                <a:ea typeface="Arial Unicode MS" pitchFamily="34" charset="-128"/>
                <a:cs typeface="Arial Unicode MS" pitchFamily="34" charset="-128"/>
              </a:rPr>
              <a:t>X-axis: IQ</a:t>
            </a:r>
          </a:p>
          <a:p>
            <a:r>
              <a:rPr lang="en-US" sz="1600" dirty="0">
                <a:ea typeface="Arial Unicode MS" pitchFamily="34" charset="-128"/>
                <a:cs typeface="Arial Unicode MS" pitchFamily="34" charset="-128"/>
              </a:rPr>
              <a:t>Y-axis: </a:t>
            </a:r>
            <a:r>
              <a:rPr lang="en-US" sz="1600" dirty="0" smtClean="0">
                <a:ea typeface="Arial Unicode MS" pitchFamily="34" charset="-128"/>
                <a:cs typeface="Arial Unicode MS" pitchFamily="34" charset="-128"/>
              </a:rPr>
              <a:t>CGPA</a:t>
            </a:r>
          </a:p>
          <a:p>
            <a:r>
              <a:rPr lang="en-US" sz="1600" dirty="0">
                <a:ea typeface="Arial Unicode MS" pitchFamily="34" charset="-128"/>
                <a:cs typeface="Arial Unicode MS" pitchFamily="34" charset="-128"/>
              </a:rPr>
              <a:t/>
            </a:r>
            <a:br>
              <a:rPr lang="en-US" sz="1600" dirty="0">
                <a:ea typeface="Arial Unicode MS" pitchFamily="34" charset="-128"/>
                <a:cs typeface="Arial Unicode MS" pitchFamily="34" charset="-128"/>
              </a:rPr>
            </a:br>
            <a:r>
              <a:rPr lang="en-US" sz="1600" dirty="0">
                <a:ea typeface="Arial Unicode MS" pitchFamily="34" charset="-128"/>
                <a:cs typeface="Arial Unicode MS" pitchFamily="34" charset="-128"/>
              </a:rPr>
              <a:t>With 1000 students, you’ll have 1000 points.</a:t>
            </a:r>
          </a:p>
          <a:p>
            <a:r>
              <a:rPr lang="en-US" sz="1600" dirty="0">
                <a:ea typeface="Arial Unicode MS" pitchFamily="34" charset="-128"/>
                <a:cs typeface="Arial Unicode MS" pitchFamily="34" charset="-128"/>
              </a:rPr>
              <a:t>Green circles: students who got placed (placement = 1)</a:t>
            </a:r>
          </a:p>
          <a:p>
            <a:r>
              <a:rPr lang="en-US" sz="1600" dirty="0">
                <a:ea typeface="Arial Unicode MS" pitchFamily="34" charset="-128"/>
                <a:cs typeface="Arial Unicode MS" pitchFamily="34" charset="-128"/>
              </a:rPr>
              <a:t>Red circles: students who did not get placed (placement = 0)</a:t>
            </a:r>
          </a:p>
        </p:txBody>
      </p:sp>
      <p:sp>
        <p:nvSpPr>
          <p:cNvPr id="5" name="Rectangle 4"/>
          <p:cNvSpPr/>
          <p:nvPr/>
        </p:nvSpPr>
        <p:spPr>
          <a:xfrm>
            <a:off x="218363" y="3064747"/>
            <a:ext cx="11832959" cy="1815882"/>
          </a:xfrm>
          <a:prstGeom prst="rect">
            <a:avLst/>
          </a:prstGeom>
        </p:spPr>
        <p:txBody>
          <a:bodyPr wrap="square">
            <a:spAutoFit/>
          </a:bodyPr>
          <a:lstStyle/>
          <a:p>
            <a:r>
              <a:rPr lang="en-US" sz="1600" dirty="0">
                <a:ea typeface="Arial Unicode MS" pitchFamily="34" charset="-128"/>
                <a:cs typeface="Arial Unicode MS" pitchFamily="34" charset="-128"/>
              </a:rPr>
              <a:t>You’ll see, those students with high IQ and high CGPA fall into the green cluster</a:t>
            </a:r>
            <a:br>
              <a:rPr lang="en-US" sz="1600" dirty="0">
                <a:ea typeface="Arial Unicode MS" pitchFamily="34" charset="-128"/>
                <a:cs typeface="Arial Unicode MS" pitchFamily="34" charset="-128"/>
              </a:rPr>
            </a:br>
            <a:r>
              <a:rPr lang="en-US" sz="1600" dirty="0">
                <a:ea typeface="Arial Unicode MS" pitchFamily="34" charset="-128"/>
                <a:cs typeface="Arial Unicode MS" pitchFamily="34" charset="-128"/>
              </a:rPr>
              <a:t>Those with low IQ and low CGPA fall into the red cluster</a:t>
            </a:r>
          </a:p>
          <a:p>
            <a:r>
              <a:rPr lang="en-US" sz="1600" dirty="0">
                <a:ea typeface="Arial Unicode MS" pitchFamily="34" charset="-128"/>
                <a:cs typeface="Arial Unicode MS" pitchFamily="34" charset="-128"/>
              </a:rPr>
              <a:t>Our end goal is to make a predictor — a model that, when given a new student's IQ and CGPA, predicts whether the student will get placed or not</a:t>
            </a:r>
            <a:r>
              <a:rPr lang="en-US" sz="1600" dirty="0" smtClean="0">
                <a:ea typeface="Arial Unicode MS" pitchFamily="34" charset="-128"/>
                <a:cs typeface="Arial Unicode MS" pitchFamily="34" charset="-128"/>
              </a:rPr>
              <a:t>.</a:t>
            </a:r>
          </a:p>
          <a:p>
            <a:endParaRPr lang="en-US" sz="1600" dirty="0">
              <a:ea typeface="Arial Unicode MS" pitchFamily="34" charset="-128"/>
              <a:cs typeface="Arial Unicode MS" pitchFamily="34" charset="-128"/>
            </a:endParaRPr>
          </a:p>
          <a:p>
            <a:r>
              <a:rPr lang="en-US" sz="1600" dirty="0">
                <a:ea typeface="Arial Unicode MS" pitchFamily="34" charset="-128"/>
                <a:cs typeface="Arial Unicode MS" pitchFamily="34" charset="-128"/>
              </a:rPr>
              <a:t>Now, focus on this — have you seen this equation before?</a:t>
            </a:r>
          </a:p>
          <a:p>
            <a:r>
              <a:rPr lang="en-US" sz="1600" dirty="0">
                <a:ea typeface="Arial Unicode MS" pitchFamily="34" charset="-128"/>
                <a:cs typeface="Arial Unicode MS" pitchFamily="34" charset="-128"/>
              </a:rPr>
              <a:t>If you replace the symbols for weights and biases, all you get is the equation of a line in two dimensions:</a:t>
            </a:r>
          </a:p>
        </p:txBody>
      </p:sp>
    </p:spTree>
    <p:extLst>
      <p:ext uri="{BB962C8B-B14F-4D97-AF65-F5344CB8AC3E}">
        <p14:creationId xmlns:p14="http://schemas.microsoft.com/office/powerpoint/2010/main" val="2544647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4781216" y="382250"/>
            <a:ext cx="1523174" cy="369332"/>
          </a:xfrm>
          <a:prstGeom prst="rect">
            <a:avLst/>
          </a:prstGeom>
        </p:spPr>
        <p:txBody>
          <a:bodyPr wrap="none">
            <a:spAutoFit/>
          </a:bodyPr>
          <a:lstStyle/>
          <a:p>
            <a:r>
              <a:rPr lang="en-IN" dirty="0">
                <a:latin typeface="Arial Rounded MT Bold" pitchFamily="34" charset="0"/>
              </a:rPr>
              <a:t>a⋅x+b⋅y+c=0</a:t>
            </a:r>
          </a:p>
        </p:txBody>
      </p:sp>
      <p:sp>
        <p:nvSpPr>
          <p:cNvPr id="3" name="Rectangle 2"/>
          <p:cNvSpPr/>
          <p:nvPr/>
        </p:nvSpPr>
        <p:spPr>
          <a:xfrm>
            <a:off x="191069" y="989402"/>
            <a:ext cx="11707854" cy="830997"/>
          </a:xfrm>
          <a:prstGeom prst="rect">
            <a:avLst/>
          </a:prstGeom>
        </p:spPr>
        <p:txBody>
          <a:bodyPr wrap="square">
            <a:spAutoFit/>
          </a:bodyPr>
          <a:lstStyle/>
          <a:p>
            <a:r>
              <a:rPr lang="en-US" sz="1600" dirty="0">
                <a:ea typeface="Arial Unicode MS" pitchFamily="34" charset="-128"/>
                <a:cs typeface="Arial Unicode MS" pitchFamily="34" charset="-128"/>
              </a:rPr>
              <a:t>So, your perceptron is nothing but a line. This line divides the space into two regions:</a:t>
            </a:r>
          </a:p>
          <a:p>
            <a:pPr marL="457200" lvl="2"/>
            <a:r>
              <a:rPr lang="en-US" sz="1600" dirty="0">
                <a:ea typeface="Arial Unicode MS" pitchFamily="34" charset="-128"/>
                <a:cs typeface="Arial Unicode MS" pitchFamily="34" charset="-128"/>
              </a:rPr>
              <a:t>One side: placement will happen</a:t>
            </a:r>
          </a:p>
          <a:p>
            <a:pPr marL="457200" lvl="2"/>
            <a:r>
              <a:rPr lang="en-US" sz="1600" dirty="0">
                <a:ea typeface="Arial Unicode MS" pitchFamily="34" charset="-128"/>
                <a:cs typeface="Arial Unicode MS" pitchFamily="34" charset="-128"/>
              </a:rPr>
              <a:t>Other side: placement will NOT happen</a:t>
            </a:r>
          </a:p>
        </p:txBody>
      </p:sp>
      <p:sp>
        <p:nvSpPr>
          <p:cNvPr id="5" name="Rectangle 4"/>
          <p:cNvSpPr/>
          <p:nvPr/>
        </p:nvSpPr>
        <p:spPr>
          <a:xfrm>
            <a:off x="191069" y="2115905"/>
            <a:ext cx="11813361" cy="830997"/>
          </a:xfrm>
          <a:prstGeom prst="rect">
            <a:avLst/>
          </a:prstGeom>
        </p:spPr>
        <p:txBody>
          <a:bodyPr wrap="square">
            <a:spAutoFit/>
          </a:bodyPr>
          <a:lstStyle/>
          <a:p>
            <a:r>
              <a:rPr lang="en-US" sz="1600" dirty="0">
                <a:ea typeface="Arial Unicode MS" pitchFamily="34" charset="-128"/>
                <a:cs typeface="Arial Unicode MS" pitchFamily="34" charset="-128"/>
              </a:rPr>
              <a:t>Therefore, by this logic, if the equation is true, placement happens; otherwise, it doesn’t. So, in a way, the perceptron divides the entire data into two regions and classifies new points accordingly. That’s why a perceptron is called a </a:t>
            </a:r>
            <a:r>
              <a:rPr lang="en-US" sz="1600" dirty="0">
                <a:solidFill>
                  <a:srgbClr val="0070C0"/>
                </a:solidFill>
                <a:latin typeface="Arial Rounded MT Bold" pitchFamily="34" charset="0"/>
                <a:ea typeface="Arial Unicode MS" pitchFamily="34" charset="-128"/>
                <a:cs typeface="Arial Unicode MS" pitchFamily="34" charset="-128"/>
              </a:rPr>
              <a:t>binary classifier</a:t>
            </a:r>
            <a:r>
              <a:rPr lang="en-US" sz="1600" dirty="0">
                <a:ea typeface="Arial Unicode MS" pitchFamily="34" charset="-128"/>
                <a:cs typeface="Arial Unicode MS" pitchFamily="34" charset="-128"/>
              </a:rPr>
              <a:t>, because it creates two regions (two classes).</a:t>
            </a:r>
            <a:endParaRPr lang="en-IN" sz="1600" dirty="0">
              <a:ea typeface="Arial Unicode MS" pitchFamily="34" charset="-128"/>
              <a:cs typeface="Arial Unicode MS" pitchFamily="34" charset="-128"/>
            </a:endParaRPr>
          </a:p>
        </p:txBody>
      </p:sp>
      <p:sp>
        <p:nvSpPr>
          <p:cNvPr id="9" name="Rectangle 8"/>
          <p:cNvSpPr/>
          <p:nvPr/>
        </p:nvSpPr>
        <p:spPr>
          <a:xfrm>
            <a:off x="191069" y="3305889"/>
            <a:ext cx="11696131" cy="553998"/>
          </a:xfrm>
          <a:prstGeom prst="rect">
            <a:avLst/>
          </a:prstGeom>
        </p:spPr>
        <p:txBody>
          <a:bodyPr wrap="square">
            <a:spAutoFit/>
          </a:bodyPr>
          <a:lstStyle/>
          <a:p>
            <a:r>
              <a:rPr lang="en-US" sz="1600" dirty="0">
                <a:ea typeface="Arial Unicode MS" pitchFamily="34" charset="-128"/>
                <a:cs typeface="Arial Unicode MS" pitchFamily="34" charset="-128"/>
              </a:rPr>
              <a:t>Now, what if you have more than two inputs? For example, IQ, CGPA, and 12th standard marks: The equation becomes:</a:t>
            </a:r>
          </a:p>
          <a:p>
            <a:r>
              <a:rPr lang="en-US" sz="1400" dirty="0" smtClean="0"/>
              <a:t>                                                  </a:t>
            </a:r>
          </a:p>
        </p:txBody>
      </p:sp>
      <p:sp>
        <p:nvSpPr>
          <p:cNvPr id="10" name="Rectangle 9"/>
          <p:cNvSpPr/>
          <p:nvPr/>
        </p:nvSpPr>
        <p:spPr>
          <a:xfrm>
            <a:off x="3527668" y="4229219"/>
            <a:ext cx="2755883" cy="369332"/>
          </a:xfrm>
          <a:prstGeom prst="rect">
            <a:avLst/>
          </a:prstGeom>
        </p:spPr>
        <p:txBody>
          <a:bodyPr wrap="none">
            <a:spAutoFit/>
          </a:bodyPr>
          <a:lstStyle/>
          <a:p>
            <a:r>
              <a:rPr lang="en-US" dirty="0">
                <a:latin typeface="Arial Rounded MT Bold" pitchFamily="34" charset="0"/>
              </a:rPr>
              <a:t>w1x1+w2x2+w3x3+b=0</a:t>
            </a:r>
          </a:p>
        </p:txBody>
      </p:sp>
    </p:spTree>
    <p:extLst>
      <p:ext uri="{BB962C8B-B14F-4D97-AF65-F5344CB8AC3E}">
        <p14:creationId xmlns:p14="http://schemas.microsoft.com/office/powerpoint/2010/main" val="22220497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300251" y="375953"/>
            <a:ext cx="11739349" cy="1815882"/>
          </a:xfrm>
          <a:prstGeom prst="rect">
            <a:avLst/>
          </a:prstGeom>
        </p:spPr>
        <p:txBody>
          <a:bodyPr wrap="square">
            <a:spAutoFit/>
          </a:bodyPr>
          <a:lstStyle/>
          <a:p>
            <a:r>
              <a:rPr lang="en-US" sz="1600" dirty="0">
                <a:ea typeface="Arial Unicode MS" pitchFamily="34" charset="-128"/>
                <a:cs typeface="Arial Unicode MS" pitchFamily="34" charset="-128"/>
              </a:rPr>
              <a:t>In 3D, this equation represents a plane that still divides your data into two regions. You can imagine the plane as a sheet dividing the room; points above the sheet are one class, below are another.</a:t>
            </a:r>
          </a:p>
          <a:p>
            <a:pPr lvl="1"/>
            <a:r>
              <a:rPr lang="en-US" sz="1600" dirty="0">
                <a:ea typeface="Arial Unicode MS" pitchFamily="34" charset="-128"/>
                <a:cs typeface="Arial Unicode MS" pitchFamily="34" charset="-128"/>
              </a:rPr>
              <a:t>In 2D: perceptron = line</a:t>
            </a:r>
          </a:p>
          <a:p>
            <a:pPr lvl="1"/>
            <a:r>
              <a:rPr lang="en-US" sz="1600" dirty="0">
                <a:ea typeface="Arial Unicode MS" pitchFamily="34" charset="-128"/>
                <a:cs typeface="Arial Unicode MS" pitchFamily="34" charset="-128"/>
              </a:rPr>
              <a:t>In 3D: perceptron = plane</a:t>
            </a:r>
          </a:p>
          <a:p>
            <a:pPr lvl="1"/>
            <a:r>
              <a:rPr lang="en-US" sz="1600" dirty="0">
                <a:ea typeface="Arial Unicode MS" pitchFamily="34" charset="-128"/>
                <a:cs typeface="Arial Unicode MS" pitchFamily="34" charset="-128"/>
              </a:rPr>
              <a:t>In higher dimensions: perceptron = hyperplane</a:t>
            </a:r>
          </a:p>
          <a:p>
            <a:endParaRPr lang="en-US" sz="1600" dirty="0">
              <a:ea typeface="Arial Unicode MS" pitchFamily="34" charset="-128"/>
              <a:cs typeface="Arial Unicode MS" pitchFamily="34" charset="-128"/>
            </a:endParaRPr>
          </a:p>
          <a:p>
            <a:r>
              <a:rPr lang="en-US" sz="1600" dirty="0">
                <a:ea typeface="Arial Unicode MS" pitchFamily="34" charset="-128"/>
                <a:cs typeface="Arial Unicode MS" pitchFamily="34" charset="-128"/>
              </a:rPr>
              <a:t>But the principle is always the same: the perceptron divides your data into two parts.</a:t>
            </a:r>
          </a:p>
        </p:txBody>
      </p:sp>
      <p:sp>
        <p:nvSpPr>
          <p:cNvPr id="3" name="Rectangle 2"/>
          <p:cNvSpPr/>
          <p:nvPr/>
        </p:nvSpPr>
        <p:spPr>
          <a:xfrm>
            <a:off x="300250" y="2577464"/>
            <a:ext cx="11739350" cy="830997"/>
          </a:xfrm>
          <a:prstGeom prst="rect">
            <a:avLst/>
          </a:prstGeom>
        </p:spPr>
        <p:txBody>
          <a:bodyPr wrap="square">
            <a:spAutoFit/>
          </a:bodyPr>
          <a:lstStyle/>
          <a:p>
            <a:r>
              <a:rPr lang="en-US" sz="1600" dirty="0">
                <a:latin typeface="Bahnschrift SemiBold" pitchFamily="34" charset="0"/>
              </a:rPr>
              <a:t>The perceptron is a linear classifier that divides the data into two regions using a line, plane, or </a:t>
            </a:r>
            <a:r>
              <a:rPr lang="en-US" sz="1600" dirty="0">
                <a:ea typeface="Arial Unicode MS" pitchFamily="34" charset="-128"/>
                <a:cs typeface="Arial Unicode MS" pitchFamily="34" charset="-128"/>
              </a:rPr>
              <a:t>hyper plane depending on the number of features.</a:t>
            </a:r>
          </a:p>
          <a:p>
            <a:r>
              <a:rPr lang="en-US" sz="1600" dirty="0">
                <a:ea typeface="Arial Unicode MS" pitchFamily="34" charset="-128"/>
                <a:cs typeface="Arial Unicode MS" pitchFamily="34" charset="-128"/>
              </a:rPr>
              <a:t>It can only perfectly classify data that can be separated linearly.</a:t>
            </a:r>
          </a:p>
        </p:txBody>
      </p:sp>
      <p:sp>
        <p:nvSpPr>
          <p:cNvPr id="5" name="Rectangle 4"/>
          <p:cNvSpPr/>
          <p:nvPr/>
        </p:nvSpPr>
        <p:spPr>
          <a:xfrm>
            <a:off x="300251" y="4734653"/>
            <a:ext cx="10597663" cy="307777"/>
          </a:xfrm>
          <a:prstGeom prst="rect">
            <a:avLst/>
          </a:prstGeom>
          <a:solidFill>
            <a:srgbClr val="0070C0"/>
          </a:solidFill>
        </p:spPr>
        <p:txBody>
          <a:bodyPr wrap="square">
            <a:spAutoFit/>
          </a:bodyPr>
          <a:lstStyle/>
          <a:p>
            <a:pPr algn="ctr"/>
            <a:r>
              <a:rPr lang="en-IN" sz="1400" dirty="0">
                <a:solidFill>
                  <a:schemeClr val="bg1"/>
                </a:solidFill>
                <a:latin typeface="Bahnschrift Light" pitchFamily="34" charset="0"/>
                <a:cs typeface="Arial" pitchFamily="34" charset="0"/>
              </a:rPr>
              <a:t>https://www.desmos.com/calculator</a:t>
            </a:r>
          </a:p>
        </p:txBody>
      </p:sp>
    </p:spTree>
    <p:extLst>
      <p:ext uri="{BB962C8B-B14F-4D97-AF65-F5344CB8AC3E}">
        <p14:creationId xmlns:p14="http://schemas.microsoft.com/office/powerpoint/2010/main" val="24826369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42" name="Group 41"/>
          <p:cNvGrpSpPr/>
          <p:nvPr/>
        </p:nvGrpSpPr>
        <p:grpSpPr>
          <a:xfrm>
            <a:off x="0" y="202223"/>
            <a:ext cx="3111623" cy="330250"/>
            <a:chOff x="1465609" y="237089"/>
            <a:chExt cx="3111623" cy="330250"/>
          </a:xfrm>
        </p:grpSpPr>
        <p:sp>
          <p:nvSpPr>
            <p:cNvPr id="43" name="Rectangle 42"/>
            <p:cNvSpPr/>
            <p:nvPr/>
          </p:nvSpPr>
          <p:spPr>
            <a:xfrm>
              <a:off x="1465609" y="237089"/>
              <a:ext cx="3111623" cy="307777"/>
            </a:xfrm>
            <a:prstGeom prst="rect">
              <a:avLst/>
            </a:prstGeom>
            <a:solidFill>
              <a:schemeClr val="accent1"/>
            </a:solidFill>
            <a:ln>
              <a:solidFill>
                <a:schemeClr val="bg1"/>
              </a:solidFill>
            </a:ln>
          </p:spPr>
          <p:txBody>
            <a:bodyPr wrap="square" rtlCol="0">
              <a:spAutoFit/>
            </a:bodyPr>
            <a:lstStyle/>
            <a:p>
              <a:r>
                <a:rPr lang="en-US" sz="1400" dirty="0">
                  <a:solidFill>
                    <a:schemeClr val="bg1"/>
                  </a:solidFill>
                  <a:latin typeface="Bahnschrift Light" pitchFamily="34" charset="0"/>
                  <a:ea typeface="Arial Unicode MS" pitchFamily="34" charset="-128"/>
                  <a:cs typeface="Arial Unicode MS" pitchFamily="34" charset="-128"/>
                </a:rPr>
                <a:t>Function of </a:t>
              </a:r>
              <a:r>
                <a:rPr lang="en-US" sz="1400" dirty="0" smtClean="0">
                  <a:solidFill>
                    <a:schemeClr val="bg1"/>
                  </a:solidFill>
                  <a:latin typeface="Bahnschrift Light" pitchFamily="34" charset="0"/>
                  <a:ea typeface="Arial Unicode MS" pitchFamily="34" charset="-128"/>
                  <a:cs typeface="Arial Unicode MS" pitchFamily="34" charset="-128"/>
                </a:rPr>
                <a:t>ML- frequently </a:t>
              </a:r>
              <a:r>
                <a:rPr lang="en-US" sz="1400" dirty="0">
                  <a:solidFill>
                    <a:schemeClr val="bg1"/>
                  </a:solidFill>
                  <a:latin typeface="Bahnschrift Light" pitchFamily="34" charset="0"/>
                  <a:ea typeface="Arial Unicode MS" pitchFamily="34" charset="-128"/>
                  <a:cs typeface="Arial Unicode MS" pitchFamily="34" charset="-128"/>
                </a:rPr>
                <a:t>used</a:t>
              </a:r>
              <a:endParaRPr lang="en-IN" sz="1400" dirty="0">
                <a:solidFill>
                  <a:schemeClr val="bg1"/>
                </a:solidFill>
                <a:latin typeface="Bahnschrift Light" pitchFamily="34" charset="0"/>
                <a:ea typeface="Arial Unicode MS" pitchFamily="34" charset="-128"/>
                <a:cs typeface="Arial Unicode MS" pitchFamily="34" charset="-128"/>
              </a:endParaRPr>
            </a:p>
          </p:txBody>
        </p:sp>
        <p:cxnSp>
          <p:nvCxnSpPr>
            <p:cNvPr id="46" name="Straight Connector 45"/>
            <p:cNvCxnSpPr/>
            <p:nvPr/>
          </p:nvCxnSpPr>
          <p:spPr>
            <a:xfrm>
              <a:off x="1492970" y="567339"/>
              <a:ext cx="3084262"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51493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11" name="Group 10"/>
          <p:cNvGrpSpPr/>
          <p:nvPr/>
        </p:nvGrpSpPr>
        <p:grpSpPr>
          <a:xfrm>
            <a:off x="27363" y="241191"/>
            <a:ext cx="3130119" cy="340134"/>
            <a:chOff x="1492971" y="258160"/>
            <a:chExt cx="3130119" cy="340134"/>
          </a:xfrm>
        </p:grpSpPr>
        <p:sp>
          <p:nvSpPr>
            <p:cNvPr id="2" name="Rectangle 1"/>
            <p:cNvSpPr/>
            <p:nvPr/>
          </p:nvSpPr>
          <p:spPr>
            <a:xfrm>
              <a:off x="1492971" y="258160"/>
              <a:ext cx="3130119" cy="307777"/>
            </a:xfrm>
            <a:prstGeom prst="rect">
              <a:avLst/>
            </a:prstGeom>
            <a:solidFill>
              <a:schemeClr val="accent1"/>
            </a:solidFill>
            <a:ln>
              <a:solidFill>
                <a:schemeClr val="bg1"/>
              </a:solidFill>
            </a:ln>
          </p:spPr>
          <p:txBody>
            <a:bodyPr wrap="square" rtlCol="0">
              <a:spAutoFit/>
            </a:bodyPr>
            <a:lstStyle/>
            <a:p>
              <a:r>
                <a:rPr lang="en-IN" sz="1400" dirty="0">
                  <a:solidFill>
                    <a:schemeClr val="bg1"/>
                  </a:solidFill>
                  <a:latin typeface="Bahnschrift Light" pitchFamily="34" charset="0"/>
                  <a:ea typeface="Arial Unicode MS" pitchFamily="34" charset="-128"/>
                  <a:cs typeface="Arial Unicode MS" pitchFamily="34" charset="-128"/>
                </a:rPr>
                <a:t>Components of Neural Network</a:t>
              </a:r>
            </a:p>
          </p:txBody>
        </p:sp>
        <p:cxnSp>
          <p:nvCxnSpPr>
            <p:cNvPr id="5" name="Straight Connector 4"/>
            <p:cNvCxnSpPr/>
            <p:nvPr/>
          </p:nvCxnSpPr>
          <p:spPr>
            <a:xfrm>
              <a:off x="1492971" y="598294"/>
              <a:ext cx="3130119" cy="0"/>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9" name="Rectangle 18"/>
          <p:cNvSpPr/>
          <p:nvPr/>
        </p:nvSpPr>
        <p:spPr>
          <a:xfrm>
            <a:off x="400334" y="661639"/>
            <a:ext cx="11145672" cy="338554"/>
          </a:xfrm>
          <a:prstGeom prst="rect">
            <a:avLst/>
          </a:prstGeom>
        </p:spPr>
        <p:txBody>
          <a:bodyPr wrap="square">
            <a:spAutoFit/>
          </a:bodyPr>
          <a:lstStyle/>
          <a:p>
            <a:r>
              <a:rPr lang="en-US" sz="1600" dirty="0" smtClean="0"/>
              <a:t>​Neural Network has something </a:t>
            </a:r>
            <a:r>
              <a:rPr lang="en-US" sz="1600" dirty="0"/>
              <a:t>important that is </a:t>
            </a:r>
            <a:r>
              <a:rPr lang="en-US" sz="1600" dirty="0" smtClean="0"/>
              <a:t>called Neuron</a:t>
            </a:r>
            <a:endParaRPr lang="en-US" sz="1600" dirty="0"/>
          </a:p>
        </p:txBody>
      </p:sp>
      <p:sp>
        <p:nvSpPr>
          <p:cNvPr id="20" name="Rectangle 19"/>
          <p:cNvSpPr/>
          <p:nvPr/>
        </p:nvSpPr>
        <p:spPr>
          <a:xfrm>
            <a:off x="911682" y="1127738"/>
            <a:ext cx="1069203" cy="338554"/>
          </a:xfrm>
          <a:prstGeom prst="rect">
            <a:avLst/>
          </a:prstGeom>
          <a:solidFill>
            <a:schemeClr val="accent2">
              <a:lumMod val="40000"/>
              <a:lumOff val="60000"/>
            </a:schemeClr>
          </a:solidFill>
          <a:ln>
            <a:solidFill>
              <a:schemeClr val="accent2">
                <a:lumMod val="60000"/>
                <a:lumOff val="40000"/>
              </a:schemeClr>
            </a:solidFill>
          </a:ln>
        </p:spPr>
        <p:txBody>
          <a:bodyPr wrap="none">
            <a:spAutoFit/>
          </a:bodyPr>
          <a:lstStyle/>
          <a:p>
            <a:r>
              <a:rPr lang="en-IN" sz="1600" dirty="0" smtClean="0"/>
              <a:t>What is it?</a:t>
            </a:r>
            <a:endParaRPr lang="en-IN" sz="1600" dirty="0"/>
          </a:p>
        </p:txBody>
      </p:sp>
      <p:sp>
        <p:nvSpPr>
          <p:cNvPr id="21" name="Rectangle 20"/>
          <p:cNvSpPr/>
          <p:nvPr/>
        </p:nvSpPr>
        <p:spPr>
          <a:xfrm>
            <a:off x="1050879" y="1584602"/>
            <a:ext cx="10895461" cy="338554"/>
          </a:xfrm>
          <a:prstGeom prst="rect">
            <a:avLst/>
          </a:prstGeom>
        </p:spPr>
        <p:txBody>
          <a:bodyPr wrap="square">
            <a:spAutoFit/>
          </a:bodyPr>
          <a:lstStyle/>
          <a:p>
            <a:r>
              <a:rPr lang="en-US" sz="1600" dirty="0" smtClean="0"/>
              <a:t>This </a:t>
            </a:r>
            <a:r>
              <a:rPr lang="en-US" sz="1600" dirty="0"/>
              <a:t>is basic building block of Human brain </a:t>
            </a:r>
            <a:r>
              <a:rPr lang="en-US" sz="1600" dirty="0" smtClean="0"/>
              <a:t>that </a:t>
            </a:r>
            <a:r>
              <a:rPr lang="en-US" sz="1600" dirty="0"/>
              <a:t>is </a:t>
            </a:r>
            <a:r>
              <a:rPr lang="en-US" sz="1600" dirty="0" smtClean="0"/>
              <a:t>responsible </a:t>
            </a:r>
            <a:r>
              <a:rPr lang="en-US" sz="1600" dirty="0"/>
              <a:t>for </a:t>
            </a:r>
            <a:r>
              <a:rPr lang="en-US" sz="1600" dirty="0" smtClean="0"/>
              <a:t>communicating what </a:t>
            </a:r>
            <a:r>
              <a:rPr lang="en-US" sz="1600" dirty="0"/>
              <a:t>is Happening </a:t>
            </a:r>
            <a:r>
              <a:rPr lang="en-US" sz="1600" dirty="0" smtClean="0"/>
              <a:t>through </a:t>
            </a:r>
            <a:r>
              <a:rPr lang="en-US" sz="1600" dirty="0"/>
              <a:t>out </a:t>
            </a:r>
            <a:r>
              <a:rPr lang="en-US" sz="1600" dirty="0" smtClean="0"/>
              <a:t>the </a:t>
            </a:r>
            <a:r>
              <a:rPr lang="en-US" sz="1600" dirty="0"/>
              <a:t>body</a:t>
            </a:r>
            <a:endParaRPr lang="en-IN" sz="1600" dirty="0"/>
          </a:p>
        </p:txBody>
      </p:sp>
      <p:grpSp>
        <p:nvGrpSpPr>
          <p:cNvPr id="29" name="Group 28"/>
          <p:cNvGrpSpPr/>
          <p:nvPr/>
        </p:nvGrpSpPr>
        <p:grpSpPr>
          <a:xfrm>
            <a:off x="3568107" y="2204783"/>
            <a:ext cx="2519987" cy="723331"/>
            <a:chOff x="3157482" y="2115403"/>
            <a:chExt cx="2519987" cy="723331"/>
          </a:xfrm>
        </p:grpSpPr>
        <p:grpSp>
          <p:nvGrpSpPr>
            <p:cNvPr id="25" name="Group 24"/>
            <p:cNvGrpSpPr/>
            <p:nvPr/>
          </p:nvGrpSpPr>
          <p:grpSpPr>
            <a:xfrm>
              <a:off x="3200400" y="2238232"/>
              <a:ext cx="2449174" cy="504000"/>
              <a:chOff x="2852382" y="3480179"/>
              <a:chExt cx="2924134" cy="504000"/>
            </a:xfrm>
          </p:grpSpPr>
          <p:sp>
            <p:nvSpPr>
              <p:cNvPr id="22" name="Oval 21"/>
              <p:cNvSpPr/>
              <p:nvPr/>
            </p:nvSpPr>
            <p:spPr>
              <a:xfrm>
                <a:off x="2852382" y="3480179"/>
                <a:ext cx="601739" cy="50400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Bahnschrift Light Condensed" pitchFamily="34" charset="0"/>
                  </a:rPr>
                  <a:t>N1</a:t>
                </a:r>
                <a:endParaRPr lang="en-IN" sz="1400" dirty="0">
                  <a:latin typeface="Bahnschrift Light Condensed" pitchFamily="34" charset="0"/>
                </a:endParaRPr>
              </a:p>
            </p:txBody>
          </p:sp>
          <p:sp>
            <p:nvSpPr>
              <p:cNvPr id="26" name="Oval 25"/>
              <p:cNvSpPr/>
              <p:nvPr/>
            </p:nvSpPr>
            <p:spPr>
              <a:xfrm>
                <a:off x="5174777" y="3480179"/>
                <a:ext cx="601739" cy="50400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Bahnschrift Light Condensed" pitchFamily="34" charset="0"/>
                  </a:rPr>
                  <a:t>N2</a:t>
                </a:r>
                <a:endParaRPr lang="en-IN" sz="1200" dirty="0">
                  <a:latin typeface="Bahnschrift Light Condensed" pitchFamily="34" charset="0"/>
                </a:endParaRPr>
              </a:p>
            </p:txBody>
          </p:sp>
          <p:cxnSp>
            <p:nvCxnSpPr>
              <p:cNvPr id="24" name="Straight Arrow Connector 23"/>
              <p:cNvCxnSpPr/>
              <p:nvPr/>
            </p:nvCxnSpPr>
            <p:spPr>
              <a:xfrm>
                <a:off x="3459705" y="3684894"/>
                <a:ext cx="1715068"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sp>
          <p:nvSpPr>
            <p:cNvPr id="28" name="Rectangle 27"/>
            <p:cNvSpPr/>
            <p:nvPr/>
          </p:nvSpPr>
          <p:spPr>
            <a:xfrm>
              <a:off x="3157482" y="2115403"/>
              <a:ext cx="2519987" cy="72333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0" name="Rectangle 29"/>
          <p:cNvSpPr/>
          <p:nvPr/>
        </p:nvSpPr>
        <p:spPr>
          <a:xfrm>
            <a:off x="1446283" y="2928114"/>
            <a:ext cx="10500057" cy="584775"/>
          </a:xfrm>
          <a:prstGeom prst="rect">
            <a:avLst/>
          </a:prstGeom>
        </p:spPr>
        <p:txBody>
          <a:bodyPr wrap="square">
            <a:spAutoFit/>
          </a:bodyPr>
          <a:lstStyle/>
          <a:p>
            <a:r>
              <a:rPr lang="en-US" sz="1600" dirty="0" smtClean="0"/>
              <a:t>There </a:t>
            </a:r>
            <a:r>
              <a:rPr lang="en-US" sz="1600" dirty="0"/>
              <a:t>has to Be Communication </a:t>
            </a:r>
            <a:r>
              <a:rPr lang="en-US" sz="1600" dirty="0" smtClean="0"/>
              <a:t>between  these 2 Neuron </a:t>
            </a:r>
            <a:r>
              <a:rPr lang="en-US" sz="1600" dirty="0"/>
              <a:t>so that we get our Intelligence and We Get What we Have to </a:t>
            </a:r>
            <a:r>
              <a:rPr lang="en-US" sz="1600" dirty="0" smtClean="0"/>
              <a:t>. What </a:t>
            </a:r>
            <a:r>
              <a:rPr lang="en-US" sz="1600" dirty="0"/>
              <a:t>is JOB of Artificial NN The JOB is to mimic Human Brain </a:t>
            </a:r>
            <a:r>
              <a:rPr lang="en-US" sz="1600" dirty="0" smtClean="0"/>
              <a:t>behavior  .</a:t>
            </a:r>
            <a:r>
              <a:rPr lang="en-US" sz="1600" i="1" dirty="0" smtClean="0">
                <a:solidFill>
                  <a:srgbClr val="00B050"/>
                </a:solidFill>
              </a:rPr>
              <a:t>to </a:t>
            </a:r>
            <a:r>
              <a:rPr lang="en-US" sz="1600" i="1" dirty="0">
                <a:solidFill>
                  <a:srgbClr val="00B050"/>
                </a:solidFill>
              </a:rPr>
              <a:t>Achieve this We create Artificial </a:t>
            </a:r>
            <a:r>
              <a:rPr lang="en-US" sz="1600" i="1" dirty="0" smtClean="0">
                <a:solidFill>
                  <a:srgbClr val="00B050"/>
                </a:solidFill>
              </a:rPr>
              <a:t>Neuron Network</a:t>
            </a:r>
            <a:endParaRPr lang="en-IN" sz="1600" i="1" dirty="0">
              <a:solidFill>
                <a:srgbClr val="00B050"/>
              </a:solidFill>
            </a:endParaRPr>
          </a:p>
        </p:txBody>
      </p:sp>
      <p:grpSp>
        <p:nvGrpSpPr>
          <p:cNvPr id="1031" name="Group 1030"/>
          <p:cNvGrpSpPr/>
          <p:nvPr/>
        </p:nvGrpSpPr>
        <p:grpSpPr>
          <a:xfrm>
            <a:off x="400333" y="4248154"/>
            <a:ext cx="11496199" cy="1178860"/>
            <a:chOff x="400334" y="3997278"/>
            <a:chExt cx="11496199" cy="1178860"/>
          </a:xfrm>
        </p:grpSpPr>
        <p:sp>
          <p:nvSpPr>
            <p:cNvPr id="31" name="Rectangle 30"/>
            <p:cNvSpPr/>
            <p:nvPr/>
          </p:nvSpPr>
          <p:spPr>
            <a:xfrm>
              <a:off x="400334" y="3998794"/>
              <a:ext cx="11496199" cy="892552"/>
            </a:xfrm>
            <a:prstGeom prst="rect">
              <a:avLst/>
            </a:prstGeom>
          </p:spPr>
          <p:txBody>
            <a:bodyPr wrap="square">
              <a:spAutoFit/>
            </a:bodyPr>
            <a:lstStyle/>
            <a:p>
              <a:r>
                <a:rPr lang="en-US" sz="2000" dirty="0">
                  <a:solidFill>
                    <a:srgbClr val="FF6743"/>
                  </a:solidFill>
                  <a:latin typeface="Arial Rounded MT Bold" pitchFamily="34" charset="0"/>
                </a:rPr>
                <a:t>Let’s take an ice cube </a:t>
              </a:r>
              <a:r>
                <a:rPr lang="en-US" sz="1600" dirty="0"/>
                <a:t>and place it on the skin. What happens? We feel cold. But before we feel cold, some reception is happened— that’s called </a:t>
              </a:r>
              <a:r>
                <a:rPr lang="en-US" sz="1600" dirty="0" smtClean="0"/>
                <a:t>input. And </a:t>
              </a:r>
              <a:r>
                <a:rPr lang="en-US" sz="1600" dirty="0"/>
                <a:t>then Some Neurons in our </a:t>
              </a:r>
              <a:r>
                <a:rPr lang="en-US" sz="1600" dirty="0" smtClean="0"/>
                <a:t>mind, which </a:t>
              </a:r>
              <a:r>
                <a:rPr lang="en-US" sz="1600" dirty="0"/>
                <a:t>tell us ,we are feeling cold at this </a:t>
              </a:r>
              <a:r>
                <a:rPr lang="en-US" sz="1600" dirty="0" smtClean="0"/>
                <a:t>place.</a:t>
              </a:r>
              <a:endParaRPr lang="en-US" sz="1600" dirty="0"/>
            </a:p>
            <a:p>
              <a:r>
                <a:rPr lang="en-US" sz="1600" dirty="0" smtClean="0"/>
                <a:t>Function </a:t>
              </a:r>
              <a:r>
                <a:rPr lang="en-US" sz="1600" dirty="0"/>
                <a:t>or Something is happening in hidden that is called </a:t>
              </a:r>
              <a:r>
                <a:rPr lang="en-US" sz="1600" b="1" i="1" dirty="0">
                  <a:solidFill>
                    <a:srgbClr val="FF0066"/>
                  </a:solidFill>
                </a:rPr>
                <a:t>hidden layer</a:t>
              </a:r>
              <a:r>
                <a:rPr lang="en-US" sz="1600" b="1" i="1" dirty="0" smtClean="0">
                  <a:solidFill>
                    <a:srgbClr val="FF0066"/>
                  </a:solidFill>
                </a:rPr>
                <a:t>. </a:t>
              </a:r>
              <a:r>
                <a:rPr lang="en-US" sz="1600" dirty="0" smtClean="0"/>
                <a:t>once </a:t>
              </a:r>
              <a:r>
                <a:rPr lang="en-US" sz="1600" dirty="0"/>
                <a:t>we get feeling </a:t>
              </a:r>
              <a:r>
                <a:rPr lang="en-US" sz="1600" dirty="0" smtClean="0"/>
                <a:t>of cold </a:t>
              </a:r>
              <a:r>
                <a:rPr lang="en-US" sz="1600" dirty="0"/>
                <a:t>.we call it </a:t>
              </a:r>
              <a:r>
                <a:rPr lang="en-US" sz="1600" b="1" i="1" dirty="0">
                  <a:solidFill>
                    <a:srgbClr val="92D050"/>
                  </a:solidFill>
                </a:rPr>
                <a:t>output</a:t>
              </a:r>
              <a:endParaRPr lang="en-IN" sz="1600" b="1" i="1" dirty="0">
                <a:solidFill>
                  <a:srgbClr val="92D050"/>
                </a:solidFill>
              </a:endParaRPr>
            </a:p>
          </p:txBody>
        </p:sp>
        <p:sp>
          <p:nvSpPr>
            <p:cNvPr id="1024" name="Rectangle 1023"/>
            <p:cNvSpPr/>
            <p:nvPr/>
          </p:nvSpPr>
          <p:spPr>
            <a:xfrm>
              <a:off x="470035" y="4837584"/>
              <a:ext cx="9520126" cy="338554"/>
            </a:xfrm>
            <a:prstGeom prst="rect">
              <a:avLst/>
            </a:prstGeom>
            <a:ln>
              <a:noFill/>
            </a:ln>
          </p:spPr>
          <p:txBody>
            <a:bodyPr wrap="square">
              <a:spAutoFit/>
            </a:bodyPr>
            <a:lstStyle/>
            <a:p>
              <a:r>
                <a:rPr lang="en-US" sz="1600" dirty="0"/>
                <a:t>similar to this ,in Artificial Neural network there are different layer.</a:t>
              </a:r>
              <a:endParaRPr lang="en-IN" sz="1600" dirty="0"/>
            </a:p>
          </p:txBody>
        </p:sp>
        <p:cxnSp>
          <p:nvCxnSpPr>
            <p:cNvPr id="1029" name="Straight Connector 1028"/>
            <p:cNvCxnSpPr/>
            <p:nvPr/>
          </p:nvCxnSpPr>
          <p:spPr>
            <a:xfrm>
              <a:off x="419993" y="3997278"/>
              <a:ext cx="0" cy="1177344"/>
            </a:xfrm>
            <a:prstGeom prst="line">
              <a:avLst/>
            </a:prstGeom>
            <a:ln w="19050">
              <a:solidFill>
                <a:srgbClr val="FF6743"/>
              </a:solidFill>
            </a:ln>
          </p:spPr>
          <p:style>
            <a:lnRef idx="1">
              <a:schemeClr val="accent1"/>
            </a:lnRef>
            <a:fillRef idx="0">
              <a:schemeClr val="accent1"/>
            </a:fillRef>
            <a:effectRef idx="0">
              <a:schemeClr val="accent1"/>
            </a:effectRef>
            <a:fontRef idx="minor">
              <a:schemeClr val="tx1"/>
            </a:fontRef>
          </p:style>
        </p:cxnSp>
      </p:grpSp>
      <p:sp>
        <p:nvSpPr>
          <p:cNvPr id="40" name="Rectangle 39"/>
          <p:cNvSpPr/>
          <p:nvPr/>
        </p:nvSpPr>
        <p:spPr>
          <a:xfrm>
            <a:off x="419992" y="5952361"/>
            <a:ext cx="10627057" cy="338554"/>
          </a:xfrm>
          <a:prstGeom prst="rect">
            <a:avLst/>
          </a:prstGeom>
        </p:spPr>
        <p:txBody>
          <a:bodyPr wrap="square">
            <a:spAutoFit/>
          </a:bodyPr>
          <a:lstStyle/>
          <a:p>
            <a:r>
              <a:rPr lang="en-US" sz="1600" dirty="0">
                <a:latin typeface="Arial Unicode MS" pitchFamily="34" charset="-128"/>
                <a:ea typeface="Arial Unicode MS" pitchFamily="34" charset="-128"/>
                <a:cs typeface="Arial Unicode MS" pitchFamily="34" charset="-128"/>
              </a:rPr>
              <a:t>In between i​/p and o​/p ​ there are diff hidden layers, responsible for processing </a:t>
            </a:r>
            <a:endParaRPr lang="en-IN"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35242493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aphicFrame>
        <p:nvGraphicFramePr>
          <p:cNvPr id="3" name="Table 2"/>
          <p:cNvGraphicFramePr>
            <a:graphicFrameLocks noGrp="1"/>
          </p:cNvGraphicFramePr>
          <p:nvPr>
            <p:extLst>
              <p:ext uri="{D42A27DB-BD31-4B8C-83A1-F6EECF244321}">
                <p14:modId xmlns:p14="http://schemas.microsoft.com/office/powerpoint/2010/main" val="2216975059"/>
              </p:ext>
            </p:extLst>
          </p:nvPr>
        </p:nvGraphicFramePr>
        <p:xfrm>
          <a:off x="8473743" y="495994"/>
          <a:ext cx="3477146" cy="2189480"/>
        </p:xfrm>
        <a:graphic>
          <a:graphicData uri="http://schemas.openxmlformats.org/drawingml/2006/table">
            <a:tbl>
              <a:tblPr firstRow="1" bandRow="1">
                <a:tableStyleId>{5C22544A-7EE6-4342-B048-85BDC9FD1C3A}</a:tableStyleId>
              </a:tblPr>
              <a:tblGrid>
                <a:gridCol w="683905"/>
                <a:gridCol w="941696"/>
                <a:gridCol w="764274"/>
                <a:gridCol w="1087271"/>
              </a:tblGrid>
              <a:tr h="0">
                <a:tc>
                  <a:txBody>
                    <a:bodyPr/>
                    <a:lstStyle/>
                    <a:p>
                      <a:r>
                        <a:rPr lang="en-US" sz="1600" dirty="0" smtClean="0"/>
                        <a:t>Age</a:t>
                      </a:r>
                      <a:endParaRPr lang="en-IN" sz="1600" dirty="0"/>
                    </a:p>
                  </a:txBody>
                  <a:tcPr/>
                </a:tc>
                <a:tc>
                  <a:txBody>
                    <a:bodyPr/>
                    <a:lstStyle/>
                    <a:p>
                      <a:r>
                        <a:rPr lang="en-US" sz="1600" dirty="0" smtClean="0"/>
                        <a:t>Salary</a:t>
                      </a:r>
                      <a:endParaRPr lang="en-IN" sz="1600" dirty="0"/>
                    </a:p>
                  </a:txBody>
                  <a:tcPr/>
                </a:tc>
                <a:tc>
                  <a:txBody>
                    <a:bodyPr/>
                    <a:lstStyle/>
                    <a:p>
                      <a:r>
                        <a:rPr lang="en-US" sz="1600" dirty="0" smtClean="0"/>
                        <a:t>Tenure</a:t>
                      </a:r>
                      <a:endParaRPr lang="en-IN" sz="1600" dirty="0"/>
                    </a:p>
                  </a:txBody>
                  <a:tcPr/>
                </a:tc>
                <a:tc>
                  <a:txBody>
                    <a:bodyPr/>
                    <a:lstStyle/>
                    <a:p>
                      <a:r>
                        <a:rPr lang="en-US" sz="1600" dirty="0" smtClean="0"/>
                        <a:t>Attrition</a:t>
                      </a:r>
                      <a:endParaRPr lang="en-IN" sz="1600" dirty="0"/>
                    </a:p>
                  </a:txBody>
                  <a:tcPr/>
                </a:tc>
              </a:tr>
              <a:tr h="370840">
                <a:tc>
                  <a:txBody>
                    <a:bodyPr/>
                    <a:lstStyle/>
                    <a:p>
                      <a:r>
                        <a:rPr lang="en-US" sz="1600" dirty="0" smtClean="0"/>
                        <a:t>24</a:t>
                      </a:r>
                      <a:endParaRPr lang="en-IN" sz="1600" dirty="0"/>
                    </a:p>
                  </a:txBody>
                  <a:tcPr/>
                </a:tc>
                <a:tc>
                  <a:txBody>
                    <a:bodyPr/>
                    <a:lstStyle/>
                    <a:p>
                      <a:r>
                        <a:rPr lang="en-US" sz="1600" dirty="0" smtClean="0"/>
                        <a:t>80</a:t>
                      </a:r>
                      <a:endParaRPr lang="en-IN" sz="1600" dirty="0"/>
                    </a:p>
                  </a:txBody>
                  <a:tcPr/>
                </a:tc>
                <a:tc>
                  <a:txBody>
                    <a:bodyPr/>
                    <a:lstStyle/>
                    <a:p>
                      <a:r>
                        <a:rPr lang="en-US" sz="1600" dirty="0" smtClean="0"/>
                        <a:t>1</a:t>
                      </a:r>
                      <a:endParaRPr lang="en-IN" sz="1600" dirty="0"/>
                    </a:p>
                  </a:txBody>
                  <a:tcPr/>
                </a:tc>
                <a:tc>
                  <a:txBody>
                    <a:bodyPr/>
                    <a:lstStyle/>
                    <a:p>
                      <a:r>
                        <a:rPr lang="en-US" sz="1600" dirty="0" smtClean="0"/>
                        <a:t>Y</a:t>
                      </a:r>
                      <a:endParaRPr lang="en-IN" sz="1600" dirty="0"/>
                    </a:p>
                  </a:txBody>
                  <a:tcPr/>
                </a:tc>
              </a:tr>
              <a:tr h="370840">
                <a:tc>
                  <a:txBody>
                    <a:bodyPr/>
                    <a:lstStyle/>
                    <a:p>
                      <a:r>
                        <a:rPr lang="en-US" sz="1600" dirty="0" smtClean="0"/>
                        <a:t>26</a:t>
                      </a:r>
                      <a:endParaRPr lang="en-IN" sz="1600" dirty="0"/>
                    </a:p>
                  </a:txBody>
                  <a:tcPr/>
                </a:tc>
                <a:tc>
                  <a:txBody>
                    <a:bodyPr/>
                    <a:lstStyle/>
                    <a:p>
                      <a:r>
                        <a:rPr lang="en-US" sz="1600" dirty="0" smtClean="0"/>
                        <a:t>100</a:t>
                      </a:r>
                      <a:endParaRPr lang="en-IN" sz="1600" dirty="0"/>
                    </a:p>
                  </a:txBody>
                  <a:tcPr/>
                </a:tc>
                <a:tc>
                  <a:txBody>
                    <a:bodyPr/>
                    <a:lstStyle/>
                    <a:p>
                      <a:r>
                        <a:rPr lang="en-US" sz="1600" dirty="0" smtClean="0"/>
                        <a:t>3</a:t>
                      </a:r>
                      <a:endParaRPr lang="en-IN" sz="1600" dirty="0"/>
                    </a:p>
                  </a:txBody>
                  <a:tcPr/>
                </a:tc>
                <a:tc>
                  <a:txBody>
                    <a:bodyPr/>
                    <a:lstStyle/>
                    <a:p>
                      <a:r>
                        <a:rPr lang="en-US" sz="1600" dirty="0" smtClean="0"/>
                        <a:t>Y</a:t>
                      </a:r>
                      <a:endParaRPr lang="en-IN" sz="1600" dirty="0"/>
                    </a:p>
                  </a:txBody>
                  <a:tcPr/>
                </a:tc>
              </a:tr>
              <a:tr h="370840">
                <a:tc>
                  <a:txBody>
                    <a:bodyPr/>
                    <a:lstStyle/>
                    <a:p>
                      <a:r>
                        <a:rPr lang="en-US" sz="1600" dirty="0" smtClean="0"/>
                        <a:t>25</a:t>
                      </a:r>
                      <a:endParaRPr lang="en-IN" sz="1600" dirty="0"/>
                    </a:p>
                  </a:txBody>
                  <a:tcPr/>
                </a:tc>
                <a:tc>
                  <a:txBody>
                    <a:bodyPr/>
                    <a:lstStyle/>
                    <a:p>
                      <a:r>
                        <a:rPr lang="en-US" sz="1600" dirty="0" smtClean="0"/>
                        <a:t>90</a:t>
                      </a:r>
                      <a:endParaRPr lang="en-IN" sz="1600" dirty="0"/>
                    </a:p>
                  </a:txBody>
                  <a:tcPr/>
                </a:tc>
                <a:tc>
                  <a:txBody>
                    <a:bodyPr/>
                    <a:lstStyle/>
                    <a:p>
                      <a:r>
                        <a:rPr lang="en-US" sz="1600" dirty="0" smtClean="0"/>
                        <a:t>2</a:t>
                      </a:r>
                      <a:endParaRPr lang="en-IN" sz="1600" dirty="0"/>
                    </a:p>
                  </a:txBody>
                  <a:tcPr/>
                </a:tc>
                <a:tc>
                  <a:txBody>
                    <a:bodyPr/>
                    <a:lstStyle/>
                    <a:p>
                      <a:r>
                        <a:rPr lang="en-US" sz="1600" dirty="0" smtClean="0"/>
                        <a:t>N</a:t>
                      </a:r>
                      <a:endParaRPr lang="en-IN" sz="1600" dirty="0"/>
                    </a:p>
                  </a:txBody>
                  <a:tcPr/>
                </a:tc>
              </a:tr>
              <a:tr h="370840">
                <a:tc>
                  <a:txBody>
                    <a:bodyPr/>
                    <a:lstStyle/>
                    <a:p>
                      <a:r>
                        <a:rPr lang="en-US" sz="1600" dirty="0" smtClean="0"/>
                        <a:t>30</a:t>
                      </a:r>
                      <a:endParaRPr lang="en-IN" sz="1600" dirty="0"/>
                    </a:p>
                  </a:txBody>
                  <a:tcPr/>
                </a:tc>
                <a:tc>
                  <a:txBody>
                    <a:bodyPr/>
                    <a:lstStyle/>
                    <a:p>
                      <a:r>
                        <a:rPr lang="en-US" sz="1600" dirty="0" smtClean="0"/>
                        <a:t>120</a:t>
                      </a:r>
                      <a:endParaRPr lang="en-IN" sz="1600" dirty="0"/>
                    </a:p>
                  </a:txBody>
                  <a:tcPr/>
                </a:tc>
                <a:tc>
                  <a:txBody>
                    <a:bodyPr/>
                    <a:lstStyle/>
                    <a:p>
                      <a:r>
                        <a:rPr lang="en-US" sz="1600" dirty="0" smtClean="0"/>
                        <a:t>5</a:t>
                      </a:r>
                      <a:endParaRPr lang="en-IN" sz="1600" dirty="0"/>
                    </a:p>
                  </a:txBody>
                  <a:tcPr/>
                </a:tc>
                <a:tc>
                  <a:txBody>
                    <a:bodyPr/>
                    <a:lstStyle/>
                    <a:p>
                      <a:r>
                        <a:rPr lang="en-US" sz="1600" dirty="0" smtClean="0"/>
                        <a:t>N</a:t>
                      </a:r>
                      <a:endParaRPr lang="en-IN" sz="1600" dirty="0"/>
                    </a:p>
                  </a:txBody>
                  <a:tcPr/>
                </a:tc>
              </a:tr>
              <a:tr h="370840">
                <a:tc>
                  <a:txBody>
                    <a:bodyPr/>
                    <a:lstStyle/>
                    <a:p>
                      <a:r>
                        <a:rPr lang="en-US" sz="1600" dirty="0" smtClean="0"/>
                        <a:t>32</a:t>
                      </a:r>
                      <a:endParaRPr lang="en-IN" sz="1600" dirty="0"/>
                    </a:p>
                  </a:txBody>
                  <a:tcPr/>
                </a:tc>
                <a:tc>
                  <a:txBody>
                    <a:bodyPr/>
                    <a:lstStyle/>
                    <a:p>
                      <a:r>
                        <a:rPr lang="en-US" sz="1600" dirty="0" smtClean="0"/>
                        <a:t>150</a:t>
                      </a:r>
                      <a:endParaRPr lang="en-IN" sz="1600" dirty="0"/>
                    </a:p>
                  </a:txBody>
                  <a:tcPr/>
                </a:tc>
                <a:tc>
                  <a:txBody>
                    <a:bodyPr/>
                    <a:lstStyle/>
                    <a:p>
                      <a:r>
                        <a:rPr lang="en-US" sz="1600" dirty="0" smtClean="0"/>
                        <a:t>8</a:t>
                      </a:r>
                      <a:endParaRPr lang="en-IN" sz="1600" dirty="0"/>
                    </a:p>
                  </a:txBody>
                  <a:tcPr/>
                </a:tc>
                <a:tc>
                  <a:txBody>
                    <a:bodyPr/>
                    <a:lstStyle/>
                    <a:p>
                      <a:r>
                        <a:rPr lang="en-US" sz="1600" dirty="0" smtClean="0"/>
                        <a:t>Y</a:t>
                      </a:r>
                      <a:endParaRPr lang="en-IN" sz="1600" dirty="0"/>
                    </a:p>
                  </a:txBody>
                  <a:tcPr/>
                </a:tc>
              </a:tr>
            </a:tbl>
          </a:graphicData>
        </a:graphic>
      </p:graphicFrame>
      <p:sp>
        <p:nvSpPr>
          <p:cNvPr id="6" name="TextBox 5"/>
          <p:cNvSpPr txBox="1"/>
          <p:nvPr/>
        </p:nvSpPr>
        <p:spPr>
          <a:xfrm>
            <a:off x="8488908" y="177421"/>
            <a:ext cx="3461982" cy="338554"/>
          </a:xfrm>
          <a:prstGeom prst="rect">
            <a:avLst/>
          </a:prstGeom>
          <a:solidFill>
            <a:schemeClr val="accent1">
              <a:lumMod val="75000"/>
            </a:schemeClr>
          </a:solidFill>
        </p:spPr>
        <p:txBody>
          <a:bodyPr wrap="square" rtlCol="0">
            <a:spAutoFit/>
          </a:bodyPr>
          <a:lstStyle/>
          <a:p>
            <a:r>
              <a:rPr lang="en-US" sz="1600" dirty="0" smtClean="0">
                <a:solidFill>
                  <a:schemeClr val="bg1"/>
                </a:solidFill>
                <a:latin typeface="Bahnschrift" pitchFamily="34" charset="0"/>
              </a:rPr>
              <a:t>Employee Attrition Training Data</a:t>
            </a:r>
            <a:endParaRPr lang="en-IN" sz="1600" dirty="0">
              <a:solidFill>
                <a:schemeClr val="bg1"/>
              </a:solidFill>
              <a:latin typeface="Bahnschrift" pitchFamily="34" charset="0"/>
            </a:endParaRPr>
          </a:p>
        </p:txBody>
      </p:sp>
      <p:sp>
        <p:nvSpPr>
          <p:cNvPr id="28" name="TextBox 27"/>
          <p:cNvSpPr txBox="1"/>
          <p:nvPr/>
        </p:nvSpPr>
        <p:spPr>
          <a:xfrm>
            <a:off x="245660" y="191068"/>
            <a:ext cx="5500224" cy="338554"/>
          </a:xfrm>
          <a:prstGeom prst="rect">
            <a:avLst/>
          </a:prstGeom>
          <a:noFill/>
        </p:spPr>
        <p:txBody>
          <a:bodyPr wrap="none" rtlCol="0">
            <a:spAutoFit/>
          </a:bodyPr>
          <a:lstStyle/>
          <a:p>
            <a:r>
              <a:rPr lang="en-US" sz="1600" dirty="0" smtClean="0">
                <a:latin typeface="Arial Unicode MS" pitchFamily="34" charset="-128"/>
                <a:ea typeface="Arial Unicode MS" pitchFamily="34" charset="-128"/>
                <a:cs typeface="Arial Unicode MS" pitchFamily="34" charset="-128"/>
              </a:rPr>
              <a:t>Let’s understand this with Employee attrition training data  </a:t>
            </a:r>
            <a:endParaRPr lang="en-IN" sz="1600" dirty="0">
              <a:latin typeface="Arial Unicode MS" pitchFamily="34" charset="-128"/>
              <a:ea typeface="Arial Unicode MS" pitchFamily="34" charset="-128"/>
              <a:cs typeface="Arial Unicode MS" pitchFamily="34" charset="-128"/>
            </a:endParaRPr>
          </a:p>
        </p:txBody>
      </p:sp>
      <p:sp>
        <p:nvSpPr>
          <p:cNvPr id="7" name="TextBox 6"/>
          <p:cNvSpPr txBox="1"/>
          <p:nvPr/>
        </p:nvSpPr>
        <p:spPr>
          <a:xfrm>
            <a:off x="1493219" y="716086"/>
            <a:ext cx="449162" cy="369332"/>
          </a:xfrm>
          <a:prstGeom prst="rect">
            <a:avLst/>
          </a:prstGeom>
          <a:solidFill>
            <a:schemeClr val="accent2">
              <a:lumMod val="40000"/>
              <a:lumOff val="60000"/>
            </a:schemeClr>
          </a:solidFill>
          <a:ln>
            <a:solidFill>
              <a:schemeClr val="accent2">
                <a:lumMod val="60000"/>
                <a:lumOff val="40000"/>
              </a:schemeClr>
            </a:solidFill>
          </a:ln>
        </p:spPr>
        <p:txBody>
          <a:bodyPr wrap="none" rtlCol="0">
            <a:spAutoFit/>
          </a:bodyPr>
          <a:lstStyle/>
          <a:p>
            <a:r>
              <a:rPr lang="en-US" dirty="0" smtClean="0"/>
              <a:t>i/p</a:t>
            </a:r>
            <a:endParaRPr lang="en-IN" dirty="0"/>
          </a:p>
        </p:txBody>
      </p:sp>
      <p:sp>
        <p:nvSpPr>
          <p:cNvPr id="29" name="TextBox 28"/>
          <p:cNvSpPr txBox="1"/>
          <p:nvPr/>
        </p:nvSpPr>
        <p:spPr>
          <a:xfrm>
            <a:off x="2998802" y="683820"/>
            <a:ext cx="306494" cy="369332"/>
          </a:xfrm>
          <a:prstGeom prst="rect">
            <a:avLst/>
          </a:prstGeom>
          <a:solidFill>
            <a:schemeClr val="accent2">
              <a:lumMod val="40000"/>
              <a:lumOff val="60000"/>
            </a:schemeClr>
          </a:solidFill>
          <a:ln>
            <a:solidFill>
              <a:schemeClr val="accent2">
                <a:lumMod val="60000"/>
                <a:lumOff val="40000"/>
              </a:schemeClr>
            </a:solidFill>
          </a:ln>
        </p:spPr>
        <p:txBody>
          <a:bodyPr wrap="none" rtlCol="0">
            <a:spAutoFit/>
          </a:bodyPr>
          <a:lstStyle/>
          <a:p>
            <a:r>
              <a:rPr lang="en-US" dirty="0" smtClean="0"/>
              <a:t>h</a:t>
            </a:r>
            <a:endParaRPr lang="en-IN" dirty="0"/>
          </a:p>
        </p:txBody>
      </p:sp>
      <p:sp>
        <p:nvSpPr>
          <p:cNvPr id="30" name="TextBox 29"/>
          <p:cNvSpPr txBox="1"/>
          <p:nvPr/>
        </p:nvSpPr>
        <p:spPr>
          <a:xfrm>
            <a:off x="3978455" y="683820"/>
            <a:ext cx="518091" cy="369332"/>
          </a:xfrm>
          <a:prstGeom prst="rect">
            <a:avLst/>
          </a:prstGeom>
          <a:solidFill>
            <a:schemeClr val="accent2">
              <a:lumMod val="40000"/>
              <a:lumOff val="60000"/>
            </a:schemeClr>
          </a:solidFill>
          <a:ln>
            <a:solidFill>
              <a:schemeClr val="accent2">
                <a:lumMod val="60000"/>
                <a:lumOff val="40000"/>
              </a:schemeClr>
            </a:solidFill>
          </a:ln>
        </p:spPr>
        <p:txBody>
          <a:bodyPr wrap="none" rtlCol="0">
            <a:spAutoFit/>
          </a:bodyPr>
          <a:lstStyle/>
          <a:p>
            <a:r>
              <a:rPr lang="en-US" dirty="0" smtClean="0"/>
              <a:t>o/p</a:t>
            </a:r>
            <a:endParaRPr lang="en-IN" dirty="0"/>
          </a:p>
        </p:txBody>
      </p:sp>
      <p:sp>
        <p:nvSpPr>
          <p:cNvPr id="1032" name="Rectangle 1031"/>
          <p:cNvSpPr/>
          <p:nvPr/>
        </p:nvSpPr>
        <p:spPr>
          <a:xfrm>
            <a:off x="968992" y="3715065"/>
            <a:ext cx="10768082" cy="584775"/>
          </a:xfrm>
          <a:prstGeom prst="rect">
            <a:avLst/>
          </a:prstGeom>
        </p:spPr>
        <p:txBody>
          <a:bodyPr wrap="square">
            <a:spAutoFit/>
          </a:bodyPr>
          <a:lstStyle/>
          <a:p>
            <a:r>
              <a:rPr lang="en-US" sz="1600" dirty="0"/>
              <a:t>As our common  business understanding we know that ​Age, </a:t>
            </a:r>
            <a:r>
              <a:rPr lang="en-US" sz="1600" dirty="0" smtClean="0"/>
              <a:t>Salary</a:t>
            </a:r>
            <a:r>
              <a:rPr lang="en-US" sz="1600" dirty="0"/>
              <a:t>, and tenure is not equally responsible for someone to take decision to stay or leave the organization. </a:t>
            </a:r>
            <a:endParaRPr lang="en-IN" sz="1600" dirty="0"/>
          </a:p>
        </p:txBody>
      </p:sp>
      <p:sp>
        <p:nvSpPr>
          <p:cNvPr id="1033" name="Rectangle 1032"/>
          <p:cNvSpPr/>
          <p:nvPr/>
        </p:nvSpPr>
        <p:spPr>
          <a:xfrm>
            <a:off x="1717800" y="4386912"/>
            <a:ext cx="8502456" cy="338554"/>
          </a:xfrm>
          <a:prstGeom prst="rect">
            <a:avLst/>
          </a:prstGeom>
        </p:spPr>
        <p:txBody>
          <a:bodyPr wrap="none">
            <a:spAutoFit/>
          </a:bodyPr>
          <a:lstStyle/>
          <a:p>
            <a:r>
              <a:rPr lang="en-US" sz="1600" dirty="0"/>
              <a:t>i want ​to give more weight to </a:t>
            </a:r>
            <a:r>
              <a:rPr lang="en-US" sz="1600" dirty="0" smtClean="0"/>
              <a:t>Salary. </a:t>
            </a:r>
            <a:r>
              <a:rPr lang="en-US" sz="1600" dirty="0"/>
              <a:t>these input get multiply with weight and will go to the neuron  </a:t>
            </a:r>
            <a:endParaRPr lang="en-IN" sz="1600" dirty="0"/>
          </a:p>
        </p:txBody>
      </p:sp>
      <p:grpSp>
        <p:nvGrpSpPr>
          <p:cNvPr id="1036" name="Group 1035"/>
          <p:cNvGrpSpPr/>
          <p:nvPr/>
        </p:nvGrpSpPr>
        <p:grpSpPr>
          <a:xfrm>
            <a:off x="920331" y="1469725"/>
            <a:ext cx="2381171" cy="1693170"/>
            <a:chOff x="920331" y="1469725"/>
            <a:chExt cx="2381171" cy="1693170"/>
          </a:xfrm>
        </p:grpSpPr>
        <p:grpSp>
          <p:nvGrpSpPr>
            <p:cNvPr id="1031" name="Group 1030"/>
            <p:cNvGrpSpPr/>
            <p:nvPr/>
          </p:nvGrpSpPr>
          <p:grpSpPr>
            <a:xfrm>
              <a:off x="1586283" y="1469725"/>
              <a:ext cx="1715219" cy="1693170"/>
              <a:chOff x="1586283" y="1469725"/>
              <a:chExt cx="1715219" cy="1693170"/>
            </a:xfrm>
          </p:grpSpPr>
          <p:grpSp>
            <p:nvGrpSpPr>
              <p:cNvPr id="10" name="Group 9"/>
              <p:cNvGrpSpPr/>
              <p:nvPr/>
            </p:nvGrpSpPr>
            <p:grpSpPr>
              <a:xfrm>
                <a:off x="1586283" y="1469725"/>
                <a:ext cx="1715219" cy="1254098"/>
                <a:chOff x="5960806" y="3456937"/>
                <a:chExt cx="2022729" cy="1542468"/>
              </a:xfrm>
            </p:grpSpPr>
            <p:sp>
              <p:nvSpPr>
                <p:cNvPr id="12" name="Flowchart: Connector 11"/>
                <p:cNvSpPr/>
                <p:nvPr/>
              </p:nvSpPr>
              <p:spPr>
                <a:xfrm>
                  <a:off x="5960806" y="3571237"/>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3" name="Straight Connector 12"/>
                <p:cNvCxnSpPr>
                  <a:stCxn id="12" idx="6"/>
                  <a:endCxn id="24" idx="1"/>
                </p:cNvCxnSpPr>
                <p:nvPr/>
              </p:nvCxnSpPr>
              <p:spPr>
                <a:xfrm flipV="1">
                  <a:off x="6189407" y="3490415"/>
                  <a:ext cx="1599005" cy="195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21" idx="2"/>
                  <a:endCxn id="24" idx="0"/>
                </p:cNvCxnSpPr>
                <p:nvPr/>
              </p:nvCxnSpPr>
              <p:spPr>
                <a:xfrm flipV="1">
                  <a:off x="5983881" y="3456937"/>
                  <a:ext cx="1885354" cy="890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22" idx="5"/>
                  <a:endCxn id="24" idx="3"/>
                </p:cNvCxnSpPr>
                <p:nvPr/>
              </p:nvCxnSpPr>
              <p:spPr>
                <a:xfrm flipV="1">
                  <a:off x="6189406" y="3652058"/>
                  <a:ext cx="1599006" cy="1313869"/>
                </a:xfrm>
                <a:prstGeom prst="line">
                  <a:avLst/>
                </a:prstGeom>
              </p:spPr>
              <p:style>
                <a:lnRef idx="1">
                  <a:schemeClr val="accent1"/>
                </a:lnRef>
                <a:fillRef idx="0">
                  <a:schemeClr val="accent1"/>
                </a:fillRef>
                <a:effectRef idx="0">
                  <a:schemeClr val="accent1"/>
                </a:effectRef>
                <a:fontRef idx="minor">
                  <a:schemeClr val="tx1"/>
                </a:fontRef>
              </p:style>
            </p:cxnSp>
            <p:sp>
              <p:nvSpPr>
                <p:cNvPr id="21" name="Flowchart: Connector 20"/>
                <p:cNvSpPr/>
                <p:nvPr/>
              </p:nvSpPr>
              <p:spPr>
                <a:xfrm>
                  <a:off x="5983881" y="4232789"/>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Flowchart: Connector 21"/>
                <p:cNvSpPr/>
                <p:nvPr/>
              </p:nvSpPr>
              <p:spPr>
                <a:xfrm>
                  <a:off x="5994283" y="4770805"/>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Flowchart: Connector 23"/>
                <p:cNvSpPr/>
                <p:nvPr/>
              </p:nvSpPr>
              <p:spPr>
                <a:xfrm>
                  <a:off x="7754934" y="3456937"/>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Flowchart: Connector 24"/>
                <p:cNvSpPr/>
                <p:nvPr/>
              </p:nvSpPr>
              <p:spPr>
                <a:xfrm>
                  <a:off x="7743788" y="4691443"/>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5" name="Flowchart: Connector 34"/>
              <p:cNvSpPr/>
              <p:nvPr/>
            </p:nvSpPr>
            <p:spPr>
              <a:xfrm>
                <a:off x="3097428" y="1983818"/>
                <a:ext cx="193847" cy="18586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6" name="Flowchart: Connector 35"/>
              <p:cNvSpPr/>
              <p:nvPr/>
            </p:nvSpPr>
            <p:spPr>
              <a:xfrm>
                <a:off x="3068260" y="2977033"/>
                <a:ext cx="193847" cy="18586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1035" name="TextBox 1034"/>
            <p:cNvSpPr txBox="1"/>
            <p:nvPr/>
          </p:nvSpPr>
          <p:spPr>
            <a:xfrm>
              <a:off x="1093720" y="1501152"/>
              <a:ext cx="500330" cy="338554"/>
            </a:xfrm>
            <a:prstGeom prst="rect">
              <a:avLst/>
            </a:prstGeom>
            <a:noFill/>
          </p:spPr>
          <p:txBody>
            <a:bodyPr wrap="none" rtlCol="0">
              <a:spAutoFit/>
            </a:bodyPr>
            <a:lstStyle/>
            <a:p>
              <a:r>
                <a:rPr lang="en-US" sz="1600" dirty="0" smtClean="0"/>
                <a:t>Age</a:t>
              </a:r>
              <a:endParaRPr lang="en-IN" sz="1600" dirty="0"/>
            </a:p>
          </p:txBody>
        </p:sp>
        <p:sp>
          <p:nvSpPr>
            <p:cNvPr id="58" name="TextBox 57"/>
            <p:cNvSpPr txBox="1"/>
            <p:nvPr/>
          </p:nvSpPr>
          <p:spPr>
            <a:xfrm>
              <a:off x="962638" y="2056226"/>
              <a:ext cx="687432" cy="338554"/>
            </a:xfrm>
            <a:prstGeom prst="rect">
              <a:avLst/>
            </a:prstGeom>
            <a:noFill/>
          </p:spPr>
          <p:txBody>
            <a:bodyPr wrap="none" rtlCol="0">
              <a:spAutoFit/>
            </a:bodyPr>
            <a:lstStyle/>
            <a:p>
              <a:r>
                <a:rPr lang="en-US" sz="1600" dirty="0" smtClean="0"/>
                <a:t>Salary</a:t>
              </a:r>
              <a:endParaRPr lang="en-IN" sz="1600" dirty="0"/>
            </a:p>
          </p:txBody>
        </p:sp>
        <p:sp>
          <p:nvSpPr>
            <p:cNvPr id="59" name="TextBox 58"/>
            <p:cNvSpPr txBox="1"/>
            <p:nvPr/>
          </p:nvSpPr>
          <p:spPr>
            <a:xfrm>
              <a:off x="920331" y="2473436"/>
              <a:ext cx="755271" cy="338554"/>
            </a:xfrm>
            <a:prstGeom prst="rect">
              <a:avLst/>
            </a:prstGeom>
            <a:noFill/>
          </p:spPr>
          <p:txBody>
            <a:bodyPr wrap="none" rtlCol="0">
              <a:spAutoFit/>
            </a:bodyPr>
            <a:lstStyle/>
            <a:p>
              <a:r>
                <a:rPr lang="en-US" sz="1600" dirty="0" smtClean="0"/>
                <a:t>Tenure</a:t>
              </a:r>
              <a:endParaRPr lang="en-IN" sz="1600" dirty="0"/>
            </a:p>
          </p:txBody>
        </p:sp>
      </p:grpSp>
      <p:grpSp>
        <p:nvGrpSpPr>
          <p:cNvPr id="1038" name="Group 1037"/>
          <p:cNvGrpSpPr/>
          <p:nvPr/>
        </p:nvGrpSpPr>
        <p:grpSpPr>
          <a:xfrm>
            <a:off x="1214628" y="4782151"/>
            <a:ext cx="2381171" cy="1794959"/>
            <a:chOff x="1214628" y="4782151"/>
            <a:chExt cx="2381171" cy="1794959"/>
          </a:xfrm>
        </p:grpSpPr>
        <p:grpSp>
          <p:nvGrpSpPr>
            <p:cNvPr id="62" name="Group 61"/>
            <p:cNvGrpSpPr/>
            <p:nvPr/>
          </p:nvGrpSpPr>
          <p:grpSpPr>
            <a:xfrm>
              <a:off x="1214628" y="4883940"/>
              <a:ext cx="2381171" cy="1693170"/>
              <a:chOff x="920331" y="1469725"/>
              <a:chExt cx="2381171" cy="1693170"/>
            </a:xfrm>
          </p:grpSpPr>
          <p:grpSp>
            <p:nvGrpSpPr>
              <p:cNvPr id="63" name="Group 62"/>
              <p:cNvGrpSpPr/>
              <p:nvPr/>
            </p:nvGrpSpPr>
            <p:grpSpPr>
              <a:xfrm>
                <a:off x="1586283" y="1469725"/>
                <a:ext cx="1715219" cy="1693170"/>
                <a:chOff x="1586283" y="1469725"/>
                <a:chExt cx="1715219" cy="1693170"/>
              </a:xfrm>
            </p:grpSpPr>
            <p:grpSp>
              <p:nvGrpSpPr>
                <p:cNvPr id="67" name="Group 66"/>
                <p:cNvGrpSpPr/>
                <p:nvPr/>
              </p:nvGrpSpPr>
              <p:grpSpPr>
                <a:xfrm>
                  <a:off x="1586283" y="1469725"/>
                  <a:ext cx="1715219" cy="1254098"/>
                  <a:chOff x="5960806" y="3456937"/>
                  <a:chExt cx="2022729" cy="1542468"/>
                </a:xfrm>
              </p:grpSpPr>
              <p:sp>
                <p:nvSpPr>
                  <p:cNvPr id="70" name="Flowchart: Connector 69"/>
                  <p:cNvSpPr/>
                  <p:nvPr/>
                </p:nvSpPr>
                <p:spPr>
                  <a:xfrm>
                    <a:off x="5960806" y="3571237"/>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1" name="Straight Connector 70"/>
                  <p:cNvCxnSpPr>
                    <a:stCxn id="70" idx="6"/>
                    <a:endCxn id="76" idx="1"/>
                  </p:cNvCxnSpPr>
                  <p:nvPr/>
                </p:nvCxnSpPr>
                <p:spPr>
                  <a:xfrm flipV="1">
                    <a:off x="6189407" y="3490415"/>
                    <a:ext cx="1599005" cy="195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74" idx="2"/>
                    <a:endCxn id="76" idx="0"/>
                  </p:cNvCxnSpPr>
                  <p:nvPr/>
                </p:nvCxnSpPr>
                <p:spPr>
                  <a:xfrm flipV="1">
                    <a:off x="5983881" y="3456937"/>
                    <a:ext cx="1885354" cy="890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75" idx="5"/>
                    <a:endCxn id="76" idx="3"/>
                  </p:cNvCxnSpPr>
                  <p:nvPr/>
                </p:nvCxnSpPr>
                <p:spPr>
                  <a:xfrm flipV="1">
                    <a:off x="6189406" y="3652058"/>
                    <a:ext cx="1599006" cy="1313869"/>
                  </a:xfrm>
                  <a:prstGeom prst="line">
                    <a:avLst/>
                  </a:prstGeom>
                </p:spPr>
                <p:style>
                  <a:lnRef idx="1">
                    <a:schemeClr val="accent1"/>
                  </a:lnRef>
                  <a:fillRef idx="0">
                    <a:schemeClr val="accent1"/>
                  </a:fillRef>
                  <a:effectRef idx="0">
                    <a:schemeClr val="accent1"/>
                  </a:effectRef>
                  <a:fontRef idx="minor">
                    <a:schemeClr val="tx1"/>
                  </a:fontRef>
                </p:style>
              </p:cxnSp>
              <p:sp>
                <p:nvSpPr>
                  <p:cNvPr id="74" name="Flowchart: Connector 73"/>
                  <p:cNvSpPr/>
                  <p:nvPr/>
                </p:nvSpPr>
                <p:spPr>
                  <a:xfrm>
                    <a:off x="5983881" y="4232789"/>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5" name="Flowchart: Connector 74"/>
                  <p:cNvSpPr/>
                  <p:nvPr/>
                </p:nvSpPr>
                <p:spPr>
                  <a:xfrm>
                    <a:off x="5994283" y="4770805"/>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6" name="Flowchart: Connector 75"/>
                  <p:cNvSpPr/>
                  <p:nvPr/>
                </p:nvSpPr>
                <p:spPr>
                  <a:xfrm>
                    <a:off x="7754934" y="3456937"/>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7" name="Flowchart: Connector 76"/>
                  <p:cNvSpPr/>
                  <p:nvPr/>
                </p:nvSpPr>
                <p:spPr>
                  <a:xfrm>
                    <a:off x="7743788" y="4691443"/>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68" name="Flowchart: Connector 67"/>
                <p:cNvSpPr/>
                <p:nvPr/>
              </p:nvSpPr>
              <p:spPr>
                <a:xfrm>
                  <a:off x="3097428" y="1983818"/>
                  <a:ext cx="193847" cy="18586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9" name="Flowchart: Connector 68"/>
                <p:cNvSpPr/>
                <p:nvPr/>
              </p:nvSpPr>
              <p:spPr>
                <a:xfrm>
                  <a:off x="3068260" y="2977033"/>
                  <a:ext cx="193847" cy="18586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64" name="TextBox 63"/>
              <p:cNvSpPr txBox="1"/>
              <p:nvPr/>
            </p:nvSpPr>
            <p:spPr>
              <a:xfrm>
                <a:off x="1093720" y="1501152"/>
                <a:ext cx="500330" cy="338554"/>
              </a:xfrm>
              <a:prstGeom prst="rect">
                <a:avLst/>
              </a:prstGeom>
              <a:noFill/>
            </p:spPr>
            <p:txBody>
              <a:bodyPr wrap="none" rtlCol="0">
                <a:spAutoFit/>
              </a:bodyPr>
              <a:lstStyle/>
              <a:p>
                <a:r>
                  <a:rPr lang="en-US" sz="1600" dirty="0" smtClean="0"/>
                  <a:t>Age</a:t>
                </a:r>
                <a:endParaRPr lang="en-IN" sz="1600" dirty="0"/>
              </a:p>
            </p:txBody>
          </p:sp>
          <p:sp>
            <p:nvSpPr>
              <p:cNvPr id="65" name="TextBox 64"/>
              <p:cNvSpPr txBox="1"/>
              <p:nvPr/>
            </p:nvSpPr>
            <p:spPr>
              <a:xfrm>
                <a:off x="962638" y="2056226"/>
                <a:ext cx="687432" cy="338554"/>
              </a:xfrm>
              <a:prstGeom prst="rect">
                <a:avLst/>
              </a:prstGeom>
              <a:noFill/>
            </p:spPr>
            <p:txBody>
              <a:bodyPr wrap="none" rtlCol="0">
                <a:spAutoFit/>
              </a:bodyPr>
              <a:lstStyle/>
              <a:p>
                <a:r>
                  <a:rPr lang="en-US" sz="1600" dirty="0" smtClean="0"/>
                  <a:t>Salary</a:t>
                </a:r>
                <a:endParaRPr lang="en-IN" sz="1600" dirty="0"/>
              </a:p>
            </p:txBody>
          </p:sp>
          <p:sp>
            <p:nvSpPr>
              <p:cNvPr id="66" name="TextBox 65"/>
              <p:cNvSpPr txBox="1"/>
              <p:nvPr/>
            </p:nvSpPr>
            <p:spPr>
              <a:xfrm>
                <a:off x="920331" y="2473436"/>
                <a:ext cx="755271" cy="338554"/>
              </a:xfrm>
              <a:prstGeom prst="rect">
                <a:avLst/>
              </a:prstGeom>
              <a:noFill/>
            </p:spPr>
            <p:txBody>
              <a:bodyPr wrap="none" rtlCol="0">
                <a:spAutoFit/>
              </a:bodyPr>
              <a:lstStyle/>
              <a:p>
                <a:r>
                  <a:rPr lang="en-US" sz="1600" dirty="0" smtClean="0"/>
                  <a:t>Tenure</a:t>
                </a:r>
                <a:endParaRPr lang="en-IN" sz="1600" dirty="0"/>
              </a:p>
            </p:txBody>
          </p:sp>
        </p:grpSp>
        <p:sp>
          <p:nvSpPr>
            <p:cNvPr id="1037" name="TextBox 1036"/>
            <p:cNvSpPr txBox="1"/>
            <p:nvPr/>
          </p:nvSpPr>
          <p:spPr>
            <a:xfrm>
              <a:off x="2199068" y="4782151"/>
              <a:ext cx="412292" cy="307777"/>
            </a:xfrm>
            <a:prstGeom prst="rect">
              <a:avLst/>
            </a:prstGeom>
            <a:noFill/>
          </p:spPr>
          <p:txBody>
            <a:bodyPr wrap="none" rtlCol="0">
              <a:spAutoFit/>
            </a:bodyPr>
            <a:lstStyle/>
            <a:p>
              <a:r>
                <a:rPr lang="en-US" sz="1400" dirty="0" smtClean="0"/>
                <a:t>0.6</a:t>
              </a:r>
              <a:endParaRPr lang="en-IN" sz="1400" dirty="0"/>
            </a:p>
          </p:txBody>
        </p:sp>
        <p:sp>
          <p:nvSpPr>
            <p:cNvPr id="79" name="TextBox 78"/>
            <p:cNvSpPr txBox="1"/>
            <p:nvPr/>
          </p:nvSpPr>
          <p:spPr>
            <a:xfrm>
              <a:off x="1992922" y="5200489"/>
              <a:ext cx="412292" cy="307777"/>
            </a:xfrm>
            <a:prstGeom prst="rect">
              <a:avLst/>
            </a:prstGeom>
            <a:noFill/>
          </p:spPr>
          <p:txBody>
            <a:bodyPr wrap="none" rtlCol="0">
              <a:spAutoFit/>
            </a:bodyPr>
            <a:lstStyle/>
            <a:p>
              <a:r>
                <a:rPr lang="en-US" sz="1400" dirty="0" smtClean="0"/>
                <a:t>0.8</a:t>
              </a:r>
              <a:endParaRPr lang="en-IN" sz="1400" dirty="0"/>
            </a:p>
          </p:txBody>
        </p:sp>
        <p:sp>
          <p:nvSpPr>
            <p:cNvPr id="80" name="TextBox 79"/>
            <p:cNvSpPr txBox="1"/>
            <p:nvPr/>
          </p:nvSpPr>
          <p:spPr>
            <a:xfrm>
              <a:off x="2135149" y="5603924"/>
              <a:ext cx="412292" cy="307777"/>
            </a:xfrm>
            <a:prstGeom prst="rect">
              <a:avLst/>
            </a:prstGeom>
            <a:noFill/>
          </p:spPr>
          <p:txBody>
            <a:bodyPr wrap="none" rtlCol="0">
              <a:spAutoFit/>
            </a:bodyPr>
            <a:lstStyle/>
            <a:p>
              <a:r>
                <a:rPr lang="en-US" sz="1400" dirty="0" smtClean="0"/>
                <a:t>0.4</a:t>
              </a:r>
              <a:endParaRPr lang="en-IN" sz="1400" dirty="0"/>
            </a:p>
          </p:txBody>
        </p:sp>
      </p:grpSp>
    </p:spTree>
    <p:extLst>
      <p:ext uri="{BB962C8B-B14F-4D97-AF65-F5344CB8AC3E}">
        <p14:creationId xmlns:p14="http://schemas.microsoft.com/office/powerpoint/2010/main" val="36589795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aphicFrame>
        <p:nvGraphicFramePr>
          <p:cNvPr id="31" name="Table 30"/>
          <p:cNvGraphicFramePr>
            <a:graphicFrameLocks noGrp="1"/>
          </p:cNvGraphicFramePr>
          <p:nvPr>
            <p:extLst>
              <p:ext uri="{D42A27DB-BD31-4B8C-83A1-F6EECF244321}">
                <p14:modId xmlns:p14="http://schemas.microsoft.com/office/powerpoint/2010/main" val="2885938679"/>
              </p:ext>
            </p:extLst>
          </p:nvPr>
        </p:nvGraphicFramePr>
        <p:xfrm>
          <a:off x="8473743" y="495994"/>
          <a:ext cx="3477146" cy="2189480"/>
        </p:xfrm>
        <a:graphic>
          <a:graphicData uri="http://schemas.openxmlformats.org/drawingml/2006/table">
            <a:tbl>
              <a:tblPr firstRow="1" bandRow="1">
                <a:tableStyleId>{5C22544A-7EE6-4342-B048-85BDC9FD1C3A}</a:tableStyleId>
              </a:tblPr>
              <a:tblGrid>
                <a:gridCol w="683905"/>
                <a:gridCol w="941696"/>
                <a:gridCol w="764274"/>
                <a:gridCol w="1087271"/>
              </a:tblGrid>
              <a:tr h="0">
                <a:tc>
                  <a:txBody>
                    <a:bodyPr/>
                    <a:lstStyle/>
                    <a:p>
                      <a:r>
                        <a:rPr lang="en-US" sz="1600" dirty="0" smtClean="0"/>
                        <a:t>Age</a:t>
                      </a:r>
                      <a:endParaRPr lang="en-IN" sz="1600" dirty="0"/>
                    </a:p>
                  </a:txBody>
                  <a:tcPr/>
                </a:tc>
                <a:tc>
                  <a:txBody>
                    <a:bodyPr/>
                    <a:lstStyle/>
                    <a:p>
                      <a:r>
                        <a:rPr lang="en-US" sz="1600" dirty="0" smtClean="0"/>
                        <a:t>Salary</a:t>
                      </a:r>
                      <a:endParaRPr lang="en-IN" sz="1600" dirty="0"/>
                    </a:p>
                  </a:txBody>
                  <a:tcPr/>
                </a:tc>
                <a:tc>
                  <a:txBody>
                    <a:bodyPr/>
                    <a:lstStyle/>
                    <a:p>
                      <a:r>
                        <a:rPr lang="en-US" sz="1600" dirty="0" smtClean="0"/>
                        <a:t>Tenure</a:t>
                      </a:r>
                      <a:endParaRPr lang="en-IN" sz="1600" dirty="0"/>
                    </a:p>
                  </a:txBody>
                  <a:tcPr/>
                </a:tc>
                <a:tc>
                  <a:txBody>
                    <a:bodyPr/>
                    <a:lstStyle/>
                    <a:p>
                      <a:r>
                        <a:rPr lang="en-US" sz="1600" dirty="0" smtClean="0"/>
                        <a:t>Attrition</a:t>
                      </a:r>
                      <a:endParaRPr lang="en-IN" sz="1600" dirty="0"/>
                    </a:p>
                  </a:txBody>
                  <a:tcPr/>
                </a:tc>
              </a:tr>
              <a:tr h="370840">
                <a:tc>
                  <a:txBody>
                    <a:bodyPr/>
                    <a:lstStyle/>
                    <a:p>
                      <a:r>
                        <a:rPr lang="en-US" sz="1600" dirty="0" smtClean="0"/>
                        <a:t>24</a:t>
                      </a:r>
                      <a:endParaRPr lang="en-IN" sz="1600" dirty="0"/>
                    </a:p>
                  </a:txBody>
                  <a:tcPr/>
                </a:tc>
                <a:tc>
                  <a:txBody>
                    <a:bodyPr/>
                    <a:lstStyle/>
                    <a:p>
                      <a:r>
                        <a:rPr lang="en-US" sz="1600" dirty="0" smtClean="0"/>
                        <a:t>80</a:t>
                      </a:r>
                      <a:endParaRPr lang="en-IN" sz="1600" dirty="0"/>
                    </a:p>
                  </a:txBody>
                  <a:tcPr/>
                </a:tc>
                <a:tc>
                  <a:txBody>
                    <a:bodyPr/>
                    <a:lstStyle/>
                    <a:p>
                      <a:r>
                        <a:rPr lang="en-US" sz="1600" dirty="0" smtClean="0"/>
                        <a:t>1</a:t>
                      </a:r>
                      <a:endParaRPr lang="en-IN" sz="1600" dirty="0"/>
                    </a:p>
                  </a:txBody>
                  <a:tcPr/>
                </a:tc>
                <a:tc>
                  <a:txBody>
                    <a:bodyPr/>
                    <a:lstStyle/>
                    <a:p>
                      <a:r>
                        <a:rPr lang="en-US" sz="1600" dirty="0" smtClean="0"/>
                        <a:t>Y</a:t>
                      </a:r>
                      <a:endParaRPr lang="en-IN" sz="1600" dirty="0"/>
                    </a:p>
                  </a:txBody>
                  <a:tcPr/>
                </a:tc>
              </a:tr>
              <a:tr h="370840">
                <a:tc>
                  <a:txBody>
                    <a:bodyPr/>
                    <a:lstStyle/>
                    <a:p>
                      <a:r>
                        <a:rPr lang="en-US" sz="1600" dirty="0" smtClean="0"/>
                        <a:t>26</a:t>
                      </a:r>
                      <a:endParaRPr lang="en-IN" sz="1600" dirty="0"/>
                    </a:p>
                  </a:txBody>
                  <a:tcPr/>
                </a:tc>
                <a:tc>
                  <a:txBody>
                    <a:bodyPr/>
                    <a:lstStyle/>
                    <a:p>
                      <a:r>
                        <a:rPr lang="en-US" sz="1600" dirty="0" smtClean="0"/>
                        <a:t>100</a:t>
                      </a:r>
                      <a:endParaRPr lang="en-IN" sz="1600" dirty="0"/>
                    </a:p>
                  </a:txBody>
                  <a:tcPr/>
                </a:tc>
                <a:tc>
                  <a:txBody>
                    <a:bodyPr/>
                    <a:lstStyle/>
                    <a:p>
                      <a:r>
                        <a:rPr lang="en-US" sz="1600" dirty="0" smtClean="0"/>
                        <a:t>3</a:t>
                      </a:r>
                      <a:endParaRPr lang="en-IN" sz="1600" dirty="0"/>
                    </a:p>
                  </a:txBody>
                  <a:tcPr/>
                </a:tc>
                <a:tc>
                  <a:txBody>
                    <a:bodyPr/>
                    <a:lstStyle/>
                    <a:p>
                      <a:r>
                        <a:rPr lang="en-US" sz="1600" dirty="0" smtClean="0"/>
                        <a:t>Y</a:t>
                      </a:r>
                      <a:endParaRPr lang="en-IN" sz="1600" dirty="0"/>
                    </a:p>
                  </a:txBody>
                  <a:tcPr/>
                </a:tc>
              </a:tr>
              <a:tr h="370840">
                <a:tc>
                  <a:txBody>
                    <a:bodyPr/>
                    <a:lstStyle/>
                    <a:p>
                      <a:r>
                        <a:rPr lang="en-US" sz="1600" dirty="0" smtClean="0"/>
                        <a:t>25</a:t>
                      </a:r>
                      <a:endParaRPr lang="en-IN" sz="1600" dirty="0"/>
                    </a:p>
                  </a:txBody>
                  <a:tcPr/>
                </a:tc>
                <a:tc>
                  <a:txBody>
                    <a:bodyPr/>
                    <a:lstStyle/>
                    <a:p>
                      <a:r>
                        <a:rPr lang="en-US" sz="1600" dirty="0" smtClean="0"/>
                        <a:t>90</a:t>
                      </a:r>
                      <a:endParaRPr lang="en-IN" sz="1600" dirty="0"/>
                    </a:p>
                  </a:txBody>
                  <a:tcPr/>
                </a:tc>
                <a:tc>
                  <a:txBody>
                    <a:bodyPr/>
                    <a:lstStyle/>
                    <a:p>
                      <a:r>
                        <a:rPr lang="en-US" sz="1600" dirty="0" smtClean="0"/>
                        <a:t>2</a:t>
                      </a:r>
                      <a:endParaRPr lang="en-IN" sz="1600" dirty="0"/>
                    </a:p>
                  </a:txBody>
                  <a:tcPr/>
                </a:tc>
                <a:tc>
                  <a:txBody>
                    <a:bodyPr/>
                    <a:lstStyle/>
                    <a:p>
                      <a:r>
                        <a:rPr lang="en-US" sz="1600" dirty="0" smtClean="0"/>
                        <a:t>N</a:t>
                      </a:r>
                      <a:endParaRPr lang="en-IN" sz="1600" dirty="0"/>
                    </a:p>
                  </a:txBody>
                  <a:tcPr/>
                </a:tc>
              </a:tr>
              <a:tr h="370840">
                <a:tc>
                  <a:txBody>
                    <a:bodyPr/>
                    <a:lstStyle/>
                    <a:p>
                      <a:r>
                        <a:rPr lang="en-US" sz="1600" dirty="0" smtClean="0"/>
                        <a:t>30</a:t>
                      </a:r>
                      <a:endParaRPr lang="en-IN" sz="1600" dirty="0"/>
                    </a:p>
                  </a:txBody>
                  <a:tcPr/>
                </a:tc>
                <a:tc>
                  <a:txBody>
                    <a:bodyPr/>
                    <a:lstStyle/>
                    <a:p>
                      <a:r>
                        <a:rPr lang="en-US" sz="1600" dirty="0" smtClean="0"/>
                        <a:t>120</a:t>
                      </a:r>
                      <a:endParaRPr lang="en-IN" sz="1600" dirty="0"/>
                    </a:p>
                  </a:txBody>
                  <a:tcPr/>
                </a:tc>
                <a:tc>
                  <a:txBody>
                    <a:bodyPr/>
                    <a:lstStyle/>
                    <a:p>
                      <a:r>
                        <a:rPr lang="en-US" sz="1600" dirty="0" smtClean="0"/>
                        <a:t>5</a:t>
                      </a:r>
                      <a:endParaRPr lang="en-IN" sz="1600" dirty="0"/>
                    </a:p>
                  </a:txBody>
                  <a:tcPr/>
                </a:tc>
                <a:tc>
                  <a:txBody>
                    <a:bodyPr/>
                    <a:lstStyle/>
                    <a:p>
                      <a:r>
                        <a:rPr lang="en-US" sz="1600" dirty="0" smtClean="0"/>
                        <a:t>N</a:t>
                      </a:r>
                      <a:endParaRPr lang="en-IN" sz="1600" dirty="0"/>
                    </a:p>
                  </a:txBody>
                  <a:tcPr/>
                </a:tc>
              </a:tr>
              <a:tr h="370840">
                <a:tc>
                  <a:txBody>
                    <a:bodyPr/>
                    <a:lstStyle/>
                    <a:p>
                      <a:r>
                        <a:rPr lang="en-US" sz="1600" dirty="0" smtClean="0"/>
                        <a:t>32</a:t>
                      </a:r>
                      <a:endParaRPr lang="en-IN" sz="1600" dirty="0"/>
                    </a:p>
                  </a:txBody>
                  <a:tcPr/>
                </a:tc>
                <a:tc>
                  <a:txBody>
                    <a:bodyPr/>
                    <a:lstStyle/>
                    <a:p>
                      <a:r>
                        <a:rPr lang="en-US" sz="1600" dirty="0" smtClean="0"/>
                        <a:t>150</a:t>
                      </a:r>
                      <a:endParaRPr lang="en-IN" sz="1600" dirty="0"/>
                    </a:p>
                  </a:txBody>
                  <a:tcPr/>
                </a:tc>
                <a:tc>
                  <a:txBody>
                    <a:bodyPr/>
                    <a:lstStyle/>
                    <a:p>
                      <a:r>
                        <a:rPr lang="en-US" sz="1600" dirty="0" smtClean="0"/>
                        <a:t>8</a:t>
                      </a:r>
                      <a:endParaRPr lang="en-IN" sz="1600" dirty="0"/>
                    </a:p>
                  </a:txBody>
                  <a:tcPr/>
                </a:tc>
                <a:tc>
                  <a:txBody>
                    <a:bodyPr/>
                    <a:lstStyle/>
                    <a:p>
                      <a:r>
                        <a:rPr lang="en-US" sz="1600" dirty="0" smtClean="0"/>
                        <a:t>Y</a:t>
                      </a:r>
                      <a:endParaRPr lang="en-IN" sz="1600" dirty="0"/>
                    </a:p>
                  </a:txBody>
                  <a:tcPr/>
                </a:tc>
              </a:tr>
            </a:tbl>
          </a:graphicData>
        </a:graphic>
      </p:graphicFrame>
      <p:sp>
        <p:nvSpPr>
          <p:cNvPr id="32" name="TextBox 31"/>
          <p:cNvSpPr txBox="1"/>
          <p:nvPr/>
        </p:nvSpPr>
        <p:spPr>
          <a:xfrm>
            <a:off x="8488908" y="177421"/>
            <a:ext cx="3461982" cy="338554"/>
          </a:xfrm>
          <a:prstGeom prst="rect">
            <a:avLst/>
          </a:prstGeom>
          <a:solidFill>
            <a:schemeClr val="accent1">
              <a:lumMod val="75000"/>
            </a:schemeClr>
          </a:solidFill>
        </p:spPr>
        <p:txBody>
          <a:bodyPr wrap="square" rtlCol="0">
            <a:spAutoFit/>
          </a:bodyPr>
          <a:lstStyle/>
          <a:p>
            <a:r>
              <a:rPr lang="en-US" sz="1600" dirty="0" smtClean="0">
                <a:solidFill>
                  <a:schemeClr val="bg1"/>
                </a:solidFill>
                <a:latin typeface="Bahnschrift" pitchFamily="34" charset="0"/>
              </a:rPr>
              <a:t>Employee Attrition Training Data</a:t>
            </a:r>
            <a:endParaRPr lang="en-IN" sz="1600" dirty="0">
              <a:solidFill>
                <a:schemeClr val="bg1"/>
              </a:solidFill>
              <a:latin typeface="Bahnschrift" pitchFamily="34" charset="0"/>
            </a:endParaRPr>
          </a:p>
        </p:txBody>
      </p:sp>
      <p:sp>
        <p:nvSpPr>
          <p:cNvPr id="9" name="TextBox 8"/>
          <p:cNvSpPr txBox="1"/>
          <p:nvPr/>
        </p:nvSpPr>
        <p:spPr>
          <a:xfrm>
            <a:off x="1387476" y="3028961"/>
            <a:ext cx="918521" cy="338554"/>
          </a:xfrm>
          <a:prstGeom prst="rect">
            <a:avLst/>
          </a:prstGeom>
          <a:solidFill>
            <a:schemeClr val="accent2">
              <a:lumMod val="40000"/>
              <a:lumOff val="60000"/>
            </a:schemeClr>
          </a:solidFill>
          <a:ln>
            <a:solidFill>
              <a:schemeClr val="accent2">
                <a:lumMod val="60000"/>
                <a:lumOff val="40000"/>
              </a:schemeClr>
            </a:solidFill>
          </a:ln>
        </p:spPr>
        <p:txBody>
          <a:bodyPr wrap="none" rtlCol="0">
            <a:spAutoFit/>
          </a:bodyPr>
          <a:lstStyle/>
          <a:p>
            <a:r>
              <a:rPr lang="en-US" sz="1600" dirty="0" smtClean="0"/>
              <a:t>Y=mx + c</a:t>
            </a:r>
            <a:endParaRPr lang="en-IN" sz="1600" dirty="0"/>
          </a:p>
        </p:txBody>
      </p:sp>
      <p:sp>
        <p:nvSpPr>
          <p:cNvPr id="39" name="Rectangle 38"/>
          <p:cNvSpPr/>
          <p:nvPr/>
        </p:nvSpPr>
        <p:spPr>
          <a:xfrm>
            <a:off x="2448224" y="3028961"/>
            <a:ext cx="9639144" cy="553998"/>
          </a:xfrm>
          <a:prstGeom prst="rect">
            <a:avLst/>
          </a:prstGeom>
        </p:spPr>
        <p:txBody>
          <a:bodyPr wrap="square">
            <a:spAutoFit/>
          </a:bodyPr>
          <a:lstStyle/>
          <a:p>
            <a:r>
              <a:rPr lang="en-US" sz="1500" dirty="0"/>
              <a:t>If C=0 ,The line passes through the </a:t>
            </a:r>
            <a:r>
              <a:rPr lang="en-US" sz="1500" dirty="0" smtClean="0"/>
              <a:t>origin. But </a:t>
            </a:r>
            <a:r>
              <a:rPr lang="en-US" sz="1500" dirty="0"/>
              <a:t>this does happen most time in real </a:t>
            </a:r>
            <a:r>
              <a:rPr lang="en-US" sz="1500" dirty="0" smtClean="0"/>
              <a:t>world then </a:t>
            </a:r>
            <a:r>
              <a:rPr lang="en-US" sz="1500" dirty="0"/>
              <a:t>we put c here to make line more </a:t>
            </a:r>
            <a:r>
              <a:rPr lang="en-US" sz="1500" dirty="0" smtClean="0"/>
              <a:t>flexible </a:t>
            </a:r>
            <a:endParaRPr lang="en-IN" sz="1500" dirty="0"/>
          </a:p>
        </p:txBody>
      </p:sp>
      <p:sp>
        <p:nvSpPr>
          <p:cNvPr id="41" name="Rectangle 40"/>
          <p:cNvSpPr/>
          <p:nvPr/>
        </p:nvSpPr>
        <p:spPr>
          <a:xfrm>
            <a:off x="2532978" y="3606985"/>
            <a:ext cx="6096000" cy="323165"/>
          </a:xfrm>
          <a:prstGeom prst="rect">
            <a:avLst/>
          </a:prstGeom>
          <a:solidFill>
            <a:schemeClr val="accent4">
              <a:lumMod val="40000"/>
              <a:lumOff val="60000"/>
            </a:schemeClr>
          </a:solidFill>
          <a:ln>
            <a:solidFill>
              <a:schemeClr val="accent4">
                <a:lumMod val="60000"/>
                <a:lumOff val="40000"/>
              </a:schemeClr>
            </a:solidFill>
          </a:ln>
        </p:spPr>
        <p:txBody>
          <a:bodyPr>
            <a:spAutoFit/>
          </a:bodyPr>
          <a:lstStyle/>
          <a:p>
            <a:r>
              <a:rPr lang="en-US" sz="1500" dirty="0"/>
              <a:t>Similarly we also added a initial bias to make model more flexible</a:t>
            </a:r>
            <a:endParaRPr lang="en-IN" sz="1500" dirty="0"/>
          </a:p>
        </p:txBody>
      </p:sp>
      <p:grpSp>
        <p:nvGrpSpPr>
          <p:cNvPr id="43" name="Group 42"/>
          <p:cNvGrpSpPr/>
          <p:nvPr/>
        </p:nvGrpSpPr>
        <p:grpSpPr>
          <a:xfrm>
            <a:off x="1058077" y="120678"/>
            <a:ext cx="5621005" cy="2192209"/>
            <a:chOff x="1058077" y="120678"/>
            <a:chExt cx="5621005" cy="2192209"/>
          </a:xfrm>
        </p:grpSpPr>
        <p:grpSp>
          <p:nvGrpSpPr>
            <p:cNvPr id="8" name="Group 7"/>
            <p:cNvGrpSpPr/>
            <p:nvPr/>
          </p:nvGrpSpPr>
          <p:grpSpPr>
            <a:xfrm>
              <a:off x="1058077" y="210151"/>
              <a:ext cx="2644651" cy="1794959"/>
              <a:chOff x="1058077" y="210151"/>
              <a:chExt cx="2644651" cy="1794959"/>
            </a:xfrm>
          </p:grpSpPr>
          <p:grpSp>
            <p:nvGrpSpPr>
              <p:cNvPr id="10" name="Group 9"/>
              <p:cNvGrpSpPr/>
              <p:nvPr/>
            </p:nvGrpSpPr>
            <p:grpSpPr>
              <a:xfrm>
                <a:off x="1321557" y="210151"/>
                <a:ext cx="2381171" cy="1794959"/>
                <a:chOff x="1214628" y="4782151"/>
                <a:chExt cx="2381171" cy="1794959"/>
              </a:xfrm>
            </p:grpSpPr>
            <p:grpSp>
              <p:nvGrpSpPr>
                <p:cNvPr id="12" name="Group 11"/>
                <p:cNvGrpSpPr/>
                <p:nvPr/>
              </p:nvGrpSpPr>
              <p:grpSpPr>
                <a:xfrm>
                  <a:off x="1214628" y="4883940"/>
                  <a:ext cx="2381171" cy="1693170"/>
                  <a:chOff x="920331" y="1469725"/>
                  <a:chExt cx="2381171" cy="1693170"/>
                </a:xfrm>
              </p:grpSpPr>
              <p:grpSp>
                <p:nvGrpSpPr>
                  <p:cNvPr id="16" name="Group 15"/>
                  <p:cNvGrpSpPr/>
                  <p:nvPr/>
                </p:nvGrpSpPr>
                <p:grpSpPr>
                  <a:xfrm>
                    <a:off x="1586283" y="1469725"/>
                    <a:ext cx="1715219" cy="1693170"/>
                    <a:chOff x="1586283" y="1469725"/>
                    <a:chExt cx="1715219" cy="1693170"/>
                  </a:xfrm>
                </p:grpSpPr>
                <p:grpSp>
                  <p:nvGrpSpPr>
                    <p:cNvPr id="20" name="Group 19"/>
                    <p:cNvGrpSpPr/>
                    <p:nvPr/>
                  </p:nvGrpSpPr>
                  <p:grpSpPr>
                    <a:xfrm>
                      <a:off x="1586283" y="1469725"/>
                      <a:ext cx="1715219" cy="1254098"/>
                      <a:chOff x="5960806" y="3456937"/>
                      <a:chExt cx="2022729" cy="1542468"/>
                    </a:xfrm>
                  </p:grpSpPr>
                  <p:sp>
                    <p:nvSpPr>
                      <p:cNvPr id="23" name="Flowchart: Connector 22"/>
                      <p:cNvSpPr/>
                      <p:nvPr/>
                    </p:nvSpPr>
                    <p:spPr>
                      <a:xfrm>
                        <a:off x="5960806" y="3571237"/>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4" name="Straight Connector 23"/>
                      <p:cNvCxnSpPr>
                        <a:stCxn id="23" idx="6"/>
                        <a:endCxn id="29" idx="1"/>
                      </p:cNvCxnSpPr>
                      <p:nvPr/>
                    </p:nvCxnSpPr>
                    <p:spPr>
                      <a:xfrm flipV="1">
                        <a:off x="6189407" y="3490415"/>
                        <a:ext cx="1599005" cy="1951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27" idx="2"/>
                        <a:endCxn id="29" idx="0"/>
                      </p:cNvCxnSpPr>
                      <p:nvPr/>
                    </p:nvCxnSpPr>
                    <p:spPr>
                      <a:xfrm flipV="1">
                        <a:off x="5983881" y="3456937"/>
                        <a:ext cx="1885354" cy="890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8" idx="5"/>
                        <a:endCxn id="29" idx="3"/>
                      </p:cNvCxnSpPr>
                      <p:nvPr/>
                    </p:nvCxnSpPr>
                    <p:spPr>
                      <a:xfrm flipV="1">
                        <a:off x="6189406" y="3652058"/>
                        <a:ext cx="1599006" cy="1313869"/>
                      </a:xfrm>
                      <a:prstGeom prst="line">
                        <a:avLst/>
                      </a:prstGeom>
                    </p:spPr>
                    <p:style>
                      <a:lnRef idx="1">
                        <a:schemeClr val="accent1"/>
                      </a:lnRef>
                      <a:fillRef idx="0">
                        <a:schemeClr val="accent1"/>
                      </a:fillRef>
                      <a:effectRef idx="0">
                        <a:schemeClr val="accent1"/>
                      </a:effectRef>
                      <a:fontRef idx="minor">
                        <a:schemeClr val="tx1"/>
                      </a:fontRef>
                    </p:style>
                  </p:cxnSp>
                  <p:sp>
                    <p:nvSpPr>
                      <p:cNvPr id="27" name="Flowchart: Connector 26"/>
                      <p:cNvSpPr/>
                      <p:nvPr/>
                    </p:nvSpPr>
                    <p:spPr>
                      <a:xfrm>
                        <a:off x="5983881" y="4232789"/>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Flowchart: Connector 27"/>
                      <p:cNvSpPr/>
                      <p:nvPr/>
                    </p:nvSpPr>
                    <p:spPr>
                      <a:xfrm>
                        <a:off x="5994283" y="4770805"/>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Flowchart: Connector 28"/>
                      <p:cNvSpPr/>
                      <p:nvPr/>
                    </p:nvSpPr>
                    <p:spPr>
                      <a:xfrm>
                        <a:off x="7754934" y="3456937"/>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Flowchart: Connector 29"/>
                      <p:cNvSpPr/>
                      <p:nvPr/>
                    </p:nvSpPr>
                    <p:spPr>
                      <a:xfrm>
                        <a:off x="7743788" y="4691443"/>
                        <a:ext cx="228601"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1" name="Flowchart: Connector 20"/>
                    <p:cNvSpPr/>
                    <p:nvPr/>
                  </p:nvSpPr>
                  <p:spPr>
                    <a:xfrm>
                      <a:off x="3097428" y="1983818"/>
                      <a:ext cx="193847" cy="18586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Flowchart: Connector 21"/>
                    <p:cNvSpPr/>
                    <p:nvPr/>
                  </p:nvSpPr>
                  <p:spPr>
                    <a:xfrm>
                      <a:off x="3068260" y="2977033"/>
                      <a:ext cx="193847" cy="18586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17" name="TextBox 16"/>
                  <p:cNvSpPr txBox="1"/>
                  <p:nvPr/>
                </p:nvSpPr>
                <p:spPr>
                  <a:xfrm>
                    <a:off x="1093720" y="1501152"/>
                    <a:ext cx="500330" cy="338554"/>
                  </a:xfrm>
                  <a:prstGeom prst="rect">
                    <a:avLst/>
                  </a:prstGeom>
                  <a:noFill/>
                </p:spPr>
                <p:txBody>
                  <a:bodyPr wrap="none" rtlCol="0">
                    <a:spAutoFit/>
                  </a:bodyPr>
                  <a:lstStyle/>
                  <a:p>
                    <a:r>
                      <a:rPr lang="en-US" sz="1600" dirty="0" smtClean="0"/>
                      <a:t>Age</a:t>
                    </a:r>
                    <a:endParaRPr lang="en-IN" sz="1600" dirty="0"/>
                  </a:p>
                </p:txBody>
              </p:sp>
              <p:sp>
                <p:nvSpPr>
                  <p:cNvPr id="18" name="TextBox 17"/>
                  <p:cNvSpPr txBox="1"/>
                  <p:nvPr/>
                </p:nvSpPr>
                <p:spPr>
                  <a:xfrm>
                    <a:off x="962638" y="2056226"/>
                    <a:ext cx="687432" cy="338554"/>
                  </a:xfrm>
                  <a:prstGeom prst="rect">
                    <a:avLst/>
                  </a:prstGeom>
                  <a:noFill/>
                </p:spPr>
                <p:txBody>
                  <a:bodyPr wrap="none" rtlCol="0">
                    <a:spAutoFit/>
                  </a:bodyPr>
                  <a:lstStyle/>
                  <a:p>
                    <a:r>
                      <a:rPr lang="en-US" sz="1600" dirty="0" smtClean="0"/>
                      <a:t>Salary</a:t>
                    </a:r>
                    <a:endParaRPr lang="en-IN" sz="1600" dirty="0"/>
                  </a:p>
                </p:txBody>
              </p:sp>
              <p:sp>
                <p:nvSpPr>
                  <p:cNvPr id="19" name="TextBox 18"/>
                  <p:cNvSpPr txBox="1"/>
                  <p:nvPr/>
                </p:nvSpPr>
                <p:spPr>
                  <a:xfrm>
                    <a:off x="920331" y="2473436"/>
                    <a:ext cx="755271" cy="338554"/>
                  </a:xfrm>
                  <a:prstGeom prst="rect">
                    <a:avLst/>
                  </a:prstGeom>
                  <a:noFill/>
                </p:spPr>
                <p:txBody>
                  <a:bodyPr wrap="none" rtlCol="0">
                    <a:spAutoFit/>
                  </a:bodyPr>
                  <a:lstStyle/>
                  <a:p>
                    <a:r>
                      <a:rPr lang="en-US" sz="1600" dirty="0" smtClean="0"/>
                      <a:t>Tenure</a:t>
                    </a:r>
                    <a:endParaRPr lang="en-IN" sz="1600" dirty="0"/>
                  </a:p>
                </p:txBody>
              </p:sp>
            </p:grpSp>
            <p:sp>
              <p:nvSpPr>
                <p:cNvPr id="13" name="TextBox 12"/>
                <p:cNvSpPr txBox="1"/>
                <p:nvPr/>
              </p:nvSpPr>
              <p:spPr>
                <a:xfrm>
                  <a:off x="2199068" y="4782151"/>
                  <a:ext cx="412292" cy="307777"/>
                </a:xfrm>
                <a:prstGeom prst="rect">
                  <a:avLst/>
                </a:prstGeom>
                <a:noFill/>
              </p:spPr>
              <p:txBody>
                <a:bodyPr wrap="none" rtlCol="0">
                  <a:spAutoFit/>
                </a:bodyPr>
                <a:lstStyle/>
                <a:p>
                  <a:r>
                    <a:rPr lang="en-US" sz="1400" dirty="0" smtClean="0"/>
                    <a:t>0.6</a:t>
                  </a:r>
                  <a:endParaRPr lang="en-IN" sz="1400" dirty="0"/>
                </a:p>
              </p:txBody>
            </p:sp>
            <p:sp>
              <p:nvSpPr>
                <p:cNvPr id="14" name="TextBox 13"/>
                <p:cNvSpPr txBox="1"/>
                <p:nvPr/>
              </p:nvSpPr>
              <p:spPr>
                <a:xfrm>
                  <a:off x="1992922" y="5200489"/>
                  <a:ext cx="412292" cy="307777"/>
                </a:xfrm>
                <a:prstGeom prst="rect">
                  <a:avLst/>
                </a:prstGeom>
                <a:noFill/>
              </p:spPr>
              <p:txBody>
                <a:bodyPr wrap="none" rtlCol="0">
                  <a:spAutoFit/>
                </a:bodyPr>
                <a:lstStyle/>
                <a:p>
                  <a:r>
                    <a:rPr lang="en-US" sz="1400" dirty="0" smtClean="0"/>
                    <a:t>0.8</a:t>
                  </a:r>
                  <a:endParaRPr lang="en-IN" sz="1400" dirty="0"/>
                </a:p>
              </p:txBody>
            </p:sp>
            <p:sp>
              <p:nvSpPr>
                <p:cNvPr id="15" name="TextBox 14"/>
                <p:cNvSpPr txBox="1"/>
                <p:nvPr/>
              </p:nvSpPr>
              <p:spPr>
                <a:xfrm>
                  <a:off x="2135149" y="5603924"/>
                  <a:ext cx="412292" cy="307777"/>
                </a:xfrm>
                <a:prstGeom prst="rect">
                  <a:avLst/>
                </a:prstGeom>
                <a:noFill/>
              </p:spPr>
              <p:txBody>
                <a:bodyPr wrap="none" rtlCol="0">
                  <a:spAutoFit/>
                </a:bodyPr>
                <a:lstStyle/>
                <a:p>
                  <a:r>
                    <a:rPr lang="en-US" sz="1400" dirty="0" smtClean="0"/>
                    <a:t>0.4</a:t>
                  </a:r>
                  <a:endParaRPr lang="en-IN" sz="1400" dirty="0"/>
                </a:p>
              </p:txBody>
            </p:sp>
          </p:grpSp>
          <p:sp>
            <p:nvSpPr>
              <p:cNvPr id="7" name="TextBox 6"/>
              <p:cNvSpPr txBox="1"/>
              <p:nvPr/>
            </p:nvSpPr>
            <p:spPr>
              <a:xfrm>
                <a:off x="1180160" y="450497"/>
                <a:ext cx="367408" cy="307777"/>
              </a:xfrm>
              <a:prstGeom prst="rect">
                <a:avLst/>
              </a:prstGeom>
              <a:noFill/>
            </p:spPr>
            <p:txBody>
              <a:bodyPr wrap="none" rtlCol="0">
                <a:spAutoFit/>
              </a:bodyPr>
              <a:lstStyle/>
              <a:p>
                <a:r>
                  <a:rPr lang="en-US" sz="1400" dirty="0" smtClean="0"/>
                  <a:t>24</a:t>
                </a:r>
                <a:endParaRPr lang="en-IN" sz="1400" dirty="0"/>
              </a:p>
            </p:txBody>
          </p:sp>
          <p:sp>
            <p:nvSpPr>
              <p:cNvPr id="33" name="TextBox 32"/>
              <p:cNvSpPr txBox="1"/>
              <p:nvPr/>
            </p:nvSpPr>
            <p:spPr>
              <a:xfrm>
                <a:off x="1058077" y="943914"/>
                <a:ext cx="367408" cy="307777"/>
              </a:xfrm>
              <a:prstGeom prst="rect">
                <a:avLst/>
              </a:prstGeom>
              <a:noFill/>
            </p:spPr>
            <p:txBody>
              <a:bodyPr wrap="none" rtlCol="0">
                <a:spAutoFit/>
              </a:bodyPr>
              <a:lstStyle/>
              <a:p>
                <a:r>
                  <a:rPr lang="en-US" sz="1400" dirty="0" smtClean="0"/>
                  <a:t>80</a:t>
                </a:r>
                <a:endParaRPr lang="en-IN" sz="1400" dirty="0"/>
              </a:p>
            </p:txBody>
          </p:sp>
          <p:sp>
            <p:nvSpPr>
              <p:cNvPr id="34" name="TextBox 33"/>
              <p:cNvSpPr txBox="1"/>
              <p:nvPr/>
            </p:nvSpPr>
            <p:spPr>
              <a:xfrm>
                <a:off x="1087826" y="1412149"/>
                <a:ext cx="276038" cy="307777"/>
              </a:xfrm>
              <a:prstGeom prst="rect">
                <a:avLst/>
              </a:prstGeom>
              <a:noFill/>
            </p:spPr>
            <p:txBody>
              <a:bodyPr wrap="none" rtlCol="0">
                <a:spAutoFit/>
              </a:bodyPr>
              <a:lstStyle/>
              <a:p>
                <a:r>
                  <a:rPr lang="en-US" sz="1400" dirty="0" smtClean="0"/>
                  <a:t>1</a:t>
                </a:r>
                <a:endParaRPr lang="en-IN" sz="1400" dirty="0"/>
              </a:p>
            </p:txBody>
          </p:sp>
        </p:grpSp>
        <p:cxnSp>
          <p:nvCxnSpPr>
            <p:cNvPr id="38" name="Straight Connector 37"/>
            <p:cNvCxnSpPr/>
            <p:nvPr/>
          </p:nvCxnSpPr>
          <p:spPr>
            <a:xfrm flipV="1">
              <a:off x="2084432" y="470582"/>
              <a:ext cx="1618296" cy="1644821"/>
            </a:xfrm>
            <a:prstGeom prst="line">
              <a:avLst/>
            </a:prstGeom>
          </p:spPr>
          <p:style>
            <a:lnRef idx="1">
              <a:schemeClr val="accent1"/>
            </a:lnRef>
            <a:fillRef idx="0">
              <a:schemeClr val="accent1"/>
            </a:fillRef>
            <a:effectRef idx="0">
              <a:schemeClr val="accent1"/>
            </a:effectRef>
            <a:fontRef idx="minor">
              <a:schemeClr val="tx1"/>
            </a:fontRef>
          </p:style>
        </p:cxnSp>
        <p:sp>
          <p:nvSpPr>
            <p:cNvPr id="40" name="Flowchart: Connector 39"/>
            <p:cNvSpPr/>
            <p:nvPr/>
          </p:nvSpPr>
          <p:spPr>
            <a:xfrm>
              <a:off x="1954372" y="1975415"/>
              <a:ext cx="193847" cy="18586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7" name="TextBox 36"/>
            <p:cNvSpPr txBox="1"/>
            <p:nvPr/>
          </p:nvSpPr>
          <p:spPr>
            <a:xfrm>
              <a:off x="1306107" y="2005110"/>
              <a:ext cx="596638" cy="307777"/>
            </a:xfrm>
            <a:prstGeom prst="rect">
              <a:avLst/>
            </a:prstGeom>
            <a:noFill/>
          </p:spPr>
          <p:txBody>
            <a:bodyPr wrap="none" rtlCol="0">
              <a:spAutoFit/>
            </a:bodyPr>
            <a:lstStyle/>
            <a:p>
              <a:r>
                <a:rPr lang="en-US" sz="1400" dirty="0" smtClean="0"/>
                <a:t>b=0.1</a:t>
              </a:r>
              <a:endParaRPr lang="en-IN" sz="1400" dirty="0"/>
            </a:p>
          </p:txBody>
        </p:sp>
        <p:sp>
          <p:nvSpPr>
            <p:cNvPr id="42" name="Rectangle 41"/>
            <p:cNvSpPr/>
            <p:nvPr/>
          </p:nvSpPr>
          <p:spPr>
            <a:xfrm>
              <a:off x="3605805" y="120678"/>
              <a:ext cx="3073277" cy="338554"/>
            </a:xfrm>
            <a:prstGeom prst="rect">
              <a:avLst/>
            </a:prstGeom>
          </p:spPr>
          <p:txBody>
            <a:bodyPr wrap="none">
              <a:spAutoFit/>
            </a:bodyPr>
            <a:lstStyle/>
            <a:p>
              <a:r>
                <a:rPr lang="de-DE" sz="1600" dirty="0"/>
                <a:t> ∑wixi=(24*.06+80*0.8+1*.04)+0.1</a:t>
              </a:r>
              <a:endParaRPr lang="en-IN" sz="1600" dirty="0"/>
            </a:p>
          </p:txBody>
        </p:sp>
      </p:grpSp>
      <p:sp>
        <p:nvSpPr>
          <p:cNvPr id="2" name="Rectangle 1"/>
          <p:cNvSpPr/>
          <p:nvPr/>
        </p:nvSpPr>
        <p:spPr>
          <a:xfrm>
            <a:off x="618699" y="4135805"/>
            <a:ext cx="11382232" cy="338554"/>
          </a:xfrm>
          <a:prstGeom prst="rect">
            <a:avLst/>
          </a:prstGeom>
        </p:spPr>
        <p:txBody>
          <a:bodyPr wrap="square">
            <a:spAutoFit/>
          </a:bodyPr>
          <a:lstStyle/>
          <a:p>
            <a:r>
              <a:rPr lang="en-US" sz="1600" dirty="0"/>
              <a:t>So what is happening in this neuron(in hidden layer) we are feeling </a:t>
            </a:r>
            <a:r>
              <a:rPr lang="en-US" sz="1600" dirty="0" smtClean="0"/>
              <a:t>cold.in </a:t>
            </a:r>
            <a:r>
              <a:rPr lang="en-US" sz="1600" dirty="0"/>
              <a:t>this neuron ,there is concept of </a:t>
            </a:r>
            <a:r>
              <a:rPr lang="en-US" sz="1600" dirty="0">
                <a:solidFill>
                  <a:srgbClr val="FF0066"/>
                </a:solidFill>
                <a:latin typeface="Bahnschrift SemiLight" pitchFamily="34" charset="0"/>
              </a:rPr>
              <a:t>activation function</a:t>
            </a:r>
            <a:endParaRPr lang="en-IN" sz="1600" dirty="0">
              <a:solidFill>
                <a:srgbClr val="FF0066"/>
              </a:solidFill>
              <a:latin typeface="Bahnschrift SemiLight" pitchFamily="34" charset="0"/>
            </a:endParaRPr>
          </a:p>
        </p:txBody>
      </p:sp>
      <p:cxnSp>
        <p:nvCxnSpPr>
          <p:cNvPr id="5" name="Straight Connector 4"/>
          <p:cNvCxnSpPr/>
          <p:nvPr/>
        </p:nvCxnSpPr>
        <p:spPr>
          <a:xfrm>
            <a:off x="0" y="4067033"/>
            <a:ext cx="12000931" cy="4094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50041" y="4619935"/>
            <a:ext cx="12000931" cy="4094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13815" y="4858308"/>
            <a:ext cx="11787116" cy="830997"/>
          </a:xfrm>
          <a:prstGeom prst="rect">
            <a:avLst/>
          </a:prstGeom>
        </p:spPr>
        <p:txBody>
          <a:bodyPr wrap="square">
            <a:spAutoFit/>
          </a:bodyPr>
          <a:lstStyle/>
          <a:p>
            <a:r>
              <a:rPr lang="en-US" sz="1600" dirty="0"/>
              <a:t>We have assign some weight in begining,but we do not know wether those weight are good for network or not</a:t>
            </a:r>
            <a:r>
              <a:rPr lang="en-US" sz="1600" dirty="0" smtClean="0"/>
              <a:t>.</a:t>
            </a:r>
          </a:p>
          <a:p>
            <a:r>
              <a:rPr lang="en-US" sz="1600" dirty="0" smtClean="0"/>
              <a:t>so </a:t>
            </a:r>
            <a:r>
              <a:rPr lang="en-US" sz="1600" dirty="0"/>
              <a:t>we have to </a:t>
            </a:r>
            <a:r>
              <a:rPr lang="en-US" sz="1600" dirty="0">
                <a:solidFill>
                  <a:srgbClr val="FF6743"/>
                </a:solidFill>
                <a:latin typeface="Bahnschrift SemiLight" pitchFamily="34" charset="0"/>
              </a:rPr>
              <a:t>come back and optimize those weight </a:t>
            </a:r>
            <a:r>
              <a:rPr lang="en-US" sz="1600" dirty="0" smtClean="0"/>
              <a:t>.we </a:t>
            </a:r>
            <a:r>
              <a:rPr lang="en-US" sz="1600" dirty="0"/>
              <a:t>have to </a:t>
            </a:r>
            <a:r>
              <a:rPr lang="en-US" sz="1600" dirty="0">
                <a:solidFill>
                  <a:srgbClr val="FF6743"/>
                </a:solidFill>
                <a:latin typeface="Bahnschrift SemiLight" pitchFamily="34" charset="0"/>
              </a:rPr>
              <a:t>come back and optimize </a:t>
            </a:r>
            <a:r>
              <a:rPr lang="en-US" sz="1600" dirty="0" smtClean="0">
                <a:solidFill>
                  <a:srgbClr val="FF6743"/>
                </a:solidFill>
                <a:latin typeface="Bahnschrift SemiLight" pitchFamily="34" charset="0"/>
              </a:rPr>
              <a:t>bias</a:t>
            </a:r>
            <a:r>
              <a:rPr lang="en-US" sz="1600" i="1" dirty="0" smtClean="0">
                <a:solidFill>
                  <a:srgbClr val="FF6743"/>
                </a:solidFill>
              </a:rPr>
              <a:t>.</a:t>
            </a:r>
            <a:r>
              <a:rPr lang="en-US" sz="1600" i="1" dirty="0" smtClean="0"/>
              <a:t> We </a:t>
            </a:r>
            <a:r>
              <a:rPr lang="en-US" sz="1600" dirty="0"/>
              <a:t>have to also see the activation function </a:t>
            </a:r>
            <a:r>
              <a:rPr lang="en-US" sz="1600" dirty="0" smtClean="0"/>
              <a:t>which is  </a:t>
            </a:r>
            <a:r>
              <a:rPr lang="en-US" sz="1600" dirty="0"/>
              <a:t>used is doing the good job </a:t>
            </a:r>
            <a:r>
              <a:rPr lang="en-US" sz="1600" dirty="0" smtClean="0"/>
              <a:t>or not . </a:t>
            </a:r>
            <a:r>
              <a:rPr lang="en-US" sz="1600" dirty="0"/>
              <a:t>otherwise we need to </a:t>
            </a:r>
            <a:r>
              <a:rPr lang="en-US" sz="1600" dirty="0" smtClean="0"/>
              <a:t>change </a:t>
            </a:r>
            <a:r>
              <a:rPr lang="en-US" sz="1600" dirty="0"/>
              <a:t>as well </a:t>
            </a:r>
            <a:endParaRPr lang="en-IN" sz="1600" dirty="0"/>
          </a:p>
        </p:txBody>
      </p:sp>
      <p:sp>
        <p:nvSpPr>
          <p:cNvPr id="11" name="Rectangle 10"/>
          <p:cNvSpPr/>
          <p:nvPr/>
        </p:nvSpPr>
        <p:spPr>
          <a:xfrm>
            <a:off x="213814" y="5926878"/>
            <a:ext cx="11873553" cy="584775"/>
          </a:xfrm>
          <a:prstGeom prst="rect">
            <a:avLst/>
          </a:prstGeom>
        </p:spPr>
        <p:txBody>
          <a:bodyPr wrap="square">
            <a:spAutoFit/>
          </a:bodyPr>
          <a:lstStyle/>
          <a:p>
            <a:r>
              <a:rPr lang="en-US" sz="1600" dirty="0"/>
              <a:t>if information flow in forward </a:t>
            </a:r>
            <a:r>
              <a:rPr lang="en-US" sz="1600" dirty="0" smtClean="0"/>
              <a:t>direction, we </a:t>
            </a:r>
            <a:r>
              <a:rPr lang="en-US" sz="1600" dirty="0"/>
              <a:t>called it </a:t>
            </a:r>
            <a:r>
              <a:rPr lang="en-US" sz="1600" dirty="0">
                <a:solidFill>
                  <a:schemeClr val="accent4">
                    <a:lumMod val="50000"/>
                  </a:schemeClr>
                </a:solidFill>
                <a:latin typeface="Bahnschrift SemiLight" pitchFamily="34" charset="0"/>
                <a:cs typeface="Cascadia Code" pitchFamily="49" charset="0"/>
              </a:rPr>
              <a:t>forward propagation</a:t>
            </a:r>
            <a:r>
              <a:rPr lang="en-US" sz="1600" dirty="0"/>
              <a:t>.</a:t>
            </a:r>
          </a:p>
          <a:p>
            <a:r>
              <a:rPr lang="en-US" sz="1600" dirty="0"/>
              <a:t>when we come back and optimize the </a:t>
            </a:r>
            <a:r>
              <a:rPr lang="en-US" sz="1600" dirty="0" smtClean="0"/>
              <a:t>paramater,we </a:t>
            </a:r>
            <a:r>
              <a:rPr lang="en-US" sz="1600" dirty="0"/>
              <a:t>called </a:t>
            </a:r>
            <a:r>
              <a:rPr lang="en-US" sz="1600" dirty="0">
                <a:solidFill>
                  <a:schemeClr val="accent4">
                    <a:lumMod val="50000"/>
                  </a:schemeClr>
                </a:solidFill>
                <a:latin typeface="Bahnschrift SemiLight" pitchFamily="34" charset="0"/>
                <a:cs typeface="Cascadia Code" pitchFamily="49" charset="0"/>
              </a:rPr>
              <a:t>backward </a:t>
            </a:r>
            <a:r>
              <a:rPr lang="en-US" sz="1600" dirty="0" smtClean="0">
                <a:solidFill>
                  <a:schemeClr val="accent4">
                    <a:lumMod val="50000"/>
                  </a:schemeClr>
                </a:solidFill>
                <a:latin typeface="Bahnschrift SemiLight" pitchFamily="34" charset="0"/>
                <a:cs typeface="Cascadia Code" pitchFamily="49" charset="0"/>
              </a:rPr>
              <a:t>propagation.</a:t>
            </a:r>
            <a:endParaRPr lang="en-IN" sz="1600" dirty="0">
              <a:solidFill>
                <a:schemeClr val="accent4">
                  <a:lumMod val="50000"/>
                </a:schemeClr>
              </a:solidFill>
              <a:latin typeface="Bahnschrift SemiLight" pitchFamily="34" charset="0"/>
              <a:cs typeface="Cascadia Code" pitchFamily="49" charset="0"/>
            </a:endParaRPr>
          </a:p>
        </p:txBody>
      </p:sp>
    </p:spTree>
    <p:extLst>
      <p:ext uri="{BB962C8B-B14F-4D97-AF65-F5344CB8AC3E}">
        <p14:creationId xmlns:p14="http://schemas.microsoft.com/office/powerpoint/2010/main" val="3546703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TextBox 1"/>
          <p:cNvSpPr txBox="1"/>
          <p:nvPr/>
        </p:nvSpPr>
        <p:spPr>
          <a:xfrm>
            <a:off x="450376" y="340351"/>
            <a:ext cx="8196283" cy="338554"/>
          </a:xfrm>
          <a:prstGeom prst="rect">
            <a:avLst/>
          </a:prstGeom>
          <a:noFill/>
        </p:spPr>
        <p:txBody>
          <a:bodyPr wrap="none" rtlCol="0">
            <a:spAutoFit/>
          </a:bodyPr>
          <a:lstStyle/>
          <a:p>
            <a:r>
              <a:rPr lang="en-US" sz="1600" dirty="0" smtClean="0"/>
              <a:t>To understand “Backward Propagation". We require good underling of few math concept like as  </a:t>
            </a:r>
            <a:endParaRPr lang="en-IN" sz="1600" dirty="0"/>
          </a:p>
        </p:txBody>
      </p:sp>
      <p:sp>
        <p:nvSpPr>
          <p:cNvPr id="3" name="TextBox 2"/>
          <p:cNvSpPr txBox="1"/>
          <p:nvPr/>
        </p:nvSpPr>
        <p:spPr>
          <a:xfrm>
            <a:off x="3684896" y="1364776"/>
            <a:ext cx="2487348" cy="338554"/>
          </a:xfrm>
          <a:prstGeom prst="rect">
            <a:avLst/>
          </a:prstGeom>
          <a:solidFill>
            <a:schemeClr val="accent2">
              <a:lumMod val="20000"/>
              <a:lumOff val="80000"/>
            </a:schemeClr>
          </a:solidFill>
          <a:ln>
            <a:solidFill>
              <a:schemeClr val="bg2">
                <a:lumMod val="90000"/>
              </a:schemeClr>
            </a:solidFill>
          </a:ln>
        </p:spPr>
        <p:txBody>
          <a:bodyPr wrap="square" rtlCol="0">
            <a:spAutoFit/>
          </a:bodyPr>
          <a:lstStyle/>
          <a:p>
            <a:r>
              <a:rPr lang="en-US" sz="1600" dirty="0" smtClean="0"/>
              <a:t>Gradient</a:t>
            </a:r>
            <a:endParaRPr lang="en-IN" sz="1600" dirty="0"/>
          </a:p>
        </p:txBody>
      </p:sp>
      <p:sp>
        <p:nvSpPr>
          <p:cNvPr id="5" name="TextBox 4"/>
          <p:cNvSpPr txBox="1"/>
          <p:nvPr/>
        </p:nvSpPr>
        <p:spPr>
          <a:xfrm>
            <a:off x="3684896" y="1738180"/>
            <a:ext cx="2487348" cy="338554"/>
          </a:xfrm>
          <a:prstGeom prst="rect">
            <a:avLst/>
          </a:prstGeom>
          <a:solidFill>
            <a:schemeClr val="accent4">
              <a:lumMod val="20000"/>
              <a:lumOff val="80000"/>
            </a:schemeClr>
          </a:solidFill>
          <a:ln>
            <a:solidFill>
              <a:schemeClr val="bg2">
                <a:lumMod val="90000"/>
              </a:schemeClr>
            </a:solidFill>
          </a:ln>
        </p:spPr>
        <p:txBody>
          <a:bodyPr wrap="none" rtlCol="0">
            <a:spAutoFit/>
          </a:bodyPr>
          <a:lstStyle/>
          <a:p>
            <a:r>
              <a:rPr lang="en-IN" sz="1600" dirty="0" smtClean="0"/>
              <a:t>Chain </a:t>
            </a:r>
            <a:r>
              <a:rPr lang="en-IN" sz="1600" dirty="0"/>
              <a:t>rule of differentiation</a:t>
            </a:r>
          </a:p>
        </p:txBody>
      </p:sp>
      <p:sp>
        <p:nvSpPr>
          <p:cNvPr id="6" name="TextBox 5"/>
          <p:cNvSpPr txBox="1"/>
          <p:nvPr/>
        </p:nvSpPr>
        <p:spPr>
          <a:xfrm>
            <a:off x="3684896" y="2096615"/>
            <a:ext cx="2586029" cy="338554"/>
          </a:xfrm>
          <a:prstGeom prst="rect">
            <a:avLst/>
          </a:prstGeom>
          <a:solidFill>
            <a:schemeClr val="accent6">
              <a:lumMod val="20000"/>
              <a:lumOff val="80000"/>
            </a:schemeClr>
          </a:solidFill>
          <a:ln>
            <a:solidFill>
              <a:schemeClr val="bg2">
                <a:lumMod val="90000"/>
              </a:schemeClr>
            </a:solidFill>
          </a:ln>
        </p:spPr>
        <p:txBody>
          <a:bodyPr wrap="none" rtlCol="0">
            <a:spAutoFit/>
          </a:bodyPr>
          <a:lstStyle/>
          <a:p>
            <a:r>
              <a:rPr lang="en-US" sz="1600" dirty="0" smtClean="0"/>
              <a:t>How Gradient descent works</a:t>
            </a:r>
            <a:endParaRPr lang="en-IN" sz="1600" dirty="0"/>
          </a:p>
        </p:txBody>
      </p:sp>
      <p:grpSp>
        <p:nvGrpSpPr>
          <p:cNvPr id="10" name="Group 9"/>
          <p:cNvGrpSpPr/>
          <p:nvPr/>
        </p:nvGrpSpPr>
        <p:grpSpPr>
          <a:xfrm>
            <a:off x="1774209" y="1214651"/>
            <a:ext cx="1569492" cy="1190886"/>
            <a:chOff x="1774209" y="1214651"/>
            <a:chExt cx="1569492" cy="1190886"/>
          </a:xfrm>
        </p:grpSpPr>
        <p:sp>
          <p:nvSpPr>
            <p:cNvPr id="7" name="TextBox 6"/>
            <p:cNvSpPr txBox="1"/>
            <p:nvPr/>
          </p:nvSpPr>
          <p:spPr>
            <a:xfrm>
              <a:off x="1774209" y="1599680"/>
              <a:ext cx="1025794" cy="353943"/>
            </a:xfrm>
            <a:prstGeom prst="rect">
              <a:avLst/>
            </a:prstGeom>
            <a:noFill/>
          </p:spPr>
          <p:txBody>
            <a:bodyPr wrap="none" rtlCol="0">
              <a:spAutoFit/>
            </a:bodyPr>
            <a:lstStyle/>
            <a:p>
              <a:r>
                <a:rPr lang="en-US" sz="1700" dirty="0" smtClean="0"/>
                <a:t>What is it</a:t>
              </a:r>
              <a:endParaRPr lang="en-IN" sz="1700" dirty="0"/>
            </a:p>
          </p:txBody>
        </p:sp>
        <p:sp>
          <p:nvSpPr>
            <p:cNvPr id="8" name="Rectangle 7"/>
            <p:cNvSpPr/>
            <p:nvPr/>
          </p:nvSpPr>
          <p:spPr>
            <a:xfrm>
              <a:off x="2654515" y="1518664"/>
              <a:ext cx="529312" cy="584775"/>
            </a:xfrm>
            <a:prstGeom prst="rect">
              <a:avLst/>
            </a:prstGeom>
          </p:spPr>
          <p:txBody>
            <a:bodyPr wrap="none">
              <a:spAutoFit/>
            </a:bodyPr>
            <a:lstStyle/>
            <a:p>
              <a:r>
                <a:rPr lang="en-IN" sz="3200" dirty="0"/>
                <a:t>❓</a:t>
              </a:r>
            </a:p>
          </p:txBody>
        </p:sp>
        <p:sp>
          <p:nvSpPr>
            <p:cNvPr id="9" name="Freeform 8"/>
            <p:cNvSpPr/>
            <p:nvPr/>
          </p:nvSpPr>
          <p:spPr>
            <a:xfrm>
              <a:off x="2634018" y="1214651"/>
              <a:ext cx="709683" cy="1190886"/>
            </a:xfrm>
            <a:custGeom>
              <a:avLst/>
              <a:gdLst>
                <a:gd name="connsiteX0" fmla="*/ 0 w 709683"/>
                <a:gd name="connsiteY0" fmla="*/ 0 h 1190886"/>
                <a:gd name="connsiteX1" fmla="*/ 163773 w 709683"/>
                <a:gd name="connsiteY1" fmla="*/ 27295 h 1190886"/>
                <a:gd name="connsiteX2" fmla="*/ 272955 w 709683"/>
                <a:gd name="connsiteY2" fmla="*/ 81886 h 1190886"/>
                <a:gd name="connsiteX3" fmla="*/ 313898 w 709683"/>
                <a:gd name="connsiteY3" fmla="*/ 95534 h 1190886"/>
                <a:gd name="connsiteX4" fmla="*/ 395785 w 709683"/>
                <a:gd name="connsiteY4" fmla="*/ 163773 h 1190886"/>
                <a:gd name="connsiteX5" fmla="*/ 436728 w 709683"/>
                <a:gd name="connsiteY5" fmla="*/ 177421 h 1190886"/>
                <a:gd name="connsiteX6" fmla="*/ 477672 w 709683"/>
                <a:gd name="connsiteY6" fmla="*/ 218364 h 1190886"/>
                <a:gd name="connsiteX7" fmla="*/ 518615 w 709683"/>
                <a:gd name="connsiteY7" fmla="*/ 232012 h 1190886"/>
                <a:gd name="connsiteX8" fmla="*/ 559558 w 709683"/>
                <a:gd name="connsiteY8" fmla="*/ 259307 h 1190886"/>
                <a:gd name="connsiteX9" fmla="*/ 600501 w 709683"/>
                <a:gd name="connsiteY9" fmla="*/ 327546 h 1190886"/>
                <a:gd name="connsiteX10" fmla="*/ 655092 w 709683"/>
                <a:gd name="connsiteY10" fmla="*/ 409433 h 1190886"/>
                <a:gd name="connsiteX11" fmla="*/ 696036 w 709683"/>
                <a:gd name="connsiteY11" fmla="*/ 532262 h 1190886"/>
                <a:gd name="connsiteX12" fmla="*/ 709683 w 709683"/>
                <a:gd name="connsiteY12" fmla="*/ 791570 h 1190886"/>
                <a:gd name="connsiteX13" fmla="*/ 696036 w 709683"/>
                <a:gd name="connsiteY13" fmla="*/ 914400 h 1190886"/>
                <a:gd name="connsiteX14" fmla="*/ 641445 w 709683"/>
                <a:gd name="connsiteY14" fmla="*/ 1023582 h 1190886"/>
                <a:gd name="connsiteX15" fmla="*/ 600501 w 709683"/>
                <a:gd name="connsiteY15" fmla="*/ 1064525 h 1190886"/>
                <a:gd name="connsiteX16" fmla="*/ 532263 w 709683"/>
                <a:gd name="connsiteY16" fmla="*/ 1132764 h 1190886"/>
                <a:gd name="connsiteX17" fmla="*/ 477672 w 709683"/>
                <a:gd name="connsiteY17" fmla="*/ 1146412 h 1190886"/>
                <a:gd name="connsiteX18" fmla="*/ 436728 w 709683"/>
                <a:gd name="connsiteY18" fmla="*/ 1160059 h 1190886"/>
                <a:gd name="connsiteX19" fmla="*/ 382137 w 709683"/>
                <a:gd name="connsiteY19" fmla="*/ 1187355 h 1190886"/>
                <a:gd name="connsiteX20" fmla="*/ 0 w 709683"/>
                <a:gd name="connsiteY20" fmla="*/ 1187355 h 1190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09683" h="1190886">
                  <a:moveTo>
                    <a:pt x="0" y="0"/>
                  </a:moveTo>
                  <a:cubicBezTo>
                    <a:pt x="54591" y="9098"/>
                    <a:pt x="109900" y="14619"/>
                    <a:pt x="163773" y="27295"/>
                  </a:cubicBezTo>
                  <a:cubicBezTo>
                    <a:pt x="252974" y="48283"/>
                    <a:pt x="207790" y="49303"/>
                    <a:pt x="272955" y="81886"/>
                  </a:cubicBezTo>
                  <a:cubicBezTo>
                    <a:pt x="285822" y="88320"/>
                    <a:pt x="301031" y="89100"/>
                    <a:pt x="313898" y="95534"/>
                  </a:cubicBezTo>
                  <a:cubicBezTo>
                    <a:pt x="403205" y="140188"/>
                    <a:pt x="305232" y="103404"/>
                    <a:pt x="395785" y="163773"/>
                  </a:cubicBezTo>
                  <a:cubicBezTo>
                    <a:pt x="407755" y="171753"/>
                    <a:pt x="423080" y="172872"/>
                    <a:pt x="436728" y="177421"/>
                  </a:cubicBezTo>
                  <a:cubicBezTo>
                    <a:pt x="450376" y="191069"/>
                    <a:pt x="461613" y="207658"/>
                    <a:pt x="477672" y="218364"/>
                  </a:cubicBezTo>
                  <a:cubicBezTo>
                    <a:pt x="489642" y="226344"/>
                    <a:pt x="505748" y="225578"/>
                    <a:pt x="518615" y="232012"/>
                  </a:cubicBezTo>
                  <a:cubicBezTo>
                    <a:pt x="533286" y="239347"/>
                    <a:pt x="545910" y="250209"/>
                    <a:pt x="559558" y="259307"/>
                  </a:cubicBezTo>
                  <a:cubicBezTo>
                    <a:pt x="573206" y="282053"/>
                    <a:pt x="586260" y="305167"/>
                    <a:pt x="600501" y="327546"/>
                  </a:cubicBezTo>
                  <a:cubicBezTo>
                    <a:pt x="618113" y="355223"/>
                    <a:pt x="644718" y="378311"/>
                    <a:pt x="655092" y="409433"/>
                  </a:cubicBezTo>
                  <a:lnTo>
                    <a:pt x="696036" y="532262"/>
                  </a:lnTo>
                  <a:cubicBezTo>
                    <a:pt x="700585" y="618698"/>
                    <a:pt x="709683" y="705014"/>
                    <a:pt x="709683" y="791570"/>
                  </a:cubicBezTo>
                  <a:cubicBezTo>
                    <a:pt x="709683" y="832765"/>
                    <a:pt x="704668" y="874119"/>
                    <a:pt x="696036" y="914400"/>
                  </a:cubicBezTo>
                  <a:cubicBezTo>
                    <a:pt x="688801" y="948164"/>
                    <a:pt x="664819" y="995533"/>
                    <a:pt x="641445" y="1023582"/>
                  </a:cubicBezTo>
                  <a:cubicBezTo>
                    <a:pt x="629089" y="1038409"/>
                    <a:pt x="612857" y="1049698"/>
                    <a:pt x="600501" y="1064525"/>
                  </a:cubicBezTo>
                  <a:cubicBezTo>
                    <a:pt x="566802" y="1104963"/>
                    <a:pt x="584159" y="1110523"/>
                    <a:pt x="532263" y="1132764"/>
                  </a:cubicBezTo>
                  <a:cubicBezTo>
                    <a:pt x="515023" y="1140153"/>
                    <a:pt x="495707" y="1141259"/>
                    <a:pt x="477672" y="1146412"/>
                  </a:cubicBezTo>
                  <a:cubicBezTo>
                    <a:pt x="463839" y="1150364"/>
                    <a:pt x="449951" y="1154392"/>
                    <a:pt x="436728" y="1160059"/>
                  </a:cubicBezTo>
                  <a:cubicBezTo>
                    <a:pt x="418028" y="1168073"/>
                    <a:pt x="402442" y="1186086"/>
                    <a:pt x="382137" y="1187355"/>
                  </a:cubicBezTo>
                  <a:cubicBezTo>
                    <a:pt x="255006" y="1195301"/>
                    <a:pt x="127379" y="1187355"/>
                    <a:pt x="0" y="1187355"/>
                  </a:cubicBezTo>
                </a:path>
              </a:pathLst>
            </a:custGeom>
            <a:ln>
              <a:solidFill>
                <a:srgbClr val="FF674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spTree>
    <p:extLst>
      <p:ext uri="{BB962C8B-B14F-4D97-AF65-F5344CB8AC3E}">
        <p14:creationId xmlns:p14="http://schemas.microsoft.com/office/powerpoint/2010/main" val="40153108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11" name="Group 10"/>
          <p:cNvGrpSpPr/>
          <p:nvPr/>
        </p:nvGrpSpPr>
        <p:grpSpPr>
          <a:xfrm>
            <a:off x="27363" y="241191"/>
            <a:ext cx="3130119" cy="340134"/>
            <a:chOff x="1492971" y="258160"/>
            <a:chExt cx="3130119" cy="340134"/>
          </a:xfrm>
          <a:solidFill>
            <a:srgbClr val="00B050"/>
          </a:solidFill>
        </p:grpSpPr>
        <p:sp>
          <p:nvSpPr>
            <p:cNvPr id="2" name="Rectangle 1"/>
            <p:cNvSpPr/>
            <p:nvPr/>
          </p:nvSpPr>
          <p:spPr>
            <a:xfrm>
              <a:off x="1492971" y="258160"/>
              <a:ext cx="3130119" cy="323165"/>
            </a:xfrm>
            <a:prstGeom prst="rect">
              <a:avLst/>
            </a:prstGeom>
            <a:grpFill/>
            <a:ln>
              <a:solidFill>
                <a:srgbClr val="00B050"/>
              </a:solidFill>
            </a:ln>
          </p:spPr>
          <p:txBody>
            <a:bodyPr wrap="square" rtlCol="0">
              <a:spAutoFit/>
            </a:bodyPr>
            <a:lstStyle/>
            <a:p>
              <a:r>
                <a:rPr lang="en-IN" sz="1500" dirty="0" smtClean="0">
                  <a:solidFill>
                    <a:schemeClr val="bg1"/>
                  </a:solidFill>
                  <a:latin typeface="Bahnschrift Light" pitchFamily="34" charset="0"/>
                  <a:ea typeface="Arial Unicode MS" pitchFamily="34" charset="-128"/>
                  <a:cs typeface="Arial Unicode MS" pitchFamily="34" charset="-128"/>
                </a:rPr>
                <a:t>Activation Function</a:t>
              </a:r>
              <a:endParaRPr lang="en-IN" sz="1500" dirty="0">
                <a:solidFill>
                  <a:schemeClr val="bg1"/>
                </a:solidFill>
                <a:latin typeface="Bahnschrift Light" pitchFamily="34" charset="0"/>
                <a:ea typeface="Arial Unicode MS" pitchFamily="34" charset="-128"/>
                <a:cs typeface="Arial Unicode MS" pitchFamily="34" charset="-128"/>
              </a:endParaRPr>
            </a:p>
          </p:txBody>
        </p:sp>
        <p:cxnSp>
          <p:nvCxnSpPr>
            <p:cNvPr id="5" name="Straight Connector 4"/>
            <p:cNvCxnSpPr/>
            <p:nvPr/>
          </p:nvCxnSpPr>
          <p:spPr>
            <a:xfrm>
              <a:off x="1492971" y="598294"/>
              <a:ext cx="3130119" cy="0"/>
            </a:xfrm>
            <a:prstGeom prst="line">
              <a:avLst/>
            </a:prstGeom>
            <a:grpFill/>
            <a:ln>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504967" y="627797"/>
            <a:ext cx="12064621" cy="1893529"/>
            <a:chOff x="504967" y="627797"/>
            <a:chExt cx="12064621" cy="1893529"/>
          </a:xfrm>
        </p:grpSpPr>
        <p:sp>
          <p:nvSpPr>
            <p:cNvPr id="19" name="Rectangle 18"/>
            <p:cNvSpPr/>
            <p:nvPr/>
          </p:nvSpPr>
          <p:spPr>
            <a:xfrm>
              <a:off x="1423916" y="1034035"/>
              <a:ext cx="11145672" cy="338554"/>
            </a:xfrm>
            <a:prstGeom prst="rect">
              <a:avLst/>
            </a:prstGeom>
          </p:spPr>
          <p:txBody>
            <a:bodyPr wrap="square">
              <a:spAutoFit/>
            </a:bodyPr>
            <a:lstStyle/>
            <a:p>
              <a:r>
                <a:rPr lang="en-US" sz="1600" dirty="0" smtClean="0"/>
                <a:t>​</a:t>
              </a:r>
              <a:r>
                <a:rPr lang="en-US" sz="1600" dirty="0"/>
                <a:t>it is the rule that tells a neuron when to fire or </a:t>
              </a:r>
              <a:r>
                <a:rPr lang="en-US" sz="1600" dirty="0" smtClean="0"/>
                <a:t>when not</a:t>
              </a:r>
              <a:r>
                <a:rPr lang="en-US" sz="1600" dirty="0"/>
                <a:t> </a:t>
              </a:r>
            </a:p>
          </p:txBody>
        </p:sp>
        <p:sp>
          <p:nvSpPr>
            <p:cNvPr id="3" name="Freeform 2"/>
            <p:cNvSpPr/>
            <p:nvPr/>
          </p:nvSpPr>
          <p:spPr>
            <a:xfrm>
              <a:off x="641445" y="627797"/>
              <a:ext cx="914400" cy="559558"/>
            </a:xfrm>
            <a:custGeom>
              <a:avLst/>
              <a:gdLst>
                <a:gd name="connsiteX0" fmla="*/ 0 w 914400"/>
                <a:gd name="connsiteY0" fmla="*/ 0 h 559558"/>
                <a:gd name="connsiteX1" fmla="*/ 95534 w 914400"/>
                <a:gd name="connsiteY1" fmla="*/ 13648 h 559558"/>
                <a:gd name="connsiteX2" fmla="*/ 191068 w 914400"/>
                <a:gd name="connsiteY2" fmla="*/ 95534 h 559558"/>
                <a:gd name="connsiteX3" fmla="*/ 232012 w 914400"/>
                <a:gd name="connsiteY3" fmla="*/ 122830 h 559558"/>
                <a:gd name="connsiteX4" fmla="*/ 341194 w 914400"/>
                <a:gd name="connsiteY4" fmla="*/ 204716 h 559558"/>
                <a:gd name="connsiteX5" fmla="*/ 382137 w 914400"/>
                <a:gd name="connsiteY5" fmla="*/ 232012 h 559558"/>
                <a:gd name="connsiteX6" fmla="*/ 464024 w 914400"/>
                <a:gd name="connsiteY6" fmla="*/ 259307 h 559558"/>
                <a:gd name="connsiteX7" fmla="*/ 545910 w 914400"/>
                <a:gd name="connsiteY7" fmla="*/ 313899 h 559558"/>
                <a:gd name="connsiteX8" fmla="*/ 600501 w 914400"/>
                <a:gd name="connsiteY8" fmla="*/ 341194 h 559558"/>
                <a:gd name="connsiteX9" fmla="*/ 682388 w 914400"/>
                <a:gd name="connsiteY9" fmla="*/ 395785 h 559558"/>
                <a:gd name="connsiteX10" fmla="*/ 723331 w 914400"/>
                <a:gd name="connsiteY10" fmla="*/ 423081 h 559558"/>
                <a:gd name="connsiteX11" fmla="*/ 764274 w 914400"/>
                <a:gd name="connsiteY11" fmla="*/ 436728 h 559558"/>
                <a:gd name="connsiteX12" fmla="*/ 805218 w 914400"/>
                <a:gd name="connsiteY12" fmla="*/ 464024 h 559558"/>
                <a:gd name="connsiteX13" fmla="*/ 859809 w 914400"/>
                <a:gd name="connsiteY13" fmla="*/ 491319 h 559558"/>
                <a:gd name="connsiteX14" fmla="*/ 887104 w 914400"/>
                <a:gd name="connsiteY14" fmla="*/ 532263 h 559558"/>
                <a:gd name="connsiteX15" fmla="*/ 914400 w 914400"/>
                <a:gd name="connsiteY15" fmla="*/ 559558 h 559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4400" h="559558">
                  <a:moveTo>
                    <a:pt x="0" y="0"/>
                  </a:moveTo>
                  <a:cubicBezTo>
                    <a:pt x="31845" y="4549"/>
                    <a:pt x="65303" y="2655"/>
                    <a:pt x="95534" y="13648"/>
                  </a:cubicBezTo>
                  <a:cubicBezTo>
                    <a:pt x="131808" y="26838"/>
                    <a:pt x="162686" y="71882"/>
                    <a:pt x="191068" y="95534"/>
                  </a:cubicBezTo>
                  <a:cubicBezTo>
                    <a:pt x="203669" y="106035"/>
                    <a:pt x="218746" y="113182"/>
                    <a:pt x="232012" y="122830"/>
                  </a:cubicBezTo>
                  <a:cubicBezTo>
                    <a:pt x="268803" y="149587"/>
                    <a:pt x="303342" y="179481"/>
                    <a:pt x="341194" y="204716"/>
                  </a:cubicBezTo>
                  <a:cubicBezTo>
                    <a:pt x="354842" y="213815"/>
                    <a:pt x="367148" y="225350"/>
                    <a:pt x="382137" y="232012"/>
                  </a:cubicBezTo>
                  <a:cubicBezTo>
                    <a:pt x="408429" y="243697"/>
                    <a:pt x="464024" y="259307"/>
                    <a:pt x="464024" y="259307"/>
                  </a:cubicBezTo>
                  <a:cubicBezTo>
                    <a:pt x="491319" y="277504"/>
                    <a:pt x="516568" y="299228"/>
                    <a:pt x="545910" y="313899"/>
                  </a:cubicBezTo>
                  <a:cubicBezTo>
                    <a:pt x="564107" y="322997"/>
                    <a:pt x="583055" y="330727"/>
                    <a:pt x="600501" y="341194"/>
                  </a:cubicBezTo>
                  <a:cubicBezTo>
                    <a:pt x="628631" y="358072"/>
                    <a:pt x="655092" y="377588"/>
                    <a:pt x="682388" y="395785"/>
                  </a:cubicBezTo>
                  <a:cubicBezTo>
                    <a:pt x="696036" y="404884"/>
                    <a:pt x="707770" y="417894"/>
                    <a:pt x="723331" y="423081"/>
                  </a:cubicBezTo>
                  <a:lnTo>
                    <a:pt x="764274" y="436728"/>
                  </a:lnTo>
                  <a:cubicBezTo>
                    <a:pt x="777922" y="445827"/>
                    <a:pt x="790976" y="455886"/>
                    <a:pt x="805218" y="464024"/>
                  </a:cubicBezTo>
                  <a:cubicBezTo>
                    <a:pt x="822882" y="474118"/>
                    <a:pt x="844180" y="478295"/>
                    <a:pt x="859809" y="491319"/>
                  </a:cubicBezTo>
                  <a:cubicBezTo>
                    <a:pt x="872410" y="501820"/>
                    <a:pt x="876857" y="519455"/>
                    <a:pt x="887104" y="532263"/>
                  </a:cubicBezTo>
                  <a:cubicBezTo>
                    <a:pt x="895142" y="542311"/>
                    <a:pt x="905301" y="550460"/>
                    <a:pt x="914400" y="559558"/>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4" name="Freeform 3"/>
            <p:cNvSpPr/>
            <p:nvPr/>
          </p:nvSpPr>
          <p:spPr>
            <a:xfrm>
              <a:off x="504967" y="655093"/>
              <a:ext cx="1009934" cy="1351128"/>
            </a:xfrm>
            <a:custGeom>
              <a:avLst/>
              <a:gdLst>
                <a:gd name="connsiteX0" fmla="*/ 136478 w 1009934"/>
                <a:gd name="connsiteY0" fmla="*/ 0 h 1351128"/>
                <a:gd name="connsiteX1" fmla="*/ 122830 w 1009934"/>
                <a:gd name="connsiteY1" fmla="*/ 109182 h 1351128"/>
                <a:gd name="connsiteX2" fmla="*/ 109182 w 1009934"/>
                <a:gd name="connsiteY2" fmla="*/ 150125 h 1351128"/>
                <a:gd name="connsiteX3" fmla="*/ 95534 w 1009934"/>
                <a:gd name="connsiteY3" fmla="*/ 232011 h 1351128"/>
                <a:gd name="connsiteX4" fmla="*/ 40943 w 1009934"/>
                <a:gd name="connsiteY4" fmla="*/ 409432 h 1351128"/>
                <a:gd name="connsiteX5" fmla="*/ 27296 w 1009934"/>
                <a:gd name="connsiteY5" fmla="*/ 504967 h 1351128"/>
                <a:gd name="connsiteX6" fmla="*/ 13648 w 1009934"/>
                <a:gd name="connsiteY6" fmla="*/ 573206 h 1351128"/>
                <a:gd name="connsiteX7" fmla="*/ 0 w 1009934"/>
                <a:gd name="connsiteY7" fmla="*/ 709683 h 1351128"/>
                <a:gd name="connsiteX8" fmla="*/ 27296 w 1009934"/>
                <a:gd name="connsiteY8" fmla="*/ 928047 h 1351128"/>
                <a:gd name="connsiteX9" fmla="*/ 68239 w 1009934"/>
                <a:gd name="connsiteY9" fmla="*/ 968991 h 1351128"/>
                <a:gd name="connsiteX10" fmla="*/ 81887 w 1009934"/>
                <a:gd name="connsiteY10" fmla="*/ 1009934 h 1351128"/>
                <a:gd name="connsiteX11" fmla="*/ 218364 w 1009934"/>
                <a:gd name="connsiteY11" fmla="*/ 1119116 h 1351128"/>
                <a:gd name="connsiteX12" fmla="*/ 368490 w 1009934"/>
                <a:gd name="connsiteY12" fmla="*/ 1201003 h 1351128"/>
                <a:gd name="connsiteX13" fmla="*/ 423081 w 1009934"/>
                <a:gd name="connsiteY13" fmla="*/ 1228298 h 1351128"/>
                <a:gd name="connsiteX14" fmla="*/ 491320 w 1009934"/>
                <a:gd name="connsiteY14" fmla="*/ 1282889 h 1351128"/>
                <a:gd name="connsiteX15" fmla="*/ 573206 w 1009934"/>
                <a:gd name="connsiteY15" fmla="*/ 1310185 h 1351128"/>
                <a:gd name="connsiteX16" fmla="*/ 614149 w 1009934"/>
                <a:gd name="connsiteY16" fmla="*/ 1323832 h 1351128"/>
                <a:gd name="connsiteX17" fmla="*/ 655093 w 1009934"/>
                <a:gd name="connsiteY17" fmla="*/ 1337480 h 1351128"/>
                <a:gd name="connsiteX18" fmla="*/ 723332 w 1009934"/>
                <a:gd name="connsiteY18" fmla="*/ 1351128 h 1351128"/>
                <a:gd name="connsiteX19" fmla="*/ 928048 w 1009934"/>
                <a:gd name="connsiteY19" fmla="*/ 1337480 h 1351128"/>
                <a:gd name="connsiteX20" fmla="*/ 968991 w 1009934"/>
                <a:gd name="connsiteY20" fmla="*/ 1323832 h 1351128"/>
                <a:gd name="connsiteX21" fmla="*/ 1009934 w 1009934"/>
                <a:gd name="connsiteY21" fmla="*/ 1282889 h 135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09934" h="1351128">
                  <a:moveTo>
                    <a:pt x="136478" y="0"/>
                  </a:moveTo>
                  <a:cubicBezTo>
                    <a:pt x="131929" y="36394"/>
                    <a:pt x="129391" y="73096"/>
                    <a:pt x="122830" y="109182"/>
                  </a:cubicBezTo>
                  <a:cubicBezTo>
                    <a:pt x="120257" y="123336"/>
                    <a:pt x="112303" y="136082"/>
                    <a:pt x="109182" y="150125"/>
                  </a:cubicBezTo>
                  <a:cubicBezTo>
                    <a:pt x="103179" y="177138"/>
                    <a:pt x="101332" y="204953"/>
                    <a:pt x="95534" y="232011"/>
                  </a:cubicBezTo>
                  <a:cubicBezTo>
                    <a:pt x="72522" y="339399"/>
                    <a:pt x="75495" y="323056"/>
                    <a:pt x="40943" y="409432"/>
                  </a:cubicBezTo>
                  <a:cubicBezTo>
                    <a:pt x="36394" y="441277"/>
                    <a:pt x="32584" y="473236"/>
                    <a:pt x="27296" y="504967"/>
                  </a:cubicBezTo>
                  <a:cubicBezTo>
                    <a:pt x="23483" y="527848"/>
                    <a:pt x="16714" y="550213"/>
                    <a:pt x="13648" y="573206"/>
                  </a:cubicBezTo>
                  <a:cubicBezTo>
                    <a:pt x="7605" y="618524"/>
                    <a:pt x="4549" y="664191"/>
                    <a:pt x="0" y="709683"/>
                  </a:cubicBezTo>
                  <a:cubicBezTo>
                    <a:pt x="9099" y="782471"/>
                    <a:pt x="8628" y="857108"/>
                    <a:pt x="27296" y="928047"/>
                  </a:cubicBezTo>
                  <a:cubicBezTo>
                    <a:pt x="32208" y="946712"/>
                    <a:pt x="57533" y="952932"/>
                    <a:pt x="68239" y="968991"/>
                  </a:cubicBezTo>
                  <a:cubicBezTo>
                    <a:pt x="76219" y="980961"/>
                    <a:pt x="73525" y="998228"/>
                    <a:pt x="81887" y="1009934"/>
                  </a:cubicBezTo>
                  <a:cubicBezTo>
                    <a:pt x="117245" y="1059434"/>
                    <a:pt x="169153" y="1086309"/>
                    <a:pt x="218364" y="1119116"/>
                  </a:cubicBezTo>
                  <a:cubicBezTo>
                    <a:pt x="293154" y="1168976"/>
                    <a:pt x="244663" y="1139089"/>
                    <a:pt x="368490" y="1201003"/>
                  </a:cubicBezTo>
                  <a:cubicBezTo>
                    <a:pt x="386687" y="1210102"/>
                    <a:pt x="407194" y="1215589"/>
                    <a:pt x="423081" y="1228298"/>
                  </a:cubicBezTo>
                  <a:cubicBezTo>
                    <a:pt x="445827" y="1246495"/>
                    <a:pt x="465747" y="1268940"/>
                    <a:pt x="491320" y="1282889"/>
                  </a:cubicBezTo>
                  <a:cubicBezTo>
                    <a:pt x="516579" y="1296667"/>
                    <a:pt x="545911" y="1301087"/>
                    <a:pt x="573206" y="1310185"/>
                  </a:cubicBezTo>
                  <a:lnTo>
                    <a:pt x="614149" y="1323832"/>
                  </a:lnTo>
                  <a:cubicBezTo>
                    <a:pt x="627797" y="1328381"/>
                    <a:pt x="640986" y="1334659"/>
                    <a:pt x="655093" y="1337480"/>
                  </a:cubicBezTo>
                  <a:lnTo>
                    <a:pt x="723332" y="1351128"/>
                  </a:lnTo>
                  <a:cubicBezTo>
                    <a:pt x="791571" y="1346579"/>
                    <a:pt x="860076" y="1345033"/>
                    <a:pt x="928048" y="1337480"/>
                  </a:cubicBezTo>
                  <a:cubicBezTo>
                    <a:pt x="942346" y="1335891"/>
                    <a:pt x="957757" y="1332819"/>
                    <a:pt x="968991" y="1323832"/>
                  </a:cubicBezTo>
                  <a:cubicBezTo>
                    <a:pt x="1024901" y="1279104"/>
                    <a:pt x="972649" y="1282889"/>
                    <a:pt x="1009934" y="1282889"/>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6" name="Rectangle 5"/>
            <p:cNvSpPr/>
            <p:nvPr/>
          </p:nvSpPr>
          <p:spPr>
            <a:xfrm>
              <a:off x="1592422" y="1659552"/>
              <a:ext cx="10308426" cy="861774"/>
            </a:xfrm>
            <a:prstGeom prst="rect">
              <a:avLst/>
            </a:prstGeom>
          </p:spPr>
          <p:txBody>
            <a:bodyPr wrap="square">
              <a:spAutoFit/>
            </a:bodyPr>
            <a:lstStyle/>
            <a:p>
              <a:r>
                <a:rPr lang="en-US" sz="1600" dirty="0"/>
                <a:t>A Node, that is nothing but a replica of neuron, when it receives multiple input signals depending  on the nature of input signal we combine them and pass in a function that we called activation fn. </a:t>
              </a:r>
              <a:endParaRPr lang="en-US" sz="1600" dirty="0" smtClean="0"/>
            </a:p>
            <a:p>
              <a:r>
                <a:rPr lang="en-US" sz="1600" dirty="0"/>
                <a:t>Depending upon the input intensity </a:t>
              </a:r>
              <a:r>
                <a:rPr lang="en-US" sz="1600" dirty="0" smtClean="0"/>
                <a:t>it is defined  the output</a:t>
              </a:r>
              <a:r>
                <a:rPr lang="en-US" sz="1600" dirty="0"/>
                <a:t>. </a:t>
              </a:r>
              <a:endParaRPr lang="en-IN" sz="1600" dirty="0"/>
            </a:p>
          </p:txBody>
        </p:sp>
      </p:grpSp>
      <p:grpSp>
        <p:nvGrpSpPr>
          <p:cNvPr id="12" name="Group 11"/>
          <p:cNvGrpSpPr/>
          <p:nvPr/>
        </p:nvGrpSpPr>
        <p:grpSpPr>
          <a:xfrm>
            <a:off x="2033516" y="2666593"/>
            <a:ext cx="5306200" cy="3748252"/>
            <a:chOff x="2033516" y="2666593"/>
            <a:chExt cx="5306200" cy="3748252"/>
          </a:xfrm>
        </p:grpSpPr>
        <p:sp>
          <p:nvSpPr>
            <p:cNvPr id="8" name="TextBox 7"/>
            <p:cNvSpPr txBox="1"/>
            <p:nvPr/>
          </p:nvSpPr>
          <p:spPr>
            <a:xfrm>
              <a:off x="2033516" y="2666593"/>
              <a:ext cx="1444626" cy="307777"/>
            </a:xfrm>
            <a:prstGeom prst="rect">
              <a:avLst/>
            </a:prstGeom>
            <a:solidFill>
              <a:srgbClr val="92D050"/>
            </a:solidFill>
            <a:ln w="28575">
              <a:solidFill>
                <a:srgbClr val="00D05E"/>
              </a:solidFill>
            </a:ln>
          </p:spPr>
          <p:txBody>
            <a:bodyPr wrap="none" rtlCol="0">
              <a:spAutoFit/>
            </a:bodyPr>
            <a:lstStyle/>
            <a:p>
              <a:r>
                <a:rPr lang="en-US" sz="1400" dirty="0">
                  <a:latin typeface="Bahnschrift SemiLight" pitchFamily="34" charset="0"/>
                </a:rPr>
                <a:t>Linear Function</a:t>
              </a:r>
              <a:endParaRPr lang="en-IN" sz="1400" dirty="0">
                <a:latin typeface="Bahnschrift SemiLight" pitchFamily="34" charset="0"/>
              </a:endParaRPr>
            </a:p>
          </p:txBody>
        </p:sp>
        <p:sp>
          <p:nvSpPr>
            <p:cNvPr id="27" name="TextBox 26"/>
            <p:cNvSpPr txBox="1"/>
            <p:nvPr/>
          </p:nvSpPr>
          <p:spPr>
            <a:xfrm>
              <a:off x="5726774" y="2666593"/>
              <a:ext cx="1612942" cy="307777"/>
            </a:xfrm>
            <a:prstGeom prst="rect">
              <a:avLst/>
            </a:prstGeom>
            <a:solidFill>
              <a:srgbClr val="15C2FF"/>
            </a:solidFill>
            <a:ln w="38100">
              <a:solidFill>
                <a:srgbClr val="00B0F0"/>
              </a:solidFill>
            </a:ln>
          </p:spPr>
          <p:txBody>
            <a:bodyPr wrap="none" rtlCol="0">
              <a:spAutoFit/>
            </a:bodyPr>
            <a:lstStyle/>
            <a:p>
              <a:r>
                <a:rPr lang="en-US" sz="1400" dirty="0">
                  <a:latin typeface="Bahnschrift SemiLight" pitchFamily="34" charset="0"/>
                </a:rPr>
                <a:t>Hevi side function</a:t>
              </a:r>
              <a:endParaRPr lang="en-IN" sz="1400" dirty="0">
                <a:latin typeface="Bahnschrift SemiLight" pitchFamily="34" charset="0"/>
              </a:endParaRPr>
            </a:p>
          </p:txBody>
        </p:sp>
        <p:cxnSp>
          <p:nvCxnSpPr>
            <p:cNvPr id="10" name="Straight Connector 9"/>
            <p:cNvCxnSpPr/>
            <p:nvPr/>
          </p:nvCxnSpPr>
          <p:spPr>
            <a:xfrm>
              <a:off x="5213445" y="2811439"/>
              <a:ext cx="0" cy="3603406"/>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3" name="Group 52"/>
          <p:cNvGrpSpPr/>
          <p:nvPr/>
        </p:nvGrpSpPr>
        <p:grpSpPr>
          <a:xfrm>
            <a:off x="607325" y="3365890"/>
            <a:ext cx="3617822" cy="3048955"/>
            <a:chOff x="607325" y="3712191"/>
            <a:chExt cx="3617822" cy="3048955"/>
          </a:xfrm>
        </p:grpSpPr>
        <p:sp>
          <p:nvSpPr>
            <p:cNvPr id="13" name="TextBox 12"/>
            <p:cNvSpPr txBox="1"/>
            <p:nvPr/>
          </p:nvSpPr>
          <p:spPr>
            <a:xfrm>
              <a:off x="607325" y="3821374"/>
              <a:ext cx="893193" cy="338554"/>
            </a:xfrm>
            <a:prstGeom prst="rect">
              <a:avLst/>
            </a:prstGeom>
            <a:noFill/>
          </p:spPr>
          <p:txBody>
            <a:bodyPr wrap="none" rtlCol="0">
              <a:spAutoFit/>
            </a:bodyPr>
            <a:lstStyle/>
            <a:p>
              <a:r>
                <a:rPr lang="en-US" sz="1600" dirty="0" smtClean="0"/>
                <a:t>F(v)=a+v</a:t>
              </a:r>
              <a:endParaRPr lang="en-IN" sz="1600" dirty="0"/>
            </a:p>
          </p:txBody>
        </p:sp>
        <p:sp>
          <p:nvSpPr>
            <p:cNvPr id="14" name="TextBox 13"/>
            <p:cNvSpPr txBox="1"/>
            <p:nvPr/>
          </p:nvSpPr>
          <p:spPr>
            <a:xfrm>
              <a:off x="2006712" y="3816403"/>
              <a:ext cx="716863" cy="338554"/>
            </a:xfrm>
            <a:prstGeom prst="rect">
              <a:avLst/>
            </a:prstGeom>
            <a:noFill/>
          </p:spPr>
          <p:txBody>
            <a:bodyPr wrap="none" rtlCol="0">
              <a:spAutoFit/>
            </a:bodyPr>
            <a:lstStyle/>
            <a:p>
              <a:r>
                <a:rPr lang="en-US" sz="1600" dirty="0" smtClean="0"/>
                <a:t>a=bias</a:t>
              </a:r>
              <a:endParaRPr lang="en-IN" sz="1600" dirty="0"/>
            </a:p>
          </p:txBody>
        </p:sp>
        <p:sp>
          <p:nvSpPr>
            <p:cNvPr id="33" name="TextBox 32"/>
            <p:cNvSpPr txBox="1"/>
            <p:nvPr/>
          </p:nvSpPr>
          <p:spPr>
            <a:xfrm>
              <a:off x="3157482" y="3830051"/>
              <a:ext cx="872355" cy="338554"/>
            </a:xfrm>
            <a:prstGeom prst="rect">
              <a:avLst/>
            </a:prstGeom>
            <a:noFill/>
          </p:spPr>
          <p:txBody>
            <a:bodyPr wrap="none" rtlCol="0">
              <a:spAutoFit/>
            </a:bodyPr>
            <a:lstStyle/>
            <a:p>
              <a:r>
                <a:rPr lang="en-US" sz="1600" dirty="0" smtClean="0"/>
                <a:t>v=</a:t>
              </a:r>
              <a:r>
                <a:rPr lang="en-IN" sz="1600" dirty="0" smtClean="0"/>
                <a:t>∑WiXi</a:t>
              </a:r>
              <a:endParaRPr lang="en-IN" sz="1600" dirty="0"/>
            </a:p>
          </p:txBody>
        </p:sp>
        <p:sp>
          <p:nvSpPr>
            <p:cNvPr id="17" name="TextBox 16"/>
            <p:cNvSpPr txBox="1"/>
            <p:nvPr/>
          </p:nvSpPr>
          <p:spPr>
            <a:xfrm>
              <a:off x="3157482" y="4186099"/>
              <a:ext cx="1067665" cy="307777"/>
            </a:xfrm>
            <a:prstGeom prst="rect">
              <a:avLst/>
            </a:prstGeom>
            <a:noFill/>
          </p:spPr>
          <p:txBody>
            <a:bodyPr wrap="none" rtlCol="0">
              <a:spAutoFit/>
            </a:bodyPr>
            <a:lstStyle/>
            <a:p>
              <a:r>
                <a:rPr lang="en-US" sz="1400" dirty="0" smtClean="0"/>
                <a:t>Weight Sum</a:t>
              </a:r>
              <a:endParaRPr lang="en-IN" sz="1400" dirty="0"/>
            </a:p>
          </p:txBody>
        </p:sp>
        <p:cxnSp>
          <p:nvCxnSpPr>
            <p:cNvPr id="23" name="Straight Connector 22"/>
            <p:cNvCxnSpPr/>
            <p:nvPr/>
          </p:nvCxnSpPr>
          <p:spPr>
            <a:xfrm>
              <a:off x="2006712" y="3712191"/>
              <a:ext cx="0" cy="1037230"/>
            </a:xfrm>
            <a:prstGeom prst="line">
              <a:avLst/>
            </a:prstGeom>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641445" y="5008728"/>
              <a:ext cx="3125435" cy="1752418"/>
              <a:chOff x="641445" y="5008728"/>
              <a:chExt cx="3125435" cy="1752418"/>
            </a:xfrm>
          </p:grpSpPr>
          <p:grpSp>
            <p:nvGrpSpPr>
              <p:cNvPr id="43" name="Group 42"/>
              <p:cNvGrpSpPr/>
              <p:nvPr/>
            </p:nvGrpSpPr>
            <p:grpSpPr>
              <a:xfrm>
                <a:off x="641445" y="5008728"/>
                <a:ext cx="2784143" cy="1583141"/>
                <a:chOff x="641445" y="5008728"/>
                <a:chExt cx="2784143" cy="1583141"/>
              </a:xfrm>
            </p:grpSpPr>
            <p:cxnSp>
              <p:nvCxnSpPr>
                <p:cNvPr id="37" name="Straight Connector 36"/>
                <p:cNvCxnSpPr/>
                <p:nvPr/>
              </p:nvCxnSpPr>
              <p:spPr>
                <a:xfrm>
                  <a:off x="641445" y="5950424"/>
                  <a:ext cx="2784143" cy="27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006712" y="5008728"/>
                  <a:ext cx="0" cy="1583141"/>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1326107" y="5227093"/>
                  <a:ext cx="1414818" cy="1364776"/>
                </a:xfrm>
                <a:prstGeom prst="line">
                  <a:avLst/>
                </a:prstGeom>
              </p:spPr>
              <p:style>
                <a:lnRef idx="1">
                  <a:schemeClr val="accent1"/>
                </a:lnRef>
                <a:fillRef idx="0">
                  <a:schemeClr val="accent1"/>
                </a:fillRef>
                <a:effectRef idx="0">
                  <a:schemeClr val="accent1"/>
                </a:effectRef>
                <a:fontRef idx="minor">
                  <a:schemeClr val="tx1"/>
                </a:fontRef>
              </p:style>
            </p:cxnSp>
          </p:grpSp>
          <p:sp>
            <p:nvSpPr>
              <p:cNvPr id="44" name="TextBox 43"/>
              <p:cNvSpPr txBox="1"/>
              <p:nvPr/>
            </p:nvSpPr>
            <p:spPr>
              <a:xfrm>
                <a:off x="3157482" y="5950424"/>
                <a:ext cx="609398" cy="307777"/>
              </a:xfrm>
              <a:prstGeom prst="rect">
                <a:avLst/>
              </a:prstGeom>
              <a:noFill/>
            </p:spPr>
            <p:txBody>
              <a:bodyPr wrap="none" rtlCol="0">
                <a:spAutoFit/>
              </a:bodyPr>
              <a:lstStyle/>
              <a:p>
                <a:r>
                  <a:rPr lang="en-US" sz="1400" b="1" dirty="0" smtClean="0"/>
                  <a:t>X axis</a:t>
                </a:r>
                <a:endParaRPr lang="en-IN" sz="1400" b="1" dirty="0"/>
              </a:p>
            </p:txBody>
          </p:sp>
          <p:sp>
            <p:nvSpPr>
              <p:cNvPr id="48" name="TextBox 47"/>
              <p:cNvSpPr txBox="1"/>
              <p:nvPr/>
            </p:nvSpPr>
            <p:spPr>
              <a:xfrm>
                <a:off x="1829227" y="6453369"/>
                <a:ext cx="602986" cy="307777"/>
              </a:xfrm>
              <a:prstGeom prst="rect">
                <a:avLst/>
              </a:prstGeom>
              <a:noFill/>
            </p:spPr>
            <p:txBody>
              <a:bodyPr wrap="none" rtlCol="0">
                <a:spAutoFit/>
              </a:bodyPr>
              <a:lstStyle/>
              <a:p>
                <a:r>
                  <a:rPr lang="en-US" sz="1400" b="1" dirty="0" smtClean="0"/>
                  <a:t>Y axis</a:t>
                </a:r>
                <a:endParaRPr lang="en-IN" sz="1400" b="1" dirty="0"/>
              </a:p>
            </p:txBody>
          </p:sp>
        </p:grpSp>
      </p:grpSp>
      <p:grpSp>
        <p:nvGrpSpPr>
          <p:cNvPr id="52" name="Group 51"/>
          <p:cNvGrpSpPr/>
          <p:nvPr/>
        </p:nvGrpSpPr>
        <p:grpSpPr>
          <a:xfrm>
            <a:off x="5539832" y="3220872"/>
            <a:ext cx="2988250" cy="1581091"/>
            <a:chOff x="5539832" y="3220872"/>
            <a:chExt cx="2988250" cy="1581091"/>
          </a:xfrm>
        </p:grpSpPr>
        <p:grpSp>
          <p:nvGrpSpPr>
            <p:cNvPr id="47" name="Group 46"/>
            <p:cNvGrpSpPr/>
            <p:nvPr/>
          </p:nvGrpSpPr>
          <p:grpSpPr>
            <a:xfrm>
              <a:off x="5539832" y="3220872"/>
              <a:ext cx="1406878" cy="1148870"/>
              <a:chOff x="5539832" y="3220872"/>
              <a:chExt cx="1406878" cy="1148870"/>
            </a:xfrm>
          </p:grpSpPr>
          <p:sp>
            <p:nvSpPr>
              <p:cNvPr id="50" name="TextBox 49"/>
              <p:cNvSpPr txBox="1"/>
              <p:nvPr/>
            </p:nvSpPr>
            <p:spPr>
              <a:xfrm>
                <a:off x="5539832" y="3482820"/>
                <a:ext cx="599844" cy="338554"/>
              </a:xfrm>
              <a:prstGeom prst="rect">
                <a:avLst/>
              </a:prstGeom>
              <a:noFill/>
            </p:spPr>
            <p:txBody>
              <a:bodyPr wrap="none" rtlCol="0">
                <a:spAutoFit/>
              </a:bodyPr>
              <a:lstStyle/>
              <a:p>
                <a:r>
                  <a:rPr lang="en-US" sz="1600" dirty="0" smtClean="0"/>
                  <a:t>F(v)=</a:t>
                </a:r>
                <a:endParaRPr lang="en-IN" sz="1600" dirty="0"/>
              </a:p>
            </p:txBody>
          </p:sp>
          <p:sp>
            <p:nvSpPr>
              <p:cNvPr id="46" name="Freeform 45"/>
              <p:cNvSpPr/>
              <p:nvPr/>
            </p:nvSpPr>
            <p:spPr>
              <a:xfrm>
                <a:off x="6209731" y="3220872"/>
                <a:ext cx="736979" cy="1148870"/>
              </a:xfrm>
              <a:custGeom>
                <a:avLst/>
                <a:gdLst>
                  <a:gd name="connsiteX0" fmla="*/ 736979 w 736979"/>
                  <a:gd name="connsiteY0" fmla="*/ 13647 h 1148870"/>
                  <a:gd name="connsiteX1" fmla="*/ 655093 w 736979"/>
                  <a:gd name="connsiteY1" fmla="*/ 0 h 1148870"/>
                  <a:gd name="connsiteX2" fmla="*/ 327547 w 736979"/>
                  <a:gd name="connsiteY2" fmla="*/ 27295 h 1148870"/>
                  <a:gd name="connsiteX3" fmla="*/ 286603 w 736979"/>
                  <a:gd name="connsiteY3" fmla="*/ 54591 h 1148870"/>
                  <a:gd name="connsiteX4" fmla="*/ 245660 w 736979"/>
                  <a:gd name="connsiteY4" fmla="*/ 68238 h 1148870"/>
                  <a:gd name="connsiteX5" fmla="*/ 191069 w 736979"/>
                  <a:gd name="connsiteY5" fmla="*/ 109182 h 1148870"/>
                  <a:gd name="connsiteX6" fmla="*/ 136478 w 736979"/>
                  <a:gd name="connsiteY6" fmla="*/ 136477 h 1148870"/>
                  <a:gd name="connsiteX7" fmla="*/ 54591 w 736979"/>
                  <a:gd name="connsiteY7" fmla="*/ 232012 h 1148870"/>
                  <a:gd name="connsiteX8" fmla="*/ 27296 w 736979"/>
                  <a:gd name="connsiteY8" fmla="*/ 327546 h 1148870"/>
                  <a:gd name="connsiteX9" fmla="*/ 0 w 736979"/>
                  <a:gd name="connsiteY9" fmla="*/ 423080 h 1148870"/>
                  <a:gd name="connsiteX10" fmla="*/ 13648 w 736979"/>
                  <a:gd name="connsiteY10" fmla="*/ 723331 h 1148870"/>
                  <a:gd name="connsiteX11" fmla="*/ 109182 w 736979"/>
                  <a:gd name="connsiteY11" fmla="*/ 873456 h 1148870"/>
                  <a:gd name="connsiteX12" fmla="*/ 204717 w 736979"/>
                  <a:gd name="connsiteY12" fmla="*/ 982638 h 1148870"/>
                  <a:gd name="connsiteX13" fmla="*/ 286603 w 736979"/>
                  <a:gd name="connsiteY13" fmla="*/ 1037229 h 1148870"/>
                  <a:gd name="connsiteX14" fmla="*/ 395785 w 736979"/>
                  <a:gd name="connsiteY14" fmla="*/ 1105468 h 1148870"/>
                  <a:gd name="connsiteX15" fmla="*/ 450376 w 736979"/>
                  <a:gd name="connsiteY15" fmla="*/ 1132764 h 1148870"/>
                  <a:gd name="connsiteX16" fmla="*/ 641445 w 736979"/>
                  <a:gd name="connsiteY16" fmla="*/ 1146412 h 1148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36979" h="1148870">
                    <a:moveTo>
                      <a:pt x="736979" y="13647"/>
                    </a:moveTo>
                    <a:cubicBezTo>
                      <a:pt x="709684" y="9098"/>
                      <a:pt x="682765" y="0"/>
                      <a:pt x="655093" y="0"/>
                    </a:cubicBezTo>
                    <a:cubicBezTo>
                      <a:pt x="446949" y="0"/>
                      <a:pt x="460740" y="656"/>
                      <a:pt x="327547" y="27295"/>
                    </a:cubicBezTo>
                    <a:cubicBezTo>
                      <a:pt x="313899" y="36394"/>
                      <a:pt x="301274" y="47255"/>
                      <a:pt x="286603" y="54591"/>
                    </a:cubicBezTo>
                    <a:cubicBezTo>
                      <a:pt x="273736" y="61024"/>
                      <a:pt x="258150" y="61101"/>
                      <a:pt x="245660" y="68238"/>
                    </a:cubicBezTo>
                    <a:cubicBezTo>
                      <a:pt x="225911" y="79523"/>
                      <a:pt x="210358" y="97126"/>
                      <a:pt x="191069" y="109182"/>
                    </a:cubicBezTo>
                    <a:cubicBezTo>
                      <a:pt x="173817" y="119965"/>
                      <a:pt x="154675" y="127379"/>
                      <a:pt x="136478" y="136477"/>
                    </a:cubicBezTo>
                    <a:cubicBezTo>
                      <a:pt x="104214" y="168742"/>
                      <a:pt x="77933" y="191164"/>
                      <a:pt x="54591" y="232012"/>
                    </a:cubicBezTo>
                    <a:cubicBezTo>
                      <a:pt x="45244" y="248369"/>
                      <a:pt x="31093" y="314257"/>
                      <a:pt x="27296" y="327546"/>
                    </a:cubicBezTo>
                    <a:cubicBezTo>
                      <a:pt x="-11863" y="464601"/>
                      <a:pt x="42666" y="252419"/>
                      <a:pt x="0" y="423080"/>
                    </a:cubicBezTo>
                    <a:cubicBezTo>
                      <a:pt x="4549" y="523164"/>
                      <a:pt x="-1034" y="624226"/>
                      <a:pt x="13648" y="723331"/>
                    </a:cubicBezTo>
                    <a:cubicBezTo>
                      <a:pt x="15481" y="735706"/>
                      <a:pt x="109116" y="873373"/>
                      <a:pt x="109182" y="873456"/>
                    </a:cubicBezTo>
                    <a:cubicBezTo>
                      <a:pt x="132127" y="902137"/>
                      <a:pt x="172133" y="957295"/>
                      <a:pt x="204717" y="982638"/>
                    </a:cubicBezTo>
                    <a:cubicBezTo>
                      <a:pt x="230612" y="1002778"/>
                      <a:pt x="286603" y="1037229"/>
                      <a:pt x="286603" y="1037229"/>
                    </a:cubicBezTo>
                    <a:cubicBezTo>
                      <a:pt x="333226" y="1107163"/>
                      <a:pt x="292431" y="1064126"/>
                      <a:pt x="395785" y="1105468"/>
                    </a:cubicBezTo>
                    <a:cubicBezTo>
                      <a:pt x="414675" y="1113024"/>
                      <a:pt x="431326" y="1125620"/>
                      <a:pt x="450376" y="1132764"/>
                    </a:cubicBezTo>
                    <a:cubicBezTo>
                      <a:pt x="516193" y="1157446"/>
                      <a:pt x="566026" y="1146412"/>
                      <a:pt x="641445" y="1146412"/>
                    </a:cubicBezTo>
                  </a:path>
                </a:pathLst>
              </a:cu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grpSp>
          <p:nvGrpSpPr>
            <p:cNvPr id="51" name="Group 50"/>
            <p:cNvGrpSpPr/>
            <p:nvPr/>
          </p:nvGrpSpPr>
          <p:grpSpPr>
            <a:xfrm>
              <a:off x="6556039" y="3299054"/>
              <a:ext cx="319798" cy="870197"/>
              <a:chOff x="6556039" y="3299054"/>
              <a:chExt cx="319798" cy="870197"/>
            </a:xfrm>
          </p:grpSpPr>
          <p:sp>
            <p:nvSpPr>
              <p:cNvPr id="49" name="TextBox 48"/>
              <p:cNvSpPr txBox="1"/>
              <p:nvPr/>
            </p:nvSpPr>
            <p:spPr>
              <a:xfrm>
                <a:off x="6588579" y="3299054"/>
                <a:ext cx="287258" cy="307777"/>
              </a:xfrm>
              <a:prstGeom prst="rect">
                <a:avLst/>
              </a:prstGeom>
              <a:noFill/>
            </p:spPr>
            <p:txBody>
              <a:bodyPr wrap="none" rtlCol="0">
                <a:spAutoFit/>
              </a:bodyPr>
              <a:lstStyle/>
              <a:p>
                <a:r>
                  <a:rPr lang="en-US" sz="1400" dirty="0" smtClean="0"/>
                  <a:t>V</a:t>
                </a:r>
                <a:endParaRPr lang="en-IN" sz="1400" dirty="0"/>
              </a:p>
            </p:txBody>
          </p:sp>
          <p:sp>
            <p:nvSpPr>
              <p:cNvPr id="54" name="TextBox 53"/>
              <p:cNvSpPr txBox="1"/>
              <p:nvPr/>
            </p:nvSpPr>
            <p:spPr>
              <a:xfrm>
                <a:off x="6556039" y="3861474"/>
                <a:ext cx="276038" cy="307777"/>
              </a:xfrm>
              <a:prstGeom prst="rect">
                <a:avLst/>
              </a:prstGeom>
              <a:noFill/>
            </p:spPr>
            <p:txBody>
              <a:bodyPr wrap="none" rtlCol="0">
                <a:spAutoFit/>
              </a:bodyPr>
              <a:lstStyle/>
              <a:p>
                <a:r>
                  <a:rPr lang="en-US" sz="1400" dirty="0" smtClean="0"/>
                  <a:t>0</a:t>
                </a:r>
                <a:endParaRPr lang="en-IN" sz="1400" dirty="0"/>
              </a:p>
            </p:txBody>
          </p:sp>
        </p:grpSp>
        <p:sp>
          <p:nvSpPr>
            <p:cNvPr id="56" name="TextBox 55"/>
            <p:cNvSpPr txBox="1"/>
            <p:nvPr/>
          </p:nvSpPr>
          <p:spPr>
            <a:xfrm>
              <a:off x="7496504" y="3264853"/>
              <a:ext cx="764953" cy="338554"/>
            </a:xfrm>
            <a:prstGeom prst="rect">
              <a:avLst/>
            </a:prstGeom>
            <a:noFill/>
          </p:spPr>
          <p:txBody>
            <a:bodyPr wrap="none" rtlCol="0">
              <a:spAutoFit/>
            </a:bodyPr>
            <a:lstStyle/>
            <a:p>
              <a:r>
                <a:rPr lang="en-US" sz="1600" dirty="0" smtClean="0"/>
                <a:t>If V&gt;&gt;a</a:t>
              </a:r>
              <a:endParaRPr lang="en-IN" sz="1600" dirty="0"/>
            </a:p>
          </p:txBody>
        </p:sp>
        <p:sp>
          <p:nvSpPr>
            <p:cNvPr id="57" name="TextBox 56"/>
            <p:cNvSpPr txBox="1"/>
            <p:nvPr/>
          </p:nvSpPr>
          <p:spPr>
            <a:xfrm>
              <a:off x="7478307" y="3830697"/>
              <a:ext cx="1049775" cy="338554"/>
            </a:xfrm>
            <a:prstGeom prst="rect">
              <a:avLst/>
            </a:prstGeom>
            <a:noFill/>
          </p:spPr>
          <p:txBody>
            <a:bodyPr wrap="none" rtlCol="0">
              <a:spAutoFit/>
            </a:bodyPr>
            <a:lstStyle/>
            <a:p>
              <a:r>
                <a:rPr lang="en-US" sz="1600" dirty="0" smtClean="0"/>
                <a:t>Otherwise</a:t>
              </a:r>
              <a:endParaRPr lang="en-IN" sz="1600" dirty="0"/>
            </a:p>
          </p:txBody>
        </p:sp>
        <p:sp>
          <p:nvSpPr>
            <p:cNvPr id="58" name="TextBox 57"/>
            <p:cNvSpPr txBox="1"/>
            <p:nvPr/>
          </p:nvSpPr>
          <p:spPr>
            <a:xfrm>
              <a:off x="5660743" y="4463409"/>
              <a:ext cx="1729384" cy="338554"/>
            </a:xfrm>
            <a:prstGeom prst="rect">
              <a:avLst/>
            </a:prstGeom>
            <a:noFill/>
          </p:spPr>
          <p:txBody>
            <a:bodyPr wrap="none" rtlCol="0">
              <a:spAutoFit/>
            </a:bodyPr>
            <a:lstStyle/>
            <a:p>
              <a:r>
                <a:rPr lang="en-US" sz="1600" dirty="0" smtClean="0"/>
                <a:t>a is here threshold</a:t>
              </a:r>
              <a:endParaRPr lang="en-IN" sz="1600" dirty="0"/>
            </a:p>
          </p:txBody>
        </p:sp>
      </p:grpSp>
      <p:sp>
        <p:nvSpPr>
          <p:cNvPr id="59" name="Rectangle 58"/>
          <p:cNvSpPr/>
          <p:nvPr/>
        </p:nvSpPr>
        <p:spPr>
          <a:xfrm>
            <a:off x="5726774" y="4880792"/>
            <a:ext cx="3566104" cy="338554"/>
          </a:xfrm>
          <a:prstGeom prst="rect">
            <a:avLst/>
          </a:prstGeom>
        </p:spPr>
        <p:txBody>
          <a:bodyPr wrap="none">
            <a:spAutoFit/>
          </a:bodyPr>
          <a:lstStyle/>
          <a:p>
            <a:r>
              <a:rPr lang="en-US" sz="1600" dirty="0"/>
              <a:t>it have only two state or give two output</a:t>
            </a:r>
            <a:endParaRPr lang="en-IN" sz="1600" dirty="0"/>
          </a:p>
        </p:txBody>
      </p:sp>
      <p:grpSp>
        <p:nvGrpSpPr>
          <p:cNvPr id="71" name="Group 70"/>
          <p:cNvGrpSpPr/>
          <p:nvPr/>
        </p:nvGrpSpPr>
        <p:grpSpPr>
          <a:xfrm>
            <a:off x="5893558" y="5232799"/>
            <a:ext cx="3399320" cy="1630907"/>
            <a:chOff x="5893558" y="5232799"/>
            <a:chExt cx="3399320" cy="1630907"/>
          </a:xfrm>
        </p:grpSpPr>
        <p:cxnSp>
          <p:nvCxnSpPr>
            <p:cNvPr id="64" name="Straight Connector 63"/>
            <p:cNvCxnSpPr/>
            <p:nvPr/>
          </p:nvCxnSpPr>
          <p:spPr>
            <a:xfrm>
              <a:off x="5893558" y="6174495"/>
              <a:ext cx="2784143" cy="27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7258825" y="5232799"/>
              <a:ext cx="0" cy="1583141"/>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7285629" y="5631418"/>
              <a:ext cx="7175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8003194" y="5631418"/>
              <a:ext cx="0" cy="543077"/>
            </a:xfrm>
            <a:prstGeom prst="line">
              <a:avLst/>
            </a:prstGeom>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8683480" y="6075116"/>
              <a:ext cx="609398" cy="307777"/>
            </a:xfrm>
            <a:prstGeom prst="rect">
              <a:avLst/>
            </a:prstGeom>
            <a:noFill/>
          </p:spPr>
          <p:txBody>
            <a:bodyPr wrap="none" rtlCol="0">
              <a:spAutoFit/>
            </a:bodyPr>
            <a:lstStyle/>
            <a:p>
              <a:r>
                <a:rPr lang="en-US" sz="1400" b="1" dirty="0" smtClean="0"/>
                <a:t>X axis</a:t>
              </a:r>
              <a:endParaRPr lang="en-IN" sz="1400" b="1" dirty="0"/>
            </a:p>
          </p:txBody>
        </p:sp>
        <p:sp>
          <p:nvSpPr>
            <p:cNvPr id="74" name="TextBox 73"/>
            <p:cNvSpPr txBox="1"/>
            <p:nvPr/>
          </p:nvSpPr>
          <p:spPr>
            <a:xfrm>
              <a:off x="7294073" y="6555929"/>
              <a:ext cx="609398" cy="307777"/>
            </a:xfrm>
            <a:prstGeom prst="rect">
              <a:avLst/>
            </a:prstGeom>
            <a:noFill/>
          </p:spPr>
          <p:txBody>
            <a:bodyPr wrap="none" rtlCol="0">
              <a:spAutoFit/>
            </a:bodyPr>
            <a:lstStyle/>
            <a:p>
              <a:r>
                <a:rPr lang="en-US" sz="1400" b="1" dirty="0" smtClean="0"/>
                <a:t>Y axis</a:t>
              </a:r>
              <a:endParaRPr lang="en-IN" sz="1400" b="1" dirty="0"/>
            </a:p>
          </p:txBody>
        </p:sp>
        <p:sp>
          <p:nvSpPr>
            <p:cNvPr id="70" name="TextBox 69"/>
            <p:cNvSpPr txBox="1"/>
            <p:nvPr/>
          </p:nvSpPr>
          <p:spPr>
            <a:xfrm>
              <a:off x="6946710" y="5475098"/>
              <a:ext cx="288862" cy="338554"/>
            </a:xfrm>
            <a:prstGeom prst="rect">
              <a:avLst/>
            </a:prstGeom>
            <a:noFill/>
          </p:spPr>
          <p:txBody>
            <a:bodyPr wrap="none" rtlCol="0">
              <a:spAutoFit/>
            </a:bodyPr>
            <a:lstStyle/>
            <a:p>
              <a:r>
                <a:rPr lang="en-US" sz="1600" dirty="0" smtClean="0"/>
                <a:t>1</a:t>
              </a:r>
              <a:endParaRPr lang="en-IN" sz="1600" dirty="0"/>
            </a:p>
          </p:txBody>
        </p:sp>
        <p:sp>
          <p:nvSpPr>
            <p:cNvPr id="79" name="TextBox 78"/>
            <p:cNvSpPr txBox="1"/>
            <p:nvPr/>
          </p:nvSpPr>
          <p:spPr>
            <a:xfrm>
              <a:off x="7858763" y="6162710"/>
              <a:ext cx="288862" cy="338554"/>
            </a:xfrm>
            <a:prstGeom prst="rect">
              <a:avLst/>
            </a:prstGeom>
            <a:noFill/>
          </p:spPr>
          <p:txBody>
            <a:bodyPr wrap="none" rtlCol="0">
              <a:spAutoFit/>
            </a:bodyPr>
            <a:lstStyle/>
            <a:p>
              <a:r>
                <a:rPr lang="en-US" sz="1600" dirty="0" smtClean="0"/>
                <a:t>1</a:t>
              </a:r>
              <a:endParaRPr lang="en-IN" sz="1600" dirty="0"/>
            </a:p>
          </p:txBody>
        </p:sp>
      </p:grpSp>
    </p:spTree>
    <p:extLst>
      <p:ext uri="{BB962C8B-B14F-4D97-AF65-F5344CB8AC3E}">
        <p14:creationId xmlns:p14="http://schemas.microsoft.com/office/powerpoint/2010/main" val="1425779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7" name="Rectangle 1"/>
          <p:cNvSpPr>
            <a:spLocks noChangeArrowheads="1"/>
          </p:cNvSpPr>
          <p:nvPr/>
        </p:nvSpPr>
        <p:spPr bwMode="auto">
          <a:xfrm rot="10800000" flipV="1">
            <a:off x="1041512" y="1428087"/>
            <a:ext cx="19760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Bahnschrift SemiLight" pitchFamily="34" charset="0"/>
                <a:cs typeface="Arial" charset="0"/>
              </a:rPr>
              <a:t>  𝜎(𝑥)=1/(1+𝑒−𝑥)</a:t>
            </a:r>
          </a:p>
        </p:txBody>
      </p:sp>
      <p:sp>
        <p:nvSpPr>
          <p:cNvPr id="8" name="AutoShape 2" descr="data:image/gif;base64,R0lGODlhAQABAIAAAP///wAAACH5BAEAAAAALAAAAAABAAEAAAICRAEAOw=="/>
          <p:cNvSpPr>
            <a:spLocks noChangeAspect="1" noChangeArrowheads="1"/>
          </p:cNvSpPr>
          <p:nvPr/>
        </p:nvSpPr>
        <p:spPr bwMode="auto">
          <a:xfrm>
            <a:off x="155575" y="-4111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 name="Rectangle 8"/>
          <p:cNvSpPr/>
          <p:nvPr/>
        </p:nvSpPr>
        <p:spPr>
          <a:xfrm>
            <a:off x="1000095" y="4828317"/>
            <a:ext cx="8321325" cy="338554"/>
          </a:xfrm>
          <a:prstGeom prst="rect">
            <a:avLst/>
          </a:prstGeom>
          <a:solidFill>
            <a:schemeClr val="accent2">
              <a:lumMod val="20000"/>
              <a:lumOff val="80000"/>
            </a:schemeClr>
          </a:solidFill>
          <a:ln>
            <a:solidFill>
              <a:schemeClr val="bg1">
                <a:lumMod val="75000"/>
              </a:schemeClr>
            </a:solidFill>
          </a:ln>
        </p:spPr>
        <p:txBody>
          <a:bodyPr wrap="square">
            <a:spAutoFit/>
          </a:bodyPr>
          <a:lstStyle/>
          <a:p>
            <a:r>
              <a:rPr lang="en-US" sz="1600" b="1" dirty="0"/>
              <a:t>Output range</a:t>
            </a:r>
            <a:r>
              <a:rPr lang="en-US" sz="1600" dirty="0"/>
              <a:t>: Always between </a:t>
            </a:r>
            <a:r>
              <a:rPr lang="en-US" sz="1600" b="1" dirty="0"/>
              <a:t>0 and 1</a:t>
            </a:r>
            <a:r>
              <a:rPr lang="en-US" sz="1600" dirty="0"/>
              <a:t>, regardless of the input.</a:t>
            </a:r>
            <a:endParaRPr lang="en-IN" sz="1600" dirty="0"/>
          </a:p>
        </p:txBody>
      </p:sp>
      <p:sp>
        <p:nvSpPr>
          <p:cNvPr id="10" name="Rectangle 9"/>
          <p:cNvSpPr/>
          <p:nvPr/>
        </p:nvSpPr>
        <p:spPr>
          <a:xfrm>
            <a:off x="1000096" y="5197649"/>
            <a:ext cx="8321325" cy="338554"/>
          </a:xfrm>
          <a:prstGeom prst="rect">
            <a:avLst/>
          </a:prstGeom>
          <a:solidFill>
            <a:schemeClr val="accent6">
              <a:lumMod val="40000"/>
              <a:lumOff val="60000"/>
            </a:schemeClr>
          </a:solidFill>
          <a:ln>
            <a:solidFill>
              <a:schemeClr val="bg1">
                <a:lumMod val="75000"/>
              </a:schemeClr>
            </a:solidFill>
          </a:ln>
        </p:spPr>
        <p:txBody>
          <a:bodyPr wrap="square">
            <a:spAutoFit/>
          </a:bodyPr>
          <a:lstStyle/>
          <a:p>
            <a:r>
              <a:rPr lang="en-US" sz="1600" b="1" dirty="0"/>
              <a:t>Shape</a:t>
            </a:r>
            <a:r>
              <a:rPr lang="en-US" sz="1600" dirty="0"/>
              <a:t>: It has an </a:t>
            </a:r>
            <a:r>
              <a:rPr lang="en-US" sz="1600" b="1" dirty="0"/>
              <a:t>S-shaped curve</a:t>
            </a:r>
            <a:r>
              <a:rPr lang="en-US" sz="1600" dirty="0"/>
              <a:t> (called a sigmoid curve), which smoothly transitions from 0 to 1.</a:t>
            </a:r>
            <a:endParaRPr lang="en-IN" sz="1600"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8016" y="1285606"/>
            <a:ext cx="4177494" cy="2871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3" name="Group 12"/>
          <p:cNvGrpSpPr/>
          <p:nvPr/>
        </p:nvGrpSpPr>
        <p:grpSpPr>
          <a:xfrm>
            <a:off x="561637" y="332826"/>
            <a:ext cx="2761935" cy="362759"/>
            <a:chOff x="561637" y="332826"/>
            <a:chExt cx="2761935" cy="362759"/>
          </a:xfrm>
        </p:grpSpPr>
        <p:sp>
          <p:nvSpPr>
            <p:cNvPr id="3" name="TextBox 2"/>
            <p:cNvSpPr txBox="1"/>
            <p:nvPr/>
          </p:nvSpPr>
          <p:spPr>
            <a:xfrm>
              <a:off x="561637" y="332826"/>
              <a:ext cx="2738250" cy="338554"/>
            </a:xfrm>
            <a:prstGeom prst="rect">
              <a:avLst/>
            </a:prstGeom>
            <a:solidFill>
              <a:srgbClr val="92D050"/>
            </a:solidFill>
          </p:spPr>
          <p:txBody>
            <a:bodyPr wrap="none" rtlCol="0">
              <a:spAutoFit/>
            </a:bodyPr>
            <a:lstStyle/>
            <a:p>
              <a:r>
                <a:rPr lang="en-US" sz="1600" dirty="0">
                  <a:solidFill>
                    <a:schemeClr val="bg1"/>
                  </a:solidFill>
                  <a:latin typeface="Bahnschrift SemiLight" pitchFamily="34" charset="0"/>
                </a:rPr>
                <a:t>Sigmoid Activation Function</a:t>
              </a:r>
              <a:endParaRPr lang="en-IN" sz="1600" dirty="0">
                <a:solidFill>
                  <a:schemeClr val="bg1"/>
                </a:solidFill>
                <a:latin typeface="Bahnschrift SemiLight" pitchFamily="34" charset="0"/>
              </a:endParaRPr>
            </a:p>
          </p:txBody>
        </p:sp>
        <p:cxnSp>
          <p:nvCxnSpPr>
            <p:cNvPr id="12" name="Straight Connector 11"/>
            <p:cNvCxnSpPr/>
            <p:nvPr/>
          </p:nvCxnSpPr>
          <p:spPr>
            <a:xfrm>
              <a:off x="561637" y="695585"/>
              <a:ext cx="276193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grpSp>
      <p:sp>
        <p:nvSpPr>
          <p:cNvPr id="22" name="TextBox 21"/>
          <p:cNvSpPr txBox="1"/>
          <p:nvPr/>
        </p:nvSpPr>
        <p:spPr>
          <a:xfrm>
            <a:off x="1041512" y="5917624"/>
            <a:ext cx="2880532" cy="338554"/>
          </a:xfrm>
          <a:prstGeom prst="rect">
            <a:avLst/>
          </a:prstGeom>
          <a:noFill/>
        </p:spPr>
        <p:txBody>
          <a:bodyPr wrap="none" rtlCol="0">
            <a:spAutoFit/>
          </a:bodyPr>
          <a:lstStyle/>
          <a:p>
            <a:r>
              <a:rPr lang="en-US" sz="1600" dirty="0" smtClean="0"/>
              <a:t>It is Non Zero Centered Function</a:t>
            </a:r>
            <a:endParaRPr lang="en-IN" sz="1600" dirty="0"/>
          </a:p>
        </p:txBody>
      </p:sp>
      <p:grpSp>
        <p:nvGrpSpPr>
          <p:cNvPr id="26" name="Group 25"/>
          <p:cNvGrpSpPr/>
          <p:nvPr/>
        </p:nvGrpSpPr>
        <p:grpSpPr>
          <a:xfrm>
            <a:off x="9812740" y="671380"/>
            <a:ext cx="1910687" cy="5265396"/>
            <a:chOff x="9812740" y="671380"/>
            <a:chExt cx="1910687" cy="5265396"/>
          </a:xfrm>
        </p:grpSpPr>
        <p:grpSp>
          <p:nvGrpSpPr>
            <p:cNvPr id="23" name="Group 22"/>
            <p:cNvGrpSpPr/>
            <p:nvPr/>
          </p:nvGrpSpPr>
          <p:grpSpPr>
            <a:xfrm>
              <a:off x="9812740" y="671380"/>
              <a:ext cx="1910687" cy="5265396"/>
              <a:chOff x="9812740" y="671380"/>
              <a:chExt cx="1910687" cy="5265396"/>
            </a:xfrm>
          </p:grpSpPr>
          <p:sp>
            <p:nvSpPr>
              <p:cNvPr id="18" name="TextBox 17"/>
              <p:cNvSpPr txBox="1"/>
              <p:nvPr/>
            </p:nvSpPr>
            <p:spPr>
              <a:xfrm>
                <a:off x="10385947" y="1860464"/>
                <a:ext cx="975460" cy="784830"/>
              </a:xfrm>
              <a:prstGeom prst="rect">
                <a:avLst/>
              </a:prstGeom>
              <a:noFill/>
            </p:spPr>
            <p:txBody>
              <a:bodyPr wrap="none" rtlCol="0">
                <a:spAutoFit/>
              </a:bodyPr>
              <a:lstStyle/>
              <a:p>
                <a:r>
                  <a:rPr lang="en-US" sz="1500" dirty="0" smtClean="0">
                    <a:solidFill>
                      <a:srgbClr val="FF6743"/>
                    </a:solidFill>
                  </a:rPr>
                  <a:t>Vanishing </a:t>
                </a:r>
              </a:p>
              <a:p>
                <a:r>
                  <a:rPr lang="en-US" sz="1500" dirty="0" smtClean="0">
                    <a:solidFill>
                      <a:srgbClr val="FF6743"/>
                    </a:solidFill>
                  </a:rPr>
                  <a:t>Gradient </a:t>
                </a:r>
              </a:p>
              <a:p>
                <a:r>
                  <a:rPr lang="en-US" sz="1500" dirty="0" smtClean="0">
                    <a:solidFill>
                      <a:srgbClr val="FF6743"/>
                    </a:solidFill>
                  </a:rPr>
                  <a:t>problem</a:t>
                </a:r>
                <a:endParaRPr lang="en-IN" sz="1500" dirty="0">
                  <a:solidFill>
                    <a:srgbClr val="FF6743"/>
                  </a:solidFill>
                </a:endParaRPr>
              </a:p>
            </p:txBody>
          </p:sp>
          <p:grpSp>
            <p:nvGrpSpPr>
              <p:cNvPr id="21" name="Group 20"/>
              <p:cNvGrpSpPr/>
              <p:nvPr/>
            </p:nvGrpSpPr>
            <p:grpSpPr>
              <a:xfrm>
                <a:off x="9812740" y="671380"/>
                <a:ext cx="1910687" cy="5265396"/>
                <a:chOff x="9812740" y="671380"/>
                <a:chExt cx="1910687" cy="5265396"/>
              </a:xfrm>
            </p:grpSpPr>
            <p:cxnSp>
              <p:nvCxnSpPr>
                <p:cNvPr id="15" name="Straight Connector 14"/>
                <p:cNvCxnSpPr/>
                <p:nvPr/>
              </p:nvCxnSpPr>
              <p:spPr>
                <a:xfrm>
                  <a:off x="9812740" y="671380"/>
                  <a:ext cx="0" cy="5265396"/>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sp>
              <p:nvSpPr>
                <p:cNvPr id="20" name="Freeform 19"/>
                <p:cNvSpPr/>
                <p:nvPr/>
              </p:nvSpPr>
              <p:spPr>
                <a:xfrm>
                  <a:off x="10112991" y="1501254"/>
                  <a:ext cx="1610436" cy="1596788"/>
                </a:xfrm>
                <a:custGeom>
                  <a:avLst/>
                  <a:gdLst>
                    <a:gd name="connsiteX0" fmla="*/ 1269242 w 1610436"/>
                    <a:gd name="connsiteY0" fmla="*/ 191068 h 1596788"/>
                    <a:gd name="connsiteX1" fmla="*/ 1201003 w 1610436"/>
                    <a:gd name="connsiteY1" fmla="*/ 136477 h 1596788"/>
                    <a:gd name="connsiteX2" fmla="*/ 1146412 w 1610436"/>
                    <a:gd name="connsiteY2" fmla="*/ 122830 h 1596788"/>
                    <a:gd name="connsiteX3" fmla="*/ 1023582 w 1610436"/>
                    <a:gd name="connsiteY3" fmla="*/ 81886 h 1596788"/>
                    <a:gd name="connsiteX4" fmla="*/ 968991 w 1610436"/>
                    <a:gd name="connsiteY4" fmla="*/ 54591 h 1596788"/>
                    <a:gd name="connsiteX5" fmla="*/ 764275 w 1610436"/>
                    <a:gd name="connsiteY5" fmla="*/ 27295 h 1596788"/>
                    <a:gd name="connsiteX6" fmla="*/ 641445 w 1610436"/>
                    <a:gd name="connsiteY6" fmla="*/ 0 h 1596788"/>
                    <a:gd name="connsiteX7" fmla="*/ 191069 w 1610436"/>
                    <a:gd name="connsiteY7" fmla="*/ 13647 h 1596788"/>
                    <a:gd name="connsiteX8" fmla="*/ 150125 w 1610436"/>
                    <a:gd name="connsiteY8" fmla="*/ 40943 h 1596788"/>
                    <a:gd name="connsiteX9" fmla="*/ 81887 w 1610436"/>
                    <a:gd name="connsiteY9" fmla="*/ 122830 h 1596788"/>
                    <a:gd name="connsiteX10" fmla="*/ 27296 w 1610436"/>
                    <a:gd name="connsiteY10" fmla="*/ 259307 h 1596788"/>
                    <a:gd name="connsiteX11" fmla="*/ 0 w 1610436"/>
                    <a:gd name="connsiteY11" fmla="*/ 300250 h 1596788"/>
                    <a:gd name="connsiteX12" fmla="*/ 13648 w 1610436"/>
                    <a:gd name="connsiteY12" fmla="*/ 805218 h 1596788"/>
                    <a:gd name="connsiteX13" fmla="*/ 40943 w 1610436"/>
                    <a:gd name="connsiteY13" fmla="*/ 900752 h 1596788"/>
                    <a:gd name="connsiteX14" fmla="*/ 54591 w 1610436"/>
                    <a:gd name="connsiteY14" fmla="*/ 968991 h 1596788"/>
                    <a:gd name="connsiteX15" fmla="*/ 163773 w 1610436"/>
                    <a:gd name="connsiteY15" fmla="*/ 1173707 h 1596788"/>
                    <a:gd name="connsiteX16" fmla="*/ 218364 w 1610436"/>
                    <a:gd name="connsiteY16" fmla="*/ 1255594 h 1596788"/>
                    <a:gd name="connsiteX17" fmla="*/ 341194 w 1610436"/>
                    <a:gd name="connsiteY17" fmla="*/ 1392071 h 1596788"/>
                    <a:gd name="connsiteX18" fmla="*/ 382137 w 1610436"/>
                    <a:gd name="connsiteY18" fmla="*/ 1419367 h 1596788"/>
                    <a:gd name="connsiteX19" fmla="*/ 518615 w 1610436"/>
                    <a:gd name="connsiteY19" fmla="*/ 1501253 h 1596788"/>
                    <a:gd name="connsiteX20" fmla="*/ 559558 w 1610436"/>
                    <a:gd name="connsiteY20" fmla="*/ 1528549 h 1596788"/>
                    <a:gd name="connsiteX21" fmla="*/ 655093 w 1610436"/>
                    <a:gd name="connsiteY21" fmla="*/ 1555845 h 1596788"/>
                    <a:gd name="connsiteX22" fmla="*/ 696036 w 1610436"/>
                    <a:gd name="connsiteY22" fmla="*/ 1569492 h 1596788"/>
                    <a:gd name="connsiteX23" fmla="*/ 805218 w 1610436"/>
                    <a:gd name="connsiteY23" fmla="*/ 1596788 h 1596788"/>
                    <a:gd name="connsiteX24" fmla="*/ 1214651 w 1610436"/>
                    <a:gd name="connsiteY24" fmla="*/ 1569492 h 1596788"/>
                    <a:gd name="connsiteX25" fmla="*/ 1296537 w 1610436"/>
                    <a:gd name="connsiteY25" fmla="*/ 1542197 h 1596788"/>
                    <a:gd name="connsiteX26" fmla="*/ 1337481 w 1610436"/>
                    <a:gd name="connsiteY26" fmla="*/ 1528549 h 1596788"/>
                    <a:gd name="connsiteX27" fmla="*/ 1446663 w 1610436"/>
                    <a:gd name="connsiteY27" fmla="*/ 1473958 h 1596788"/>
                    <a:gd name="connsiteX28" fmla="*/ 1542197 w 1610436"/>
                    <a:gd name="connsiteY28" fmla="*/ 1351128 h 1596788"/>
                    <a:gd name="connsiteX29" fmla="*/ 1569493 w 1610436"/>
                    <a:gd name="connsiteY29" fmla="*/ 1296537 h 1596788"/>
                    <a:gd name="connsiteX30" fmla="*/ 1610436 w 1610436"/>
                    <a:gd name="connsiteY30" fmla="*/ 1255594 h 1596788"/>
                    <a:gd name="connsiteX31" fmla="*/ 1596788 w 1610436"/>
                    <a:gd name="connsiteY31" fmla="*/ 750627 h 1596788"/>
                    <a:gd name="connsiteX32" fmla="*/ 1569493 w 1610436"/>
                    <a:gd name="connsiteY32" fmla="*/ 696036 h 1596788"/>
                    <a:gd name="connsiteX33" fmla="*/ 1528549 w 1610436"/>
                    <a:gd name="connsiteY33" fmla="*/ 614149 h 1596788"/>
                    <a:gd name="connsiteX34" fmla="*/ 1501254 w 1610436"/>
                    <a:gd name="connsiteY34" fmla="*/ 545910 h 1596788"/>
                    <a:gd name="connsiteX35" fmla="*/ 1446663 w 1610436"/>
                    <a:gd name="connsiteY35" fmla="*/ 450376 h 1596788"/>
                    <a:gd name="connsiteX36" fmla="*/ 1433015 w 1610436"/>
                    <a:gd name="connsiteY36" fmla="*/ 409433 h 1596788"/>
                    <a:gd name="connsiteX37" fmla="*/ 1392072 w 1610436"/>
                    <a:gd name="connsiteY37" fmla="*/ 368489 h 1596788"/>
                    <a:gd name="connsiteX38" fmla="*/ 1378424 w 1610436"/>
                    <a:gd name="connsiteY38" fmla="*/ 327546 h 1596788"/>
                    <a:gd name="connsiteX39" fmla="*/ 1337481 w 1610436"/>
                    <a:gd name="connsiteY39" fmla="*/ 286603 h 1596788"/>
                    <a:gd name="connsiteX40" fmla="*/ 1323833 w 1610436"/>
                    <a:gd name="connsiteY40" fmla="*/ 218364 h 1596788"/>
                    <a:gd name="connsiteX41" fmla="*/ 1282890 w 1610436"/>
                    <a:gd name="connsiteY41" fmla="*/ 204716 h 1596788"/>
                    <a:gd name="connsiteX42" fmla="*/ 1214651 w 1610436"/>
                    <a:gd name="connsiteY42" fmla="*/ 177421 h 1596788"/>
                    <a:gd name="connsiteX43" fmla="*/ 1173708 w 1610436"/>
                    <a:gd name="connsiteY43" fmla="*/ 150125 h 159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610436" h="1596788">
                      <a:moveTo>
                        <a:pt x="1269242" y="191068"/>
                      </a:moveTo>
                      <a:cubicBezTo>
                        <a:pt x="1246496" y="172871"/>
                        <a:pt x="1226467" y="150623"/>
                        <a:pt x="1201003" y="136477"/>
                      </a:cubicBezTo>
                      <a:cubicBezTo>
                        <a:pt x="1184606" y="127368"/>
                        <a:pt x="1164340" y="128346"/>
                        <a:pt x="1146412" y="122830"/>
                      </a:cubicBezTo>
                      <a:cubicBezTo>
                        <a:pt x="1105162" y="110138"/>
                        <a:pt x="1062184" y="101187"/>
                        <a:pt x="1023582" y="81886"/>
                      </a:cubicBezTo>
                      <a:cubicBezTo>
                        <a:pt x="1005385" y="72788"/>
                        <a:pt x="988619" y="59944"/>
                        <a:pt x="968991" y="54591"/>
                      </a:cubicBezTo>
                      <a:cubicBezTo>
                        <a:pt x="948856" y="49100"/>
                        <a:pt x="778010" y="29719"/>
                        <a:pt x="764275" y="27295"/>
                      </a:cubicBezTo>
                      <a:cubicBezTo>
                        <a:pt x="722971" y="20006"/>
                        <a:pt x="682388" y="9098"/>
                        <a:pt x="641445" y="0"/>
                      </a:cubicBezTo>
                      <a:cubicBezTo>
                        <a:pt x="491320" y="4549"/>
                        <a:pt x="340744" y="1174"/>
                        <a:pt x="191069" y="13647"/>
                      </a:cubicBezTo>
                      <a:cubicBezTo>
                        <a:pt x="174723" y="15009"/>
                        <a:pt x="160626" y="28342"/>
                        <a:pt x="150125" y="40943"/>
                      </a:cubicBezTo>
                      <a:cubicBezTo>
                        <a:pt x="63546" y="144838"/>
                        <a:pt x="181641" y="56326"/>
                        <a:pt x="81887" y="122830"/>
                      </a:cubicBezTo>
                      <a:cubicBezTo>
                        <a:pt x="20469" y="214955"/>
                        <a:pt x="90899" y="100299"/>
                        <a:pt x="27296" y="259307"/>
                      </a:cubicBezTo>
                      <a:cubicBezTo>
                        <a:pt x="21204" y="274536"/>
                        <a:pt x="9099" y="286602"/>
                        <a:pt x="0" y="300250"/>
                      </a:cubicBezTo>
                      <a:cubicBezTo>
                        <a:pt x="4549" y="468573"/>
                        <a:pt x="2194" y="637224"/>
                        <a:pt x="13648" y="805218"/>
                      </a:cubicBezTo>
                      <a:cubicBezTo>
                        <a:pt x="15901" y="838260"/>
                        <a:pt x="32911" y="868622"/>
                        <a:pt x="40943" y="900752"/>
                      </a:cubicBezTo>
                      <a:cubicBezTo>
                        <a:pt x="46569" y="923256"/>
                        <a:pt x="47925" y="946773"/>
                        <a:pt x="54591" y="968991"/>
                      </a:cubicBezTo>
                      <a:cubicBezTo>
                        <a:pt x="76260" y="1041220"/>
                        <a:pt x="124137" y="1114252"/>
                        <a:pt x="163773" y="1173707"/>
                      </a:cubicBezTo>
                      <a:cubicBezTo>
                        <a:pt x="181970" y="1201003"/>
                        <a:pt x="198681" y="1229350"/>
                        <a:pt x="218364" y="1255594"/>
                      </a:cubicBezTo>
                      <a:cubicBezTo>
                        <a:pt x="253604" y="1302579"/>
                        <a:pt x="292210" y="1359414"/>
                        <a:pt x="341194" y="1392071"/>
                      </a:cubicBezTo>
                      <a:cubicBezTo>
                        <a:pt x="354842" y="1401170"/>
                        <a:pt x="368168" y="1410770"/>
                        <a:pt x="382137" y="1419367"/>
                      </a:cubicBezTo>
                      <a:cubicBezTo>
                        <a:pt x="427320" y="1447172"/>
                        <a:pt x="474473" y="1471824"/>
                        <a:pt x="518615" y="1501253"/>
                      </a:cubicBezTo>
                      <a:cubicBezTo>
                        <a:pt x="532263" y="1510352"/>
                        <a:pt x="544887" y="1521213"/>
                        <a:pt x="559558" y="1528549"/>
                      </a:cubicBezTo>
                      <a:cubicBezTo>
                        <a:pt x="581371" y="1539456"/>
                        <a:pt x="634689" y="1550015"/>
                        <a:pt x="655093" y="1555845"/>
                      </a:cubicBezTo>
                      <a:cubicBezTo>
                        <a:pt x="668925" y="1559797"/>
                        <a:pt x="682080" y="1566003"/>
                        <a:pt x="696036" y="1569492"/>
                      </a:cubicBezTo>
                      <a:lnTo>
                        <a:pt x="805218" y="1596788"/>
                      </a:lnTo>
                      <a:cubicBezTo>
                        <a:pt x="941696" y="1587689"/>
                        <a:pt x="1078707" y="1584597"/>
                        <a:pt x="1214651" y="1569492"/>
                      </a:cubicBezTo>
                      <a:cubicBezTo>
                        <a:pt x="1243247" y="1566315"/>
                        <a:pt x="1269242" y="1551295"/>
                        <a:pt x="1296537" y="1542197"/>
                      </a:cubicBezTo>
                      <a:cubicBezTo>
                        <a:pt x="1310185" y="1537648"/>
                        <a:pt x="1324614" y="1534983"/>
                        <a:pt x="1337481" y="1528549"/>
                      </a:cubicBezTo>
                      <a:lnTo>
                        <a:pt x="1446663" y="1473958"/>
                      </a:lnTo>
                      <a:cubicBezTo>
                        <a:pt x="1501199" y="1419422"/>
                        <a:pt x="1493223" y="1432751"/>
                        <a:pt x="1542197" y="1351128"/>
                      </a:cubicBezTo>
                      <a:cubicBezTo>
                        <a:pt x="1552664" y="1333682"/>
                        <a:pt x="1557668" y="1313092"/>
                        <a:pt x="1569493" y="1296537"/>
                      </a:cubicBezTo>
                      <a:cubicBezTo>
                        <a:pt x="1580711" y="1280831"/>
                        <a:pt x="1596788" y="1269242"/>
                        <a:pt x="1610436" y="1255594"/>
                      </a:cubicBezTo>
                      <a:cubicBezTo>
                        <a:pt x="1605887" y="1087272"/>
                        <a:pt x="1609076" y="918562"/>
                        <a:pt x="1596788" y="750627"/>
                      </a:cubicBezTo>
                      <a:cubicBezTo>
                        <a:pt x="1595303" y="730336"/>
                        <a:pt x="1577507" y="714736"/>
                        <a:pt x="1569493" y="696036"/>
                      </a:cubicBezTo>
                      <a:cubicBezTo>
                        <a:pt x="1466585" y="455914"/>
                        <a:pt x="1659681" y="876414"/>
                        <a:pt x="1528549" y="614149"/>
                      </a:cubicBezTo>
                      <a:cubicBezTo>
                        <a:pt x="1517593" y="592237"/>
                        <a:pt x="1511204" y="568297"/>
                        <a:pt x="1501254" y="545910"/>
                      </a:cubicBezTo>
                      <a:cubicBezTo>
                        <a:pt x="1405557" y="330592"/>
                        <a:pt x="1534475" y="626000"/>
                        <a:pt x="1446663" y="450376"/>
                      </a:cubicBezTo>
                      <a:cubicBezTo>
                        <a:pt x="1440229" y="437509"/>
                        <a:pt x="1440995" y="421403"/>
                        <a:pt x="1433015" y="409433"/>
                      </a:cubicBezTo>
                      <a:cubicBezTo>
                        <a:pt x="1422309" y="393374"/>
                        <a:pt x="1405720" y="382137"/>
                        <a:pt x="1392072" y="368489"/>
                      </a:cubicBezTo>
                      <a:cubicBezTo>
                        <a:pt x="1387523" y="354841"/>
                        <a:pt x="1386404" y="339516"/>
                        <a:pt x="1378424" y="327546"/>
                      </a:cubicBezTo>
                      <a:cubicBezTo>
                        <a:pt x="1367718" y="311487"/>
                        <a:pt x="1346113" y="303866"/>
                        <a:pt x="1337481" y="286603"/>
                      </a:cubicBezTo>
                      <a:cubicBezTo>
                        <a:pt x="1327107" y="265855"/>
                        <a:pt x="1336700" y="237665"/>
                        <a:pt x="1323833" y="218364"/>
                      </a:cubicBezTo>
                      <a:cubicBezTo>
                        <a:pt x="1315853" y="206394"/>
                        <a:pt x="1296360" y="209767"/>
                        <a:pt x="1282890" y="204716"/>
                      </a:cubicBezTo>
                      <a:cubicBezTo>
                        <a:pt x="1259951" y="196114"/>
                        <a:pt x="1236563" y="188377"/>
                        <a:pt x="1214651" y="177421"/>
                      </a:cubicBezTo>
                      <a:cubicBezTo>
                        <a:pt x="1199980" y="170086"/>
                        <a:pt x="1173708" y="150125"/>
                        <a:pt x="1173708" y="150125"/>
                      </a:cubicBezTo>
                    </a:path>
                  </a:pathLst>
                </a:custGeom>
                <a:ln>
                  <a:solidFill>
                    <a:srgbClr val="FF4B2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grpSp>
        <p:sp>
          <p:nvSpPr>
            <p:cNvPr id="25" name="Rectangle 24"/>
            <p:cNvSpPr/>
            <p:nvPr/>
          </p:nvSpPr>
          <p:spPr>
            <a:xfrm>
              <a:off x="10114366" y="1100940"/>
              <a:ext cx="1297599" cy="338554"/>
            </a:xfrm>
            <a:prstGeom prst="rect">
              <a:avLst/>
            </a:prstGeom>
            <a:noFill/>
            <a:ln>
              <a:noFill/>
            </a:ln>
          </p:spPr>
          <p:txBody>
            <a:bodyPr wrap="none">
              <a:spAutoFit/>
            </a:bodyPr>
            <a:lstStyle/>
            <a:p>
              <a:r>
                <a:rPr lang="en-IN" sz="1600" dirty="0">
                  <a:solidFill>
                    <a:srgbClr val="FF6743"/>
                  </a:solidFill>
                </a:rPr>
                <a:t>Disadvantage</a:t>
              </a:r>
            </a:p>
          </p:txBody>
        </p:sp>
      </p:gr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344" y="1860464"/>
            <a:ext cx="2800350"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8576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8" name="AutoShape 2" descr="data:image/gif;base64,R0lGODlhAQABAIAAAP///wAAACH5BAEAAAAALAAAAAABAAEAAAICRAEAOw=="/>
          <p:cNvSpPr>
            <a:spLocks noChangeAspect="1" noChangeArrowheads="1"/>
          </p:cNvSpPr>
          <p:nvPr/>
        </p:nvSpPr>
        <p:spPr bwMode="auto">
          <a:xfrm>
            <a:off x="155575" y="-4111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 name="Rectangle 8"/>
          <p:cNvSpPr/>
          <p:nvPr/>
        </p:nvSpPr>
        <p:spPr>
          <a:xfrm>
            <a:off x="155576" y="5767499"/>
            <a:ext cx="3663695" cy="338554"/>
          </a:xfrm>
          <a:prstGeom prst="rect">
            <a:avLst/>
          </a:prstGeom>
          <a:solidFill>
            <a:schemeClr val="accent6">
              <a:lumMod val="40000"/>
              <a:lumOff val="60000"/>
            </a:schemeClr>
          </a:solidFill>
          <a:ln>
            <a:solidFill>
              <a:schemeClr val="bg1">
                <a:lumMod val="75000"/>
              </a:schemeClr>
            </a:solidFill>
          </a:ln>
        </p:spPr>
        <p:txBody>
          <a:bodyPr wrap="none">
            <a:spAutoFit/>
          </a:bodyPr>
          <a:lstStyle/>
          <a:p>
            <a:r>
              <a:rPr lang="en-US" sz="1600" b="1" dirty="0"/>
              <a:t>Output range</a:t>
            </a:r>
            <a:r>
              <a:rPr lang="en-US" sz="1600" dirty="0"/>
              <a:t>: </a:t>
            </a:r>
            <a:r>
              <a:rPr lang="en-US" sz="1600" dirty="0" smtClean="0"/>
              <a:t>its range in between [-1,1].</a:t>
            </a:r>
            <a:endParaRPr lang="en-IN" sz="1600" dirty="0"/>
          </a:p>
        </p:txBody>
      </p:sp>
      <p:grpSp>
        <p:nvGrpSpPr>
          <p:cNvPr id="13" name="Group 12"/>
          <p:cNvGrpSpPr/>
          <p:nvPr/>
        </p:nvGrpSpPr>
        <p:grpSpPr>
          <a:xfrm>
            <a:off x="244795" y="197174"/>
            <a:ext cx="1495922" cy="372779"/>
            <a:chOff x="580344" y="386172"/>
            <a:chExt cx="1495922" cy="372779"/>
          </a:xfrm>
        </p:grpSpPr>
        <p:sp>
          <p:nvSpPr>
            <p:cNvPr id="3" name="TextBox 2"/>
            <p:cNvSpPr txBox="1"/>
            <p:nvPr/>
          </p:nvSpPr>
          <p:spPr>
            <a:xfrm>
              <a:off x="580344" y="386172"/>
              <a:ext cx="1495922" cy="338554"/>
            </a:xfrm>
            <a:prstGeom prst="rect">
              <a:avLst/>
            </a:prstGeom>
            <a:solidFill>
              <a:schemeClr val="accent2">
                <a:lumMod val="60000"/>
                <a:lumOff val="40000"/>
              </a:schemeClr>
            </a:solidFill>
          </p:spPr>
          <p:txBody>
            <a:bodyPr wrap="none" rtlCol="0">
              <a:spAutoFit/>
            </a:bodyPr>
            <a:lstStyle/>
            <a:p>
              <a:r>
                <a:rPr lang="en-US" sz="1600" dirty="0" smtClean="0">
                  <a:latin typeface="Bahnschrift SemiLight" pitchFamily="34" charset="0"/>
                </a:rPr>
                <a:t>TanH Function</a:t>
              </a:r>
              <a:endParaRPr lang="en-IN" sz="1600" dirty="0">
                <a:latin typeface="Bahnschrift SemiLight" pitchFamily="34" charset="0"/>
              </a:endParaRPr>
            </a:p>
          </p:txBody>
        </p:sp>
        <p:cxnSp>
          <p:nvCxnSpPr>
            <p:cNvPr id="12" name="Straight Connector 11"/>
            <p:cNvCxnSpPr/>
            <p:nvPr/>
          </p:nvCxnSpPr>
          <p:spPr>
            <a:xfrm>
              <a:off x="580344" y="758951"/>
              <a:ext cx="1495922" cy="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a:xfrm>
            <a:off x="10043965" y="3098042"/>
            <a:ext cx="1610436" cy="2838734"/>
            <a:chOff x="10112991" y="671380"/>
            <a:chExt cx="1610436" cy="5265396"/>
          </a:xfrm>
        </p:grpSpPr>
        <p:sp>
          <p:nvSpPr>
            <p:cNvPr id="19" name="TextBox 18"/>
            <p:cNvSpPr txBox="1"/>
            <p:nvPr/>
          </p:nvSpPr>
          <p:spPr>
            <a:xfrm>
              <a:off x="10385948" y="2977322"/>
              <a:ext cx="926472" cy="1370103"/>
            </a:xfrm>
            <a:prstGeom prst="rect">
              <a:avLst/>
            </a:prstGeom>
            <a:noFill/>
          </p:spPr>
          <p:txBody>
            <a:bodyPr wrap="none" rtlCol="0">
              <a:spAutoFit/>
            </a:bodyPr>
            <a:lstStyle/>
            <a:p>
              <a:r>
                <a:rPr lang="en-US" sz="1400" dirty="0" smtClean="0">
                  <a:solidFill>
                    <a:srgbClr val="FF6743"/>
                  </a:solidFill>
                </a:rPr>
                <a:t>Vanishing </a:t>
              </a:r>
            </a:p>
            <a:p>
              <a:r>
                <a:rPr lang="en-US" sz="1400" dirty="0" smtClean="0">
                  <a:solidFill>
                    <a:srgbClr val="FF6743"/>
                  </a:solidFill>
                </a:rPr>
                <a:t>Gradient </a:t>
              </a:r>
            </a:p>
            <a:p>
              <a:r>
                <a:rPr lang="en-US" sz="1400" dirty="0" smtClean="0">
                  <a:solidFill>
                    <a:srgbClr val="FF6743"/>
                  </a:solidFill>
                </a:rPr>
                <a:t>problem</a:t>
              </a:r>
              <a:endParaRPr lang="en-IN" sz="1400" dirty="0">
                <a:solidFill>
                  <a:srgbClr val="FF6743"/>
                </a:solidFill>
              </a:endParaRPr>
            </a:p>
          </p:txBody>
        </p:sp>
        <p:grpSp>
          <p:nvGrpSpPr>
            <p:cNvPr id="20" name="Group 19"/>
            <p:cNvGrpSpPr/>
            <p:nvPr/>
          </p:nvGrpSpPr>
          <p:grpSpPr>
            <a:xfrm>
              <a:off x="10112991" y="671380"/>
              <a:ext cx="1610436" cy="5265396"/>
              <a:chOff x="10112991" y="671380"/>
              <a:chExt cx="1610436" cy="5265396"/>
            </a:xfrm>
          </p:grpSpPr>
          <p:cxnSp>
            <p:nvCxnSpPr>
              <p:cNvPr id="21" name="Straight Connector 20"/>
              <p:cNvCxnSpPr/>
              <p:nvPr/>
            </p:nvCxnSpPr>
            <p:spPr>
              <a:xfrm>
                <a:off x="10112991" y="671380"/>
                <a:ext cx="0" cy="5265396"/>
              </a:xfrm>
              <a:prstGeom prst="line">
                <a:avLst/>
              </a:prstGeom>
              <a:ln>
                <a:solidFill>
                  <a:srgbClr val="FF6743"/>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0263117" y="1905592"/>
                <a:ext cx="1021818" cy="627963"/>
              </a:xfrm>
              <a:prstGeom prst="rect">
                <a:avLst/>
              </a:prstGeom>
              <a:noFill/>
            </p:spPr>
            <p:txBody>
              <a:bodyPr wrap="none" rtlCol="0">
                <a:spAutoFit/>
              </a:bodyPr>
              <a:lstStyle/>
              <a:p>
                <a:r>
                  <a:rPr lang="en-US" sz="1600" dirty="0" smtClean="0">
                    <a:solidFill>
                      <a:srgbClr val="FF6743"/>
                    </a:solidFill>
                  </a:rPr>
                  <a:t>Limitation</a:t>
                </a:r>
                <a:endParaRPr lang="en-IN" sz="1600" dirty="0">
                  <a:solidFill>
                    <a:srgbClr val="FF6743"/>
                  </a:solidFill>
                </a:endParaRPr>
              </a:p>
            </p:txBody>
          </p:sp>
          <p:sp>
            <p:nvSpPr>
              <p:cNvPr id="23" name="Freeform 22"/>
              <p:cNvSpPr/>
              <p:nvPr/>
            </p:nvSpPr>
            <p:spPr>
              <a:xfrm>
                <a:off x="10263116" y="2618112"/>
                <a:ext cx="1460311" cy="2233169"/>
              </a:xfrm>
              <a:custGeom>
                <a:avLst/>
                <a:gdLst>
                  <a:gd name="connsiteX0" fmla="*/ 1269242 w 1610436"/>
                  <a:gd name="connsiteY0" fmla="*/ 191068 h 1596788"/>
                  <a:gd name="connsiteX1" fmla="*/ 1201003 w 1610436"/>
                  <a:gd name="connsiteY1" fmla="*/ 136477 h 1596788"/>
                  <a:gd name="connsiteX2" fmla="*/ 1146412 w 1610436"/>
                  <a:gd name="connsiteY2" fmla="*/ 122830 h 1596788"/>
                  <a:gd name="connsiteX3" fmla="*/ 1023582 w 1610436"/>
                  <a:gd name="connsiteY3" fmla="*/ 81886 h 1596788"/>
                  <a:gd name="connsiteX4" fmla="*/ 968991 w 1610436"/>
                  <a:gd name="connsiteY4" fmla="*/ 54591 h 1596788"/>
                  <a:gd name="connsiteX5" fmla="*/ 764275 w 1610436"/>
                  <a:gd name="connsiteY5" fmla="*/ 27295 h 1596788"/>
                  <a:gd name="connsiteX6" fmla="*/ 641445 w 1610436"/>
                  <a:gd name="connsiteY6" fmla="*/ 0 h 1596788"/>
                  <a:gd name="connsiteX7" fmla="*/ 191069 w 1610436"/>
                  <a:gd name="connsiteY7" fmla="*/ 13647 h 1596788"/>
                  <a:gd name="connsiteX8" fmla="*/ 150125 w 1610436"/>
                  <a:gd name="connsiteY8" fmla="*/ 40943 h 1596788"/>
                  <a:gd name="connsiteX9" fmla="*/ 81887 w 1610436"/>
                  <a:gd name="connsiteY9" fmla="*/ 122830 h 1596788"/>
                  <a:gd name="connsiteX10" fmla="*/ 27296 w 1610436"/>
                  <a:gd name="connsiteY10" fmla="*/ 259307 h 1596788"/>
                  <a:gd name="connsiteX11" fmla="*/ 0 w 1610436"/>
                  <a:gd name="connsiteY11" fmla="*/ 300250 h 1596788"/>
                  <a:gd name="connsiteX12" fmla="*/ 13648 w 1610436"/>
                  <a:gd name="connsiteY12" fmla="*/ 805218 h 1596788"/>
                  <a:gd name="connsiteX13" fmla="*/ 40943 w 1610436"/>
                  <a:gd name="connsiteY13" fmla="*/ 900752 h 1596788"/>
                  <a:gd name="connsiteX14" fmla="*/ 54591 w 1610436"/>
                  <a:gd name="connsiteY14" fmla="*/ 968991 h 1596788"/>
                  <a:gd name="connsiteX15" fmla="*/ 163773 w 1610436"/>
                  <a:gd name="connsiteY15" fmla="*/ 1173707 h 1596788"/>
                  <a:gd name="connsiteX16" fmla="*/ 218364 w 1610436"/>
                  <a:gd name="connsiteY16" fmla="*/ 1255594 h 1596788"/>
                  <a:gd name="connsiteX17" fmla="*/ 341194 w 1610436"/>
                  <a:gd name="connsiteY17" fmla="*/ 1392071 h 1596788"/>
                  <a:gd name="connsiteX18" fmla="*/ 382137 w 1610436"/>
                  <a:gd name="connsiteY18" fmla="*/ 1419367 h 1596788"/>
                  <a:gd name="connsiteX19" fmla="*/ 518615 w 1610436"/>
                  <a:gd name="connsiteY19" fmla="*/ 1501253 h 1596788"/>
                  <a:gd name="connsiteX20" fmla="*/ 559558 w 1610436"/>
                  <a:gd name="connsiteY20" fmla="*/ 1528549 h 1596788"/>
                  <a:gd name="connsiteX21" fmla="*/ 655093 w 1610436"/>
                  <a:gd name="connsiteY21" fmla="*/ 1555845 h 1596788"/>
                  <a:gd name="connsiteX22" fmla="*/ 696036 w 1610436"/>
                  <a:gd name="connsiteY22" fmla="*/ 1569492 h 1596788"/>
                  <a:gd name="connsiteX23" fmla="*/ 805218 w 1610436"/>
                  <a:gd name="connsiteY23" fmla="*/ 1596788 h 1596788"/>
                  <a:gd name="connsiteX24" fmla="*/ 1214651 w 1610436"/>
                  <a:gd name="connsiteY24" fmla="*/ 1569492 h 1596788"/>
                  <a:gd name="connsiteX25" fmla="*/ 1296537 w 1610436"/>
                  <a:gd name="connsiteY25" fmla="*/ 1542197 h 1596788"/>
                  <a:gd name="connsiteX26" fmla="*/ 1337481 w 1610436"/>
                  <a:gd name="connsiteY26" fmla="*/ 1528549 h 1596788"/>
                  <a:gd name="connsiteX27" fmla="*/ 1446663 w 1610436"/>
                  <a:gd name="connsiteY27" fmla="*/ 1473958 h 1596788"/>
                  <a:gd name="connsiteX28" fmla="*/ 1542197 w 1610436"/>
                  <a:gd name="connsiteY28" fmla="*/ 1351128 h 1596788"/>
                  <a:gd name="connsiteX29" fmla="*/ 1569493 w 1610436"/>
                  <a:gd name="connsiteY29" fmla="*/ 1296537 h 1596788"/>
                  <a:gd name="connsiteX30" fmla="*/ 1610436 w 1610436"/>
                  <a:gd name="connsiteY30" fmla="*/ 1255594 h 1596788"/>
                  <a:gd name="connsiteX31" fmla="*/ 1596788 w 1610436"/>
                  <a:gd name="connsiteY31" fmla="*/ 750627 h 1596788"/>
                  <a:gd name="connsiteX32" fmla="*/ 1569493 w 1610436"/>
                  <a:gd name="connsiteY32" fmla="*/ 696036 h 1596788"/>
                  <a:gd name="connsiteX33" fmla="*/ 1528549 w 1610436"/>
                  <a:gd name="connsiteY33" fmla="*/ 614149 h 1596788"/>
                  <a:gd name="connsiteX34" fmla="*/ 1501254 w 1610436"/>
                  <a:gd name="connsiteY34" fmla="*/ 545910 h 1596788"/>
                  <a:gd name="connsiteX35" fmla="*/ 1446663 w 1610436"/>
                  <a:gd name="connsiteY35" fmla="*/ 450376 h 1596788"/>
                  <a:gd name="connsiteX36" fmla="*/ 1433015 w 1610436"/>
                  <a:gd name="connsiteY36" fmla="*/ 409433 h 1596788"/>
                  <a:gd name="connsiteX37" fmla="*/ 1392072 w 1610436"/>
                  <a:gd name="connsiteY37" fmla="*/ 368489 h 1596788"/>
                  <a:gd name="connsiteX38" fmla="*/ 1378424 w 1610436"/>
                  <a:gd name="connsiteY38" fmla="*/ 327546 h 1596788"/>
                  <a:gd name="connsiteX39" fmla="*/ 1337481 w 1610436"/>
                  <a:gd name="connsiteY39" fmla="*/ 286603 h 1596788"/>
                  <a:gd name="connsiteX40" fmla="*/ 1323833 w 1610436"/>
                  <a:gd name="connsiteY40" fmla="*/ 218364 h 1596788"/>
                  <a:gd name="connsiteX41" fmla="*/ 1282890 w 1610436"/>
                  <a:gd name="connsiteY41" fmla="*/ 204716 h 1596788"/>
                  <a:gd name="connsiteX42" fmla="*/ 1214651 w 1610436"/>
                  <a:gd name="connsiteY42" fmla="*/ 177421 h 1596788"/>
                  <a:gd name="connsiteX43" fmla="*/ 1173708 w 1610436"/>
                  <a:gd name="connsiteY43" fmla="*/ 150125 h 159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610436" h="1596788">
                    <a:moveTo>
                      <a:pt x="1269242" y="191068"/>
                    </a:moveTo>
                    <a:cubicBezTo>
                      <a:pt x="1246496" y="172871"/>
                      <a:pt x="1226467" y="150623"/>
                      <a:pt x="1201003" y="136477"/>
                    </a:cubicBezTo>
                    <a:cubicBezTo>
                      <a:pt x="1184606" y="127368"/>
                      <a:pt x="1164340" y="128346"/>
                      <a:pt x="1146412" y="122830"/>
                    </a:cubicBezTo>
                    <a:cubicBezTo>
                      <a:pt x="1105162" y="110138"/>
                      <a:pt x="1062184" y="101187"/>
                      <a:pt x="1023582" y="81886"/>
                    </a:cubicBezTo>
                    <a:cubicBezTo>
                      <a:pt x="1005385" y="72788"/>
                      <a:pt x="988619" y="59944"/>
                      <a:pt x="968991" y="54591"/>
                    </a:cubicBezTo>
                    <a:cubicBezTo>
                      <a:pt x="948856" y="49100"/>
                      <a:pt x="778010" y="29719"/>
                      <a:pt x="764275" y="27295"/>
                    </a:cubicBezTo>
                    <a:cubicBezTo>
                      <a:pt x="722971" y="20006"/>
                      <a:pt x="682388" y="9098"/>
                      <a:pt x="641445" y="0"/>
                    </a:cubicBezTo>
                    <a:cubicBezTo>
                      <a:pt x="491320" y="4549"/>
                      <a:pt x="340744" y="1174"/>
                      <a:pt x="191069" y="13647"/>
                    </a:cubicBezTo>
                    <a:cubicBezTo>
                      <a:pt x="174723" y="15009"/>
                      <a:pt x="160626" y="28342"/>
                      <a:pt x="150125" y="40943"/>
                    </a:cubicBezTo>
                    <a:cubicBezTo>
                      <a:pt x="63546" y="144838"/>
                      <a:pt x="181641" y="56326"/>
                      <a:pt x="81887" y="122830"/>
                    </a:cubicBezTo>
                    <a:cubicBezTo>
                      <a:pt x="20469" y="214955"/>
                      <a:pt x="90899" y="100299"/>
                      <a:pt x="27296" y="259307"/>
                    </a:cubicBezTo>
                    <a:cubicBezTo>
                      <a:pt x="21204" y="274536"/>
                      <a:pt x="9099" y="286602"/>
                      <a:pt x="0" y="300250"/>
                    </a:cubicBezTo>
                    <a:cubicBezTo>
                      <a:pt x="4549" y="468573"/>
                      <a:pt x="2194" y="637224"/>
                      <a:pt x="13648" y="805218"/>
                    </a:cubicBezTo>
                    <a:cubicBezTo>
                      <a:pt x="15901" y="838260"/>
                      <a:pt x="32911" y="868622"/>
                      <a:pt x="40943" y="900752"/>
                    </a:cubicBezTo>
                    <a:cubicBezTo>
                      <a:pt x="46569" y="923256"/>
                      <a:pt x="47925" y="946773"/>
                      <a:pt x="54591" y="968991"/>
                    </a:cubicBezTo>
                    <a:cubicBezTo>
                      <a:pt x="76260" y="1041220"/>
                      <a:pt x="124137" y="1114252"/>
                      <a:pt x="163773" y="1173707"/>
                    </a:cubicBezTo>
                    <a:cubicBezTo>
                      <a:pt x="181970" y="1201003"/>
                      <a:pt x="198681" y="1229350"/>
                      <a:pt x="218364" y="1255594"/>
                    </a:cubicBezTo>
                    <a:cubicBezTo>
                      <a:pt x="253604" y="1302579"/>
                      <a:pt x="292210" y="1359414"/>
                      <a:pt x="341194" y="1392071"/>
                    </a:cubicBezTo>
                    <a:cubicBezTo>
                      <a:pt x="354842" y="1401170"/>
                      <a:pt x="368168" y="1410770"/>
                      <a:pt x="382137" y="1419367"/>
                    </a:cubicBezTo>
                    <a:cubicBezTo>
                      <a:pt x="427320" y="1447172"/>
                      <a:pt x="474473" y="1471824"/>
                      <a:pt x="518615" y="1501253"/>
                    </a:cubicBezTo>
                    <a:cubicBezTo>
                      <a:pt x="532263" y="1510352"/>
                      <a:pt x="544887" y="1521213"/>
                      <a:pt x="559558" y="1528549"/>
                    </a:cubicBezTo>
                    <a:cubicBezTo>
                      <a:pt x="581371" y="1539456"/>
                      <a:pt x="634689" y="1550015"/>
                      <a:pt x="655093" y="1555845"/>
                    </a:cubicBezTo>
                    <a:cubicBezTo>
                      <a:pt x="668925" y="1559797"/>
                      <a:pt x="682080" y="1566003"/>
                      <a:pt x="696036" y="1569492"/>
                    </a:cubicBezTo>
                    <a:lnTo>
                      <a:pt x="805218" y="1596788"/>
                    </a:lnTo>
                    <a:cubicBezTo>
                      <a:pt x="941696" y="1587689"/>
                      <a:pt x="1078707" y="1584597"/>
                      <a:pt x="1214651" y="1569492"/>
                    </a:cubicBezTo>
                    <a:cubicBezTo>
                      <a:pt x="1243247" y="1566315"/>
                      <a:pt x="1269242" y="1551295"/>
                      <a:pt x="1296537" y="1542197"/>
                    </a:cubicBezTo>
                    <a:cubicBezTo>
                      <a:pt x="1310185" y="1537648"/>
                      <a:pt x="1324614" y="1534983"/>
                      <a:pt x="1337481" y="1528549"/>
                    </a:cubicBezTo>
                    <a:lnTo>
                      <a:pt x="1446663" y="1473958"/>
                    </a:lnTo>
                    <a:cubicBezTo>
                      <a:pt x="1501199" y="1419422"/>
                      <a:pt x="1493223" y="1432751"/>
                      <a:pt x="1542197" y="1351128"/>
                    </a:cubicBezTo>
                    <a:cubicBezTo>
                      <a:pt x="1552664" y="1333682"/>
                      <a:pt x="1557668" y="1313092"/>
                      <a:pt x="1569493" y="1296537"/>
                    </a:cubicBezTo>
                    <a:cubicBezTo>
                      <a:pt x="1580711" y="1280831"/>
                      <a:pt x="1596788" y="1269242"/>
                      <a:pt x="1610436" y="1255594"/>
                    </a:cubicBezTo>
                    <a:cubicBezTo>
                      <a:pt x="1605887" y="1087272"/>
                      <a:pt x="1609076" y="918562"/>
                      <a:pt x="1596788" y="750627"/>
                    </a:cubicBezTo>
                    <a:cubicBezTo>
                      <a:pt x="1595303" y="730336"/>
                      <a:pt x="1577507" y="714736"/>
                      <a:pt x="1569493" y="696036"/>
                    </a:cubicBezTo>
                    <a:cubicBezTo>
                      <a:pt x="1466585" y="455914"/>
                      <a:pt x="1659681" y="876414"/>
                      <a:pt x="1528549" y="614149"/>
                    </a:cubicBezTo>
                    <a:cubicBezTo>
                      <a:pt x="1517593" y="592237"/>
                      <a:pt x="1511204" y="568297"/>
                      <a:pt x="1501254" y="545910"/>
                    </a:cubicBezTo>
                    <a:cubicBezTo>
                      <a:pt x="1405557" y="330592"/>
                      <a:pt x="1534475" y="626000"/>
                      <a:pt x="1446663" y="450376"/>
                    </a:cubicBezTo>
                    <a:cubicBezTo>
                      <a:pt x="1440229" y="437509"/>
                      <a:pt x="1440995" y="421403"/>
                      <a:pt x="1433015" y="409433"/>
                    </a:cubicBezTo>
                    <a:cubicBezTo>
                      <a:pt x="1422309" y="393374"/>
                      <a:pt x="1405720" y="382137"/>
                      <a:pt x="1392072" y="368489"/>
                    </a:cubicBezTo>
                    <a:cubicBezTo>
                      <a:pt x="1387523" y="354841"/>
                      <a:pt x="1386404" y="339516"/>
                      <a:pt x="1378424" y="327546"/>
                    </a:cubicBezTo>
                    <a:cubicBezTo>
                      <a:pt x="1367718" y="311487"/>
                      <a:pt x="1346113" y="303866"/>
                      <a:pt x="1337481" y="286603"/>
                    </a:cubicBezTo>
                    <a:cubicBezTo>
                      <a:pt x="1327107" y="265855"/>
                      <a:pt x="1336700" y="237665"/>
                      <a:pt x="1323833" y="218364"/>
                    </a:cubicBezTo>
                    <a:cubicBezTo>
                      <a:pt x="1315853" y="206394"/>
                      <a:pt x="1296360" y="209767"/>
                      <a:pt x="1282890" y="204716"/>
                    </a:cubicBezTo>
                    <a:cubicBezTo>
                      <a:pt x="1259951" y="196114"/>
                      <a:pt x="1236563" y="188377"/>
                      <a:pt x="1214651" y="177421"/>
                    </a:cubicBezTo>
                    <a:cubicBezTo>
                      <a:pt x="1199980" y="170086"/>
                      <a:pt x="1173708" y="150125"/>
                      <a:pt x="1173708" y="150125"/>
                    </a:cubicBezTo>
                  </a:path>
                </a:pathLst>
              </a:custGeom>
              <a:ln>
                <a:solidFill>
                  <a:srgbClr val="FF674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grpSp>
      <p:sp>
        <p:nvSpPr>
          <p:cNvPr id="24" name="TextBox 23"/>
          <p:cNvSpPr txBox="1"/>
          <p:nvPr/>
        </p:nvSpPr>
        <p:spPr>
          <a:xfrm>
            <a:off x="155575" y="6157778"/>
            <a:ext cx="9957417" cy="338554"/>
          </a:xfrm>
          <a:prstGeom prst="rect">
            <a:avLst/>
          </a:prstGeom>
          <a:solidFill>
            <a:schemeClr val="accent2">
              <a:lumMod val="20000"/>
              <a:lumOff val="80000"/>
            </a:schemeClr>
          </a:solidFill>
          <a:ln>
            <a:solidFill>
              <a:schemeClr val="bg1">
                <a:lumMod val="75000"/>
              </a:schemeClr>
            </a:solidFill>
          </a:ln>
        </p:spPr>
        <p:txBody>
          <a:bodyPr wrap="square" rtlCol="0">
            <a:spAutoFit/>
          </a:bodyPr>
          <a:lstStyle/>
          <a:p>
            <a:r>
              <a:rPr lang="en-US" sz="1600" dirty="0"/>
              <a:t>S-shaped curve similar to the </a:t>
            </a:r>
            <a:r>
              <a:rPr lang="en-US" sz="1600" dirty="0">
                <a:hlinkClick r:id="rId3"/>
              </a:rPr>
              <a:t>sigmoid function</a:t>
            </a:r>
            <a:r>
              <a:rPr lang="en-US" sz="1600" dirty="0"/>
              <a:t>, but its zero-centered output makes it more effective for hidden layers</a:t>
            </a:r>
            <a:endParaRPr lang="en-IN" sz="1600" dirty="0">
              <a:solidFill>
                <a:srgbClr val="FF6743"/>
              </a:solidFill>
              <a:latin typeface="Bahnschrift" pitchFamily="34" charset="0"/>
            </a:endParaRP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2664" y="3304078"/>
            <a:ext cx="4616357" cy="2513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50628" y="797510"/>
            <a:ext cx="11300346" cy="830997"/>
          </a:xfrm>
          <a:prstGeom prst="rect">
            <a:avLst/>
          </a:prstGeom>
        </p:spPr>
        <p:txBody>
          <a:bodyPr wrap="square">
            <a:spAutoFit/>
          </a:bodyPr>
          <a:lstStyle/>
          <a:p>
            <a:r>
              <a:rPr lang="en-US" sz="1600" dirty="0" smtClean="0"/>
              <a:t>TanH </a:t>
            </a:r>
            <a:r>
              <a:rPr lang="en-US" sz="1600" dirty="0"/>
              <a:t>Activation function is superior then the Sigmoid Activation function because the range of this activation function is higher than the sigmoid activation function. This is the major difference between the Sigmoid and </a:t>
            </a:r>
            <a:r>
              <a:rPr lang="en-US" sz="1600" dirty="0" smtClean="0"/>
              <a:t>TanH </a:t>
            </a:r>
            <a:r>
              <a:rPr lang="en-US" sz="1600" dirty="0"/>
              <a:t>activation function. Rest functionality is the same as the sigmoid function like both can be used on the feed-forward network.</a:t>
            </a:r>
            <a:endParaRPr lang="en-IN" sz="1600" dirty="0"/>
          </a:p>
        </p:txBody>
      </p:sp>
    </p:spTree>
    <p:extLst>
      <p:ext uri="{BB962C8B-B14F-4D97-AF65-F5344CB8AC3E}">
        <p14:creationId xmlns:p14="http://schemas.microsoft.com/office/powerpoint/2010/main" val="28247379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8" name="AutoShape 2" descr="data:image/gif;base64,R0lGODlhAQABAIAAAP///wAAACH5BAEAAAAALAAAAAABAAEAAAICRAEAOw=="/>
          <p:cNvSpPr>
            <a:spLocks noChangeAspect="1" noChangeArrowheads="1"/>
          </p:cNvSpPr>
          <p:nvPr/>
        </p:nvSpPr>
        <p:spPr bwMode="auto">
          <a:xfrm>
            <a:off x="155575" y="-4111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nvGrpSpPr>
          <p:cNvPr id="13" name="Group 12"/>
          <p:cNvGrpSpPr/>
          <p:nvPr/>
        </p:nvGrpSpPr>
        <p:grpSpPr>
          <a:xfrm>
            <a:off x="226089" y="332826"/>
            <a:ext cx="4592924" cy="382138"/>
            <a:chOff x="561638" y="332826"/>
            <a:chExt cx="4592924" cy="382138"/>
          </a:xfrm>
        </p:grpSpPr>
        <p:sp>
          <p:nvSpPr>
            <p:cNvPr id="3" name="TextBox 2"/>
            <p:cNvSpPr txBox="1"/>
            <p:nvPr/>
          </p:nvSpPr>
          <p:spPr>
            <a:xfrm>
              <a:off x="561638" y="332826"/>
              <a:ext cx="4592924" cy="338554"/>
            </a:xfrm>
            <a:prstGeom prst="rect">
              <a:avLst/>
            </a:prstGeom>
            <a:solidFill>
              <a:srgbClr val="00CC99"/>
            </a:solidFill>
          </p:spPr>
          <p:txBody>
            <a:bodyPr wrap="none" rtlCol="0">
              <a:spAutoFit/>
            </a:bodyPr>
            <a:lstStyle/>
            <a:p>
              <a:r>
                <a:rPr lang="en-US" sz="1600" dirty="0">
                  <a:solidFill>
                    <a:schemeClr val="bg1"/>
                  </a:solidFill>
                  <a:latin typeface="Bahnschrift SemiLight" pitchFamily="34" charset="0"/>
                </a:rPr>
                <a:t>ReLu (Rectified Linear Unit)  </a:t>
              </a:r>
              <a:r>
                <a:rPr lang="en-US" sz="1600" dirty="0" smtClean="0">
                  <a:solidFill>
                    <a:schemeClr val="bg1"/>
                  </a:solidFill>
                  <a:latin typeface="Bahnschrift SemiLight" pitchFamily="34" charset="0"/>
                </a:rPr>
                <a:t>Activation Function</a:t>
              </a:r>
              <a:endParaRPr lang="en-IN" sz="1600" dirty="0">
                <a:solidFill>
                  <a:schemeClr val="bg1"/>
                </a:solidFill>
                <a:latin typeface="Bahnschrift SemiLight" pitchFamily="34" charset="0"/>
              </a:endParaRPr>
            </a:p>
          </p:txBody>
        </p:sp>
        <p:cxnSp>
          <p:nvCxnSpPr>
            <p:cNvPr id="12" name="Straight Connector 11"/>
            <p:cNvCxnSpPr/>
            <p:nvPr/>
          </p:nvCxnSpPr>
          <p:spPr>
            <a:xfrm>
              <a:off x="561638" y="714964"/>
              <a:ext cx="4592924" cy="0"/>
            </a:xfrm>
            <a:prstGeom prst="line">
              <a:avLst/>
            </a:prstGeom>
            <a:ln w="28575">
              <a:solidFill>
                <a:srgbClr val="00CC99"/>
              </a:solidFill>
            </a:ln>
          </p:spPr>
          <p:style>
            <a:lnRef idx="1">
              <a:schemeClr val="accent1"/>
            </a:lnRef>
            <a:fillRef idx="0">
              <a:schemeClr val="accent1"/>
            </a:fillRef>
            <a:effectRef idx="0">
              <a:schemeClr val="accent1"/>
            </a:effectRef>
            <a:fontRef idx="minor">
              <a:schemeClr val="tx1"/>
            </a:fontRef>
          </p:style>
        </p:cxnSp>
      </p:grpSp>
      <p:sp>
        <p:nvSpPr>
          <p:cNvPr id="5" name="Rectangle 4"/>
          <p:cNvSpPr/>
          <p:nvPr/>
        </p:nvSpPr>
        <p:spPr>
          <a:xfrm>
            <a:off x="307975" y="797510"/>
            <a:ext cx="11742999" cy="830997"/>
          </a:xfrm>
          <a:prstGeom prst="rect">
            <a:avLst/>
          </a:prstGeom>
        </p:spPr>
        <p:txBody>
          <a:bodyPr wrap="square">
            <a:spAutoFit/>
          </a:bodyPr>
          <a:lstStyle/>
          <a:p>
            <a:r>
              <a:rPr lang="en-US" sz="1600" dirty="0"/>
              <a:t>ReLu is the best and most advanced activation function right now compared to the sigmoid and TanH because all the drawbacks like </a:t>
            </a:r>
            <a:r>
              <a:rPr lang="en-US" sz="1600" dirty="0">
                <a:solidFill>
                  <a:srgbClr val="FF4B21"/>
                </a:solidFill>
              </a:rPr>
              <a:t>Vanishing Gradient Problem is completely </a:t>
            </a:r>
            <a:r>
              <a:rPr lang="en-US" sz="1600" dirty="0" smtClean="0">
                <a:solidFill>
                  <a:srgbClr val="FF4B21"/>
                </a:solidFill>
              </a:rPr>
              <a:t>resolved  </a:t>
            </a:r>
            <a:r>
              <a:rPr lang="en-US" sz="1600" dirty="0"/>
              <a:t>in this activation function which makes this activation function more advanced compare to other activation function</a:t>
            </a:r>
            <a:r>
              <a:rPr lang="en-US" sz="1600" dirty="0" smtClean="0"/>
              <a:t>.</a:t>
            </a:r>
            <a:endParaRPr lang="en-IN" sz="1600" dirty="0"/>
          </a:p>
        </p:txBody>
      </p:sp>
      <p:sp>
        <p:nvSpPr>
          <p:cNvPr id="6" name="Rectangle 5"/>
          <p:cNvSpPr/>
          <p:nvPr/>
        </p:nvSpPr>
        <p:spPr>
          <a:xfrm>
            <a:off x="925580" y="1865910"/>
            <a:ext cx="1961114" cy="369332"/>
          </a:xfrm>
          <a:prstGeom prst="rect">
            <a:avLst/>
          </a:prstGeom>
        </p:spPr>
        <p:txBody>
          <a:bodyPr wrap="none">
            <a:spAutoFit/>
          </a:bodyPr>
          <a:lstStyle/>
          <a:p>
            <a:r>
              <a:rPr lang="en-IN" b="1" dirty="0"/>
              <a:t>Range</a:t>
            </a:r>
            <a:r>
              <a:rPr lang="en-IN" dirty="0"/>
              <a:t>: 0 to infinity</a:t>
            </a:r>
          </a:p>
        </p:txBody>
      </p:sp>
      <p:sp>
        <p:nvSpPr>
          <p:cNvPr id="7" name="Rectangle 6"/>
          <p:cNvSpPr/>
          <p:nvPr/>
        </p:nvSpPr>
        <p:spPr>
          <a:xfrm>
            <a:off x="1301086" y="2708027"/>
            <a:ext cx="4089780" cy="1354217"/>
          </a:xfrm>
          <a:prstGeom prst="rect">
            <a:avLst/>
          </a:prstGeom>
        </p:spPr>
        <p:txBody>
          <a:bodyPr wrap="square">
            <a:spAutoFit/>
          </a:bodyPr>
          <a:lstStyle/>
          <a:p>
            <a:r>
              <a:rPr lang="en-US" sz="1600" dirty="0" smtClean="0"/>
              <a:t>Equation can be created by:</a:t>
            </a:r>
          </a:p>
          <a:p>
            <a:pPr lvl="5"/>
            <a:r>
              <a:rPr lang="en-US" sz="1600" dirty="0" smtClean="0"/>
              <a:t>{ </a:t>
            </a:r>
          </a:p>
          <a:p>
            <a:pPr lvl="6"/>
            <a:r>
              <a:rPr lang="en-US" sz="1600" dirty="0" smtClean="0"/>
              <a:t>Xi   </a:t>
            </a:r>
            <a:r>
              <a:rPr lang="en-US" sz="1600" dirty="0"/>
              <a:t>if </a:t>
            </a:r>
            <a:r>
              <a:rPr lang="en-US" sz="1600" dirty="0" smtClean="0"/>
              <a:t>  </a:t>
            </a:r>
            <a:r>
              <a:rPr lang="en-US" sz="1600" dirty="0"/>
              <a:t>x &gt;=0</a:t>
            </a:r>
          </a:p>
          <a:p>
            <a:pPr lvl="6"/>
            <a:r>
              <a:rPr lang="en-US" sz="1600" dirty="0"/>
              <a:t>0 </a:t>
            </a:r>
            <a:r>
              <a:rPr lang="en-US" sz="1600" dirty="0" smtClean="0"/>
              <a:t>   if   </a:t>
            </a:r>
            <a:r>
              <a:rPr lang="en-US" sz="1600" dirty="0"/>
              <a:t>x &lt;=0 </a:t>
            </a:r>
            <a:endParaRPr lang="en-US" sz="1600" dirty="0" smtClean="0"/>
          </a:p>
          <a:p>
            <a:pPr lvl="5"/>
            <a:r>
              <a:rPr lang="en-US" sz="1600" dirty="0" smtClean="0"/>
              <a:t>}</a:t>
            </a:r>
            <a:endParaRPr lang="en-US" sz="1600" dirty="0"/>
          </a:p>
        </p:txBody>
      </p:sp>
      <p:sp>
        <p:nvSpPr>
          <p:cNvPr id="10" name="Rectangle 9"/>
          <p:cNvSpPr/>
          <p:nvPr/>
        </p:nvSpPr>
        <p:spPr>
          <a:xfrm>
            <a:off x="2522551" y="5970028"/>
            <a:ext cx="6096000" cy="584775"/>
          </a:xfrm>
          <a:prstGeom prst="rect">
            <a:avLst/>
          </a:prstGeom>
        </p:spPr>
        <p:txBody>
          <a:bodyPr>
            <a:spAutoFit/>
          </a:bodyPr>
          <a:lstStyle/>
          <a:p>
            <a:r>
              <a:rPr lang="en-US" sz="1600" dirty="0"/>
              <a:t>+Side  : linear in Nature</a:t>
            </a:r>
          </a:p>
          <a:p>
            <a:r>
              <a:rPr lang="en-US" sz="1600" dirty="0"/>
              <a:t>-Side  : Output Zero</a:t>
            </a:r>
            <a:endParaRPr lang="en-IN" sz="16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0551" y="1443395"/>
            <a:ext cx="5981622" cy="4526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68645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Navigating the Future of Learning​</a:t>
            </a:r>
            <a:endParaRPr lang="en-US" dirty="0"/>
          </a:p>
        </p:txBody>
      </p:sp>
      <p:grpSp>
        <p:nvGrpSpPr>
          <p:cNvPr id="5" name="Group 4"/>
          <p:cNvGrpSpPr/>
          <p:nvPr/>
        </p:nvGrpSpPr>
        <p:grpSpPr>
          <a:xfrm>
            <a:off x="204716" y="336726"/>
            <a:ext cx="3130119" cy="340134"/>
            <a:chOff x="1492971" y="258160"/>
            <a:chExt cx="3130119" cy="340134"/>
          </a:xfrm>
          <a:solidFill>
            <a:srgbClr val="0070C0"/>
          </a:solidFill>
        </p:grpSpPr>
        <p:sp>
          <p:nvSpPr>
            <p:cNvPr id="6" name="Rectangle 5"/>
            <p:cNvSpPr/>
            <p:nvPr/>
          </p:nvSpPr>
          <p:spPr>
            <a:xfrm>
              <a:off x="1492971" y="258160"/>
              <a:ext cx="3130119" cy="323165"/>
            </a:xfrm>
            <a:prstGeom prst="rect">
              <a:avLst/>
            </a:prstGeom>
            <a:grpFill/>
            <a:ln>
              <a:solidFill>
                <a:srgbClr val="00B050"/>
              </a:solidFill>
            </a:ln>
          </p:spPr>
          <p:txBody>
            <a:bodyPr wrap="square" rtlCol="0">
              <a:spAutoFit/>
            </a:bodyPr>
            <a:lstStyle/>
            <a:p>
              <a:r>
                <a:rPr lang="en-IN" sz="1500" dirty="0" smtClean="0">
                  <a:solidFill>
                    <a:schemeClr val="bg1"/>
                  </a:solidFill>
                  <a:latin typeface="Bahnschrift Light" pitchFamily="34" charset="0"/>
                  <a:ea typeface="Arial Unicode MS" pitchFamily="34" charset="-128"/>
                  <a:cs typeface="Arial Unicode MS" pitchFamily="34" charset="-128"/>
                </a:rPr>
                <a:t>Activation Function</a:t>
              </a:r>
              <a:endParaRPr lang="en-IN" sz="1500" dirty="0">
                <a:solidFill>
                  <a:schemeClr val="bg1"/>
                </a:solidFill>
                <a:latin typeface="Bahnschrift Light" pitchFamily="34" charset="0"/>
                <a:ea typeface="Arial Unicode MS" pitchFamily="34" charset="-128"/>
                <a:cs typeface="Arial Unicode MS" pitchFamily="34" charset="-128"/>
              </a:endParaRPr>
            </a:p>
          </p:txBody>
        </p:sp>
        <p:cxnSp>
          <p:nvCxnSpPr>
            <p:cNvPr id="7" name="Straight Connector 6"/>
            <p:cNvCxnSpPr/>
            <p:nvPr/>
          </p:nvCxnSpPr>
          <p:spPr>
            <a:xfrm>
              <a:off x="1492971" y="598294"/>
              <a:ext cx="3130119" cy="0"/>
            </a:xfrm>
            <a:prstGeom prst="line">
              <a:avLst/>
            </a:prstGeom>
            <a:grpFill/>
            <a:ln>
              <a:solidFill>
                <a:schemeClr val="accent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31742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Navigating the Future of Learning​</a:t>
            </a:r>
            <a:endParaRPr lang="en-US" dirty="0"/>
          </a:p>
        </p:txBody>
      </p:sp>
    </p:spTree>
    <p:extLst>
      <p:ext uri="{BB962C8B-B14F-4D97-AF65-F5344CB8AC3E}">
        <p14:creationId xmlns:p14="http://schemas.microsoft.com/office/powerpoint/2010/main" val="3512550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Navigating the Future of Learning​</a:t>
            </a:r>
            <a:endParaRPr lang="en-US" dirty="0"/>
          </a:p>
        </p:txBody>
      </p:sp>
    </p:spTree>
    <p:extLst>
      <p:ext uri="{BB962C8B-B14F-4D97-AF65-F5344CB8AC3E}">
        <p14:creationId xmlns:p14="http://schemas.microsoft.com/office/powerpoint/2010/main" val="3040927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Navigating the Future of Learning​</a:t>
            </a:r>
            <a:endParaRPr lang="en-US" dirty="0"/>
          </a:p>
        </p:txBody>
      </p:sp>
    </p:spTree>
    <p:extLst>
      <p:ext uri="{BB962C8B-B14F-4D97-AF65-F5344CB8AC3E}">
        <p14:creationId xmlns:p14="http://schemas.microsoft.com/office/powerpoint/2010/main" val="3056290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Navigating the Future of Learning​</a:t>
            </a:r>
            <a:endParaRPr lang="en-US" dirty="0"/>
          </a:p>
        </p:txBody>
      </p:sp>
    </p:spTree>
    <p:extLst>
      <p:ext uri="{BB962C8B-B14F-4D97-AF65-F5344CB8AC3E}">
        <p14:creationId xmlns:p14="http://schemas.microsoft.com/office/powerpoint/2010/main" val="3418864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Navigating the Future of Learning​</a:t>
            </a:r>
            <a:endParaRPr lang="en-US" dirty="0"/>
          </a:p>
        </p:txBody>
      </p:sp>
    </p:spTree>
    <p:extLst>
      <p:ext uri="{BB962C8B-B14F-4D97-AF65-F5344CB8AC3E}">
        <p14:creationId xmlns:p14="http://schemas.microsoft.com/office/powerpoint/2010/main" val="9125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19" name="TextBox 18"/>
          <p:cNvSpPr txBox="1"/>
          <p:nvPr/>
        </p:nvSpPr>
        <p:spPr>
          <a:xfrm>
            <a:off x="4135272" y="396660"/>
            <a:ext cx="1798890" cy="369332"/>
          </a:xfrm>
          <a:prstGeom prst="rect">
            <a:avLst/>
          </a:prstGeom>
          <a:noFill/>
        </p:spPr>
        <p:txBody>
          <a:bodyPr wrap="none" rtlCol="0">
            <a:spAutoFit/>
          </a:bodyPr>
          <a:lstStyle/>
          <a:p>
            <a:r>
              <a:rPr lang="en-US" b="1" dirty="0" smtClean="0">
                <a:latin typeface="Bahnschrift" pitchFamily="34" charset="0"/>
              </a:rPr>
              <a:t>Neural network</a:t>
            </a:r>
            <a:endParaRPr lang="en-IN" b="1" dirty="0">
              <a:latin typeface="Bahnschrift" pitchFamily="34" charset="0"/>
            </a:endParaRPr>
          </a:p>
        </p:txBody>
      </p:sp>
      <p:sp>
        <p:nvSpPr>
          <p:cNvPr id="21" name="TextBox 20"/>
          <p:cNvSpPr txBox="1"/>
          <p:nvPr/>
        </p:nvSpPr>
        <p:spPr>
          <a:xfrm>
            <a:off x="1746913" y="1828800"/>
            <a:ext cx="1101584" cy="646331"/>
          </a:xfrm>
          <a:prstGeom prst="rect">
            <a:avLst/>
          </a:prstGeom>
          <a:noFill/>
        </p:spPr>
        <p:txBody>
          <a:bodyPr wrap="none" rtlCol="0">
            <a:spAutoFit/>
          </a:bodyPr>
          <a:lstStyle/>
          <a:p>
            <a:r>
              <a:rPr lang="en-US" dirty="0" smtClean="0">
                <a:latin typeface="Bahnschrift" pitchFamily="34" charset="0"/>
              </a:rPr>
              <a:t>Deep </a:t>
            </a:r>
          </a:p>
          <a:p>
            <a:r>
              <a:rPr lang="en-US" dirty="0" smtClean="0">
                <a:latin typeface="Bahnschrift" pitchFamily="34" charset="0"/>
              </a:rPr>
              <a:t>Learning</a:t>
            </a:r>
            <a:endParaRPr lang="en-IN" dirty="0">
              <a:latin typeface="Bahnschrift" pitchFamily="34" charset="0"/>
            </a:endParaRPr>
          </a:p>
        </p:txBody>
      </p:sp>
      <p:sp>
        <p:nvSpPr>
          <p:cNvPr id="34" name="TextBox 33"/>
          <p:cNvSpPr txBox="1"/>
          <p:nvPr/>
        </p:nvSpPr>
        <p:spPr>
          <a:xfrm>
            <a:off x="7165075" y="1346161"/>
            <a:ext cx="3502562" cy="338554"/>
          </a:xfrm>
          <a:prstGeom prst="rect">
            <a:avLst/>
          </a:prstGeom>
          <a:noFill/>
        </p:spPr>
        <p:txBody>
          <a:bodyPr wrap="none" rtlCol="0">
            <a:spAutoFit/>
          </a:bodyPr>
          <a:lstStyle/>
          <a:p>
            <a:r>
              <a:rPr lang="en-US" sz="1600" dirty="0" smtClean="0"/>
              <a:t>It(ANN) is a foundation of all neural net.</a:t>
            </a:r>
            <a:endParaRPr lang="en-IN" sz="1600" dirty="0"/>
          </a:p>
        </p:txBody>
      </p:sp>
      <p:cxnSp>
        <p:nvCxnSpPr>
          <p:cNvPr id="41" name="Straight Connector 40"/>
          <p:cNvCxnSpPr/>
          <p:nvPr/>
        </p:nvCxnSpPr>
        <p:spPr>
          <a:xfrm>
            <a:off x="7165075" y="765992"/>
            <a:ext cx="0" cy="1363059"/>
          </a:xfrm>
          <a:prstGeom prst="line">
            <a:avLst/>
          </a:prstGeom>
        </p:spPr>
        <p:style>
          <a:lnRef idx="1">
            <a:schemeClr val="accent1"/>
          </a:lnRef>
          <a:fillRef idx="0">
            <a:schemeClr val="accent1"/>
          </a:fillRef>
          <a:effectRef idx="0">
            <a:schemeClr val="accent1"/>
          </a:effectRef>
          <a:fontRef idx="minor">
            <a:schemeClr val="tx1"/>
          </a:fontRef>
        </p:style>
      </p:cxnSp>
      <p:grpSp>
        <p:nvGrpSpPr>
          <p:cNvPr id="50" name="Group 49"/>
          <p:cNvGrpSpPr/>
          <p:nvPr/>
        </p:nvGrpSpPr>
        <p:grpSpPr>
          <a:xfrm>
            <a:off x="3519886" y="1489041"/>
            <a:ext cx="3034741" cy="338554"/>
            <a:chOff x="3519886" y="1489041"/>
            <a:chExt cx="3034741" cy="338554"/>
          </a:xfrm>
        </p:grpSpPr>
        <p:sp>
          <p:nvSpPr>
            <p:cNvPr id="33" name="TextBox 32"/>
            <p:cNvSpPr txBox="1"/>
            <p:nvPr/>
          </p:nvSpPr>
          <p:spPr>
            <a:xfrm>
              <a:off x="3725839" y="1489041"/>
              <a:ext cx="2828788" cy="338554"/>
            </a:xfrm>
            <a:prstGeom prst="rect">
              <a:avLst/>
            </a:prstGeom>
            <a:noFill/>
          </p:spPr>
          <p:txBody>
            <a:bodyPr wrap="none" rtlCol="0">
              <a:spAutoFit/>
            </a:bodyPr>
            <a:lstStyle/>
            <a:p>
              <a:r>
                <a:rPr lang="en-US" sz="1600" dirty="0" smtClean="0"/>
                <a:t>ANN – Artificial Neural Network</a:t>
              </a:r>
              <a:endParaRPr lang="en-IN" sz="1600" dirty="0"/>
            </a:p>
          </p:txBody>
        </p:sp>
        <p:cxnSp>
          <p:nvCxnSpPr>
            <p:cNvPr id="49" name="Straight Connector 48"/>
            <p:cNvCxnSpPr/>
            <p:nvPr/>
          </p:nvCxnSpPr>
          <p:spPr>
            <a:xfrm flipV="1">
              <a:off x="3519886" y="1658318"/>
              <a:ext cx="328164" cy="571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7" name="Group 56"/>
          <p:cNvGrpSpPr/>
          <p:nvPr/>
        </p:nvGrpSpPr>
        <p:grpSpPr>
          <a:xfrm>
            <a:off x="3519886" y="764275"/>
            <a:ext cx="2991650" cy="1883391"/>
            <a:chOff x="3519886" y="764275"/>
            <a:chExt cx="2991650" cy="1883391"/>
          </a:xfrm>
        </p:grpSpPr>
        <p:grpSp>
          <p:nvGrpSpPr>
            <p:cNvPr id="45" name="Group 44"/>
            <p:cNvGrpSpPr/>
            <p:nvPr/>
          </p:nvGrpSpPr>
          <p:grpSpPr>
            <a:xfrm>
              <a:off x="3519886" y="764275"/>
              <a:ext cx="656329" cy="1883391"/>
              <a:chOff x="3519886" y="764275"/>
              <a:chExt cx="656329" cy="1883391"/>
            </a:xfrm>
          </p:grpSpPr>
          <p:sp>
            <p:nvSpPr>
              <p:cNvPr id="30" name="Freeform 29"/>
              <p:cNvSpPr/>
              <p:nvPr/>
            </p:nvSpPr>
            <p:spPr>
              <a:xfrm>
                <a:off x="3519886" y="764275"/>
                <a:ext cx="656329" cy="724766"/>
              </a:xfrm>
              <a:custGeom>
                <a:avLst/>
                <a:gdLst>
                  <a:gd name="connsiteX0" fmla="*/ 656329 w 656329"/>
                  <a:gd name="connsiteY0" fmla="*/ 0 h 724766"/>
                  <a:gd name="connsiteX1" fmla="*/ 55827 w 656329"/>
                  <a:gd name="connsiteY1" fmla="*/ 655092 h 724766"/>
                  <a:gd name="connsiteX2" fmla="*/ 69475 w 656329"/>
                  <a:gd name="connsiteY2" fmla="*/ 655092 h 724766"/>
                  <a:gd name="connsiteX3" fmla="*/ 437965 w 656329"/>
                  <a:gd name="connsiteY3" fmla="*/ 204716 h 724766"/>
                  <a:gd name="connsiteX4" fmla="*/ 437965 w 656329"/>
                  <a:gd name="connsiteY4" fmla="*/ 204716 h 724766"/>
                  <a:gd name="connsiteX5" fmla="*/ 96771 w 656329"/>
                  <a:gd name="connsiteY5" fmla="*/ 655092 h 724766"/>
                  <a:gd name="connsiteX6" fmla="*/ 96771 w 656329"/>
                  <a:gd name="connsiteY6" fmla="*/ 655092 h 7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6329" h="724766">
                    <a:moveTo>
                      <a:pt x="656329" y="0"/>
                    </a:moveTo>
                    <a:lnTo>
                      <a:pt x="55827" y="655092"/>
                    </a:lnTo>
                    <a:cubicBezTo>
                      <a:pt x="-41982" y="764274"/>
                      <a:pt x="5785" y="730155"/>
                      <a:pt x="69475" y="655092"/>
                    </a:cubicBezTo>
                    <a:cubicBezTo>
                      <a:pt x="133165" y="580029"/>
                      <a:pt x="437965" y="204716"/>
                      <a:pt x="437965" y="204716"/>
                    </a:cubicBezTo>
                    <a:lnTo>
                      <a:pt x="437965" y="204716"/>
                    </a:lnTo>
                    <a:lnTo>
                      <a:pt x="96771" y="655092"/>
                    </a:lnTo>
                    <a:lnTo>
                      <a:pt x="96771" y="655092"/>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cxnSp>
            <p:nvCxnSpPr>
              <p:cNvPr id="44" name="Straight Connector 43"/>
              <p:cNvCxnSpPr/>
              <p:nvPr/>
            </p:nvCxnSpPr>
            <p:spPr>
              <a:xfrm>
                <a:off x="3519886" y="1447521"/>
                <a:ext cx="0" cy="1200145"/>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5" name="Straight Connector 54"/>
            <p:cNvCxnSpPr/>
            <p:nvPr/>
          </p:nvCxnSpPr>
          <p:spPr>
            <a:xfrm>
              <a:off x="3519886" y="2033516"/>
              <a:ext cx="328164" cy="0"/>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3848050" y="1903441"/>
              <a:ext cx="2663486" cy="338554"/>
            </a:xfrm>
            <a:prstGeom prst="rect">
              <a:avLst/>
            </a:prstGeom>
            <a:noFill/>
          </p:spPr>
          <p:txBody>
            <a:bodyPr wrap="none" rtlCol="0">
              <a:spAutoFit/>
            </a:bodyPr>
            <a:lstStyle/>
            <a:p>
              <a:r>
                <a:rPr lang="en-US" sz="1600" dirty="0" smtClean="0"/>
                <a:t>Cnn – Convolution neural net.</a:t>
              </a:r>
              <a:endParaRPr lang="en-IN" sz="1600" dirty="0"/>
            </a:p>
          </p:txBody>
        </p:sp>
      </p:grpSp>
      <p:grpSp>
        <p:nvGrpSpPr>
          <p:cNvPr id="63" name="Group 62"/>
          <p:cNvGrpSpPr/>
          <p:nvPr/>
        </p:nvGrpSpPr>
        <p:grpSpPr>
          <a:xfrm>
            <a:off x="3519886" y="2222548"/>
            <a:ext cx="3365946" cy="338554"/>
            <a:chOff x="3519886" y="2222548"/>
            <a:chExt cx="3365946" cy="338554"/>
          </a:xfrm>
        </p:grpSpPr>
        <p:cxnSp>
          <p:nvCxnSpPr>
            <p:cNvPr id="59" name="Straight Connector 58"/>
            <p:cNvCxnSpPr/>
            <p:nvPr/>
          </p:nvCxnSpPr>
          <p:spPr>
            <a:xfrm>
              <a:off x="3519886" y="2391825"/>
              <a:ext cx="437965"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3957851" y="2222548"/>
              <a:ext cx="2927981" cy="338554"/>
            </a:xfrm>
            <a:prstGeom prst="rect">
              <a:avLst/>
            </a:prstGeom>
            <a:noFill/>
          </p:spPr>
          <p:txBody>
            <a:bodyPr wrap="none" rtlCol="0">
              <a:spAutoFit/>
            </a:bodyPr>
            <a:lstStyle/>
            <a:p>
              <a:r>
                <a:rPr lang="en-US" sz="1600" dirty="0" smtClean="0"/>
                <a:t>RNN – Recurrent Neural network</a:t>
              </a:r>
              <a:endParaRPr lang="en-IN" sz="1600" dirty="0"/>
            </a:p>
          </p:txBody>
        </p:sp>
      </p:grpSp>
      <p:sp>
        <p:nvSpPr>
          <p:cNvPr id="65" name="TextBox 64"/>
          <p:cNvSpPr txBox="1"/>
          <p:nvPr/>
        </p:nvSpPr>
        <p:spPr>
          <a:xfrm>
            <a:off x="7839697" y="2241995"/>
            <a:ext cx="3883820" cy="369332"/>
          </a:xfrm>
          <a:prstGeom prst="rect">
            <a:avLst/>
          </a:prstGeom>
          <a:noFill/>
        </p:spPr>
        <p:txBody>
          <a:bodyPr wrap="none" rtlCol="0">
            <a:spAutoFit/>
          </a:bodyPr>
          <a:lstStyle/>
          <a:p>
            <a:r>
              <a:rPr lang="en-US" dirty="0" smtClean="0"/>
              <a:t>It is also called feed forward neural net.</a:t>
            </a:r>
            <a:endParaRPr lang="en-IN" dirty="0"/>
          </a:p>
        </p:txBody>
      </p:sp>
      <p:sp>
        <p:nvSpPr>
          <p:cNvPr id="66" name="Freeform 65"/>
          <p:cNvSpPr/>
          <p:nvPr/>
        </p:nvSpPr>
        <p:spPr>
          <a:xfrm>
            <a:off x="6400800" y="1651379"/>
            <a:ext cx="2306477" cy="970572"/>
          </a:xfrm>
          <a:custGeom>
            <a:avLst/>
            <a:gdLst>
              <a:gd name="connsiteX0" fmla="*/ 0 w 2306477"/>
              <a:gd name="connsiteY0" fmla="*/ 0 h 970572"/>
              <a:gd name="connsiteX1" fmla="*/ 1514901 w 2306477"/>
              <a:gd name="connsiteY1" fmla="*/ 818866 h 970572"/>
              <a:gd name="connsiteX2" fmla="*/ 1514901 w 2306477"/>
              <a:gd name="connsiteY2" fmla="*/ 818866 h 970572"/>
              <a:gd name="connsiteX3" fmla="*/ 2306472 w 2306477"/>
              <a:gd name="connsiteY3" fmla="*/ 968991 h 970572"/>
              <a:gd name="connsiteX4" fmla="*/ 1501254 w 2306477"/>
              <a:gd name="connsiteY4" fmla="*/ 887105 h 970572"/>
              <a:gd name="connsiteX5" fmla="*/ 1310185 w 2306477"/>
              <a:gd name="connsiteY5" fmla="*/ 723331 h 970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6477" h="970572">
                <a:moveTo>
                  <a:pt x="0" y="0"/>
                </a:moveTo>
                <a:lnTo>
                  <a:pt x="1514901" y="818866"/>
                </a:lnTo>
                <a:lnTo>
                  <a:pt x="1514901" y="818866"/>
                </a:lnTo>
                <a:cubicBezTo>
                  <a:pt x="1646829" y="843887"/>
                  <a:pt x="2308747" y="957618"/>
                  <a:pt x="2306472" y="968991"/>
                </a:cubicBezTo>
                <a:cubicBezTo>
                  <a:pt x="2304197" y="980364"/>
                  <a:pt x="1667302" y="928048"/>
                  <a:pt x="1501254" y="887105"/>
                </a:cubicBezTo>
                <a:cubicBezTo>
                  <a:pt x="1335206" y="846162"/>
                  <a:pt x="1322695" y="784746"/>
                  <a:pt x="1310185" y="723331"/>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67" name="TextBox 66"/>
          <p:cNvSpPr txBox="1"/>
          <p:nvPr/>
        </p:nvSpPr>
        <p:spPr>
          <a:xfrm>
            <a:off x="3519886" y="3603009"/>
            <a:ext cx="3559885" cy="369332"/>
          </a:xfrm>
          <a:prstGeom prst="rect">
            <a:avLst/>
          </a:prstGeom>
          <a:noFill/>
        </p:spPr>
        <p:txBody>
          <a:bodyPr wrap="none" rtlCol="0">
            <a:spAutoFit/>
          </a:bodyPr>
          <a:lstStyle/>
          <a:p>
            <a:r>
              <a:rPr lang="en-US" dirty="0" smtClean="0"/>
              <a:t>It is mainly used for simple task like-</a:t>
            </a:r>
            <a:endParaRPr lang="en-IN" dirty="0"/>
          </a:p>
        </p:txBody>
      </p:sp>
      <p:sp>
        <p:nvSpPr>
          <p:cNvPr id="68" name="TextBox 67"/>
          <p:cNvSpPr txBox="1"/>
          <p:nvPr/>
        </p:nvSpPr>
        <p:spPr>
          <a:xfrm>
            <a:off x="4844955" y="3972341"/>
            <a:ext cx="1826141" cy="400110"/>
          </a:xfrm>
          <a:prstGeom prst="rect">
            <a:avLst/>
          </a:prstGeom>
          <a:noFill/>
        </p:spPr>
        <p:txBody>
          <a:bodyPr wrap="none" rtlCol="0">
            <a:spAutoFit/>
          </a:bodyPr>
          <a:lstStyle/>
          <a:p>
            <a:r>
              <a:rPr lang="en-US" sz="2000" dirty="0" smtClean="0">
                <a:latin typeface="Agency FB" pitchFamily="34" charset="0"/>
              </a:rPr>
              <a:t>Email Spam Checker</a:t>
            </a:r>
            <a:endParaRPr lang="en-IN" sz="2000" dirty="0">
              <a:latin typeface="Agency FB" pitchFamily="34" charset="0"/>
            </a:endParaRPr>
          </a:p>
        </p:txBody>
      </p:sp>
      <p:sp>
        <p:nvSpPr>
          <p:cNvPr id="69" name="TextBox 68"/>
          <p:cNvSpPr txBox="1"/>
          <p:nvPr/>
        </p:nvSpPr>
        <p:spPr>
          <a:xfrm>
            <a:off x="3484759" y="4954137"/>
            <a:ext cx="3118098" cy="338554"/>
          </a:xfrm>
          <a:prstGeom prst="rect">
            <a:avLst/>
          </a:prstGeom>
          <a:noFill/>
        </p:spPr>
        <p:txBody>
          <a:bodyPr wrap="none" rtlCol="0">
            <a:spAutoFit/>
          </a:bodyPr>
          <a:lstStyle/>
          <a:p>
            <a:r>
              <a:rPr lang="en-US" sz="1600" dirty="0" smtClean="0">
                <a:latin typeface="Bahnschrift Condensed" pitchFamily="34" charset="0"/>
              </a:rPr>
              <a:t>Struggles with  </a:t>
            </a:r>
            <a:r>
              <a:rPr lang="en-US" sz="1600" dirty="0" smtClean="0"/>
              <a:t>: Complex Task Jus like</a:t>
            </a:r>
            <a:endParaRPr lang="en-IN" sz="1600" dirty="0"/>
          </a:p>
        </p:txBody>
      </p:sp>
      <p:sp>
        <p:nvSpPr>
          <p:cNvPr id="70" name="TextBox 69"/>
          <p:cNvSpPr txBox="1"/>
          <p:nvPr/>
        </p:nvSpPr>
        <p:spPr>
          <a:xfrm>
            <a:off x="4797655" y="5324705"/>
            <a:ext cx="1465145" cy="584775"/>
          </a:xfrm>
          <a:prstGeom prst="rect">
            <a:avLst/>
          </a:prstGeom>
          <a:noFill/>
        </p:spPr>
        <p:txBody>
          <a:bodyPr wrap="none" rtlCol="0">
            <a:spAutoFit/>
          </a:bodyPr>
          <a:lstStyle/>
          <a:p>
            <a:r>
              <a:rPr lang="en-US" sz="1600" dirty="0" smtClean="0"/>
              <a:t>Images</a:t>
            </a:r>
          </a:p>
          <a:p>
            <a:r>
              <a:rPr lang="en-US" sz="1600" dirty="0" smtClean="0"/>
              <a:t>Sequential Task</a:t>
            </a:r>
            <a:endParaRPr lang="en-IN" sz="1600" dirty="0"/>
          </a:p>
        </p:txBody>
      </p:sp>
      <p:sp>
        <p:nvSpPr>
          <p:cNvPr id="2" name="Freeform 1"/>
          <p:cNvSpPr/>
          <p:nvPr/>
        </p:nvSpPr>
        <p:spPr>
          <a:xfrm>
            <a:off x="1696294" y="798490"/>
            <a:ext cx="1647860" cy="6015451"/>
          </a:xfrm>
          <a:custGeom>
            <a:avLst/>
            <a:gdLst>
              <a:gd name="connsiteX0" fmla="*/ 557509 w 1647860"/>
              <a:gd name="connsiteY0" fmla="*/ 0 h 6015451"/>
              <a:gd name="connsiteX1" fmla="*/ 1459030 w 1647860"/>
              <a:gd name="connsiteY1" fmla="*/ 1558344 h 6015451"/>
              <a:gd name="connsiteX2" fmla="*/ 1497667 w 1647860"/>
              <a:gd name="connsiteY2" fmla="*/ 1815921 h 6015451"/>
              <a:gd name="connsiteX3" fmla="*/ 1549182 w 1647860"/>
              <a:gd name="connsiteY3" fmla="*/ 1944710 h 6015451"/>
              <a:gd name="connsiteX4" fmla="*/ 42354 w 1647860"/>
              <a:gd name="connsiteY4" fmla="*/ 2086378 h 6015451"/>
              <a:gd name="connsiteX5" fmla="*/ 42354 w 1647860"/>
              <a:gd name="connsiteY5" fmla="*/ 2086378 h 6015451"/>
              <a:gd name="connsiteX6" fmla="*/ 3717 w 1647860"/>
              <a:gd name="connsiteY6" fmla="*/ 5666704 h 6015451"/>
              <a:gd name="connsiteX7" fmla="*/ 3717 w 1647860"/>
              <a:gd name="connsiteY7" fmla="*/ 5679583 h 601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7860" h="6015451">
                <a:moveTo>
                  <a:pt x="557509" y="0"/>
                </a:moveTo>
                <a:cubicBezTo>
                  <a:pt x="929923" y="627845"/>
                  <a:pt x="1302337" y="1255691"/>
                  <a:pt x="1459030" y="1558344"/>
                </a:cubicBezTo>
                <a:cubicBezTo>
                  <a:pt x="1615723" y="1860997"/>
                  <a:pt x="1482642" y="1751527"/>
                  <a:pt x="1497667" y="1815921"/>
                </a:cubicBezTo>
                <a:cubicBezTo>
                  <a:pt x="1512692" y="1880315"/>
                  <a:pt x="1791734" y="1899634"/>
                  <a:pt x="1549182" y="1944710"/>
                </a:cubicBezTo>
                <a:cubicBezTo>
                  <a:pt x="1306630" y="1989786"/>
                  <a:pt x="42354" y="2086378"/>
                  <a:pt x="42354" y="2086378"/>
                </a:cubicBezTo>
                <a:lnTo>
                  <a:pt x="42354" y="2086378"/>
                </a:lnTo>
                <a:cubicBezTo>
                  <a:pt x="35914" y="2683099"/>
                  <a:pt x="10156" y="5067837"/>
                  <a:pt x="3717" y="5666704"/>
                </a:cubicBezTo>
                <a:cubicBezTo>
                  <a:pt x="-2722" y="6265571"/>
                  <a:pt x="497" y="5972577"/>
                  <a:pt x="3717" y="5679583"/>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Tree>
    <p:extLst>
      <p:ext uri="{BB962C8B-B14F-4D97-AF65-F5344CB8AC3E}">
        <p14:creationId xmlns:p14="http://schemas.microsoft.com/office/powerpoint/2010/main" val="1471834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457512" y="211994"/>
            <a:ext cx="651140" cy="369332"/>
          </a:xfrm>
          <a:prstGeom prst="rect">
            <a:avLst/>
          </a:prstGeom>
        </p:spPr>
        <p:txBody>
          <a:bodyPr wrap="none">
            <a:spAutoFit/>
          </a:bodyPr>
          <a:lstStyle/>
          <a:p>
            <a:r>
              <a:rPr lang="en-IN" b="1" dirty="0" smtClean="0">
                <a:latin typeface="Bahnschrift" pitchFamily="34" charset="0"/>
              </a:rPr>
              <a:t>CNN</a:t>
            </a:r>
            <a:endParaRPr lang="en-IN" b="1" dirty="0">
              <a:latin typeface="Bahnschrift" pitchFamily="34" charset="0"/>
            </a:endParaRPr>
          </a:p>
        </p:txBody>
      </p:sp>
      <p:sp>
        <p:nvSpPr>
          <p:cNvPr id="3" name="Rectangle 2"/>
          <p:cNvSpPr/>
          <p:nvPr/>
        </p:nvSpPr>
        <p:spPr>
          <a:xfrm>
            <a:off x="2108652" y="191027"/>
            <a:ext cx="2538131" cy="338554"/>
          </a:xfrm>
          <a:prstGeom prst="rect">
            <a:avLst/>
          </a:prstGeom>
        </p:spPr>
        <p:txBody>
          <a:bodyPr wrap="none">
            <a:spAutoFit/>
          </a:bodyPr>
          <a:lstStyle/>
          <a:p>
            <a:r>
              <a:rPr lang="en-IN" sz="1600" dirty="0" smtClean="0"/>
              <a:t>Convolution </a:t>
            </a:r>
            <a:r>
              <a:rPr lang="en-IN" sz="1600" dirty="0"/>
              <a:t>neural Network</a:t>
            </a:r>
          </a:p>
        </p:txBody>
      </p:sp>
      <p:sp>
        <p:nvSpPr>
          <p:cNvPr id="5" name="Rectangle 4"/>
          <p:cNvSpPr/>
          <p:nvPr/>
        </p:nvSpPr>
        <p:spPr>
          <a:xfrm>
            <a:off x="2565616" y="788098"/>
            <a:ext cx="5000215" cy="338554"/>
          </a:xfrm>
          <a:prstGeom prst="rect">
            <a:avLst/>
          </a:prstGeom>
          <a:ln>
            <a:solidFill>
              <a:schemeClr val="bg1">
                <a:lumMod val="95000"/>
              </a:schemeClr>
            </a:solidFill>
          </a:ln>
        </p:spPr>
        <p:txBody>
          <a:bodyPr wrap="none">
            <a:spAutoFit/>
          </a:bodyPr>
          <a:lstStyle/>
          <a:p>
            <a:r>
              <a:rPr lang="en-US" sz="1600" dirty="0"/>
              <a:t>We used it when we are dealing with images or any shape</a:t>
            </a:r>
            <a:endParaRPr lang="en-IN" sz="1600" dirty="0"/>
          </a:p>
        </p:txBody>
      </p:sp>
      <p:grpSp>
        <p:nvGrpSpPr>
          <p:cNvPr id="29" name="Group 28"/>
          <p:cNvGrpSpPr/>
          <p:nvPr/>
        </p:nvGrpSpPr>
        <p:grpSpPr>
          <a:xfrm>
            <a:off x="1449497" y="1482942"/>
            <a:ext cx="3038909" cy="370474"/>
            <a:chOff x="1449497" y="1482942"/>
            <a:chExt cx="3038909" cy="370474"/>
          </a:xfrm>
        </p:grpSpPr>
        <p:sp>
          <p:nvSpPr>
            <p:cNvPr id="9" name="Rectangle 8"/>
            <p:cNvSpPr/>
            <p:nvPr/>
          </p:nvSpPr>
          <p:spPr>
            <a:xfrm>
              <a:off x="1449497" y="1484084"/>
              <a:ext cx="659155" cy="369332"/>
            </a:xfrm>
            <a:prstGeom prst="rect">
              <a:avLst/>
            </a:prstGeom>
          </p:spPr>
          <p:txBody>
            <a:bodyPr wrap="none">
              <a:spAutoFit/>
            </a:bodyPr>
            <a:lstStyle/>
            <a:p>
              <a:r>
                <a:rPr lang="en-IN" b="1" dirty="0">
                  <a:latin typeface="Bahnschrift" pitchFamily="34" charset="0"/>
                </a:rPr>
                <a:t>RNN</a:t>
              </a:r>
            </a:p>
          </p:txBody>
        </p:sp>
        <p:sp>
          <p:nvSpPr>
            <p:cNvPr id="10" name="Rectangle 9"/>
            <p:cNvSpPr/>
            <p:nvPr/>
          </p:nvSpPr>
          <p:spPr>
            <a:xfrm>
              <a:off x="2108652" y="1482942"/>
              <a:ext cx="2379754" cy="338554"/>
            </a:xfrm>
            <a:prstGeom prst="rect">
              <a:avLst/>
            </a:prstGeom>
          </p:spPr>
          <p:txBody>
            <a:bodyPr wrap="none">
              <a:spAutoFit/>
            </a:bodyPr>
            <a:lstStyle/>
            <a:p>
              <a:r>
                <a:rPr lang="en-IN" sz="1600" dirty="0"/>
                <a:t>Recurrent Neural Network</a:t>
              </a:r>
            </a:p>
          </p:txBody>
        </p:sp>
      </p:grpSp>
      <p:sp>
        <p:nvSpPr>
          <p:cNvPr id="11" name="Rectangle 10"/>
          <p:cNvSpPr/>
          <p:nvPr/>
        </p:nvSpPr>
        <p:spPr>
          <a:xfrm>
            <a:off x="3396528" y="1815057"/>
            <a:ext cx="5378845" cy="338554"/>
          </a:xfrm>
          <a:prstGeom prst="rect">
            <a:avLst/>
          </a:prstGeom>
          <a:ln>
            <a:solidFill>
              <a:schemeClr val="bg1">
                <a:lumMod val="95000"/>
              </a:schemeClr>
            </a:solidFill>
          </a:ln>
        </p:spPr>
        <p:txBody>
          <a:bodyPr wrap="none">
            <a:spAutoFit/>
          </a:bodyPr>
          <a:lstStyle/>
          <a:p>
            <a:r>
              <a:rPr lang="en-US" sz="1600" dirty="0"/>
              <a:t>Whenever we are dealing with data that comes with sequence</a:t>
            </a:r>
            <a:endParaRPr lang="en-IN" sz="1600" dirty="0"/>
          </a:p>
        </p:txBody>
      </p:sp>
      <p:grpSp>
        <p:nvGrpSpPr>
          <p:cNvPr id="26" name="Group 25"/>
          <p:cNvGrpSpPr/>
          <p:nvPr/>
        </p:nvGrpSpPr>
        <p:grpSpPr>
          <a:xfrm>
            <a:off x="4342327" y="2265608"/>
            <a:ext cx="2086378" cy="1266422"/>
            <a:chOff x="5460642" y="2936383"/>
            <a:chExt cx="2086378" cy="1266422"/>
          </a:xfrm>
        </p:grpSpPr>
        <p:grpSp>
          <p:nvGrpSpPr>
            <p:cNvPr id="18" name="Group 17"/>
            <p:cNvGrpSpPr/>
            <p:nvPr/>
          </p:nvGrpSpPr>
          <p:grpSpPr>
            <a:xfrm>
              <a:off x="5460642" y="2936383"/>
              <a:ext cx="2086378" cy="1266422"/>
              <a:chOff x="5460642" y="2936383"/>
              <a:chExt cx="2086378" cy="1266422"/>
            </a:xfrm>
          </p:grpSpPr>
          <p:sp>
            <p:nvSpPr>
              <p:cNvPr id="12" name="Oval 11"/>
              <p:cNvSpPr/>
              <p:nvPr/>
            </p:nvSpPr>
            <p:spPr>
              <a:xfrm>
                <a:off x="5795493" y="2936383"/>
                <a:ext cx="231820" cy="1931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Oval 12"/>
              <p:cNvSpPr/>
              <p:nvPr/>
            </p:nvSpPr>
            <p:spPr>
              <a:xfrm>
                <a:off x="6149662" y="3913031"/>
                <a:ext cx="231820" cy="1931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Oval 13"/>
              <p:cNvSpPr/>
              <p:nvPr/>
            </p:nvSpPr>
            <p:spPr>
              <a:xfrm>
                <a:off x="6100293" y="3450464"/>
                <a:ext cx="231820" cy="1931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Oval 14"/>
              <p:cNvSpPr/>
              <p:nvPr/>
            </p:nvSpPr>
            <p:spPr>
              <a:xfrm>
                <a:off x="6484513" y="3032974"/>
                <a:ext cx="231820" cy="1931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Oval 15"/>
              <p:cNvSpPr/>
              <p:nvPr/>
            </p:nvSpPr>
            <p:spPr>
              <a:xfrm>
                <a:off x="6849414" y="4009622"/>
                <a:ext cx="231820" cy="1931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reeform 16"/>
              <p:cNvSpPr/>
              <p:nvPr/>
            </p:nvSpPr>
            <p:spPr>
              <a:xfrm>
                <a:off x="5460642" y="3039414"/>
                <a:ext cx="2086378" cy="1107583"/>
              </a:xfrm>
              <a:custGeom>
                <a:avLst/>
                <a:gdLst>
                  <a:gd name="connsiteX0" fmla="*/ 0 w 2086378"/>
                  <a:gd name="connsiteY0" fmla="*/ 0 h 1107583"/>
                  <a:gd name="connsiteX1" fmla="*/ 1184857 w 2086378"/>
                  <a:gd name="connsiteY1" fmla="*/ 38637 h 1107583"/>
                  <a:gd name="connsiteX2" fmla="*/ 695459 w 2086378"/>
                  <a:gd name="connsiteY2" fmla="*/ 502276 h 1107583"/>
                  <a:gd name="connsiteX3" fmla="*/ 734096 w 2086378"/>
                  <a:gd name="connsiteY3" fmla="*/ 978794 h 1107583"/>
                  <a:gd name="connsiteX4" fmla="*/ 811369 w 2086378"/>
                  <a:gd name="connsiteY4" fmla="*/ 978794 h 1107583"/>
                  <a:gd name="connsiteX5" fmla="*/ 2034862 w 2086378"/>
                  <a:gd name="connsiteY5" fmla="*/ 1107583 h 1107583"/>
                  <a:gd name="connsiteX6" fmla="*/ 2034862 w 2086378"/>
                  <a:gd name="connsiteY6" fmla="*/ 1107583 h 1107583"/>
                  <a:gd name="connsiteX7" fmla="*/ 2086378 w 2086378"/>
                  <a:gd name="connsiteY7" fmla="*/ 1107583 h 1107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6378" h="1107583">
                    <a:moveTo>
                      <a:pt x="0" y="0"/>
                    </a:moveTo>
                    <a:lnTo>
                      <a:pt x="1184857" y="38637"/>
                    </a:lnTo>
                    <a:cubicBezTo>
                      <a:pt x="1300767" y="122350"/>
                      <a:pt x="770586" y="345583"/>
                      <a:pt x="695459" y="502276"/>
                    </a:cubicBezTo>
                    <a:cubicBezTo>
                      <a:pt x="620332" y="658969"/>
                      <a:pt x="714778" y="899374"/>
                      <a:pt x="734096" y="978794"/>
                    </a:cubicBezTo>
                    <a:cubicBezTo>
                      <a:pt x="753414" y="1058214"/>
                      <a:pt x="811369" y="978794"/>
                      <a:pt x="811369" y="978794"/>
                    </a:cubicBezTo>
                    <a:lnTo>
                      <a:pt x="2034862" y="1107583"/>
                    </a:lnTo>
                    <a:lnTo>
                      <a:pt x="2034862" y="1107583"/>
                    </a:lnTo>
                    <a:lnTo>
                      <a:pt x="2086378" y="1107583"/>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cxnSp>
          <p:nvCxnSpPr>
            <p:cNvPr id="20" name="Straight Arrow Connector 19"/>
            <p:cNvCxnSpPr/>
            <p:nvPr/>
          </p:nvCxnSpPr>
          <p:spPr>
            <a:xfrm>
              <a:off x="6149662" y="3039414"/>
              <a:ext cx="2318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6265572" y="3226157"/>
              <a:ext cx="218941" cy="2028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16" idx="2"/>
            </p:cNvCxnSpPr>
            <p:nvPr/>
          </p:nvCxnSpPr>
          <p:spPr>
            <a:xfrm flipV="1">
              <a:off x="6484513" y="4106214"/>
              <a:ext cx="364901" cy="407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30" name="Group 29"/>
          <p:cNvGrpSpPr/>
          <p:nvPr/>
        </p:nvGrpSpPr>
        <p:grpSpPr>
          <a:xfrm>
            <a:off x="3364851" y="3641675"/>
            <a:ext cx="1807675" cy="1200329"/>
            <a:chOff x="3349825" y="4456090"/>
            <a:chExt cx="1807675" cy="1200329"/>
          </a:xfrm>
        </p:grpSpPr>
        <p:sp>
          <p:nvSpPr>
            <p:cNvPr id="27" name="TextBox 26"/>
            <p:cNvSpPr txBox="1"/>
            <p:nvPr/>
          </p:nvSpPr>
          <p:spPr>
            <a:xfrm>
              <a:off x="3349825" y="4456090"/>
              <a:ext cx="604461" cy="338554"/>
            </a:xfrm>
            <a:prstGeom prst="rect">
              <a:avLst/>
            </a:prstGeom>
            <a:noFill/>
          </p:spPr>
          <p:txBody>
            <a:bodyPr wrap="none" rtlCol="0">
              <a:spAutoFit/>
            </a:bodyPr>
            <a:lstStyle/>
            <a:p>
              <a:r>
                <a:rPr lang="en-US" sz="1600" dirty="0" smtClean="0"/>
                <a:t>Like ,</a:t>
              </a:r>
              <a:endParaRPr lang="en-IN" sz="1600" dirty="0"/>
            </a:p>
          </p:txBody>
        </p:sp>
        <p:sp>
          <p:nvSpPr>
            <p:cNvPr id="28" name="Rectangle 27"/>
            <p:cNvSpPr/>
            <p:nvPr/>
          </p:nvSpPr>
          <p:spPr>
            <a:xfrm>
              <a:off x="4015841" y="4825422"/>
              <a:ext cx="1141659" cy="830997"/>
            </a:xfrm>
            <a:prstGeom prst="rect">
              <a:avLst/>
            </a:prstGeom>
            <a:ln>
              <a:solidFill>
                <a:schemeClr val="bg1">
                  <a:lumMod val="95000"/>
                </a:schemeClr>
              </a:solidFill>
            </a:ln>
          </p:spPr>
          <p:txBody>
            <a:bodyPr wrap="none">
              <a:spAutoFit/>
            </a:bodyPr>
            <a:lstStyle/>
            <a:p>
              <a:r>
                <a:rPr lang="en-US" sz="1600" dirty="0"/>
                <a:t>Time </a:t>
              </a:r>
              <a:r>
                <a:rPr lang="en-US" sz="1600" dirty="0" smtClean="0"/>
                <a:t>Series</a:t>
              </a:r>
            </a:p>
            <a:p>
              <a:r>
                <a:rPr lang="en-US" sz="1600" dirty="0" smtClean="0"/>
                <a:t>Text</a:t>
              </a:r>
            </a:p>
            <a:p>
              <a:r>
                <a:rPr lang="en-US" sz="1600" dirty="0" smtClean="0"/>
                <a:t>Speech</a:t>
              </a:r>
              <a:endParaRPr lang="en-IN" sz="1600" dirty="0"/>
            </a:p>
          </p:txBody>
        </p:sp>
      </p:grpSp>
      <p:grpSp>
        <p:nvGrpSpPr>
          <p:cNvPr id="35" name="Group 34"/>
          <p:cNvGrpSpPr/>
          <p:nvPr/>
        </p:nvGrpSpPr>
        <p:grpSpPr>
          <a:xfrm>
            <a:off x="5952764" y="3348624"/>
            <a:ext cx="5985660" cy="2539711"/>
            <a:chOff x="5952764" y="3348624"/>
            <a:chExt cx="5985660" cy="2539711"/>
          </a:xfrm>
        </p:grpSpPr>
        <p:sp>
          <p:nvSpPr>
            <p:cNvPr id="31" name="Rectangle 30"/>
            <p:cNvSpPr/>
            <p:nvPr/>
          </p:nvSpPr>
          <p:spPr>
            <a:xfrm>
              <a:off x="6738327" y="4057173"/>
              <a:ext cx="3338543" cy="369332"/>
            </a:xfrm>
            <a:prstGeom prst="rect">
              <a:avLst/>
            </a:prstGeom>
          </p:spPr>
          <p:txBody>
            <a:bodyPr wrap="none">
              <a:spAutoFit/>
            </a:bodyPr>
            <a:lstStyle/>
            <a:p>
              <a:r>
                <a:rPr lang="en-IN" dirty="0">
                  <a:latin typeface="Candara Light" pitchFamily="34" charset="0"/>
                </a:rPr>
                <a:t>LSTM(Long Short Term </a:t>
              </a:r>
              <a:r>
                <a:rPr lang="en-IN" dirty="0" smtClean="0">
                  <a:latin typeface="Candara Light" pitchFamily="34" charset="0"/>
                </a:rPr>
                <a:t>memory)</a:t>
              </a:r>
              <a:endParaRPr lang="en-IN" dirty="0">
                <a:latin typeface="Candara Light" pitchFamily="34" charset="0"/>
              </a:endParaRPr>
            </a:p>
          </p:txBody>
        </p:sp>
        <p:sp>
          <p:nvSpPr>
            <p:cNvPr id="32" name="Rectangle 31"/>
            <p:cNvSpPr/>
            <p:nvPr/>
          </p:nvSpPr>
          <p:spPr>
            <a:xfrm>
              <a:off x="7283732" y="4472672"/>
              <a:ext cx="2017091" cy="338554"/>
            </a:xfrm>
            <a:prstGeom prst="rect">
              <a:avLst/>
            </a:prstGeom>
          </p:spPr>
          <p:txBody>
            <a:bodyPr wrap="none">
              <a:spAutoFit/>
            </a:bodyPr>
            <a:lstStyle/>
            <a:p>
              <a:r>
                <a:rPr lang="en-US" sz="1600" dirty="0"/>
                <a:t>LSTM is a type of RNN</a:t>
              </a:r>
              <a:endParaRPr lang="en-IN" sz="1600" dirty="0"/>
            </a:p>
          </p:txBody>
        </p:sp>
        <p:sp>
          <p:nvSpPr>
            <p:cNvPr id="33" name="Rectangle 32"/>
            <p:cNvSpPr/>
            <p:nvPr/>
          </p:nvSpPr>
          <p:spPr>
            <a:xfrm>
              <a:off x="7838940" y="4842004"/>
              <a:ext cx="3692196" cy="584775"/>
            </a:xfrm>
            <a:prstGeom prst="rect">
              <a:avLst/>
            </a:prstGeom>
            <a:ln>
              <a:solidFill>
                <a:schemeClr val="tx2">
                  <a:lumMod val="20000"/>
                  <a:lumOff val="80000"/>
                </a:schemeClr>
              </a:solidFill>
            </a:ln>
          </p:spPr>
          <p:txBody>
            <a:bodyPr wrap="square">
              <a:spAutoFit/>
            </a:bodyPr>
            <a:lstStyle/>
            <a:p>
              <a:r>
                <a:rPr lang="en-US" sz="1600" dirty="0"/>
                <a:t>- Short Term Memory Loss</a:t>
              </a:r>
            </a:p>
            <a:p>
              <a:r>
                <a:rPr lang="en-US" sz="1600" dirty="0"/>
                <a:t>- Long Memory (High Computation )</a:t>
              </a:r>
              <a:endParaRPr lang="en-IN" sz="1600" dirty="0"/>
            </a:p>
          </p:txBody>
        </p:sp>
        <p:sp>
          <p:nvSpPr>
            <p:cNvPr id="34" name="Freeform 33"/>
            <p:cNvSpPr/>
            <p:nvPr/>
          </p:nvSpPr>
          <p:spPr>
            <a:xfrm>
              <a:off x="5952764" y="3348624"/>
              <a:ext cx="5985660" cy="2539711"/>
            </a:xfrm>
            <a:custGeom>
              <a:avLst/>
              <a:gdLst>
                <a:gd name="connsiteX0" fmla="*/ 473794 w 5985660"/>
                <a:gd name="connsiteY0" fmla="*/ 875646 h 2539711"/>
                <a:gd name="connsiteX1" fmla="*/ 3049568 w 5985660"/>
                <a:gd name="connsiteY1" fmla="*/ 12762 h 2539711"/>
                <a:gd name="connsiteX2" fmla="*/ 5934436 w 5985660"/>
                <a:gd name="connsiteY2" fmla="*/ 1558227 h 2539711"/>
                <a:gd name="connsiteX3" fmla="*/ 4556397 w 5985660"/>
                <a:gd name="connsiteY3" fmla="*/ 2537021 h 2539711"/>
                <a:gd name="connsiteX4" fmla="*/ 396521 w 5985660"/>
                <a:gd name="connsiteY4" fmla="*/ 1815804 h 2539711"/>
                <a:gd name="connsiteX5" fmla="*/ 473794 w 5985660"/>
                <a:gd name="connsiteY5" fmla="*/ 875646 h 2539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85660" h="2539711">
                  <a:moveTo>
                    <a:pt x="473794" y="875646"/>
                  </a:moveTo>
                  <a:cubicBezTo>
                    <a:pt x="915968" y="575139"/>
                    <a:pt x="2139461" y="-101001"/>
                    <a:pt x="3049568" y="12762"/>
                  </a:cubicBezTo>
                  <a:cubicBezTo>
                    <a:pt x="3959675" y="126525"/>
                    <a:pt x="5683298" y="1137517"/>
                    <a:pt x="5934436" y="1558227"/>
                  </a:cubicBezTo>
                  <a:cubicBezTo>
                    <a:pt x="6185574" y="1978937"/>
                    <a:pt x="5479383" y="2494092"/>
                    <a:pt x="4556397" y="2537021"/>
                  </a:cubicBezTo>
                  <a:cubicBezTo>
                    <a:pt x="3633411" y="2579950"/>
                    <a:pt x="1081248" y="2099139"/>
                    <a:pt x="396521" y="1815804"/>
                  </a:cubicBezTo>
                  <a:cubicBezTo>
                    <a:pt x="-288206" y="1532469"/>
                    <a:pt x="31620" y="1176153"/>
                    <a:pt x="473794" y="875646"/>
                  </a:cubicBezTo>
                  <a:close/>
                </a:path>
              </a:pathLst>
            </a:custGeom>
            <a:noFill/>
            <a:ln>
              <a:solidFill>
                <a:srgbClr val="00D0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372574326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11" name="Group 10"/>
          <p:cNvGrpSpPr/>
          <p:nvPr/>
        </p:nvGrpSpPr>
        <p:grpSpPr>
          <a:xfrm>
            <a:off x="1219199" y="258160"/>
            <a:ext cx="2321169" cy="292388"/>
            <a:chOff x="1406769" y="258160"/>
            <a:chExt cx="2321169" cy="292388"/>
          </a:xfrm>
        </p:grpSpPr>
        <p:sp>
          <p:nvSpPr>
            <p:cNvPr id="2" name="Rectangle 1"/>
            <p:cNvSpPr/>
            <p:nvPr/>
          </p:nvSpPr>
          <p:spPr>
            <a:xfrm>
              <a:off x="1492972" y="258160"/>
              <a:ext cx="2106013" cy="292388"/>
            </a:xfrm>
            <a:prstGeom prst="rect">
              <a:avLst/>
            </a:prstGeom>
            <a:solidFill>
              <a:schemeClr val="accent1"/>
            </a:solidFill>
            <a:ln>
              <a:solidFill>
                <a:schemeClr val="bg1"/>
              </a:solidFill>
            </a:ln>
          </p:spPr>
          <p:txBody>
            <a:bodyPr wrap="square" rtlCol="0">
              <a:spAutoFit/>
            </a:bodyPr>
            <a:lstStyle/>
            <a:p>
              <a:r>
                <a:rPr lang="en-IN" sz="1300" dirty="0">
                  <a:solidFill>
                    <a:schemeClr val="bg1"/>
                  </a:solidFill>
                  <a:latin typeface="Bahnschrift Light" pitchFamily="34" charset="0"/>
                  <a:ea typeface="Arial Unicode MS" pitchFamily="34" charset="-128"/>
                  <a:cs typeface="Arial Unicode MS" pitchFamily="34" charset="-128"/>
                </a:rPr>
                <a:t>Artificial Neural Network</a:t>
              </a:r>
            </a:p>
          </p:txBody>
        </p:sp>
        <p:cxnSp>
          <p:nvCxnSpPr>
            <p:cNvPr id="5" name="Straight Connector 4"/>
            <p:cNvCxnSpPr/>
            <p:nvPr/>
          </p:nvCxnSpPr>
          <p:spPr>
            <a:xfrm>
              <a:off x="1406769" y="535159"/>
              <a:ext cx="2321169" cy="7694"/>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2263142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10" name="Group 9"/>
          <p:cNvGrpSpPr/>
          <p:nvPr/>
        </p:nvGrpSpPr>
        <p:grpSpPr>
          <a:xfrm>
            <a:off x="229742" y="212182"/>
            <a:ext cx="2965938" cy="292388"/>
            <a:chOff x="1512277" y="274302"/>
            <a:chExt cx="2965938" cy="292388"/>
          </a:xfrm>
        </p:grpSpPr>
        <p:sp>
          <p:nvSpPr>
            <p:cNvPr id="2" name="Rectangle 1"/>
            <p:cNvSpPr/>
            <p:nvPr/>
          </p:nvSpPr>
          <p:spPr>
            <a:xfrm>
              <a:off x="1624702" y="274302"/>
              <a:ext cx="2701113" cy="292388"/>
            </a:xfrm>
            <a:prstGeom prst="rect">
              <a:avLst/>
            </a:prstGeom>
            <a:solidFill>
              <a:schemeClr val="accent1"/>
            </a:solidFill>
            <a:ln>
              <a:solidFill>
                <a:schemeClr val="bg1"/>
              </a:solidFill>
            </a:ln>
          </p:spPr>
          <p:txBody>
            <a:bodyPr wrap="square" rtlCol="0">
              <a:spAutoFit/>
            </a:bodyPr>
            <a:lstStyle/>
            <a:p>
              <a:r>
                <a:rPr lang="en-IN" sz="1300" dirty="0">
                  <a:solidFill>
                    <a:schemeClr val="bg1"/>
                  </a:solidFill>
                  <a:latin typeface="Bahnschrift Light" pitchFamily="34" charset="0"/>
                  <a:ea typeface="Arial Unicode MS" pitchFamily="34" charset="-128"/>
                  <a:cs typeface="Arial Unicode MS" pitchFamily="34" charset="-128"/>
                </a:rPr>
                <a:t>RNN-Recurrent Neural Network</a:t>
              </a:r>
            </a:p>
          </p:txBody>
        </p:sp>
        <p:cxnSp>
          <p:nvCxnSpPr>
            <p:cNvPr id="5" name="Straight Connector 4"/>
            <p:cNvCxnSpPr/>
            <p:nvPr/>
          </p:nvCxnSpPr>
          <p:spPr>
            <a:xfrm>
              <a:off x="1512277" y="566690"/>
              <a:ext cx="2965938"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5181601" y="227383"/>
            <a:ext cx="4504759" cy="307777"/>
          </a:xfrm>
          <a:prstGeom prst="rect">
            <a:avLst/>
          </a:prstGeom>
          <a:noFill/>
        </p:spPr>
        <p:txBody>
          <a:bodyPr wrap="none" rtlCol="0">
            <a:spAutoFit/>
          </a:bodyPr>
          <a:lstStyle/>
          <a:p>
            <a:r>
              <a:rPr lang="en-US" sz="1400" dirty="0" smtClean="0">
                <a:latin typeface="Bahnschrift Light" pitchFamily="34" charset="0"/>
              </a:rPr>
              <a:t>Recurrent</a:t>
            </a:r>
            <a:r>
              <a:rPr lang="en-US" sz="1400" dirty="0" smtClean="0">
                <a:solidFill>
                  <a:srgbClr val="002060"/>
                </a:solidFill>
                <a:latin typeface="Bahnschrift Light" pitchFamily="34" charset="0"/>
              </a:rPr>
              <a:t>=</a:t>
            </a:r>
            <a:r>
              <a:rPr lang="en-US" sz="1400" dirty="0" smtClean="0">
                <a:solidFill>
                  <a:srgbClr val="00B050"/>
                </a:solidFill>
                <a:latin typeface="Bahnschrift Light" pitchFamily="34" charset="0"/>
              </a:rPr>
              <a:t>occurs again and again</a:t>
            </a:r>
            <a:r>
              <a:rPr lang="en-US" sz="1400" dirty="0" smtClean="0">
                <a:solidFill>
                  <a:srgbClr val="002060"/>
                </a:solidFill>
                <a:latin typeface="Bahnschrift Light" pitchFamily="34" charset="0"/>
              </a:rPr>
              <a:t>=</a:t>
            </a:r>
            <a:r>
              <a:rPr lang="en-US" sz="1400" dirty="0" smtClean="0">
                <a:solidFill>
                  <a:srgbClr val="FF0066"/>
                </a:solidFill>
                <a:latin typeface="Bahnschrift Light" pitchFamily="34" charset="0"/>
              </a:rPr>
              <a:t>happen repeatedly</a:t>
            </a:r>
            <a:endParaRPr lang="en-IN" sz="1400" dirty="0">
              <a:solidFill>
                <a:srgbClr val="FF0066"/>
              </a:solidFill>
              <a:latin typeface="Bahnschrift Light" pitchFamily="34" charset="0"/>
            </a:endParaRPr>
          </a:p>
        </p:txBody>
      </p:sp>
      <p:sp>
        <p:nvSpPr>
          <p:cNvPr id="13" name="TextBox 12"/>
          <p:cNvSpPr txBox="1"/>
          <p:nvPr/>
        </p:nvSpPr>
        <p:spPr>
          <a:xfrm>
            <a:off x="5181601" y="731186"/>
            <a:ext cx="2645276" cy="276999"/>
          </a:xfrm>
          <a:prstGeom prst="rect">
            <a:avLst/>
          </a:prstGeom>
          <a:noFill/>
          <a:ln>
            <a:solidFill>
              <a:schemeClr val="accent4">
                <a:lumMod val="40000"/>
                <a:lumOff val="60000"/>
              </a:schemeClr>
            </a:solidFill>
          </a:ln>
        </p:spPr>
        <p:txBody>
          <a:bodyPr wrap="none" rtlCol="0">
            <a:spAutoFit/>
          </a:bodyPr>
          <a:lstStyle/>
          <a:p>
            <a:r>
              <a:rPr lang="en-US" sz="1200" dirty="0" smtClean="0">
                <a:latin typeface="Bahnschrift Light" pitchFamily="34" charset="0"/>
              </a:rPr>
              <a:t>ANN –Feed forward neural network</a:t>
            </a:r>
            <a:endParaRPr lang="en-IN" sz="1200" dirty="0">
              <a:latin typeface="Bahnschrift Light" pitchFamily="34" charset="0"/>
            </a:endParaRPr>
          </a:p>
        </p:txBody>
      </p:sp>
      <p:grpSp>
        <p:nvGrpSpPr>
          <p:cNvPr id="14" name="Group 13"/>
          <p:cNvGrpSpPr/>
          <p:nvPr/>
        </p:nvGrpSpPr>
        <p:grpSpPr>
          <a:xfrm>
            <a:off x="558140" y="559556"/>
            <a:ext cx="3954483" cy="1207940"/>
            <a:chOff x="558140" y="559556"/>
            <a:chExt cx="3954483" cy="1207940"/>
          </a:xfrm>
        </p:grpSpPr>
        <p:sp>
          <p:nvSpPr>
            <p:cNvPr id="3" name="Rectangle 2"/>
            <p:cNvSpPr/>
            <p:nvPr/>
          </p:nvSpPr>
          <p:spPr>
            <a:xfrm>
              <a:off x="558140" y="1275053"/>
              <a:ext cx="3954483" cy="492443"/>
            </a:xfrm>
            <a:prstGeom prst="rect">
              <a:avLst/>
            </a:prstGeom>
          </p:spPr>
          <p:txBody>
            <a:bodyPr wrap="square">
              <a:spAutoFit/>
            </a:bodyPr>
            <a:lstStyle/>
            <a:p>
              <a:r>
                <a:rPr lang="en-US" sz="1300" dirty="0">
                  <a:latin typeface="Bahnschrift Light" pitchFamily="34" charset="0"/>
                </a:rPr>
                <a:t>this is a Machine Learning AI Model Where output loop back in system as a input</a:t>
              </a:r>
              <a:endParaRPr lang="en-IN" sz="1300" dirty="0">
                <a:latin typeface="Bahnschrift Light" pitchFamily="34" charset="0"/>
              </a:endParaRPr>
            </a:p>
          </p:txBody>
        </p:sp>
        <p:cxnSp>
          <p:nvCxnSpPr>
            <p:cNvPr id="11" name="Straight Arrow Connector 10"/>
            <p:cNvCxnSpPr/>
            <p:nvPr/>
          </p:nvCxnSpPr>
          <p:spPr>
            <a:xfrm>
              <a:off x="558140" y="559556"/>
              <a:ext cx="451263" cy="681852"/>
            </a:xfrm>
            <a:prstGeom prst="straightConnector1">
              <a:avLst/>
            </a:prstGeom>
            <a:ln>
              <a:solidFill>
                <a:srgbClr val="002060"/>
              </a:solidFill>
              <a:tailEnd type="arrow"/>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8206838" y="1030008"/>
            <a:ext cx="342406" cy="1758840"/>
            <a:chOff x="6841176" y="1505886"/>
            <a:chExt cx="342406" cy="1758840"/>
          </a:xfrm>
        </p:grpSpPr>
        <p:sp>
          <p:nvSpPr>
            <p:cNvPr id="15" name="Flowchart: Connector 14"/>
            <p:cNvSpPr/>
            <p:nvPr/>
          </p:nvSpPr>
          <p:spPr>
            <a:xfrm>
              <a:off x="6852062" y="2943099"/>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X</a:t>
              </a:r>
              <a:endParaRPr lang="en-IN" dirty="0"/>
            </a:p>
          </p:txBody>
        </p:sp>
        <p:sp>
          <p:nvSpPr>
            <p:cNvPr id="16" name="Flowchart: Connector 15"/>
            <p:cNvSpPr/>
            <p:nvPr/>
          </p:nvSpPr>
          <p:spPr>
            <a:xfrm>
              <a:off x="6841176" y="1505886"/>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Y</a:t>
              </a:r>
              <a:endParaRPr lang="en-IN" dirty="0"/>
            </a:p>
          </p:txBody>
        </p:sp>
        <p:sp>
          <p:nvSpPr>
            <p:cNvPr id="17" name="Flowchart: Connector 16"/>
            <p:cNvSpPr/>
            <p:nvPr/>
          </p:nvSpPr>
          <p:spPr>
            <a:xfrm>
              <a:off x="6852062" y="2231568"/>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a:t>
              </a:r>
              <a:endParaRPr lang="en-IN" dirty="0"/>
            </a:p>
          </p:txBody>
        </p:sp>
        <p:cxnSp>
          <p:nvCxnSpPr>
            <p:cNvPr id="19" name="Straight Connector 18"/>
            <p:cNvCxnSpPr>
              <a:stCxn id="16" idx="4"/>
              <a:endCxn id="17" idx="0"/>
            </p:cNvCxnSpPr>
            <p:nvPr/>
          </p:nvCxnSpPr>
          <p:spPr>
            <a:xfrm>
              <a:off x="7006936" y="1827513"/>
              <a:ext cx="10886" cy="40405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005451" y="2553195"/>
              <a:ext cx="10886" cy="40405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22" name="Rectangle 21"/>
          <p:cNvSpPr/>
          <p:nvPr/>
        </p:nvSpPr>
        <p:spPr>
          <a:xfrm>
            <a:off x="342167" y="2279344"/>
            <a:ext cx="1867819" cy="338554"/>
          </a:xfrm>
          <a:prstGeom prst="rect">
            <a:avLst/>
          </a:prstGeom>
        </p:spPr>
        <p:txBody>
          <a:bodyPr wrap="none">
            <a:spAutoFit/>
          </a:bodyPr>
          <a:lstStyle/>
          <a:p>
            <a:r>
              <a:rPr lang="en-IN" sz="1600" dirty="0">
                <a:latin typeface="Cascadia Code SemiBold" pitchFamily="49" charset="0"/>
                <a:cs typeface="Cascadia Code SemiBold" pitchFamily="49" charset="0"/>
              </a:rPr>
              <a:t>Takeaway Point</a:t>
            </a:r>
          </a:p>
        </p:txBody>
      </p:sp>
      <p:sp>
        <p:nvSpPr>
          <p:cNvPr id="25" name="Rectangle 24"/>
          <p:cNvSpPr/>
          <p:nvPr/>
        </p:nvSpPr>
        <p:spPr>
          <a:xfrm>
            <a:off x="342167" y="2628034"/>
            <a:ext cx="6265693" cy="523220"/>
          </a:xfrm>
          <a:prstGeom prst="rect">
            <a:avLst/>
          </a:prstGeom>
        </p:spPr>
        <p:txBody>
          <a:bodyPr wrap="square">
            <a:spAutoFit/>
          </a:bodyPr>
          <a:lstStyle/>
          <a:p>
            <a:pPr marL="342900" indent="-342900">
              <a:buFont typeface="Wingdings" pitchFamily="2" charset="2"/>
              <a:buChar char="§"/>
            </a:pPr>
            <a:r>
              <a:rPr lang="en-US" sz="1400" dirty="0" smtClean="0"/>
              <a:t>There </a:t>
            </a:r>
            <a:r>
              <a:rPr lang="en-US" sz="1400" dirty="0"/>
              <a:t>is no memory</a:t>
            </a:r>
          </a:p>
          <a:p>
            <a:pPr marL="342900" indent="-342900">
              <a:buFont typeface="Wingdings" pitchFamily="2" charset="2"/>
              <a:buChar char="§"/>
            </a:pPr>
            <a:r>
              <a:rPr lang="en-US" sz="1400" dirty="0" smtClean="0"/>
              <a:t>Only </a:t>
            </a:r>
            <a:r>
              <a:rPr lang="en-US" sz="1400" dirty="0"/>
              <a:t>focuses or remember "current input" state(consider only current i/p state) </a:t>
            </a:r>
            <a:endParaRPr lang="en-IN" sz="1400" dirty="0"/>
          </a:p>
        </p:txBody>
      </p:sp>
      <p:sp>
        <p:nvSpPr>
          <p:cNvPr id="26" name="Freeform 25"/>
          <p:cNvSpPr/>
          <p:nvPr/>
        </p:nvSpPr>
        <p:spPr>
          <a:xfrm>
            <a:off x="285008" y="2980706"/>
            <a:ext cx="6852062" cy="973777"/>
          </a:xfrm>
          <a:custGeom>
            <a:avLst/>
            <a:gdLst>
              <a:gd name="connsiteX0" fmla="*/ 0 w 6852062"/>
              <a:gd name="connsiteY0" fmla="*/ 320634 h 973777"/>
              <a:gd name="connsiteX1" fmla="*/ 1888176 w 6852062"/>
              <a:gd name="connsiteY1" fmla="*/ 332510 h 973777"/>
              <a:gd name="connsiteX2" fmla="*/ 1959428 w 6852062"/>
              <a:gd name="connsiteY2" fmla="*/ 344385 h 973777"/>
              <a:gd name="connsiteX3" fmla="*/ 2149434 w 6852062"/>
              <a:gd name="connsiteY3" fmla="*/ 368136 h 973777"/>
              <a:gd name="connsiteX4" fmla="*/ 2291937 w 6852062"/>
              <a:gd name="connsiteY4" fmla="*/ 391886 h 973777"/>
              <a:gd name="connsiteX5" fmla="*/ 2363189 w 6852062"/>
              <a:gd name="connsiteY5" fmla="*/ 427512 h 973777"/>
              <a:gd name="connsiteX6" fmla="*/ 2612571 w 6852062"/>
              <a:gd name="connsiteY6" fmla="*/ 451263 h 973777"/>
              <a:gd name="connsiteX7" fmla="*/ 2648197 w 6852062"/>
              <a:gd name="connsiteY7" fmla="*/ 475013 h 973777"/>
              <a:gd name="connsiteX8" fmla="*/ 2743200 w 6852062"/>
              <a:gd name="connsiteY8" fmla="*/ 498764 h 973777"/>
              <a:gd name="connsiteX9" fmla="*/ 2814452 w 6852062"/>
              <a:gd name="connsiteY9" fmla="*/ 510639 h 973777"/>
              <a:gd name="connsiteX10" fmla="*/ 2897579 w 6852062"/>
              <a:gd name="connsiteY10" fmla="*/ 546265 h 973777"/>
              <a:gd name="connsiteX11" fmla="*/ 2992582 w 6852062"/>
              <a:gd name="connsiteY11" fmla="*/ 558141 h 973777"/>
              <a:gd name="connsiteX12" fmla="*/ 3099460 w 6852062"/>
              <a:gd name="connsiteY12" fmla="*/ 593767 h 973777"/>
              <a:gd name="connsiteX13" fmla="*/ 3206337 w 6852062"/>
              <a:gd name="connsiteY13" fmla="*/ 629393 h 973777"/>
              <a:gd name="connsiteX14" fmla="*/ 3241963 w 6852062"/>
              <a:gd name="connsiteY14" fmla="*/ 641268 h 973777"/>
              <a:gd name="connsiteX15" fmla="*/ 3348841 w 6852062"/>
              <a:gd name="connsiteY15" fmla="*/ 665019 h 973777"/>
              <a:gd name="connsiteX16" fmla="*/ 3455719 w 6852062"/>
              <a:gd name="connsiteY16" fmla="*/ 700645 h 973777"/>
              <a:gd name="connsiteX17" fmla="*/ 3586348 w 6852062"/>
              <a:gd name="connsiteY17" fmla="*/ 748146 h 973777"/>
              <a:gd name="connsiteX18" fmla="*/ 3633849 w 6852062"/>
              <a:gd name="connsiteY18" fmla="*/ 760021 h 973777"/>
              <a:gd name="connsiteX19" fmla="*/ 3681350 w 6852062"/>
              <a:gd name="connsiteY19" fmla="*/ 783772 h 973777"/>
              <a:gd name="connsiteX20" fmla="*/ 3716976 w 6852062"/>
              <a:gd name="connsiteY20" fmla="*/ 795647 h 973777"/>
              <a:gd name="connsiteX21" fmla="*/ 3847605 w 6852062"/>
              <a:gd name="connsiteY21" fmla="*/ 866899 h 973777"/>
              <a:gd name="connsiteX22" fmla="*/ 3918857 w 6852062"/>
              <a:gd name="connsiteY22" fmla="*/ 914400 h 973777"/>
              <a:gd name="connsiteX23" fmla="*/ 4001984 w 6852062"/>
              <a:gd name="connsiteY23" fmla="*/ 973777 h 973777"/>
              <a:gd name="connsiteX24" fmla="*/ 4096987 w 6852062"/>
              <a:gd name="connsiteY24" fmla="*/ 950026 h 973777"/>
              <a:gd name="connsiteX25" fmla="*/ 4180114 w 6852062"/>
              <a:gd name="connsiteY25" fmla="*/ 914400 h 973777"/>
              <a:gd name="connsiteX26" fmla="*/ 4227615 w 6852062"/>
              <a:gd name="connsiteY26" fmla="*/ 890650 h 973777"/>
              <a:gd name="connsiteX27" fmla="*/ 4358244 w 6852062"/>
              <a:gd name="connsiteY27" fmla="*/ 855024 h 973777"/>
              <a:gd name="connsiteX28" fmla="*/ 4393870 w 6852062"/>
              <a:gd name="connsiteY28" fmla="*/ 843149 h 973777"/>
              <a:gd name="connsiteX29" fmla="*/ 4441371 w 6852062"/>
              <a:gd name="connsiteY29" fmla="*/ 831273 h 973777"/>
              <a:gd name="connsiteX30" fmla="*/ 4500748 w 6852062"/>
              <a:gd name="connsiteY30" fmla="*/ 819398 h 973777"/>
              <a:gd name="connsiteX31" fmla="*/ 4572000 w 6852062"/>
              <a:gd name="connsiteY31" fmla="*/ 795647 h 973777"/>
              <a:gd name="connsiteX32" fmla="*/ 4607626 w 6852062"/>
              <a:gd name="connsiteY32" fmla="*/ 783772 h 973777"/>
              <a:gd name="connsiteX33" fmla="*/ 4678878 w 6852062"/>
              <a:gd name="connsiteY33" fmla="*/ 771897 h 973777"/>
              <a:gd name="connsiteX34" fmla="*/ 4714504 w 6852062"/>
              <a:gd name="connsiteY34" fmla="*/ 760021 h 973777"/>
              <a:gd name="connsiteX35" fmla="*/ 4797631 w 6852062"/>
              <a:gd name="connsiteY35" fmla="*/ 724395 h 973777"/>
              <a:gd name="connsiteX36" fmla="*/ 5082639 w 6852062"/>
              <a:gd name="connsiteY36" fmla="*/ 700645 h 973777"/>
              <a:gd name="connsiteX37" fmla="*/ 5332021 w 6852062"/>
              <a:gd name="connsiteY37" fmla="*/ 653143 h 973777"/>
              <a:gd name="connsiteX38" fmla="*/ 5427023 w 6852062"/>
              <a:gd name="connsiteY38" fmla="*/ 641268 h 973777"/>
              <a:gd name="connsiteX39" fmla="*/ 5593278 w 6852062"/>
              <a:gd name="connsiteY39" fmla="*/ 605642 h 973777"/>
              <a:gd name="connsiteX40" fmla="*/ 5676405 w 6852062"/>
              <a:gd name="connsiteY40" fmla="*/ 581891 h 973777"/>
              <a:gd name="connsiteX41" fmla="*/ 5771408 w 6852062"/>
              <a:gd name="connsiteY41" fmla="*/ 546265 h 973777"/>
              <a:gd name="connsiteX42" fmla="*/ 5961413 w 6852062"/>
              <a:gd name="connsiteY42" fmla="*/ 498764 h 973777"/>
              <a:gd name="connsiteX43" fmla="*/ 6056415 w 6852062"/>
              <a:gd name="connsiteY43" fmla="*/ 451263 h 973777"/>
              <a:gd name="connsiteX44" fmla="*/ 6103917 w 6852062"/>
              <a:gd name="connsiteY44" fmla="*/ 439388 h 973777"/>
              <a:gd name="connsiteX45" fmla="*/ 6175169 w 6852062"/>
              <a:gd name="connsiteY45" fmla="*/ 415637 h 973777"/>
              <a:gd name="connsiteX46" fmla="*/ 6210795 w 6852062"/>
              <a:gd name="connsiteY46" fmla="*/ 403762 h 973777"/>
              <a:gd name="connsiteX47" fmla="*/ 6353298 w 6852062"/>
              <a:gd name="connsiteY47" fmla="*/ 344385 h 973777"/>
              <a:gd name="connsiteX48" fmla="*/ 6424550 w 6852062"/>
              <a:gd name="connsiteY48" fmla="*/ 285008 h 973777"/>
              <a:gd name="connsiteX49" fmla="*/ 6460176 w 6852062"/>
              <a:gd name="connsiteY49" fmla="*/ 261258 h 973777"/>
              <a:gd name="connsiteX50" fmla="*/ 6567054 w 6852062"/>
              <a:gd name="connsiteY50" fmla="*/ 225632 h 973777"/>
              <a:gd name="connsiteX51" fmla="*/ 6602680 w 6852062"/>
              <a:gd name="connsiteY51" fmla="*/ 201881 h 973777"/>
              <a:gd name="connsiteX52" fmla="*/ 6662057 w 6852062"/>
              <a:gd name="connsiteY52" fmla="*/ 178130 h 973777"/>
              <a:gd name="connsiteX53" fmla="*/ 6697683 w 6852062"/>
              <a:gd name="connsiteY53" fmla="*/ 142504 h 973777"/>
              <a:gd name="connsiteX54" fmla="*/ 6780810 w 6852062"/>
              <a:gd name="connsiteY54" fmla="*/ 95003 h 973777"/>
              <a:gd name="connsiteX55" fmla="*/ 6828311 w 6852062"/>
              <a:gd name="connsiteY55" fmla="*/ 47502 h 973777"/>
              <a:gd name="connsiteX56" fmla="*/ 6840187 w 6852062"/>
              <a:gd name="connsiteY56" fmla="*/ 11876 h 973777"/>
              <a:gd name="connsiteX57" fmla="*/ 6852062 w 6852062"/>
              <a:gd name="connsiteY57" fmla="*/ 0 h 97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852062" h="973777">
                <a:moveTo>
                  <a:pt x="0" y="320634"/>
                </a:moveTo>
                <a:lnTo>
                  <a:pt x="1888176" y="332510"/>
                </a:lnTo>
                <a:cubicBezTo>
                  <a:pt x="1912252" y="332802"/>
                  <a:pt x="1935571" y="341132"/>
                  <a:pt x="1959428" y="344385"/>
                </a:cubicBezTo>
                <a:cubicBezTo>
                  <a:pt x="2022671" y="353009"/>
                  <a:pt x="2086474" y="357643"/>
                  <a:pt x="2149434" y="368136"/>
                </a:cubicBezTo>
                <a:lnTo>
                  <a:pt x="2291937" y="391886"/>
                </a:lnTo>
                <a:cubicBezTo>
                  <a:pt x="2315688" y="403761"/>
                  <a:pt x="2337532" y="420670"/>
                  <a:pt x="2363189" y="427512"/>
                </a:cubicBezTo>
                <a:cubicBezTo>
                  <a:pt x="2386567" y="433746"/>
                  <a:pt x="2608378" y="450914"/>
                  <a:pt x="2612571" y="451263"/>
                </a:cubicBezTo>
                <a:cubicBezTo>
                  <a:pt x="2624446" y="459180"/>
                  <a:pt x="2635432" y="468630"/>
                  <a:pt x="2648197" y="475013"/>
                </a:cubicBezTo>
                <a:cubicBezTo>
                  <a:pt x="2671745" y="486787"/>
                  <a:pt x="2721900" y="494891"/>
                  <a:pt x="2743200" y="498764"/>
                </a:cubicBezTo>
                <a:cubicBezTo>
                  <a:pt x="2766890" y="503071"/>
                  <a:pt x="2790701" y="506681"/>
                  <a:pt x="2814452" y="510639"/>
                </a:cubicBezTo>
                <a:cubicBezTo>
                  <a:pt x="2837851" y="522339"/>
                  <a:pt x="2870118" y="541272"/>
                  <a:pt x="2897579" y="546265"/>
                </a:cubicBezTo>
                <a:cubicBezTo>
                  <a:pt x="2928978" y="551974"/>
                  <a:pt x="2960914" y="554182"/>
                  <a:pt x="2992582" y="558141"/>
                </a:cubicBezTo>
                <a:cubicBezTo>
                  <a:pt x="3085057" y="604378"/>
                  <a:pt x="2992030" y="563072"/>
                  <a:pt x="3099460" y="593767"/>
                </a:cubicBezTo>
                <a:cubicBezTo>
                  <a:pt x="3135568" y="604084"/>
                  <a:pt x="3170711" y="617518"/>
                  <a:pt x="3206337" y="629393"/>
                </a:cubicBezTo>
                <a:cubicBezTo>
                  <a:pt x="3218212" y="633351"/>
                  <a:pt x="3229688" y="638813"/>
                  <a:pt x="3241963" y="641268"/>
                </a:cubicBezTo>
                <a:cubicBezTo>
                  <a:pt x="3317344" y="656344"/>
                  <a:pt x="3281758" y="648247"/>
                  <a:pt x="3348841" y="665019"/>
                </a:cubicBezTo>
                <a:cubicBezTo>
                  <a:pt x="3414617" y="708868"/>
                  <a:pt x="3353324" y="675046"/>
                  <a:pt x="3455719" y="700645"/>
                </a:cubicBezTo>
                <a:cubicBezTo>
                  <a:pt x="3533360" y="720055"/>
                  <a:pt x="3515506" y="724532"/>
                  <a:pt x="3586348" y="748146"/>
                </a:cubicBezTo>
                <a:cubicBezTo>
                  <a:pt x="3601831" y="753307"/>
                  <a:pt x="3618015" y="756063"/>
                  <a:pt x="3633849" y="760021"/>
                </a:cubicBezTo>
                <a:cubicBezTo>
                  <a:pt x="3649683" y="767938"/>
                  <a:pt x="3665079" y="776799"/>
                  <a:pt x="3681350" y="783772"/>
                </a:cubicBezTo>
                <a:cubicBezTo>
                  <a:pt x="3692856" y="788703"/>
                  <a:pt x="3706034" y="789568"/>
                  <a:pt x="3716976" y="795647"/>
                </a:cubicBezTo>
                <a:cubicBezTo>
                  <a:pt x="3869525" y="880397"/>
                  <a:pt x="3714259" y="813562"/>
                  <a:pt x="3847605" y="866899"/>
                </a:cubicBezTo>
                <a:cubicBezTo>
                  <a:pt x="3915141" y="934435"/>
                  <a:pt x="3850111" y="880027"/>
                  <a:pt x="3918857" y="914400"/>
                </a:cubicBezTo>
                <a:cubicBezTo>
                  <a:pt x="3936220" y="923082"/>
                  <a:pt x="3991227" y="965709"/>
                  <a:pt x="4001984" y="973777"/>
                </a:cubicBezTo>
                <a:cubicBezTo>
                  <a:pt x="4033652" y="965860"/>
                  <a:pt x="4069827" y="968132"/>
                  <a:pt x="4096987" y="950026"/>
                </a:cubicBezTo>
                <a:cubicBezTo>
                  <a:pt x="4169184" y="901896"/>
                  <a:pt x="4092476" y="947264"/>
                  <a:pt x="4180114" y="914400"/>
                </a:cubicBezTo>
                <a:cubicBezTo>
                  <a:pt x="4196689" y="908184"/>
                  <a:pt x="4211179" y="897225"/>
                  <a:pt x="4227615" y="890650"/>
                </a:cubicBezTo>
                <a:cubicBezTo>
                  <a:pt x="4312540" y="856680"/>
                  <a:pt x="4278732" y="874901"/>
                  <a:pt x="4358244" y="855024"/>
                </a:cubicBezTo>
                <a:cubicBezTo>
                  <a:pt x="4370388" y="851988"/>
                  <a:pt x="4381834" y="846588"/>
                  <a:pt x="4393870" y="843149"/>
                </a:cubicBezTo>
                <a:cubicBezTo>
                  <a:pt x="4409563" y="838665"/>
                  <a:pt x="4425439" y="834814"/>
                  <a:pt x="4441371" y="831273"/>
                </a:cubicBezTo>
                <a:cubicBezTo>
                  <a:pt x="4461075" y="826894"/>
                  <a:pt x="4481275" y="824709"/>
                  <a:pt x="4500748" y="819398"/>
                </a:cubicBezTo>
                <a:cubicBezTo>
                  <a:pt x="4524901" y="812811"/>
                  <a:pt x="4548249" y="803564"/>
                  <a:pt x="4572000" y="795647"/>
                </a:cubicBezTo>
                <a:cubicBezTo>
                  <a:pt x="4583875" y="791689"/>
                  <a:pt x="4595279" y="785830"/>
                  <a:pt x="4607626" y="783772"/>
                </a:cubicBezTo>
                <a:lnTo>
                  <a:pt x="4678878" y="771897"/>
                </a:lnTo>
                <a:cubicBezTo>
                  <a:pt x="4690753" y="767938"/>
                  <a:pt x="4702882" y="764670"/>
                  <a:pt x="4714504" y="760021"/>
                </a:cubicBezTo>
                <a:cubicBezTo>
                  <a:pt x="4742494" y="748825"/>
                  <a:pt x="4767869" y="729195"/>
                  <a:pt x="4797631" y="724395"/>
                </a:cubicBezTo>
                <a:cubicBezTo>
                  <a:pt x="4891747" y="709215"/>
                  <a:pt x="5082639" y="700645"/>
                  <a:pt x="5082639" y="700645"/>
                </a:cubicBezTo>
                <a:cubicBezTo>
                  <a:pt x="5201277" y="653188"/>
                  <a:pt x="5120864" y="679538"/>
                  <a:pt x="5332021" y="653143"/>
                </a:cubicBezTo>
                <a:lnTo>
                  <a:pt x="5427023" y="641268"/>
                </a:lnTo>
                <a:cubicBezTo>
                  <a:pt x="5652018" y="576982"/>
                  <a:pt x="5369967" y="653494"/>
                  <a:pt x="5593278" y="605642"/>
                </a:cubicBezTo>
                <a:cubicBezTo>
                  <a:pt x="5621456" y="599604"/>
                  <a:pt x="5648696" y="589808"/>
                  <a:pt x="5676405" y="581891"/>
                </a:cubicBezTo>
                <a:cubicBezTo>
                  <a:pt x="5737472" y="541181"/>
                  <a:pt x="5685808" y="569092"/>
                  <a:pt x="5771408" y="546265"/>
                </a:cubicBezTo>
                <a:cubicBezTo>
                  <a:pt x="5960488" y="495843"/>
                  <a:pt x="5821859" y="522022"/>
                  <a:pt x="5961413" y="498764"/>
                </a:cubicBezTo>
                <a:cubicBezTo>
                  <a:pt x="5993080" y="482930"/>
                  <a:pt x="6023733" y="464880"/>
                  <a:pt x="6056415" y="451263"/>
                </a:cubicBezTo>
                <a:cubicBezTo>
                  <a:pt x="6071481" y="444986"/>
                  <a:pt x="6088284" y="444078"/>
                  <a:pt x="6103917" y="439388"/>
                </a:cubicBezTo>
                <a:cubicBezTo>
                  <a:pt x="6127897" y="432194"/>
                  <a:pt x="6151418" y="423554"/>
                  <a:pt x="6175169" y="415637"/>
                </a:cubicBezTo>
                <a:cubicBezTo>
                  <a:pt x="6187044" y="411679"/>
                  <a:pt x="6199599" y="409360"/>
                  <a:pt x="6210795" y="403762"/>
                </a:cubicBezTo>
                <a:cubicBezTo>
                  <a:pt x="6320395" y="348961"/>
                  <a:pt x="6271449" y="364847"/>
                  <a:pt x="6353298" y="344385"/>
                </a:cubicBezTo>
                <a:cubicBezTo>
                  <a:pt x="6390606" y="288424"/>
                  <a:pt x="6359648" y="322095"/>
                  <a:pt x="6424550" y="285008"/>
                </a:cubicBezTo>
                <a:cubicBezTo>
                  <a:pt x="6436942" y="277927"/>
                  <a:pt x="6447002" y="266747"/>
                  <a:pt x="6460176" y="261258"/>
                </a:cubicBezTo>
                <a:cubicBezTo>
                  <a:pt x="6494840" y="246815"/>
                  <a:pt x="6567054" y="225632"/>
                  <a:pt x="6567054" y="225632"/>
                </a:cubicBezTo>
                <a:cubicBezTo>
                  <a:pt x="6578929" y="217715"/>
                  <a:pt x="6589914" y="208264"/>
                  <a:pt x="6602680" y="201881"/>
                </a:cubicBezTo>
                <a:cubicBezTo>
                  <a:pt x="6621746" y="192348"/>
                  <a:pt x="6643980" y="189428"/>
                  <a:pt x="6662057" y="178130"/>
                </a:cubicBezTo>
                <a:cubicBezTo>
                  <a:pt x="6676298" y="169229"/>
                  <a:pt x="6684781" y="153255"/>
                  <a:pt x="6697683" y="142504"/>
                </a:cubicBezTo>
                <a:cubicBezTo>
                  <a:pt x="6722858" y="121525"/>
                  <a:pt x="6751777" y="109520"/>
                  <a:pt x="6780810" y="95003"/>
                </a:cubicBezTo>
                <a:cubicBezTo>
                  <a:pt x="6812480" y="-1"/>
                  <a:pt x="6764976" y="110837"/>
                  <a:pt x="6828311" y="47502"/>
                </a:cubicBezTo>
                <a:cubicBezTo>
                  <a:pt x="6837162" y="38651"/>
                  <a:pt x="6834589" y="23072"/>
                  <a:pt x="6840187" y="11876"/>
                </a:cubicBezTo>
                <a:cubicBezTo>
                  <a:pt x="6842691" y="6869"/>
                  <a:pt x="6848104" y="3959"/>
                  <a:pt x="6852062" y="0"/>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7" name="Rectangle 26"/>
          <p:cNvSpPr/>
          <p:nvPr/>
        </p:nvSpPr>
        <p:spPr>
          <a:xfrm>
            <a:off x="783771" y="4186490"/>
            <a:ext cx="6096000" cy="307777"/>
          </a:xfrm>
          <a:prstGeom prst="rect">
            <a:avLst/>
          </a:prstGeom>
        </p:spPr>
        <p:txBody>
          <a:bodyPr>
            <a:spAutoFit/>
          </a:bodyPr>
          <a:lstStyle/>
          <a:p>
            <a:r>
              <a:rPr lang="en-US" sz="1400" dirty="0"/>
              <a:t>as a resultant create a </a:t>
            </a:r>
            <a:r>
              <a:rPr lang="en-US" sz="1400" dirty="0" smtClean="0"/>
              <a:t>problem</a:t>
            </a:r>
            <a:endParaRPr lang="en-US" sz="1400" dirty="0"/>
          </a:p>
        </p:txBody>
      </p:sp>
      <p:sp>
        <p:nvSpPr>
          <p:cNvPr id="28" name="Rectangle 27"/>
          <p:cNvSpPr/>
          <p:nvPr/>
        </p:nvSpPr>
        <p:spPr>
          <a:xfrm>
            <a:off x="1009403" y="4896179"/>
            <a:ext cx="3625480" cy="369332"/>
          </a:xfrm>
          <a:prstGeom prst="rect">
            <a:avLst/>
          </a:prstGeom>
        </p:spPr>
        <p:txBody>
          <a:bodyPr wrap="none">
            <a:spAutoFit/>
          </a:bodyPr>
          <a:lstStyle/>
          <a:p>
            <a:r>
              <a:rPr lang="en-US" i="1" dirty="0"/>
              <a:t> they can not handle sequential Data</a:t>
            </a:r>
            <a:endParaRPr lang="en-IN" i="1" dirty="0"/>
          </a:p>
        </p:txBody>
      </p:sp>
      <p:cxnSp>
        <p:nvCxnSpPr>
          <p:cNvPr id="30" name="Straight Connector 29"/>
          <p:cNvCxnSpPr/>
          <p:nvPr/>
        </p:nvCxnSpPr>
        <p:spPr>
          <a:xfrm flipH="1">
            <a:off x="7255823" y="2889644"/>
            <a:ext cx="11876" cy="32617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7715949" y="3258580"/>
            <a:ext cx="3449470" cy="615554"/>
            <a:chOff x="7715949" y="3258580"/>
            <a:chExt cx="3449470" cy="615554"/>
          </a:xfrm>
        </p:grpSpPr>
        <p:sp>
          <p:nvSpPr>
            <p:cNvPr id="31" name="Rectangle 30"/>
            <p:cNvSpPr/>
            <p:nvPr/>
          </p:nvSpPr>
          <p:spPr>
            <a:xfrm>
              <a:off x="7715949" y="3258580"/>
              <a:ext cx="3449470" cy="307777"/>
            </a:xfrm>
            <a:prstGeom prst="rect">
              <a:avLst/>
            </a:prstGeom>
            <a:solidFill>
              <a:schemeClr val="accent4">
                <a:lumMod val="20000"/>
                <a:lumOff val="80000"/>
              </a:schemeClr>
            </a:solidFill>
            <a:ln>
              <a:solidFill>
                <a:schemeClr val="bg1">
                  <a:lumMod val="75000"/>
                </a:schemeClr>
              </a:solidFill>
            </a:ln>
          </p:spPr>
          <p:txBody>
            <a:bodyPr wrap="none">
              <a:spAutoFit/>
            </a:bodyPr>
            <a:lstStyle/>
            <a:p>
              <a:pPr marL="285750" indent="-285750">
                <a:buFont typeface="Wingdings" pitchFamily="2" charset="2"/>
                <a:buChar char="§"/>
              </a:pPr>
              <a:r>
                <a:rPr lang="en-US" sz="1400" dirty="0"/>
                <a:t>Data flows in only one </a:t>
              </a:r>
              <a:r>
                <a:rPr lang="en-US" sz="1400" dirty="0" smtClean="0"/>
                <a:t>direction(i\p- </a:t>
              </a:r>
              <a:r>
                <a:rPr lang="en-US" sz="1400" dirty="0"/>
                <a:t>o\p)</a:t>
              </a:r>
              <a:endParaRPr lang="en-IN" sz="1400" dirty="0"/>
            </a:p>
          </p:txBody>
        </p:sp>
        <p:sp>
          <p:nvSpPr>
            <p:cNvPr id="32" name="Rectangle 31"/>
            <p:cNvSpPr/>
            <p:nvPr/>
          </p:nvSpPr>
          <p:spPr>
            <a:xfrm>
              <a:off x="7715949" y="3566357"/>
              <a:ext cx="2483500" cy="307777"/>
            </a:xfrm>
            <a:prstGeom prst="rect">
              <a:avLst/>
            </a:prstGeom>
            <a:solidFill>
              <a:schemeClr val="accent6">
                <a:lumMod val="20000"/>
                <a:lumOff val="80000"/>
              </a:schemeClr>
            </a:solidFill>
          </p:spPr>
          <p:txBody>
            <a:bodyPr wrap="none">
              <a:spAutoFit/>
            </a:bodyPr>
            <a:lstStyle/>
            <a:p>
              <a:pPr marL="285750" indent="-285750">
                <a:buFont typeface="Wingdings" pitchFamily="2" charset="2"/>
                <a:buChar char="§"/>
              </a:pPr>
              <a:r>
                <a:rPr lang="en-US" sz="1400" dirty="0"/>
                <a:t>There is no memory in ANN</a:t>
              </a:r>
              <a:endParaRPr lang="en-IN" sz="1400" dirty="0"/>
            </a:p>
          </p:txBody>
        </p:sp>
      </p:grpSp>
      <p:sp>
        <p:nvSpPr>
          <p:cNvPr id="34" name="Rectangle 33"/>
          <p:cNvSpPr/>
          <p:nvPr/>
        </p:nvSpPr>
        <p:spPr>
          <a:xfrm>
            <a:off x="7433980" y="4526847"/>
            <a:ext cx="3607911" cy="307777"/>
          </a:xfrm>
          <a:prstGeom prst="rect">
            <a:avLst/>
          </a:prstGeom>
        </p:spPr>
        <p:txBody>
          <a:bodyPr wrap="none">
            <a:spAutoFit/>
          </a:bodyPr>
          <a:lstStyle/>
          <a:p>
            <a:r>
              <a:rPr lang="en-US" sz="1400" dirty="0"/>
              <a:t>that's why ANN can not handle </a:t>
            </a:r>
            <a:r>
              <a:rPr lang="en-US" sz="1400" dirty="0" smtClean="0"/>
              <a:t>sequential </a:t>
            </a:r>
            <a:r>
              <a:rPr lang="en-US" sz="1400" dirty="0"/>
              <a:t>data</a:t>
            </a:r>
            <a:endParaRPr lang="en-IN" sz="1400" dirty="0"/>
          </a:p>
        </p:txBody>
      </p:sp>
    </p:spTree>
    <p:extLst>
      <p:ext uri="{BB962C8B-B14F-4D97-AF65-F5344CB8AC3E}">
        <p14:creationId xmlns:p14="http://schemas.microsoft.com/office/powerpoint/2010/main" val="39699549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36" name="Group 35"/>
          <p:cNvGrpSpPr/>
          <p:nvPr/>
        </p:nvGrpSpPr>
        <p:grpSpPr>
          <a:xfrm>
            <a:off x="1043836" y="198975"/>
            <a:ext cx="5529986" cy="966214"/>
            <a:chOff x="1043836" y="198975"/>
            <a:chExt cx="5529986" cy="966214"/>
          </a:xfrm>
        </p:grpSpPr>
        <p:sp>
          <p:nvSpPr>
            <p:cNvPr id="2" name="Oval 1"/>
            <p:cNvSpPr/>
            <p:nvPr/>
          </p:nvSpPr>
          <p:spPr>
            <a:xfrm>
              <a:off x="1043836" y="198975"/>
              <a:ext cx="1223158" cy="966214"/>
            </a:xfrm>
            <a:prstGeom prst="ellipse">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ANN</a:t>
              </a:r>
              <a:endParaRPr lang="en-US" dirty="0"/>
            </a:p>
          </p:txBody>
        </p:sp>
        <p:grpSp>
          <p:nvGrpSpPr>
            <p:cNvPr id="9" name="Group 8"/>
            <p:cNvGrpSpPr/>
            <p:nvPr/>
          </p:nvGrpSpPr>
          <p:grpSpPr>
            <a:xfrm>
              <a:off x="2320735" y="363822"/>
              <a:ext cx="4253087" cy="626037"/>
              <a:chOff x="3917274" y="425712"/>
              <a:chExt cx="4253087" cy="626037"/>
            </a:xfrm>
          </p:grpSpPr>
          <p:sp>
            <p:nvSpPr>
              <p:cNvPr id="3" name="Rectangle 2"/>
              <p:cNvSpPr/>
              <p:nvPr/>
            </p:nvSpPr>
            <p:spPr>
              <a:xfrm>
                <a:off x="3917274" y="425712"/>
                <a:ext cx="2909771" cy="307777"/>
              </a:xfrm>
              <a:prstGeom prst="rect">
                <a:avLst/>
              </a:prstGeom>
              <a:ln>
                <a:solidFill>
                  <a:schemeClr val="bg1">
                    <a:lumMod val="75000"/>
                  </a:schemeClr>
                </a:solidFill>
              </a:ln>
            </p:spPr>
            <p:txBody>
              <a:bodyPr wrap="none">
                <a:spAutoFit/>
              </a:bodyPr>
              <a:lstStyle/>
              <a:p>
                <a:r>
                  <a:rPr lang="en-US" sz="1400" dirty="0" smtClean="0">
                    <a:latin typeface="Arial Unicode MS" pitchFamily="34" charset="-128"/>
                    <a:ea typeface="Arial Unicode MS" pitchFamily="34" charset="-128"/>
                    <a:cs typeface="Arial Unicode MS" pitchFamily="34" charset="-128"/>
                  </a:rPr>
                  <a:t>There </a:t>
                </a:r>
                <a:r>
                  <a:rPr lang="en-US" sz="1400" dirty="0">
                    <a:latin typeface="Arial Unicode MS" pitchFamily="34" charset="-128"/>
                    <a:ea typeface="Arial Unicode MS" pitchFamily="34" charset="-128"/>
                    <a:cs typeface="Arial Unicode MS" pitchFamily="34" charset="-128"/>
                  </a:rPr>
                  <a:t>is no cycle or </a:t>
                </a:r>
                <a:r>
                  <a:rPr lang="en-US" sz="1400" dirty="0">
                    <a:solidFill>
                      <a:srgbClr val="7030A0"/>
                    </a:solidFill>
                    <a:latin typeface="Arial Unicode MS" pitchFamily="34" charset="-128"/>
                    <a:ea typeface="Arial Unicode MS" pitchFamily="34" charset="-128"/>
                    <a:cs typeface="Arial Unicode MS" pitchFamily="34" charset="-128"/>
                  </a:rPr>
                  <a:t>feedback loop</a:t>
                </a:r>
                <a:endParaRPr lang="en-IN" sz="1400" dirty="0">
                  <a:solidFill>
                    <a:srgbClr val="7030A0"/>
                  </a:solidFill>
                  <a:latin typeface="Arial Unicode MS" pitchFamily="34" charset="-128"/>
                  <a:ea typeface="Arial Unicode MS" pitchFamily="34" charset="-128"/>
                  <a:cs typeface="Arial Unicode MS" pitchFamily="34" charset="-128"/>
                </a:endParaRPr>
              </a:p>
            </p:txBody>
          </p:sp>
          <p:sp>
            <p:nvSpPr>
              <p:cNvPr id="5" name="Rectangle 4"/>
              <p:cNvSpPr/>
              <p:nvPr/>
            </p:nvSpPr>
            <p:spPr>
              <a:xfrm>
                <a:off x="3917274" y="743972"/>
                <a:ext cx="4253087" cy="307777"/>
              </a:xfrm>
              <a:prstGeom prst="rect">
                <a:avLst/>
              </a:prstGeom>
              <a:ln>
                <a:solidFill>
                  <a:schemeClr val="bg1">
                    <a:lumMod val="75000"/>
                  </a:schemeClr>
                </a:solidFill>
              </a:ln>
            </p:spPr>
            <p:txBody>
              <a:bodyPr wrap="none">
                <a:spAutoFit/>
              </a:bodyPr>
              <a:lstStyle/>
              <a:p>
                <a:r>
                  <a:rPr lang="en-US" sz="1400" dirty="0">
                    <a:latin typeface="Arial Unicode MS" pitchFamily="34" charset="-128"/>
                    <a:ea typeface="Arial Unicode MS" pitchFamily="34" charset="-128"/>
                    <a:cs typeface="Arial Unicode MS" pitchFamily="34" charset="-128"/>
                  </a:rPr>
                  <a:t>information </a:t>
                </a:r>
                <a:r>
                  <a:rPr lang="en-US" sz="1400" dirty="0">
                    <a:solidFill>
                      <a:srgbClr val="7030A0"/>
                    </a:solidFill>
                    <a:latin typeface="Arial Unicode MS" pitchFamily="34" charset="-128"/>
                    <a:ea typeface="Arial Unicode MS" pitchFamily="34" charset="-128"/>
                    <a:cs typeface="Arial Unicode MS" pitchFamily="34" charset="-128"/>
                  </a:rPr>
                  <a:t>is flow only one direction </a:t>
                </a:r>
                <a:r>
                  <a:rPr lang="en-US" sz="1400" dirty="0">
                    <a:latin typeface="Arial Unicode MS" pitchFamily="34" charset="-128"/>
                    <a:ea typeface="Arial Unicode MS" pitchFamily="34" charset="-128"/>
                    <a:cs typeface="Arial Unicode MS" pitchFamily="34" charset="-128"/>
                  </a:rPr>
                  <a:t>input to output</a:t>
                </a:r>
              </a:p>
            </p:txBody>
          </p:sp>
        </p:grpSp>
      </p:grpSp>
      <p:cxnSp>
        <p:nvCxnSpPr>
          <p:cNvPr id="10" name="Straight Connector 9"/>
          <p:cNvCxnSpPr/>
          <p:nvPr/>
        </p:nvCxnSpPr>
        <p:spPr>
          <a:xfrm flipV="1">
            <a:off x="178598" y="1478007"/>
            <a:ext cx="11578442" cy="83126"/>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a:xfrm>
            <a:off x="2266994" y="1733322"/>
            <a:ext cx="4391587" cy="750978"/>
            <a:chOff x="3159675" y="1819295"/>
            <a:chExt cx="4391587" cy="750978"/>
          </a:xfrm>
        </p:grpSpPr>
        <p:sp>
          <p:nvSpPr>
            <p:cNvPr id="12" name="Rectangle 11"/>
            <p:cNvSpPr/>
            <p:nvPr/>
          </p:nvSpPr>
          <p:spPr>
            <a:xfrm>
              <a:off x="3159675" y="1819295"/>
              <a:ext cx="4391587" cy="338554"/>
            </a:xfrm>
            <a:prstGeom prst="rect">
              <a:avLst/>
            </a:prstGeom>
          </p:spPr>
          <p:txBody>
            <a:bodyPr wrap="none">
              <a:spAutoFit/>
            </a:bodyPr>
            <a:lstStyle/>
            <a:p>
              <a:r>
                <a:rPr lang="en-US" sz="1600" dirty="0"/>
                <a:t>to Overcome ANN Drawback by </a:t>
              </a:r>
              <a:r>
                <a:rPr lang="en-US" sz="1600" dirty="0" smtClean="0"/>
                <a:t>providing </a:t>
              </a:r>
              <a:r>
                <a:rPr lang="en-US" sz="1600" dirty="0"/>
                <a:t>memory</a:t>
              </a:r>
              <a:endParaRPr lang="en-IN" sz="1600" dirty="0"/>
            </a:p>
          </p:txBody>
        </p:sp>
        <p:sp>
          <p:nvSpPr>
            <p:cNvPr id="13" name="Freeform 12"/>
            <p:cNvSpPr/>
            <p:nvPr/>
          </p:nvSpPr>
          <p:spPr>
            <a:xfrm>
              <a:off x="5153891" y="2125683"/>
              <a:ext cx="1009403" cy="444590"/>
            </a:xfrm>
            <a:custGeom>
              <a:avLst/>
              <a:gdLst>
                <a:gd name="connsiteX0" fmla="*/ 0 w 1009403"/>
                <a:gd name="connsiteY0" fmla="*/ 0 h 444590"/>
                <a:gd name="connsiteX1" fmla="*/ 47501 w 1009403"/>
                <a:gd name="connsiteY1" fmla="*/ 130629 h 444590"/>
                <a:gd name="connsiteX2" fmla="*/ 71252 w 1009403"/>
                <a:gd name="connsiteY2" fmla="*/ 201881 h 444590"/>
                <a:gd name="connsiteX3" fmla="*/ 95003 w 1009403"/>
                <a:gd name="connsiteY3" fmla="*/ 296883 h 444590"/>
                <a:gd name="connsiteX4" fmla="*/ 106878 w 1009403"/>
                <a:gd name="connsiteY4" fmla="*/ 332509 h 444590"/>
                <a:gd name="connsiteX5" fmla="*/ 118753 w 1009403"/>
                <a:gd name="connsiteY5" fmla="*/ 403761 h 444590"/>
                <a:gd name="connsiteX6" fmla="*/ 130628 w 1009403"/>
                <a:gd name="connsiteY6" fmla="*/ 439387 h 444590"/>
                <a:gd name="connsiteX7" fmla="*/ 1009403 w 1009403"/>
                <a:gd name="connsiteY7" fmla="*/ 439387 h 444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9403" h="444590">
                  <a:moveTo>
                    <a:pt x="0" y="0"/>
                  </a:moveTo>
                  <a:cubicBezTo>
                    <a:pt x="33052" y="82630"/>
                    <a:pt x="17006" y="39144"/>
                    <a:pt x="47501" y="130629"/>
                  </a:cubicBezTo>
                  <a:cubicBezTo>
                    <a:pt x="55418" y="154380"/>
                    <a:pt x="65180" y="177593"/>
                    <a:pt x="71252" y="201881"/>
                  </a:cubicBezTo>
                  <a:cubicBezTo>
                    <a:pt x="79169" y="233548"/>
                    <a:pt x="84681" y="265916"/>
                    <a:pt x="95003" y="296883"/>
                  </a:cubicBezTo>
                  <a:cubicBezTo>
                    <a:pt x="98961" y="308758"/>
                    <a:pt x="104163" y="320289"/>
                    <a:pt x="106878" y="332509"/>
                  </a:cubicBezTo>
                  <a:cubicBezTo>
                    <a:pt x="112101" y="356014"/>
                    <a:pt x="113530" y="380256"/>
                    <a:pt x="118753" y="403761"/>
                  </a:cubicBezTo>
                  <a:cubicBezTo>
                    <a:pt x="121468" y="415981"/>
                    <a:pt x="118120" y="438887"/>
                    <a:pt x="130628" y="439387"/>
                  </a:cubicBezTo>
                  <a:cubicBezTo>
                    <a:pt x="423319" y="451095"/>
                    <a:pt x="716478" y="439387"/>
                    <a:pt x="1009403" y="439387"/>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grpSp>
        <p:nvGrpSpPr>
          <p:cNvPr id="17" name="Group 16"/>
          <p:cNvGrpSpPr/>
          <p:nvPr/>
        </p:nvGrpSpPr>
        <p:grpSpPr>
          <a:xfrm>
            <a:off x="5386397" y="2299634"/>
            <a:ext cx="3159147" cy="307777"/>
            <a:chOff x="6279078" y="2385607"/>
            <a:chExt cx="3159147" cy="307777"/>
          </a:xfrm>
        </p:grpSpPr>
        <p:sp>
          <p:nvSpPr>
            <p:cNvPr id="14" name="TextBox 13"/>
            <p:cNvSpPr txBox="1"/>
            <p:nvPr/>
          </p:nvSpPr>
          <p:spPr>
            <a:xfrm>
              <a:off x="6541085" y="2385607"/>
              <a:ext cx="2897140" cy="307777"/>
            </a:xfrm>
            <a:prstGeom prst="rect">
              <a:avLst/>
            </a:prstGeom>
            <a:noFill/>
          </p:spPr>
          <p:txBody>
            <a:bodyPr wrap="none" rtlCol="0">
              <a:spAutoFit/>
            </a:bodyPr>
            <a:lstStyle/>
            <a:p>
              <a:r>
                <a:rPr lang="en-US" sz="1400" dirty="0" smtClean="0"/>
                <a:t>By Which it can store past input state</a:t>
              </a:r>
            </a:p>
          </p:txBody>
        </p:sp>
        <p:sp>
          <p:nvSpPr>
            <p:cNvPr id="16" name="Flowchart: Connector 15"/>
            <p:cNvSpPr/>
            <p:nvPr/>
          </p:nvSpPr>
          <p:spPr>
            <a:xfrm>
              <a:off x="6279078" y="2461176"/>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IN" dirty="0"/>
            </a:p>
          </p:txBody>
        </p:sp>
      </p:grpSp>
      <p:grpSp>
        <p:nvGrpSpPr>
          <p:cNvPr id="30" name="Group 29"/>
          <p:cNvGrpSpPr/>
          <p:nvPr/>
        </p:nvGrpSpPr>
        <p:grpSpPr>
          <a:xfrm>
            <a:off x="5383428" y="2749259"/>
            <a:ext cx="4982678" cy="307777"/>
            <a:chOff x="6276109" y="2835232"/>
            <a:chExt cx="4982678" cy="307777"/>
          </a:xfrm>
        </p:grpSpPr>
        <p:sp>
          <p:nvSpPr>
            <p:cNvPr id="15" name="Rectangle 14"/>
            <p:cNvSpPr/>
            <p:nvPr/>
          </p:nvSpPr>
          <p:spPr>
            <a:xfrm>
              <a:off x="6541085" y="2835232"/>
              <a:ext cx="4717702" cy="307777"/>
            </a:xfrm>
            <a:prstGeom prst="rect">
              <a:avLst/>
            </a:prstGeom>
          </p:spPr>
          <p:txBody>
            <a:bodyPr wrap="none">
              <a:spAutoFit/>
            </a:bodyPr>
            <a:lstStyle/>
            <a:p>
              <a:r>
                <a:rPr lang="en-US" sz="1400" dirty="0"/>
                <a:t>It is also consider previous input state along with current </a:t>
              </a:r>
              <a:r>
                <a:rPr lang="en-US" sz="1400" dirty="0" smtClean="0"/>
                <a:t>state</a:t>
              </a:r>
              <a:endParaRPr lang="en-IN" sz="1400" dirty="0"/>
            </a:p>
          </p:txBody>
        </p:sp>
        <p:sp>
          <p:nvSpPr>
            <p:cNvPr id="18" name="Flowchart: Connector 17"/>
            <p:cNvSpPr/>
            <p:nvPr/>
          </p:nvSpPr>
          <p:spPr>
            <a:xfrm>
              <a:off x="6276109" y="2905598"/>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IN" dirty="0"/>
            </a:p>
          </p:txBody>
        </p:sp>
      </p:grpSp>
      <p:sp>
        <p:nvSpPr>
          <p:cNvPr id="19" name="TextBox 18"/>
          <p:cNvSpPr txBox="1"/>
          <p:nvPr/>
        </p:nvSpPr>
        <p:spPr>
          <a:xfrm>
            <a:off x="5497728" y="4798035"/>
            <a:ext cx="2770110" cy="307777"/>
          </a:xfrm>
          <a:prstGeom prst="rect">
            <a:avLst/>
          </a:prstGeom>
          <a:solidFill>
            <a:schemeClr val="accent2">
              <a:lumMod val="20000"/>
              <a:lumOff val="80000"/>
            </a:schemeClr>
          </a:solidFill>
          <a:ln>
            <a:solidFill>
              <a:schemeClr val="bg1">
                <a:lumMod val="95000"/>
              </a:schemeClr>
            </a:solidFill>
          </a:ln>
        </p:spPr>
        <p:txBody>
          <a:bodyPr wrap="square" rtlCol="0">
            <a:spAutoFit/>
          </a:bodyPr>
          <a:lstStyle/>
          <a:p>
            <a:r>
              <a:rPr lang="en-US" sz="1400" dirty="0" smtClean="0">
                <a:latin typeface="Arial Unicode MS" pitchFamily="34" charset="-128"/>
                <a:ea typeface="Arial Unicode MS" pitchFamily="34" charset="-128"/>
                <a:cs typeface="Arial Unicode MS" pitchFamily="34" charset="-128"/>
              </a:rPr>
              <a:t>Output as a input for next step</a:t>
            </a:r>
            <a:endParaRPr lang="en-IN" sz="1400" dirty="0">
              <a:latin typeface="Arial Unicode MS" pitchFamily="34" charset="-128"/>
              <a:ea typeface="Arial Unicode MS" pitchFamily="34" charset="-128"/>
              <a:cs typeface="Arial Unicode MS" pitchFamily="34" charset="-128"/>
            </a:endParaRPr>
          </a:p>
        </p:txBody>
      </p:sp>
      <p:grpSp>
        <p:nvGrpSpPr>
          <p:cNvPr id="33" name="Group 32"/>
          <p:cNvGrpSpPr/>
          <p:nvPr/>
        </p:nvGrpSpPr>
        <p:grpSpPr>
          <a:xfrm>
            <a:off x="2980154" y="3800105"/>
            <a:ext cx="2346756" cy="2326088"/>
            <a:chOff x="5456202" y="3803393"/>
            <a:chExt cx="1509769" cy="1758840"/>
          </a:xfrm>
        </p:grpSpPr>
        <p:grpSp>
          <p:nvGrpSpPr>
            <p:cNvPr id="29" name="Group 28"/>
            <p:cNvGrpSpPr/>
            <p:nvPr/>
          </p:nvGrpSpPr>
          <p:grpSpPr>
            <a:xfrm>
              <a:off x="5940630" y="3803393"/>
              <a:ext cx="1025341" cy="1758840"/>
              <a:chOff x="4693721" y="3642580"/>
              <a:chExt cx="1025341" cy="1758840"/>
            </a:xfrm>
          </p:grpSpPr>
          <p:grpSp>
            <p:nvGrpSpPr>
              <p:cNvPr id="21" name="Group 20"/>
              <p:cNvGrpSpPr/>
              <p:nvPr/>
            </p:nvGrpSpPr>
            <p:grpSpPr>
              <a:xfrm>
                <a:off x="4811485" y="3642580"/>
                <a:ext cx="342406" cy="1758840"/>
                <a:chOff x="6841176" y="1505886"/>
                <a:chExt cx="342406" cy="1758840"/>
              </a:xfrm>
            </p:grpSpPr>
            <p:sp>
              <p:nvSpPr>
                <p:cNvPr id="22" name="Flowchart: Connector 21"/>
                <p:cNvSpPr/>
                <p:nvPr/>
              </p:nvSpPr>
              <p:spPr>
                <a:xfrm>
                  <a:off x="6852062" y="2943099"/>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X</a:t>
                  </a:r>
                  <a:endParaRPr lang="en-IN" dirty="0"/>
                </a:p>
              </p:txBody>
            </p:sp>
            <p:sp>
              <p:nvSpPr>
                <p:cNvPr id="23" name="Flowchart: Connector 22"/>
                <p:cNvSpPr/>
                <p:nvPr/>
              </p:nvSpPr>
              <p:spPr>
                <a:xfrm>
                  <a:off x="6841176" y="1505886"/>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Y</a:t>
                  </a:r>
                  <a:endParaRPr lang="en-IN" dirty="0"/>
                </a:p>
              </p:txBody>
            </p:sp>
            <p:sp>
              <p:nvSpPr>
                <p:cNvPr id="24" name="Flowchart: Connector 23"/>
                <p:cNvSpPr/>
                <p:nvPr/>
              </p:nvSpPr>
              <p:spPr>
                <a:xfrm>
                  <a:off x="6852062" y="2231568"/>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a:t>
                  </a:r>
                  <a:endParaRPr lang="en-IN" dirty="0"/>
                </a:p>
              </p:txBody>
            </p:sp>
            <p:cxnSp>
              <p:nvCxnSpPr>
                <p:cNvPr id="25" name="Straight Connector 24"/>
                <p:cNvCxnSpPr>
                  <a:stCxn id="23" idx="4"/>
                  <a:endCxn id="24" idx="0"/>
                </p:cNvCxnSpPr>
                <p:nvPr/>
              </p:nvCxnSpPr>
              <p:spPr>
                <a:xfrm>
                  <a:off x="7006936" y="1827513"/>
                  <a:ext cx="10886" cy="40405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05451" y="2553195"/>
                  <a:ext cx="10886" cy="40405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20" name="Curved Right Arrow 19"/>
              <p:cNvSpPr/>
              <p:nvPr/>
            </p:nvSpPr>
            <p:spPr>
              <a:xfrm>
                <a:off x="4693721" y="4166234"/>
                <a:ext cx="449284" cy="725683"/>
              </a:xfrm>
              <a:prstGeom prst="curvedRightArrow">
                <a:avLst/>
              </a:prstGeom>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7" name="TextBox 26"/>
              <p:cNvSpPr txBox="1"/>
              <p:nvPr/>
            </p:nvSpPr>
            <p:spPr>
              <a:xfrm>
                <a:off x="5146469" y="4324546"/>
                <a:ext cx="572593" cy="261610"/>
              </a:xfrm>
              <a:prstGeom prst="rect">
                <a:avLst/>
              </a:prstGeom>
              <a:noFill/>
            </p:spPr>
            <p:txBody>
              <a:bodyPr wrap="none" rtlCol="0">
                <a:spAutoFit/>
              </a:bodyPr>
              <a:lstStyle/>
              <a:p>
                <a:r>
                  <a:rPr lang="en-US" sz="1100" dirty="0" smtClean="0"/>
                  <a:t>output</a:t>
                </a:r>
                <a:endParaRPr lang="en-IN" sz="1100" dirty="0"/>
              </a:p>
            </p:txBody>
          </p:sp>
        </p:grpSp>
        <p:sp>
          <p:nvSpPr>
            <p:cNvPr id="31" name="TextBox 30"/>
            <p:cNvSpPr txBox="1"/>
            <p:nvPr/>
          </p:nvSpPr>
          <p:spPr>
            <a:xfrm>
              <a:off x="5456202" y="4529075"/>
              <a:ext cx="484428" cy="261610"/>
            </a:xfrm>
            <a:prstGeom prst="rect">
              <a:avLst/>
            </a:prstGeom>
            <a:noFill/>
          </p:spPr>
          <p:txBody>
            <a:bodyPr wrap="none" rtlCol="0">
              <a:spAutoFit/>
            </a:bodyPr>
            <a:lstStyle/>
            <a:p>
              <a:r>
                <a:rPr lang="en-US" sz="1100" dirty="0" smtClean="0"/>
                <a:t>input</a:t>
              </a:r>
              <a:endParaRPr lang="en-IN" sz="1100" dirty="0"/>
            </a:p>
          </p:txBody>
        </p:sp>
      </p:grpSp>
      <p:sp>
        <p:nvSpPr>
          <p:cNvPr id="37" name="TextBox 36"/>
          <p:cNvSpPr txBox="1"/>
          <p:nvPr/>
        </p:nvSpPr>
        <p:spPr>
          <a:xfrm>
            <a:off x="203541" y="383259"/>
            <a:ext cx="772969" cy="830997"/>
          </a:xfrm>
          <a:prstGeom prst="rect">
            <a:avLst/>
          </a:prstGeom>
          <a:noFill/>
        </p:spPr>
        <p:txBody>
          <a:bodyPr wrap="none" rtlCol="0">
            <a:spAutoFit/>
          </a:bodyPr>
          <a:lstStyle/>
          <a:p>
            <a:r>
              <a:rPr lang="en-US" sz="1200" dirty="0" smtClean="0">
                <a:latin typeface="Bahnschrift SemiLight" pitchFamily="34" charset="0"/>
                <a:ea typeface="Arial Unicode MS" pitchFamily="34" charset="-128"/>
                <a:cs typeface="Arial Unicode MS" pitchFamily="34" charset="-128"/>
              </a:rPr>
              <a:t>Feed</a:t>
            </a:r>
          </a:p>
          <a:p>
            <a:r>
              <a:rPr lang="en-US" sz="1200" dirty="0" smtClean="0">
                <a:latin typeface="Bahnschrift SemiLight" pitchFamily="34" charset="0"/>
                <a:ea typeface="Arial Unicode MS" pitchFamily="34" charset="-128"/>
                <a:cs typeface="Arial Unicode MS" pitchFamily="34" charset="-128"/>
              </a:rPr>
              <a:t>Forward</a:t>
            </a:r>
          </a:p>
          <a:p>
            <a:r>
              <a:rPr lang="en-US" sz="1200" dirty="0" smtClean="0">
                <a:latin typeface="Bahnschrift SemiLight" pitchFamily="34" charset="0"/>
                <a:ea typeface="Arial Unicode MS" pitchFamily="34" charset="-128"/>
                <a:cs typeface="Arial Unicode MS" pitchFamily="34" charset="-128"/>
              </a:rPr>
              <a:t>Neural</a:t>
            </a:r>
          </a:p>
          <a:p>
            <a:r>
              <a:rPr lang="en-US" sz="1200" dirty="0" smtClean="0">
                <a:latin typeface="Bahnschrift Light" pitchFamily="34" charset="0"/>
                <a:ea typeface="Arial Unicode MS" pitchFamily="34" charset="-128"/>
                <a:cs typeface="Arial Unicode MS" pitchFamily="34" charset="-128"/>
              </a:rPr>
              <a:t>Network</a:t>
            </a:r>
            <a:endParaRPr lang="en-IN" sz="1200" dirty="0">
              <a:latin typeface="Bahnschrift Light" pitchFamily="34" charset="0"/>
              <a:ea typeface="Arial Unicode MS" pitchFamily="34" charset="-128"/>
              <a:cs typeface="Arial Unicode MS" pitchFamily="34" charset="-128"/>
            </a:endParaRPr>
          </a:p>
        </p:txBody>
      </p:sp>
    </p:spTree>
    <p:extLst>
      <p:ext uri="{BB962C8B-B14F-4D97-AF65-F5344CB8AC3E}">
        <p14:creationId xmlns:p14="http://schemas.microsoft.com/office/powerpoint/2010/main" val="11969393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9" name="Group 8"/>
          <p:cNvGrpSpPr/>
          <p:nvPr/>
        </p:nvGrpSpPr>
        <p:grpSpPr>
          <a:xfrm>
            <a:off x="240535" y="182871"/>
            <a:ext cx="3785200" cy="338554"/>
            <a:chOff x="240535" y="182871"/>
            <a:chExt cx="3785200" cy="338554"/>
          </a:xfrm>
        </p:grpSpPr>
        <p:sp>
          <p:nvSpPr>
            <p:cNvPr id="2" name="Rectangle 1"/>
            <p:cNvSpPr/>
            <p:nvPr/>
          </p:nvSpPr>
          <p:spPr>
            <a:xfrm>
              <a:off x="240535" y="182871"/>
              <a:ext cx="3658374" cy="338554"/>
            </a:xfrm>
            <a:prstGeom prst="rect">
              <a:avLst/>
            </a:prstGeom>
          </p:spPr>
          <p:txBody>
            <a:bodyPr wrap="none">
              <a:spAutoFit/>
            </a:bodyPr>
            <a:lstStyle/>
            <a:p>
              <a:r>
                <a:rPr lang="en-US" sz="1600" dirty="0">
                  <a:latin typeface="Bahnschrift SemiLight" pitchFamily="34" charset="0"/>
                </a:rPr>
                <a:t>Lets understand RNN with a example:</a:t>
              </a:r>
              <a:endParaRPr lang="en-IN" sz="1600" dirty="0">
                <a:latin typeface="Bahnschrift SemiLight" pitchFamily="34" charset="0"/>
              </a:endParaRPr>
            </a:p>
          </p:txBody>
        </p:sp>
        <p:cxnSp>
          <p:nvCxnSpPr>
            <p:cNvPr id="5" name="Straight Connector 4"/>
            <p:cNvCxnSpPr/>
            <p:nvPr/>
          </p:nvCxnSpPr>
          <p:spPr>
            <a:xfrm>
              <a:off x="240535" y="521425"/>
              <a:ext cx="37852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534390" y="719171"/>
            <a:ext cx="11317183" cy="1077218"/>
          </a:xfrm>
          <a:prstGeom prst="rect">
            <a:avLst/>
          </a:prstGeom>
        </p:spPr>
        <p:txBody>
          <a:bodyPr wrap="square">
            <a:spAutoFit/>
          </a:bodyPr>
          <a:lstStyle/>
          <a:p>
            <a:r>
              <a:rPr lang="en-US" sz="1600" dirty="0"/>
              <a:t>Imagine </a:t>
            </a:r>
            <a:r>
              <a:rPr lang="en-US" sz="1600" dirty="0">
                <a:solidFill>
                  <a:srgbClr val="FF0066"/>
                </a:solidFill>
              </a:rPr>
              <a:t>reading a sentence and you try to predict the next word</a:t>
            </a:r>
            <a:r>
              <a:rPr lang="en-US" sz="1600" dirty="0"/>
              <a:t>, you don’t rely only on the current word but also remember the words that came before. RNNs work similarly by “</a:t>
            </a:r>
            <a:r>
              <a:rPr lang="en-US" sz="1600" dirty="0">
                <a:solidFill>
                  <a:srgbClr val="7030A0"/>
                </a:solidFill>
              </a:rPr>
              <a:t>remembering</a:t>
            </a:r>
            <a:r>
              <a:rPr lang="en-US" sz="1600" dirty="0"/>
              <a:t>” past information and </a:t>
            </a:r>
            <a:r>
              <a:rPr lang="en-US" sz="1600" i="1" dirty="0">
                <a:solidFill>
                  <a:srgbClr val="0070C0"/>
                </a:solidFill>
              </a:rPr>
              <a:t>passing the output from one step as input to the next</a:t>
            </a:r>
            <a:r>
              <a:rPr lang="en-US" sz="1600" dirty="0"/>
              <a:t> </a:t>
            </a:r>
            <a:r>
              <a:rPr lang="en-US" sz="1600" dirty="0" smtClean="0"/>
              <a:t>i.e. </a:t>
            </a:r>
            <a:r>
              <a:rPr lang="en-US" sz="1600" dirty="0"/>
              <a:t>it considers all the earlier words to choose the most likely next word. This memory of previous steps helps the network understand context and make better predictions.</a:t>
            </a:r>
            <a:endParaRPr lang="en-IN" sz="1600" dirty="0"/>
          </a:p>
        </p:txBody>
      </p:sp>
      <p:sp>
        <p:nvSpPr>
          <p:cNvPr id="11" name="Rectangle 10"/>
          <p:cNvSpPr/>
          <p:nvPr/>
        </p:nvSpPr>
        <p:spPr>
          <a:xfrm>
            <a:off x="2646287" y="2151804"/>
            <a:ext cx="3248005" cy="307777"/>
          </a:xfrm>
          <a:prstGeom prst="rect">
            <a:avLst/>
          </a:prstGeom>
          <a:solidFill>
            <a:schemeClr val="accent6">
              <a:lumMod val="20000"/>
              <a:lumOff val="80000"/>
            </a:schemeClr>
          </a:solidFill>
          <a:ln>
            <a:solidFill>
              <a:schemeClr val="bg1">
                <a:lumMod val="85000"/>
              </a:schemeClr>
            </a:solidFill>
          </a:ln>
        </p:spPr>
        <p:txBody>
          <a:bodyPr wrap="none">
            <a:spAutoFit/>
          </a:bodyPr>
          <a:lstStyle/>
          <a:p>
            <a:r>
              <a:rPr lang="en-US" sz="1400" dirty="0">
                <a:latin typeface="Bahnschrift SemiLight" pitchFamily="34" charset="0"/>
              </a:rPr>
              <a:t>I was born in </a:t>
            </a:r>
            <a:r>
              <a:rPr lang="en-US" sz="1400" dirty="0" smtClean="0">
                <a:latin typeface="Bahnschrift SemiLight" pitchFamily="34" charset="0"/>
              </a:rPr>
              <a:t>Germany. I </a:t>
            </a:r>
            <a:r>
              <a:rPr lang="en-US" sz="1400" dirty="0">
                <a:latin typeface="Bahnschrift SemiLight" pitchFamily="34" charset="0"/>
              </a:rPr>
              <a:t>can speak .....</a:t>
            </a:r>
            <a:endParaRPr lang="en-IN" sz="1400" dirty="0">
              <a:latin typeface="Bahnschrift SemiLight" pitchFamily="34" charset="0"/>
            </a:endParaRPr>
          </a:p>
        </p:txBody>
      </p:sp>
      <p:cxnSp>
        <p:nvCxnSpPr>
          <p:cNvPr id="26" name="Straight Connector 25"/>
          <p:cNvCxnSpPr>
            <a:stCxn id="49" idx="5"/>
            <a:endCxn id="51" idx="3"/>
          </p:cNvCxnSpPr>
          <p:nvPr/>
        </p:nvCxnSpPr>
        <p:spPr>
          <a:xfrm flipV="1">
            <a:off x="1446466" y="4795321"/>
            <a:ext cx="1380305" cy="185863"/>
          </a:xfrm>
          <a:prstGeom prst="line">
            <a:avLst/>
          </a:prstGeom>
        </p:spPr>
        <p:style>
          <a:lnRef idx="1">
            <a:schemeClr val="accent1"/>
          </a:lnRef>
          <a:fillRef idx="0">
            <a:schemeClr val="accent1"/>
          </a:fillRef>
          <a:effectRef idx="0">
            <a:schemeClr val="accent1"/>
          </a:effectRef>
          <a:fontRef idx="minor">
            <a:schemeClr val="tx1"/>
          </a:fontRef>
        </p:style>
      </p:cxnSp>
      <p:grpSp>
        <p:nvGrpSpPr>
          <p:cNvPr id="34" name="Group 33"/>
          <p:cNvGrpSpPr/>
          <p:nvPr/>
        </p:nvGrpSpPr>
        <p:grpSpPr>
          <a:xfrm>
            <a:off x="1281007" y="3165672"/>
            <a:ext cx="2534829" cy="1842731"/>
            <a:chOff x="5987696" y="3261815"/>
            <a:chExt cx="2989282" cy="2266453"/>
          </a:xfrm>
        </p:grpSpPr>
        <p:sp>
          <p:nvSpPr>
            <p:cNvPr id="12" name="Flowchart: Connector 11"/>
            <p:cNvSpPr/>
            <p:nvPr/>
          </p:nvSpPr>
          <p:spPr>
            <a:xfrm>
              <a:off x="6001603" y="3261815"/>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4" name="Straight Connector 13"/>
            <p:cNvCxnSpPr>
              <a:stCxn id="12" idx="6"/>
              <a:endCxn id="50" idx="1"/>
            </p:cNvCxnSpPr>
            <p:nvPr/>
          </p:nvCxnSpPr>
          <p:spPr>
            <a:xfrm>
              <a:off x="6230203" y="3376115"/>
              <a:ext cx="1558209" cy="727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47" idx="2"/>
              <a:endCxn id="50" idx="0"/>
            </p:cNvCxnSpPr>
            <p:nvPr/>
          </p:nvCxnSpPr>
          <p:spPr>
            <a:xfrm flipV="1">
              <a:off x="6000775" y="4070299"/>
              <a:ext cx="1868459" cy="47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48" idx="5"/>
              <a:endCxn id="50" idx="3"/>
            </p:cNvCxnSpPr>
            <p:nvPr/>
          </p:nvCxnSpPr>
          <p:spPr>
            <a:xfrm flipV="1">
              <a:off x="6189405" y="4265421"/>
              <a:ext cx="1599007" cy="5862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2" idx="5"/>
              <a:endCxn id="51" idx="1"/>
            </p:cNvCxnSpPr>
            <p:nvPr/>
          </p:nvCxnSpPr>
          <p:spPr>
            <a:xfrm>
              <a:off x="6196725" y="3456937"/>
              <a:ext cx="1613865" cy="16476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47" idx="6"/>
              <a:endCxn id="51" idx="1"/>
            </p:cNvCxnSpPr>
            <p:nvPr/>
          </p:nvCxnSpPr>
          <p:spPr>
            <a:xfrm>
              <a:off x="6229375" y="4117644"/>
              <a:ext cx="1581215" cy="986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4" name="Straight Connector 1023"/>
            <p:cNvCxnSpPr>
              <a:stCxn id="48" idx="5"/>
              <a:endCxn id="51" idx="2"/>
            </p:cNvCxnSpPr>
            <p:nvPr/>
          </p:nvCxnSpPr>
          <p:spPr>
            <a:xfrm>
              <a:off x="6189405" y="4851628"/>
              <a:ext cx="1587707" cy="333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8" name="Straight Connector 1027"/>
            <p:cNvCxnSpPr>
              <a:stCxn id="49" idx="5"/>
              <a:endCxn id="50" idx="3"/>
            </p:cNvCxnSpPr>
            <p:nvPr/>
          </p:nvCxnSpPr>
          <p:spPr>
            <a:xfrm flipV="1">
              <a:off x="6182818" y="4265421"/>
              <a:ext cx="1605594" cy="12293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0" name="Straight Connector 1029"/>
            <p:cNvCxnSpPr/>
            <p:nvPr/>
          </p:nvCxnSpPr>
          <p:spPr>
            <a:xfrm>
              <a:off x="7777112" y="4149999"/>
              <a:ext cx="971266" cy="297799"/>
            </a:xfrm>
            <a:prstGeom prst="line">
              <a:avLst/>
            </a:prstGeom>
          </p:spPr>
          <p:style>
            <a:lnRef idx="1">
              <a:schemeClr val="accent1"/>
            </a:lnRef>
            <a:fillRef idx="0">
              <a:schemeClr val="accent1"/>
            </a:fillRef>
            <a:effectRef idx="0">
              <a:schemeClr val="accent1"/>
            </a:effectRef>
            <a:fontRef idx="minor">
              <a:schemeClr val="tx1"/>
            </a:fontRef>
          </p:style>
        </p:cxnSp>
        <p:sp>
          <p:nvSpPr>
            <p:cNvPr id="47" name="Flowchart: Connector 46"/>
            <p:cNvSpPr/>
            <p:nvPr/>
          </p:nvSpPr>
          <p:spPr>
            <a:xfrm>
              <a:off x="6000775" y="4003344"/>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8" name="Flowchart: Connector 47"/>
            <p:cNvSpPr/>
            <p:nvPr/>
          </p:nvSpPr>
          <p:spPr>
            <a:xfrm>
              <a:off x="5994283" y="4656506"/>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9" name="Flowchart: Connector 48"/>
            <p:cNvSpPr/>
            <p:nvPr/>
          </p:nvSpPr>
          <p:spPr>
            <a:xfrm>
              <a:off x="5987696" y="5299668"/>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lowchart: Connector 49"/>
            <p:cNvSpPr/>
            <p:nvPr/>
          </p:nvSpPr>
          <p:spPr>
            <a:xfrm>
              <a:off x="7754934" y="4070299"/>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1" name="Flowchart: Connector 50"/>
            <p:cNvSpPr/>
            <p:nvPr/>
          </p:nvSpPr>
          <p:spPr>
            <a:xfrm>
              <a:off x="7777112" y="5071068"/>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2" name="Flowchart: Connector 51"/>
            <p:cNvSpPr/>
            <p:nvPr/>
          </p:nvSpPr>
          <p:spPr>
            <a:xfrm>
              <a:off x="8748378" y="4459597"/>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33" name="Straight Connector 32"/>
            <p:cNvCxnSpPr>
              <a:stCxn id="51" idx="6"/>
              <a:endCxn id="52" idx="3"/>
            </p:cNvCxnSpPr>
            <p:nvPr/>
          </p:nvCxnSpPr>
          <p:spPr>
            <a:xfrm flipV="1">
              <a:off x="8005712" y="4654719"/>
              <a:ext cx="776144" cy="530649"/>
            </a:xfrm>
            <a:prstGeom prst="line">
              <a:avLst/>
            </a:prstGeom>
          </p:spPr>
          <p:style>
            <a:lnRef idx="1">
              <a:schemeClr val="accent1"/>
            </a:lnRef>
            <a:fillRef idx="0">
              <a:schemeClr val="accent1"/>
            </a:fillRef>
            <a:effectRef idx="0">
              <a:schemeClr val="accent1"/>
            </a:effectRef>
            <a:fontRef idx="minor">
              <a:schemeClr val="tx1"/>
            </a:fontRef>
          </p:style>
        </p:cxnSp>
      </p:grpSp>
      <p:sp>
        <p:nvSpPr>
          <p:cNvPr id="36" name="Rectangle 35"/>
          <p:cNvSpPr/>
          <p:nvPr/>
        </p:nvSpPr>
        <p:spPr>
          <a:xfrm>
            <a:off x="1016996" y="5642297"/>
            <a:ext cx="8655263" cy="338554"/>
          </a:xfrm>
          <a:prstGeom prst="rect">
            <a:avLst/>
          </a:prstGeom>
          <a:solidFill>
            <a:srgbClr val="FF6743"/>
          </a:solidFill>
          <a:ln>
            <a:solidFill>
              <a:schemeClr val="bg1">
                <a:lumMod val="75000"/>
              </a:schemeClr>
            </a:solidFill>
          </a:ln>
        </p:spPr>
        <p:txBody>
          <a:bodyPr wrap="square">
            <a:spAutoFit/>
          </a:bodyPr>
          <a:lstStyle/>
          <a:p>
            <a:r>
              <a:rPr lang="en-US" sz="1600" dirty="0"/>
              <a:t>neural network used to look like </a:t>
            </a:r>
            <a:r>
              <a:rPr lang="en-US" sz="1600" dirty="0" smtClean="0"/>
              <a:t>this but </a:t>
            </a:r>
            <a:r>
              <a:rPr lang="en-US" sz="1600" dirty="0"/>
              <a:t>how it suddenly started looking </a:t>
            </a:r>
            <a:r>
              <a:rPr lang="en-US" sz="1600" dirty="0" smtClean="0"/>
              <a:t>like this also with loop</a:t>
            </a:r>
            <a:endParaRPr lang="en-IN" sz="1600" dirty="0"/>
          </a:p>
        </p:txBody>
      </p:sp>
      <p:grpSp>
        <p:nvGrpSpPr>
          <p:cNvPr id="75" name="Group 74"/>
          <p:cNvGrpSpPr/>
          <p:nvPr/>
        </p:nvGrpSpPr>
        <p:grpSpPr>
          <a:xfrm>
            <a:off x="6938005" y="3056912"/>
            <a:ext cx="2346756" cy="2326088"/>
            <a:chOff x="5456202" y="3803393"/>
            <a:chExt cx="1509769" cy="1758840"/>
          </a:xfrm>
        </p:grpSpPr>
        <p:grpSp>
          <p:nvGrpSpPr>
            <p:cNvPr id="76" name="Group 75"/>
            <p:cNvGrpSpPr/>
            <p:nvPr/>
          </p:nvGrpSpPr>
          <p:grpSpPr>
            <a:xfrm>
              <a:off x="5940630" y="3803393"/>
              <a:ext cx="1025341" cy="1758840"/>
              <a:chOff x="4693721" y="3642580"/>
              <a:chExt cx="1025341" cy="1758840"/>
            </a:xfrm>
          </p:grpSpPr>
          <p:grpSp>
            <p:nvGrpSpPr>
              <p:cNvPr id="78" name="Group 77"/>
              <p:cNvGrpSpPr/>
              <p:nvPr/>
            </p:nvGrpSpPr>
            <p:grpSpPr>
              <a:xfrm>
                <a:off x="4811485" y="3642580"/>
                <a:ext cx="342406" cy="1758840"/>
                <a:chOff x="6841176" y="1505886"/>
                <a:chExt cx="342406" cy="1758840"/>
              </a:xfrm>
            </p:grpSpPr>
            <p:sp>
              <p:nvSpPr>
                <p:cNvPr id="81" name="Flowchart: Connector 80"/>
                <p:cNvSpPr/>
                <p:nvPr/>
              </p:nvSpPr>
              <p:spPr>
                <a:xfrm>
                  <a:off x="6852062" y="2943099"/>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X</a:t>
                  </a:r>
                  <a:endParaRPr lang="en-IN" dirty="0"/>
                </a:p>
              </p:txBody>
            </p:sp>
            <p:sp>
              <p:nvSpPr>
                <p:cNvPr id="82" name="Flowchart: Connector 81"/>
                <p:cNvSpPr/>
                <p:nvPr/>
              </p:nvSpPr>
              <p:spPr>
                <a:xfrm>
                  <a:off x="6841176" y="1505886"/>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Y</a:t>
                  </a:r>
                  <a:endParaRPr lang="en-IN" dirty="0"/>
                </a:p>
              </p:txBody>
            </p:sp>
            <p:sp>
              <p:nvSpPr>
                <p:cNvPr id="83" name="Flowchart: Connector 82"/>
                <p:cNvSpPr/>
                <p:nvPr/>
              </p:nvSpPr>
              <p:spPr>
                <a:xfrm>
                  <a:off x="6852062" y="2231568"/>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a:t>
                  </a:r>
                  <a:endParaRPr lang="en-IN" dirty="0"/>
                </a:p>
              </p:txBody>
            </p:sp>
            <p:cxnSp>
              <p:nvCxnSpPr>
                <p:cNvPr id="84" name="Straight Connector 83"/>
                <p:cNvCxnSpPr>
                  <a:stCxn id="82" idx="4"/>
                  <a:endCxn id="83" idx="0"/>
                </p:cNvCxnSpPr>
                <p:nvPr/>
              </p:nvCxnSpPr>
              <p:spPr>
                <a:xfrm>
                  <a:off x="7006936" y="1827513"/>
                  <a:ext cx="10886" cy="40405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005451" y="2553195"/>
                  <a:ext cx="10886" cy="40405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79" name="Curved Right Arrow 78"/>
              <p:cNvSpPr/>
              <p:nvPr/>
            </p:nvSpPr>
            <p:spPr>
              <a:xfrm>
                <a:off x="4693721" y="4166234"/>
                <a:ext cx="449284" cy="725683"/>
              </a:xfrm>
              <a:prstGeom prst="curvedRightArrow">
                <a:avLst/>
              </a:prstGeom>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80" name="TextBox 79"/>
              <p:cNvSpPr txBox="1"/>
              <p:nvPr/>
            </p:nvSpPr>
            <p:spPr>
              <a:xfrm>
                <a:off x="5146469" y="4324546"/>
                <a:ext cx="572593" cy="261610"/>
              </a:xfrm>
              <a:prstGeom prst="rect">
                <a:avLst/>
              </a:prstGeom>
              <a:noFill/>
            </p:spPr>
            <p:txBody>
              <a:bodyPr wrap="none" rtlCol="0">
                <a:spAutoFit/>
              </a:bodyPr>
              <a:lstStyle/>
              <a:p>
                <a:r>
                  <a:rPr lang="en-US" sz="1100" dirty="0" smtClean="0"/>
                  <a:t>output</a:t>
                </a:r>
                <a:endParaRPr lang="en-IN" sz="1100" dirty="0"/>
              </a:p>
            </p:txBody>
          </p:sp>
        </p:grpSp>
        <p:sp>
          <p:nvSpPr>
            <p:cNvPr id="77" name="TextBox 76"/>
            <p:cNvSpPr txBox="1"/>
            <p:nvPr/>
          </p:nvSpPr>
          <p:spPr>
            <a:xfrm>
              <a:off x="5456202" y="4529075"/>
              <a:ext cx="484428" cy="261610"/>
            </a:xfrm>
            <a:prstGeom prst="rect">
              <a:avLst/>
            </a:prstGeom>
            <a:noFill/>
          </p:spPr>
          <p:txBody>
            <a:bodyPr wrap="none" rtlCol="0">
              <a:spAutoFit/>
            </a:bodyPr>
            <a:lstStyle/>
            <a:p>
              <a:r>
                <a:rPr lang="en-US" sz="1100" dirty="0" smtClean="0"/>
                <a:t>input</a:t>
              </a:r>
              <a:endParaRPr lang="en-IN" sz="1100" dirty="0"/>
            </a:p>
          </p:txBody>
        </p:sp>
      </p:grpSp>
    </p:spTree>
    <p:extLst>
      <p:ext uri="{BB962C8B-B14F-4D97-AF65-F5344CB8AC3E}">
        <p14:creationId xmlns:p14="http://schemas.microsoft.com/office/powerpoint/2010/main" val="190292645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27422" y="486777"/>
            <a:ext cx="3780202" cy="307777"/>
          </a:xfrm>
          <a:prstGeom prst="rect">
            <a:avLst/>
          </a:prstGeom>
          <a:solidFill>
            <a:schemeClr val="accent6">
              <a:lumMod val="20000"/>
              <a:lumOff val="80000"/>
            </a:schemeClr>
          </a:solidFill>
          <a:ln>
            <a:solidFill>
              <a:schemeClr val="bg1">
                <a:lumMod val="85000"/>
              </a:schemeClr>
            </a:solidFill>
          </a:ln>
        </p:spPr>
        <p:txBody>
          <a:bodyPr wrap="none">
            <a:spAutoFit/>
          </a:bodyPr>
          <a:lstStyle/>
          <a:p>
            <a:r>
              <a:rPr lang="en-US" sz="1400" dirty="0">
                <a:latin typeface="Bahnschrift SemiLight" pitchFamily="34" charset="0"/>
              </a:rPr>
              <a:t>I was born in </a:t>
            </a:r>
            <a:r>
              <a:rPr lang="en-US" sz="1400" dirty="0" smtClean="0">
                <a:latin typeface="Bahnschrift SemiLight" pitchFamily="34" charset="0"/>
              </a:rPr>
              <a:t>Germany. Hence I </a:t>
            </a:r>
            <a:r>
              <a:rPr lang="en-US" sz="1400" dirty="0">
                <a:latin typeface="Bahnschrift SemiLight" pitchFamily="34" charset="0"/>
              </a:rPr>
              <a:t>can speak .....</a:t>
            </a:r>
            <a:endParaRPr lang="en-IN" sz="1400" dirty="0">
              <a:latin typeface="Bahnschrift SemiLight" pitchFamily="34" charset="0"/>
            </a:endParaRPr>
          </a:p>
        </p:txBody>
      </p:sp>
      <p:grpSp>
        <p:nvGrpSpPr>
          <p:cNvPr id="9" name="Group 8"/>
          <p:cNvGrpSpPr/>
          <p:nvPr/>
        </p:nvGrpSpPr>
        <p:grpSpPr>
          <a:xfrm>
            <a:off x="5643348" y="494571"/>
            <a:ext cx="8885590" cy="455762"/>
            <a:chOff x="5643348" y="494571"/>
            <a:chExt cx="8885590" cy="455762"/>
          </a:xfrm>
        </p:grpSpPr>
        <p:sp>
          <p:nvSpPr>
            <p:cNvPr id="6" name="Rectangle 5"/>
            <p:cNvSpPr/>
            <p:nvPr/>
          </p:nvSpPr>
          <p:spPr>
            <a:xfrm>
              <a:off x="6440365" y="494571"/>
              <a:ext cx="8088573" cy="338554"/>
            </a:xfrm>
            <a:prstGeom prst="rect">
              <a:avLst/>
            </a:prstGeom>
          </p:spPr>
          <p:txBody>
            <a:bodyPr wrap="square">
              <a:spAutoFit/>
            </a:bodyPr>
            <a:lstStyle/>
            <a:p>
              <a:r>
                <a:rPr lang="en-US" sz="1600" dirty="0"/>
                <a:t>you should fill </a:t>
              </a:r>
              <a:r>
                <a:rPr lang="en-US" sz="1600" dirty="0" smtClean="0"/>
                <a:t>this blank </a:t>
              </a:r>
              <a:r>
                <a:rPr lang="en-US" sz="1600" dirty="0"/>
                <a:t>with German</a:t>
              </a:r>
            </a:p>
          </p:txBody>
        </p:sp>
        <p:cxnSp>
          <p:nvCxnSpPr>
            <p:cNvPr id="8" name="Straight Arrow Connector 7"/>
            <p:cNvCxnSpPr/>
            <p:nvPr/>
          </p:nvCxnSpPr>
          <p:spPr>
            <a:xfrm flipH="1" flipV="1">
              <a:off x="5643348" y="715916"/>
              <a:ext cx="941695" cy="234417"/>
            </a:xfrm>
            <a:prstGeom prst="straightConnector1">
              <a:avLst/>
            </a:prstGeom>
            <a:ln>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204716" y="1332638"/>
            <a:ext cx="11737075" cy="1246495"/>
          </a:xfrm>
          <a:prstGeom prst="rect">
            <a:avLst/>
          </a:prstGeom>
        </p:spPr>
        <p:txBody>
          <a:bodyPr wrap="square">
            <a:spAutoFit/>
          </a:bodyPr>
          <a:lstStyle/>
          <a:p>
            <a:r>
              <a:rPr lang="en-US" sz="1500" dirty="0">
                <a:latin typeface="Bahnschrift SemiLight" pitchFamily="34" charset="0"/>
              </a:rPr>
              <a:t>how are you able to say that because you are able to relate from the previous  information okay so if I give you just one information for example if I give you just speak word maybe you will not be able to fill this but since I am</a:t>
            </a:r>
          </a:p>
          <a:p>
            <a:r>
              <a:rPr lang="en-US" sz="1500" dirty="0">
                <a:latin typeface="Bahnschrift SemiLight" pitchFamily="34" charset="0"/>
              </a:rPr>
              <a:t>giving you everything right from starting to end you are able to derive that meaning and you are able to fill this that is how human mind works but unfortunately computers do not work like this until or unless you know</a:t>
            </a:r>
          </a:p>
          <a:p>
            <a:r>
              <a:rPr lang="en-US" sz="1500" dirty="0">
                <a:latin typeface="Bahnschrift SemiLight" pitchFamily="34" charset="0"/>
              </a:rPr>
              <a:t>a specialized Network it built in such a way so that is where RNN comes into picture </a:t>
            </a:r>
          </a:p>
        </p:txBody>
      </p:sp>
      <p:sp>
        <p:nvSpPr>
          <p:cNvPr id="12" name="Rectangle 11"/>
          <p:cNvSpPr/>
          <p:nvPr/>
        </p:nvSpPr>
        <p:spPr>
          <a:xfrm>
            <a:off x="1542196" y="2728963"/>
            <a:ext cx="10099343" cy="646331"/>
          </a:xfrm>
          <a:prstGeom prst="rect">
            <a:avLst/>
          </a:prstGeom>
        </p:spPr>
        <p:txBody>
          <a:bodyPr wrap="square">
            <a:spAutoFit/>
          </a:bodyPr>
          <a:lstStyle/>
          <a:p>
            <a:r>
              <a:rPr lang="en-US" sz="1600" dirty="0"/>
              <a:t>so what RNN does is if </a:t>
            </a:r>
            <a:r>
              <a:rPr lang="en-US" sz="1600" dirty="0" smtClean="0"/>
              <a:t>anybody asks </a:t>
            </a:r>
            <a:r>
              <a:rPr lang="en-US" sz="1600" dirty="0"/>
              <a:t>you how RNN is different </a:t>
            </a:r>
            <a:r>
              <a:rPr lang="en-US" sz="1600" dirty="0" smtClean="0"/>
              <a:t>from basic </a:t>
            </a:r>
            <a:r>
              <a:rPr lang="en-US" sz="1600" dirty="0"/>
              <a:t>neural networks so there is </a:t>
            </a:r>
            <a:r>
              <a:rPr lang="en-US" sz="1600" dirty="0" smtClean="0"/>
              <a:t>only one </a:t>
            </a:r>
            <a:r>
              <a:rPr lang="en-US" sz="1600" dirty="0"/>
              <a:t>word that differentiates RNN </a:t>
            </a:r>
            <a:r>
              <a:rPr lang="en-US" sz="1600" dirty="0" smtClean="0"/>
              <a:t>from the </a:t>
            </a:r>
            <a:r>
              <a:rPr lang="en-US" sz="1600" dirty="0"/>
              <a:t>normal neural network and that </a:t>
            </a:r>
            <a:r>
              <a:rPr lang="en-US" sz="1600" dirty="0" smtClean="0"/>
              <a:t>is </a:t>
            </a:r>
            <a:r>
              <a:rPr lang="en-US" sz="2000" dirty="0" smtClean="0">
                <a:solidFill>
                  <a:srgbClr val="FF0066"/>
                </a:solidFill>
                <a:latin typeface="Algerian" pitchFamily="82" charset="0"/>
              </a:rPr>
              <a:t>memory</a:t>
            </a:r>
            <a:endParaRPr lang="en-IN" sz="1600" dirty="0">
              <a:solidFill>
                <a:srgbClr val="FF0066"/>
              </a:solidFill>
              <a:latin typeface="Algerian" pitchFamily="82" charset="0"/>
            </a:endParaRPr>
          </a:p>
        </p:txBody>
      </p:sp>
      <p:grpSp>
        <p:nvGrpSpPr>
          <p:cNvPr id="15" name="Group 14"/>
          <p:cNvGrpSpPr/>
          <p:nvPr/>
        </p:nvGrpSpPr>
        <p:grpSpPr>
          <a:xfrm>
            <a:off x="2020765" y="3930555"/>
            <a:ext cx="3803349" cy="777149"/>
            <a:chOff x="2020765" y="3930555"/>
            <a:chExt cx="3803349" cy="777149"/>
          </a:xfrm>
        </p:grpSpPr>
        <p:sp>
          <p:nvSpPr>
            <p:cNvPr id="13" name="Rectangle 12"/>
            <p:cNvSpPr/>
            <p:nvPr/>
          </p:nvSpPr>
          <p:spPr>
            <a:xfrm>
              <a:off x="2020765" y="4399927"/>
              <a:ext cx="3780202" cy="307777"/>
            </a:xfrm>
            <a:prstGeom prst="rect">
              <a:avLst/>
            </a:prstGeom>
            <a:solidFill>
              <a:schemeClr val="accent6">
                <a:lumMod val="20000"/>
                <a:lumOff val="80000"/>
              </a:schemeClr>
            </a:solidFill>
            <a:ln>
              <a:solidFill>
                <a:schemeClr val="bg1">
                  <a:lumMod val="85000"/>
                </a:schemeClr>
              </a:solidFill>
            </a:ln>
          </p:spPr>
          <p:txBody>
            <a:bodyPr wrap="none">
              <a:spAutoFit/>
            </a:bodyPr>
            <a:lstStyle/>
            <a:p>
              <a:r>
                <a:rPr lang="en-US" sz="1400" dirty="0">
                  <a:latin typeface="Bahnschrift SemiLight" pitchFamily="34" charset="0"/>
                </a:rPr>
                <a:t>I was born in </a:t>
              </a:r>
              <a:r>
                <a:rPr lang="en-US" sz="1400" dirty="0" smtClean="0">
                  <a:latin typeface="Bahnschrift SemiLight" pitchFamily="34" charset="0"/>
                </a:rPr>
                <a:t>Germany. Hence I </a:t>
              </a:r>
              <a:r>
                <a:rPr lang="en-US" sz="1400" dirty="0">
                  <a:latin typeface="Bahnschrift SemiLight" pitchFamily="34" charset="0"/>
                </a:rPr>
                <a:t>can speak .....</a:t>
              </a:r>
              <a:endParaRPr lang="en-IN" sz="1400" dirty="0">
                <a:latin typeface="Bahnschrift SemiLight" pitchFamily="34" charset="0"/>
              </a:endParaRPr>
            </a:p>
          </p:txBody>
        </p:sp>
        <p:sp>
          <p:nvSpPr>
            <p:cNvPr id="14" name="TextBox 13"/>
            <p:cNvSpPr txBox="1"/>
            <p:nvPr/>
          </p:nvSpPr>
          <p:spPr>
            <a:xfrm>
              <a:off x="2020765" y="3930555"/>
              <a:ext cx="3803349" cy="307777"/>
            </a:xfrm>
            <a:prstGeom prst="rect">
              <a:avLst/>
            </a:prstGeom>
            <a:noFill/>
            <a:ln>
              <a:solidFill>
                <a:schemeClr val="bg1">
                  <a:lumMod val="95000"/>
                </a:schemeClr>
              </a:solidFill>
            </a:ln>
          </p:spPr>
          <p:txBody>
            <a:bodyPr wrap="none" rtlCol="0">
              <a:spAutoFit/>
            </a:bodyPr>
            <a:lstStyle/>
            <a:p>
              <a:r>
                <a:rPr lang="en-US" sz="1400" dirty="0"/>
                <a:t>W</a:t>
              </a:r>
              <a:r>
                <a:rPr lang="en-US" sz="1400" dirty="0" smtClean="0"/>
                <a:t>1 </a:t>
              </a:r>
              <a:r>
                <a:rPr lang="en-US" sz="1400" dirty="0"/>
                <a:t>W</a:t>
              </a:r>
              <a:r>
                <a:rPr lang="en-US" sz="1400" dirty="0" smtClean="0"/>
                <a:t>2 </a:t>
              </a:r>
              <a:r>
                <a:rPr lang="en-US" sz="1400" dirty="0"/>
                <a:t>W</a:t>
              </a:r>
              <a:r>
                <a:rPr lang="en-US" sz="1400" dirty="0" smtClean="0"/>
                <a:t>3 </a:t>
              </a:r>
              <a:r>
                <a:rPr lang="en-US" sz="1400" dirty="0"/>
                <a:t>W</a:t>
              </a:r>
              <a:r>
                <a:rPr lang="en-US" sz="1400" dirty="0" smtClean="0"/>
                <a:t>4 </a:t>
              </a:r>
              <a:r>
                <a:rPr lang="en-US" sz="1400" dirty="0"/>
                <a:t>W</a:t>
              </a:r>
              <a:r>
                <a:rPr lang="en-US" sz="1400" dirty="0" smtClean="0"/>
                <a:t>5 W6---  ………………… Wn  Wn+1</a:t>
              </a:r>
              <a:endParaRPr lang="en-IN" sz="1400" dirty="0"/>
            </a:p>
          </p:txBody>
        </p:sp>
      </p:grpSp>
      <p:sp>
        <p:nvSpPr>
          <p:cNvPr id="16" name="Rectangle 15"/>
          <p:cNvSpPr/>
          <p:nvPr/>
        </p:nvSpPr>
        <p:spPr>
          <a:xfrm>
            <a:off x="627797" y="5223977"/>
            <a:ext cx="11313994" cy="830997"/>
          </a:xfrm>
          <a:prstGeom prst="rect">
            <a:avLst/>
          </a:prstGeom>
        </p:spPr>
        <p:txBody>
          <a:bodyPr wrap="square">
            <a:spAutoFit/>
          </a:bodyPr>
          <a:lstStyle/>
          <a:p>
            <a:r>
              <a:rPr lang="en-US" sz="1600" dirty="0"/>
              <a:t>Simplicity I will write here word one over 2 word 3 and you can go up to here let's say word n </a:t>
            </a:r>
            <a:r>
              <a:rPr lang="en-US" sz="1600" dirty="0" smtClean="0"/>
              <a:t>okay so </a:t>
            </a:r>
            <a:r>
              <a:rPr lang="en-US" sz="1600" dirty="0"/>
              <a:t>when I am at word n plus 1 then I remember I remember what happened at word 2 and what happened at word 3 and what happened at word four that that is the only thing </a:t>
            </a:r>
            <a:r>
              <a:rPr lang="en-US" sz="1600" dirty="0">
                <a:solidFill>
                  <a:srgbClr val="FF4B21"/>
                </a:solidFill>
                <a:latin typeface="Bahnschrift Light" pitchFamily="34" charset="0"/>
              </a:rPr>
              <a:t>that makes RNN different from normal basic artificial neural network </a:t>
            </a:r>
            <a:endParaRPr lang="en-IN" sz="1600" dirty="0">
              <a:solidFill>
                <a:srgbClr val="FF4B21"/>
              </a:solidFill>
              <a:latin typeface="Bahnschrift Light" pitchFamily="34" charset="0"/>
            </a:endParaRPr>
          </a:p>
        </p:txBody>
      </p:sp>
      <p:sp>
        <p:nvSpPr>
          <p:cNvPr id="17" name="Rectangle 16"/>
          <p:cNvSpPr/>
          <p:nvPr/>
        </p:nvSpPr>
        <p:spPr>
          <a:xfrm>
            <a:off x="627797" y="6257835"/>
            <a:ext cx="11313994" cy="338554"/>
          </a:xfrm>
          <a:prstGeom prst="rect">
            <a:avLst/>
          </a:prstGeom>
          <a:solidFill>
            <a:schemeClr val="accent2">
              <a:lumMod val="20000"/>
              <a:lumOff val="80000"/>
            </a:schemeClr>
          </a:solidFill>
          <a:ln>
            <a:solidFill>
              <a:srgbClr val="00B050"/>
            </a:solidFill>
          </a:ln>
        </p:spPr>
        <p:txBody>
          <a:bodyPr wrap="square">
            <a:spAutoFit/>
          </a:bodyPr>
          <a:lstStyle/>
          <a:p>
            <a:r>
              <a:rPr lang="en-US" sz="1600" dirty="0"/>
              <a:t>if you do not remember </a:t>
            </a:r>
            <a:r>
              <a:rPr lang="en-US" sz="1600" dirty="0" smtClean="0"/>
              <a:t>the context </a:t>
            </a:r>
            <a:r>
              <a:rPr lang="en-US" sz="1600" dirty="0"/>
              <a:t>then you may not be able </a:t>
            </a:r>
            <a:r>
              <a:rPr lang="en-US" sz="1600" dirty="0" smtClean="0"/>
              <a:t>to derive </a:t>
            </a:r>
            <a:r>
              <a:rPr lang="en-US" sz="1600" dirty="0"/>
              <a:t>this word with the </a:t>
            </a:r>
            <a:r>
              <a:rPr lang="en-US" sz="1600" dirty="0" smtClean="0"/>
              <a:t>meaningful derivation</a:t>
            </a:r>
            <a:endParaRPr lang="en-US" sz="1600" dirty="0"/>
          </a:p>
        </p:txBody>
      </p:sp>
    </p:spTree>
    <p:extLst>
      <p:ext uri="{BB962C8B-B14F-4D97-AF65-F5344CB8AC3E}">
        <p14:creationId xmlns:p14="http://schemas.microsoft.com/office/powerpoint/2010/main" val="595971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11" name="Group 10"/>
          <p:cNvGrpSpPr/>
          <p:nvPr/>
        </p:nvGrpSpPr>
        <p:grpSpPr>
          <a:xfrm>
            <a:off x="717995" y="258043"/>
            <a:ext cx="3553754" cy="1534067"/>
            <a:chOff x="717995" y="258043"/>
            <a:chExt cx="3553754" cy="1534067"/>
          </a:xfrm>
        </p:grpSpPr>
        <p:sp>
          <p:nvSpPr>
            <p:cNvPr id="2" name="Rectangle 1"/>
            <p:cNvSpPr/>
            <p:nvPr/>
          </p:nvSpPr>
          <p:spPr>
            <a:xfrm>
              <a:off x="717995" y="258043"/>
              <a:ext cx="3092513" cy="338554"/>
            </a:xfrm>
            <a:prstGeom prst="rect">
              <a:avLst/>
            </a:prstGeom>
          </p:spPr>
          <p:txBody>
            <a:bodyPr wrap="none">
              <a:spAutoFit/>
            </a:bodyPr>
            <a:lstStyle/>
            <a:p>
              <a:r>
                <a:rPr lang="en-US" sz="1600" dirty="0">
                  <a:latin typeface="Bahnschrift SemiLight" pitchFamily="34" charset="0"/>
                </a:rPr>
                <a:t>in my corpus i have 2 document</a:t>
              </a:r>
              <a:endParaRPr lang="en-IN" sz="1600" dirty="0">
                <a:latin typeface="Bahnschrift SemiLight" pitchFamily="34" charset="0"/>
              </a:endParaRPr>
            </a:p>
          </p:txBody>
        </p:sp>
        <p:sp>
          <p:nvSpPr>
            <p:cNvPr id="3" name="Rectangle 2"/>
            <p:cNvSpPr/>
            <p:nvPr/>
          </p:nvSpPr>
          <p:spPr>
            <a:xfrm>
              <a:off x="1601337" y="961113"/>
              <a:ext cx="2670412" cy="830997"/>
            </a:xfrm>
            <a:prstGeom prst="rect">
              <a:avLst/>
            </a:prstGeom>
          </p:spPr>
          <p:txBody>
            <a:bodyPr wrap="square">
              <a:spAutoFit/>
            </a:bodyPr>
            <a:lstStyle/>
            <a:p>
              <a:r>
                <a:rPr lang="en-US" sz="1600" dirty="0">
                  <a:latin typeface="Bahnschrift SemiLight" pitchFamily="34" charset="0"/>
                </a:rPr>
                <a:t>d1 =&gt; Sky is blue</a:t>
              </a:r>
            </a:p>
            <a:p>
              <a:endParaRPr lang="en-US" sz="1600" dirty="0">
                <a:latin typeface="Bahnschrift SemiLight" pitchFamily="34" charset="0"/>
              </a:endParaRPr>
            </a:p>
            <a:p>
              <a:r>
                <a:rPr lang="en-US" sz="1600" dirty="0">
                  <a:latin typeface="Bahnschrift SemiLight" pitchFamily="34" charset="0"/>
                </a:rPr>
                <a:t>d2=&gt;  Sky is black</a:t>
              </a:r>
              <a:endParaRPr lang="en-IN" sz="1600" dirty="0">
                <a:latin typeface="Bahnschrift SemiLight" pitchFamily="34" charset="0"/>
              </a:endParaRPr>
            </a:p>
          </p:txBody>
        </p:sp>
      </p:grpSp>
      <p:sp>
        <p:nvSpPr>
          <p:cNvPr id="4" name="Rectangle 3"/>
          <p:cNvSpPr/>
          <p:nvPr/>
        </p:nvSpPr>
        <p:spPr>
          <a:xfrm>
            <a:off x="4832711" y="439703"/>
            <a:ext cx="2498761" cy="338554"/>
          </a:xfrm>
          <a:prstGeom prst="rect">
            <a:avLst/>
          </a:prstGeom>
        </p:spPr>
        <p:txBody>
          <a:bodyPr wrap="none">
            <a:spAutoFit/>
          </a:bodyPr>
          <a:lstStyle/>
          <a:p>
            <a:r>
              <a:rPr lang="en-US" sz="1600" dirty="0">
                <a:latin typeface="+mj-lt"/>
              </a:rPr>
              <a:t>4 unique word in my corpus</a:t>
            </a:r>
            <a:endParaRPr lang="en-IN" sz="1600" dirty="0">
              <a:latin typeface="+mj-lt"/>
            </a:endParaRPr>
          </a:p>
        </p:txBody>
      </p:sp>
      <p:graphicFrame>
        <p:nvGraphicFramePr>
          <p:cNvPr id="5" name="Table 4"/>
          <p:cNvGraphicFramePr>
            <a:graphicFrameLocks noGrp="1"/>
          </p:cNvGraphicFramePr>
          <p:nvPr>
            <p:extLst>
              <p:ext uri="{D42A27DB-BD31-4B8C-83A1-F6EECF244321}">
                <p14:modId xmlns:p14="http://schemas.microsoft.com/office/powerpoint/2010/main" val="1670178931"/>
              </p:ext>
            </p:extLst>
          </p:nvPr>
        </p:nvGraphicFramePr>
        <p:xfrm>
          <a:off x="5764172" y="837730"/>
          <a:ext cx="1747197" cy="640080"/>
        </p:xfrm>
        <a:graphic>
          <a:graphicData uri="http://schemas.openxmlformats.org/drawingml/2006/table">
            <a:tbl>
              <a:tblPr firstRow="1" bandRow="1">
                <a:tableStyleId>{5FD0F851-EC5A-4D38-B0AD-8093EC10F338}</a:tableStyleId>
              </a:tblPr>
              <a:tblGrid>
                <a:gridCol w="562901"/>
                <a:gridCol w="349387"/>
                <a:gridCol w="834909"/>
              </a:tblGrid>
              <a:tr h="297866">
                <a:tc>
                  <a:txBody>
                    <a:bodyPr/>
                    <a:lstStyle/>
                    <a:p>
                      <a:r>
                        <a:rPr lang="en-US" sz="1500" kern="1200" dirty="0" smtClean="0">
                          <a:solidFill>
                            <a:schemeClr val="tx1"/>
                          </a:solidFill>
                          <a:latin typeface="Bahnschrift SemiLight" pitchFamily="34" charset="0"/>
                          <a:ea typeface="+mn-ea"/>
                          <a:cs typeface="+mn-cs"/>
                        </a:rPr>
                        <a:t>1</a:t>
                      </a:r>
                      <a:endParaRPr lang="en-IN" sz="1500" kern="1200" dirty="0">
                        <a:solidFill>
                          <a:schemeClr val="tx1"/>
                        </a:solidFill>
                        <a:latin typeface="Bahnschrift SemiLight" pitchFamily="34" charset="0"/>
                        <a:ea typeface="+mn-ea"/>
                        <a:cs typeface="+mn-cs"/>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500" kern="1200" dirty="0" smtClean="0">
                          <a:solidFill>
                            <a:schemeClr val="tx1"/>
                          </a:solidFill>
                          <a:latin typeface="Bahnschrift SemiLight" pitchFamily="34" charset="0"/>
                          <a:ea typeface="+mn-ea"/>
                          <a:cs typeface="+mn-cs"/>
                        </a:rPr>
                        <a:t>2</a:t>
                      </a:r>
                      <a:endParaRPr lang="en-IN" sz="1500" kern="1200" dirty="0">
                        <a:solidFill>
                          <a:schemeClr val="tx1"/>
                        </a:solidFill>
                        <a:latin typeface="Bahnschrift SemiLight" pitchFamily="34" charset="0"/>
                        <a:ea typeface="+mn-ea"/>
                        <a:cs typeface="+mn-cs"/>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500" kern="1200" dirty="0" smtClean="0">
                          <a:solidFill>
                            <a:schemeClr val="tx1"/>
                          </a:solidFill>
                          <a:latin typeface="Bahnschrift SemiLight" pitchFamily="34" charset="0"/>
                          <a:ea typeface="+mn-ea"/>
                          <a:cs typeface="+mn-cs"/>
                        </a:rPr>
                        <a:t> 3</a:t>
                      </a:r>
                      <a:endParaRPr lang="en-IN" sz="1500" kern="1200" dirty="0">
                        <a:solidFill>
                          <a:schemeClr val="tx1"/>
                        </a:solidFill>
                        <a:latin typeface="Bahnschrift SemiLight" pitchFamily="34" charset="0"/>
                        <a:ea typeface="+mn-ea"/>
                        <a:cs typeface="+mn-cs"/>
                      </a:endParaRPr>
                    </a:p>
                  </a:txBody>
                  <a:tcPr>
                    <a:lnL>
                      <a:noFill/>
                    </a:lnL>
                    <a:lnR>
                      <a:noFill/>
                    </a:lnR>
                    <a:lnT w="12700" cmpd="sng">
                      <a:noFill/>
                    </a:lnT>
                    <a:lnB w="12700" cmpd="sng">
                      <a:noFill/>
                    </a:lnB>
                    <a:lnTlToBr w="12700" cmpd="sng">
                      <a:noFill/>
                      <a:prstDash val="solid"/>
                    </a:lnTlToBr>
                    <a:lnBlToTr w="12700" cmpd="sng">
                      <a:noFill/>
                      <a:prstDash val="solid"/>
                    </a:lnBlToTr>
                  </a:tcPr>
                </a:tc>
              </a:tr>
              <a:tr h="302004">
                <a:tc>
                  <a:txBody>
                    <a:bodyPr/>
                    <a:lstStyle/>
                    <a:p>
                      <a:r>
                        <a:rPr lang="en-US" sz="1500" kern="1200" dirty="0" smtClean="0">
                          <a:solidFill>
                            <a:schemeClr val="tx1"/>
                          </a:solidFill>
                          <a:latin typeface="Bahnschrift SemiLight" pitchFamily="34" charset="0"/>
                          <a:ea typeface="+mn-ea"/>
                          <a:cs typeface="+mn-cs"/>
                        </a:rPr>
                        <a:t>Sky</a:t>
                      </a:r>
                      <a:endParaRPr lang="en-IN" sz="1500" kern="1200" dirty="0">
                        <a:solidFill>
                          <a:schemeClr val="tx1"/>
                        </a:solidFill>
                        <a:latin typeface="Bahnschrift SemiLight" pitchFamily="34" charset="0"/>
                        <a:ea typeface="+mn-ea"/>
                        <a:cs typeface="+mn-cs"/>
                      </a:endParaRPr>
                    </a:p>
                  </a:txBody>
                  <a:tcPr>
                    <a:lnT w="12700" cmpd="sng">
                      <a:noFill/>
                    </a:lnT>
                  </a:tcPr>
                </a:tc>
                <a:tc>
                  <a:txBody>
                    <a:bodyPr/>
                    <a:lstStyle/>
                    <a:p>
                      <a:r>
                        <a:rPr lang="en-US" sz="1500" kern="1200" dirty="0" smtClean="0">
                          <a:solidFill>
                            <a:schemeClr val="tx1"/>
                          </a:solidFill>
                          <a:latin typeface="Bahnschrift SemiLight" pitchFamily="34" charset="0"/>
                          <a:ea typeface="+mn-ea"/>
                          <a:cs typeface="+mn-cs"/>
                        </a:rPr>
                        <a:t>Is </a:t>
                      </a:r>
                      <a:endParaRPr lang="en-IN" sz="1500" kern="1200" dirty="0">
                        <a:solidFill>
                          <a:schemeClr val="tx1"/>
                        </a:solidFill>
                        <a:latin typeface="Bahnschrift SemiLight" pitchFamily="34" charset="0"/>
                        <a:ea typeface="+mn-ea"/>
                        <a:cs typeface="+mn-cs"/>
                      </a:endParaRPr>
                    </a:p>
                  </a:txBody>
                  <a:tcPr>
                    <a:lnT w="12700" cmpd="sng">
                      <a:noFill/>
                    </a:lnT>
                  </a:tcPr>
                </a:tc>
                <a:tc>
                  <a:txBody>
                    <a:bodyPr/>
                    <a:lstStyle/>
                    <a:p>
                      <a:r>
                        <a:rPr lang="en-US" sz="1500" kern="1200" dirty="0" smtClean="0">
                          <a:solidFill>
                            <a:schemeClr val="tx1"/>
                          </a:solidFill>
                          <a:latin typeface="Bahnschrift SemiLight" pitchFamily="34" charset="0"/>
                          <a:ea typeface="+mn-ea"/>
                          <a:cs typeface="+mn-cs"/>
                        </a:rPr>
                        <a:t>blue</a:t>
                      </a:r>
                      <a:endParaRPr lang="en-IN" sz="1500" kern="1200" dirty="0">
                        <a:solidFill>
                          <a:schemeClr val="tx1"/>
                        </a:solidFill>
                        <a:latin typeface="Bahnschrift SemiLight" pitchFamily="34" charset="0"/>
                        <a:ea typeface="+mn-ea"/>
                        <a:cs typeface="+mn-cs"/>
                      </a:endParaRPr>
                    </a:p>
                  </a:txBody>
                  <a:tcPr>
                    <a:lnT w="12700" cmpd="sng">
                      <a:noFill/>
                    </a:lnT>
                  </a:tcPr>
                </a:tc>
              </a:tr>
            </a:tbl>
          </a:graphicData>
        </a:graphic>
      </p:graphicFrame>
      <p:cxnSp>
        <p:nvCxnSpPr>
          <p:cNvPr id="7" name="Straight Connector 6"/>
          <p:cNvCxnSpPr/>
          <p:nvPr/>
        </p:nvCxnSpPr>
        <p:spPr>
          <a:xfrm>
            <a:off x="4649337" y="258043"/>
            <a:ext cx="0" cy="173069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387146" y="938725"/>
            <a:ext cx="377026" cy="369332"/>
          </a:xfrm>
          <a:prstGeom prst="rect">
            <a:avLst/>
          </a:prstGeom>
        </p:spPr>
        <p:txBody>
          <a:bodyPr wrap="none">
            <a:spAutoFit/>
          </a:bodyPr>
          <a:lstStyle/>
          <a:p>
            <a:r>
              <a:rPr lang="en-US" dirty="0" smtClean="0">
                <a:latin typeface="Berlin Sans FB" pitchFamily="34" charset="0"/>
              </a:rPr>
              <a:t>d1</a:t>
            </a:r>
            <a:endParaRPr lang="en-IN" dirty="0">
              <a:latin typeface="Berlin Sans FB" pitchFamily="34" charset="0"/>
            </a:endParaRPr>
          </a:p>
        </p:txBody>
      </p:sp>
      <p:sp>
        <p:nvSpPr>
          <p:cNvPr id="9" name="Rectangle 8"/>
          <p:cNvSpPr/>
          <p:nvPr/>
        </p:nvSpPr>
        <p:spPr>
          <a:xfrm>
            <a:off x="8038063" y="938725"/>
            <a:ext cx="425116" cy="369332"/>
          </a:xfrm>
          <a:prstGeom prst="rect">
            <a:avLst/>
          </a:prstGeom>
        </p:spPr>
        <p:txBody>
          <a:bodyPr wrap="none">
            <a:spAutoFit/>
          </a:bodyPr>
          <a:lstStyle/>
          <a:p>
            <a:r>
              <a:rPr lang="en-US" dirty="0">
                <a:latin typeface="Berlin Sans FB" pitchFamily="34" charset="0"/>
              </a:rPr>
              <a:t>d2</a:t>
            </a:r>
            <a:endParaRPr lang="en-IN" dirty="0">
              <a:latin typeface="Berlin Sans FB"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585853055"/>
              </p:ext>
            </p:extLst>
          </p:nvPr>
        </p:nvGraphicFramePr>
        <p:xfrm>
          <a:off x="8590975" y="857173"/>
          <a:ext cx="1918325" cy="655320"/>
        </p:xfrm>
        <a:graphic>
          <a:graphicData uri="http://schemas.openxmlformats.org/drawingml/2006/table">
            <a:tbl>
              <a:tblPr firstRow="1" bandRow="1">
                <a:tableStyleId>{0E3FDE45-AF77-4B5C-9715-49D594BDF05E}</a:tableStyleId>
              </a:tblPr>
              <a:tblGrid>
                <a:gridCol w="583040"/>
                <a:gridCol w="435293"/>
                <a:gridCol w="899992"/>
              </a:tblGrid>
              <a:tr h="291617">
                <a:tc>
                  <a:txBody>
                    <a:bodyPr/>
                    <a:lstStyle/>
                    <a:p>
                      <a:endParaRPr lang="en-IN" sz="1500" kern="1200" dirty="0">
                        <a:solidFill>
                          <a:schemeClr val="tx1"/>
                        </a:solidFill>
                        <a:latin typeface="Bahnschrift SemiLight" pitchFamily="34" charset="0"/>
                        <a:ea typeface="+mn-ea"/>
                        <a:cs typeface="+mn-cs"/>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endParaRPr lang="en-IN" sz="1500" kern="1200" dirty="0">
                        <a:solidFill>
                          <a:schemeClr val="tx1"/>
                        </a:solidFill>
                        <a:latin typeface="Bahnschrift SemiLight" pitchFamily="34" charset="0"/>
                        <a:ea typeface="+mn-ea"/>
                        <a:cs typeface="+mn-cs"/>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500" kern="1200" dirty="0" smtClean="0"/>
                        <a:t>   4</a:t>
                      </a:r>
                      <a:endParaRPr lang="en-IN" sz="1500" kern="1200" dirty="0">
                        <a:solidFill>
                          <a:schemeClr val="tx1"/>
                        </a:solidFill>
                        <a:latin typeface="Bahnschrift SemiLight" pitchFamily="34" charset="0"/>
                        <a:ea typeface="+mn-ea"/>
                        <a:cs typeface="+mn-cs"/>
                      </a:endParaRPr>
                    </a:p>
                  </a:txBody>
                  <a:tcPr>
                    <a:lnL>
                      <a:noFill/>
                    </a:lnL>
                    <a:lnR>
                      <a:noFill/>
                    </a:lnR>
                    <a:lnT w="12700" cmpd="sng">
                      <a:noFill/>
                    </a:lnT>
                    <a:lnB w="12700" cmpd="sng">
                      <a:noFill/>
                    </a:lnB>
                    <a:lnTlToBr w="12700" cmpd="sng">
                      <a:noFill/>
                      <a:prstDash val="solid"/>
                    </a:lnTlToBr>
                    <a:lnBlToTr w="12700" cmpd="sng">
                      <a:noFill/>
                      <a:prstDash val="solid"/>
                    </a:lnBlToTr>
                  </a:tcPr>
                </a:tc>
              </a:tr>
              <a:tr h="291617">
                <a:tc>
                  <a:txBody>
                    <a:bodyPr/>
                    <a:lstStyle/>
                    <a:p>
                      <a:r>
                        <a:rPr lang="en-US" sz="1600" kern="1200" dirty="0" smtClean="0">
                          <a:latin typeface="Bahnschrift SemiLight" pitchFamily="34" charset="0"/>
                        </a:rPr>
                        <a:t>Sky</a:t>
                      </a:r>
                      <a:endParaRPr lang="en-IN" sz="1600" kern="1200" dirty="0">
                        <a:solidFill>
                          <a:schemeClr val="tx1"/>
                        </a:solidFill>
                        <a:latin typeface="Bahnschrift SemiLight" pitchFamily="34" charset="0"/>
                        <a:ea typeface="+mn-ea"/>
                        <a:cs typeface="+mn-cs"/>
                      </a:endParaRPr>
                    </a:p>
                  </a:txBody>
                  <a:tcPr>
                    <a:lnT w="12700" cmpd="sng">
                      <a:noFill/>
                    </a:lnT>
                  </a:tcPr>
                </a:tc>
                <a:tc>
                  <a:txBody>
                    <a:bodyPr/>
                    <a:lstStyle/>
                    <a:p>
                      <a:r>
                        <a:rPr lang="en-US" sz="1600" kern="1200" dirty="0" smtClean="0">
                          <a:latin typeface="Bahnschrift SemiLight" pitchFamily="34" charset="0"/>
                        </a:rPr>
                        <a:t>Is </a:t>
                      </a:r>
                      <a:endParaRPr lang="en-IN" sz="1600" kern="1200" dirty="0">
                        <a:solidFill>
                          <a:schemeClr val="tx1"/>
                        </a:solidFill>
                        <a:latin typeface="Bahnschrift SemiLight" pitchFamily="34" charset="0"/>
                        <a:ea typeface="+mn-ea"/>
                        <a:cs typeface="+mn-cs"/>
                      </a:endParaRPr>
                    </a:p>
                  </a:txBody>
                  <a:tcPr>
                    <a:lnT w="12700" cmpd="sng">
                      <a:noFill/>
                    </a:lnT>
                  </a:tcPr>
                </a:tc>
                <a:tc>
                  <a:txBody>
                    <a:bodyPr/>
                    <a:lstStyle/>
                    <a:p>
                      <a:r>
                        <a:rPr lang="en-US" sz="1600" kern="1200" dirty="0" smtClean="0">
                          <a:latin typeface="Bahnschrift SemiLight" pitchFamily="34" charset="0"/>
                        </a:rPr>
                        <a:t>black</a:t>
                      </a:r>
                      <a:endParaRPr lang="en-IN" sz="1600" kern="1200" dirty="0">
                        <a:solidFill>
                          <a:schemeClr val="tx1"/>
                        </a:solidFill>
                        <a:latin typeface="Bahnschrift SemiLight" pitchFamily="34" charset="0"/>
                        <a:ea typeface="+mn-ea"/>
                        <a:cs typeface="+mn-cs"/>
                      </a:endParaRPr>
                    </a:p>
                  </a:txBody>
                  <a:tcPr>
                    <a:lnT w="12700" cmpd="sng">
                      <a:noFill/>
                    </a:lnT>
                  </a:tcPr>
                </a:tc>
              </a:tr>
            </a:tbl>
          </a:graphicData>
        </a:graphic>
      </p:graphicFrame>
      <p:sp>
        <p:nvSpPr>
          <p:cNvPr id="12" name="TextBox 11"/>
          <p:cNvSpPr txBox="1"/>
          <p:nvPr/>
        </p:nvSpPr>
        <p:spPr>
          <a:xfrm>
            <a:off x="717995" y="2454912"/>
            <a:ext cx="1314784" cy="369332"/>
          </a:xfrm>
          <a:prstGeom prst="rect">
            <a:avLst/>
          </a:prstGeom>
          <a:noFill/>
        </p:spPr>
        <p:txBody>
          <a:bodyPr wrap="none" rtlCol="0">
            <a:spAutoFit/>
          </a:bodyPr>
          <a:lstStyle/>
          <a:p>
            <a:r>
              <a:rPr lang="en-US" dirty="0" smtClean="0">
                <a:latin typeface="Bahnschrift Light" pitchFamily="34" charset="0"/>
              </a:rPr>
              <a:t>Timestamp</a:t>
            </a:r>
            <a:endParaRPr lang="en-IN" dirty="0">
              <a:latin typeface="Bahnschrift Light" pitchFamily="34" charset="0"/>
            </a:endParaRPr>
          </a:p>
        </p:txBody>
      </p:sp>
      <p:sp>
        <p:nvSpPr>
          <p:cNvPr id="13" name="Rectangle 12"/>
          <p:cNvSpPr/>
          <p:nvPr/>
        </p:nvSpPr>
        <p:spPr>
          <a:xfrm>
            <a:off x="213554" y="3885608"/>
            <a:ext cx="11737074" cy="784830"/>
          </a:xfrm>
          <a:prstGeom prst="rect">
            <a:avLst/>
          </a:prstGeom>
        </p:spPr>
        <p:txBody>
          <a:bodyPr wrap="square">
            <a:spAutoFit/>
          </a:bodyPr>
          <a:lstStyle/>
          <a:p>
            <a:r>
              <a:rPr lang="en-US" sz="1500" dirty="0">
                <a:solidFill>
                  <a:srgbClr val="00B050"/>
                </a:solidFill>
                <a:latin typeface="Bahnschrift SemiLight" pitchFamily="34" charset="0"/>
              </a:rPr>
              <a:t>how the training will happen this entire thing </a:t>
            </a:r>
            <a:r>
              <a:rPr lang="en-US" sz="1500" dirty="0" smtClean="0">
                <a:solidFill>
                  <a:srgbClr val="00B050"/>
                </a:solidFill>
                <a:latin typeface="Bahnschrift SemiLight" pitchFamily="34" charset="0"/>
              </a:rPr>
              <a:t>d1 </a:t>
            </a:r>
            <a:r>
              <a:rPr lang="en-US" sz="1500" dirty="0" smtClean="0">
                <a:latin typeface="Bahnschrift SemiLight" pitchFamily="34" charset="0"/>
              </a:rPr>
              <a:t>will </a:t>
            </a:r>
            <a:r>
              <a:rPr lang="en-US" sz="1500" dirty="0">
                <a:latin typeface="Bahnschrift SemiLight" pitchFamily="34" charset="0"/>
              </a:rPr>
              <a:t>be treated as one record right so </a:t>
            </a:r>
            <a:r>
              <a:rPr lang="en-US" sz="1500" dirty="0" smtClean="0">
                <a:latin typeface="Bahnschrift SemiLight" pitchFamily="34" charset="0"/>
              </a:rPr>
              <a:t>when </a:t>
            </a:r>
            <a:r>
              <a:rPr lang="en-US" sz="1500" dirty="0">
                <a:latin typeface="Bahnschrift SemiLight" pitchFamily="34" charset="0"/>
              </a:rPr>
              <a:t>the first record goes into the network all these three words will not go together </a:t>
            </a:r>
            <a:r>
              <a:rPr lang="en-US" sz="1500" dirty="0" smtClean="0">
                <a:latin typeface="Bahnschrift SemiLight" pitchFamily="34" charset="0"/>
              </a:rPr>
              <a:t>so first </a:t>
            </a:r>
            <a:r>
              <a:rPr lang="en-US" sz="1500" b="1" dirty="0">
                <a:solidFill>
                  <a:srgbClr val="FF0066"/>
                </a:solidFill>
                <a:latin typeface="Bahnschrift SemiLight" pitchFamily="34" charset="0"/>
              </a:rPr>
              <a:t>Sky</a:t>
            </a:r>
            <a:r>
              <a:rPr lang="en-US" sz="1500" dirty="0">
                <a:latin typeface="Bahnschrift SemiLight" pitchFamily="34" charset="0"/>
              </a:rPr>
              <a:t> will go let's call this time </a:t>
            </a:r>
            <a:r>
              <a:rPr lang="en-US" sz="1500" dirty="0" smtClean="0">
                <a:latin typeface="Bahnschrift SemiLight" pitchFamily="34" charset="0"/>
              </a:rPr>
              <a:t>t-1.then </a:t>
            </a:r>
            <a:r>
              <a:rPr lang="en-US" sz="1500" b="1" dirty="0">
                <a:solidFill>
                  <a:srgbClr val="FF0066"/>
                </a:solidFill>
                <a:latin typeface="Bahnschrift SemiLight" pitchFamily="34" charset="0"/>
              </a:rPr>
              <a:t>is</a:t>
            </a:r>
            <a:r>
              <a:rPr lang="en-US" sz="1500" dirty="0">
                <a:latin typeface="Bahnschrift SemiLight" pitchFamily="34" charset="0"/>
              </a:rPr>
              <a:t> will go let's call this time </a:t>
            </a:r>
            <a:r>
              <a:rPr lang="en-US" sz="1500" dirty="0" smtClean="0">
                <a:latin typeface="Bahnschrift SemiLight" pitchFamily="34" charset="0"/>
              </a:rPr>
              <a:t>t </a:t>
            </a:r>
            <a:r>
              <a:rPr lang="en-US" sz="1500" dirty="0">
                <a:latin typeface="Bahnschrift SemiLight" pitchFamily="34" charset="0"/>
              </a:rPr>
              <a:t>and then </a:t>
            </a:r>
            <a:r>
              <a:rPr lang="en-US" sz="1500" b="1" dirty="0">
                <a:solidFill>
                  <a:srgbClr val="FF0066"/>
                </a:solidFill>
                <a:latin typeface="Bahnschrift SemiLight" pitchFamily="34" charset="0"/>
              </a:rPr>
              <a:t>blue</a:t>
            </a:r>
            <a:r>
              <a:rPr lang="en-US" sz="1500" dirty="0">
                <a:solidFill>
                  <a:srgbClr val="FF0066"/>
                </a:solidFill>
                <a:latin typeface="Bahnschrift SemiLight" pitchFamily="34" charset="0"/>
              </a:rPr>
              <a:t> </a:t>
            </a:r>
            <a:r>
              <a:rPr lang="en-US" sz="1500" dirty="0">
                <a:latin typeface="Bahnschrift SemiLight" pitchFamily="34" charset="0"/>
              </a:rPr>
              <a:t>will go let's call this time </a:t>
            </a:r>
            <a:r>
              <a:rPr lang="en-US" sz="1500" dirty="0" smtClean="0">
                <a:latin typeface="Bahnschrift SemiLight" pitchFamily="34" charset="0"/>
              </a:rPr>
              <a:t>t+1</a:t>
            </a:r>
            <a:r>
              <a:rPr lang="en-US" sz="1500" dirty="0">
                <a:latin typeface="Bahnschrift SemiLight" pitchFamily="34" charset="0"/>
              </a:rPr>
              <a:t>.</a:t>
            </a:r>
          </a:p>
        </p:txBody>
      </p:sp>
      <p:graphicFrame>
        <p:nvGraphicFramePr>
          <p:cNvPr id="14" name="Table 13"/>
          <p:cNvGraphicFramePr>
            <a:graphicFrameLocks noGrp="1"/>
          </p:cNvGraphicFramePr>
          <p:nvPr>
            <p:extLst>
              <p:ext uri="{D42A27DB-BD31-4B8C-83A1-F6EECF244321}">
                <p14:modId xmlns:p14="http://schemas.microsoft.com/office/powerpoint/2010/main" val="1703773732"/>
              </p:ext>
            </p:extLst>
          </p:nvPr>
        </p:nvGraphicFramePr>
        <p:xfrm>
          <a:off x="2410821" y="2824244"/>
          <a:ext cx="1801353" cy="640080"/>
        </p:xfrm>
        <a:graphic>
          <a:graphicData uri="http://schemas.openxmlformats.org/drawingml/2006/table">
            <a:tbl>
              <a:tblPr firstRow="1" bandRow="1">
                <a:tableStyleId>{3B4B98B0-60AC-42C2-AFA5-B58CD77FA1E5}</a:tableStyleId>
              </a:tblPr>
              <a:tblGrid>
                <a:gridCol w="562901"/>
                <a:gridCol w="403543"/>
                <a:gridCol w="834909"/>
              </a:tblGrid>
              <a:tr h="302004">
                <a:tc>
                  <a:txBody>
                    <a:bodyPr/>
                    <a:lstStyle/>
                    <a:p>
                      <a:r>
                        <a:rPr lang="en-US" sz="1500" b="0" kern="1200" dirty="0" smtClean="0"/>
                        <a:t>Sky</a:t>
                      </a:r>
                      <a:endParaRPr lang="en-IN" sz="1500" b="0" kern="1200" dirty="0">
                        <a:solidFill>
                          <a:schemeClr val="tx1"/>
                        </a:solidFill>
                        <a:latin typeface="Bahnschrift SemiLight" pitchFamily="34" charset="0"/>
                        <a:ea typeface="+mn-ea"/>
                        <a:cs typeface="+mn-cs"/>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500" b="0" kern="1200" dirty="0" smtClean="0"/>
                        <a:t>Is </a:t>
                      </a:r>
                      <a:endParaRPr lang="en-IN" sz="1500" b="0" kern="1200" dirty="0">
                        <a:solidFill>
                          <a:schemeClr val="tx1"/>
                        </a:solidFill>
                        <a:latin typeface="Bahnschrift SemiLight" pitchFamily="34" charset="0"/>
                        <a:ea typeface="+mn-ea"/>
                        <a:cs typeface="+mn-cs"/>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500" b="0" kern="1200" dirty="0" smtClean="0"/>
                        <a:t>blue</a:t>
                      </a:r>
                      <a:endParaRPr lang="en-IN" sz="1500" b="0" kern="1200" dirty="0">
                        <a:solidFill>
                          <a:schemeClr val="tx1"/>
                        </a:solidFill>
                        <a:latin typeface="Bahnschrift SemiLight" pitchFamily="34" charset="0"/>
                        <a:ea typeface="+mn-ea"/>
                        <a:cs typeface="+mn-cs"/>
                      </a:endParaRPr>
                    </a:p>
                  </a:txBody>
                  <a:tcPr>
                    <a:lnL>
                      <a:noFill/>
                    </a:lnL>
                    <a:lnR>
                      <a:noFill/>
                    </a:lnR>
                    <a:lnT w="12700" cmpd="sng">
                      <a:noFill/>
                    </a:lnT>
                    <a:lnB w="12700" cmpd="sng">
                      <a:noFill/>
                    </a:lnB>
                    <a:lnTlToBr w="12700" cmpd="sng">
                      <a:noFill/>
                      <a:prstDash val="solid"/>
                    </a:lnTlToBr>
                    <a:lnBlToTr w="12700" cmpd="sng">
                      <a:noFill/>
                      <a:prstDash val="solid"/>
                    </a:lnBlToTr>
                  </a:tcPr>
                </a:tc>
              </a:tr>
              <a:tr h="302004">
                <a:tc>
                  <a:txBody>
                    <a:bodyPr/>
                    <a:lstStyle/>
                    <a:p>
                      <a:r>
                        <a:rPr lang="en-US" sz="1500" kern="1200" dirty="0" smtClean="0"/>
                        <a:t>t-1</a:t>
                      </a:r>
                      <a:endParaRPr lang="en-IN" sz="1500" kern="1200" dirty="0">
                        <a:solidFill>
                          <a:schemeClr val="tx1"/>
                        </a:solidFill>
                        <a:latin typeface="Bahnschrift SemiLight" pitchFamily="34" charset="0"/>
                        <a:ea typeface="+mn-ea"/>
                        <a:cs typeface="+mn-cs"/>
                      </a:endParaRPr>
                    </a:p>
                  </a:txBody>
                  <a:tcPr>
                    <a:lnT w="12700" cmpd="sng">
                      <a:noFill/>
                    </a:lnT>
                  </a:tcPr>
                </a:tc>
                <a:tc>
                  <a:txBody>
                    <a:bodyPr/>
                    <a:lstStyle/>
                    <a:p>
                      <a:r>
                        <a:rPr lang="en-US" sz="1500" kern="1200" dirty="0" smtClean="0"/>
                        <a:t>t</a:t>
                      </a:r>
                      <a:endParaRPr lang="en-IN" sz="1500" kern="1200" dirty="0">
                        <a:solidFill>
                          <a:schemeClr val="tx1"/>
                        </a:solidFill>
                        <a:latin typeface="Bahnschrift SemiLight" pitchFamily="34" charset="0"/>
                        <a:ea typeface="+mn-ea"/>
                        <a:cs typeface="+mn-cs"/>
                      </a:endParaRPr>
                    </a:p>
                  </a:txBody>
                  <a:tcPr>
                    <a:lnT w="12700" cmpd="sng">
                      <a:noFill/>
                    </a:lnT>
                  </a:tcPr>
                </a:tc>
                <a:tc>
                  <a:txBody>
                    <a:bodyPr/>
                    <a:lstStyle/>
                    <a:p>
                      <a:r>
                        <a:rPr lang="en-US" sz="1500" kern="1200" dirty="0" smtClean="0"/>
                        <a:t> t+1</a:t>
                      </a:r>
                      <a:endParaRPr lang="en-IN" sz="1500" kern="1200" dirty="0">
                        <a:solidFill>
                          <a:schemeClr val="tx1"/>
                        </a:solidFill>
                        <a:latin typeface="Bahnschrift SemiLight" pitchFamily="34" charset="0"/>
                        <a:ea typeface="+mn-ea"/>
                        <a:cs typeface="+mn-cs"/>
                      </a:endParaRPr>
                    </a:p>
                  </a:txBody>
                  <a:tcPr>
                    <a:lnT w="12700" cmpd="sng">
                      <a:noFill/>
                    </a:lnT>
                  </a:tcPr>
                </a:tc>
              </a:tr>
            </a:tbl>
          </a:graphicData>
        </a:graphic>
      </p:graphicFrame>
      <p:cxnSp>
        <p:nvCxnSpPr>
          <p:cNvPr id="17" name="Straight Connector 16"/>
          <p:cNvCxnSpPr/>
          <p:nvPr/>
        </p:nvCxnSpPr>
        <p:spPr>
          <a:xfrm>
            <a:off x="7847463" y="938725"/>
            <a:ext cx="13647" cy="6853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13554" y="2454912"/>
            <a:ext cx="1173707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1375386" y="4670438"/>
            <a:ext cx="10575241" cy="615553"/>
          </a:xfrm>
          <a:prstGeom prst="rect">
            <a:avLst/>
          </a:prstGeom>
        </p:spPr>
        <p:txBody>
          <a:bodyPr wrap="square">
            <a:spAutoFit/>
          </a:bodyPr>
          <a:lstStyle/>
          <a:p>
            <a:r>
              <a:rPr lang="en-US" sz="1600" dirty="0" smtClean="0">
                <a:latin typeface="Bahnschrift SemiLight" pitchFamily="34" charset="0"/>
              </a:rPr>
              <a:t>In the training </a:t>
            </a:r>
            <a:r>
              <a:rPr lang="en-US" sz="1600" dirty="0">
                <a:latin typeface="Bahnschrift SemiLight" pitchFamily="34" charset="0"/>
              </a:rPr>
              <a:t>of one single record </a:t>
            </a:r>
            <a:r>
              <a:rPr lang="en-US" sz="1600" dirty="0" smtClean="0">
                <a:latin typeface="Bahnschrift SemiLight" pitchFamily="34" charset="0"/>
              </a:rPr>
              <a:t>we </a:t>
            </a:r>
            <a:r>
              <a:rPr lang="en-US" sz="1600" dirty="0">
                <a:latin typeface="Bahnschrift SemiLight" pitchFamily="34" charset="0"/>
              </a:rPr>
              <a:t>are sending three words at three different time intervals </a:t>
            </a:r>
            <a:r>
              <a:rPr lang="en-US" sz="1600" dirty="0" smtClean="0">
                <a:latin typeface="Bahnschrift SemiLight" pitchFamily="34" charset="0"/>
              </a:rPr>
              <a:t>and </a:t>
            </a:r>
            <a:r>
              <a:rPr lang="en-US" sz="1600" dirty="0">
                <a:latin typeface="Bahnschrift SemiLight" pitchFamily="34" charset="0"/>
              </a:rPr>
              <a:t>this concept in the world of </a:t>
            </a:r>
            <a:r>
              <a:rPr lang="en-US" dirty="0">
                <a:solidFill>
                  <a:srgbClr val="FF0000"/>
                </a:solidFill>
                <a:latin typeface="Bahnschrift SemiBold" pitchFamily="34" charset="0"/>
              </a:rPr>
              <a:t>RNN is called time </a:t>
            </a:r>
            <a:r>
              <a:rPr lang="en-US" dirty="0" smtClean="0">
                <a:solidFill>
                  <a:srgbClr val="FF0000"/>
                </a:solidFill>
                <a:latin typeface="Bahnschrift SemiBold" pitchFamily="34" charset="0"/>
              </a:rPr>
              <a:t>stamp</a:t>
            </a:r>
            <a:endParaRPr lang="en-IN" dirty="0">
              <a:solidFill>
                <a:srgbClr val="FF0000"/>
              </a:solidFill>
              <a:latin typeface="Bahnschrift SemiBold" pitchFamily="34" charset="0"/>
            </a:endParaRPr>
          </a:p>
        </p:txBody>
      </p:sp>
      <p:sp>
        <p:nvSpPr>
          <p:cNvPr id="21" name="Rectangle 20"/>
          <p:cNvSpPr/>
          <p:nvPr/>
        </p:nvSpPr>
        <p:spPr>
          <a:xfrm>
            <a:off x="1375388" y="5563949"/>
            <a:ext cx="10575240" cy="584775"/>
          </a:xfrm>
          <a:prstGeom prst="rect">
            <a:avLst/>
          </a:prstGeom>
        </p:spPr>
        <p:txBody>
          <a:bodyPr wrap="square">
            <a:spAutoFit/>
          </a:bodyPr>
          <a:lstStyle/>
          <a:p>
            <a:r>
              <a:rPr lang="en-US" sz="1600" dirty="0">
                <a:latin typeface="Bahnschrift SemiLight" pitchFamily="34" charset="0"/>
              </a:rPr>
              <a:t>when we say memory in RNN that means at time t+1 ,two things has already happened what </a:t>
            </a:r>
            <a:r>
              <a:rPr lang="en-US" sz="1600" dirty="0" smtClean="0">
                <a:latin typeface="Bahnschrift SemiLight" pitchFamily="34" charset="0"/>
              </a:rPr>
              <a:t>are those </a:t>
            </a:r>
            <a:r>
              <a:rPr lang="en-US" sz="1600" dirty="0">
                <a:latin typeface="Bahnschrift SemiLight" pitchFamily="34" charset="0"/>
              </a:rPr>
              <a:t>two things one is </a:t>
            </a:r>
            <a:r>
              <a:rPr lang="en-US" sz="1600" dirty="0">
                <a:solidFill>
                  <a:srgbClr val="FF0000"/>
                </a:solidFill>
                <a:latin typeface="Algerian" pitchFamily="82" charset="0"/>
              </a:rPr>
              <a:t>Sky</a:t>
            </a:r>
            <a:r>
              <a:rPr lang="en-US" sz="1600" dirty="0">
                <a:latin typeface="Bahnschrift SemiLight" pitchFamily="34" charset="0"/>
              </a:rPr>
              <a:t> and one is </a:t>
            </a:r>
            <a:r>
              <a:rPr lang="en-US" sz="1600" dirty="0" smtClean="0">
                <a:latin typeface="Bahnschrift SemiLight" pitchFamily="34" charset="0"/>
              </a:rPr>
              <a:t>“</a:t>
            </a:r>
            <a:r>
              <a:rPr lang="en-US" sz="1600" dirty="0" smtClean="0">
                <a:solidFill>
                  <a:srgbClr val="FF0000"/>
                </a:solidFill>
                <a:latin typeface="Algerian" pitchFamily="82" charset="0"/>
              </a:rPr>
              <a:t>is</a:t>
            </a:r>
            <a:r>
              <a:rPr lang="en-US" sz="1600" dirty="0" smtClean="0">
                <a:latin typeface="Bahnschrift SemiLight" pitchFamily="34" charset="0"/>
              </a:rPr>
              <a:t>” </a:t>
            </a:r>
            <a:r>
              <a:rPr lang="en-US" sz="1600" dirty="0">
                <a:latin typeface="Bahnschrift SemiLight" pitchFamily="34" charset="0"/>
              </a:rPr>
              <a:t>so RNN will remember what happened at time t and what happened at time t-1</a:t>
            </a:r>
          </a:p>
        </p:txBody>
      </p:sp>
    </p:spTree>
    <p:extLst>
      <p:ext uri="{BB962C8B-B14F-4D97-AF65-F5344CB8AC3E}">
        <p14:creationId xmlns:p14="http://schemas.microsoft.com/office/powerpoint/2010/main" val="179073006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19" name="Group 18"/>
          <p:cNvGrpSpPr/>
          <p:nvPr/>
        </p:nvGrpSpPr>
        <p:grpSpPr>
          <a:xfrm>
            <a:off x="5004975" y="537457"/>
            <a:ext cx="2037270" cy="1919447"/>
            <a:chOff x="5456202" y="3803393"/>
            <a:chExt cx="1509769" cy="1758840"/>
          </a:xfrm>
        </p:grpSpPr>
        <p:grpSp>
          <p:nvGrpSpPr>
            <p:cNvPr id="20" name="Group 19"/>
            <p:cNvGrpSpPr/>
            <p:nvPr/>
          </p:nvGrpSpPr>
          <p:grpSpPr>
            <a:xfrm>
              <a:off x="5940630" y="3803393"/>
              <a:ext cx="1025341" cy="1758840"/>
              <a:chOff x="4693721" y="3642580"/>
              <a:chExt cx="1025341" cy="1758840"/>
            </a:xfrm>
          </p:grpSpPr>
          <p:grpSp>
            <p:nvGrpSpPr>
              <p:cNvPr id="22" name="Group 21"/>
              <p:cNvGrpSpPr/>
              <p:nvPr/>
            </p:nvGrpSpPr>
            <p:grpSpPr>
              <a:xfrm>
                <a:off x="4811485" y="3642580"/>
                <a:ext cx="342406" cy="1758840"/>
                <a:chOff x="6841176" y="1505886"/>
                <a:chExt cx="342406" cy="1758840"/>
              </a:xfrm>
            </p:grpSpPr>
            <p:sp>
              <p:nvSpPr>
                <p:cNvPr id="25" name="Flowchart: Connector 24"/>
                <p:cNvSpPr/>
                <p:nvPr/>
              </p:nvSpPr>
              <p:spPr>
                <a:xfrm>
                  <a:off x="6852062" y="2943099"/>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X</a:t>
                  </a:r>
                  <a:endParaRPr lang="en-IN" dirty="0"/>
                </a:p>
              </p:txBody>
            </p:sp>
            <p:sp>
              <p:nvSpPr>
                <p:cNvPr id="26" name="Flowchart: Connector 25"/>
                <p:cNvSpPr/>
                <p:nvPr/>
              </p:nvSpPr>
              <p:spPr>
                <a:xfrm>
                  <a:off x="6841176" y="1505886"/>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Y</a:t>
                  </a:r>
                  <a:endParaRPr lang="en-IN" dirty="0"/>
                </a:p>
              </p:txBody>
            </p:sp>
            <p:sp>
              <p:nvSpPr>
                <p:cNvPr id="27" name="Flowchart: Connector 26"/>
                <p:cNvSpPr/>
                <p:nvPr/>
              </p:nvSpPr>
              <p:spPr>
                <a:xfrm>
                  <a:off x="6852062" y="2231568"/>
                  <a:ext cx="331520" cy="321627"/>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a:t>
                  </a:r>
                  <a:endParaRPr lang="en-IN" dirty="0"/>
                </a:p>
              </p:txBody>
            </p:sp>
            <p:cxnSp>
              <p:nvCxnSpPr>
                <p:cNvPr id="28" name="Straight Connector 27"/>
                <p:cNvCxnSpPr>
                  <a:stCxn id="26" idx="4"/>
                  <a:endCxn id="27" idx="0"/>
                </p:cNvCxnSpPr>
                <p:nvPr/>
              </p:nvCxnSpPr>
              <p:spPr>
                <a:xfrm>
                  <a:off x="7006936" y="1827513"/>
                  <a:ext cx="10886" cy="40405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05451" y="2553195"/>
                  <a:ext cx="10886" cy="40405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23" name="Curved Right Arrow 22"/>
              <p:cNvSpPr/>
              <p:nvPr/>
            </p:nvSpPr>
            <p:spPr>
              <a:xfrm>
                <a:off x="4693721" y="4166234"/>
                <a:ext cx="449284" cy="725683"/>
              </a:xfrm>
              <a:prstGeom prst="curvedRightArrow">
                <a:avLst/>
              </a:prstGeom>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4" name="TextBox 23"/>
              <p:cNvSpPr txBox="1"/>
              <p:nvPr/>
            </p:nvSpPr>
            <p:spPr>
              <a:xfrm>
                <a:off x="5146469" y="4324546"/>
                <a:ext cx="572593" cy="261610"/>
              </a:xfrm>
              <a:prstGeom prst="rect">
                <a:avLst/>
              </a:prstGeom>
              <a:noFill/>
            </p:spPr>
            <p:txBody>
              <a:bodyPr wrap="none" rtlCol="0">
                <a:spAutoFit/>
              </a:bodyPr>
              <a:lstStyle/>
              <a:p>
                <a:r>
                  <a:rPr lang="en-US" sz="1100" dirty="0" smtClean="0"/>
                  <a:t>output</a:t>
                </a:r>
                <a:endParaRPr lang="en-IN" sz="1100" dirty="0"/>
              </a:p>
            </p:txBody>
          </p:sp>
        </p:grpSp>
        <p:sp>
          <p:nvSpPr>
            <p:cNvPr id="21" name="TextBox 20"/>
            <p:cNvSpPr txBox="1"/>
            <p:nvPr/>
          </p:nvSpPr>
          <p:spPr>
            <a:xfrm>
              <a:off x="5456202" y="4529075"/>
              <a:ext cx="484428" cy="261610"/>
            </a:xfrm>
            <a:prstGeom prst="rect">
              <a:avLst/>
            </a:prstGeom>
            <a:noFill/>
          </p:spPr>
          <p:txBody>
            <a:bodyPr wrap="none" rtlCol="0">
              <a:spAutoFit/>
            </a:bodyPr>
            <a:lstStyle/>
            <a:p>
              <a:r>
                <a:rPr lang="en-US" sz="1100" dirty="0" smtClean="0"/>
                <a:t>input</a:t>
              </a:r>
              <a:endParaRPr lang="en-IN" sz="1100" dirty="0"/>
            </a:p>
          </p:txBody>
        </p:sp>
      </p:grpSp>
      <p:grpSp>
        <p:nvGrpSpPr>
          <p:cNvPr id="38" name="Group 37"/>
          <p:cNvGrpSpPr/>
          <p:nvPr/>
        </p:nvGrpSpPr>
        <p:grpSpPr>
          <a:xfrm>
            <a:off x="2224290" y="642123"/>
            <a:ext cx="2563911" cy="1737860"/>
            <a:chOff x="1350058" y="779459"/>
            <a:chExt cx="3421891" cy="2782607"/>
          </a:xfrm>
        </p:grpSpPr>
        <p:grpSp>
          <p:nvGrpSpPr>
            <p:cNvPr id="2" name="Group 1"/>
            <p:cNvGrpSpPr/>
            <p:nvPr/>
          </p:nvGrpSpPr>
          <p:grpSpPr>
            <a:xfrm rot="16200000" flipV="1">
              <a:off x="1389723" y="1214181"/>
              <a:ext cx="2534829" cy="1842731"/>
              <a:chOff x="5987696" y="3261815"/>
              <a:chExt cx="2989282" cy="2266453"/>
            </a:xfrm>
          </p:grpSpPr>
          <p:sp>
            <p:nvSpPr>
              <p:cNvPr id="3" name="Flowchart: Connector 2"/>
              <p:cNvSpPr/>
              <p:nvPr/>
            </p:nvSpPr>
            <p:spPr>
              <a:xfrm>
                <a:off x="6001603" y="3261815"/>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 name="Straight Connector 3"/>
              <p:cNvCxnSpPr>
                <a:stCxn id="3" idx="6"/>
                <a:endCxn id="15" idx="1"/>
              </p:cNvCxnSpPr>
              <p:nvPr/>
            </p:nvCxnSpPr>
            <p:spPr>
              <a:xfrm>
                <a:off x="6230203" y="3376115"/>
                <a:ext cx="1558209" cy="727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a:stCxn id="12" idx="2"/>
                <a:endCxn id="15" idx="0"/>
              </p:cNvCxnSpPr>
              <p:nvPr/>
            </p:nvCxnSpPr>
            <p:spPr>
              <a:xfrm flipV="1">
                <a:off x="6000775" y="4070299"/>
                <a:ext cx="1868459" cy="47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13" idx="5"/>
                <a:endCxn id="15" idx="3"/>
              </p:cNvCxnSpPr>
              <p:nvPr/>
            </p:nvCxnSpPr>
            <p:spPr>
              <a:xfrm flipV="1">
                <a:off x="6189405" y="4265421"/>
                <a:ext cx="1599007" cy="586207"/>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 idx="5"/>
                <a:endCxn id="16" idx="1"/>
              </p:cNvCxnSpPr>
              <p:nvPr/>
            </p:nvCxnSpPr>
            <p:spPr>
              <a:xfrm>
                <a:off x="6196725" y="3456937"/>
                <a:ext cx="1613865" cy="1647609"/>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12" idx="6"/>
                <a:endCxn id="16" idx="1"/>
              </p:cNvCxnSpPr>
              <p:nvPr/>
            </p:nvCxnSpPr>
            <p:spPr>
              <a:xfrm>
                <a:off x="6229375" y="4117644"/>
                <a:ext cx="1581215" cy="986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13" idx="5"/>
                <a:endCxn id="16" idx="2"/>
              </p:cNvCxnSpPr>
              <p:nvPr/>
            </p:nvCxnSpPr>
            <p:spPr>
              <a:xfrm>
                <a:off x="6189405" y="4851628"/>
                <a:ext cx="1587707" cy="333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14" idx="5"/>
                <a:endCxn id="15" idx="3"/>
              </p:cNvCxnSpPr>
              <p:nvPr/>
            </p:nvCxnSpPr>
            <p:spPr>
              <a:xfrm flipV="1">
                <a:off x="6182818" y="4265421"/>
                <a:ext cx="1605594" cy="12293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a:endCxn id="17" idx="7"/>
              </p:cNvCxnSpPr>
              <p:nvPr/>
            </p:nvCxnSpPr>
            <p:spPr>
              <a:xfrm rot="16200000" flipH="1">
                <a:off x="8188768" y="3738342"/>
                <a:ext cx="343076" cy="1166389"/>
              </a:xfrm>
              <a:prstGeom prst="line">
                <a:avLst/>
              </a:prstGeom>
            </p:spPr>
            <p:style>
              <a:lnRef idx="1">
                <a:schemeClr val="accent1"/>
              </a:lnRef>
              <a:fillRef idx="0">
                <a:schemeClr val="accent1"/>
              </a:fillRef>
              <a:effectRef idx="0">
                <a:schemeClr val="accent1"/>
              </a:effectRef>
              <a:fontRef idx="minor">
                <a:schemeClr val="tx1"/>
              </a:fontRef>
            </p:style>
          </p:cxnSp>
          <p:sp>
            <p:nvSpPr>
              <p:cNvPr id="12" name="Flowchart: Connector 11"/>
              <p:cNvSpPr/>
              <p:nvPr/>
            </p:nvSpPr>
            <p:spPr>
              <a:xfrm>
                <a:off x="6000775" y="4003344"/>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Flowchart: Connector 12"/>
              <p:cNvSpPr/>
              <p:nvPr/>
            </p:nvSpPr>
            <p:spPr>
              <a:xfrm>
                <a:off x="5994283" y="4656506"/>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Flowchart: Connector 13"/>
              <p:cNvSpPr/>
              <p:nvPr/>
            </p:nvSpPr>
            <p:spPr>
              <a:xfrm>
                <a:off x="5987696" y="5299668"/>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Flowchart: Connector 14"/>
              <p:cNvSpPr/>
              <p:nvPr/>
            </p:nvSpPr>
            <p:spPr>
              <a:xfrm>
                <a:off x="7754934" y="4070299"/>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Flowchart: Connector 15"/>
              <p:cNvSpPr/>
              <p:nvPr/>
            </p:nvSpPr>
            <p:spPr>
              <a:xfrm>
                <a:off x="7777112" y="5071068"/>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Connector 16"/>
              <p:cNvSpPr/>
              <p:nvPr/>
            </p:nvSpPr>
            <p:spPr>
              <a:xfrm>
                <a:off x="8748378" y="4459597"/>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8" name="Straight Connector 17"/>
              <p:cNvCxnSpPr>
                <a:stCxn id="16" idx="6"/>
                <a:endCxn id="17" idx="3"/>
              </p:cNvCxnSpPr>
              <p:nvPr/>
            </p:nvCxnSpPr>
            <p:spPr>
              <a:xfrm flipV="1">
                <a:off x="8005712" y="4654719"/>
                <a:ext cx="776144" cy="53064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1350058" y="779459"/>
              <a:ext cx="3421891" cy="2782607"/>
              <a:chOff x="1350058" y="779459"/>
              <a:chExt cx="3421891" cy="2782607"/>
            </a:xfrm>
          </p:grpSpPr>
          <p:sp>
            <p:nvSpPr>
              <p:cNvPr id="30" name="Rectangle 29"/>
              <p:cNvSpPr/>
              <p:nvPr/>
            </p:nvSpPr>
            <p:spPr>
              <a:xfrm>
                <a:off x="1351128" y="3053807"/>
                <a:ext cx="2770496" cy="508259"/>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Rectangle 30"/>
              <p:cNvSpPr/>
              <p:nvPr/>
            </p:nvSpPr>
            <p:spPr>
              <a:xfrm>
                <a:off x="1350058" y="1608285"/>
                <a:ext cx="2770496" cy="508259"/>
              </a:xfrm>
              <a:prstGeom prst="rect">
                <a:avLst/>
              </a:prstGeom>
              <a:noFill/>
              <a:ln>
                <a:solidFill>
                  <a:srgbClr val="FF4B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Rectangle 31"/>
              <p:cNvSpPr/>
              <p:nvPr/>
            </p:nvSpPr>
            <p:spPr>
              <a:xfrm>
                <a:off x="1377277" y="779459"/>
                <a:ext cx="2770496" cy="508259"/>
              </a:xfrm>
              <a:prstGeom prst="rect">
                <a:avLst/>
              </a:prstGeom>
              <a:noFill/>
              <a:ln>
                <a:solidFill>
                  <a:srgbClr val="15C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TextBox 33"/>
              <p:cNvSpPr txBox="1"/>
              <p:nvPr/>
            </p:nvSpPr>
            <p:spPr>
              <a:xfrm>
                <a:off x="4147773" y="3123270"/>
                <a:ext cx="453970" cy="369332"/>
              </a:xfrm>
              <a:prstGeom prst="rect">
                <a:avLst/>
              </a:prstGeom>
              <a:noFill/>
            </p:spPr>
            <p:txBody>
              <a:bodyPr wrap="none" rtlCol="0">
                <a:spAutoFit/>
              </a:bodyPr>
              <a:lstStyle/>
              <a:p>
                <a:r>
                  <a:rPr lang="en-US" dirty="0" smtClean="0">
                    <a:latin typeface="Bahnschrift SemiLight" pitchFamily="34" charset="0"/>
                  </a:rPr>
                  <a:t>i/p</a:t>
                </a:r>
                <a:endParaRPr lang="en-IN" dirty="0">
                  <a:latin typeface="Bahnschrift SemiLight" pitchFamily="34" charset="0"/>
                </a:endParaRPr>
              </a:p>
            </p:txBody>
          </p:sp>
          <p:sp>
            <p:nvSpPr>
              <p:cNvPr id="35" name="TextBox 34"/>
              <p:cNvSpPr txBox="1"/>
              <p:nvPr/>
            </p:nvSpPr>
            <p:spPr>
              <a:xfrm>
                <a:off x="4250652" y="857467"/>
                <a:ext cx="521297" cy="369332"/>
              </a:xfrm>
              <a:prstGeom prst="rect">
                <a:avLst/>
              </a:prstGeom>
              <a:noFill/>
            </p:spPr>
            <p:txBody>
              <a:bodyPr wrap="none" rtlCol="0">
                <a:spAutoFit/>
              </a:bodyPr>
              <a:lstStyle/>
              <a:p>
                <a:r>
                  <a:rPr lang="en-US" dirty="0" smtClean="0">
                    <a:latin typeface="Bahnschrift SemiLight" pitchFamily="34" charset="0"/>
                  </a:rPr>
                  <a:t>o/p</a:t>
                </a:r>
                <a:endParaRPr lang="en-IN" dirty="0">
                  <a:latin typeface="Bahnschrift SemiLight" pitchFamily="34" charset="0"/>
                </a:endParaRPr>
              </a:p>
            </p:txBody>
          </p:sp>
          <p:sp>
            <p:nvSpPr>
              <p:cNvPr id="36" name="TextBox 35"/>
              <p:cNvSpPr txBox="1"/>
              <p:nvPr/>
            </p:nvSpPr>
            <p:spPr>
              <a:xfrm>
                <a:off x="4242075" y="1692578"/>
                <a:ext cx="474810" cy="369332"/>
              </a:xfrm>
              <a:prstGeom prst="rect">
                <a:avLst/>
              </a:prstGeom>
              <a:noFill/>
            </p:spPr>
            <p:txBody>
              <a:bodyPr wrap="none" rtlCol="0">
                <a:spAutoFit/>
              </a:bodyPr>
              <a:lstStyle/>
              <a:p>
                <a:r>
                  <a:rPr lang="en-US" dirty="0" smtClean="0">
                    <a:latin typeface="Bahnschrift SemiLight" pitchFamily="34" charset="0"/>
                  </a:rPr>
                  <a:t>HL</a:t>
                </a:r>
                <a:endParaRPr lang="en-IN" dirty="0">
                  <a:latin typeface="Bahnschrift SemiLight" pitchFamily="34" charset="0"/>
                </a:endParaRPr>
              </a:p>
            </p:txBody>
          </p:sp>
        </p:grpSp>
      </p:grpSp>
    </p:spTree>
    <p:extLst>
      <p:ext uri="{BB962C8B-B14F-4D97-AF65-F5344CB8AC3E}">
        <p14:creationId xmlns:p14="http://schemas.microsoft.com/office/powerpoint/2010/main" val="295844495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227" y="215859"/>
            <a:ext cx="6238875"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933063" y="1218127"/>
            <a:ext cx="593432" cy="369332"/>
          </a:xfrm>
          <a:prstGeom prst="rect">
            <a:avLst/>
          </a:prstGeom>
          <a:noFill/>
        </p:spPr>
        <p:txBody>
          <a:bodyPr wrap="none" rtlCol="0">
            <a:spAutoFit/>
          </a:bodyPr>
          <a:lstStyle/>
          <a:p>
            <a:r>
              <a:rPr lang="en-US" dirty="0" smtClean="0">
                <a:solidFill>
                  <a:srgbClr val="FF0066"/>
                </a:solidFill>
              </a:rPr>
              <a:t>OHE</a:t>
            </a:r>
            <a:endParaRPr lang="en-IN" dirty="0">
              <a:solidFill>
                <a:srgbClr val="FF0066"/>
              </a:solidFill>
            </a:endParaRPr>
          </a:p>
        </p:txBody>
      </p:sp>
    </p:spTree>
    <p:extLst>
      <p:ext uri="{BB962C8B-B14F-4D97-AF65-F5344CB8AC3E}">
        <p14:creationId xmlns:p14="http://schemas.microsoft.com/office/powerpoint/2010/main" val="420692375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873" y="257957"/>
            <a:ext cx="6267450" cy="366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38475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6" name="Group 5"/>
          <p:cNvGrpSpPr/>
          <p:nvPr/>
        </p:nvGrpSpPr>
        <p:grpSpPr>
          <a:xfrm>
            <a:off x="0" y="206795"/>
            <a:ext cx="12192000" cy="323165"/>
            <a:chOff x="-140317" y="326704"/>
            <a:chExt cx="12192000" cy="323165"/>
          </a:xfrm>
        </p:grpSpPr>
        <p:sp>
          <p:nvSpPr>
            <p:cNvPr id="3" name="TextBox 2"/>
            <p:cNvSpPr txBox="1"/>
            <p:nvPr/>
          </p:nvSpPr>
          <p:spPr>
            <a:xfrm>
              <a:off x="331386" y="326704"/>
              <a:ext cx="5694100" cy="323165"/>
            </a:xfrm>
            <a:prstGeom prst="rect">
              <a:avLst/>
            </a:prstGeom>
            <a:solidFill>
              <a:srgbClr val="0070C0"/>
            </a:solidFill>
          </p:spPr>
          <p:txBody>
            <a:bodyPr wrap="square" rtlCol="0">
              <a:spAutoFit/>
            </a:bodyPr>
            <a:lstStyle/>
            <a:p>
              <a:r>
                <a:rPr lang="en-US" sz="1500" dirty="0" smtClean="0">
                  <a:solidFill>
                    <a:schemeClr val="bg1">
                      <a:lumMod val="95000"/>
                    </a:schemeClr>
                  </a:solidFill>
                  <a:latin typeface="Bahnschrift Light" pitchFamily="34" charset="0"/>
                </a:rPr>
                <a:t>Types of RNN</a:t>
              </a:r>
              <a:endParaRPr lang="en-IN" sz="1500" dirty="0">
                <a:solidFill>
                  <a:schemeClr val="bg1">
                    <a:lumMod val="95000"/>
                  </a:schemeClr>
                </a:solidFill>
                <a:latin typeface="Bahnschrift Light" pitchFamily="34" charset="0"/>
              </a:endParaRPr>
            </a:p>
          </p:txBody>
        </p:sp>
        <p:cxnSp>
          <p:nvCxnSpPr>
            <p:cNvPr id="5" name="Straight Connector 4"/>
            <p:cNvCxnSpPr/>
            <p:nvPr/>
          </p:nvCxnSpPr>
          <p:spPr>
            <a:xfrm>
              <a:off x="-140317" y="634481"/>
              <a:ext cx="121920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TextBox 6"/>
          <p:cNvSpPr txBox="1"/>
          <p:nvPr/>
        </p:nvSpPr>
        <p:spPr>
          <a:xfrm>
            <a:off x="1733587" y="1118274"/>
            <a:ext cx="1570879" cy="338554"/>
          </a:xfrm>
          <a:prstGeom prst="rect">
            <a:avLst/>
          </a:prstGeom>
          <a:solidFill>
            <a:schemeClr val="accent4">
              <a:lumMod val="20000"/>
              <a:lumOff val="80000"/>
            </a:schemeClr>
          </a:solidFill>
          <a:ln>
            <a:solidFill>
              <a:schemeClr val="bg1">
                <a:lumMod val="75000"/>
              </a:schemeClr>
            </a:solidFill>
          </a:ln>
        </p:spPr>
        <p:txBody>
          <a:bodyPr wrap="none" rtlCol="0">
            <a:spAutoFit/>
          </a:bodyPr>
          <a:lstStyle/>
          <a:p>
            <a:r>
              <a:rPr lang="en-US" sz="1600" dirty="0" smtClean="0"/>
              <a:t>One to One RNN</a:t>
            </a:r>
            <a:endParaRPr lang="en-IN" sz="1600" dirty="0"/>
          </a:p>
        </p:txBody>
      </p:sp>
      <p:sp>
        <p:nvSpPr>
          <p:cNvPr id="8" name="Rectangle 7"/>
          <p:cNvSpPr/>
          <p:nvPr/>
        </p:nvSpPr>
        <p:spPr>
          <a:xfrm>
            <a:off x="1883391" y="4495885"/>
            <a:ext cx="9976513" cy="646331"/>
          </a:xfrm>
          <a:prstGeom prst="rect">
            <a:avLst/>
          </a:prstGeom>
        </p:spPr>
        <p:txBody>
          <a:bodyPr wrap="square">
            <a:spAutoFit/>
          </a:bodyPr>
          <a:lstStyle/>
          <a:p>
            <a:r>
              <a:rPr lang="en-US" dirty="0"/>
              <a:t>suppose my input is a image and my problem is image classification so for one input how many outputs I will just get one output</a:t>
            </a:r>
            <a:endParaRPr lang="en-IN" dirty="0"/>
          </a:p>
        </p:txBody>
      </p:sp>
      <p:sp>
        <p:nvSpPr>
          <p:cNvPr id="9" name="Rectangle 8"/>
          <p:cNvSpPr/>
          <p:nvPr/>
        </p:nvSpPr>
        <p:spPr>
          <a:xfrm>
            <a:off x="2966114" y="1686468"/>
            <a:ext cx="6096000" cy="707886"/>
          </a:xfrm>
          <a:prstGeom prst="rect">
            <a:avLst/>
          </a:prstGeom>
        </p:spPr>
        <p:txBody>
          <a:bodyPr>
            <a:spAutoFit/>
          </a:bodyPr>
          <a:lstStyle/>
          <a:p>
            <a:r>
              <a:rPr lang="en-IN" sz="2000" dirty="0">
                <a:solidFill>
                  <a:srgbClr val="FF4B21"/>
                </a:solidFill>
                <a:latin typeface="Bahnschrift Light" pitchFamily="34" charset="0"/>
              </a:rPr>
              <a:t>Image</a:t>
            </a:r>
          </a:p>
          <a:p>
            <a:r>
              <a:rPr lang="en-IN" sz="2000" dirty="0">
                <a:solidFill>
                  <a:srgbClr val="FF4B21"/>
                </a:solidFill>
                <a:latin typeface="Bahnschrift Light" pitchFamily="34" charset="0"/>
              </a:rPr>
              <a:t>Image Classification</a:t>
            </a:r>
          </a:p>
        </p:txBody>
      </p:sp>
      <p:grpSp>
        <p:nvGrpSpPr>
          <p:cNvPr id="17" name="Group 16"/>
          <p:cNvGrpSpPr/>
          <p:nvPr/>
        </p:nvGrpSpPr>
        <p:grpSpPr>
          <a:xfrm>
            <a:off x="7997588" y="1118274"/>
            <a:ext cx="846161" cy="2334610"/>
            <a:chOff x="7997588" y="1118274"/>
            <a:chExt cx="846161" cy="2334610"/>
          </a:xfrm>
        </p:grpSpPr>
        <p:grpSp>
          <p:nvGrpSpPr>
            <p:cNvPr id="15" name="Group 14"/>
            <p:cNvGrpSpPr/>
            <p:nvPr/>
          </p:nvGrpSpPr>
          <p:grpSpPr>
            <a:xfrm>
              <a:off x="8258601" y="1388766"/>
              <a:ext cx="254190" cy="1531890"/>
              <a:chOff x="6989359" y="2040411"/>
              <a:chExt cx="254190" cy="1531890"/>
            </a:xfrm>
            <a:solidFill>
              <a:schemeClr val="accent2">
                <a:lumMod val="60000"/>
                <a:lumOff val="40000"/>
              </a:schemeClr>
            </a:solidFill>
          </p:grpSpPr>
          <p:sp>
            <p:nvSpPr>
              <p:cNvPr id="10" name="Oval 9"/>
              <p:cNvSpPr/>
              <p:nvPr/>
            </p:nvSpPr>
            <p:spPr>
              <a:xfrm>
                <a:off x="7014949" y="3343701"/>
                <a:ext cx="228600" cy="228600"/>
              </a:xfrm>
              <a:prstGeom prst="ellips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p:cNvSpPr/>
              <p:nvPr/>
            </p:nvSpPr>
            <p:spPr>
              <a:xfrm>
                <a:off x="6989359" y="2630748"/>
                <a:ext cx="228600" cy="221634"/>
              </a:xfrm>
              <a:prstGeom prst="rect">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Oval 11"/>
              <p:cNvSpPr/>
              <p:nvPr/>
            </p:nvSpPr>
            <p:spPr>
              <a:xfrm>
                <a:off x="6989359" y="2040411"/>
                <a:ext cx="228600" cy="228600"/>
              </a:xfrm>
              <a:prstGeom prst="ellips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4" name="Straight Connector 13"/>
              <p:cNvCxnSpPr>
                <a:stCxn id="12" idx="4"/>
                <a:endCxn id="10" idx="0"/>
              </p:cNvCxnSpPr>
              <p:nvPr/>
            </p:nvCxnSpPr>
            <p:spPr>
              <a:xfrm>
                <a:off x="7103659" y="2269011"/>
                <a:ext cx="25590" cy="1074690"/>
              </a:xfrm>
              <a:prstGeom prst="line">
                <a:avLst/>
              </a:prstGeom>
              <a:grpFill/>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16" name="Rectangle 15"/>
            <p:cNvSpPr/>
            <p:nvPr/>
          </p:nvSpPr>
          <p:spPr>
            <a:xfrm>
              <a:off x="7997588" y="1118274"/>
              <a:ext cx="846161" cy="2334610"/>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303888177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2" name="TextBox 1"/>
          <p:cNvSpPr txBox="1"/>
          <p:nvPr/>
        </p:nvSpPr>
        <p:spPr>
          <a:xfrm>
            <a:off x="723652" y="422238"/>
            <a:ext cx="1268937" cy="338554"/>
          </a:xfrm>
          <a:prstGeom prst="rect">
            <a:avLst/>
          </a:prstGeom>
          <a:solidFill>
            <a:srgbClr val="00B050"/>
          </a:solidFill>
          <a:ln>
            <a:solidFill>
              <a:schemeClr val="bg1">
                <a:lumMod val="75000"/>
              </a:schemeClr>
            </a:solidFill>
          </a:ln>
        </p:spPr>
        <p:txBody>
          <a:bodyPr wrap="none" rtlCol="0">
            <a:spAutoFit/>
          </a:bodyPr>
          <a:lstStyle/>
          <a:p>
            <a:r>
              <a:rPr lang="en-US" sz="1600" dirty="0">
                <a:solidFill>
                  <a:schemeClr val="bg1">
                    <a:lumMod val="95000"/>
                  </a:schemeClr>
                </a:solidFill>
              </a:rPr>
              <a:t>One to Many</a:t>
            </a:r>
            <a:endParaRPr lang="en-IN" sz="1600" dirty="0">
              <a:solidFill>
                <a:schemeClr val="bg1">
                  <a:lumMod val="95000"/>
                </a:schemeClr>
              </a:solidFill>
            </a:endParaRPr>
          </a:p>
        </p:txBody>
      </p:sp>
      <p:sp>
        <p:nvSpPr>
          <p:cNvPr id="8" name="Rectangle 7"/>
          <p:cNvSpPr/>
          <p:nvPr/>
        </p:nvSpPr>
        <p:spPr>
          <a:xfrm>
            <a:off x="1171300" y="920229"/>
            <a:ext cx="5177315" cy="338554"/>
          </a:xfrm>
          <a:prstGeom prst="rect">
            <a:avLst/>
          </a:prstGeom>
        </p:spPr>
        <p:txBody>
          <a:bodyPr wrap="none">
            <a:spAutoFit/>
          </a:bodyPr>
          <a:lstStyle/>
          <a:p>
            <a:r>
              <a:rPr lang="en-US" sz="1600" i="1" dirty="0"/>
              <a:t>Which means our input will be one but output can be many </a:t>
            </a:r>
            <a:endParaRPr lang="en-IN" sz="1600" i="1" dirty="0"/>
          </a:p>
        </p:txBody>
      </p:sp>
      <p:sp>
        <p:nvSpPr>
          <p:cNvPr id="9" name="Rectangle 8"/>
          <p:cNvSpPr/>
          <p:nvPr/>
        </p:nvSpPr>
        <p:spPr>
          <a:xfrm>
            <a:off x="1032682" y="4931815"/>
            <a:ext cx="10990996" cy="830997"/>
          </a:xfrm>
          <a:prstGeom prst="rect">
            <a:avLst/>
          </a:prstGeom>
        </p:spPr>
        <p:txBody>
          <a:bodyPr wrap="square">
            <a:spAutoFit/>
          </a:bodyPr>
          <a:lstStyle/>
          <a:p>
            <a:r>
              <a:rPr lang="en-US" sz="1600" dirty="0">
                <a:latin typeface="Bahnschrift SemiLight" pitchFamily="34" charset="0"/>
              </a:rPr>
              <a:t>if I give my input as an image so my output can be multiple things that are present in that image </a:t>
            </a:r>
            <a:r>
              <a:rPr lang="en-US" sz="1600" dirty="0" smtClean="0">
                <a:latin typeface="Bahnschrift SemiLight" pitchFamily="34" charset="0"/>
              </a:rPr>
              <a:t>for </a:t>
            </a:r>
            <a:r>
              <a:rPr lang="en-US" sz="1600" dirty="0">
                <a:latin typeface="Bahnschrift SemiLight" pitchFamily="34" charset="0"/>
              </a:rPr>
              <a:t>example there can be a </a:t>
            </a:r>
            <a:r>
              <a:rPr lang="en-US" sz="1600" dirty="0">
                <a:solidFill>
                  <a:schemeClr val="accent2"/>
                </a:solidFill>
                <a:latin typeface="Bahnschrift SemiLight" pitchFamily="34" charset="0"/>
              </a:rPr>
              <a:t>bus present </a:t>
            </a:r>
            <a:r>
              <a:rPr lang="en-US" sz="1600" dirty="0" smtClean="0">
                <a:latin typeface="Bahnschrift SemiLight" pitchFamily="34" charset="0"/>
              </a:rPr>
              <a:t>,there </a:t>
            </a:r>
            <a:r>
              <a:rPr lang="en-US" sz="1600" dirty="0">
                <a:latin typeface="Bahnschrift SemiLight" pitchFamily="34" charset="0"/>
              </a:rPr>
              <a:t>can be a </a:t>
            </a:r>
            <a:r>
              <a:rPr lang="en-US" sz="1600" dirty="0">
                <a:solidFill>
                  <a:schemeClr val="accent2"/>
                </a:solidFill>
                <a:latin typeface="Bahnschrift SemiLight" pitchFamily="34" charset="0"/>
              </a:rPr>
              <a:t>truck </a:t>
            </a:r>
            <a:r>
              <a:rPr lang="en-US" sz="1600" dirty="0" smtClean="0">
                <a:solidFill>
                  <a:schemeClr val="accent2"/>
                </a:solidFill>
                <a:latin typeface="Bahnschrift SemiLight" pitchFamily="34" charset="0"/>
              </a:rPr>
              <a:t>present </a:t>
            </a:r>
            <a:r>
              <a:rPr lang="en-US" sz="1600" dirty="0" smtClean="0">
                <a:latin typeface="Bahnschrift SemiLight" pitchFamily="34" charset="0"/>
              </a:rPr>
              <a:t>,there </a:t>
            </a:r>
            <a:r>
              <a:rPr lang="en-US" sz="1600" dirty="0">
                <a:latin typeface="Bahnschrift SemiLight" pitchFamily="34" charset="0"/>
              </a:rPr>
              <a:t>can be a let's say </a:t>
            </a:r>
            <a:r>
              <a:rPr lang="en-US" sz="1600" dirty="0">
                <a:solidFill>
                  <a:schemeClr val="accent2"/>
                </a:solidFill>
                <a:latin typeface="Bahnschrift SemiLight" pitchFamily="34" charset="0"/>
              </a:rPr>
              <a:t>bicycle</a:t>
            </a:r>
            <a:r>
              <a:rPr lang="en-US" sz="1600" dirty="0">
                <a:latin typeface="Bahnschrift SemiLight" pitchFamily="34" charset="0"/>
              </a:rPr>
              <a:t> or </a:t>
            </a:r>
            <a:r>
              <a:rPr lang="en-US" sz="1600" dirty="0">
                <a:solidFill>
                  <a:schemeClr val="accent2"/>
                </a:solidFill>
                <a:latin typeface="Bahnschrift SemiLight" pitchFamily="34" charset="0"/>
              </a:rPr>
              <a:t>cycle</a:t>
            </a:r>
            <a:r>
              <a:rPr lang="en-US" sz="1600" dirty="0">
                <a:latin typeface="Bahnschrift SemiLight" pitchFamily="34" charset="0"/>
              </a:rPr>
              <a:t> present </a:t>
            </a:r>
            <a:r>
              <a:rPr lang="en-US" sz="1600" dirty="0" smtClean="0">
                <a:latin typeface="Bahnschrift SemiLight" pitchFamily="34" charset="0"/>
              </a:rPr>
              <a:t>there </a:t>
            </a:r>
            <a:r>
              <a:rPr lang="en-US" sz="1600" dirty="0">
                <a:latin typeface="Bahnschrift SemiLight" pitchFamily="34" charset="0"/>
              </a:rPr>
              <a:t>can be a </a:t>
            </a:r>
            <a:r>
              <a:rPr lang="en-US" sz="1600" dirty="0">
                <a:solidFill>
                  <a:schemeClr val="accent2"/>
                </a:solidFill>
                <a:latin typeface="Bahnschrift SemiLight" pitchFamily="34" charset="0"/>
              </a:rPr>
              <a:t>traffic light </a:t>
            </a:r>
            <a:r>
              <a:rPr lang="en-US" sz="1600" dirty="0" smtClean="0">
                <a:latin typeface="Bahnschrift SemiLight" pitchFamily="34" charset="0"/>
              </a:rPr>
              <a:t>,</a:t>
            </a:r>
            <a:r>
              <a:rPr lang="en-US" sz="1600" dirty="0" smtClean="0">
                <a:solidFill>
                  <a:srgbClr val="0070C0"/>
                </a:solidFill>
                <a:latin typeface="Bahnschrift SemiLight" pitchFamily="34" charset="0"/>
              </a:rPr>
              <a:t>so </a:t>
            </a:r>
            <a:r>
              <a:rPr lang="en-US" sz="1600" dirty="0">
                <a:solidFill>
                  <a:srgbClr val="0070C0"/>
                </a:solidFill>
                <a:latin typeface="Bahnschrift SemiLight" pitchFamily="34" charset="0"/>
              </a:rPr>
              <a:t>from one input image ,I am getting multiple outputs in this kind of architecture</a:t>
            </a:r>
            <a:endParaRPr lang="en-IN" sz="1600" dirty="0">
              <a:solidFill>
                <a:srgbClr val="0070C0"/>
              </a:solidFill>
              <a:latin typeface="Bahnschrift SemiLight" pitchFamily="34" charset="0"/>
            </a:endParaRPr>
          </a:p>
        </p:txBody>
      </p:sp>
      <p:sp>
        <p:nvSpPr>
          <p:cNvPr id="10" name="Rectangle 9"/>
          <p:cNvSpPr/>
          <p:nvPr/>
        </p:nvSpPr>
        <p:spPr>
          <a:xfrm>
            <a:off x="1986902" y="1418495"/>
            <a:ext cx="6096000" cy="584775"/>
          </a:xfrm>
          <a:prstGeom prst="rect">
            <a:avLst/>
          </a:prstGeom>
        </p:spPr>
        <p:txBody>
          <a:bodyPr>
            <a:spAutoFit/>
          </a:bodyPr>
          <a:lstStyle/>
          <a:p>
            <a:r>
              <a:rPr lang="en-US" sz="1600" dirty="0">
                <a:latin typeface="Bahnschrift Light" pitchFamily="34" charset="0"/>
                <a:ea typeface="Arial Unicode MS" pitchFamily="34" charset="-128"/>
                <a:cs typeface="Arial Unicode MS" pitchFamily="34" charset="-128"/>
              </a:rPr>
              <a:t>i/p -&gt; </a:t>
            </a:r>
            <a:r>
              <a:rPr lang="en-US" sz="1600" dirty="0" smtClean="0">
                <a:latin typeface="Bahnschrift Light" pitchFamily="34" charset="0"/>
                <a:ea typeface="Arial Unicode MS" pitchFamily="34" charset="-128"/>
                <a:cs typeface="Arial Unicode MS" pitchFamily="34" charset="-128"/>
              </a:rPr>
              <a:t>image</a:t>
            </a:r>
            <a:endParaRPr lang="en-US" sz="1600" dirty="0">
              <a:latin typeface="Bahnschrift Light" pitchFamily="34" charset="0"/>
              <a:ea typeface="Arial Unicode MS" pitchFamily="34" charset="-128"/>
              <a:cs typeface="Arial Unicode MS" pitchFamily="34" charset="-128"/>
            </a:endParaRPr>
          </a:p>
          <a:p>
            <a:r>
              <a:rPr lang="en-US" sz="1600" dirty="0">
                <a:latin typeface="Bahnschrift Light" pitchFamily="34" charset="0"/>
                <a:ea typeface="Arial Unicode MS" pitchFamily="34" charset="-128"/>
                <a:cs typeface="Arial Unicode MS" pitchFamily="34" charset="-128"/>
              </a:rPr>
              <a:t>o/p -&gt; Bus,Truck,Cycle,Traffic light</a:t>
            </a:r>
            <a:endParaRPr lang="en-IN" sz="1600" dirty="0">
              <a:latin typeface="Bahnschrift Light" pitchFamily="34" charset="0"/>
              <a:ea typeface="Arial Unicode MS" pitchFamily="34" charset="-128"/>
              <a:cs typeface="Arial Unicode MS" pitchFamily="34" charset="-128"/>
            </a:endParaRPr>
          </a:p>
        </p:txBody>
      </p:sp>
      <p:grpSp>
        <p:nvGrpSpPr>
          <p:cNvPr id="32" name="Group 31"/>
          <p:cNvGrpSpPr/>
          <p:nvPr/>
        </p:nvGrpSpPr>
        <p:grpSpPr>
          <a:xfrm>
            <a:off x="1912961" y="2387702"/>
            <a:ext cx="3207224" cy="2265528"/>
            <a:chOff x="1815152" y="2770496"/>
            <a:chExt cx="3207224" cy="2265528"/>
          </a:xfrm>
        </p:grpSpPr>
        <p:grpSp>
          <p:nvGrpSpPr>
            <p:cNvPr id="3" name="Group 2"/>
            <p:cNvGrpSpPr/>
            <p:nvPr/>
          </p:nvGrpSpPr>
          <p:grpSpPr>
            <a:xfrm>
              <a:off x="2280882" y="3108384"/>
              <a:ext cx="254190" cy="1531890"/>
              <a:chOff x="6989359" y="2040411"/>
              <a:chExt cx="254190" cy="1531890"/>
            </a:xfrm>
          </p:grpSpPr>
          <p:sp>
            <p:nvSpPr>
              <p:cNvPr id="4" name="Oval 3"/>
              <p:cNvSpPr/>
              <p:nvPr/>
            </p:nvSpPr>
            <p:spPr>
              <a:xfrm>
                <a:off x="7014949" y="3343701"/>
                <a:ext cx="228600" cy="2286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p:cNvSpPr/>
              <p:nvPr/>
            </p:nvSpPr>
            <p:spPr>
              <a:xfrm>
                <a:off x="6989359" y="2630748"/>
                <a:ext cx="228600" cy="22163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Oval 5"/>
              <p:cNvSpPr/>
              <p:nvPr/>
            </p:nvSpPr>
            <p:spPr>
              <a:xfrm>
                <a:off x="6989359" y="2040411"/>
                <a:ext cx="228600" cy="2286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p:cNvCxnSpPr>
                <a:stCxn id="6" idx="4"/>
                <a:endCxn id="4" idx="0"/>
              </p:cNvCxnSpPr>
              <p:nvPr/>
            </p:nvCxnSpPr>
            <p:spPr>
              <a:xfrm>
                <a:off x="7103659" y="2269011"/>
                <a:ext cx="25590" cy="107469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2420772" y="3085175"/>
              <a:ext cx="868907" cy="838628"/>
              <a:chOff x="2420772" y="3085175"/>
              <a:chExt cx="868907" cy="838628"/>
            </a:xfrm>
          </p:grpSpPr>
          <p:sp>
            <p:nvSpPr>
              <p:cNvPr id="11" name="Oval 10"/>
              <p:cNvSpPr/>
              <p:nvPr/>
            </p:nvSpPr>
            <p:spPr>
              <a:xfrm>
                <a:off x="3061079" y="3085175"/>
                <a:ext cx="228600" cy="2286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2" name="Straight Connector 11"/>
              <p:cNvCxnSpPr>
                <a:stCxn id="11" idx="4"/>
              </p:cNvCxnSpPr>
              <p:nvPr/>
            </p:nvCxnSpPr>
            <p:spPr>
              <a:xfrm>
                <a:off x="3175379" y="3313775"/>
                <a:ext cx="0" cy="38494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057667" y="3702169"/>
                <a:ext cx="228600" cy="22163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7" name="Straight Connector 16"/>
              <p:cNvCxnSpPr>
                <a:endCxn id="14" idx="1"/>
              </p:cNvCxnSpPr>
              <p:nvPr/>
            </p:nvCxnSpPr>
            <p:spPr>
              <a:xfrm>
                <a:off x="2420772" y="3809538"/>
                <a:ext cx="636895" cy="3448"/>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3331191" y="3099393"/>
              <a:ext cx="868907" cy="838628"/>
              <a:chOff x="2420772" y="3085175"/>
              <a:chExt cx="868907" cy="838628"/>
            </a:xfrm>
          </p:grpSpPr>
          <p:sp>
            <p:nvSpPr>
              <p:cNvPr id="22" name="Oval 21"/>
              <p:cNvSpPr/>
              <p:nvPr/>
            </p:nvSpPr>
            <p:spPr>
              <a:xfrm>
                <a:off x="3061079" y="3085175"/>
                <a:ext cx="228600" cy="2286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3" name="Straight Connector 22"/>
              <p:cNvCxnSpPr>
                <a:stCxn id="22" idx="4"/>
              </p:cNvCxnSpPr>
              <p:nvPr/>
            </p:nvCxnSpPr>
            <p:spPr>
              <a:xfrm>
                <a:off x="3175379" y="3313775"/>
                <a:ext cx="0" cy="38494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3057667" y="3702169"/>
                <a:ext cx="228600" cy="22163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5" name="Straight Connector 24"/>
              <p:cNvCxnSpPr>
                <a:endCxn id="24" idx="1"/>
              </p:cNvCxnSpPr>
              <p:nvPr/>
            </p:nvCxnSpPr>
            <p:spPr>
              <a:xfrm>
                <a:off x="2420772" y="3809538"/>
                <a:ext cx="636895" cy="3448"/>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31" name="Rectangle 30"/>
            <p:cNvSpPr/>
            <p:nvPr/>
          </p:nvSpPr>
          <p:spPr>
            <a:xfrm>
              <a:off x="1815152" y="2770496"/>
              <a:ext cx="3207224" cy="2265528"/>
            </a:xfrm>
            <a:prstGeom prst="rect">
              <a:avLst/>
            </a:prstGeom>
            <a:noFill/>
            <a:ln>
              <a:solidFill>
                <a:srgbClr val="00D0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313016653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2" name="TextBox 1"/>
          <p:cNvSpPr txBox="1"/>
          <p:nvPr/>
        </p:nvSpPr>
        <p:spPr>
          <a:xfrm>
            <a:off x="723652" y="422238"/>
            <a:ext cx="1268937" cy="338554"/>
          </a:xfrm>
          <a:prstGeom prst="rect">
            <a:avLst/>
          </a:prstGeom>
          <a:solidFill>
            <a:srgbClr val="002060"/>
          </a:solidFill>
          <a:ln>
            <a:solidFill>
              <a:schemeClr val="bg1">
                <a:lumMod val="75000"/>
              </a:schemeClr>
            </a:solidFill>
          </a:ln>
        </p:spPr>
        <p:txBody>
          <a:bodyPr wrap="none" rtlCol="0">
            <a:spAutoFit/>
          </a:bodyPr>
          <a:lstStyle/>
          <a:p>
            <a:r>
              <a:rPr lang="en-US" sz="1600" dirty="0" smtClean="0">
                <a:solidFill>
                  <a:schemeClr val="bg1">
                    <a:lumMod val="95000"/>
                  </a:schemeClr>
                </a:solidFill>
              </a:rPr>
              <a:t>Many to One</a:t>
            </a:r>
            <a:endParaRPr lang="en-IN" sz="1600" dirty="0">
              <a:solidFill>
                <a:schemeClr val="bg1">
                  <a:lumMod val="95000"/>
                </a:schemeClr>
              </a:solidFill>
            </a:endParaRPr>
          </a:p>
        </p:txBody>
      </p:sp>
      <p:sp>
        <p:nvSpPr>
          <p:cNvPr id="8" name="Rectangle 7"/>
          <p:cNvSpPr/>
          <p:nvPr/>
        </p:nvSpPr>
        <p:spPr>
          <a:xfrm>
            <a:off x="1171300" y="920229"/>
            <a:ext cx="6467155" cy="338554"/>
          </a:xfrm>
          <a:prstGeom prst="rect">
            <a:avLst/>
          </a:prstGeom>
        </p:spPr>
        <p:txBody>
          <a:bodyPr wrap="none">
            <a:spAutoFit/>
          </a:bodyPr>
          <a:lstStyle/>
          <a:p>
            <a:r>
              <a:rPr lang="en-US" sz="1600" i="1" dirty="0"/>
              <a:t>which means in the input we can </a:t>
            </a:r>
            <a:r>
              <a:rPr lang="en-US" sz="1600" i="1" dirty="0" smtClean="0"/>
              <a:t>pass multiple input but outputs </a:t>
            </a:r>
            <a:r>
              <a:rPr lang="en-US" sz="1600" i="1" dirty="0"/>
              <a:t>is </a:t>
            </a:r>
            <a:r>
              <a:rPr lang="en-US" sz="1600" i="1" dirty="0" smtClean="0"/>
              <a:t>only one</a:t>
            </a:r>
            <a:endParaRPr lang="en-IN" sz="1600" i="1" dirty="0"/>
          </a:p>
        </p:txBody>
      </p:sp>
      <p:sp>
        <p:nvSpPr>
          <p:cNvPr id="9" name="Rectangle 8"/>
          <p:cNvSpPr/>
          <p:nvPr/>
        </p:nvSpPr>
        <p:spPr>
          <a:xfrm>
            <a:off x="1032682" y="4931815"/>
            <a:ext cx="10990996" cy="830997"/>
          </a:xfrm>
          <a:prstGeom prst="rect">
            <a:avLst/>
          </a:prstGeom>
        </p:spPr>
        <p:txBody>
          <a:bodyPr wrap="square">
            <a:spAutoFit/>
          </a:bodyPr>
          <a:lstStyle/>
          <a:p>
            <a:r>
              <a:rPr lang="en-US" sz="1600" dirty="0">
                <a:latin typeface="Bahnschrift SemiLight" pitchFamily="34" charset="0"/>
              </a:rPr>
              <a:t>if I give my input as an image so my output can be multiple things that are present in that image </a:t>
            </a:r>
            <a:r>
              <a:rPr lang="en-US" sz="1600" dirty="0" smtClean="0">
                <a:latin typeface="Bahnschrift SemiLight" pitchFamily="34" charset="0"/>
              </a:rPr>
              <a:t>for </a:t>
            </a:r>
            <a:r>
              <a:rPr lang="en-US" sz="1600" dirty="0">
                <a:latin typeface="Bahnschrift SemiLight" pitchFamily="34" charset="0"/>
              </a:rPr>
              <a:t>example there can be a </a:t>
            </a:r>
            <a:r>
              <a:rPr lang="en-US" sz="1600" dirty="0">
                <a:solidFill>
                  <a:schemeClr val="accent2"/>
                </a:solidFill>
                <a:latin typeface="Bahnschrift SemiLight" pitchFamily="34" charset="0"/>
              </a:rPr>
              <a:t>bus present </a:t>
            </a:r>
            <a:r>
              <a:rPr lang="en-US" sz="1600" dirty="0" smtClean="0">
                <a:latin typeface="Bahnschrift SemiLight" pitchFamily="34" charset="0"/>
              </a:rPr>
              <a:t>,there </a:t>
            </a:r>
            <a:r>
              <a:rPr lang="en-US" sz="1600" dirty="0">
                <a:latin typeface="Bahnschrift SemiLight" pitchFamily="34" charset="0"/>
              </a:rPr>
              <a:t>can be a </a:t>
            </a:r>
            <a:r>
              <a:rPr lang="en-US" sz="1600" dirty="0">
                <a:solidFill>
                  <a:schemeClr val="accent2"/>
                </a:solidFill>
                <a:latin typeface="Bahnschrift SemiLight" pitchFamily="34" charset="0"/>
              </a:rPr>
              <a:t>truck </a:t>
            </a:r>
            <a:r>
              <a:rPr lang="en-US" sz="1600" dirty="0" smtClean="0">
                <a:solidFill>
                  <a:schemeClr val="accent2"/>
                </a:solidFill>
                <a:latin typeface="Bahnschrift SemiLight" pitchFamily="34" charset="0"/>
              </a:rPr>
              <a:t>present </a:t>
            </a:r>
            <a:r>
              <a:rPr lang="en-US" sz="1600" dirty="0" smtClean="0">
                <a:latin typeface="Bahnschrift SemiLight" pitchFamily="34" charset="0"/>
              </a:rPr>
              <a:t>,there </a:t>
            </a:r>
            <a:r>
              <a:rPr lang="en-US" sz="1600" dirty="0">
                <a:latin typeface="Bahnschrift SemiLight" pitchFamily="34" charset="0"/>
              </a:rPr>
              <a:t>can be a let's say </a:t>
            </a:r>
            <a:r>
              <a:rPr lang="en-US" sz="1600" dirty="0">
                <a:solidFill>
                  <a:schemeClr val="accent2"/>
                </a:solidFill>
                <a:latin typeface="Bahnschrift SemiLight" pitchFamily="34" charset="0"/>
              </a:rPr>
              <a:t>bicycle</a:t>
            </a:r>
            <a:r>
              <a:rPr lang="en-US" sz="1600" dirty="0">
                <a:latin typeface="Bahnschrift SemiLight" pitchFamily="34" charset="0"/>
              </a:rPr>
              <a:t> or </a:t>
            </a:r>
            <a:r>
              <a:rPr lang="en-US" sz="1600" dirty="0">
                <a:solidFill>
                  <a:schemeClr val="accent2"/>
                </a:solidFill>
                <a:latin typeface="Bahnschrift SemiLight" pitchFamily="34" charset="0"/>
              </a:rPr>
              <a:t>cycle</a:t>
            </a:r>
            <a:r>
              <a:rPr lang="en-US" sz="1600" dirty="0">
                <a:latin typeface="Bahnschrift SemiLight" pitchFamily="34" charset="0"/>
              </a:rPr>
              <a:t> present </a:t>
            </a:r>
            <a:r>
              <a:rPr lang="en-US" sz="1600" dirty="0" smtClean="0">
                <a:latin typeface="Bahnschrift SemiLight" pitchFamily="34" charset="0"/>
              </a:rPr>
              <a:t>there </a:t>
            </a:r>
            <a:r>
              <a:rPr lang="en-US" sz="1600" dirty="0">
                <a:latin typeface="Bahnschrift SemiLight" pitchFamily="34" charset="0"/>
              </a:rPr>
              <a:t>can be a </a:t>
            </a:r>
            <a:r>
              <a:rPr lang="en-US" sz="1600" dirty="0">
                <a:solidFill>
                  <a:schemeClr val="accent2"/>
                </a:solidFill>
                <a:latin typeface="Bahnschrift SemiLight" pitchFamily="34" charset="0"/>
              </a:rPr>
              <a:t>traffic light </a:t>
            </a:r>
            <a:r>
              <a:rPr lang="en-US" sz="1600" dirty="0" smtClean="0">
                <a:latin typeface="Bahnschrift SemiLight" pitchFamily="34" charset="0"/>
              </a:rPr>
              <a:t>,</a:t>
            </a:r>
            <a:r>
              <a:rPr lang="en-US" sz="1600" dirty="0" smtClean="0">
                <a:solidFill>
                  <a:srgbClr val="0070C0"/>
                </a:solidFill>
                <a:latin typeface="Bahnschrift SemiLight" pitchFamily="34" charset="0"/>
              </a:rPr>
              <a:t>so </a:t>
            </a:r>
            <a:r>
              <a:rPr lang="en-US" sz="1600" dirty="0">
                <a:solidFill>
                  <a:srgbClr val="0070C0"/>
                </a:solidFill>
                <a:latin typeface="Bahnschrift SemiLight" pitchFamily="34" charset="0"/>
              </a:rPr>
              <a:t>from one input image ,I am getting multiple outputs in this kind of architecture</a:t>
            </a:r>
            <a:endParaRPr lang="en-IN" sz="1600" dirty="0">
              <a:solidFill>
                <a:srgbClr val="0070C0"/>
              </a:solidFill>
              <a:latin typeface="Bahnschrift SemiLight" pitchFamily="34" charset="0"/>
            </a:endParaRPr>
          </a:p>
        </p:txBody>
      </p:sp>
      <p:sp>
        <p:nvSpPr>
          <p:cNvPr id="10" name="Rectangle 9"/>
          <p:cNvSpPr/>
          <p:nvPr/>
        </p:nvSpPr>
        <p:spPr>
          <a:xfrm>
            <a:off x="1986902" y="1418495"/>
            <a:ext cx="6096000" cy="584775"/>
          </a:xfrm>
          <a:prstGeom prst="rect">
            <a:avLst/>
          </a:prstGeom>
        </p:spPr>
        <p:txBody>
          <a:bodyPr>
            <a:spAutoFit/>
          </a:bodyPr>
          <a:lstStyle/>
          <a:p>
            <a:r>
              <a:rPr lang="en-US" sz="1600" dirty="0">
                <a:latin typeface="Bahnschrift Light" pitchFamily="34" charset="0"/>
                <a:ea typeface="Arial Unicode MS" pitchFamily="34" charset="-128"/>
                <a:cs typeface="Arial Unicode MS" pitchFamily="34" charset="-128"/>
              </a:rPr>
              <a:t>i/p -&gt; </a:t>
            </a:r>
            <a:r>
              <a:rPr lang="en-US" sz="1600" dirty="0" smtClean="0">
                <a:latin typeface="Bahnschrift Light" pitchFamily="34" charset="0"/>
                <a:ea typeface="Arial Unicode MS" pitchFamily="34" charset="-128"/>
                <a:cs typeface="Arial Unicode MS" pitchFamily="34" charset="-128"/>
              </a:rPr>
              <a:t>sentence</a:t>
            </a:r>
            <a:endParaRPr lang="en-US" sz="1600" dirty="0">
              <a:latin typeface="Bahnschrift Light" pitchFamily="34" charset="0"/>
              <a:ea typeface="Arial Unicode MS" pitchFamily="34" charset="-128"/>
              <a:cs typeface="Arial Unicode MS" pitchFamily="34" charset="-128"/>
            </a:endParaRPr>
          </a:p>
          <a:p>
            <a:r>
              <a:rPr lang="en-US" sz="1600" dirty="0">
                <a:latin typeface="Bahnschrift Light" pitchFamily="34" charset="0"/>
                <a:ea typeface="Arial Unicode MS" pitchFamily="34" charset="-128"/>
                <a:cs typeface="Arial Unicode MS" pitchFamily="34" charset="-128"/>
              </a:rPr>
              <a:t>o/p -&gt; </a:t>
            </a:r>
            <a:r>
              <a:rPr lang="en-US" sz="1600" dirty="0" smtClean="0">
                <a:latin typeface="Bahnschrift Light" pitchFamily="34" charset="0"/>
                <a:ea typeface="Arial Unicode MS" pitchFamily="34" charset="-128"/>
                <a:cs typeface="Arial Unicode MS" pitchFamily="34" charset="-128"/>
              </a:rPr>
              <a:t>sentiment</a:t>
            </a:r>
            <a:endParaRPr lang="en-IN" sz="1600" dirty="0">
              <a:latin typeface="Bahnschrift Light" pitchFamily="34" charset="0"/>
              <a:ea typeface="Arial Unicode MS" pitchFamily="34" charset="-128"/>
              <a:cs typeface="Arial Unicode MS" pitchFamily="34" charset="-128"/>
            </a:endParaRPr>
          </a:p>
        </p:txBody>
      </p:sp>
      <p:sp>
        <p:nvSpPr>
          <p:cNvPr id="13" name="Rectangle 12"/>
          <p:cNvSpPr/>
          <p:nvPr/>
        </p:nvSpPr>
        <p:spPr>
          <a:xfrm>
            <a:off x="4584254" y="1710882"/>
            <a:ext cx="3375348" cy="338554"/>
          </a:xfrm>
          <a:prstGeom prst="rect">
            <a:avLst/>
          </a:prstGeom>
        </p:spPr>
        <p:txBody>
          <a:bodyPr wrap="none">
            <a:spAutoFit/>
          </a:bodyPr>
          <a:lstStyle/>
          <a:p>
            <a:r>
              <a:rPr lang="en-US" sz="1600" i="1" dirty="0"/>
              <a:t>"Movies was not good"  =&gt; "Negative"</a:t>
            </a:r>
            <a:endParaRPr lang="en-IN" sz="1600" i="1" dirty="0"/>
          </a:p>
        </p:txBody>
      </p:sp>
      <p:grpSp>
        <p:nvGrpSpPr>
          <p:cNvPr id="30" name="Group 29"/>
          <p:cNvGrpSpPr/>
          <p:nvPr/>
        </p:nvGrpSpPr>
        <p:grpSpPr>
          <a:xfrm>
            <a:off x="2378691" y="2673078"/>
            <a:ext cx="2659037" cy="1602033"/>
            <a:chOff x="2378691" y="2673078"/>
            <a:chExt cx="2659037" cy="1602033"/>
          </a:xfrm>
        </p:grpSpPr>
        <p:grpSp>
          <p:nvGrpSpPr>
            <p:cNvPr id="3" name="Group 2"/>
            <p:cNvGrpSpPr/>
            <p:nvPr/>
          </p:nvGrpSpPr>
          <p:grpSpPr>
            <a:xfrm>
              <a:off x="2378691" y="3315927"/>
              <a:ext cx="254190" cy="941553"/>
              <a:chOff x="6989359" y="2630748"/>
              <a:chExt cx="254190" cy="941553"/>
            </a:xfrm>
            <a:solidFill>
              <a:srgbClr val="002060"/>
            </a:solidFill>
          </p:grpSpPr>
          <p:sp>
            <p:nvSpPr>
              <p:cNvPr id="4" name="Oval 3"/>
              <p:cNvSpPr/>
              <p:nvPr/>
            </p:nvSpPr>
            <p:spPr>
              <a:xfrm>
                <a:off x="7014949" y="3343701"/>
                <a:ext cx="228600" cy="228600"/>
              </a:xfrm>
              <a:prstGeom prst="ellipse">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p:cNvSpPr/>
              <p:nvPr/>
            </p:nvSpPr>
            <p:spPr>
              <a:xfrm>
                <a:off x="6989359" y="2630748"/>
                <a:ext cx="228600" cy="221634"/>
              </a:xfrm>
              <a:prstGeom prst="rect">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p:cNvCxnSpPr>
                <a:stCxn id="5" idx="0"/>
                <a:endCxn id="4" idx="0"/>
              </p:cNvCxnSpPr>
              <p:nvPr/>
            </p:nvCxnSpPr>
            <p:spPr>
              <a:xfrm>
                <a:off x="7103659" y="2630748"/>
                <a:ext cx="25590" cy="712953"/>
              </a:xfrm>
              <a:prstGeom prst="line">
                <a:avLst/>
              </a:prstGeom>
              <a:grpFill/>
              <a:ln>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2518581" y="3319375"/>
              <a:ext cx="865495" cy="954542"/>
              <a:chOff x="2420772" y="3702169"/>
              <a:chExt cx="865495" cy="954542"/>
            </a:xfrm>
            <a:solidFill>
              <a:srgbClr val="002060"/>
            </a:solidFill>
          </p:grpSpPr>
          <p:sp>
            <p:nvSpPr>
              <p:cNvPr id="11" name="Oval 10"/>
              <p:cNvSpPr/>
              <p:nvPr/>
            </p:nvSpPr>
            <p:spPr>
              <a:xfrm>
                <a:off x="3031509" y="4428111"/>
                <a:ext cx="228600" cy="228600"/>
              </a:xfrm>
              <a:prstGeom prst="ellipse">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2" name="Straight Connector 11"/>
              <p:cNvCxnSpPr/>
              <p:nvPr/>
            </p:nvCxnSpPr>
            <p:spPr>
              <a:xfrm flipV="1">
                <a:off x="3145809" y="3830652"/>
                <a:ext cx="0" cy="712953"/>
              </a:xfrm>
              <a:prstGeom prst="line">
                <a:avLst/>
              </a:prstGeom>
              <a:grpFill/>
              <a:ln>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057667" y="3702169"/>
                <a:ext cx="228600" cy="221634"/>
              </a:xfrm>
              <a:prstGeom prst="rect">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7" name="Straight Connector 16"/>
              <p:cNvCxnSpPr>
                <a:endCxn id="14" idx="1"/>
              </p:cNvCxnSpPr>
              <p:nvPr/>
            </p:nvCxnSpPr>
            <p:spPr>
              <a:xfrm>
                <a:off x="2420772" y="3809538"/>
                <a:ext cx="636895" cy="3448"/>
              </a:xfrm>
              <a:prstGeom prst="line">
                <a:avLst/>
              </a:prstGeom>
              <a:grpFill/>
              <a:ln>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3429000" y="3333593"/>
              <a:ext cx="868907" cy="941518"/>
              <a:chOff x="2420772" y="3702169"/>
              <a:chExt cx="868907" cy="941518"/>
            </a:xfrm>
            <a:solidFill>
              <a:srgbClr val="002060"/>
            </a:solidFill>
          </p:grpSpPr>
          <p:sp>
            <p:nvSpPr>
              <p:cNvPr id="22" name="Oval 21"/>
              <p:cNvSpPr/>
              <p:nvPr/>
            </p:nvSpPr>
            <p:spPr>
              <a:xfrm>
                <a:off x="3061079" y="4415087"/>
                <a:ext cx="228600" cy="228600"/>
              </a:xfrm>
              <a:prstGeom prst="ellipse">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3" name="Straight Connector 22"/>
              <p:cNvCxnSpPr>
                <a:stCxn id="24" idx="2"/>
                <a:endCxn id="22" idx="0"/>
              </p:cNvCxnSpPr>
              <p:nvPr/>
            </p:nvCxnSpPr>
            <p:spPr>
              <a:xfrm>
                <a:off x="3171967" y="3923803"/>
                <a:ext cx="3412" cy="491284"/>
              </a:xfrm>
              <a:prstGeom prst="line">
                <a:avLst/>
              </a:prstGeom>
              <a:grpFill/>
              <a:ln>
                <a:solidFill>
                  <a:srgbClr val="002060"/>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3057667" y="3702169"/>
                <a:ext cx="228600" cy="221634"/>
              </a:xfrm>
              <a:prstGeom prst="rect">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5" name="Straight Connector 24"/>
              <p:cNvCxnSpPr>
                <a:endCxn id="24" idx="1"/>
              </p:cNvCxnSpPr>
              <p:nvPr/>
            </p:nvCxnSpPr>
            <p:spPr>
              <a:xfrm>
                <a:off x="2420772" y="3809538"/>
                <a:ext cx="636895" cy="3448"/>
              </a:xfrm>
              <a:prstGeom prst="line">
                <a:avLst/>
              </a:prstGeom>
              <a:grpFill/>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26" name="Oval 25"/>
            <p:cNvSpPr/>
            <p:nvPr/>
          </p:nvSpPr>
          <p:spPr>
            <a:xfrm>
              <a:off x="4809128" y="2673078"/>
              <a:ext cx="228600" cy="228600"/>
            </a:xfrm>
            <a:prstGeom prst="ellipse">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7" name="Straight Connector 26"/>
            <p:cNvCxnSpPr>
              <a:stCxn id="26" idx="4"/>
            </p:cNvCxnSpPr>
            <p:nvPr/>
          </p:nvCxnSpPr>
          <p:spPr>
            <a:xfrm>
              <a:off x="4923428" y="2901678"/>
              <a:ext cx="0" cy="38494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788654" y="3313635"/>
              <a:ext cx="228600" cy="221634"/>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9" name="Straight Connector 28"/>
            <p:cNvCxnSpPr/>
            <p:nvPr/>
          </p:nvCxnSpPr>
          <p:spPr>
            <a:xfrm>
              <a:off x="4168821" y="3444410"/>
              <a:ext cx="636895" cy="344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4998288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2" name="TextBox 1"/>
          <p:cNvSpPr txBox="1"/>
          <p:nvPr/>
        </p:nvSpPr>
        <p:spPr>
          <a:xfrm>
            <a:off x="723652" y="422238"/>
            <a:ext cx="1391791" cy="338554"/>
          </a:xfrm>
          <a:prstGeom prst="rect">
            <a:avLst/>
          </a:prstGeom>
          <a:solidFill>
            <a:srgbClr val="7030A0"/>
          </a:solidFill>
          <a:ln>
            <a:solidFill>
              <a:schemeClr val="bg1">
                <a:lumMod val="75000"/>
              </a:schemeClr>
            </a:solidFill>
          </a:ln>
        </p:spPr>
        <p:txBody>
          <a:bodyPr wrap="none" rtlCol="0">
            <a:spAutoFit/>
          </a:bodyPr>
          <a:lstStyle/>
          <a:p>
            <a:r>
              <a:rPr lang="en-US" sz="1600" dirty="0" smtClean="0">
                <a:solidFill>
                  <a:schemeClr val="bg1">
                    <a:lumMod val="95000"/>
                  </a:schemeClr>
                </a:solidFill>
              </a:rPr>
              <a:t>Many to Many</a:t>
            </a:r>
            <a:endParaRPr lang="en-IN" sz="1600" dirty="0">
              <a:solidFill>
                <a:schemeClr val="bg1">
                  <a:lumMod val="95000"/>
                </a:schemeClr>
              </a:solidFill>
            </a:endParaRPr>
          </a:p>
        </p:txBody>
      </p:sp>
      <p:sp>
        <p:nvSpPr>
          <p:cNvPr id="8" name="Rectangle 7"/>
          <p:cNvSpPr/>
          <p:nvPr/>
        </p:nvSpPr>
        <p:spPr>
          <a:xfrm>
            <a:off x="1171300" y="920229"/>
            <a:ext cx="7757893" cy="338554"/>
          </a:xfrm>
          <a:prstGeom prst="rect">
            <a:avLst/>
          </a:prstGeom>
        </p:spPr>
        <p:txBody>
          <a:bodyPr wrap="none">
            <a:spAutoFit/>
          </a:bodyPr>
          <a:lstStyle/>
          <a:p>
            <a:r>
              <a:rPr lang="en-US" sz="1600" i="1" dirty="0"/>
              <a:t>which means in the input we can </a:t>
            </a:r>
            <a:r>
              <a:rPr lang="en-US" sz="1600" i="1" dirty="0" smtClean="0"/>
              <a:t>pass multiple input and we also  receive multiple outputs</a:t>
            </a:r>
            <a:endParaRPr lang="en-IN" sz="1600" i="1" dirty="0"/>
          </a:p>
        </p:txBody>
      </p:sp>
      <p:sp>
        <p:nvSpPr>
          <p:cNvPr id="9" name="Rectangle 8"/>
          <p:cNvSpPr/>
          <p:nvPr/>
        </p:nvSpPr>
        <p:spPr>
          <a:xfrm>
            <a:off x="1032682" y="4931815"/>
            <a:ext cx="10990996" cy="830997"/>
          </a:xfrm>
          <a:prstGeom prst="rect">
            <a:avLst/>
          </a:prstGeom>
        </p:spPr>
        <p:txBody>
          <a:bodyPr wrap="square">
            <a:spAutoFit/>
          </a:bodyPr>
          <a:lstStyle/>
          <a:p>
            <a:r>
              <a:rPr lang="en-US" sz="1600" dirty="0">
                <a:latin typeface="Bahnschrift SemiLight" pitchFamily="34" charset="0"/>
              </a:rPr>
              <a:t>if I give my input as an image so my output can be multiple things that are present in that image </a:t>
            </a:r>
            <a:r>
              <a:rPr lang="en-US" sz="1600" dirty="0" smtClean="0">
                <a:latin typeface="Bahnschrift SemiLight" pitchFamily="34" charset="0"/>
              </a:rPr>
              <a:t>for </a:t>
            </a:r>
            <a:r>
              <a:rPr lang="en-US" sz="1600" dirty="0">
                <a:latin typeface="Bahnschrift SemiLight" pitchFamily="34" charset="0"/>
              </a:rPr>
              <a:t>example there can be a </a:t>
            </a:r>
            <a:r>
              <a:rPr lang="en-US" sz="1600" dirty="0">
                <a:solidFill>
                  <a:schemeClr val="accent2"/>
                </a:solidFill>
                <a:latin typeface="Bahnschrift SemiLight" pitchFamily="34" charset="0"/>
              </a:rPr>
              <a:t>bus present </a:t>
            </a:r>
            <a:r>
              <a:rPr lang="en-US" sz="1600" dirty="0" smtClean="0">
                <a:latin typeface="Bahnschrift SemiLight" pitchFamily="34" charset="0"/>
              </a:rPr>
              <a:t>,there </a:t>
            </a:r>
            <a:r>
              <a:rPr lang="en-US" sz="1600" dirty="0">
                <a:latin typeface="Bahnschrift SemiLight" pitchFamily="34" charset="0"/>
              </a:rPr>
              <a:t>can be a </a:t>
            </a:r>
            <a:r>
              <a:rPr lang="en-US" sz="1600" dirty="0">
                <a:solidFill>
                  <a:schemeClr val="accent2"/>
                </a:solidFill>
                <a:latin typeface="Bahnschrift SemiLight" pitchFamily="34" charset="0"/>
              </a:rPr>
              <a:t>truck </a:t>
            </a:r>
            <a:r>
              <a:rPr lang="en-US" sz="1600" dirty="0" smtClean="0">
                <a:solidFill>
                  <a:schemeClr val="accent2"/>
                </a:solidFill>
                <a:latin typeface="Bahnschrift SemiLight" pitchFamily="34" charset="0"/>
              </a:rPr>
              <a:t>present </a:t>
            </a:r>
            <a:r>
              <a:rPr lang="en-US" sz="1600" dirty="0" smtClean="0">
                <a:latin typeface="Bahnschrift SemiLight" pitchFamily="34" charset="0"/>
              </a:rPr>
              <a:t>,there </a:t>
            </a:r>
            <a:r>
              <a:rPr lang="en-US" sz="1600" dirty="0">
                <a:latin typeface="Bahnschrift SemiLight" pitchFamily="34" charset="0"/>
              </a:rPr>
              <a:t>can be a let's say </a:t>
            </a:r>
            <a:r>
              <a:rPr lang="en-US" sz="1600" dirty="0">
                <a:solidFill>
                  <a:schemeClr val="accent2"/>
                </a:solidFill>
                <a:latin typeface="Bahnschrift SemiLight" pitchFamily="34" charset="0"/>
              </a:rPr>
              <a:t>bicycle</a:t>
            </a:r>
            <a:r>
              <a:rPr lang="en-US" sz="1600" dirty="0">
                <a:latin typeface="Bahnschrift SemiLight" pitchFamily="34" charset="0"/>
              </a:rPr>
              <a:t> or </a:t>
            </a:r>
            <a:r>
              <a:rPr lang="en-US" sz="1600" dirty="0">
                <a:solidFill>
                  <a:schemeClr val="accent2"/>
                </a:solidFill>
                <a:latin typeface="Bahnschrift SemiLight" pitchFamily="34" charset="0"/>
              </a:rPr>
              <a:t>cycle</a:t>
            </a:r>
            <a:r>
              <a:rPr lang="en-US" sz="1600" dirty="0">
                <a:latin typeface="Bahnschrift SemiLight" pitchFamily="34" charset="0"/>
              </a:rPr>
              <a:t> present </a:t>
            </a:r>
            <a:r>
              <a:rPr lang="en-US" sz="1600" dirty="0" smtClean="0">
                <a:latin typeface="Bahnschrift SemiLight" pitchFamily="34" charset="0"/>
              </a:rPr>
              <a:t>there </a:t>
            </a:r>
            <a:r>
              <a:rPr lang="en-US" sz="1600" dirty="0">
                <a:latin typeface="Bahnschrift SemiLight" pitchFamily="34" charset="0"/>
              </a:rPr>
              <a:t>can be a </a:t>
            </a:r>
            <a:r>
              <a:rPr lang="en-US" sz="1600" dirty="0">
                <a:solidFill>
                  <a:schemeClr val="accent2"/>
                </a:solidFill>
                <a:latin typeface="Bahnschrift SemiLight" pitchFamily="34" charset="0"/>
              </a:rPr>
              <a:t>traffic light </a:t>
            </a:r>
            <a:r>
              <a:rPr lang="en-US" sz="1600" dirty="0" smtClean="0">
                <a:latin typeface="Bahnschrift SemiLight" pitchFamily="34" charset="0"/>
              </a:rPr>
              <a:t>,</a:t>
            </a:r>
            <a:r>
              <a:rPr lang="en-US" sz="1600" dirty="0" smtClean="0">
                <a:solidFill>
                  <a:srgbClr val="0070C0"/>
                </a:solidFill>
                <a:latin typeface="Bahnschrift SemiLight" pitchFamily="34" charset="0"/>
              </a:rPr>
              <a:t>so </a:t>
            </a:r>
            <a:r>
              <a:rPr lang="en-US" sz="1600" dirty="0">
                <a:solidFill>
                  <a:srgbClr val="0070C0"/>
                </a:solidFill>
                <a:latin typeface="Bahnschrift SemiLight" pitchFamily="34" charset="0"/>
              </a:rPr>
              <a:t>from one input image ,I am getting multiple outputs in this kind of architecture</a:t>
            </a:r>
            <a:endParaRPr lang="en-IN" sz="1600" dirty="0">
              <a:solidFill>
                <a:srgbClr val="0070C0"/>
              </a:solidFill>
              <a:latin typeface="Bahnschrift SemiLight" pitchFamily="34" charset="0"/>
            </a:endParaRPr>
          </a:p>
        </p:txBody>
      </p:sp>
      <p:sp>
        <p:nvSpPr>
          <p:cNvPr id="10" name="Rectangle 9"/>
          <p:cNvSpPr/>
          <p:nvPr/>
        </p:nvSpPr>
        <p:spPr>
          <a:xfrm>
            <a:off x="1986902" y="1418495"/>
            <a:ext cx="6096000" cy="584775"/>
          </a:xfrm>
          <a:prstGeom prst="rect">
            <a:avLst/>
          </a:prstGeom>
        </p:spPr>
        <p:txBody>
          <a:bodyPr>
            <a:spAutoFit/>
          </a:bodyPr>
          <a:lstStyle/>
          <a:p>
            <a:r>
              <a:rPr lang="en-US" sz="1600" dirty="0">
                <a:latin typeface="Bahnschrift Light" pitchFamily="34" charset="0"/>
                <a:ea typeface="Arial Unicode MS" pitchFamily="34" charset="-128"/>
                <a:cs typeface="Arial Unicode MS" pitchFamily="34" charset="-128"/>
              </a:rPr>
              <a:t>i/p -&gt; </a:t>
            </a:r>
            <a:r>
              <a:rPr lang="en-US" sz="1600" dirty="0" smtClean="0">
                <a:latin typeface="Bahnschrift Light" pitchFamily="34" charset="0"/>
                <a:ea typeface="Arial Unicode MS" pitchFamily="34" charset="-128"/>
                <a:cs typeface="Arial Unicode MS" pitchFamily="34" charset="-128"/>
              </a:rPr>
              <a:t>sentence</a:t>
            </a:r>
            <a:endParaRPr lang="en-US" sz="1600" dirty="0">
              <a:latin typeface="Bahnschrift Light" pitchFamily="34" charset="0"/>
              <a:ea typeface="Arial Unicode MS" pitchFamily="34" charset="-128"/>
              <a:cs typeface="Arial Unicode MS" pitchFamily="34" charset="-128"/>
            </a:endParaRPr>
          </a:p>
          <a:p>
            <a:r>
              <a:rPr lang="en-US" sz="1600" dirty="0">
                <a:latin typeface="Bahnschrift Light" pitchFamily="34" charset="0"/>
                <a:ea typeface="Arial Unicode MS" pitchFamily="34" charset="-128"/>
                <a:cs typeface="Arial Unicode MS" pitchFamily="34" charset="-128"/>
              </a:rPr>
              <a:t>o/p -&gt; sentence</a:t>
            </a:r>
            <a:endParaRPr lang="en-IN" sz="1600" dirty="0">
              <a:latin typeface="Bahnschrift Light" pitchFamily="34" charset="0"/>
              <a:ea typeface="Arial Unicode MS" pitchFamily="34" charset="-128"/>
              <a:cs typeface="Arial Unicode MS" pitchFamily="34" charset="-128"/>
            </a:endParaRPr>
          </a:p>
        </p:txBody>
      </p:sp>
      <p:sp>
        <p:nvSpPr>
          <p:cNvPr id="13" name="Rectangle 12"/>
          <p:cNvSpPr/>
          <p:nvPr/>
        </p:nvSpPr>
        <p:spPr>
          <a:xfrm>
            <a:off x="4584254" y="1710882"/>
            <a:ext cx="4180503" cy="338554"/>
          </a:xfrm>
          <a:prstGeom prst="rect">
            <a:avLst/>
          </a:prstGeom>
        </p:spPr>
        <p:txBody>
          <a:bodyPr wrap="none">
            <a:spAutoFit/>
          </a:bodyPr>
          <a:lstStyle/>
          <a:p>
            <a:r>
              <a:rPr lang="en-US" sz="1600" i="1" dirty="0" smtClean="0"/>
              <a:t>Sentence Translator – English to Hindi translator</a:t>
            </a:r>
            <a:endParaRPr lang="en-IN" sz="1600" i="1" dirty="0"/>
          </a:p>
        </p:txBody>
      </p:sp>
      <p:grpSp>
        <p:nvGrpSpPr>
          <p:cNvPr id="16" name="Group 15"/>
          <p:cNvGrpSpPr/>
          <p:nvPr/>
        </p:nvGrpSpPr>
        <p:grpSpPr>
          <a:xfrm>
            <a:off x="2115443" y="2511188"/>
            <a:ext cx="2468811" cy="2088108"/>
            <a:chOff x="2115443" y="2511188"/>
            <a:chExt cx="2468811" cy="2088108"/>
          </a:xfrm>
        </p:grpSpPr>
        <p:grpSp>
          <p:nvGrpSpPr>
            <p:cNvPr id="30" name="Group 29"/>
            <p:cNvGrpSpPr/>
            <p:nvPr/>
          </p:nvGrpSpPr>
          <p:grpSpPr>
            <a:xfrm>
              <a:off x="2378691" y="3315927"/>
              <a:ext cx="1919216" cy="959184"/>
              <a:chOff x="2378691" y="3315927"/>
              <a:chExt cx="1919216" cy="959184"/>
            </a:xfrm>
            <a:solidFill>
              <a:srgbClr val="7030A0"/>
            </a:solidFill>
          </p:grpSpPr>
          <p:grpSp>
            <p:nvGrpSpPr>
              <p:cNvPr id="3" name="Group 2"/>
              <p:cNvGrpSpPr/>
              <p:nvPr/>
            </p:nvGrpSpPr>
            <p:grpSpPr>
              <a:xfrm>
                <a:off x="2378691" y="3315927"/>
                <a:ext cx="254190" cy="941553"/>
                <a:chOff x="6989359" y="2630748"/>
                <a:chExt cx="254190" cy="941553"/>
              </a:xfrm>
              <a:grpFill/>
            </p:grpSpPr>
            <p:sp>
              <p:nvSpPr>
                <p:cNvPr id="4" name="Oval 3"/>
                <p:cNvSpPr/>
                <p:nvPr/>
              </p:nvSpPr>
              <p:spPr>
                <a:xfrm>
                  <a:off x="7014949" y="3343701"/>
                  <a:ext cx="228600" cy="228600"/>
                </a:xfrm>
                <a:prstGeom prst="ellipse">
                  <a:avLst/>
                </a:prstGeom>
                <a:grp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p:cNvSpPr/>
                <p:nvPr/>
              </p:nvSpPr>
              <p:spPr>
                <a:xfrm>
                  <a:off x="6989359" y="2630748"/>
                  <a:ext cx="228600" cy="221634"/>
                </a:xfrm>
                <a:prstGeom prst="rect">
                  <a:avLst/>
                </a:prstGeom>
                <a:grp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p:cNvCxnSpPr>
                  <a:stCxn id="5" idx="0"/>
                  <a:endCxn id="4" idx="0"/>
                </p:cNvCxnSpPr>
                <p:nvPr/>
              </p:nvCxnSpPr>
              <p:spPr>
                <a:xfrm>
                  <a:off x="7103659" y="2630748"/>
                  <a:ext cx="25590" cy="712953"/>
                </a:xfrm>
                <a:prstGeom prst="line">
                  <a:avLst/>
                </a:prstGeom>
                <a:grpFill/>
                <a:ln>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2518581" y="3319375"/>
                <a:ext cx="865495" cy="954542"/>
                <a:chOff x="2420772" y="3702169"/>
                <a:chExt cx="865495" cy="954542"/>
              </a:xfrm>
              <a:grpFill/>
            </p:grpSpPr>
            <p:sp>
              <p:nvSpPr>
                <p:cNvPr id="11" name="Oval 10"/>
                <p:cNvSpPr/>
                <p:nvPr/>
              </p:nvSpPr>
              <p:spPr>
                <a:xfrm>
                  <a:off x="3031509" y="4428111"/>
                  <a:ext cx="228600" cy="228600"/>
                </a:xfrm>
                <a:prstGeom prst="ellipse">
                  <a:avLst/>
                </a:prstGeom>
                <a:grp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2" name="Straight Connector 11"/>
                <p:cNvCxnSpPr/>
                <p:nvPr/>
              </p:nvCxnSpPr>
              <p:spPr>
                <a:xfrm flipV="1">
                  <a:off x="3145809" y="3830652"/>
                  <a:ext cx="0" cy="712953"/>
                </a:xfrm>
                <a:prstGeom prst="line">
                  <a:avLst/>
                </a:prstGeom>
                <a:grpFill/>
                <a:ln>
                  <a:solidFill>
                    <a:srgbClr val="7030A0"/>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057667" y="3702169"/>
                  <a:ext cx="228600" cy="221634"/>
                </a:xfrm>
                <a:prstGeom prst="rect">
                  <a:avLst/>
                </a:prstGeom>
                <a:grp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7" name="Straight Connector 16"/>
                <p:cNvCxnSpPr>
                  <a:endCxn id="14" idx="1"/>
                </p:cNvCxnSpPr>
                <p:nvPr/>
              </p:nvCxnSpPr>
              <p:spPr>
                <a:xfrm>
                  <a:off x="2420772" y="3809538"/>
                  <a:ext cx="636895" cy="3448"/>
                </a:xfrm>
                <a:prstGeom prst="line">
                  <a:avLst/>
                </a:prstGeom>
                <a:grpFill/>
                <a:ln>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3429000" y="3333593"/>
                <a:ext cx="868907" cy="941518"/>
                <a:chOff x="2420772" y="3702169"/>
                <a:chExt cx="868907" cy="941518"/>
              </a:xfrm>
              <a:grpFill/>
            </p:grpSpPr>
            <p:sp>
              <p:nvSpPr>
                <p:cNvPr id="22" name="Oval 21"/>
                <p:cNvSpPr/>
                <p:nvPr/>
              </p:nvSpPr>
              <p:spPr>
                <a:xfrm>
                  <a:off x="3061079" y="4415087"/>
                  <a:ext cx="228600" cy="228600"/>
                </a:xfrm>
                <a:prstGeom prst="ellipse">
                  <a:avLst/>
                </a:prstGeom>
                <a:grp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3" name="Straight Connector 22"/>
                <p:cNvCxnSpPr>
                  <a:stCxn id="24" idx="2"/>
                  <a:endCxn id="22" idx="0"/>
                </p:cNvCxnSpPr>
                <p:nvPr/>
              </p:nvCxnSpPr>
              <p:spPr>
                <a:xfrm>
                  <a:off x="3171967" y="3923803"/>
                  <a:ext cx="3412" cy="491284"/>
                </a:xfrm>
                <a:prstGeom prst="line">
                  <a:avLst/>
                </a:prstGeom>
                <a:grpFill/>
                <a:ln>
                  <a:solidFill>
                    <a:srgbClr val="7030A0"/>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3057667" y="3702169"/>
                  <a:ext cx="228600" cy="221634"/>
                </a:xfrm>
                <a:prstGeom prst="rect">
                  <a:avLst/>
                </a:prstGeom>
                <a:grp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5" name="Straight Connector 24"/>
                <p:cNvCxnSpPr>
                  <a:endCxn id="24" idx="1"/>
                </p:cNvCxnSpPr>
                <p:nvPr/>
              </p:nvCxnSpPr>
              <p:spPr>
                <a:xfrm>
                  <a:off x="2420772" y="3809538"/>
                  <a:ext cx="636895" cy="3448"/>
                </a:xfrm>
                <a:prstGeom prst="line">
                  <a:avLst/>
                </a:prstGeom>
                <a:grpFill/>
                <a:ln>
                  <a:solidFill>
                    <a:srgbClr val="7030A0"/>
                  </a:solidFill>
                </a:ln>
              </p:spPr>
              <p:style>
                <a:lnRef idx="1">
                  <a:schemeClr val="accent1"/>
                </a:lnRef>
                <a:fillRef idx="0">
                  <a:schemeClr val="accent1"/>
                </a:fillRef>
                <a:effectRef idx="0">
                  <a:schemeClr val="accent1"/>
                </a:effectRef>
                <a:fontRef idx="minor">
                  <a:schemeClr val="tx1"/>
                </a:fontRef>
              </p:style>
            </p:cxnSp>
          </p:grpSp>
        </p:grpSp>
        <p:grpSp>
          <p:nvGrpSpPr>
            <p:cNvPr id="6" name="Group 5"/>
            <p:cNvGrpSpPr/>
            <p:nvPr/>
          </p:nvGrpSpPr>
          <p:grpSpPr>
            <a:xfrm>
              <a:off x="4069307" y="2723104"/>
              <a:ext cx="228600" cy="613546"/>
              <a:chOff x="6121588" y="2768435"/>
              <a:chExt cx="228600" cy="613546"/>
            </a:xfrm>
            <a:solidFill>
              <a:srgbClr val="7030A0"/>
            </a:solidFill>
          </p:grpSpPr>
          <p:sp>
            <p:nvSpPr>
              <p:cNvPr id="31" name="Oval 30"/>
              <p:cNvSpPr/>
              <p:nvPr/>
            </p:nvSpPr>
            <p:spPr>
              <a:xfrm>
                <a:off x="6121588" y="2768435"/>
                <a:ext cx="228600" cy="228600"/>
              </a:xfrm>
              <a:prstGeom prst="ellipse">
                <a:avLst/>
              </a:prstGeom>
              <a:grp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32" name="Straight Connector 31"/>
              <p:cNvCxnSpPr>
                <a:stCxn id="31" idx="4"/>
              </p:cNvCxnSpPr>
              <p:nvPr/>
            </p:nvCxnSpPr>
            <p:spPr>
              <a:xfrm>
                <a:off x="6235888" y="2997035"/>
                <a:ext cx="0" cy="384946"/>
              </a:xfrm>
              <a:prstGeom prst="line">
                <a:avLst/>
              </a:prstGeom>
              <a:grpFill/>
              <a:ln>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3155476" y="2714681"/>
              <a:ext cx="228600" cy="613546"/>
              <a:chOff x="6121588" y="2768435"/>
              <a:chExt cx="228600" cy="613546"/>
            </a:xfrm>
            <a:solidFill>
              <a:srgbClr val="7030A0"/>
            </a:solidFill>
          </p:grpSpPr>
          <p:sp>
            <p:nvSpPr>
              <p:cNvPr id="34" name="Oval 33"/>
              <p:cNvSpPr/>
              <p:nvPr/>
            </p:nvSpPr>
            <p:spPr>
              <a:xfrm>
                <a:off x="6121588" y="2768435"/>
                <a:ext cx="228600" cy="228600"/>
              </a:xfrm>
              <a:prstGeom prst="ellipse">
                <a:avLst/>
              </a:prstGeom>
              <a:grp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35" name="Straight Connector 34"/>
              <p:cNvCxnSpPr>
                <a:stCxn id="34" idx="4"/>
              </p:cNvCxnSpPr>
              <p:nvPr/>
            </p:nvCxnSpPr>
            <p:spPr>
              <a:xfrm>
                <a:off x="6235888" y="2997035"/>
                <a:ext cx="0" cy="384946"/>
              </a:xfrm>
              <a:prstGeom prst="line">
                <a:avLst/>
              </a:prstGeom>
              <a:grpFill/>
              <a:ln>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36" name="Group 35"/>
            <p:cNvGrpSpPr/>
            <p:nvPr/>
          </p:nvGrpSpPr>
          <p:grpSpPr>
            <a:xfrm>
              <a:off x="2378691" y="2702381"/>
              <a:ext cx="228600" cy="613546"/>
              <a:chOff x="6121588" y="2768435"/>
              <a:chExt cx="228600" cy="613546"/>
            </a:xfrm>
            <a:solidFill>
              <a:srgbClr val="7030A0"/>
            </a:solidFill>
          </p:grpSpPr>
          <p:sp>
            <p:nvSpPr>
              <p:cNvPr id="37" name="Oval 36"/>
              <p:cNvSpPr/>
              <p:nvPr/>
            </p:nvSpPr>
            <p:spPr>
              <a:xfrm>
                <a:off x="6121588" y="2768435"/>
                <a:ext cx="228600" cy="228600"/>
              </a:xfrm>
              <a:prstGeom prst="ellipse">
                <a:avLst/>
              </a:prstGeom>
              <a:grp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38" name="Straight Connector 37"/>
              <p:cNvCxnSpPr>
                <a:stCxn id="37" idx="4"/>
              </p:cNvCxnSpPr>
              <p:nvPr/>
            </p:nvCxnSpPr>
            <p:spPr>
              <a:xfrm>
                <a:off x="6235888" y="2997035"/>
                <a:ext cx="0" cy="384946"/>
              </a:xfrm>
              <a:prstGeom prst="line">
                <a:avLst/>
              </a:prstGeom>
              <a:grpFill/>
              <a:ln>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5" name="Rectangle 14"/>
            <p:cNvSpPr/>
            <p:nvPr/>
          </p:nvSpPr>
          <p:spPr>
            <a:xfrm>
              <a:off x="2115443" y="2511188"/>
              <a:ext cx="2468811" cy="2088108"/>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380753685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6" name="Group 5"/>
          <p:cNvGrpSpPr/>
          <p:nvPr/>
        </p:nvGrpSpPr>
        <p:grpSpPr>
          <a:xfrm>
            <a:off x="331386" y="206795"/>
            <a:ext cx="5032184" cy="323165"/>
            <a:chOff x="191069" y="326704"/>
            <a:chExt cx="5032184" cy="323165"/>
          </a:xfrm>
        </p:grpSpPr>
        <p:sp>
          <p:nvSpPr>
            <p:cNvPr id="3" name="TextBox 2"/>
            <p:cNvSpPr txBox="1"/>
            <p:nvPr/>
          </p:nvSpPr>
          <p:spPr>
            <a:xfrm>
              <a:off x="331386" y="326704"/>
              <a:ext cx="4785284" cy="323165"/>
            </a:xfrm>
            <a:prstGeom prst="rect">
              <a:avLst/>
            </a:prstGeom>
            <a:solidFill>
              <a:srgbClr val="0070C0"/>
            </a:solidFill>
          </p:spPr>
          <p:txBody>
            <a:bodyPr wrap="none" rtlCol="0">
              <a:spAutoFit/>
            </a:bodyPr>
            <a:lstStyle/>
            <a:p>
              <a:r>
                <a:rPr lang="en-US" sz="1500" dirty="0" smtClean="0">
                  <a:solidFill>
                    <a:schemeClr val="bg1">
                      <a:lumMod val="95000"/>
                    </a:schemeClr>
                  </a:solidFill>
                  <a:latin typeface="Bahnschrift Light" pitchFamily="34" charset="0"/>
                </a:rPr>
                <a:t>Problem  of RNN / what is difficulty to work with RNN</a:t>
              </a:r>
              <a:endParaRPr lang="en-IN" sz="1500" dirty="0">
                <a:solidFill>
                  <a:schemeClr val="bg1">
                    <a:lumMod val="95000"/>
                  </a:schemeClr>
                </a:solidFill>
                <a:latin typeface="Bahnschrift Light" pitchFamily="34" charset="0"/>
              </a:endParaRPr>
            </a:p>
          </p:txBody>
        </p:sp>
        <p:cxnSp>
          <p:nvCxnSpPr>
            <p:cNvPr id="5" name="Straight Connector 4"/>
            <p:cNvCxnSpPr/>
            <p:nvPr/>
          </p:nvCxnSpPr>
          <p:spPr>
            <a:xfrm>
              <a:off x="191069" y="634481"/>
              <a:ext cx="5032184"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7" name="Straight Connector 6"/>
          <p:cNvCxnSpPr/>
          <p:nvPr/>
        </p:nvCxnSpPr>
        <p:spPr>
          <a:xfrm flipV="1">
            <a:off x="1719618" y="1665027"/>
            <a:ext cx="4599295" cy="8188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234519" y="1924334"/>
            <a:ext cx="4995081" cy="259308"/>
          </a:xfrm>
          <a:prstGeom prst="line">
            <a:avLst/>
          </a:prstGeom>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3780430" y="2701414"/>
            <a:ext cx="5445457" cy="369332"/>
            <a:chOff x="3780430" y="2701414"/>
            <a:chExt cx="5445457" cy="369332"/>
          </a:xfrm>
        </p:grpSpPr>
        <p:cxnSp>
          <p:nvCxnSpPr>
            <p:cNvPr id="13" name="Straight Connector 12"/>
            <p:cNvCxnSpPr/>
            <p:nvPr/>
          </p:nvCxnSpPr>
          <p:spPr>
            <a:xfrm>
              <a:off x="3780430" y="3070746"/>
              <a:ext cx="5445457"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572001" y="2701414"/>
              <a:ext cx="875304" cy="338554"/>
            </a:xfrm>
            <a:prstGeom prst="rect">
              <a:avLst/>
            </a:prstGeom>
            <a:noFill/>
          </p:spPr>
          <p:txBody>
            <a:bodyPr wrap="none" rtlCol="0">
              <a:spAutoFit/>
            </a:bodyPr>
            <a:lstStyle/>
            <a:p>
              <a:r>
                <a:rPr lang="en-US" sz="1600" dirty="0" smtClean="0"/>
                <a:t>Leftover</a:t>
              </a:r>
              <a:endParaRPr lang="en-IN" dirty="0"/>
            </a:p>
          </p:txBody>
        </p:sp>
      </p:grpSp>
      <p:grpSp>
        <p:nvGrpSpPr>
          <p:cNvPr id="19" name="Group 18"/>
          <p:cNvGrpSpPr/>
          <p:nvPr/>
        </p:nvGrpSpPr>
        <p:grpSpPr>
          <a:xfrm>
            <a:off x="2847478" y="3513596"/>
            <a:ext cx="7115388" cy="307777"/>
            <a:chOff x="2847478" y="3513596"/>
            <a:chExt cx="7115388" cy="307777"/>
          </a:xfrm>
        </p:grpSpPr>
        <p:sp>
          <p:nvSpPr>
            <p:cNvPr id="16" name="Rectangle 15"/>
            <p:cNvSpPr/>
            <p:nvPr/>
          </p:nvSpPr>
          <p:spPr>
            <a:xfrm>
              <a:off x="4314546" y="3513596"/>
              <a:ext cx="4377224" cy="307777"/>
            </a:xfrm>
            <a:prstGeom prst="rect">
              <a:avLst/>
            </a:prstGeom>
            <a:solidFill>
              <a:schemeClr val="accent5">
                <a:lumMod val="20000"/>
                <a:lumOff val="80000"/>
              </a:schemeClr>
            </a:solidFill>
            <a:ln>
              <a:solidFill>
                <a:schemeClr val="accent5"/>
              </a:solidFill>
            </a:ln>
          </p:spPr>
          <p:txBody>
            <a:bodyPr wrap="none">
              <a:spAutoFit/>
            </a:bodyPr>
            <a:lstStyle/>
            <a:p>
              <a:r>
                <a:rPr lang="en-IN" sz="1400" dirty="0"/>
                <a:t>https://www.youtube.com/watch?v=6ig4Mpbi0a8&amp;t=37s</a:t>
              </a:r>
            </a:p>
          </p:txBody>
        </p:sp>
        <p:cxnSp>
          <p:nvCxnSpPr>
            <p:cNvPr id="18" name="Straight Arrow Connector 17"/>
            <p:cNvCxnSpPr/>
            <p:nvPr/>
          </p:nvCxnSpPr>
          <p:spPr>
            <a:xfrm>
              <a:off x="2847478" y="3821373"/>
              <a:ext cx="71153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8539576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3" name="Group 2"/>
          <p:cNvGrpSpPr/>
          <p:nvPr/>
        </p:nvGrpSpPr>
        <p:grpSpPr>
          <a:xfrm>
            <a:off x="3091432" y="2409612"/>
            <a:ext cx="5570750" cy="1438275"/>
            <a:chOff x="3091432" y="2409612"/>
            <a:chExt cx="5570750" cy="1438275"/>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1432" y="2409612"/>
              <a:ext cx="4562475"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7478973" y="2449070"/>
              <a:ext cx="1183209" cy="307777"/>
            </a:xfrm>
            <a:prstGeom prst="rect">
              <a:avLst/>
            </a:prstGeom>
            <a:noFill/>
          </p:spPr>
          <p:txBody>
            <a:bodyPr wrap="none" rtlCol="0">
              <a:spAutoFit/>
            </a:bodyPr>
            <a:lstStyle/>
            <a:p>
              <a:r>
                <a:rPr lang="en-US" sz="1400" dirty="0" smtClean="0"/>
                <a:t>Need to learn</a:t>
              </a:r>
              <a:endParaRPr lang="en-IN" sz="1400" dirty="0"/>
            </a:p>
          </p:txBody>
        </p:sp>
      </p:grpSp>
    </p:spTree>
    <p:extLst>
      <p:ext uri="{BB962C8B-B14F-4D97-AF65-F5344CB8AC3E}">
        <p14:creationId xmlns:p14="http://schemas.microsoft.com/office/powerpoint/2010/main" val="210328302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Tree>
    <p:extLst>
      <p:ext uri="{BB962C8B-B14F-4D97-AF65-F5344CB8AC3E}">
        <p14:creationId xmlns:p14="http://schemas.microsoft.com/office/powerpoint/2010/main" val="366704753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2" name="Group 1"/>
          <p:cNvGrpSpPr/>
          <p:nvPr/>
        </p:nvGrpSpPr>
        <p:grpSpPr>
          <a:xfrm>
            <a:off x="27363" y="241191"/>
            <a:ext cx="3130119" cy="340134"/>
            <a:chOff x="1492971" y="258160"/>
            <a:chExt cx="3130119" cy="340134"/>
          </a:xfrm>
          <a:solidFill>
            <a:srgbClr val="FF4B21"/>
          </a:solidFill>
        </p:grpSpPr>
        <p:sp>
          <p:nvSpPr>
            <p:cNvPr id="3" name="Rectangle 2"/>
            <p:cNvSpPr/>
            <p:nvPr/>
          </p:nvSpPr>
          <p:spPr>
            <a:xfrm>
              <a:off x="1492971" y="258160"/>
              <a:ext cx="3130119" cy="323165"/>
            </a:xfrm>
            <a:prstGeom prst="rect">
              <a:avLst/>
            </a:prstGeom>
            <a:grpFill/>
            <a:ln>
              <a:solidFill>
                <a:srgbClr val="FF6743"/>
              </a:solidFill>
            </a:ln>
          </p:spPr>
          <p:txBody>
            <a:bodyPr wrap="square" rtlCol="0">
              <a:spAutoFit/>
            </a:bodyPr>
            <a:lstStyle/>
            <a:p>
              <a:r>
                <a:rPr lang="en-IN" sz="1500" dirty="0" smtClean="0">
                  <a:solidFill>
                    <a:schemeClr val="bg1"/>
                  </a:solidFill>
                  <a:latin typeface="Arial Rounded MT Bold" pitchFamily="34" charset="0"/>
                  <a:ea typeface="Arial Unicode MS" pitchFamily="34" charset="-128"/>
                  <a:cs typeface="Arial Unicode MS" pitchFamily="34" charset="-128"/>
                </a:rPr>
                <a:t>Important Term</a:t>
              </a:r>
              <a:endParaRPr lang="en-IN" sz="1500" dirty="0">
                <a:solidFill>
                  <a:schemeClr val="bg1"/>
                </a:solidFill>
                <a:latin typeface="Arial Rounded MT Bold" pitchFamily="34" charset="0"/>
                <a:ea typeface="Arial Unicode MS" pitchFamily="34" charset="-128"/>
                <a:cs typeface="Arial Unicode MS" pitchFamily="34" charset="-128"/>
              </a:endParaRPr>
            </a:p>
          </p:txBody>
        </p:sp>
        <p:cxnSp>
          <p:nvCxnSpPr>
            <p:cNvPr id="4" name="Straight Connector 3"/>
            <p:cNvCxnSpPr/>
            <p:nvPr/>
          </p:nvCxnSpPr>
          <p:spPr>
            <a:xfrm>
              <a:off x="1492971" y="598294"/>
              <a:ext cx="3130119" cy="0"/>
            </a:xfrm>
            <a:prstGeom prst="line">
              <a:avLst/>
            </a:prstGeom>
            <a:grpFill/>
            <a:ln>
              <a:solidFill>
                <a:srgbClr val="FF6743"/>
              </a:solidFill>
            </a:ln>
          </p:spPr>
          <p:style>
            <a:lnRef idx="1">
              <a:schemeClr val="accent1"/>
            </a:lnRef>
            <a:fillRef idx="0">
              <a:schemeClr val="accent1"/>
            </a:fillRef>
            <a:effectRef idx="0">
              <a:schemeClr val="accent1"/>
            </a:effectRef>
            <a:fontRef idx="minor">
              <a:schemeClr val="tx1"/>
            </a:fontRef>
          </p:style>
        </p:cxnSp>
      </p:grpSp>
      <p:sp>
        <p:nvSpPr>
          <p:cNvPr id="6" name="TextBox 5"/>
          <p:cNvSpPr txBox="1"/>
          <p:nvPr/>
        </p:nvSpPr>
        <p:spPr>
          <a:xfrm>
            <a:off x="3578395" y="1992209"/>
            <a:ext cx="1325106" cy="338554"/>
          </a:xfrm>
          <a:prstGeom prst="rect">
            <a:avLst/>
          </a:prstGeom>
          <a:solidFill>
            <a:srgbClr val="FF6743"/>
          </a:solidFill>
          <a:ln>
            <a:solidFill>
              <a:srgbClr val="FF6743"/>
            </a:solidFill>
          </a:ln>
        </p:spPr>
        <p:txBody>
          <a:bodyPr wrap="none" rtlCol="0">
            <a:spAutoFit/>
          </a:bodyPr>
          <a:lstStyle/>
          <a:p>
            <a:r>
              <a:rPr lang="en-US" sz="1600" dirty="0" smtClean="0">
                <a:solidFill>
                  <a:schemeClr val="bg1"/>
                </a:solidFill>
              </a:rPr>
              <a:t>Learning Rate</a:t>
            </a:r>
            <a:endParaRPr lang="en-IN" sz="1600" dirty="0">
              <a:solidFill>
                <a:schemeClr val="bg1"/>
              </a:solidFill>
            </a:endParaRPr>
          </a:p>
        </p:txBody>
      </p:sp>
      <p:grpSp>
        <p:nvGrpSpPr>
          <p:cNvPr id="12" name="Group 11"/>
          <p:cNvGrpSpPr/>
          <p:nvPr/>
        </p:nvGrpSpPr>
        <p:grpSpPr>
          <a:xfrm>
            <a:off x="3560313" y="373207"/>
            <a:ext cx="6634564" cy="1493897"/>
            <a:chOff x="3560313" y="373207"/>
            <a:chExt cx="6634564" cy="1493897"/>
          </a:xfrm>
        </p:grpSpPr>
        <p:sp>
          <p:nvSpPr>
            <p:cNvPr id="5" name="TextBox 4"/>
            <p:cNvSpPr txBox="1"/>
            <p:nvPr/>
          </p:nvSpPr>
          <p:spPr>
            <a:xfrm>
              <a:off x="3560313" y="1528550"/>
              <a:ext cx="1361270" cy="338554"/>
            </a:xfrm>
            <a:prstGeom prst="rect">
              <a:avLst/>
            </a:prstGeom>
            <a:solidFill>
              <a:srgbClr val="00CC99"/>
            </a:solidFill>
            <a:ln>
              <a:solidFill>
                <a:srgbClr val="00CC99"/>
              </a:solidFill>
            </a:ln>
          </p:spPr>
          <p:txBody>
            <a:bodyPr wrap="none" rtlCol="0">
              <a:spAutoFit/>
            </a:bodyPr>
            <a:lstStyle/>
            <a:p>
              <a:r>
                <a:rPr lang="en-US" sz="1600" dirty="0" smtClean="0">
                  <a:solidFill>
                    <a:schemeClr val="bg1"/>
                  </a:solidFill>
                </a:rPr>
                <a:t>Loss Function </a:t>
              </a:r>
              <a:endParaRPr lang="en-IN" sz="1600" dirty="0">
                <a:solidFill>
                  <a:schemeClr val="bg1"/>
                </a:solidFill>
              </a:endParaRPr>
            </a:p>
          </p:txBody>
        </p:sp>
        <p:cxnSp>
          <p:nvCxnSpPr>
            <p:cNvPr id="9" name="Straight Arrow Connector 8"/>
            <p:cNvCxnSpPr>
              <a:endCxn id="10" idx="1"/>
            </p:cNvCxnSpPr>
            <p:nvPr/>
          </p:nvCxnSpPr>
          <p:spPr>
            <a:xfrm flipV="1">
              <a:off x="4026090" y="788706"/>
              <a:ext cx="1842447" cy="739844"/>
            </a:xfrm>
            <a:prstGeom prst="straightConnector1">
              <a:avLst/>
            </a:prstGeom>
            <a:ln w="28575">
              <a:solidFill>
                <a:srgbClr val="00CC99"/>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868537" y="373207"/>
              <a:ext cx="4326340" cy="830997"/>
            </a:xfrm>
            <a:prstGeom prst="rect">
              <a:avLst/>
            </a:prstGeom>
            <a:noFill/>
          </p:spPr>
          <p:txBody>
            <a:bodyPr wrap="square" rtlCol="0">
              <a:spAutoFit/>
            </a:bodyPr>
            <a:lstStyle/>
            <a:p>
              <a:r>
                <a:rPr lang="en-US" sz="1600" dirty="0" smtClean="0"/>
                <a:t>It is the mathematic way of measuring “how wrong a model” prediction are compared to actual value </a:t>
              </a:r>
              <a:endParaRPr lang="en-IN" sz="1600" dirty="0"/>
            </a:p>
          </p:txBody>
        </p:sp>
      </p:grpSp>
      <p:grpSp>
        <p:nvGrpSpPr>
          <p:cNvPr id="19" name="Group 18"/>
          <p:cNvGrpSpPr/>
          <p:nvPr/>
        </p:nvGrpSpPr>
        <p:grpSpPr>
          <a:xfrm>
            <a:off x="7055893" y="1037230"/>
            <a:ext cx="852984" cy="2756848"/>
            <a:chOff x="7055893" y="1037230"/>
            <a:chExt cx="1009934" cy="1405719"/>
          </a:xfrm>
        </p:grpSpPr>
        <p:sp>
          <p:nvSpPr>
            <p:cNvPr id="17" name="Freeform 16"/>
            <p:cNvSpPr/>
            <p:nvPr/>
          </p:nvSpPr>
          <p:spPr>
            <a:xfrm>
              <a:off x="7055893" y="1037230"/>
              <a:ext cx="928951" cy="1378424"/>
            </a:xfrm>
            <a:custGeom>
              <a:avLst/>
              <a:gdLst>
                <a:gd name="connsiteX0" fmla="*/ 0 w 928951"/>
                <a:gd name="connsiteY0" fmla="*/ 0 h 1378424"/>
                <a:gd name="connsiteX1" fmla="*/ 81886 w 928951"/>
                <a:gd name="connsiteY1" fmla="*/ 150125 h 1378424"/>
                <a:gd name="connsiteX2" fmla="*/ 163773 w 928951"/>
                <a:gd name="connsiteY2" fmla="*/ 259307 h 1378424"/>
                <a:gd name="connsiteX3" fmla="*/ 191068 w 928951"/>
                <a:gd name="connsiteY3" fmla="*/ 313898 h 1378424"/>
                <a:gd name="connsiteX4" fmla="*/ 204716 w 928951"/>
                <a:gd name="connsiteY4" fmla="*/ 354842 h 1378424"/>
                <a:gd name="connsiteX5" fmla="*/ 259307 w 928951"/>
                <a:gd name="connsiteY5" fmla="*/ 395785 h 1378424"/>
                <a:gd name="connsiteX6" fmla="*/ 286603 w 928951"/>
                <a:gd name="connsiteY6" fmla="*/ 450376 h 1378424"/>
                <a:gd name="connsiteX7" fmla="*/ 382137 w 928951"/>
                <a:gd name="connsiteY7" fmla="*/ 573206 h 1378424"/>
                <a:gd name="connsiteX8" fmla="*/ 395785 w 928951"/>
                <a:gd name="connsiteY8" fmla="*/ 614149 h 1378424"/>
                <a:gd name="connsiteX9" fmla="*/ 450376 w 928951"/>
                <a:gd name="connsiteY9" fmla="*/ 668740 h 1378424"/>
                <a:gd name="connsiteX10" fmla="*/ 518614 w 928951"/>
                <a:gd name="connsiteY10" fmla="*/ 750627 h 1378424"/>
                <a:gd name="connsiteX11" fmla="*/ 586853 w 928951"/>
                <a:gd name="connsiteY11" fmla="*/ 846161 h 1378424"/>
                <a:gd name="connsiteX12" fmla="*/ 627797 w 928951"/>
                <a:gd name="connsiteY12" fmla="*/ 900752 h 1378424"/>
                <a:gd name="connsiteX13" fmla="*/ 668740 w 928951"/>
                <a:gd name="connsiteY13" fmla="*/ 968991 h 1378424"/>
                <a:gd name="connsiteX14" fmla="*/ 723331 w 928951"/>
                <a:gd name="connsiteY14" fmla="*/ 1037230 h 1378424"/>
                <a:gd name="connsiteX15" fmla="*/ 805217 w 928951"/>
                <a:gd name="connsiteY15" fmla="*/ 1187355 h 1378424"/>
                <a:gd name="connsiteX16" fmla="*/ 832513 w 928951"/>
                <a:gd name="connsiteY16" fmla="*/ 1228298 h 1378424"/>
                <a:gd name="connsiteX17" fmla="*/ 859808 w 928951"/>
                <a:gd name="connsiteY17" fmla="*/ 1269242 h 1378424"/>
                <a:gd name="connsiteX18" fmla="*/ 928047 w 928951"/>
                <a:gd name="connsiteY18" fmla="*/ 1364776 h 1378424"/>
                <a:gd name="connsiteX19" fmla="*/ 928047 w 928951"/>
                <a:gd name="connsiteY19" fmla="*/ 1378424 h 13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28951" h="1378424">
                  <a:moveTo>
                    <a:pt x="0" y="0"/>
                  </a:moveTo>
                  <a:cubicBezTo>
                    <a:pt x="33821" y="84555"/>
                    <a:pt x="21280" y="66792"/>
                    <a:pt x="81886" y="150125"/>
                  </a:cubicBezTo>
                  <a:cubicBezTo>
                    <a:pt x="116881" y="198243"/>
                    <a:pt x="137123" y="212669"/>
                    <a:pt x="163773" y="259307"/>
                  </a:cubicBezTo>
                  <a:cubicBezTo>
                    <a:pt x="173867" y="276971"/>
                    <a:pt x="183054" y="295198"/>
                    <a:pt x="191068" y="313898"/>
                  </a:cubicBezTo>
                  <a:cubicBezTo>
                    <a:pt x="196735" y="327121"/>
                    <a:pt x="195506" y="343790"/>
                    <a:pt x="204716" y="354842"/>
                  </a:cubicBezTo>
                  <a:cubicBezTo>
                    <a:pt x="219278" y="372316"/>
                    <a:pt x="241110" y="382137"/>
                    <a:pt x="259307" y="395785"/>
                  </a:cubicBezTo>
                  <a:cubicBezTo>
                    <a:pt x="268406" y="413982"/>
                    <a:pt x="275022" y="433649"/>
                    <a:pt x="286603" y="450376"/>
                  </a:cubicBezTo>
                  <a:cubicBezTo>
                    <a:pt x="316128" y="493023"/>
                    <a:pt x="382137" y="573206"/>
                    <a:pt x="382137" y="573206"/>
                  </a:cubicBezTo>
                  <a:cubicBezTo>
                    <a:pt x="386686" y="586854"/>
                    <a:pt x="387423" y="602443"/>
                    <a:pt x="395785" y="614149"/>
                  </a:cubicBezTo>
                  <a:cubicBezTo>
                    <a:pt x="410743" y="635090"/>
                    <a:pt x="433161" y="649612"/>
                    <a:pt x="450376" y="668740"/>
                  </a:cubicBezTo>
                  <a:cubicBezTo>
                    <a:pt x="474145" y="695150"/>
                    <a:pt x="496418" y="722882"/>
                    <a:pt x="518614" y="750627"/>
                  </a:cubicBezTo>
                  <a:cubicBezTo>
                    <a:pt x="578106" y="824992"/>
                    <a:pt x="540663" y="781495"/>
                    <a:pt x="586853" y="846161"/>
                  </a:cubicBezTo>
                  <a:cubicBezTo>
                    <a:pt x="600074" y="864670"/>
                    <a:pt x="615180" y="881826"/>
                    <a:pt x="627797" y="900752"/>
                  </a:cubicBezTo>
                  <a:cubicBezTo>
                    <a:pt x="642511" y="922823"/>
                    <a:pt x="653528" y="947260"/>
                    <a:pt x="668740" y="968991"/>
                  </a:cubicBezTo>
                  <a:cubicBezTo>
                    <a:pt x="685445" y="992855"/>
                    <a:pt x="705134" y="1014484"/>
                    <a:pt x="723331" y="1037230"/>
                  </a:cubicBezTo>
                  <a:cubicBezTo>
                    <a:pt x="750042" y="1117361"/>
                    <a:pt x="730873" y="1070528"/>
                    <a:pt x="805217" y="1187355"/>
                  </a:cubicBezTo>
                  <a:cubicBezTo>
                    <a:pt x="814023" y="1201193"/>
                    <a:pt x="823415" y="1214650"/>
                    <a:pt x="832513" y="1228298"/>
                  </a:cubicBezTo>
                  <a:cubicBezTo>
                    <a:pt x="841612" y="1241946"/>
                    <a:pt x="849966" y="1256120"/>
                    <a:pt x="859808" y="1269242"/>
                  </a:cubicBezTo>
                  <a:cubicBezTo>
                    <a:pt x="869084" y="1281610"/>
                    <a:pt x="918067" y="1344816"/>
                    <a:pt x="928047" y="1364776"/>
                  </a:cubicBezTo>
                  <a:cubicBezTo>
                    <a:pt x="930081" y="1368845"/>
                    <a:pt x="928047" y="1373875"/>
                    <a:pt x="928047" y="1378424"/>
                  </a:cubicBezTo>
                </a:path>
              </a:pathLst>
            </a:cu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8" name="Freeform 17"/>
            <p:cNvSpPr/>
            <p:nvPr/>
          </p:nvSpPr>
          <p:spPr>
            <a:xfrm>
              <a:off x="7751928" y="2238233"/>
              <a:ext cx="313899" cy="204716"/>
            </a:xfrm>
            <a:custGeom>
              <a:avLst/>
              <a:gdLst>
                <a:gd name="connsiteX0" fmla="*/ 0 w 313899"/>
                <a:gd name="connsiteY0" fmla="*/ 177421 h 204716"/>
                <a:gd name="connsiteX1" fmla="*/ 136478 w 313899"/>
                <a:gd name="connsiteY1" fmla="*/ 191068 h 204716"/>
                <a:gd name="connsiteX2" fmla="*/ 218365 w 313899"/>
                <a:gd name="connsiteY2" fmla="*/ 204716 h 204716"/>
                <a:gd name="connsiteX3" fmla="*/ 300251 w 313899"/>
                <a:gd name="connsiteY3" fmla="*/ 191068 h 204716"/>
                <a:gd name="connsiteX4" fmla="*/ 313899 w 313899"/>
                <a:gd name="connsiteY4" fmla="*/ 0 h 20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899" h="204716">
                  <a:moveTo>
                    <a:pt x="0" y="177421"/>
                  </a:moveTo>
                  <a:cubicBezTo>
                    <a:pt x="45493" y="181970"/>
                    <a:pt x="91111" y="185397"/>
                    <a:pt x="136478" y="191068"/>
                  </a:cubicBezTo>
                  <a:cubicBezTo>
                    <a:pt x="163937" y="194500"/>
                    <a:pt x="190693" y="204716"/>
                    <a:pt x="218365" y="204716"/>
                  </a:cubicBezTo>
                  <a:cubicBezTo>
                    <a:pt x="246037" y="204716"/>
                    <a:pt x="272956" y="195617"/>
                    <a:pt x="300251" y="191068"/>
                  </a:cubicBezTo>
                  <a:cubicBezTo>
                    <a:pt x="314248" y="9112"/>
                    <a:pt x="313899" y="72963"/>
                    <a:pt x="313899" y="0"/>
                  </a:cubicBezTo>
                </a:path>
              </a:pathLst>
            </a:cu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sp>
        <p:nvSpPr>
          <p:cNvPr id="20" name="TextBox 19"/>
          <p:cNvSpPr txBox="1"/>
          <p:nvPr/>
        </p:nvSpPr>
        <p:spPr>
          <a:xfrm>
            <a:off x="4653162" y="3965096"/>
            <a:ext cx="6478248" cy="400110"/>
          </a:xfrm>
          <a:prstGeom prst="rect">
            <a:avLst/>
          </a:prstGeom>
          <a:noFill/>
        </p:spPr>
        <p:txBody>
          <a:bodyPr wrap="none" rtlCol="0">
            <a:spAutoFit/>
          </a:bodyPr>
          <a:lstStyle/>
          <a:p>
            <a:r>
              <a:rPr lang="en-US" sz="1600" dirty="0" smtClean="0"/>
              <a:t>Network adjust the weight  to reduce the loss is called </a:t>
            </a:r>
            <a:r>
              <a:rPr lang="en-US" sz="2000" dirty="0" smtClean="0">
                <a:solidFill>
                  <a:srgbClr val="0070C0"/>
                </a:solidFill>
                <a:latin typeface="Imprint MT Shadow" pitchFamily="82" charset="0"/>
              </a:rPr>
              <a:t>gradient descent</a:t>
            </a:r>
            <a:endParaRPr lang="en-IN" sz="2000" dirty="0">
              <a:solidFill>
                <a:srgbClr val="0070C0"/>
              </a:solidFill>
              <a:latin typeface="Imprint MT Shadow" pitchFamily="82" charset="0"/>
            </a:endParaRPr>
          </a:p>
        </p:txBody>
      </p:sp>
    </p:spTree>
    <p:extLst>
      <p:ext uri="{BB962C8B-B14F-4D97-AF65-F5344CB8AC3E}">
        <p14:creationId xmlns:p14="http://schemas.microsoft.com/office/powerpoint/2010/main" val="40382200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3" name="Rectangle 2"/>
          <p:cNvSpPr/>
          <p:nvPr/>
        </p:nvSpPr>
        <p:spPr>
          <a:xfrm>
            <a:off x="976670" y="941697"/>
            <a:ext cx="11006035" cy="1246495"/>
          </a:xfrm>
          <a:prstGeom prst="rect">
            <a:avLst/>
          </a:prstGeom>
        </p:spPr>
        <p:txBody>
          <a:bodyPr wrap="square">
            <a:spAutoFit/>
          </a:bodyPr>
          <a:lstStyle/>
          <a:p>
            <a:r>
              <a:rPr lang="en-US" sz="1500" dirty="0">
                <a:solidFill>
                  <a:srgbClr val="00B050"/>
                </a:solidFill>
                <a:latin typeface="Bahnschrift Light" pitchFamily="34" charset="0"/>
              </a:rPr>
              <a:t>How does your brain work</a:t>
            </a:r>
            <a:r>
              <a:rPr lang="en-US" sz="1500" dirty="0">
                <a:latin typeface="Bahnschrift Light" pitchFamily="34" charset="0"/>
              </a:rPr>
              <a:t>? Whenever you read something, it first goes into your </a:t>
            </a:r>
            <a:r>
              <a:rPr lang="en-US" sz="1500" dirty="0">
                <a:solidFill>
                  <a:srgbClr val="0070C0"/>
                </a:solidFill>
                <a:latin typeface="Bahnschrift Light" pitchFamily="34" charset="0"/>
              </a:rPr>
              <a:t>short-term memory</a:t>
            </a:r>
            <a:r>
              <a:rPr lang="en-US" sz="1500" dirty="0">
                <a:latin typeface="Bahnschrift Light" pitchFamily="34" charset="0"/>
              </a:rPr>
              <a:t>. This type of memory usually fades away by the next day. That means, whatever you read, about 80% to 90% of it will be forgotten by the next day. Only around 10% remains. Why? Because all that information was stored in your short-term memory. But if you read the same thing two or three times, the process of short-term memory transfers directly into </a:t>
            </a:r>
            <a:r>
              <a:rPr lang="en-US" sz="1500" dirty="0">
                <a:solidFill>
                  <a:srgbClr val="0070C0"/>
                </a:solidFill>
                <a:latin typeface="Bahnschrift Light" pitchFamily="34" charset="0"/>
              </a:rPr>
              <a:t>long-term memory</a:t>
            </a:r>
            <a:r>
              <a:rPr lang="en-US" sz="1500" dirty="0">
                <a:latin typeface="Bahnschrift Light" pitchFamily="34" charset="0"/>
              </a:rPr>
              <a:t>. In other words, all that information now becomes part of your long-term memory</a:t>
            </a:r>
            <a:endParaRPr lang="en-IN" sz="1500" dirty="0">
              <a:latin typeface="Bahnschrift Light" pitchFamily="34" charset="0"/>
            </a:endParaRPr>
          </a:p>
        </p:txBody>
      </p:sp>
      <p:grpSp>
        <p:nvGrpSpPr>
          <p:cNvPr id="6" name="Group 5"/>
          <p:cNvGrpSpPr/>
          <p:nvPr/>
        </p:nvGrpSpPr>
        <p:grpSpPr>
          <a:xfrm>
            <a:off x="627768" y="191068"/>
            <a:ext cx="2634018" cy="412800"/>
            <a:chOff x="627768" y="191068"/>
            <a:chExt cx="2634018" cy="412800"/>
          </a:xfrm>
        </p:grpSpPr>
        <p:sp>
          <p:nvSpPr>
            <p:cNvPr id="2" name="TextBox 1"/>
            <p:cNvSpPr txBox="1"/>
            <p:nvPr/>
          </p:nvSpPr>
          <p:spPr>
            <a:xfrm>
              <a:off x="812897" y="191068"/>
              <a:ext cx="2263761" cy="369332"/>
            </a:xfrm>
            <a:prstGeom prst="rect">
              <a:avLst/>
            </a:prstGeom>
            <a:ln w="38100">
              <a:solidFill>
                <a:srgbClr val="00CC99"/>
              </a:solidFill>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dirty="0" smtClean="0">
                  <a:solidFill>
                    <a:srgbClr val="00CC99"/>
                  </a:solidFill>
                  <a:latin typeface="Algerian" pitchFamily="82" charset="0"/>
                </a:rPr>
                <a:t> how brain Works</a:t>
              </a:r>
              <a:endParaRPr lang="en-IN" dirty="0">
                <a:solidFill>
                  <a:srgbClr val="00CC99"/>
                </a:solidFill>
                <a:latin typeface="Algerian" pitchFamily="82" charset="0"/>
              </a:endParaRPr>
            </a:p>
          </p:txBody>
        </p:sp>
        <p:cxnSp>
          <p:nvCxnSpPr>
            <p:cNvPr id="5" name="Straight Connector 4"/>
            <p:cNvCxnSpPr/>
            <p:nvPr/>
          </p:nvCxnSpPr>
          <p:spPr>
            <a:xfrm>
              <a:off x="627768" y="603868"/>
              <a:ext cx="2634018" cy="0"/>
            </a:xfrm>
            <a:prstGeom prst="line">
              <a:avLst/>
            </a:prstGeom>
            <a:ln w="38100">
              <a:solidFill>
                <a:srgbClr val="00CC99"/>
              </a:solidFill>
            </a:ln>
          </p:spPr>
          <p:style>
            <a:lnRef idx="1">
              <a:schemeClr val="accent1"/>
            </a:lnRef>
            <a:fillRef idx="0">
              <a:schemeClr val="accent1"/>
            </a:fillRef>
            <a:effectRef idx="0">
              <a:schemeClr val="accent1"/>
            </a:effectRef>
            <a:fontRef idx="minor">
              <a:schemeClr val="tx1"/>
            </a:fontRef>
          </p:style>
        </p:cxnSp>
      </p:gr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7660" y="2952749"/>
            <a:ext cx="1797453" cy="1649039"/>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418446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2" name="Group 1"/>
          <p:cNvGrpSpPr/>
          <p:nvPr/>
        </p:nvGrpSpPr>
        <p:grpSpPr>
          <a:xfrm>
            <a:off x="331386" y="206795"/>
            <a:ext cx="5032184" cy="323165"/>
            <a:chOff x="191069" y="326704"/>
            <a:chExt cx="5032184" cy="323165"/>
          </a:xfrm>
        </p:grpSpPr>
        <p:sp>
          <p:nvSpPr>
            <p:cNvPr id="3" name="TextBox 2"/>
            <p:cNvSpPr txBox="1"/>
            <p:nvPr/>
          </p:nvSpPr>
          <p:spPr>
            <a:xfrm>
              <a:off x="331386" y="326704"/>
              <a:ext cx="657552" cy="323165"/>
            </a:xfrm>
            <a:prstGeom prst="rect">
              <a:avLst/>
            </a:prstGeom>
            <a:solidFill>
              <a:srgbClr val="0070C0"/>
            </a:solidFill>
          </p:spPr>
          <p:txBody>
            <a:bodyPr wrap="none" rtlCol="0">
              <a:spAutoFit/>
            </a:bodyPr>
            <a:lstStyle/>
            <a:p>
              <a:r>
                <a:rPr lang="en-US" sz="1500" dirty="0" smtClean="0">
                  <a:solidFill>
                    <a:schemeClr val="bg1">
                      <a:lumMod val="95000"/>
                    </a:schemeClr>
                  </a:solidFill>
                  <a:latin typeface="Bahnschrift Light" pitchFamily="34" charset="0"/>
                </a:rPr>
                <a:t>LSTM</a:t>
              </a:r>
              <a:endParaRPr lang="en-IN" sz="1500" dirty="0">
                <a:solidFill>
                  <a:schemeClr val="bg1">
                    <a:lumMod val="95000"/>
                  </a:schemeClr>
                </a:solidFill>
                <a:latin typeface="Bahnschrift Light" pitchFamily="34" charset="0"/>
              </a:endParaRPr>
            </a:p>
          </p:txBody>
        </p:sp>
        <p:cxnSp>
          <p:nvCxnSpPr>
            <p:cNvPr id="4" name="Straight Connector 3"/>
            <p:cNvCxnSpPr/>
            <p:nvPr/>
          </p:nvCxnSpPr>
          <p:spPr>
            <a:xfrm>
              <a:off x="191069" y="634481"/>
              <a:ext cx="5032184"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 name="Rectangle 4"/>
          <p:cNvSpPr/>
          <p:nvPr/>
        </p:nvSpPr>
        <p:spPr>
          <a:xfrm>
            <a:off x="700584" y="1055174"/>
            <a:ext cx="11268503" cy="338554"/>
          </a:xfrm>
          <a:prstGeom prst="rect">
            <a:avLst/>
          </a:prstGeom>
          <a:solidFill>
            <a:schemeClr val="accent2">
              <a:lumMod val="40000"/>
              <a:lumOff val="60000"/>
            </a:schemeClr>
          </a:solidFill>
          <a:ln>
            <a:solidFill>
              <a:schemeClr val="accent2">
                <a:lumMod val="60000"/>
                <a:lumOff val="40000"/>
              </a:schemeClr>
            </a:solidFill>
          </a:ln>
        </p:spPr>
        <p:txBody>
          <a:bodyPr wrap="square">
            <a:spAutoFit/>
          </a:bodyPr>
          <a:lstStyle/>
          <a:p>
            <a:r>
              <a:rPr lang="en-US" sz="1500" dirty="0" smtClean="0">
                <a:latin typeface="Bahnschrift SemiLight" pitchFamily="34" charset="0"/>
              </a:rPr>
              <a:t>Aman </a:t>
            </a:r>
            <a:r>
              <a:rPr lang="en-US" sz="1500" dirty="0">
                <a:latin typeface="Bahnschrift SemiLight" pitchFamily="34" charset="0"/>
              </a:rPr>
              <a:t>stays in </a:t>
            </a:r>
            <a:r>
              <a:rPr lang="en-US" sz="1500" dirty="0" smtClean="0">
                <a:latin typeface="Bahnschrift SemiLight" pitchFamily="34" charset="0"/>
              </a:rPr>
              <a:t>London. Aman </a:t>
            </a:r>
            <a:r>
              <a:rPr lang="en-US" sz="1500" dirty="0">
                <a:latin typeface="Bahnschrift SemiLight" pitchFamily="34" charset="0"/>
              </a:rPr>
              <a:t>has a friend whose name is Alex </a:t>
            </a:r>
            <a:r>
              <a:rPr lang="en-US" sz="1500" dirty="0" smtClean="0">
                <a:latin typeface="Bahnschrift SemiLight" pitchFamily="34" charset="0"/>
              </a:rPr>
              <a:t>.Alex is </a:t>
            </a:r>
            <a:r>
              <a:rPr lang="en-US" sz="1500" dirty="0">
                <a:latin typeface="Bahnschrift SemiLight" pitchFamily="34" charset="0"/>
              </a:rPr>
              <a:t>a data </a:t>
            </a:r>
            <a:r>
              <a:rPr lang="en-US" sz="1500" dirty="0" smtClean="0">
                <a:latin typeface="Bahnschrift SemiLight" pitchFamily="34" charset="0"/>
              </a:rPr>
              <a:t>scientist .Aman </a:t>
            </a:r>
            <a:r>
              <a:rPr lang="en-US" sz="1500" dirty="0">
                <a:latin typeface="Bahnschrift SemiLight" pitchFamily="34" charset="0"/>
              </a:rPr>
              <a:t>learns data science </a:t>
            </a:r>
            <a:r>
              <a:rPr lang="en-US" sz="1500" dirty="0" smtClean="0">
                <a:latin typeface="Bahnschrift SemiLight" pitchFamily="34" charset="0"/>
              </a:rPr>
              <a:t>from </a:t>
            </a:r>
            <a:r>
              <a:rPr lang="en-US" sz="1600" b="1" dirty="0" smtClean="0">
                <a:solidFill>
                  <a:srgbClr val="FF0000"/>
                </a:solidFill>
                <a:latin typeface="Bahnschrift SemiLight" pitchFamily="34" charset="0"/>
              </a:rPr>
              <a:t>.........</a:t>
            </a:r>
            <a:endParaRPr lang="en-US" sz="1500" b="1" dirty="0">
              <a:solidFill>
                <a:srgbClr val="FF0000"/>
              </a:solidFill>
              <a:latin typeface="Bahnschrift SemiLight" pitchFamily="34" charset="0"/>
            </a:endParaRPr>
          </a:p>
        </p:txBody>
      </p:sp>
      <p:sp>
        <p:nvSpPr>
          <p:cNvPr id="6" name="Rectangle 5"/>
          <p:cNvSpPr/>
          <p:nvPr/>
        </p:nvSpPr>
        <p:spPr>
          <a:xfrm>
            <a:off x="700584" y="539775"/>
            <a:ext cx="3013967" cy="369332"/>
          </a:xfrm>
          <a:prstGeom prst="rect">
            <a:avLst/>
          </a:prstGeom>
        </p:spPr>
        <p:txBody>
          <a:bodyPr wrap="none">
            <a:spAutoFit/>
          </a:bodyPr>
          <a:lstStyle/>
          <a:p>
            <a:r>
              <a:rPr lang="en-US" sz="1500" dirty="0">
                <a:latin typeface="Bahnschrift SemiLight" pitchFamily="34" charset="0"/>
              </a:rPr>
              <a:t>let's read this sentence together</a:t>
            </a:r>
            <a:r>
              <a:rPr lang="en-US" dirty="0"/>
              <a:t> </a:t>
            </a:r>
            <a:endParaRPr lang="en-IN" dirty="0"/>
          </a:p>
        </p:txBody>
      </p:sp>
      <p:sp>
        <p:nvSpPr>
          <p:cNvPr id="7" name="Rectangle 6"/>
          <p:cNvSpPr/>
          <p:nvPr/>
        </p:nvSpPr>
        <p:spPr>
          <a:xfrm>
            <a:off x="1129255" y="1645904"/>
            <a:ext cx="10839831" cy="553998"/>
          </a:xfrm>
          <a:prstGeom prst="rect">
            <a:avLst/>
          </a:prstGeom>
        </p:spPr>
        <p:txBody>
          <a:bodyPr wrap="square">
            <a:spAutoFit/>
          </a:bodyPr>
          <a:lstStyle/>
          <a:p>
            <a:r>
              <a:rPr lang="en-US" sz="1500" dirty="0">
                <a:latin typeface="Bahnschrift SemiLight" pitchFamily="34" charset="0"/>
              </a:rPr>
              <a:t>So based on our human intelligence we can simply say the right word for this place is Alex</a:t>
            </a:r>
            <a:r>
              <a:rPr lang="en-US" sz="1500" dirty="0" smtClean="0">
                <a:latin typeface="Bahnschrift SemiLight" pitchFamily="34" charset="0"/>
              </a:rPr>
              <a:t>. because </a:t>
            </a:r>
            <a:r>
              <a:rPr lang="en-US" sz="1500" dirty="0">
                <a:latin typeface="Bahnschrift SemiLight" pitchFamily="34" charset="0"/>
              </a:rPr>
              <a:t>Aman has a friend who is Alex and Alex knows data science so Aman must be learning data science from Alex</a:t>
            </a:r>
            <a:endParaRPr lang="en-IN" sz="1500" dirty="0">
              <a:latin typeface="Bahnschrift SemiLight" pitchFamily="34" charset="0"/>
            </a:endParaRPr>
          </a:p>
        </p:txBody>
      </p:sp>
      <p:sp>
        <p:nvSpPr>
          <p:cNvPr id="8" name="Rectangle 7"/>
          <p:cNvSpPr/>
          <p:nvPr/>
        </p:nvSpPr>
        <p:spPr>
          <a:xfrm>
            <a:off x="1129254" y="2611988"/>
            <a:ext cx="10839831" cy="1969770"/>
          </a:xfrm>
          <a:prstGeom prst="rect">
            <a:avLst/>
          </a:prstGeom>
        </p:spPr>
        <p:txBody>
          <a:bodyPr wrap="square">
            <a:spAutoFit/>
          </a:bodyPr>
          <a:lstStyle/>
          <a:p>
            <a:r>
              <a:rPr lang="en-US" sz="1500" dirty="0">
                <a:latin typeface="Bahnschrift SemiLight" pitchFamily="34" charset="0"/>
              </a:rPr>
              <a:t>but you know something interesting here you used two things together one is called long term memory and other is called short-term memory what is a long term </a:t>
            </a:r>
            <a:r>
              <a:rPr lang="en-US" sz="1500" dirty="0" smtClean="0">
                <a:latin typeface="Bahnschrift SemiLight" pitchFamily="34" charset="0"/>
              </a:rPr>
              <a:t>memory.</a:t>
            </a:r>
          </a:p>
          <a:p>
            <a:pPr lvl="1"/>
            <a:r>
              <a:rPr lang="en-US" sz="1500" dirty="0" smtClean="0">
                <a:latin typeface="Bahnschrift SemiLight" pitchFamily="34" charset="0"/>
              </a:rPr>
              <a:t> </a:t>
            </a:r>
            <a:r>
              <a:rPr lang="en-US" sz="1500" dirty="0">
                <a:latin typeface="Bahnschrift SemiLight" pitchFamily="34" charset="0"/>
              </a:rPr>
              <a:t>long term memory is "</a:t>
            </a:r>
            <a:r>
              <a:rPr lang="en-US" sz="1500" dirty="0">
                <a:solidFill>
                  <a:srgbClr val="00D05E"/>
                </a:solidFill>
                <a:latin typeface="Bahnschrift SemiLight" pitchFamily="34" charset="0"/>
              </a:rPr>
              <a:t>Aman and Alex Friends</a:t>
            </a:r>
            <a:r>
              <a:rPr lang="en-US" sz="1500" dirty="0">
                <a:latin typeface="Bahnschrift SemiLight" pitchFamily="34" charset="0"/>
              </a:rPr>
              <a:t>" </a:t>
            </a:r>
            <a:r>
              <a:rPr lang="en-US" sz="1500" dirty="0" smtClean="0">
                <a:latin typeface="Bahnschrift SemiLight" pitchFamily="34" charset="0"/>
              </a:rPr>
              <a:t>and</a:t>
            </a:r>
          </a:p>
          <a:p>
            <a:pPr lvl="1"/>
            <a:r>
              <a:rPr lang="en-US" sz="1500" dirty="0" smtClean="0">
                <a:latin typeface="Bahnschrift SemiLight" pitchFamily="34" charset="0"/>
              </a:rPr>
              <a:t> </a:t>
            </a:r>
            <a:r>
              <a:rPr lang="en-US" sz="1500" dirty="0">
                <a:latin typeface="Bahnschrift SemiLight" pitchFamily="34" charset="0"/>
              </a:rPr>
              <a:t>"</a:t>
            </a:r>
            <a:r>
              <a:rPr lang="en-US" sz="1500" dirty="0">
                <a:solidFill>
                  <a:srgbClr val="FF4B21"/>
                </a:solidFill>
                <a:latin typeface="Bahnschrift SemiLight" pitchFamily="34" charset="0"/>
              </a:rPr>
              <a:t>Alex knows data science</a:t>
            </a:r>
            <a:r>
              <a:rPr lang="en-US" sz="1500" dirty="0">
                <a:latin typeface="Bahnschrift SemiLight" pitchFamily="34" charset="0"/>
              </a:rPr>
              <a:t>" is something short-term memory. </a:t>
            </a:r>
            <a:endParaRPr lang="en-US" sz="1500" dirty="0" smtClean="0">
              <a:latin typeface="Bahnschrift SemiLight" pitchFamily="34" charset="0"/>
            </a:endParaRPr>
          </a:p>
          <a:p>
            <a:endParaRPr lang="en-US" sz="1500" dirty="0">
              <a:latin typeface="Bahnschrift SemiLight" pitchFamily="34" charset="0"/>
            </a:endParaRPr>
          </a:p>
          <a:p>
            <a:r>
              <a:rPr lang="en-US" sz="1500" dirty="0" smtClean="0">
                <a:latin typeface="Bahnschrift SemiLight" pitchFamily="34" charset="0"/>
              </a:rPr>
              <a:t>When </a:t>
            </a:r>
            <a:r>
              <a:rPr lang="en-US" sz="1500" dirty="0">
                <a:latin typeface="Bahnschrift SemiLight" pitchFamily="34" charset="0"/>
              </a:rPr>
              <a:t>you combine these two things together then you come to the right answer "Alex can teach data science to Aman" and when </a:t>
            </a:r>
            <a:r>
              <a:rPr lang="en-US" sz="1600" dirty="0">
                <a:latin typeface="Bahnschrift SemiLight" pitchFamily="34" charset="0"/>
              </a:rPr>
              <a:t>long term memory and short-term memory combines together we get something known </a:t>
            </a:r>
            <a:r>
              <a:rPr lang="en-US" sz="1600" dirty="0">
                <a:solidFill>
                  <a:srgbClr val="FF6743"/>
                </a:solidFill>
                <a:latin typeface="Algerian" pitchFamily="82" charset="0"/>
              </a:rPr>
              <a:t>as long short </a:t>
            </a:r>
            <a:r>
              <a:rPr lang="en-US" sz="1600" dirty="0" smtClean="0">
                <a:solidFill>
                  <a:srgbClr val="FF6743"/>
                </a:solidFill>
                <a:latin typeface="Algerian" pitchFamily="82" charset="0"/>
              </a:rPr>
              <a:t>term memory</a:t>
            </a:r>
            <a:endParaRPr lang="en-IN" sz="1600" dirty="0">
              <a:solidFill>
                <a:srgbClr val="FF6743"/>
              </a:solidFill>
              <a:latin typeface="Algerian" pitchFamily="82" charset="0"/>
            </a:endParaRPr>
          </a:p>
        </p:txBody>
      </p:sp>
    </p:spTree>
    <p:extLst>
      <p:ext uri="{BB962C8B-B14F-4D97-AF65-F5344CB8AC3E}">
        <p14:creationId xmlns:p14="http://schemas.microsoft.com/office/powerpoint/2010/main" val="374762764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2" name="Rectangle 1"/>
          <p:cNvSpPr/>
          <p:nvPr/>
        </p:nvSpPr>
        <p:spPr>
          <a:xfrm>
            <a:off x="4558353" y="360193"/>
            <a:ext cx="7451678" cy="553998"/>
          </a:xfrm>
          <a:prstGeom prst="rect">
            <a:avLst/>
          </a:prstGeom>
        </p:spPr>
        <p:txBody>
          <a:bodyPr wrap="square">
            <a:spAutoFit/>
          </a:bodyPr>
          <a:lstStyle/>
          <a:p>
            <a:r>
              <a:rPr lang="en-US" sz="1500" dirty="0">
                <a:latin typeface="Bahnschrift Light" pitchFamily="34" charset="0"/>
                <a:cs typeface="Arial" pitchFamily="34" charset="0"/>
              </a:rPr>
              <a:t>as we know in the world of simple </a:t>
            </a:r>
            <a:r>
              <a:rPr lang="en-US" sz="1500" dirty="0" smtClean="0">
                <a:latin typeface="Bahnschrift Light" pitchFamily="34" charset="0"/>
                <a:cs typeface="Arial" pitchFamily="34" charset="0"/>
              </a:rPr>
              <a:t>RNN,</a:t>
            </a:r>
            <a:endParaRPr lang="en-US" sz="1500" dirty="0">
              <a:latin typeface="Bahnschrift Light" pitchFamily="34" charset="0"/>
              <a:cs typeface="Arial" pitchFamily="34" charset="0"/>
            </a:endParaRPr>
          </a:p>
          <a:p>
            <a:r>
              <a:rPr lang="en-US" sz="1500" dirty="0">
                <a:latin typeface="Bahnschrift Light" pitchFamily="34" charset="0"/>
                <a:cs typeface="Arial" pitchFamily="34" charset="0"/>
              </a:rPr>
              <a:t>these sentences will go one by one into the network then I will get some output</a:t>
            </a:r>
            <a:endParaRPr lang="en-IN" sz="1500" dirty="0">
              <a:latin typeface="Bahnschrift Light" pitchFamily="34" charset="0"/>
              <a:cs typeface="Arial" pitchFamily="34" charset="0"/>
            </a:endParaRPr>
          </a:p>
        </p:txBody>
      </p:sp>
      <p:grpSp>
        <p:nvGrpSpPr>
          <p:cNvPr id="1034" name="Group 1033"/>
          <p:cNvGrpSpPr/>
          <p:nvPr/>
        </p:nvGrpSpPr>
        <p:grpSpPr>
          <a:xfrm>
            <a:off x="234838" y="37267"/>
            <a:ext cx="4182080" cy="1723942"/>
            <a:chOff x="234838" y="37267"/>
            <a:chExt cx="4182080" cy="1723942"/>
          </a:xfrm>
        </p:grpSpPr>
        <p:grpSp>
          <p:nvGrpSpPr>
            <p:cNvPr id="50" name="Group 49"/>
            <p:cNvGrpSpPr/>
            <p:nvPr/>
          </p:nvGrpSpPr>
          <p:grpSpPr>
            <a:xfrm>
              <a:off x="234838" y="166135"/>
              <a:ext cx="4182080" cy="1595074"/>
              <a:chOff x="4462818" y="783399"/>
              <a:chExt cx="4182080" cy="1595074"/>
            </a:xfrm>
          </p:grpSpPr>
          <p:grpSp>
            <p:nvGrpSpPr>
              <p:cNvPr id="15" name="Group 14"/>
              <p:cNvGrpSpPr/>
              <p:nvPr/>
            </p:nvGrpSpPr>
            <p:grpSpPr>
              <a:xfrm>
                <a:off x="4462818" y="1090473"/>
                <a:ext cx="1119886" cy="1288000"/>
                <a:chOff x="4462818" y="1090473"/>
                <a:chExt cx="1119886" cy="1288000"/>
              </a:xfrm>
            </p:grpSpPr>
            <p:grpSp>
              <p:nvGrpSpPr>
                <p:cNvPr id="9" name="Group 8"/>
                <p:cNvGrpSpPr/>
                <p:nvPr/>
              </p:nvGrpSpPr>
              <p:grpSpPr>
                <a:xfrm>
                  <a:off x="4462818" y="1105469"/>
                  <a:ext cx="458780" cy="1273004"/>
                  <a:chOff x="4462818" y="1105469"/>
                  <a:chExt cx="458780" cy="1273004"/>
                </a:xfrm>
              </p:grpSpPr>
              <p:grpSp>
                <p:nvGrpSpPr>
                  <p:cNvPr id="7" name="Group 6"/>
                  <p:cNvGrpSpPr/>
                  <p:nvPr/>
                </p:nvGrpSpPr>
                <p:grpSpPr>
                  <a:xfrm>
                    <a:off x="4462818" y="1105469"/>
                    <a:ext cx="457200" cy="887104"/>
                    <a:chOff x="4462818" y="1105469"/>
                    <a:chExt cx="457200" cy="887104"/>
                  </a:xfrm>
                </p:grpSpPr>
                <p:sp>
                  <p:nvSpPr>
                    <p:cNvPr id="3" name="Rectangle 2"/>
                    <p:cNvSpPr/>
                    <p:nvPr/>
                  </p:nvSpPr>
                  <p:spPr>
                    <a:xfrm>
                      <a:off x="4462818" y="1105469"/>
                      <a:ext cx="45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6" name="Straight Connector 5"/>
                    <p:cNvCxnSpPr>
                      <a:stCxn id="3" idx="2"/>
                    </p:cNvCxnSpPr>
                    <p:nvPr/>
                  </p:nvCxnSpPr>
                  <p:spPr>
                    <a:xfrm>
                      <a:off x="4691418" y="1562669"/>
                      <a:ext cx="0" cy="429904"/>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TextBox 7"/>
                  <p:cNvSpPr txBox="1"/>
                  <p:nvPr/>
                </p:nvSpPr>
                <p:spPr>
                  <a:xfrm>
                    <a:off x="4462818" y="2039919"/>
                    <a:ext cx="458780" cy="338554"/>
                  </a:xfrm>
                  <a:prstGeom prst="rect">
                    <a:avLst/>
                  </a:prstGeom>
                  <a:noFill/>
                </p:spPr>
                <p:txBody>
                  <a:bodyPr wrap="none" rtlCol="0">
                    <a:spAutoFit/>
                  </a:bodyPr>
                  <a:lstStyle/>
                  <a:p>
                    <a:r>
                      <a:rPr lang="en-US" sz="1600" dirty="0">
                        <a:latin typeface="Arial" pitchFamily="34" charset="0"/>
                        <a:cs typeface="Arial" pitchFamily="34" charset="0"/>
                      </a:rPr>
                      <a:t>My</a:t>
                    </a:r>
                    <a:endParaRPr lang="en-IN" sz="1600" dirty="0">
                      <a:latin typeface="Arial" pitchFamily="34" charset="0"/>
                      <a:cs typeface="Arial" pitchFamily="34" charset="0"/>
                    </a:endParaRPr>
                  </a:p>
                </p:txBody>
              </p:sp>
            </p:grpSp>
            <p:grpSp>
              <p:nvGrpSpPr>
                <p:cNvPr id="14" name="Group 13"/>
                <p:cNvGrpSpPr/>
                <p:nvPr/>
              </p:nvGrpSpPr>
              <p:grpSpPr>
                <a:xfrm>
                  <a:off x="4920018" y="1090473"/>
                  <a:ext cx="662686" cy="307777"/>
                  <a:chOff x="4920018" y="1090473"/>
                  <a:chExt cx="662686" cy="307777"/>
                </a:xfrm>
              </p:grpSpPr>
              <p:cxnSp>
                <p:nvCxnSpPr>
                  <p:cNvPr id="11" name="Straight Connector 10"/>
                  <p:cNvCxnSpPr>
                    <a:stCxn id="3" idx="3"/>
                    <a:endCxn id="24" idx="1"/>
                  </p:cNvCxnSpPr>
                  <p:nvPr/>
                </p:nvCxnSpPr>
                <p:spPr>
                  <a:xfrm flipV="1">
                    <a:off x="4920018" y="1291778"/>
                    <a:ext cx="662686" cy="42291"/>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066514" y="1090473"/>
                    <a:ext cx="370614" cy="307777"/>
                  </a:xfrm>
                  <a:prstGeom prst="rect">
                    <a:avLst/>
                  </a:prstGeom>
                  <a:noFill/>
                </p:spPr>
                <p:txBody>
                  <a:bodyPr wrap="none" rtlCol="0">
                    <a:spAutoFit/>
                  </a:bodyPr>
                  <a:lstStyle/>
                  <a:p>
                    <a:r>
                      <a:rPr lang="en-US" sz="1400" dirty="0" smtClean="0"/>
                      <a:t>h1</a:t>
                    </a:r>
                    <a:endParaRPr lang="en-IN" sz="1400" dirty="0"/>
                  </a:p>
                </p:txBody>
              </p:sp>
            </p:grpSp>
          </p:grpSp>
          <p:grpSp>
            <p:nvGrpSpPr>
              <p:cNvPr id="17" name="Group 16"/>
              <p:cNvGrpSpPr/>
              <p:nvPr/>
            </p:nvGrpSpPr>
            <p:grpSpPr>
              <a:xfrm>
                <a:off x="5582704" y="1063178"/>
                <a:ext cx="1173707" cy="1273004"/>
                <a:chOff x="4462818" y="1105469"/>
                <a:chExt cx="1173707" cy="1273004"/>
              </a:xfrm>
            </p:grpSpPr>
            <p:grpSp>
              <p:nvGrpSpPr>
                <p:cNvPr id="18" name="Group 17"/>
                <p:cNvGrpSpPr/>
                <p:nvPr/>
              </p:nvGrpSpPr>
              <p:grpSpPr>
                <a:xfrm>
                  <a:off x="4462818" y="1105469"/>
                  <a:ext cx="697627" cy="1273004"/>
                  <a:chOff x="4462818" y="1105469"/>
                  <a:chExt cx="697627" cy="1273004"/>
                </a:xfrm>
              </p:grpSpPr>
              <p:grpSp>
                <p:nvGrpSpPr>
                  <p:cNvPr id="22" name="Group 21"/>
                  <p:cNvGrpSpPr/>
                  <p:nvPr/>
                </p:nvGrpSpPr>
                <p:grpSpPr>
                  <a:xfrm>
                    <a:off x="4462818" y="1105469"/>
                    <a:ext cx="457200" cy="887104"/>
                    <a:chOff x="4462818" y="1105469"/>
                    <a:chExt cx="457200" cy="887104"/>
                  </a:xfrm>
                </p:grpSpPr>
                <p:sp>
                  <p:nvSpPr>
                    <p:cNvPr id="24" name="Rectangle 23"/>
                    <p:cNvSpPr/>
                    <p:nvPr/>
                  </p:nvSpPr>
                  <p:spPr>
                    <a:xfrm>
                      <a:off x="4462818" y="1105469"/>
                      <a:ext cx="45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5" name="Straight Connector 24"/>
                    <p:cNvCxnSpPr>
                      <a:stCxn id="24" idx="2"/>
                    </p:cNvCxnSpPr>
                    <p:nvPr/>
                  </p:nvCxnSpPr>
                  <p:spPr>
                    <a:xfrm>
                      <a:off x="4691418" y="1562669"/>
                      <a:ext cx="0" cy="42990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3" name="TextBox 22"/>
                  <p:cNvSpPr txBox="1"/>
                  <p:nvPr/>
                </p:nvSpPr>
                <p:spPr>
                  <a:xfrm>
                    <a:off x="4462818" y="2039919"/>
                    <a:ext cx="697627" cy="338554"/>
                  </a:xfrm>
                  <a:prstGeom prst="rect">
                    <a:avLst/>
                  </a:prstGeom>
                  <a:noFill/>
                </p:spPr>
                <p:txBody>
                  <a:bodyPr wrap="none" rtlCol="0">
                    <a:spAutoFit/>
                  </a:bodyPr>
                  <a:lstStyle/>
                  <a:p>
                    <a:r>
                      <a:rPr lang="en-US" sz="1600" dirty="0">
                        <a:latin typeface="Arial" pitchFamily="34" charset="0"/>
                        <a:cs typeface="Arial" pitchFamily="34" charset="0"/>
                      </a:rPr>
                      <a:t>name</a:t>
                    </a:r>
                    <a:endParaRPr lang="en-IN" sz="1600" dirty="0">
                      <a:latin typeface="Arial" pitchFamily="34" charset="0"/>
                      <a:cs typeface="Arial" pitchFamily="34" charset="0"/>
                    </a:endParaRPr>
                  </a:p>
                </p:txBody>
              </p:sp>
            </p:grpSp>
            <p:grpSp>
              <p:nvGrpSpPr>
                <p:cNvPr id="19" name="Group 18"/>
                <p:cNvGrpSpPr/>
                <p:nvPr/>
              </p:nvGrpSpPr>
              <p:grpSpPr>
                <a:xfrm>
                  <a:off x="4920018" y="1105469"/>
                  <a:ext cx="716507" cy="307777"/>
                  <a:chOff x="4920018" y="1105469"/>
                  <a:chExt cx="716507" cy="307777"/>
                </a:xfrm>
              </p:grpSpPr>
              <p:cxnSp>
                <p:nvCxnSpPr>
                  <p:cNvPr id="20" name="Straight Connector 19"/>
                  <p:cNvCxnSpPr>
                    <a:stCxn id="24" idx="3"/>
                  </p:cNvCxnSpPr>
                  <p:nvPr/>
                </p:nvCxnSpPr>
                <p:spPr>
                  <a:xfrm>
                    <a:off x="4920018" y="1334069"/>
                    <a:ext cx="716507"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066514" y="1105469"/>
                    <a:ext cx="370614" cy="307777"/>
                  </a:xfrm>
                  <a:prstGeom prst="rect">
                    <a:avLst/>
                  </a:prstGeom>
                  <a:noFill/>
                </p:spPr>
                <p:txBody>
                  <a:bodyPr wrap="none" rtlCol="0">
                    <a:spAutoFit/>
                  </a:bodyPr>
                  <a:lstStyle/>
                  <a:p>
                    <a:r>
                      <a:rPr lang="en-US" sz="1400" dirty="0" smtClean="0"/>
                      <a:t>h2</a:t>
                    </a:r>
                    <a:endParaRPr lang="en-IN" sz="1400" dirty="0"/>
                  </a:p>
                </p:txBody>
              </p:sp>
            </p:grpSp>
          </p:grpSp>
          <p:grpSp>
            <p:nvGrpSpPr>
              <p:cNvPr id="26" name="Group 25"/>
              <p:cNvGrpSpPr/>
              <p:nvPr/>
            </p:nvGrpSpPr>
            <p:grpSpPr>
              <a:xfrm>
                <a:off x="6751122" y="1063178"/>
                <a:ext cx="1173707" cy="1273004"/>
                <a:chOff x="4462818" y="1105469"/>
                <a:chExt cx="1173707" cy="1273004"/>
              </a:xfrm>
            </p:grpSpPr>
            <p:grpSp>
              <p:nvGrpSpPr>
                <p:cNvPr id="27" name="Group 26"/>
                <p:cNvGrpSpPr/>
                <p:nvPr/>
              </p:nvGrpSpPr>
              <p:grpSpPr>
                <a:xfrm>
                  <a:off x="4462818" y="1105469"/>
                  <a:ext cx="457200" cy="1273004"/>
                  <a:chOff x="4462818" y="1105469"/>
                  <a:chExt cx="457200" cy="1273004"/>
                </a:xfrm>
              </p:grpSpPr>
              <p:grpSp>
                <p:nvGrpSpPr>
                  <p:cNvPr id="31" name="Group 30"/>
                  <p:cNvGrpSpPr/>
                  <p:nvPr/>
                </p:nvGrpSpPr>
                <p:grpSpPr>
                  <a:xfrm>
                    <a:off x="4462818" y="1105469"/>
                    <a:ext cx="457200" cy="887104"/>
                    <a:chOff x="4462818" y="1105469"/>
                    <a:chExt cx="457200" cy="887104"/>
                  </a:xfrm>
                </p:grpSpPr>
                <p:sp>
                  <p:nvSpPr>
                    <p:cNvPr id="33" name="Rectangle 32"/>
                    <p:cNvSpPr/>
                    <p:nvPr/>
                  </p:nvSpPr>
                  <p:spPr>
                    <a:xfrm>
                      <a:off x="4462818" y="1105469"/>
                      <a:ext cx="45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34" name="Straight Connector 33"/>
                    <p:cNvCxnSpPr>
                      <a:stCxn id="33" idx="2"/>
                    </p:cNvCxnSpPr>
                    <p:nvPr/>
                  </p:nvCxnSpPr>
                  <p:spPr>
                    <a:xfrm>
                      <a:off x="4691418" y="1562669"/>
                      <a:ext cx="0" cy="429904"/>
                    </a:xfrm>
                    <a:prstGeom prst="line">
                      <a:avLst/>
                    </a:prstGeom>
                  </p:spPr>
                  <p:style>
                    <a:lnRef idx="1">
                      <a:schemeClr val="accent1"/>
                    </a:lnRef>
                    <a:fillRef idx="0">
                      <a:schemeClr val="accent1"/>
                    </a:fillRef>
                    <a:effectRef idx="0">
                      <a:schemeClr val="accent1"/>
                    </a:effectRef>
                    <a:fontRef idx="minor">
                      <a:schemeClr val="tx1"/>
                    </a:fontRef>
                  </p:style>
                </p:cxnSp>
              </p:grpSp>
              <p:sp>
                <p:nvSpPr>
                  <p:cNvPr id="32" name="TextBox 31"/>
                  <p:cNvSpPr txBox="1"/>
                  <p:nvPr/>
                </p:nvSpPr>
                <p:spPr>
                  <a:xfrm>
                    <a:off x="4462818" y="2039919"/>
                    <a:ext cx="332142" cy="338554"/>
                  </a:xfrm>
                  <a:prstGeom prst="rect">
                    <a:avLst/>
                  </a:prstGeom>
                  <a:noFill/>
                </p:spPr>
                <p:txBody>
                  <a:bodyPr wrap="none" rtlCol="0">
                    <a:spAutoFit/>
                  </a:bodyPr>
                  <a:lstStyle/>
                  <a:p>
                    <a:r>
                      <a:rPr lang="en-US" sz="1600" dirty="0">
                        <a:latin typeface="Arial" pitchFamily="34" charset="0"/>
                        <a:cs typeface="Arial" pitchFamily="34" charset="0"/>
                      </a:rPr>
                      <a:t>is</a:t>
                    </a:r>
                    <a:endParaRPr lang="en-IN" sz="1600" dirty="0">
                      <a:latin typeface="Arial" pitchFamily="34" charset="0"/>
                      <a:cs typeface="Arial" pitchFamily="34" charset="0"/>
                    </a:endParaRPr>
                  </a:p>
                </p:txBody>
              </p:sp>
            </p:grpSp>
            <p:grpSp>
              <p:nvGrpSpPr>
                <p:cNvPr id="28" name="Group 27"/>
                <p:cNvGrpSpPr/>
                <p:nvPr/>
              </p:nvGrpSpPr>
              <p:grpSpPr>
                <a:xfrm>
                  <a:off x="4920018" y="1105469"/>
                  <a:ext cx="716507" cy="307777"/>
                  <a:chOff x="4920018" y="1105469"/>
                  <a:chExt cx="716507" cy="307777"/>
                </a:xfrm>
              </p:grpSpPr>
              <p:cxnSp>
                <p:nvCxnSpPr>
                  <p:cNvPr id="29" name="Straight Connector 28"/>
                  <p:cNvCxnSpPr>
                    <a:stCxn id="33" idx="3"/>
                  </p:cNvCxnSpPr>
                  <p:nvPr/>
                </p:nvCxnSpPr>
                <p:spPr>
                  <a:xfrm>
                    <a:off x="4920018" y="1334069"/>
                    <a:ext cx="716507"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066514" y="1105469"/>
                    <a:ext cx="370614" cy="307777"/>
                  </a:xfrm>
                  <a:prstGeom prst="rect">
                    <a:avLst/>
                  </a:prstGeom>
                  <a:noFill/>
                </p:spPr>
                <p:txBody>
                  <a:bodyPr wrap="none" rtlCol="0">
                    <a:spAutoFit/>
                  </a:bodyPr>
                  <a:lstStyle/>
                  <a:p>
                    <a:r>
                      <a:rPr lang="en-US" sz="1400" dirty="0" smtClean="0"/>
                      <a:t>h3</a:t>
                    </a:r>
                    <a:endParaRPr lang="en-IN" sz="1400" dirty="0"/>
                  </a:p>
                </p:txBody>
              </p:sp>
            </p:grpSp>
          </p:grpSp>
          <p:grpSp>
            <p:nvGrpSpPr>
              <p:cNvPr id="36" name="Group 35"/>
              <p:cNvGrpSpPr/>
              <p:nvPr/>
            </p:nvGrpSpPr>
            <p:grpSpPr>
              <a:xfrm>
                <a:off x="7924829" y="1045684"/>
                <a:ext cx="720069" cy="1273004"/>
                <a:chOff x="4462818" y="1105469"/>
                <a:chExt cx="720069" cy="1273004"/>
              </a:xfrm>
            </p:grpSpPr>
            <p:grpSp>
              <p:nvGrpSpPr>
                <p:cNvPr id="40" name="Group 39"/>
                <p:cNvGrpSpPr/>
                <p:nvPr/>
              </p:nvGrpSpPr>
              <p:grpSpPr>
                <a:xfrm>
                  <a:off x="4462818" y="1105469"/>
                  <a:ext cx="457200" cy="887104"/>
                  <a:chOff x="4462818" y="1105469"/>
                  <a:chExt cx="457200" cy="887104"/>
                </a:xfrm>
              </p:grpSpPr>
              <p:sp>
                <p:nvSpPr>
                  <p:cNvPr id="42" name="Rectangle 41"/>
                  <p:cNvSpPr/>
                  <p:nvPr/>
                </p:nvSpPr>
                <p:spPr>
                  <a:xfrm>
                    <a:off x="4462818" y="1105469"/>
                    <a:ext cx="45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3" name="Straight Connector 42"/>
                  <p:cNvCxnSpPr>
                    <a:stCxn id="42" idx="2"/>
                  </p:cNvCxnSpPr>
                  <p:nvPr/>
                </p:nvCxnSpPr>
                <p:spPr>
                  <a:xfrm>
                    <a:off x="4691418" y="1562669"/>
                    <a:ext cx="0" cy="429904"/>
                  </a:xfrm>
                  <a:prstGeom prst="line">
                    <a:avLst/>
                  </a:prstGeom>
                </p:spPr>
                <p:style>
                  <a:lnRef idx="1">
                    <a:schemeClr val="accent1"/>
                  </a:lnRef>
                  <a:fillRef idx="0">
                    <a:schemeClr val="accent1"/>
                  </a:fillRef>
                  <a:effectRef idx="0">
                    <a:schemeClr val="accent1"/>
                  </a:effectRef>
                  <a:fontRef idx="minor">
                    <a:schemeClr val="tx1"/>
                  </a:fontRef>
                </p:style>
              </p:cxnSp>
            </p:grpSp>
            <p:sp>
              <p:nvSpPr>
                <p:cNvPr id="41" name="TextBox 40"/>
                <p:cNvSpPr txBox="1"/>
                <p:nvPr/>
              </p:nvSpPr>
              <p:spPr>
                <a:xfrm>
                  <a:off x="4462818" y="2039919"/>
                  <a:ext cx="720069" cy="338554"/>
                </a:xfrm>
                <a:prstGeom prst="rect">
                  <a:avLst/>
                </a:prstGeom>
                <a:noFill/>
              </p:spPr>
              <p:txBody>
                <a:bodyPr wrap="none" rtlCol="0">
                  <a:spAutoFit/>
                </a:bodyPr>
                <a:lstStyle/>
                <a:p>
                  <a:r>
                    <a:rPr lang="en-US" sz="1600" dirty="0" smtClean="0">
                      <a:latin typeface="Arial" pitchFamily="34" charset="0"/>
                      <a:cs typeface="Arial" pitchFamily="34" charset="0"/>
                    </a:rPr>
                    <a:t>Aman</a:t>
                  </a:r>
                  <a:endParaRPr lang="en-IN" sz="1600" dirty="0">
                    <a:latin typeface="Arial" pitchFamily="34" charset="0"/>
                    <a:cs typeface="Arial" pitchFamily="34" charset="0"/>
                  </a:endParaRPr>
                </a:p>
              </p:txBody>
            </p:sp>
          </p:grpSp>
          <p:grpSp>
            <p:nvGrpSpPr>
              <p:cNvPr id="49" name="Group 48"/>
              <p:cNvGrpSpPr/>
              <p:nvPr/>
            </p:nvGrpSpPr>
            <p:grpSpPr>
              <a:xfrm>
                <a:off x="4691418" y="819287"/>
                <a:ext cx="300251" cy="279779"/>
                <a:chOff x="1555844" y="2224585"/>
                <a:chExt cx="300251" cy="279779"/>
              </a:xfrm>
            </p:grpSpPr>
            <p:sp>
              <p:nvSpPr>
                <p:cNvPr id="47" name="Freeform 46"/>
                <p:cNvSpPr/>
                <p:nvPr/>
              </p:nvSpPr>
              <p:spPr>
                <a:xfrm>
                  <a:off x="1555844" y="2279176"/>
                  <a:ext cx="300251" cy="225188"/>
                </a:xfrm>
                <a:custGeom>
                  <a:avLst/>
                  <a:gdLst>
                    <a:gd name="connsiteX0" fmla="*/ 0 w 600502"/>
                    <a:gd name="connsiteY0" fmla="*/ 450376 h 450376"/>
                    <a:gd name="connsiteX1" fmla="*/ 27296 w 600502"/>
                    <a:gd name="connsiteY1" fmla="*/ 259308 h 450376"/>
                    <a:gd name="connsiteX2" fmla="*/ 95534 w 600502"/>
                    <a:gd name="connsiteY2" fmla="*/ 163773 h 450376"/>
                    <a:gd name="connsiteX3" fmla="*/ 122830 w 600502"/>
                    <a:gd name="connsiteY3" fmla="*/ 122830 h 450376"/>
                    <a:gd name="connsiteX4" fmla="*/ 177421 w 600502"/>
                    <a:gd name="connsiteY4" fmla="*/ 95534 h 450376"/>
                    <a:gd name="connsiteX5" fmla="*/ 218364 w 600502"/>
                    <a:gd name="connsiteY5" fmla="*/ 68239 h 450376"/>
                    <a:gd name="connsiteX6" fmla="*/ 259307 w 600502"/>
                    <a:gd name="connsiteY6" fmla="*/ 54591 h 450376"/>
                    <a:gd name="connsiteX7" fmla="*/ 313899 w 600502"/>
                    <a:gd name="connsiteY7" fmla="*/ 27296 h 450376"/>
                    <a:gd name="connsiteX8" fmla="*/ 368490 w 600502"/>
                    <a:gd name="connsiteY8" fmla="*/ 13648 h 450376"/>
                    <a:gd name="connsiteX9" fmla="*/ 409433 w 600502"/>
                    <a:gd name="connsiteY9" fmla="*/ 0 h 450376"/>
                    <a:gd name="connsiteX10" fmla="*/ 600502 w 600502"/>
                    <a:gd name="connsiteY10" fmla="*/ 13648 h 45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0502" h="450376">
                      <a:moveTo>
                        <a:pt x="0" y="450376"/>
                      </a:moveTo>
                      <a:cubicBezTo>
                        <a:pt x="2407" y="426303"/>
                        <a:pt x="7937" y="304480"/>
                        <a:pt x="27296" y="259308"/>
                      </a:cubicBezTo>
                      <a:cubicBezTo>
                        <a:pt x="34190" y="243222"/>
                        <a:pt x="90537" y="170769"/>
                        <a:pt x="95534" y="163773"/>
                      </a:cubicBezTo>
                      <a:cubicBezTo>
                        <a:pt x="105068" y="150426"/>
                        <a:pt x="110229" y="133331"/>
                        <a:pt x="122830" y="122830"/>
                      </a:cubicBezTo>
                      <a:cubicBezTo>
                        <a:pt x="138459" y="109806"/>
                        <a:pt x="159757" y="105628"/>
                        <a:pt x="177421" y="95534"/>
                      </a:cubicBezTo>
                      <a:cubicBezTo>
                        <a:pt x="191662" y="87396"/>
                        <a:pt x="203693" y="75574"/>
                        <a:pt x="218364" y="68239"/>
                      </a:cubicBezTo>
                      <a:cubicBezTo>
                        <a:pt x="231231" y="61805"/>
                        <a:pt x="246084" y="60258"/>
                        <a:pt x="259307" y="54591"/>
                      </a:cubicBezTo>
                      <a:cubicBezTo>
                        <a:pt x="278007" y="46577"/>
                        <a:pt x="294849" y="34440"/>
                        <a:pt x="313899" y="27296"/>
                      </a:cubicBezTo>
                      <a:cubicBezTo>
                        <a:pt x="331462" y="20710"/>
                        <a:pt x="350455" y="18801"/>
                        <a:pt x="368490" y="13648"/>
                      </a:cubicBezTo>
                      <a:cubicBezTo>
                        <a:pt x="382322" y="9696"/>
                        <a:pt x="395785" y="4549"/>
                        <a:pt x="409433" y="0"/>
                      </a:cubicBezTo>
                      <a:lnTo>
                        <a:pt x="600502" y="13648"/>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48" name="Freeform 47"/>
                <p:cNvSpPr/>
                <p:nvPr/>
              </p:nvSpPr>
              <p:spPr>
                <a:xfrm>
                  <a:off x="1678675" y="2224585"/>
                  <a:ext cx="177420" cy="142375"/>
                </a:xfrm>
                <a:custGeom>
                  <a:avLst/>
                  <a:gdLst>
                    <a:gd name="connsiteX0" fmla="*/ 81886 w 178622"/>
                    <a:gd name="connsiteY0" fmla="*/ 0 h 191861"/>
                    <a:gd name="connsiteX1" fmla="*/ 177421 w 178622"/>
                    <a:gd name="connsiteY1" fmla="*/ 95534 h 191861"/>
                    <a:gd name="connsiteX2" fmla="*/ 122829 w 178622"/>
                    <a:gd name="connsiteY2" fmla="*/ 150125 h 191861"/>
                    <a:gd name="connsiteX3" fmla="*/ 27295 w 178622"/>
                    <a:gd name="connsiteY3" fmla="*/ 191069 h 191861"/>
                    <a:gd name="connsiteX4" fmla="*/ 0 w 178622"/>
                    <a:gd name="connsiteY4" fmla="*/ 191069 h 191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622" h="191861">
                      <a:moveTo>
                        <a:pt x="81886" y="0"/>
                      </a:moveTo>
                      <a:cubicBezTo>
                        <a:pt x="96150" y="11411"/>
                        <a:pt x="171572" y="60438"/>
                        <a:pt x="177421" y="95534"/>
                      </a:cubicBezTo>
                      <a:cubicBezTo>
                        <a:pt x="185509" y="144061"/>
                        <a:pt x="151136" y="137994"/>
                        <a:pt x="122829" y="150125"/>
                      </a:cubicBezTo>
                      <a:cubicBezTo>
                        <a:pt x="83987" y="166771"/>
                        <a:pt x="67304" y="183067"/>
                        <a:pt x="27295" y="191069"/>
                      </a:cubicBezTo>
                      <a:cubicBezTo>
                        <a:pt x="18373" y="192853"/>
                        <a:pt x="9098" y="191069"/>
                        <a:pt x="0" y="191069"/>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grpSp>
            <p:nvGrpSpPr>
              <p:cNvPr id="51" name="Group 50"/>
              <p:cNvGrpSpPr/>
              <p:nvPr/>
            </p:nvGrpSpPr>
            <p:grpSpPr>
              <a:xfrm>
                <a:off x="5768384" y="783399"/>
                <a:ext cx="300251" cy="279779"/>
                <a:chOff x="1555844" y="2224585"/>
                <a:chExt cx="300251" cy="279779"/>
              </a:xfrm>
            </p:grpSpPr>
            <p:sp>
              <p:nvSpPr>
                <p:cNvPr id="52" name="Freeform 51"/>
                <p:cNvSpPr/>
                <p:nvPr/>
              </p:nvSpPr>
              <p:spPr>
                <a:xfrm>
                  <a:off x="1555844" y="2279176"/>
                  <a:ext cx="300251" cy="225188"/>
                </a:xfrm>
                <a:custGeom>
                  <a:avLst/>
                  <a:gdLst>
                    <a:gd name="connsiteX0" fmla="*/ 0 w 600502"/>
                    <a:gd name="connsiteY0" fmla="*/ 450376 h 450376"/>
                    <a:gd name="connsiteX1" fmla="*/ 27296 w 600502"/>
                    <a:gd name="connsiteY1" fmla="*/ 259308 h 450376"/>
                    <a:gd name="connsiteX2" fmla="*/ 95534 w 600502"/>
                    <a:gd name="connsiteY2" fmla="*/ 163773 h 450376"/>
                    <a:gd name="connsiteX3" fmla="*/ 122830 w 600502"/>
                    <a:gd name="connsiteY3" fmla="*/ 122830 h 450376"/>
                    <a:gd name="connsiteX4" fmla="*/ 177421 w 600502"/>
                    <a:gd name="connsiteY4" fmla="*/ 95534 h 450376"/>
                    <a:gd name="connsiteX5" fmla="*/ 218364 w 600502"/>
                    <a:gd name="connsiteY5" fmla="*/ 68239 h 450376"/>
                    <a:gd name="connsiteX6" fmla="*/ 259307 w 600502"/>
                    <a:gd name="connsiteY6" fmla="*/ 54591 h 450376"/>
                    <a:gd name="connsiteX7" fmla="*/ 313899 w 600502"/>
                    <a:gd name="connsiteY7" fmla="*/ 27296 h 450376"/>
                    <a:gd name="connsiteX8" fmla="*/ 368490 w 600502"/>
                    <a:gd name="connsiteY8" fmla="*/ 13648 h 450376"/>
                    <a:gd name="connsiteX9" fmla="*/ 409433 w 600502"/>
                    <a:gd name="connsiteY9" fmla="*/ 0 h 450376"/>
                    <a:gd name="connsiteX10" fmla="*/ 600502 w 600502"/>
                    <a:gd name="connsiteY10" fmla="*/ 13648 h 45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0502" h="450376">
                      <a:moveTo>
                        <a:pt x="0" y="450376"/>
                      </a:moveTo>
                      <a:cubicBezTo>
                        <a:pt x="2407" y="426303"/>
                        <a:pt x="7937" y="304480"/>
                        <a:pt x="27296" y="259308"/>
                      </a:cubicBezTo>
                      <a:cubicBezTo>
                        <a:pt x="34190" y="243222"/>
                        <a:pt x="90537" y="170769"/>
                        <a:pt x="95534" y="163773"/>
                      </a:cubicBezTo>
                      <a:cubicBezTo>
                        <a:pt x="105068" y="150426"/>
                        <a:pt x="110229" y="133331"/>
                        <a:pt x="122830" y="122830"/>
                      </a:cubicBezTo>
                      <a:cubicBezTo>
                        <a:pt x="138459" y="109806"/>
                        <a:pt x="159757" y="105628"/>
                        <a:pt x="177421" y="95534"/>
                      </a:cubicBezTo>
                      <a:cubicBezTo>
                        <a:pt x="191662" y="87396"/>
                        <a:pt x="203693" y="75574"/>
                        <a:pt x="218364" y="68239"/>
                      </a:cubicBezTo>
                      <a:cubicBezTo>
                        <a:pt x="231231" y="61805"/>
                        <a:pt x="246084" y="60258"/>
                        <a:pt x="259307" y="54591"/>
                      </a:cubicBezTo>
                      <a:cubicBezTo>
                        <a:pt x="278007" y="46577"/>
                        <a:pt x="294849" y="34440"/>
                        <a:pt x="313899" y="27296"/>
                      </a:cubicBezTo>
                      <a:cubicBezTo>
                        <a:pt x="331462" y="20710"/>
                        <a:pt x="350455" y="18801"/>
                        <a:pt x="368490" y="13648"/>
                      </a:cubicBezTo>
                      <a:cubicBezTo>
                        <a:pt x="382322" y="9696"/>
                        <a:pt x="395785" y="4549"/>
                        <a:pt x="409433" y="0"/>
                      </a:cubicBezTo>
                      <a:lnTo>
                        <a:pt x="600502" y="13648"/>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53" name="Freeform 52"/>
                <p:cNvSpPr/>
                <p:nvPr/>
              </p:nvSpPr>
              <p:spPr>
                <a:xfrm>
                  <a:off x="1678675" y="2224585"/>
                  <a:ext cx="177420" cy="142375"/>
                </a:xfrm>
                <a:custGeom>
                  <a:avLst/>
                  <a:gdLst>
                    <a:gd name="connsiteX0" fmla="*/ 81886 w 178622"/>
                    <a:gd name="connsiteY0" fmla="*/ 0 h 191861"/>
                    <a:gd name="connsiteX1" fmla="*/ 177421 w 178622"/>
                    <a:gd name="connsiteY1" fmla="*/ 95534 h 191861"/>
                    <a:gd name="connsiteX2" fmla="*/ 122829 w 178622"/>
                    <a:gd name="connsiteY2" fmla="*/ 150125 h 191861"/>
                    <a:gd name="connsiteX3" fmla="*/ 27295 w 178622"/>
                    <a:gd name="connsiteY3" fmla="*/ 191069 h 191861"/>
                    <a:gd name="connsiteX4" fmla="*/ 0 w 178622"/>
                    <a:gd name="connsiteY4" fmla="*/ 191069 h 191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622" h="191861">
                      <a:moveTo>
                        <a:pt x="81886" y="0"/>
                      </a:moveTo>
                      <a:cubicBezTo>
                        <a:pt x="96150" y="11411"/>
                        <a:pt x="171572" y="60438"/>
                        <a:pt x="177421" y="95534"/>
                      </a:cubicBezTo>
                      <a:cubicBezTo>
                        <a:pt x="185509" y="144061"/>
                        <a:pt x="151136" y="137994"/>
                        <a:pt x="122829" y="150125"/>
                      </a:cubicBezTo>
                      <a:cubicBezTo>
                        <a:pt x="83987" y="166771"/>
                        <a:pt x="67304" y="183067"/>
                        <a:pt x="27295" y="191069"/>
                      </a:cubicBezTo>
                      <a:cubicBezTo>
                        <a:pt x="18373" y="192853"/>
                        <a:pt x="9098" y="191069"/>
                        <a:pt x="0" y="191069"/>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grpSp>
            <p:nvGrpSpPr>
              <p:cNvPr id="54" name="Group 53"/>
              <p:cNvGrpSpPr/>
              <p:nvPr/>
            </p:nvGrpSpPr>
            <p:grpSpPr>
              <a:xfrm>
                <a:off x="6979722" y="810694"/>
                <a:ext cx="300251" cy="279779"/>
                <a:chOff x="1555844" y="2224585"/>
                <a:chExt cx="300251" cy="279779"/>
              </a:xfrm>
            </p:grpSpPr>
            <p:sp>
              <p:nvSpPr>
                <p:cNvPr id="55" name="Freeform 54"/>
                <p:cNvSpPr/>
                <p:nvPr/>
              </p:nvSpPr>
              <p:spPr>
                <a:xfrm>
                  <a:off x="1555844" y="2279176"/>
                  <a:ext cx="300251" cy="225188"/>
                </a:xfrm>
                <a:custGeom>
                  <a:avLst/>
                  <a:gdLst>
                    <a:gd name="connsiteX0" fmla="*/ 0 w 600502"/>
                    <a:gd name="connsiteY0" fmla="*/ 450376 h 450376"/>
                    <a:gd name="connsiteX1" fmla="*/ 27296 w 600502"/>
                    <a:gd name="connsiteY1" fmla="*/ 259308 h 450376"/>
                    <a:gd name="connsiteX2" fmla="*/ 95534 w 600502"/>
                    <a:gd name="connsiteY2" fmla="*/ 163773 h 450376"/>
                    <a:gd name="connsiteX3" fmla="*/ 122830 w 600502"/>
                    <a:gd name="connsiteY3" fmla="*/ 122830 h 450376"/>
                    <a:gd name="connsiteX4" fmla="*/ 177421 w 600502"/>
                    <a:gd name="connsiteY4" fmla="*/ 95534 h 450376"/>
                    <a:gd name="connsiteX5" fmla="*/ 218364 w 600502"/>
                    <a:gd name="connsiteY5" fmla="*/ 68239 h 450376"/>
                    <a:gd name="connsiteX6" fmla="*/ 259307 w 600502"/>
                    <a:gd name="connsiteY6" fmla="*/ 54591 h 450376"/>
                    <a:gd name="connsiteX7" fmla="*/ 313899 w 600502"/>
                    <a:gd name="connsiteY7" fmla="*/ 27296 h 450376"/>
                    <a:gd name="connsiteX8" fmla="*/ 368490 w 600502"/>
                    <a:gd name="connsiteY8" fmla="*/ 13648 h 450376"/>
                    <a:gd name="connsiteX9" fmla="*/ 409433 w 600502"/>
                    <a:gd name="connsiteY9" fmla="*/ 0 h 450376"/>
                    <a:gd name="connsiteX10" fmla="*/ 600502 w 600502"/>
                    <a:gd name="connsiteY10" fmla="*/ 13648 h 45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0502" h="450376">
                      <a:moveTo>
                        <a:pt x="0" y="450376"/>
                      </a:moveTo>
                      <a:cubicBezTo>
                        <a:pt x="2407" y="426303"/>
                        <a:pt x="7937" y="304480"/>
                        <a:pt x="27296" y="259308"/>
                      </a:cubicBezTo>
                      <a:cubicBezTo>
                        <a:pt x="34190" y="243222"/>
                        <a:pt x="90537" y="170769"/>
                        <a:pt x="95534" y="163773"/>
                      </a:cubicBezTo>
                      <a:cubicBezTo>
                        <a:pt x="105068" y="150426"/>
                        <a:pt x="110229" y="133331"/>
                        <a:pt x="122830" y="122830"/>
                      </a:cubicBezTo>
                      <a:cubicBezTo>
                        <a:pt x="138459" y="109806"/>
                        <a:pt x="159757" y="105628"/>
                        <a:pt x="177421" y="95534"/>
                      </a:cubicBezTo>
                      <a:cubicBezTo>
                        <a:pt x="191662" y="87396"/>
                        <a:pt x="203693" y="75574"/>
                        <a:pt x="218364" y="68239"/>
                      </a:cubicBezTo>
                      <a:cubicBezTo>
                        <a:pt x="231231" y="61805"/>
                        <a:pt x="246084" y="60258"/>
                        <a:pt x="259307" y="54591"/>
                      </a:cubicBezTo>
                      <a:cubicBezTo>
                        <a:pt x="278007" y="46577"/>
                        <a:pt x="294849" y="34440"/>
                        <a:pt x="313899" y="27296"/>
                      </a:cubicBezTo>
                      <a:cubicBezTo>
                        <a:pt x="331462" y="20710"/>
                        <a:pt x="350455" y="18801"/>
                        <a:pt x="368490" y="13648"/>
                      </a:cubicBezTo>
                      <a:cubicBezTo>
                        <a:pt x="382322" y="9696"/>
                        <a:pt x="395785" y="4549"/>
                        <a:pt x="409433" y="0"/>
                      </a:cubicBezTo>
                      <a:lnTo>
                        <a:pt x="600502" y="13648"/>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56" name="Freeform 55"/>
                <p:cNvSpPr/>
                <p:nvPr/>
              </p:nvSpPr>
              <p:spPr>
                <a:xfrm>
                  <a:off x="1678675" y="2224585"/>
                  <a:ext cx="177420" cy="142375"/>
                </a:xfrm>
                <a:custGeom>
                  <a:avLst/>
                  <a:gdLst>
                    <a:gd name="connsiteX0" fmla="*/ 81886 w 178622"/>
                    <a:gd name="connsiteY0" fmla="*/ 0 h 191861"/>
                    <a:gd name="connsiteX1" fmla="*/ 177421 w 178622"/>
                    <a:gd name="connsiteY1" fmla="*/ 95534 h 191861"/>
                    <a:gd name="connsiteX2" fmla="*/ 122829 w 178622"/>
                    <a:gd name="connsiteY2" fmla="*/ 150125 h 191861"/>
                    <a:gd name="connsiteX3" fmla="*/ 27295 w 178622"/>
                    <a:gd name="connsiteY3" fmla="*/ 191069 h 191861"/>
                    <a:gd name="connsiteX4" fmla="*/ 0 w 178622"/>
                    <a:gd name="connsiteY4" fmla="*/ 191069 h 191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622" h="191861">
                      <a:moveTo>
                        <a:pt x="81886" y="0"/>
                      </a:moveTo>
                      <a:cubicBezTo>
                        <a:pt x="96150" y="11411"/>
                        <a:pt x="171572" y="60438"/>
                        <a:pt x="177421" y="95534"/>
                      </a:cubicBezTo>
                      <a:cubicBezTo>
                        <a:pt x="185509" y="144061"/>
                        <a:pt x="151136" y="137994"/>
                        <a:pt x="122829" y="150125"/>
                      </a:cubicBezTo>
                      <a:cubicBezTo>
                        <a:pt x="83987" y="166771"/>
                        <a:pt x="67304" y="183067"/>
                        <a:pt x="27295" y="191069"/>
                      </a:cubicBezTo>
                      <a:cubicBezTo>
                        <a:pt x="18373" y="192853"/>
                        <a:pt x="9098" y="191069"/>
                        <a:pt x="0" y="191069"/>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grpSp>
        <p:sp>
          <p:nvSpPr>
            <p:cNvPr id="1028" name="TextBox 1027"/>
            <p:cNvSpPr txBox="1"/>
            <p:nvPr/>
          </p:nvSpPr>
          <p:spPr>
            <a:xfrm>
              <a:off x="4051926" y="37267"/>
              <a:ext cx="338554" cy="400110"/>
            </a:xfrm>
            <a:prstGeom prst="rect">
              <a:avLst/>
            </a:prstGeom>
            <a:noFill/>
          </p:spPr>
          <p:txBody>
            <a:bodyPr wrap="none" rtlCol="0">
              <a:spAutoFit/>
            </a:bodyPr>
            <a:lstStyle/>
            <a:p>
              <a:r>
                <a:rPr lang="en-US" sz="2000" dirty="0" smtClean="0">
                  <a:solidFill>
                    <a:srgbClr val="FF0066"/>
                  </a:solidFill>
                  <a:latin typeface="Algerian" pitchFamily="82" charset="0"/>
                </a:rPr>
                <a:t>4</a:t>
              </a:r>
              <a:endParaRPr lang="en-IN" sz="2000" dirty="0">
                <a:solidFill>
                  <a:srgbClr val="FF0066"/>
                </a:solidFill>
                <a:latin typeface="Algerian" pitchFamily="82" charset="0"/>
              </a:endParaRPr>
            </a:p>
          </p:txBody>
        </p:sp>
      </p:grpSp>
      <p:grpSp>
        <p:nvGrpSpPr>
          <p:cNvPr id="1035" name="Group 1034"/>
          <p:cNvGrpSpPr/>
          <p:nvPr/>
        </p:nvGrpSpPr>
        <p:grpSpPr>
          <a:xfrm>
            <a:off x="0" y="2849043"/>
            <a:ext cx="12253412" cy="2965002"/>
            <a:chOff x="0" y="2849043"/>
            <a:chExt cx="12253412" cy="2965002"/>
          </a:xfrm>
        </p:grpSpPr>
        <p:grpSp>
          <p:nvGrpSpPr>
            <p:cNvPr id="1032" name="Group 1031"/>
            <p:cNvGrpSpPr/>
            <p:nvPr/>
          </p:nvGrpSpPr>
          <p:grpSpPr>
            <a:xfrm>
              <a:off x="0" y="2951723"/>
              <a:ext cx="12253412" cy="2862322"/>
              <a:chOff x="-61414" y="2801597"/>
              <a:chExt cx="12253412" cy="2862322"/>
            </a:xfrm>
          </p:grpSpPr>
          <p:sp>
            <p:nvSpPr>
              <p:cNvPr id="1029" name="Rectangle 1028"/>
              <p:cNvSpPr/>
              <p:nvPr/>
            </p:nvSpPr>
            <p:spPr>
              <a:xfrm>
                <a:off x="122829" y="2801597"/>
                <a:ext cx="12069169" cy="2631490"/>
              </a:xfrm>
              <a:prstGeom prst="rect">
                <a:avLst/>
              </a:prstGeom>
            </p:spPr>
            <p:txBody>
              <a:bodyPr wrap="square">
                <a:spAutoFit/>
              </a:bodyPr>
              <a:lstStyle/>
              <a:p>
                <a:r>
                  <a:rPr lang="en-US" sz="1500" dirty="0">
                    <a:latin typeface="Arial Unicode MS" pitchFamily="34" charset="-128"/>
                    <a:ea typeface="Arial Unicode MS" pitchFamily="34" charset="-128"/>
                    <a:cs typeface="Arial Unicode MS" pitchFamily="34" charset="-128"/>
                  </a:rPr>
                  <a:t>in this network there is a very basic problem that is Vanishing gradient problem . </a:t>
                </a:r>
                <a:endParaRPr lang="en-US" sz="1500" dirty="0" smtClean="0">
                  <a:latin typeface="Arial Unicode MS" pitchFamily="34" charset="-128"/>
                  <a:ea typeface="Arial Unicode MS" pitchFamily="34" charset="-128"/>
                  <a:cs typeface="Arial Unicode MS" pitchFamily="34" charset="-128"/>
                </a:endParaRPr>
              </a:p>
              <a:p>
                <a:r>
                  <a:rPr lang="en-US" sz="1500" dirty="0" smtClean="0">
                    <a:latin typeface="Arial Unicode MS" pitchFamily="34" charset="-128"/>
                    <a:ea typeface="Arial Unicode MS" pitchFamily="34" charset="-128"/>
                    <a:cs typeface="Arial Unicode MS" pitchFamily="34" charset="-128"/>
                  </a:rPr>
                  <a:t>the </a:t>
                </a:r>
                <a:r>
                  <a:rPr lang="en-US" sz="1500" dirty="0">
                    <a:latin typeface="Arial Unicode MS" pitchFamily="34" charset="-128"/>
                    <a:ea typeface="Arial Unicode MS" pitchFamily="34" charset="-128"/>
                    <a:cs typeface="Arial Unicode MS" pitchFamily="34" charset="-128"/>
                  </a:rPr>
                  <a:t>vanishing gradient problem occurs when the network tries to remember information from many previous time steps — especially in long sequences (e.g., 100 words). As it reaches the final time step, the model struggles to retain and differentiate between important and unimportant information from earlier steps. </a:t>
                </a:r>
                <a:endParaRPr lang="en-US" sz="1500" dirty="0" smtClean="0">
                  <a:latin typeface="Arial Unicode MS" pitchFamily="34" charset="-128"/>
                  <a:ea typeface="Arial Unicode MS" pitchFamily="34" charset="-128"/>
                  <a:cs typeface="Arial Unicode MS" pitchFamily="34" charset="-128"/>
                </a:endParaRPr>
              </a:p>
              <a:p>
                <a:r>
                  <a:rPr lang="en-US" sz="1500" dirty="0" smtClean="0">
                    <a:solidFill>
                      <a:srgbClr val="0070C0"/>
                    </a:solidFill>
                    <a:latin typeface="Bahnschrift SemiLight" pitchFamily="34" charset="0"/>
                    <a:ea typeface="Arial Unicode MS" pitchFamily="34" charset="-128"/>
                    <a:cs typeface="Arial Unicode MS" pitchFamily="34" charset="-128"/>
                  </a:rPr>
                  <a:t>so </a:t>
                </a:r>
                <a:r>
                  <a:rPr lang="en-US" sz="1500" dirty="0">
                    <a:solidFill>
                      <a:srgbClr val="0070C0"/>
                    </a:solidFill>
                    <a:latin typeface="Bahnschrift SemiLight" pitchFamily="34" charset="0"/>
                    <a:ea typeface="Arial Unicode MS" pitchFamily="34" charset="-128"/>
                    <a:cs typeface="Arial Unicode MS" pitchFamily="34" charset="-128"/>
                  </a:rPr>
                  <a:t>some of these words may be important for my sentence some of these words may not be important for my sentence but my </a:t>
                </a:r>
                <a:r>
                  <a:rPr lang="en-US" sz="1500" dirty="0" smtClean="0">
                    <a:solidFill>
                      <a:srgbClr val="0070C0"/>
                    </a:solidFill>
                    <a:latin typeface="Bahnschrift SemiLight" pitchFamily="34" charset="0"/>
                    <a:ea typeface="Arial Unicode MS" pitchFamily="34" charset="-128"/>
                    <a:cs typeface="Arial Unicode MS" pitchFamily="34" charset="-128"/>
                  </a:rPr>
                  <a:t> network </a:t>
                </a:r>
                <a:r>
                  <a:rPr lang="en-US" sz="1500" dirty="0">
                    <a:solidFill>
                      <a:srgbClr val="0070C0"/>
                    </a:solidFill>
                    <a:latin typeface="Bahnschrift SemiLight" pitchFamily="34" charset="0"/>
                    <a:ea typeface="Arial Unicode MS" pitchFamily="34" charset="-128"/>
                    <a:cs typeface="Arial Unicode MS" pitchFamily="34" charset="-128"/>
                  </a:rPr>
                  <a:t>is not able to understand </a:t>
                </a:r>
                <a:r>
                  <a:rPr lang="en-US" sz="1500" dirty="0">
                    <a:latin typeface="Arial Unicode MS" pitchFamily="34" charset="-128"/>
                    <a:ea typeface="Arial Unicode MS" pitchFamily="34" charset="-128"/>
                    <a:cs typeface="Arial Unicode MS" pitchFamily="34" charset="-128"/>
                  </a:rPr>
                  <a:t>that that is problem number one and</a:t>
                </a:r>
              </a:p>
              <a:p>
                <a:endParaRPr lang="en-US" sz="1500" dirty="0">
                  <a:latin typeface="Arial Unicode MS" pitchFamily="34" charset="-128"/>
                  <a:ea typeface="Arial Unicode MS" pitchFamily="34" charset="-128"/>
                  <a:cs typeface="Arial Unicode MS" pitchFamily="34" charset="-128"/>
                </a:endParaRPr>
              </a:p>
              <a:p>
                <a:r>
                  <a:rPr lang="en-US" sz="1500" dirty="0">
                    <a:latin typeface="Arial Unicode MS" pitchFamily="34" charset="-128"/>
                    <a:ea typeface="Arial Unicode MS" pitchFamily="34" charset="-128"/>
                    <a:cs typeface="Arial Unicode MS" pitchFamily="34" charset="-128"/>
                  </a:rPr>
                  <a:t>problem number two is I am not able </a:t>
                </a:r>
                <a:r>
                  <a:rPr lang="en-US" sz="1500" dirty="0" smtClean="0">
                    <a:latin typeface="Arial Unicode MS" pitchFamily="34" charset="-128"/>
                    <a:ea typeface="Arial Unicode MS" pitchFamily="34" charset="-128"/>
                    <a:cs typeface="Arial Unicode MS" pitchFamily="34" charset="-128"/>
                  </a:rPr>
                  <a:t>to understand </a:t>
                </a:r>
                <a:r>
                  <a:rPr lang="en-US" sz="1500" dirty="0">
                    <a:latin typeface="Arial Unicode MS" pitchFamily="34" charset="-128"/>
                    <a:ea typeface="Arial Unicode MS" pitchFamily="34" charset="-128"/>
                    <a:cs typeface="Arial Unicode MS" pitchFamily="34" charset="-128"/>
                  </a:rPr>
                  <a:t>what will optimize my model because of this Vanishing gradient problem when you are trying to optimize your weight .</a:t>
                </a:r>
                <a:r>
                  <a:rPr lang="en-US" sz="1500" dirty="0">
                    <a:solidFill>
                      <a:srgbClr val="7030A0"/>
                    </a:solidFill>
                    <a:latin typeface="Bahnschrift SemiLight" pitchFamily="34" charset="0"/>
                    <a:ea typeface="Arial Unicode MS" pitchFamily="34" charset="-128"/>
                    <a:cs typeface="Arial Unicode MS" pitchFamily="34" charset="-128"/>
                  </a:rPr>
                  <a:t>we are not able to capture which word is more meaningful which word is less meaningful which word you should focus more which word you should focus less and since there is a gradient problem so if the network is long then network will not perform </a:t>
                </a:r>
                <a:r>
                  <a:rPr lang="en-US" sz="1500" dirty="0">
                    <a:latin typeface="Arial Unicode MS" pitchFamily="34" charset="-128"/>
                    <a:ea typeface="Arial Unicode MS" pitchFamily="34" charset="-128"/>
                    <a:cs typeface="Arial Unicode MS" pitchFamily="34" charset="-128"/>
                  </a:rPr>
                  <a:t>efficiently so our previous words will start losing importance</a:t>
                </a:r>
                <a:endParaRPr lang="en-IN" sz="1500" dirty="0">
                  <a:latin typeface="Arial Unicode MS" pitchFamily="34" charset="-128"/>
                  <a:ea typeface="Arial Unicode MS" pitchFamily="34" charset="-128"/>
                  <a:cs typeface="Arial Unicode MS" pitchFamily="34" charset="-128"/>
                </a:endParaRPr>
              </a:p>
            </p:txBody>
          </p:sp>
          <p:cxnSp>
            <p:nvCxnSpPr>
              <p:cNvPr id="1031" name="Straight Connector 1030"/>
              <p:cNvCxnSpPr/>
              <p:nvPr/>
            </p:nvCxnSpPr>
            <p:spPr>
              <a:xfrm>
                <a:off x="-61414" y="2801597"/>
                <a:ext cx="0" cy="2862322"/>
              </a:xfrm>
              <a:prstGeom prst="line">
                <a:avLst/>
              </a:prstGeom>
              <a:ln w="76200">
                <a:solidFill>
                  <a:srgbClr val="00D05E"/>
                </a:solidFill>
              </a:ln>
            </p:spPr>
            <p:style>
              <a:lnRef idx="1">
                <a:schemeClr val="accent1"/>
              </a:lnRef>
              <a:fillRef idx="0">
                <a:schemeClr val="accent1"/>
              </a:fillRef>
              <a:effectRef idx="0">
                <a:schemeClr val="accent1"/>
              </a:effectRef>
              <a:fontRef idx="minor">
                <a:schemeClr val="tx1"/>
              </a:fontRef>
            </p:style>
          </p:cxnSp>
        </p:grpSp>
        <p:cxnSp>
          <p:nvCxnSpPr>
            <p:cNvPr id="75" name="Straight Connector 74"/>
            <p:cNvCxnSpPr/>
            <p:nvPr/>
          </p:nvCxnSpPr>
          <p:spPr>
            <a:xfrm>
              <a:off x="12192000" y="2849043"/>
              <a:ext cx="0" cy="2862322"/>
            </a:xfrm>
            <a:prstGeom prst="line">
              <a:avLst/>
            </a:prstGeom>
            <a:ln w="76200">
              <a:solidFill>
                <a:srgbClr val="00D05E"/>
              </a:solidFill>
            </a:ln>
          </p:spPr>
          <p:style>
            <a:lnRef idx="1">
              <a:schemeClr val="accent1"/>
            </a:lnRef>
            <a:fillRef idx="0">
              <a:schemeClr val="accent1"/>
            </a:fillRef>
            <a:effectRef idx="0">
              <a:schemeClr val="accent1"/>
            </a:effectRef>
            <a:fontRef idx="minor">
              <a:schemeClr val="tx1"/>
            </a:fontRef>
          </p:style>
        </p:cxnSp>
      </p:grpSp>
      <p:grpSp>
        <p:nvGrpSpPr>
          <p:cNvPr id="1045" name="Group 1044"/>
          <p:cNvGrpSpPr/>
          <p:nvPr/>
        </p:nvGrpSpPr>
        <p:grpSpPr>
          <a:xfrm>
            <a:off x="2963283" y="2091454"/>
            <a:ext cx="3385981" cy="536765"/>
            <a:chOff x="2963283" y="2091454"/>
            <a:chExt cx="3385981" cy="536765"/>
          </a:xfrm>
        </p:grpSpPr>
        <p:grpSp>
          <p:nvGrpSpPr>
            <p:cNvPr id="1041" name="Group 1040"/>
            <p:cNvGrpSpPr/>
            <p:nvPr/>
          </p:nvGrpSpPr>
          <p:grpSpPr>
            <a:xfrm>
              <a:off x="3497452" y="2091454"/>
              <a:ext cx="2851812" cy="536765"/>
              <a:chOff x="1924334" y="1837945"/>
              <a:chExt cx="2851812" cy="536765"/>
            </a:xfrm>
          </p:grpSpPr>
          <p:sp>
            <p:nvSpPr>
              <p:cNvPr id="1033" name="Rectangle 1032"/>
              <p:cNvSpPr/>
              <p:nvPr/>
            </p:nvSpPr>
            <p:spPr>
              <a:xfrm>
                <a:off x="1931799" y="1939397"/>
                <a:ext cx="2760692" cy="338554"/>
              </a:xfrm>
              <a:prstGeom prst="rect">
                <a:avLst/>
              </a:prstGeom>
            </p:spPr>
            <p:txBody>
              <a:bodyPr wrap="none">
                <a:spAutoFit/>
              </a:bodyPr>
              <a:lstStyle/>
              <a:p>
                <a:r>
                  <a:rPr lang="en-IN" sz="1600" dirty="0">
                    <a:solidFill>
                      <a:srgbClr val="FF4B21"/>
                    </a:solidFill>
                    <a:latin typeface="Bahnschrift SemiLight" pitchFamily="34" charset="0"/>
                  </a:rPr>
                  <a:t>Vanishing Gradient Problem</a:t>
                </a:r>
              </a:p>
            </p:txBody>
          </p:sp>
          <p:sp>
            <p:nvSpPr>
              <p:cNvPr id="1040" name="Freeform 1039"/>
              <p:cNvSpPr/>
              <p:nvPr/>
            </p:nvSpPr>
            <p:spPr>
              <a:xfrm>
                <a:off x="1924334" y="1837945"/>
                <a:ext cx="2851812" cy="536765"/>
              </a:xfrm>
              <a:custGeom>
                <a:avLst/>
                <a:gdLst>
                  <a:gd name="connsiteX0" fmla="*/ 27296 w 2851812"/>
                  <a:gd name="connsiteY0" fmla="*/ 536765 h 536765"/>
                  <a:gd name="connsiteX1" fmla="*/ 0 w 2851812"/>
                  <a:gd name="connsiteY1" fmla="*/ 454879 h 536765"/>
                  <a:gd name="connsiteX2" fmla="*/ 54591 w 2851812"/>
                  <a:gd name="connsiteY2" fmla="*/ 332049 h 536765"/>
                  <a:gd name="connsiteX3" fmla="*/ 68239 w 2851812"/>
                  <a:gd name="connsiteY3" fmla="*/ 86389 h 536765"/>
                  <a:gd name="connsiteX4" fmla="*/ 136478 w 2851812"/>
                  <a:gd name="connsiteY4" fmla="*/ 72742 h 536765"/>
                  <a:gd name="connsiteX5" fmla="*/ 1064526 w 2851812"/>
                  <a:gd name="connsiteY5" fmla="*/ 59094 h 536765"/>
                  <a:gd name="connsiteX6" fmla="*/ 1842448 w 2851812"/>
                  <a:gd name="connsiteY6" fmla="*/ 45446 h 536765"/>
                  <a:gd name="connsiteX7" fmla="*/ 2797791 w 2851812"/>
                  <a:gd name="connsiteY7" fmla="*/ 59094 h 536765"/>
                  <a:gd name="connsiteX8" fmla="*/ 2784144 w 2851812"/>
                  <a:gd name="connsiteY8" fmla="*/ 454879 h 536765"/>
                  <a:gd name="connsiteX9" fmla="*/ 2743200 w 2851812"/>
                  <a:gd name="connsiteY9" fmla="*/ 482174 h 536765"/>
                  <a:gd name="connsiteX10" fmla="*/ 2047165 w 2851812"/>
                  <a:gd name="connsiteY10" fmla="*/ 495822 h 536765"/>
                  <a:gd name="connsiteX11" fmla="*/ 1828800 w 2851812"/>
                  <a:gd name="connsiteY11" fmla="*/ 509470 h 536765"/>
                  <a:gd name="connsiteX12" fmla="*/ 1665027 w 2851812"/>
                  <a:gd name="connsiteY12" fmla="*/ 523118 h 536765"/>
                  <a:gd name="connsiteX13" fmla="*/ 27296 w 2851812"/>
                  <a:gd name="connsiteY13" fmla="*/ 536765 h 536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1812" h="536765">
                    <a:moveTo>
                      <a:pt x="27296" y="536765"/>
                    </a:moveTo>
                    <a:cubicBezTo>
                      <a:pt x="18197" y="509470"/>
                      <a:pt x="0" y="483651"/>
                      <a:pt x="0" y="454879"/>
                    </a:cubicBezTo>
                    <a:cubicBezTo>
                      <a:pt x="0" y="406156"/>
                      <a:pt x="29854" y="369155"/>
                      <a:pt x="54591" y="332049"/>
                    </a:cubicBezTo>
                    <a:cubicBezTo>
                      <a:pt x="25194" y="243852"/>
                      <a:pt x="10241" y="218956"/>
                      <a:pt x="68239" y="86389"/>
                    </a:cubicBezTo>
                    <a:cubicBezTo>
                      <a:pt x="77537" y="65137"/>
                      <a:pt x="113290" y="73377"/>
                      <a:pt x="136478" y="72742"/>
                    </a:cubicBezTo>
                    <a:cubicBezTo>
                      <a:pt x="445745" y="64269"/>
                      <a:pt x="755183" y="64044"/>
                      <a:pt x="1064526" y="59094"/>
                    </a:cubicBezTo>
                    <a:lnTo>
                      <a:pt x="1842448" y="45446"/>
                    </a:lnTo>
                    <a:cubicBezTo>
                      <a:pt x="2160896" y="49995"/>
                      <a:pt x="2505722" y="-67892"/>
                      <a:pt x="2797791" y="59094"/>
                    </a:cubicBezTo>
                    <a:cubicBezTo>
                      <a:pt x="2918850" y="111729"/>
                      <a:pt x="2801037" y="323958"/>
                      <a:pt x="2784144" y="454879"/>
                    </a:cubicBezTo>
                    <a:cubicBezTo>
                      <a:pt x="2782045" y="471147"/>
                      <a:pt x="2759577" y="481264"/>
                      <a:pt x="2743200" y="482174"/>
                    </a:cubicBezTo>
                    <a:cubicBezTo>
                      <a:pt x="2511501" y="495046"/>
                      <a:pt x="2279177" y="491273"/>
                      <a:pt x="2047165" y="495822"/>
                    </a:cubicBezTo>
                    <a:lnTo>
                      <a:pt x="1828800" y="509470"/>
                    </a:lnTo>
                    <a:cubicBezTo>
                      <a:pt x="1774159" y="513373"/>
                      <a:pt x="1719800" y="522205"/>
                      <a:pt x="1665027" y="523118"/>
                    </a:cubicBezTo>
                    <a:lnTo>
                      <a:pt x="27296" y="536765"/>
                    </a:lnTo>
                    <a:close/>
                  </a:path>
                </a:pathLst>
              </a:custGeom>
              <a:noFill/>
              <a:ln>
                <a:solidFill>
                  <a:srgbClr val="FF6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1043" name="Group 1042"/>
            <p:cNvGrpSpPr/>
            <p:nvPr/>
          </p:nvGrpSpPr>
          <p:grpSpPr>
            <a:xfrm>
              <a:off x="2963283" y="2350240"/>
              <a:ext cx="477672" cy="253386"/>
              <a:chOff x="4155191" y="2439336"/>
              <a:chExt cx="477672" cy="253386"/>
            </a:xfrm>
          </p:grpSpPr>
          <p:sp>
            <p:nvSpPr>
              <p:cNvPr id="84" name="Freeform 83"/>
              <p:cNvSpPr/>
              <p:nvPr/>
            </p:nvSpPr>
            <p:spPr>
              <a:xfrm>
                <a:off x="4155191" y="2514199"/>
                <a:ext cx="477672" cy="178523"/>
              </a:xfrm>
              <a:custGeom>
                <a:avLst/>
                <a:gdLst>
                  <a:gd name="connsiteX0" fmla="*/ 0 w 518615"/>
                  <a:gd name="connsiteY0" fmla="*/ 163825 h 245712"/>
                  <a:gd name="connsiteX1" fmla="*/ 81887 w 518615"/>
                  <a:gd name="connsiteY1" fmla="*/ 245712 h 245712"/>
                  <a:gd name="connsiteX2" fmla="*/ 136478 w 518615"/>
                  <a:gd name="connsiteY2" fmla="*/ 232064 h 245712"/>
                  <a:gd name="connsiteX3" fmla="*/ 218364 w 518615"/>
                  <a:gd name="connsiteY3" fmla="*/ 177473 h 245712"/>
                  <a:gd name="connsiteX4" fmla="*/ 259308 w 518615"/>
                  <a:gd name="connsiteY4" fmla="*/ 150178 h 245712"/>
                  <a:gd name="connsiteX5" fmla="*/ 300251 w 518615"/>
                  <a:gd name="connsiteY5" fmla="*/ 136530 h 245712"/>
                  <a:gd name="connsiteX6" fmla="*/ 382137 w 518615"/>
                  <a:gd name="connsiteY6" fmla="*/ 95587 h 245712"/>
                  <a:gd name="connsiteX7" fmla="*/ 423081 w 518615"/>
                  <a:gd name="connsiteY7" fmla="*/ 54643 h 245712"/>
                  <a:gd name="connsiteX8" fmla="*/ 464024 w 518615"/>
                  <a:gd name="connsiteY8" fmla="*/ 40995 h 245712"/>
                  <a:gd name="connsiteX9" fmla="*/ 518615 w 518615"/>
                  <a:gd name="connsiteY9" fmla="*/ 52 h 24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615" h="245712">
                    <a:moveTo>
                      <a:pt x="0" y="163825"/>
                    </a:moveTo>
                    <a:cubicBezTo>
                      <a:pt x="23965" y="203768"/>
                      <a:pt x="28999" y="245712"/>
                      <a:pt x="81887" y="245712"/>
                    </a:cubicBezTo>
                    <a:cubicBezTo>
                      <a:pt x="100644" y="245712"/>
                      <a:pt x="118281" y="236613"/>
                      <a:pt x="136478" y="232064"/>
                    </a:cubicBezTo>
                    <a:lnTo>
                      <a:pt x="218364" y="177473"/>
                    </a:lnTo>
                    <a:cubicBezTo>
                      <a:pt x="232012" y="168374"/>
                      <a:pt x="243747" y="155365"/>
                      <a:pt x="259308" y="150178"/>
                    </a:cubicBezTo>
                    <a:cubicBezTo>
                      <a:pt x="272956" y="145629"/>
                      <a:pt x="287384" y="142964"/>
                      <a:pt x="300251" y="136530"/>
                    </a:cubicBezTo>
                    <a:cubicBezTo>
                      <a:pt x="406069" y="83620"/>
                      <a:pt x="279233" y="129887"/>
                      <a:pt x="382137" y="95587"/>
                    </a:cubicBezTo>
                    <a:cubicBezTo>
                      <a:pt x="395785" y="81939"/>
                      <a:pt x="407022" y="65349"/>
                      <a:pt x="423081" y="54643"/>
                    </a:cubicBezTo>
                    <a:cubicBezTo>
                      <a:pt x="435051" y="46663"/>
                      <a:pt x="452054" y="48975"/>
                      <a:pt x="464024" y="40995"/>
                    </a:cubicBezTo>
                    <a:cubicBezTo>
                      <a:pt x="530263" y="-3165"/>
                      <a:pt x="480462" y="52"/>
                      <a:pt x="518615" y="52"/>
                    </a:cubicBezTo>
                  </a:path>
                </a:pathLst>
              </a:custGeom>
              <a:ln w="28575">
                <a:solidFill>
                  <a:srgbClr val="FF674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85" name="Freeform 84"/>
              <p:cNvSpPr/>
              <p:nvPr/>
            </p:nvSpPr>
            <p:spPr>
              <a:xfrm>
                <a:off x="4155191" y="2439336"/>
                <a:ext cx="477672" cy="178523"/>
              </a:xfrm>
              <a:custGeom>
                <a:avLst/>
                <a:gdLst>
                  <a:gd name="connsiteX0" fmla="*/ 0 w 518615"/>
                  <a:gd name="connsiteY0" fmla="*/ 163825 h 245712"/>
                  <a:gd name="connsiteX1" fmla="*/ 81887 w 518615"/>
                  <a:gd name="connsiteY1" fmla="*/ 245712 h 245712"/>
                  <a:gd name="connsiteX2" fmla="*/ 136478 w 518615"/>
                  <a:gd name="connsiteY2" fmla="*/ 232064 h 245712"/>
                  <a:gd name="connsiteX3" fmla="*/ 218364 w 518615"/>
                  <a:gd name="connsiteY3" fmla="*/ 177473 h 245712"/>
                  <a:gd name="connsiteX4" fmla="*/ 259308 w 518615"/>
                  <a:gd name="connsiteY4" fmla="*/ 150178 h 245712"/>
                  <a:gd name="connsiteX5" fmla="*/ 300251 w 518615"/>
                  <a:gd name="connsiteY5" fmla="*/ 136530 h 245712"/>
                  <a:gd name="connsiteX6" fmla="*/ 382137 w 518615"/>
                  <a:gd name="connsiteY6" fmla="*/ 95587 h 245712"/>
                  <a:gd name="connsiteX7" fmla="*/ 423081 w 518615"/>
                  <a:gd name="connsiteY7" fmla="*/ 54643 h 245712"/>
                  <a:gd name="connsiteX8" fmla="*/ 464024 w 518615"/>
                  <a:gd name="connsiteY8" fmla="*/ 40995 h 245712"/>
                  <a:gd name="connsiteX9" fmla="*/ 518615 w 518615"/>
                  <a:gd name="connsiteY9" fmla="*/ 52 h 24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615" h="245712">
                    <a:moveTo>
                      <a:pt x="0" y="163825"/>
                    </a:moveTo>
                    <a:cubicBezTo>
                      <a:pt x="23965" y="203768"/>
                      <a:pt x="28999" y="245712"/>
                      <a:pt x="81887" y="245712"/>
                    </a:cubicBezTo>
                    <a:cubicBezTo>
                      <a:pt x="100644" y="245712"/>
                      <a:pt x="118281" y="236613"/>
                      <a:pt x="136478" y="232064"/>
                    </a:cubicBezTo>
                    <a:lnTo>
                      <a:pt x="218364" y="177473"/>
                    </a:lnTo>
                    <a:cubicBezTo>
                      <a:pt x="232012" y="168374"/>
                      <a:pt x="243747" y="155365"/>
                      <a:pt x="259308" y="150178"/>
                    </a:cubicBezTo>
                    <a:cubicBezTo>
                      <a:pt x="272956" y="145629"/>
                      <a:pt x="287384" y="142964"/>
                      <a:pt x="300251" y="136530"/>
                    </a:cubicBezTo>
                    <a:cubicBezTo>
                      <a:pt x="406069" y="83620"/>
                      <a:pt x="279233" y="129887"/>
                      <a:pt x="382137" y="95587"/>
                    </a:cubicBezTo>
                    <a:cubicBezTo>
                      <a:pt x="395785" y="81939"/>
                      <a:pt x="407022" y="65349"/>
                      <a:pt x="423081" y="54643"/>
                    </a:cubicBezTo>
                    <a:cubicBezTo>
                      <a:pt x="435051" y="46663"/>
                      <a:pt x="452054" y="48975"/>
                      <a:pt x="464024" y="40995"/>
                    </a:cubicBezTo>
                    <a:cubicBezTo>
                      <a:pt x="530263" y="-3165"/>
                      <a:pt x="480462" y="52"/>
                      <a:pt x="518615" y="52"/>
                    </a:cubicBezTo>
                  </a:path>
                </a:pathLst>
              </a:custGeom>
              <a:ln w="28575">
                <a:solidFill>
                  <a:srgbClr val="FF674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grpSp>
      <p:sp>
        <p:nvSpPr>
          <p:cNvPr id="1046" name="Rectangle 1045"/>
          <p:cNvSpPr/>
          <p:nvPr/>
        </p:nvSpPr>
        <p:spPr>
          <a:xfrm>
            <a:off x="3925449" y="6124012"/>
            <a:ext cx="3647152" cy="369332"/>
          </a:xfrm>
          <a:prstGeom prst="rect">
            <a:avLst/>
          </a:prstGeom>
          <a:ln>
            <a:solidFill>
              <a:schemeClr val="bg1">
                <a:lumMod val="85000"/>
              </a:schemeClr>
            </a:solidFill>
          </a:ln>
        </p:spPr>
        <p:txBody>
          <a:bodyPr wrap="none">
            <a:spAutoFit/>
          </a:bodyPr>
          <a:lstStyle/>
          <a:p>
            <a:r>
              <a:rPr lang="en-US" dirty="0">
                <a:solidFill>
                  <a:schemeClr val="accent2">
                    <a:lumMod val="50000"/>
                  </a:schemeClr>
                </a:solidFill>
                <a:latin typeface="Bahnschrift Light" pitchFamily="34" charset="0"/>
              </a:rPr>
              <a:t>So Hence LSTM </a:t>
            </a:r>
            <a:r>
              <a:rPr lang="en-US" dirty="0" smtClean="0">
                <a:solidFill>
                  <a:schemeClr val="accent2">
                    <a:lumMod val="50000"/>
                  </a:schemeClr>
                </a:solidFill>
                <a:latin typeface="Bahnschrift Light" pitchFamily="34" charset="0"/>
              </a:rPr>
              <a:t>came </a:t>
            </a:r>
            <a:r>
              <a:rPr lang="en-US" dirty="0">
                <a:solidFill>
                  <a:schemeClr val="accent2">
                    <a:lumMod val="50000"/>
                  </a:schemeClr>
                </a:solidFill>
                <a:latin typeface="Bahnschrift Light" pitchFamily="34" charset="0"/>
              </a:rPr>
              <a:t>into picture</a:t>
            </a:r>
            <a:endParaRPr lang="en-IN" dirty="0">
              <a:solidFill>
                <a:schemeClr val="accent2">
                  <a:lumMod val="50000"/>
                </a:schemeClr>
              </a:solidFill>
              <a:latin typeface="Bahnschrift Light" pitchFamily="34" charset="0"/>
            </a:endParaRPr>
          </a:p>
        </p:txBody>
      </p:sp>
    </p:spTree>
    <p:extLst>
      <p:ext uri="{BB962C8B-B14F-4D97-AF65-F5344CB8AC3E}">
        <p14:creationId xmlns:p14="http://schemas.microsoft.com/office/powerpoint/2010/main" val="7519600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6" name="Group 5"/>
          <p:cNvGrpSpPr/>
          <p:nvPr/>
        </p:nvGrpSpPr>
        <p:grpSpPr>
          <a:xfrm>
            <a:off x="109182" y="120049"/>
            <a:ext cx="11914495" cy="784830"/>
            <a:chOff x="109182" y="120049"/>
            <a:chExt cx="11914495" cy="784830"/>
          </a:xfrm>
        </p:grpSpPr>
        <p:sp>
          <p:nvSpPr>
            <p:cNvPr id="2" name="Rectangle 1"/>
            <p:cNvSpPr/>
            <p:nvPr/>
          </p:nvSpPr>
          <p:spPr>
            <a:xfrm>
              <a:off x="204717" y="120049"/>
              <a:ext cx="11818960" cy="784830"/>
            </a:xfrm>
            <a:prstGeom prst="rect">
              <a:avLst/>
            </a:prstGeom>
          </p:spPr>
          <p:txBody>
            <a:bodyPr wrap="square">
              <a:spAutoFit/>
            </a:bodyPr>
            <a:lstStyle/>
            <a:p>
              <a:r>
                <a:rPr lang="en-US" sz="1500" dirty="0">
                  <a:latin typeface="Bahnschrift SemiLight" pitchFamily="34" charset="0"/>
                </a:rPr>
                <a:t>in </a:t>
              </a:r>
              <a:endParaRPr lang="en-US" sz="1500" dirty="0" smtClean="0">
                <a:latin typeface="Bahnschrift SemiLight" pitchFamily="34" charset="0"/>
              </a:endParaRPr>
            </a:p>
            <a:p>
              <a:r>
                <a:rPr lang="en-US" sz="1500" dirty="0" smtClean="0">
                  <a:latin typeface="Bahnschrift SemiLight" pitchFamily="34" charset="0"/>
                </a:rPr>
                <a:t>simple </a:t>
              </a:r>
              <a:r>
                <a:rPr lang="en-US" sz="1500" dirty="0">
                  <a:latin typeface="Bahnschrift SemiLight" pitchFamily="34" charset="0"/>
                </a:rPr>
                <a:t>RNN the problem is ,</a:t>
              </a:r>
            </a:p>
            <a:p>
              <a:r>
                <a:rPr lang="en-US" sz="1500" dirty="0">
                  <a:latin typeface="Bahnschrift SemiLight" pitchFamily="34" charset="0"/>
                </a:rPr>
                <a:t>we don't </a:t>
              </a:r>
              <a:r>
                <a:rPr lang="en-US" sz="1500" dirty="0">
                  <a:solidFill>
                    <a:srgbClr val="FF4B21"/>
                  </a:solidFill>
                  <a:latin typeface="Bahnschrift SemiLight" pitchFamily="34" charset="0"/>
                </a:rPr>
                <a:t>know which part of the sentence is important </a:t>
              </a:r>
              <a:r>
                <a:rPr lang="en-US" sz="1500" dirty="0">
                  <a:latin typeface="Bahnschrift SemiLight" pitchFamily="34" charset="0"/>
                </a:rPr>
                <a:t>because of this the previous words in a long sentence starts losing its importance</a:t>
              </a:r>
              <a:endParaRPr lang="en-IN" sz="1500" dirty="0">
                <a:latin typeface="Bahnschrift SemiLight" pitchFamily="34" charset="0"/>
              </a:endParaRPr>
            </a:p>
          </p:txBody>
        </p:sp>
        <p:cxnSp>
          <p:nvCxnSpPr>
            <p:cNvPr id="4" name="Straight Connector 3"/>
            <p:cNvCxnSpPr/>
            <p:nvPr/>
          </p:nvCxnSpPr>
          <p:spPr>
            <a:xfrm>
              <a:off x="109182" y="904879"/>
              <a:ext cx="11914495"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a:off x="1023581" y="1958033"/>
            <a:ext cx="1683027" cy="911256"/>
            <a:chOff x="1023581" y="1958033"/>
            <a:chExt cx="1683027" cy="911256"/>
          </a:xfrm>
        </p:grpSpPr>
        <p:grpSp>
          <p:nvGrpSpPr>
            <p:cNvPr id="20" name="Group 19"/>
            <p:cNvGrpSpPr/>
            <p:nvPr/>
          </p:nvGrpSpPr>
          <p:grpSpPr>
            <a:xfrm>
              <a:off x="1023582" y="1958033"/>
              <a:ext cx="1683026" cy="307777"/>
              <a:chOff x="1023582" y="1958033"/>
              <a:chExt cx="1683026" cy="307777"/>
            </a:xfrm>
          </p:grpSpPr>
          <p:cxnSp>
            <p:nvCxnSpPr>
              <p:cNvPr id="13" name="Straight Connector 12"/>
              <p:cNvCxnSpPr/>
              <p:nvPr/>
            </p:nvCxnSpPr>
            <p:spPr>
              <a:xfrm>
                <a:off x="1023582" y="2142699"/>
                <a:ext cx="709683" cy="0"/>
              </a:xfrm>
              <a:prstGeom prst="line">
                <a:avLst/>
              </a:prstGeom>
              <a:ln w="76200">
                <a:solidFill>
                  <a:srgbClr val="00D05E"/>
                </a:solidFill>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1733265" y="1958033"/>
                <a:ext cx="973343" cy="307777"/>
              </a:xfrm>
              <a:prstGeom prst="rect">
                <a:avLst/>
              </a:prstGeom>
            </p:spPr>
            <p:txBody>
              <a:bodyPr wrap="none">
                <a:spAutoFit/>
              </a:bodyPr>
              <a:lstStyle/>
              <a:p>
                <a:r>
                  <a:rPr lang="en-IN" sz="1400" dirty="0" smtClean="0">
                    <a:latin typeface="Bahnschrift SemiLight" pitchFamily="34" charset="0"/>
                  </a:rPr>
                  <a:t>irrelevant</a:t>
                </a:r>
                <a:endParaRPr lang="en-IN" sz="1400" dirty="0">
                  <a:latin typeface="Bahnschrift SemiLight" pitchFamily="34" charset="0"/>
                </a:endParaRPr>
              </a:p>
            </p:txBody>
          </p:sp>
        </p:grpSp>
        <p:grpSp>
          <p:nvGrpSpPr>
            <p:cNvPr id="21" name="Group 20"/>
            <p:cNvGrpSpPr/>
            <p:nvPr/>
          </p:nvGrpSpPr>
          <p:grpSpPr>
            <a:xfrm>
              <a:off x="1023582" y="2223297"/>
              <a:ext cx="1561198" cy="307777"/>
              <a:chOff x="1023582" y="1958033"/>
              <a:chExt cx="1561198" cy="307777"/>
            </a:xfrm>
          </p:grpSpPr>
          <p:cxnSp>
            <p:nvCxnSpPr>
              <p:cNvPr id="22" name="Straight Connector 21"/>
              <p:cNvCxnSpPr/>
              <p:nvPr/>
            </p:nvCxnSpPr>
            <p:spPr>
              <a:xfrm>
                <a:off x="1023582" y="2142699"/>
                <a:ext cx="709683"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1733265" y="1958033"/>
                <a:ext cx="851515" cy="307777"/>
              </a:xfrm>
              <a:prstGeom prst="rect">
                <a:avLst/>
              </a:prstGeom>
            </p:spPr>
            <p:txBody>
              <a:bodyPr wrap="none">
                <a:spAutoFit/>
              </a:bodyPr>
              <a:lstStyle/>
              <a:p>
                <a:r>
                  <a:rPr lang="en-IN" sz="1400" dirty="0" smtClean="0">
                    <a:latin typeface="Bahnschrift SemiLight" pitchFamily="34" charset="0"/>
                  </a:rPr>
                  <a:t>relevant</a:t>
                </a:r>
                <a:endParaRPr lang="en-IN" sz="1400" dirty="0">
                  <a:latin typeface="Bahnschrift SemiLight" pitchFamily="34" charset="0"/>
                </a:endParaRPr>
              </a:p>
            </p:txBody>
          </p:sp>
        </p:grpSp>
        <p:grpSp>
          <p:nvGrpSpPr>
            <p:cNvPr id="24" name="Group 23"/>
            <p:cNvGrpSpPr/>
            <p:nvPr/>
          </p:nvGrpSpPr>
          <p:grpSpPr>
            <a:xfrm>
              <a:off x="1023581" y="2561512"/>
              <a:ext cx="1561198" cy="307777"/>
              <a:chOff x="1023582" y="1958033"/>
              <a:chExt cx="1561198" cy="307777"/>
            </a:xfrm>
          </p:grpSpPr>
          <p:cxnSp>
            <p:nvCxnSpPr>
              <p:cNvPr id="25" name="Straight Connector 24"/>
              <p:cNvCxnSpPr/>
              <p:nvPr/>
            </p:nvCxnSpPr>
            <p:spPr>
              <a:xfrm>
                <a:off x="1023582" y="2142699"/>
                <a:ext cx="709683"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1733265" y="1958033"/>
                <a:ext cx="851515" cy="307777"/>
              </a:xfrm>
              <a:prstGeom prst="rect">
                <a:avLst/>
              </a:prstGeom>
            </p:spPr>
            <p:txBody>
              <a:bodyPr wrap="none">
                <a:spAutoFit/>
              </a:bodyPr>
              <a:lstStyle/>
              <a:p>
                <a:r>
                  <a:rPr lang="en-IN" sz="1400" dirty="0" smtClean="0">
                    <a:latin typeface="Bahnschrift SemiLight" pitchFamily="34" charset="0"/>
                  </a:rPr>
                  <a:t>relevant</a:t>
                </a:r>
                <a:endParaRPr lang="en-IN" sz="1400" dirty="0">
                  <a:latin typeface="Bahnschrift SemiLight" pitchFamily="34" charset="0"/>
                </a:endParaRPr>
              </a:p>
            </p:txBody>
          </p:sp>
        </p:grpSp>
      </p:grpSp>
      <p:grpSp>
        <p:nvGrpSpPr>
          <p:cNvPr id="32" name="Group 31"/>
          <p:cNvGrpSpPr/>
          <p:nvPr/>
        </p:nvGrpSpPr>
        <p:grpSpPr>
          <a:xfrm>
            <a:off x="3091218" y="1854326"/>
            <a:ext cx="6241577" cy="1453907"/>
            <a:chOff x="3091218" y="1854326"/>
            <a:chExt cx="6241577" cy="1453907"/>
          </a:xfrm>
        </p:grpSpPr>
        <p:cxnSp>
          <p:nvCxnSpPr>
            <p:cNvPr id="29" name="Straight Connector 28"/>
            <p:cNvCxnSpPr/>
            <p:nvPr/>
          </p:nvCxnSpPr>
          <p:spPr>
            <a:xfrm>
              <a:off x="3091218" y="1854326"/>
              <a:ext cx="20472" cy="14539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3236795" y="1986255"/>
              <a:ext cx="6096000" cy="1246495"/>
            </a:xfrm>
            <a:prstGeom prst="rect">
              <a:avLst/>
            </a:prstGeom>
          </p:spPr>
          <p:txBody>
            <a:bodyPr>
              <a:spAutoFit/>
            </a:bodyPr>
            <a:lstStyle/>
            <a:p>
              <a:r>
                <a:rPr lang="en-US" sz="1500" dirty="0">
                  <a:latin typeface="Bahnschrift SemiLight" pitchFamily="34" charset="0"/>
                </a:rPr>
                <a:t>Long Term Memory</a:t>
              </a:r>
            </a:p>
            <a:p>
              <a:r>
                <a:rPr lang="en-US" sz="1500" dirty="0" smtClean="0">
                  <a:latin typeface="Bahnschrift SemiLight" pitchFamily="34" charset="0"/>
                </a:rPr>
                <a:t>Short </a:t>
              </a:r>
              <a:r>
                <a:rPr lang="en-US" sz="1500" dirty="0">
                  <a:latin typeface="Bahnschrift SemiLight" pitchFamily="34" charset="0"/>
                </a:rPr>
                <a:t>Term Memory</a:t>
              </a:r>
            </a:p>
            <a:p>
              <a:r>
                <a:rPr lang="en-US" sz="1500" dirty="0">
                  <a:latin typeface="Bahnschrift SemiLight" pitchFamily="34" charset="0"/>
                </a:rPr>
                <a:t>Forget gate</a:t>
              </a:r>
            </a:p>
            <a:p>
              <a:r>
                <a:rPr lang="en-US" sz="1500" dirty="0">
                  <a:latin typeface="Bahnschrift SemiLight" pitchFamily="34" charset="0"/>
                </a:rPr>
                <a:t>i/p gate</a:t>
              </a:r>
            </a:p>
            <a:p>
              <a:r>
                <a:rPr lang="en-US" sz="1500" dirty="0">
                  <a:latin typeface="Bahnschrift SemiLight" pitchFamily="34" charset="0"/>
                </a:rPr>
                <a:t>o/p gate</a:t>
              </a:r>
              <a:endParaRPr lang="en-IN" sz="1500" dirty="0">
                <a:latin typeface="Bahnschrift SemiLight" pitchFamily="34" charset="0"/>
              </a:endParaRPr>
            </a:p>
          </p:txBody>
        </p:sp>
      </p:grpSp>
      <p:sp>
        <p:nvSpPr>
          <p:cNvPr id="33" name="Rectangle 32"/>
          <p:cNvSpPr/>
          <p:nvPr/>
        </p:nvSpPr>
        <p:spPr>
          <a:xfrm>
            <a:off x="109182" y="3828197"/>
            <a:ext cx="11914495" cy="553998"/>
          </a:xfrm>
          <a:prstGeom prst="rect">
            <a:avLst/>
          </a:prstGeom>
        </p:spPr>
        <p:txBody>
          <a:bodyPr wrap="square">
            <a:spAutoFit/>
          </a:bodyPr>
          <a:lstStyle/>
          <a:p>
            <a:r>
              <a:rPr lang="en-US" sz="1500" b="1" dirty="0">
                <a:solidFill>
                  <a:srgbClr val="00CC99"/>
                </a:solidFill>
                <a:latin typeface="Bahnschrift SemiLight" pitchFamily="34" charset="0"/>
              </a:rPr>
              <a:t>Long term memory </a:t>
            </a:r>
            <a:r>
              <a:rPr lang="en-US" sz="1500" dirty="0">
                <a:latin typeface="Bahnschrift SemiLight" pitchFamily="34" charset="0"/>
              </a:rPr>
              <a:t>means all the words in your sentence imagine there is a conveyor belt in which all the words are flowing like that that is your long term memory</a:t>
            </a:r>
            <a:endParaRPr lang="en-IN" sz="1500" dirty="0">
              <a:latin typeface="Bahnschrift SemiLight" pitchFamily="34" charset="0"/>
            </a:endParaRPr>
          </a:p>
        </p:txBody>
      </p:sp>
      <p:cxnSp>
        <p:nvCxnSpPr>
          <p:cNvPr id="35" name="Straight Connector 34"/>
          <p:cNvCxnSpPr/>
          <p:nvPr/>
        </p:nvCxnSpPr>
        <p:spPr>
          <a:xfrm>
            <a:off x="668740" y="3466531"/>
            <a:ext cx="11523260" cy="1364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6" name="Table 35"/>
          <p:cNvGraphicFramePr>
            <a:graphicFrameLocks noGrp="1"/>
          </p:cNvGraphicFramePr>
          <p:nvPr>
            <p:extLst>
              <p:ext uri="{D42A27DB-BD31-4B8C-83A1-F6EECF244321}">
                <p14:modId xmlns:p14="http://schemas.microsoft.com/office/powerpoint/2010/main" val="3206486655"/>
              </p:ext>
            </p:extLst>
          </p:nvPr>
        </p:nvGraphicFramePr>
        <p:xfrm>
          <a:off x="1378423" y="4603970"/>
          <a:ext cx="8128000" cy="335280"/>
        </p:xfrm>
        <a:graphic>
          <a:graphicData uri="http://schemas.openxmlformats.org/drawingml/2006/table">
            <a:tbl>
              <a:tblPr firstRow="1" bandRow="1">
                <a:tableStyleId>{68D230F3-CF80-4859-8CE7-A43EE81993B5}</a:tableStyleId>
              </a:tblPr>
              <a:tblGrid>
                <a:gridCol w="8128000"/>
              </a:tblGrid>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  </a:t>
                      </a:r>
                      <a:r>
                        <a:rPr lang="en-US" sz="1600" b="0" dirty="0" smtClean="0"/>
                        <a:t>----</a:t>
                      </a:r>
                      <a:r>
                        <a:rPr lang="en-US" sz="1600" b="0" dirty="0" smtClean="0">
                          <a:sym typeface="Wingdings" pitchFamily="2" charset="2"/>
                        </a:rPr>
                        <a:t></a:t>
                      </a:r>
                      <a:endParaRPr lang="en-IN" b="0" dirty="0">
                        <a:solidFill>
                          <a:srgbClr val="15C2FF"/>
                        </a:solidFill>
                      </a:endParaRPr>
                    </a:p>
                  </a:txBody>
                  <a:tcPr/>
                </a:tc>
              </a:tr>
            </a:tbl>
          </a:graphicData>
        </a:graphic>
      </p:graphicFrame>
      <p:grpSp>
        <p:nvGrpSpPr>
          <p:cNvPr id="41" name="Group 40"/>
          <p:cNvGrpSpPr/>
          <p:nvPr/>
        </p:nvGrpSpPr>
        <p:grpSpPr>
          <a:xfrm>
            <a:off x="837063" y="1167853"/>
            <a:ext cx="9944668" cy="338554"/>
            <a:chOff x="837063" y="1167853"/>
            <a:chExt cx="9944668" cy="338554"/>
          </a:xfrm>
        </p:grpSpPr>
        <p:sp>
          <p:nvSpPr>
            <p:cNvPr id="8" name="Rectangle 7"/>
            <p:cNvSpPr/>
            <p:nvPr/>
          </p:nvSpPr>
          <p:spPr>
            <a:xfrm>
              <a:off x="837063" y="1167853"/>
              <a:ext cx="9671714" cy="338554"/>
            </a:xfrm>
            <a:prstGeom prst="rect">
              <a:avLst/>
            </a:prstGeom>
          </p:spPr>
          <p:txBody>
            <a:bodyPr wrap="square">
              <a:spAutoFit/>
            </a:bodyPr>
            <a:lstStyle/>
            <a:p>
              <a:r>
                <a:rPr lang="en-US" sz="1600" dirty="0">
                  <a:solidFill>
                    <a:srgbClr val="00B050"/>
                  </a:solidFill>
                  <a:latin typeface="Bahnschrift SemiLight" pitchFamily="34" charset="0"/>
                </a:rPr>
                <a:t>Aman stays in </a:t>
              </a:r>
              <a:r>
                <a:rPr lang="en-US" sz="1600" dirty="0" smtClean="0">
                  <a:solidFill>
                    <a:srgbClr val="00B050"/>
                  </a:solidFill>
                  <a:latin typeface="Bahnschrift SemiLight" pitchFamily="34" charset="0"/>
                </a:rPr>
                <a:t>London</a:t>
              </a:r>
              <a:r>
                <a:rPr lang="en-US" sz="1600" dirty="0" smtClean="0">
                  <a:solidFill>
                    <a:srgbClr val="00D05E"/>
                  </a:solidFill>
                  <a:latin typeface="Bahnschrift SemiLight" pitchFamily="34" charset="0"/>
                </a:rPr>
                <a:t>. </a:t>
              </a:r>
              <a:r>
                <a:rPr lang="en-US" sz="1600" dirty="0" smtClean="0">
                  <a:latin typeface="Bahnschrift SemiLight" pitchFamily="34" charset="0"/>
                </a:rPr>
                <a:t>Aman </a:t>
              </a:r>
              <a:r>
                <a:rPr lang="en-US" sz="1600" dirty="0">
                  <a:latin typeface="Bahnschrift SemiLight" pitchFamily="34" charset="0"/>
                </a:rPr>
                <a:t>has a friend whose name is </a:t>
              </a:r>
              <a:r>
                <a:rPr lang="en-US" sz="1600" dirty="0" smtClean="0">
                  <a:latin typeface="Bahnschrift SemiLight" pitchFamily="34" charset="0"/>
                </a:rPr>
                <a:t>Alex. Alex </a:t>
              </a:r>
              <a:r>
                <a:rPr lang="en-US" sz="1600" dirty="0">
                  <a:latin typeface="Bahnschrift SemiLight" pitchFamily="34" charset="0"/>
                </a:rPr>
                <a:t>is a </a:t>
              </a:r>
              <a:r>
                <a:rPr lang="en-US" sz="1600" dirty="0" smtClean="0">
                  <a:latin typeface="Bahnschrift SemiLight" pitchFamily="34" charset="0"/>
                </a:rPr>
                <a:t>DS. </a:t>
              </a:r>
              <a:r>
                <a:rPr lang="en-US" sz="1600" dirty="0" smtClean="0">
                  <a:solidFill>
                    <a:srgbClr val="0070C0"/>
                  </a:solidFill>
                  <a:latin typeface="Bahnschrift SemiLight" pitchFamily="34" charset="0"/>
                </a:rPr>
                <a:t>Aman </a:t>
              </a:r>
              <a:r>
                <a:rPr lang="en-US" sz="1600" dirty="0">
                  <a:solidFill>
                    <a:srgbClr val="0070C0"/>
                  </a:solidFill>
                  <a:latin typeface="Bahnschrift SemiLight" pitchFamily="34" charset="0"/>
                </a:rPr>
                <a:t>learns DS from ......</a:t>
              </a:r>
            </a:p>
          </p:txBody>
        </p:sp>
        <p:cxnSp>
          <p:nvCxnSpPr>
            <p:cNvPr id="38" name="Straight Connector 37"/>
            <p:cNvCxnSpPr/>
            <p:nvPr/>
          </p:nvCxnSpPr>
          <p:spPr>
            <a:xfrm>
              <a:off x="7888406" y="1506407"/>
              <a:ext cx="2893325" cy="0"/>
            </a:xfrm>
            <a:prstGeom prst="line">
              <a:avLst/>
            </a:prstGeom>
            <a:ln>
              <a:solidFill>
                <a:srgbClr val="FF6743"/>
              </a:solidFill>
            </a:ln>
          </p:spPr>
          <p:style>
            <a:lnRef idx="1">
              <a:schemeClr val="accent1"/>
            </a:lnRef>
            <a:fillRef idx="0">
              <a:schemeClr val="accent1"/>
            </a:fillRef>
            <a:effectRef idx="0">
              <a:schemeClr val="accent1"/>
            </a:effectRef>
            <a:fontRef idx="minor">
              <a:schemeClr val="tx1"/>
            </a:fontRef>
          </p:style>
        </p:cxnSp>
      </p:grpSp>
      <p:sp>
        <p:nvSpPr>
          <p:cNvPr id="42" name="Rectangle 41"/>
          <p:cNvSpPr/>
          <p:nvPr/>
        </p:nvSpPr>
        <p:spPr>
          <a:xfrm>
            <a:off x="204717" y="5885933"/>
            <a:ext cx="11329915" cy="553998"/>
          </a:xfrm>
          <a:prstGeom prst="rect">
            <a:avLst/>
          </a:prstGeom>
        </p:spPr>
        <p:txBody>
          <a:bodyPr wrap="square">
            <a:spAutoFit/>
          </a:bodyPr>
          <a:lstStyle/>
          <a:p>
            <a:r>
              <a:rPr lang="en-US" sz="1500" b="1" dirty="0">
                <a:solidFill>
                  <a:srgbClr val="00B050"/>
                </a:solidFill>
                <a:latin typeface="Bahnschrift SemiLight" pitchFamily="34" charset="0"/>
              </a:rPr>
              <a:t>short term memory I want to predict </a:t>
            </a:r>
            <a:r>
              <a:rPr lang="en-US" sz="1500" b="1" dirty="0" smtClean="0">
                <a:solidFill>
                  <a:srgbClr val="00B050"/>
                </a:solidFill>
                <a:latin typeface="Bahnschrift SemiLight" pitchFamily="34" charset="0"/>
              </a:rPr>
              <a:t>.</a:t>
            </a:r>
            <a:endParaRPr lang="en-US" sz="1500" dirty="0">
              <a:latin typeface="Bahnschrift SemiLight" pitchFamily="34" charset="0"/>
            </a:endParaRPr>
          </a:p>
          <a:p>
            <a:r>
              <a:rPr lang="en-US" sz="1500" dirty="0">
                <a:latin typeface="Bahnschrift SemiLight" pitchFamily="34" charset="0"/>
              </a:rPr>
              <a:t>so what I </a:t>
            </a:r>
            <a:r>
              <a:rPr lang="en-US" sz="1500" dirty="0" smtClean="0">
                <a:latin typeface="Bahnschrift SemiLight" pitchFamily="34" charset="0"/>
              </a:rPr>
              <a:t>highlighted </a:t>
            </a:r>
            <a:r>
              <a:rPr lang="en-US" sz="1500" dirty="0">
                <a:latin typeface="Bahnschrift SemiLight" pitchFamily="34" charset="0"/>
              </a:rPr>
              <a:t>in red here in blue color written in blue color is my short term memory</a:t>
            </a:r>
            <a:endParaRPr lang="en-IN" sz="1500" dirty="0">
              <a:latin typeface="Bahnschrift SemiLight" pitchFamily="34" charset="0"/>
            </a:endParaRPr>
          </a:p>
        </p:txBody>
      </p:sp>
      <p:cxnSp>
        <p:nvCxnSpPr>
          <p:cNvPr id="44" name="Straight Connector 43"/>
          <p:cNvCxnSpPr/>
          <p:nvPr/>
        </p:nvCxnSpPr>
        <p:spPr>
          <a:xfrm>
            <a:off x="188795" y="5503797"/>
            <a:ext cx="1183488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23238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grpSp>
        <p:nvGrpSpPr>
          <p:cNvPr id="29" name="Group 28"/>
          <p:cNvGrpSpPr/>
          <p:nvPr/>
        </p:nvGrpSpPr>
        <p:grpSpPr>
          <a:xfrm>
            <a:off x="361583" y="346744"/>
            <a:ext cx="9383455" cy="1651334"/>
            <a:chOff x="272955" y="4072582"/>
            <a:chExt cx="10308773" cy="1867957"/>
          </a:xfrm>
        </p:grpSpPr>
        <p:grpSp>
          <p:nvGrpSpPr>
            <p:cNvPr id="23" name="Group 22"/>
            <p:cNvGrpSpPr/>
            <p:nvPr/>
          </p:nvGrpSpPr>
          <p:grpSpPr>
            <a:xfrm>
              <a:off x="272955" y="4072582"/>
              <a:ext cx="10308773" cy="1482057"/>
              <a:chOff x="272955" y="4072582"/>
              <a:chExt cx="10308773" cy="1482057"/>
            </a:xfrm>
          </p:grpSpPr>
          <p:grpSp>
            <p:nvGrpSpPr>
              <p:cNvPr id="20" name="Group 19"/>
              <p:cNvGrpSpPr/>
              <p:nvPr/>
            </p:nvGrpSpPr>
            <p:grpSpPr>
              <a:xfrm>
                <a:off x="272955" y="4353635"/>
                <a:ext cx="9635320" cy="1201004"/>
                <a:chOff x="272955" y="4353635"/>
                <a:chExt cx="9635320" cy="1201004"/>
              </a:xfrm>
            </p:grpSpPr>
            <p:cxnSp>
              <p:nvCxnSpPr>
                <p:cNvPr id="14" name="Straight Connector 13"/>
                <p:cNvCxnSpPr/>
                <p:nvPr/>
              </p:nvCxnSpPr>
              <p:spPr>
                <a:xfrm flipV="1">
                  <a:off x="6687403" y="4490113"/>
                  <a:ext cx="3043451" cy="27296"/>
                </a:xfrm>
                <a:prstGeom prst="line">
                  <a:avLst/>
                </a:prstGeom>
                <a:ln>
                  <a:solidFill>
                    <a:srgbClr val="FF674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687403" y="5040573"/>
                  <a:ext cx="322087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272955" y="4353635"/>
                  <a:ext cx="6414448" cy="1201004"/>
                  <a:chOff x="272955" y="4353635"/>
                  <a:chExt cx="6414448" cy="1201004"/>
                </a:xfrm>
              </p:grpSpPr>
              <p:grpSp>
                <p:nvGrpSpPr>
                  <p:cNvPr id="10" name="Group 9"/>
                  <p:cNvGrpSpPr/>
                  <p:nvPr/>
                </p:nvGrpSpPr>
                <p:grpSpPr>
                  <a:xfrm>
                    <a:off x="3493827" y="4353635"/>
                    <a:ext cx="3193576" cy="1201004"/>
                    <a:chOff x="3493827" y="4353635"/>
                    <a:chExt cx="3193576" cy="1201004"/>
                  </a:xfrm>
                </p:grpSpPr>
                <p:grpSp>
                  <p:nvGrpSpPr>
                    <p:cNvPr id="5" name="Group 4"/>
                    <p:cNvGrpSpPr/>
                    <p:nvPr/>
                  </p:nvGrpSpPr>
                  <p:grpSpPr>
                    <a:xfrm>
                      <a:off x="3493827" y="4353635"/>
                      <a:ext cx="3193576" cy="859810"/>
                      <a:chOff x="3493827" y="4353635"/>
                      <a:chExt cx="3193576" cy="859810"/>
                    </a:xfrm>
                  </p:grpSpPr>
                  <p:sp>
                    <p:nvSpPr>
                      <p:cNvPr id="2" name="Rectangle 1"/>
                      <p:cNvSpPr/>
                      <p:nvPr/>
                    </p:nvSpPr>
                    <p:spPr>
                      <a:xfrm>
                        <a:off x="3493827" y="4353636"/>
                        <a:ext cx="3193576" cy="85980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 name="Straight Connector 3"/>
                      <p:cNvCxnSpPr/>
                      <p:nvPr/>
                    </p:nvCxnSpPr>
                    <p:spPr>
                      <a:xfrm>
                        <a:off x="4476466" y="4353636"/>
                        <a:ext cx="0" cy="859809"/>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5515970" y="4353635"/>
                        <a:ext cx="0" cy="859809"/>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8" name="Straight Arrow Connector 7"/>
                    <p:cNvCxnSpPr/>
                    <p:nvPr/>
                  </p:nvCxnSpPr>
                  <p:spPr>
                    <a:xfrm>
                      <a:off x="4026090" y="5213445"/>
                      <a:ext cx="0" cy="3411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074692" y="5195248"/>
                      <a:ext cx="0" cy="3411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089177" y="5190699"/>
                      <a:ext cx="0" cy="3411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18" name="Straight Connector 17"/>
                  <p:cNvCxnSpPr/>
                  <p:nvPr/>
                </p:nvCxnSpPr>
                <p:spPr>
                  <a:xfrm>
                    <a:off x="272955" y="5040573"/>
                    <a:ext cx="32208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450376" y="4492387"/>
                    <a:ext cx="3043451" cy="27296"/>
                  </a:xfrm>
                  <a:prstGeom prst="line">
                    <a:avLst/>
                  </a:prstGeom>
                  <a:ln>
                    <a:solidFill>
                      <a:srgbClr val="FF6743"/>
                    </a:solidFill>
                  </a:ln>
                </p:spPr>
                <p:style>
                  <a:lnRef idx="1">
                    <a:schemeClr val="accent1"/>
                  </a:lnRef>
                  <a:fillRef idx="0">
                    <a:schemeClr val="accent1"/>
                  </a:fillRef>
                  <a:effectRef idx="0">
                    <a:schemeClr val="accent1"/>
                  </a:effectRef>
                  <a:fontRef idx="minor">
                    <a:schemeClr val="tx1"/>
                  </a:fontRef>
                </p:style>
              </p:cxnSp>
            </p:grpSp>
          </p:grpSp>
          <p:sp>
            <p:nvSpPr>
              <p:cNvPr id="21" name="TextBox 20"/>
              <p:cNvSpPr txBox="1"/>
              <p:nvPr/>
            </p:nvSpPr>
            <p:spPr>
              <a:xfrm>
                <a:off x="8568110" y="4072582"/>
                <a:ext cx="1797736" cy="338554"/>
              </a:xfrm>
              <a:prstGeom prst="rect">
                <a:avLst/>
              </a:prstGeom>
              <a:noFill/>
            </p:spPr>
            <p:txBody>
              <a:bodyPr wrap="none" rtlCol="0">
                <a:spAutoFit/>
              </a:bodyPr>
              <a:lstStyle/>
              <a:p>
                <a:r>
                  <a:rPr lang="en-US" sz="1600" dirty="0" smtClean="0"/>
                  <a:t>Long term Memory</a:t>
                </a:r>
                <a:endParaRPr lang="en-IN" sz="1600" dirty="0"/>
              </a:p>
            </p:txBody>
          </p:sp>
          <p:sp>
            <p:nvSpPr>
              <p:cNvPr id="22" name="Rectangle 21"/>
              <p:cNvSpPr/>
              <p:nvPr/>
            </p:nvSpPr>
            <p:spPr>
              <a:xfrm>
                <a:off x="697226" y="4209907"/>
                <a:ext cx="500458" cy="307777"/>
              </a:xfrm>
              <a:prstGeom prst="rect">
                <a:avLst/>
              </a:prstGeom>
            </p:spPr>
            <p:txBody>
              <a:bodyPr wrap="none">
                <a:spAutoFit/>
              </a:bodyPr>
              <a:lstStyle/>
              <a:p>
                <a:r>
                  <a:rPr lang="en-US" sz="1400" dirty="0">
                    <a:latin typeface="Bahnschrift Light" pitchFamily="34" charset="0"/>
                  </a:rPr>
                  <a:t>Ct-1</a:t>
                </a:r>
                <a:endParaRPr lang="en-IN" sz="1400" dirty="0">
                  <a:latin typeface="Bahnschrift Light" pitchFamily="34" charset="0"/>
                </a:endParaRPr>
              </a:p>
            </p:txBody>
          </p:sp>
          <p:sp>
            <p:nvSpPr>
              <p:cNvPr id="24" name="Rectangle 23"/>
              <p:cNvSpPr/>
              <p:nvPr/>
            </p:nvSpPr>
            <p:spPr>
              <a:xfrm>
                <a:off x="676387" y="5048829"/>
                <a:ext cx="511679" cy="307777"/>
              </a:xfrm>
              <a:prstGeom prst="rect">
                <a:avLst/>
              </a:prstGeom>
            </p:spPr>
            <p:txBody>
              <a:bodyPr wrap="none">
                <a:spAutoFit/>
              </a:bodyPr>
              <a:lstStyle/>
              <a:p>
                <a:r>
                  <a:rPr lang="en-US" sz="1400" dirty="0">
                    <a:latin typeface="Bahnschrift Light" pitchFamily="34" charset="0"/>
                  </a:rPr>
                  <a:t>Ht-1</a:t>
                </a:r>
                <a:endParaRPr lang="en-IN" sz="1400" dirty="0">
                  <a:latin typeface="Bahnschrift Light" pitchFamily="34" charset="0"/>
                </a:endParaRPr>
              </a:p>
            </p:txBody>
          </p:sp>
          <p:sp>
            <p:nvSpPr>
              <p:cNvPr id="25" name="Rectangle 24"/>
              <p:cNvSpPr/>
              <p:nvPr/>
            </p:nvSpPr>
            <p:spPr>
              <a:xfrm>
                <a:off x="8202304" y="5040573"/>
                <a:ext cx="365806" cy="307777"/>
              </a:xfrm>
              <a:prstGeom prst="rect">
                <a:avLst/>
              </a:prstGeom>
            </p:spPr>
            <p:txBody>
              <a:bodyPr wrap="none">
                <a:spAutoFit/>
              </a:bodyPr>
              <a:lstStyle/>
              <a:p>
                <a:r>
                  <a:rPr lang="en-US" sz="1400" dirty="0">
                    <a:latin typeface="Bahnschrift Light" pitchFamily="34" charset="0"/>
                  </a:rPr>
                  <a:t>Ht</a:t>
                </a:r>
                <a:endParaRPr lang="en-IN" sz="1400" dirty="0">
                  <a:latin typeface="Bahnschrift Light" pitchFamily="34" charset="0"/>
                </a:endParaRPr>
              </a:p>
            </p:txBody>
          </p:sp>
          <p:sp>
            <p:nvSpPr>
              <p:cNvPr id="26" name="Rectangle 25"/>
              <p:cNvSpPr/>
              <p:nvPr/>
            </p:nvSpPr>
            <p:spPr>
              <a:xfrm>
                <a:off x="7692657" y="4209907"/>
                <a:ext cx="354584" cy="307777"/>
              </a:xfrm>
              <a:prstGeom prst="rect">
                <a:avLst/>
              </a:prstGeom>
            </p:spPr>
            <p:txBody>
              <a:bodyPr wrap="none">
                <a:spAutoFit/>
              </a:bodyPr>
              <a:lstStyle/>
              <a:p>
                <a:r>
                  <a:rPr lang="en-US" sz="1400" dirty="0">
                    <a:latin typeface="Bahnschrift Light" pitchFamily="34" charset="0"/>
                  </a:rPr>
                  <a:t>Ct</a:t>
                </a:r>
                <a:endParaRPr lang="en-IN" sz="1400" dirty="0">
                  <a:latin typeface="Bahnschrift Light" pitchFamily="34" charset="0"/>
                </a:endParaRPr>
              </a:p>
            </p:txBody>
          </p:sp>
          <p:sp>
            <p:nvSpPr>
              <p:cNvPr id="27" name="TextBox 26"/>
              <p:cNvSpPr txBox="1"/>
              <p:nvPr/>
            </p:nvSpPr>
            <p:spPr>
              <a:xfrm>
                <a:off x="8731093" y="5162561"/>
                <a:ext cx="1850635" cy="338554"/>
              </a:xfrm>
              <a:prstGeom prst="rect">
                <a:avLst/>
              </a:prstGeom>
              <a:noFill/>
            </p:spPr>
            <p:txBody>
              <a:bodyPr wrap="none" rtlCol="0">
                <a:spAutoFit/>
              </a:bodyPr>
              <a:lstStyle/>
              <a:p>
                <a:r>
                  <a:rPr lang="en-US" sz="1600" dirty="0" smtClean="0"/>
                  <a:t>Short term Memory</a:t>
                </a:r>
                <a:endParaRPr lang="en-IN" sz="1600" dirty="0"/>
              </a:p>
            </p:txBody>
          </p:sp>
        </p:grpSp>
        <p:sp>
          <p:nvSpPr>
            <p:cNvPr id="28" name="TextBox 27"/>
            <p:cNvSpPr txBox="1"/>
            <p:nvPr/>
          </p:nvSpPr>
          <p:spPr>
            <a:xfrm>
              <a:off x="3652398" y="5554639"/>
              <a:ext cx="739305" cy="338554"/>
            </a:xfrm>
            <a:prstGeom prst="rect">
              <a:avLst/>
            </a:prstGeom>
            <a:noFill/>
          </p:spPr>
          <p:txBody>
            <a:bodyPr wrap="none" rtlCol="0">
              <a:spAutoFit/>
            </a:bodyPr>
            <a:lstStyle/>
            <a:p>
              <a:r>
                <a:rPr lang="en-US" sz="1600" dirty="0" smtClean="0">
                  <a:latin typeface="Bahnschrift Light" pitchFamily="34" charset="0"/>
                </a:rPr>
                <a:t>forget</a:t>
              </a:r>
              <a:endParaRPr lang="en-IN" sz="1600" dirty="0">
                <a:latin typeface="Bahnschrift Light" pitchFamily="34" charset="0"/>
              </a:endParaRPr>
            </a:p>
          </p:txBody>
        </p:sp>
        <p:sp>
          <p:nvSpPr>
            <p:cNvPr id="30" name="TextBox 29"/>
            <p:cNvSpPr txBox="1"/>
            <p:nvPr/>
          </p:nvSpPr>
          <p:spPr>
            <a:xfrm>
              <a:off x="4721157" y="5601985"/>
              <a:ext cx="644728" cy="338554"/>
            </a:xfrm>
            <a:prstGeom prst="rect">
              <a:avLst/>
            </a:prstGeom>
            <a:noFill/>
          </p:spPr>
          <p:txBody>
            <a:bodyPr wrap="none" rtlCol="0">
              <a:spAutoFit/>
            </a:bodyPr>
            <a:lstStyle/>
            <a:p>
              <a:r>
                <a:rPr lang="en-US" sz="1600" dirty="0" smtClean="0">
                  <a:latin typeface="Bahnschrift Light" pitchFamily="34" charset="0"/>
                </a:rPr>
                <a:t>input</a:t>
              </a:r>
              <a:endParaRPr lang="en-IN" sz="1600" dirty="0">
                <a:latin typeface="Bahnschrift Light" pitchFamily="34" charset="0"/>
              </a:endParaRPr>
            </a:p>
          </p:txBody>
        </p:sp>
        <p:sp>
          <p:nvSpPr>
            <p:cNvPr id="31" name="TextBox 30"/>
            <p:cNvSpPr txBox="1"/>
            <p:nvPr/>
          </p:nvSpPr>
          <p:spPr>
            <a:xfrm>
              <a:off x="5940019" y="5570562"/>
              <a:ext cx="486030" cy="338554"/>
            </a:xfrm>
            <a:prstGeom prst="rect">
              <a:avLst/>
            </a:prstGeom>
            <a:noFill/>
          </p:spPr>
          <p:txBody>
            <a:bodyPr wrap="none" rtlCol="0">
              <a:spAutoFit/>
            </a:bodyPr>
            <a:lstStyle/>
            <a:p>
              <a:r>
                <a:rPr lang="en-US" sz="1600" dirty="0" smtClean="0">
                  <a:latin typeface="Bahnschrift Light" pitchFamily="34" charset="0"/>
                </a:rPr>
                <a:t>o/p</a:t>
              </a:r>
              <a:endParaRPr lang="en-IN" sz="1600" dirty="0">
                <a:latin typeface="Bahnschrift Light" pitchFamily="34" charset="0"/>
              </a:endParaRPr>
            </a:p>
          </p:txBody>
        </p:sp>
      </p:grpSp>
    </p:spTree>
    <p:extLst>
      <p:ext uri="{BB962C8B-B14F-4D97-AF65-F5344CB8AC3E}">
        <p14:creationId xmlns:p14="http://schemas.microsoft.com/office/powerpoint/2010/main" val="291108039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Tree>
    <p:extLst>
      <p:ext uri="{BB962C8B-B14F-4D97-AF65-F5344CB8AC3E}">
        <p14:creationId xmlns:p14="http://schemas.microsoft.com/office/powerpoint/2010/main" val="242946766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7242" y="911815"/>
            <a:ext cx="4879012" cy="2892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328023" y="1528953"/>
            <a:ext cx="5477816" cy="954107"/>
          </a:xfrm>
          <a:prstGeom prst="rect">
            <a:avLst/>
          </a:prstGeom>
        </p:spPr>
        <p:txBody>
          <a:bodyPr wrap="square">
            <a:spAutoFit/>
          </a:bodyPr>
          <a:lstStyle/>
          <a:p>
            <a:r>
              <a:rPr lang="en-US" sz="1400" dirty="0" smtClean="0">
                <a:latin typeface="Bahnschrift SemiLight" pitchFamily="34" charset="0"/>
              </a:rPr>
              <a:t>Suppose there </a:t>
            </a:r>
            <a:r>
              <a:rPr lang="en-US" sz="1400" dirty="0">
                <a:latin typeface="Bahnschrift SemiLight" pitchFamily="34" charset="0"/>
              </a:rPr>
              <a:t>is a group of </a:t>
            </a:r>
            <a:r>
              <a:rPr lang="en-US" sz="1400" dirty="0" smtClean="0">
                <a:latin typeface="Bahnschrift SemiLight" pitchFamily="34" charset="0"/>
              </a:rPr>
              <a:t>students who </a:t>
            </a:r>
            <a:r>
              <a:rPr lang="en-US" sz="1400" dirty="0">
                <a:latin typeface="Bahnschrift SemiLight" pitchFamily="34" charset="0"/>
              </a:rPr>
              <a:t>have never seen</a:t>
            </a:r>
          </a:p>
          <a:p>
            <a:r>
              <a:rPr lang="en-US" sz="1400" dirty="0">
                <a:latin typeface="Bahnschrift SemiLight" pitchFamily="34" charset="0"/>
              </a:rPr>
              <a:t>koala in the life koala is a </a:t>
            </a:r>
            <a:r>
              <a:rPr lang="en-US" sz="1400" dirty="0" smtClean="0">
                <a:latin typeface="Bahnschrift SemiLight" pitchFamily="34" charset="0"/>
              </a:rPr>
              <a:t>nice cute </a:t>
            </a:r>
            <a:r>
              <a:rPr lang="en-US" sz="1400" dirty="0">
                <a:latin typeface="Bahnschrift SemiLight" pitchFamily="34" charset="0"/>
              </a:rPr>
              <a:t>looking animal from </a:t>
            </a:r>
            <a:r>
              <a:rPr lang="en-US" sz="1400" dirty="0" smtClean="0">
                <a:latin typeface="Bahnschrift SemiLight" pitchFamily="34" charset="0"/>
              </a:rPr>
              <a:t>Australia and these </a:t>
            </a:r>
            <a:r>
              <a:rPr lang="en-US" sz="1400" dirty="0">
                <a:latin typeface="Bahnschrift SemiLight" pitchFamily="34" charset="0"/>
              </a:rPr>
              <a:t>students are very naive and </a:t>
            </a:r>
            <a:r>
              <a:rPr lang="en-US" sz="1400" dirty="0" smtClean="0">
                <a:latin typeface="Bahnschrift SemiLight" pitchFamily="34" charset="0"/>
              </a:rPr>
              <a:t>they have </a:t>
            </a:r>
            <a:r>
              <a:rPr lang="en-US" sz="1400" dirty="0">
                <a:latin typeface="Bahnschrift SemiLight" pitchFamily="34" charset="0"/>
              </a:rPr>
              <a:t>never seen this animal</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7242" y="4052329"/>
            <a:ext cx="4960781" cy="2603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385977" y="4421344"/>
            <a:ext cx="4885386" cy="954107"/>
          </a:xfrm>
          <a:prstGeom prst="rect">
            <a:avLst/>
          </a:prstGeom>
        </p:spPr>
        <p:txBody>
          <a:bodyPr wrap="square">
            <a:spAutoFit/>
          </a:bodyPr>
          <a:lstStyle/>
          <a:p>
            <a:r>
              <a:rPr lang="en-US" sz="1400" dirty="0">
                <a:latin typeface="Bahnschrift SemiLight" pitchFamily="34" charset="0"/>
              </a:rPr>
              <a:t>our job is to train this group of student  </a:t>
            </a:r>
          </a:p>
          <a:p>
            <a:r>
              <a:rPr lang="en-US" sz="1400" dirty="0">
                <a:latin typeface="Bahnschrift SemiLight" pitchFamily="34" charset="0"/>
              </a:rPr>
              <a:t>so that you give them an image and they will be able to tell you whether this image has koala or not you can make this a teamwork and give individual responsibility to each</a:t>
            </a:r>
            <a:endParaRPr lang="en-IN" sz="1400" dirty="0">
              <a:latin typeface="Bahnschrift SemiLight" pitchFamily="34" charset="0"/>
            </a:endParaRPr>
          </a:p>
        </p:txBody>
      </p:sp>
      <p:sp>
        <p:nvSpPr>
          <p:cNvPr id="5" name="Rectangle 4"/>
          <p:cNvSpPr/>
          <p:nvPr/>
        </p:nvSpPr>
        <p:spPr>
          <a:xfrm>
            <a:off x="4121239" y="50171"/>
            <a:ext cx="3193961" cy="461665"/>
          </a:xfrm>
          <a:prstGeom prst="rect">
            <a:avLst/>
          </a:prstGeom>
          <a:solidFill>
            <a:srgbClr val="7030A0"/>
          </a:solidFill>
        </p:spPr>
        <p:txBody>
          <a:bodyPr wrap="square">
            <a:spAutoFit/>
          </a:bodyPr>
          <a:lstStyle/>
          <a:p>
            <a:r>
              <a:rPr lang="en-IN" sz="2400" dirty="0" smtClean="0">
                <a:solidFill>
                  <a:schemeClr val="bg1"/>
                </a:solidFill>
                <a:latin typeface="Bahnschrift" pitchFamily="34" charset="0"/>
              </a:rPr>
              <a:t>NEURA</a:t>
            </a:r>
            <a:r>
              <a:rPr lang="en-US" sz="2400" dirty="0" smtClean="0">
                <a:solidFill>
                  <a:schemeClr val="bg1"/>
                </a:solidFill>
                <a:latin typeface="Bahnschrift" pitchFamily="34" charset="0"/>
              </a:rPr>
              <a:t>L </a:t>
            </a:r>
            <a:r>
              <a:rPr lang="en-IN" sz="2400" dirty="0" smtClean="0">
                <a:solidFill>
                  <a:schemeClr val="bg1"/>
                </a:solidFill>
                <a:latin typeface="Bahnschrift" pitchFamily="34" charset="0"/>
              </a:rPr>
              <a:t>NETWORK</a:t>
            </a:r>
            <a:r>
              <a:rPr lang="en-IN" sz="2400" dirty="0">
                <a:solidFill>
                  <a:schemeClr val="bg1"/>
                </a:solidFill>
                <a:latin typeface="Bahnschrift" pitchFamily="34" charset="0"/>
              </a:rPr>
              <a:t> </a:t>
            </a:r>
          </a:p>
        </p:txBody>
      </p:sp>
      <p:sp>
        <p:nvSpPr>
          <p:cNvPr id="9" name="TextBox 8"/>
          <p:cNvSpPr txBox="1"/>
          <p:nvPr/>
        </p:nvSpPr>
        <p:spPr>
          <a:xfrm>
            <a:off x="8590208" y="3244334"/>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88274482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9797" y="396660"/>
            <a:ext cx="5128747" cy="2076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671255" y="217387"/>
            <a:ext cx="5520745" cy="1815882"/>
          </a:xfrm>
          <a:prstGeom prst="rect">
            <a:avLst/>
          </a:prstGeom>
        </p:spPr>
        <p:txBody>
          <a:bodyPr wrap="square">
            <a:spAutoFit/>
          </a:bodyPr>
          <a:lstStyle/>
          <a:p>
            <a:r>
              <a:rPr lang="en-US" sz="1400" dirty="0">
                <a:latin typeface="Bahnschrift SemiLight" pitchFamily="34" charset="0"/>
              </a:rPr>
              <a:t>these students such as </a:t>
            </a:r>
            <a:r>
              <a:rPr lang="en-US" sz="1400" dirty="0">
                <a:solidFill>
                  <a:srgbClr val="00B050"/>
                </a:solidFill>
                <a:latin typeface="Bahnschrift" pitchFamily="34" charset="0"/>
              </a:rPr>
              <a:t>mike can work on detecting only eyes </a:t>
            </a:r>
          </a:p>
          <a:p>
            <a:r>
              <a:rPr lang="en-US" sz="1400" dirty="0" smtClean="0">
                <a:solidFill>
                  <a:srgbClr val="0070C0"/>
                </a:solidFill>
                <a:latin typeface="Bahnschrift" pitchFamily="34" charset="0"/>
              </a:rPr>
              <a:t>Mohan </a:t>
            </a:r>
            <a:r>
              <a:rPr lang="en-US" sz="1400" dirty="0">
                <a:solidFill>
                  <a:srgbClr val="0070C0"/>
                </a:solidFill>
                <a:latin typeface="Bahnschrift" pitchFamily="34" charset="0"/>
              </a:rPr>
              <a:t>can work on detecting only nose</a:t>
            </a:r>
          </a:p>
          <a:p>
            <a:r>
              <a:rPr lang="en-US" sz="1400" dirty="0">
                <a:latin typeface="Bahnschrift SemiLight" pitchFamily="34" charset="0"/>
              </a:rPr>
              <a:t>so each of these students are working on detecting a specific</a:t>
            </a:r>
          </a:p>
          <a:p>
            <a:r>
              <a:rPr lang="en-US" sz="1400" dirty="0">
                <a:latin typeface="Bahnschrift SemiLight" pitchFamily="34" charset="0"/>
              </a:rPr>
              <a:t>part of koala's body </a:t>
            </a:r>
          </a:p>
          <a:p>
            <a:r>
              <a:rPr lang="en-US" sz="1400" dirty="0">
                <a:latin typeface="Bahnschrift SemiLight" pitchFamily="34" charset="0"/>
              </a:rPr>
              <a:t>from an image </a:t>
            </a:r>
            <a:r>
              <a:rPr lang="en-US" sz="1400" dirty="0" smtClean="0">
                <a:latin typeface="Bahnschrift SemiLight" pitchFamily="34" charset="0"/>
              </a:rPr>
              <a:t>they </a:t>
            </a:r>
            <a:r>
              <a:rPr lang="en-US" sz="1400" dirty="0">
                <a:latin typeface="Bahnschrift SemiLight" pitchFamily="34" charset="0"/>
              </a:rPr>
              <a:t>give their decision is by using a score of 0 to 1</a:t>
            </a:r>
          </a:p>
          <a:p>
            <a:r>
              <a:rPr lang="en-US" sz="1400" dirty="0">
                <a:latin typeface="Bahnschrift SemiLight" pitchFamily="34" charset="0"/>
              </a:rPr>
              <a:t>where 0 means this is definitely not</a:t>
            </a:r>
          </a:p>
          <a:p>
            <a:r>
              <a:rPr lang="en-US" sz="1400" dirty="0">
                <a:latin typeface="Bahnschrift SemiLight" pitchFamily="34" charset="0"/>
              </a:rPr>
              <a:t>koala's eyes 0.5 means yeah it looks like koala's eyes </a:t>
            </a:r>
          </a:p>
          <a:p>
            <a:r>
              <a:rPr lang="en-US" sz="1400" dirty="0" smtClean="0">
                <a:latin typeface="Bahnschrift SemiLight" pitchFamily="34" charset="0"/>
              </a:rPr>
              <a:t>I'm </a:t>
            </a:r>
            <a:r>
              <a:rPr lang="en-US" sz="1400" dirty="0">
                <a:latin typeface="Bahnschrift SemiLight" pitchFamily="34" charset="0"/>
              </a:rPr>
              <a:t>not sure maybe 50 50 1 means it is definitely koala's eyes</a:t>
            </a:r>
            <a:endParaRPr lang="en-IN" sz="1400" dirty="0">
              <a:latin typeface="Bahnschrift SemiLight" pitchFamily="34" charset="0"/>
            </a:endParaRPr>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4847" y="2187568"/>
            <a:ext cx="3845081" cy="248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302176" y="2907393"/>
            <a:ext cx="6096000" cy="1815882"/>
          </a:xfrm>
          <a:prstGeom prst="rect">
            <a:avLst/>
          </a:prstGeom>
        </p:spPr>
        <p:txBody>
          <a:bodyPr>
            <a:spAutoFit/>
          </a:bodyPr>
          <a:lstStyle/>
          <a:p>
            <a:r>
              <a:rPr lang="en-US" sz="1400" dirty="0">
                <a:latin typeface="Bahnschrift SemiLight" pitchFamily="34" charset="0"/>
              </a:rPr>
              <a:t>so mike has become now expert koala </a:t>
            </a:r>
            <a:r>
              <a:rPr lang="en-US" sz="1400" dirty="0">
                <a:solidFill>
                  <a:srgbClr val="0070C0"/>
                </a:solidFill>
                <a:latin typeface="Bahnschrift" pitchFamily="34" charset="0"/>
              </a:rPr>
              <a:t>eye detector </a:t>
            </a:r>
          </a:p>
          <a:p>
            <a:r>
              <a:rPr lang="en-US" sz="1400" dirty="0">
                <a:latin typeface="Bahnschrift SemiLight" pitchFamily="34" charset="0"/>
              </a:rPr>
              <a:t>similarly </a:t>
            </a:r>
            <a:r>
              <a:rPr lang="en-US" sz="1400" dirty="0" smtClean="0">
                <a:latin typeface="Bahnschrift SemiLight" pitchFamily="34" charset="0"/>
              </a:rPr>
              <a:t>Mohan </a:t>
            </a:r>
            <a:r>
              <a:rPr lang="en-US" sz="1400" dirty="0">
                <a:latin typeface="Bahnschrift SemiLight" pitchFamily="34" charset="0"/>
              </a:rPr>
              <a:t>is an expert koala  </a:t>
            </a:r>
            <a:r>
              <a:rPr lang="en-US" sz="1400" b="1" dirty="0">
                <a:solidFill>
                  <a:schemeClr val="tx2"/>
                </a:solidFill>
                <a:latin typeface="Bahnschrift SemiLight" pitchFamily="34" charset="0"/>
              </a:rPr>
              <a:t>nose detector </a:t>
            </a:r>
            <a:r>
              <a:rPr lang="en-US" sz="1400" dirty="0">
                <a:latin typeface="Bahnschrift SemiLight" pitchFamily="34" charset="0"/>
              </a:rPr>
              <a:t>when you give them an</a:t>
            </a:r>
          </a:p>
          <a:p>
            <a:r>
              <a:rPr lang="en-US" sz="1400" dirty="0">
                <a:latin typeface="Bahnschrift SemiLight" pitchFamily="34" charset="0"/>
              </a:rPr>
              <a:t>image of lion mike will say the decision is point zero three because</a:t>
            </a:r>
          </a:p>
          <a:p>
            <a:r>
              <a:rPr lang="en-US" sz="1400" dirty="0">
                <a:latin typeface="Bahnschrift SemiLight" pitchFamily="34" charset="0"/>
              </a:rPr>
              <a:t>the eyes they are like round eyeballs but they don't look like koala's eyes so 0.03 </a:t>
            </a:r>
            <a:r>
              <a:rPr lang="en-US" sz="1400" dirty="0" smtClean="0">
                <a:latin typeface="Bahnschrift SemiLight" pitchFamily="34" charset="0"/>
              </a:rPr>
              <a:t>similarly </a:t>
            </a:r>
            <a:r>
              <a:rPr lang="en-US" sz="1400" dirty="0">
                <a:latin typeface="Bahnschrift SemiLight" pitchFamily="34" charset="0"/>
              </a:rPr>
              <a:t>for nose he can just give some score and if the score is more than 0.5 we'll say </a:t>
            </a:r>
            <a:r>
              <a:rPr lang="en-US" sz="1400" dirty="0" smtClean="0">
                <a:latin typeface="Bahnschrift SemiLight" pitchFamily="34" charset="0"/>
              </a:rPr>
              <a:t>yeah those </a:t>
            </a:r>
            <a:r>
              <a:rPr lang="en-US" sz="1400" dirty="0">
                <a:latin typeface="Bahnschrift SemiLight" pitchFamily="34" charset="0"/>
              </a:rPr>
              <a:t>are koala's </a:t>
            </a:r>
            <a:r>
              <a:rPr lang="en-US" sz="1400" dirty="0" smtClean="0">
                <a:latin typeface="Bahnschrift SemiLight" pitchFamily="34" charset="0"/>
              </a:rPr>
              <a:t>eyes</a:t>
            </a:r>
          </a:p>
          <a:p>
            <a:endParaRPr lang="en-US" sz="1400" dirty="0">
              <a:latin typeface="Bahnschrift SemiLight" pitchFamily="34" charset="0"/>
            </a:endParaRPr>
          </a:p>
          <a:p>
            <a:endParaRPr lang="en-IN" sz="1400" dirty="0">
              <a:latin typeface="Bahnschrift SemiLight" pitchFamily="34" charset="0"/>
            </a:endParaRPr>
          </a:p>
        </p:txBody>
      </p:sp>
    </p:spTree>
    <p:extLst>
      <p:ext uri="{BB962C8B-B14F-4D97-AF65-F5344CB8AC3E}">
        <p14:creationId xmlns:p14="http://schemas.microsoft.com/office/powerpoint/2010/main" val="354884169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2" name="Rectangle 1"/>
          <p:cNvSpPr/>
          <p:nvPr/>
        </p:nvSpPr>
        <p:spPr>
          <a:xfrm>
            <a:off x="1223493" y="4069724"/>
            <a:ext cx="10852597" cy="2631490"/>
          </a:xfrm>
          <a:prstGeom prst="rect">
            <a:avLst/>
          </a:prstGeom>
        </p:spPr>
        <p:txBody>
          <a:bodyPr wrap="square">
            <a:spAutoFit/>
          </a:bodyPr>
          <a:lstStyle/>
          <a:p>
            <a:r>
              <a:rPr lang="en-US" sz="1500" dirty="0">
                <a:latin typeface="Bahnschrift SemiLight" pitchFamily="34" charset="0"/>
              </a:rPr>
              <a:t>you </a:t>
            </a:r>
            <a:r>
              <a:rPr lang="en-US" sz="1500" dirty="0" smtClean="0">
                <a:latin typeface="Bahnschrift SemiLight" pitchFamily="34" charset="0"/>
              </a:rPr>
              <a:t>can extend </a:t>
            </a:r>
            <a:r>
              <a:rPr lang="en-US" sz="1500" dirty="0">
                <a:latin typeface="Bahnschrift SemiLight" pitchFamily="34" charset="0"/>
              </a:rPr>
              <a:t>this collaboration </a:t>
            </a:r>
            <a:r>
              <a:rPr lang="en-US" sz="1500" dirty="0" smtClean="0">
                <a:latin typeface="Bahnschrift SemiLight" pitchFamily="34" charset="0"/>
              </a:rPr>
              <a:t>further and </a:t>
            </a:r>
            <a:r>
              <a:rPr lang="en-US" sz="1500" dirty="0">
                <a:latin typeface="Bahnschrift SemiLight" pitchFamily="34" charset="0"/>
              </a:rPr>
              <a:t>make shakib an ear detection expert</a:t>
            </a:r>
          </a:p>
          <a:p>
            <a:endParaRPr lang="en-US" sz="1500" dirty="0">
              <a:latin typeface="Bahnschrift SemiLight" pitchFamily="34" charset="0"/>
            </a:endParaRPr>
          </a:p>
          <a:p>
            <a:r>
              <a:rPr lang="en-US" sz="1500" dirty="0">
                <a:latin typeface="Bahnschrift SemiLight" pitchFamily="34" charset="0"/>
              </a:rPr>
              <a:t>and then these three students can go to </a:t>
            </a:r>
            <a:r>
              <a:rPr lang="en-US" sz="1500" b="1" dirty="0" smtClean="0">
                <a:latin typeface="Bahnschrift SemiLight" pitchFamily="34" charset="0"/>
              </a:rPr>
              <a:t>Serena</a:t>
            </a:r>
            <a:r>
              <a:rPr lang="en-US" sz="1500" dirty="0" smtClean="0">
                <a:latin typeface="Bahnschrift SemiLight" pitchFamily="34" charset="0"/>
              </a:rPr>
              <a:t> </a:t>
            </a:r>
            <a:r>
              <a:rPr lang="en-US" sz="1500" dirty="0">
                <a:latin typeface="Bahnschrift SemiLight" pitchFamily="34" charset="0"/>
              </a:rPr>
              <a:t>and </a:t>
            </a:r>
            <a:r>
              <a:rPr lang="en-US" sz="1500" b="1" dirty="0" smtClean="0">
                <a:latin typeface="Bahnschrift SemiLight" pitchFamily="34" charset="0"/>
              </a:rPr>
              <a:t>Serena</a:t>
            </a:r>
            <a:r>
              <a:rPr lang="en-US" sz="1500" dirty="0" smtClean="0">
                <a:latin typeface="Bahnschrift SemiLight" pitchFamily="34" charset="0"/>
              </a:rPr>
              <a:t> </a:t>
            </a:r>
            <a:r>
              <a:rPr lang="en-US" sz="1500" dirty="0">
                <a:latin typeface="Bahnschrift SemiLight" pitchFamily="34" charset="0"/>
              </a:rPr>
              <a:t>can work </a:t>
            </a:r>
            <a:r>
              <a:rPr lang="en-US" sz="1500" dirty="0" smtClean="0">
                <a:latin typeface="Bahnschrift SemiLight" pitchFamily="34" charset="0"/>
              </a:rPr>
              <a:t>on deciding </a:t>
            </a:r>
            <a:r>
              <a:rPr lang="en-US" sz="1500" dirty="0">
                <a:latin typeface="Bahnschrift SemiLight" pitchFamily="34" charset="0"/>
              </a:rPr>
              <a:t>if the image has koala's face or not</a:t>
            </a:r>
          </a:p>
          <a:p>
            <a:r>
              <a:rPr lang="en-US" sz="1500" dirty="0">
                <a:latin typeface="Bahnschrift SemiLight" pitchFamily="34" charset="0"/>
              </a:rPr>
              <a:t>so once </a:t>
            </a:r>
            <a:r>
              <a:rPr lang="en-US" sz="1500" b="1" dirty="0" smtClean="0">
                <a:latin typeface="Bahnschrift SemiLight" pitchFamily="34" charset="0"/>
              </a:rPr>
              <a:t>Mike</a:t>
            </a:r>
            <a:r>
              <a:rPr lang="en-US" sz="1500" dirty="0" smtClean="0">
                <a:latin typeface="Bahnschrift SemiLight" pitchFamily="34" charset="0"/>
              </a:rPr>
              <a:t> </a:t>
            </a:r>
            <a:r>
              <a:rPr lang="en-US" sz="1500" b="1" dirty="0" smtClean="0">
                <a:latin typeface="Bahnschrift SemiLight" pitchFamily="34" charset="0"/>
              </a:rPr>
              <a:t>Mohan</a:t>
            </a:r>
            <a:r>
              <a:rPr lang="en-US" sz="1500" dirty="0" smtClean="0">
                <a:latin typeface="Bahnschrift SemiLight" pitchFamily="34" charset="0"/>
              </a:rPr>
              <a:t> </a:t>
            </a:r>
            <a:r>
              <a:rPr lang="en-US" sz="1500" dirty="0">
                <a:latin typeface="Bahnschrift SemiLight" pitchFamily="34" charset="0"/>
              </a:rPr>
              <a:t>and </a:t>
            </a:r>
            <a:r>
              <a:rPr lang="en-US" sz="1500" b="1" dirty="0" smtClean="0">
                <a:latin typeface="Bahnschrift SemiLight" pitchFamily="34" charset="0"/>
              </a:rPr>
              <a:t>Sakib</a:t>
            </a:r>
            <a:r>
              <a:rPr lang="en-US" sz="1500" dirty="0" smtClean="0">
                <a:latin typeface="Bahnschrift SemiLight" pitchFamily="34" charset="0"/>
              </a:rPr>
              <a:t> </a:t>
            </a:r>
            <a:r>
              <a:rPr lang="en-US" sz="1500" dirty="0">
                <a:latin typeface="Bahnschrift SemiLight" pitchFamily="34" charset="0"/>
              </a:rPr>
              <a:t>says that this image has koalas eyes nose and </a:t>
            </a:r>
            <a:r>
              <a:rPr lang="en-US" sz="1500" dirty="0" smtClean="0">
                <a:latin typeface="Bahnschrift SemiLight" pitchFamily="34" charset="0"/>
              </a:rPr>
              <a:t>ears, </a:t>
            </a:r>
            <a:r>
              <a:rPr lang="en-US" sz="1500" b="1" dirty="0" smtClean="0">
                <a:latin typeface="Bahnschrift SemiLight" pitchFamily="34" charset="0"/>
              </a:rPr>
              <a:t>Serena</a:t>
            </a:r>
            <a:r>
              <a:rPr lang="en-US" sz="1500" dirty="0" smtClean="0">
                <a:latin typeface="Bahnschrift SemiLight" pitchFamily="34" charset="0"/>
              </a:rPr>
              <a:t> </a:t>
            </a:r>
            <a:r>
              <a:rPr lang="en-US" sz="1500" dirty="0">
                <a:latin typeface="Bahnschrift SemiLight" pitchFamily="34" charset="0"/>
              </a:rPr>
              <a:t>can use their work to figure out if the image has koala's face or </a:t>
            </a:r>
            <a:r>
              <a:rPr lang="en-US" sz="1500" dirty="0" smtClean="0">
                <a:latin typeface="Bahnschrift SemiLight" pitchFamily="34" charset="0"/>
              </a:rPr>
              <a:t>not and </a:t>
            </a:r>
            <a:r>
              <a:rPr lang="en-US" sz="1500" dirty="0">
                <a:latin typeface="Bahnschrift SemiLight" pitchFamily="34" charset="0"/>
              </a:rPr>
              <a:t>she can use a formula like this because</a:t>
            </a:r>
          </a:p>
          <a:p>
            <a:r>
              <a:rPr lang="en-US" sz="1500" dirty="0">
                <a:latin typeface="Bahnschrift SemiLight" pitchFamily="34" charset="0"/>
              </a:rPr>
              <a:t>if you look at koala the nose in </a:t>
            </a:r>
            <a:r>
              <a:rPr lang="en-US" sz="1500" dirty="0" smtClean="0">
                <a:latin typeface="Bahnschrift SemiLight" pitchFamily="34" charset="0"/>
              </a:rPr>
              <a:t>koala is </a:t>
            </a:r>
            <a:r>
              <a:rPr lang="en-US" sz="1500" dirty="0">
                <a:latin typeface="Bahnschrift SemiLight" pitchFamily="34" charset="0"/>
              </a:rPr>
              <a:t>very prominent koala's nose are </a:t>
            </a:r>
            <a:r>
              <a:rPr lang="en-US" sz="1500" dirty="0" smtClean="0">
                <a:latin typeface="Bahnschrift SemiLight" pitchFamily="34" charset="0"/>
              </a:rPr>
              <a:t>very are </a:t>
            </a:r>
            <a:r>
              <a:rPr lang="en-US" sz="1500" dirty="0">
                <a:latin typeface="Bahnschrift SemiLight" pitchFamily="34" charset="0"/>
              </a:rPr>
              <a:t>different than other animals </a:t>
            </a:r>
            <a:endParaRPr lang="en-US" sz="1500" dirty="0" smtClean="0">
              <a:latin typeface="Bahnschrift SemiLight" pitchFamily="34" charset="0"/>
            </a:endParaRPr>
          </a:p>
          <a:p>
            <a:r>
              <a:rPr lang="en-US" sz="1500" dirty="0" smtClean="0">
                <a:latin typeface="Bahnschrift SemiLight" pitchFamily="34" charset="0"/>
              </a:rPr>
              <a:t>so if there </a:t>
            </a:r>
            <a:r>
              <a:rPr lang="en-US" sz="1500" dirty="0">
                <a:latin typeface="Bahnschrift SemiLight" pitchFamily="34" charset="0"/>
              </a:rPr>
              <a:t>is a prominent feature then you can give that more weightage</a:t>
            </a:r>
          </a:p>
          <a:p>
            <a:r>
              <a:rPr lang="en-US" sz="1500" dirty="0">
                <a:latin typeface="Bahnschrift SemiLight" pitchFamily="34" charset="0"/>
              </a:rPr>
              <a:t>and </a:t>
            </a:r>
            <a:r>
              <a:rPr lang="en-US" sz="1500" b="1" dirty="0" smtClean="0">
                <a:latin typeface="Bahnschrift SemiLight" pitchFamily="34" charset="0"/>
              </a:rPr>
              <a:t>Serena</a:t>
            </a:r>
            <a:r>
              <a:rPr lang="en-US" sz="1500" dirty="0" smtClean="0">
                <a:latin typeface="Bahnschrift SemiLight" pitchFamily="34" charset="0"/>
              </a:rPr>
              <a:t> </a:t>
            </a:r>
            <a:r>
              <a:rPr lang="en-US" sz="1500" dirty="0">
                <a:latin typeface="Bahnschrift SemiLight" pitchFamily="34" charset="0"/>
              </a:rPr>
              <a:t>can derive this formula for detecting the </a:t>
            </a:r>
            <a:r>
              <a:rPr lang="en-US" sz="1500" dirty="0" smtClean="0">
                <a:latin typeface="Bahnschrift SemiLight" pitchFamily="34" charset="0"/>
              </a:rPr>
              <a:t>face and </a:t>
            </a:r>
            <a:r>
              <a:rPr lang="en-US" sz="1500" dirty="0">
                <a:latin typeface="Bahnschrift SemiLight" pitchFamily="34" charset="0"/>
              </a:rPr>
              <a:t>based on the scores that mike </a:t>
            </a:r>
            <a:r>
              <a:rPr lang="en-US" sz="1500" dirty="0" smtClean="0">
                <a:latin typeface="Bahnschrift SemiLight" pitchFamily="34" charset="0"/>
              </a:rPr>
              <a:t>Mohan </a:t>
            </a:r>
            <a:r>
              <a:rPr lang="en-US" sz="1500" dirty="0">
                <a:latin typeface="Bahnschrift SemiLight" pitchFamily="34" charset="0"/>
              </a:rPr>
              <a:t>and </a:t>
            </a:r>
            <a:r>
              <a:rPr lang="en-US" sz="1500" dirty="0" smtClean="0">
                <a:latin typeface="Bahnschrift SemiLight" pitchFamily="34" charset="0"/>
              </a:rPr>
              <a:t>Sakib </a:t>
            </a:r>
            <a:r>
              <a:rPr lang="en-US" sz="1500" dirty="0">
                <a:latin typeface="Bahnschrift SemiLight" pitchFamily="34" charset="0"/>
              </a:rPr>
              <a:t>gives</a:t>
            </a:r>
          </a:p>
          <a:p>
            <a:r>
              <a:rPr lang="en-US" sz="1500" dirty="0">
                <a:latin typeface="Bahnschrift SemiLight" pitchFamily="34" charset="0"/>
              </a:rPr>
              <a:t>she will simply use this formula and tell </a:t>
            </a:r>
            <a:r>
              <a:rPr lang="en-US" sz="1500" dirty="0" smtClean="0">
                <a:latin typeface="Bahnschrift SemiLight" pitchFamily="34" charset="0"/>
              </a:rPr>
              <a:t>you whether </a:t>
            </a:r>
            <a:r>
              <a:rPr lang="en-US" sz="1500" dirty="0">
                <a:latin typeface="Bahnschrift SemiLight" pitchFamily="34" charset="0"/>
              </a:rPr>
              <a:t>the image has koala's face or not for example in this particular </a:t>
            </a:r>
            <a:r>
              <a:rPr lang="en-US" sz="1500" dirty="0" smtClean="0">
                <a:latin typeface="Bahnschrift SemiLight" pitchFamily="34" charset="0"/>
              </a:rPr>
              <a:t>case i </a:t>
            </a:r>
            <a:r>
              <a:rPr lang="en-US" sz="1500" dirty="0">
                <a:latin typeface="Bahnschrift SemiLight" pitchFamily="34" charset="0"/>
              </a:rPr>
              <a:t>have given sample a scores by each individual </a:t>
            </a:r>
            <a:r>
              <a:rPr lang="en-US" sz="1500" dirty="0" smtClean="0">
                <a:latin typeface="Bahnschrift SemiLight" pitchFamily="34" charset="0"/>
              </a:rPr>
              <a:t>person and Serena </a:t>
            </a:r>
            <a:r>
              <a:rPr lang="en-US" sz="1500" dirty="0">
                <a:latin typeface="Bahnschrift SemiLight" pitchFamily="34" charset="0"/>
              </a:rPr>
              <a:t>computes the face score to be 0.79</a:t>
            </a:r>
          </a:p>
          <a:p>
            <a:r>
              <a:rPr lang="en-US" sz="1500" dirty="0">
                <a:latin typeface="Bahnschrift SemiLight" pitchFamily="34" charset="0"/>
              </a:rPr>
              <a:t>so if anything is more than 0.5 it means it is koala's face</a:t>
            </a:r>
            <a:endParaRPr lang="en-IN" sz="1500" dirty="0">
              <a:latin typeface="Bahnschrift SemiLight"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6437"/>
            <a:ext cx="5715599" cy="3164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599" y="750603"/>
            <a:ext cx="6476401" cy="3016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913181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49" y="167359"/>
            <a:ext cx="7290247" cy="4209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262131" y="4492252"/>
            <a:ext cx="10779616" cy="1708160"/>
          </a:xfrm>
          <a:prstGeom prst="rect">
            <a:avLst/>
          </a:prstGeom>
        </p:spPr>
        <p:txBody>
          <a:bodyPr wrap="square">
            <a:spAutoFit/>
          </a:bodyPr>
          <a:lstStyle/>
          <a:p>
            <a:r>
              <a:rPr lang="en-US" sz="1500" dirty="0">
                <a:latin typeface="Bahnschrift SemiLight" pitchFamily="34" charset="0"/>
              </a:rPr>
              <a:t>you can now use rest of the group where they individually for example </a:t>
            </a:r>
            <a:r>
              <a:rPr lang="en-US" sz="1500" b="1" dirty="0" smtClean="0">
                <a:latin typeface="Bahnschrift SemiLight" pitchFamily="34" charset="0"/>
              </a:rPr>
              <a:t>Jyoti</a:t>
            </a:r>
            <a:r>
              <a:rPr lang="en-US" sz="1500" dirty="0" smtClean="0">
                <a:latin typeface="Bahnschrift SemiLight" pitchFamily="34" charset="0"/>
              </a:rPr>
              <a:t> </a:t>
            </a:r>
            <a:r>
              <a:rPr lang="en-US" sz="1500" dirty="0">
                <a:latin typeface="Bahnschrift SemiLight" pitchFamily="34" charset="0"/>
              </a:rPr>
              <a:t>can detect legs </a:t>
            </a:r>
            <a:r>
              <a:rPr lang="en-US" sz="1500" dirty="0" smtClean="0">
                <a:latin typeface="Bahnschrift SemiLight" pitchFamily="34" charset="0"/>
              </a:rPr>
              <a:t>and </a:t>
            </a:r>
            <a:r>
              <a:rPr lang="en-US" sz="1500" b="1" dirty="0" smtClean="0">
                <a:latin typeface="Bahnschrift SemiLight" pitchFamily="34" charset="0"/>
              </a:rPr>
              <a:t>Chen</a:t>
            </a:r>
            <a:r>
              <a:rPr lang="en-US" sz="1500" dirty="0" smtClean="0">
                <a:latin typeface="Bahnschrift SemiLight" pitchFamily="34" charset="0"/>
              </a:rPr>
              <a:t> </a:t>
            </a:r>
            <a:r>
              <a:rPr lang="en-US" sz="1500" dirty="0">
                <a:latin typeface="Bahnschrift SemiLight" pitchFamily="34" charset="0"/>
              </a:rPr>
              <a:t>can detect tail and they can tell their decision to </a:t>
            </a:r>
            <a:r>
              <a:rPr lang="en-US" sz="1500" b="1" dirty="0" smtClean="0">
                <a:latin typeface="Bahnschrift SemiLight" pitchFamily="34" charset="0"/>
              </a:rPr>
              <a:t>Nidhi</a:t>
            </a:r>
            <a:r>
              <a:rPr lang="en-US" sz="1500" dirty="0" smtClean="0">
                <a:latin typeface="Bahnschrift SemiLight" pitchFamily="34" charset="0"/>
              </a:rPr>
              <a:t> </a:t>
            </a:r>
            <a:r>
              <a:rPr lang="en-US" sz="1500" dirty="0">
                <a:latin typeface="Bahnschrift SemiLight" pitchFamily="34" charset="0"/>
              </a:rPr>
              <a:t>whose job is to say whether uh the image has koala's body or </a:t>
            </a:r>
            <a:r>
              <a:rPr lang="en-US" sz="1500" dirty="0" smtClean="0">
                <a:latin typeface="Bahnschrift SemiLight" pitchFamily="34" charset="0"/>
              </a:rPr>
              <a:t>not and </a:t>
            </a:r>
            <a:r>
              <a:rPr lang="en-US" sz="1500" dirty="0">
                <a:latin typeface="Bahnschrift SemiLight" pitchFamily="34" charset="0"/>
              </a:rPr>
              <a:t>finally </a:t>
            </a:r>
            <a:r>
              <a:rPr lang="en-US" sz="1500" b="1" dirty="0" smtClean="0">
                <a:latin typeface="Bahnschrift SemiLight" pitchFamily="34" charset="0"/>
              </a:rPr>
              <a:t>Serena</a:t>
            </a:r>
            <a:r>
              <a:rPr lang="en-US" sz="1500" dirty="0" smtClean="0">
                <a:latin typeface="Bahnschrift SemiLight" pitchFamily="34" charset="0"/>
              </a:rPr>
              <a:t> </a:t>
            </a:r>
            <a:r>
              <a:rPr lang="en-US" sz="1500" dirty="0">
                <a:latin typeface="Bahnschrift SemiLight" pitchFamily="34" charset="0"/>
              </a:rPr>
              <a:t>and </a:t>
            </a:r>
            <a:r>
              <a:rPr lang="en-US" sz="1500" b="1" dirty="0" smtClean="0">
                <a:latin typeface="Bahnschrift SemiLight" pitchFamily="34" charset="0"/>
              </a:rPr>
              <a:t>Nidhi</a:t>
            </a:r>
            <a:r>
              <a:rPr lang="en-US" sz="1500" dirty="0" smtClean="0">
                <a:latin typeface="Bahnschrift SemiLight" pitchFamily="34" charset="0"/>
              </a:rPr>
              <a:t> </a:t>
            </a:r>
            <a:r>
              <a:rPr lang="en-US" sz="1500" dirty="0">
                <a:latin typeface="Bahnschrift SemiLight" pitchFamily="34" charset="0"/>
              </a:rPr>
              <a:t>will go to </a:t>
            </a:r>
            <a:r>
              <a:rPr lang="en-US" sz="1500" b="1" dirty="0" smtClean="0">
                <a:latin typeface="Bahnschrift SemiLight" pitchFamily="34" charset="0"/>
              </a:rPr>
              <a:t>Sergey</a:t>
            </a:r>
            <a:r>
              <a:rPr lang="en-US" sz="1500" dirty="0" smtClean="0">
                <a:latin typeface="Bahnschrift SemiLight" pitchFamily="34" charset="0"/>
              </a:rPr>
              <a:t> </a:t>
            </a:r>
            <a:r>
              <a:rPr lang="en-US" sz="1500" dirty="0">
                <a:latin typeface="Bahnschrift SemiLight" pitchFamily="34" charset="0"/>
              </a:rPr>
              <a:t>who will give the full final </a:t>
            </a:r>
            <a:r>
              <a:rPr lang="en-US" sz="1500" dirty="0" smtClean="0">
                <a:latin typeface="Bahnschrift SemiLight" pitchFamily="34" charset="0"/>
              </a:rPr>
              <a:t>answer and </a:t>
            </a:r>
            <a:r>
              <a:rPr lang="en-US" sz="1500" dirty="0">
                <a:latin typeface="Bahnschrift SemiLight" pitchFamily="34" charset="0"/>
              </a:rPr>
              <a:t>he will also use some kind of formula here i am giving more weightage to face</a:t>
            </a:r>
          </a:p>
          <a:p>
            <a:r>
              <a:rPr lang="en-US" sz="1500" dirty="0">
                <a:latin typeface="Bahnschrift SemiLight" pitchFamily="34" charset="0"/>
              </a:rPr>
              <a:t>because when we are working on face detection either humans or animals you know when we are working on</a:t>
            </a:r>
          </a:p>
          <a:p>
            <a:r>
              <a:rPr lang="en-US" sz="1500" dirty="0">
                <a:latin typeface="Bahnschrift SemiLight" pitchFamily="34" charset="0"/>
              </a:rPr>
              <a:t>detecting </a:t>
            </a:r>
            <a:r>
              <a:rPr lang="en-US" sz="1500" dirty="0" smtClean="0">
                <a:latin typeface="Bahnschrift SemiLight" pitchFamily="34" charset="0"/>
              </a:rPr>
              <a:t>whether it </a:t>
            </a:r>
            <a:r>
              <a:rPr lang="en-US" sz="1500" dirty="0">
                <a:latin typeface="Bahnschrift SemiLight" pitchFamily="34" charset="0"/>
              </a:rPr>
              <a:t>has humans or which animal we give more weightage to face</a:t>
            </a:r>
          </a:p>
          <a:p>
            <a:r>
              <a:rPr lang="en-US" sz="1500" dirty="0">
                <a:latin typeface="Bahnschrift SemiLight" pitchFamily="34" charset="0"/>
              </a:rPr>
              <a:t>so now this group is doing this awesome teamwork and telling you whether the given image is koala's image or not </a:t>
            </a:r>
            <a:endParaRPr lang="en-IN" sz="1500" dirty="0">
              <a:latin typeface="Bahnschrift SemiLight" pitchFamily="34" charset="0"/>
            </a:endParaRPr>
          </a:p>
        </p:txBody>
      </p:sp>
    </p:spTree>
    <p:extLst>
      <p:ext uri="{BB962C8B-B14F-4D97-AF65-F5344CB8AC3E}">
        <p14:creationId xmlns:p14="http://schemas.microsoft.com/office/powerpoint/2010/main" val="25207581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360867" y="259192"/>
            <a:ext cx="10513454" cy="1354217"/>
          </a:xfrm>
          <a:prstGeom prst="rect">
            <a:avLst/>
          </a:prstGeom>
        </p:spPr>
        <p:txBody>
          <a:bodyPr wrap="square">
            <a:spAutoFit/>
          </a:bodyPr>
          <a:lstStyle/>
          <a:p>
            <a:r>
              <a:rPr lang="en-US" sz="1600" dirty="0">
                <a:latin typeface="Bahnschrift SemiLight" pitchFamily="34" charset="0"/>
              </a:rPr>
              <a:t>this is nothing but a </a:t>
            </a:r>
            <a:r>
              <a:rPr lang="en-US" dirty="0">
                <a:solidFill>
                  <a:srgbClr val="FF0066"/>
                </a:solidFill>
                <a:latin typeface="Cascadia Code" pitchFamily="49" charset="0"/>
                <a:cs typeface="Cascadia Code" pitchFamily="49" charset="0"/>
              </a:rPr>
              <a:t>neural network </a:t>
            </a:r>
            <a:endParaRPr lang="en-US" dirty="0" smtClean="0">
              <a:solidFill>
                <a:srgbClr val="FF0066"/>
              </a:solidFill>
              <a:latin typeface="Cascadia Code" pitchFamily="49" charset="0"/>
              <a:cs typeface="Cascadia Code" pitchFamily="49" charset="0"/>
            </a:endParaRPr>
          </a:p>
          <a:p>
            <a:r>
              <a:rPr lang="en-US" sz="1600" dirty="0" smtClean="0">
                <a:latin typeface="Bahnschrift SemiLight" pitchFamily="34" charset="0"/>
              </a:rPr>
              <a:t>each </a:t>
            </a:r>
            <a:r>
              <a:rPr lang="en-US" sz="1600" dirty="0">
                <a:latin typeface="Bahnschrift SemiLight" pitchFamily="34" charset="0"/>
              </a:rPr>
              <a:t>individual person here are individual </a:t>
            </a:r>
            <a:r>
              <a:rPr lang="en-US" sz="1600" dirty="0" smtClean="0">
                <a:latin typeface="Bahnschrift SemiLight" pitchFamily="34" charset="0"/>
              </a:rPr>
              <a:t>neurons and </a:t>
            </a:r>
            <a:r>
              <a:rPr lang="en-US" sz="1600" dirty="0">
                <a:latin typeface="Bahnschrift SemiLight" pitchFamily="34" charset="0"/>
              </a:rPr>
              <a:t>they are working on a specific subtask and they pass </a:t>
            </a:r>
            <a:r>
              <a:rPr lang="en-US" sz="1600" dirty="0" smtClean="0">
                <a:latin typeface="Bahnschrift SemiLight" pitchFamily="34" charset="0"/>
              </a:rPr>
              <a:t> the </a:t>
            </a:r>
            <a:r>
              <a:rPr lang="en-US" sz="1600" dirty="0">
                <a:latin typeface="Bahnschrift SemiLight" pitchFamily="34" charset="0"/>
              </a:rPr>
              <a:t>result of </a:t>
            </a:r>
            <a:r>
              <a:rPr lang="en-US" sz="1600" dirty="0" smtClean="0">
                <a:latin typeface="Bahnschrift SemiLight" pitchFamily="34" charset="0"/>
              </a:rPr>
              <a:t>their subtask </a:t>
            </a:r>
            <a:r>
              <a:rPr lang="en-US" sz="1600" dirty="0">
                <a:latin typeface="Bahnschrift SemiLight" pitchFamily="34" charset="0"/>
              </a:rPr>
              <a:t>to the next group so </a:t>
            </a:r>
            <a:r>
              <a:rPr lang="en-US" sz="1600" b="1" dirty="0" smtClean="0">
                <a:latin typeface="Bahnschrift SemiLight" pitchFamily="34" charset="0"/>
              </a:rPr>
              <a:t>Serena</a:t>
            </a:r>
            <a:r>
              <a:rPr lang="en-US" sz="1600" dirty="0" smtClean="0">
                <a:latin typeface="Bahnschrift SemiLight" pitchFamily="34" charset="0"/>
              </a:rPr>
              <a:t> </a:t>
            </a:r>
            <a:r>
              <a:rPr lang="en-US" sz="1600" dirty="0">
                <a:latin typeface="Bahnschrift SemiLight" pitchFamily="34" charset="0"/>
              </a:rPr>
              <a:t>and </a:t>
            </a:r>
            <a:r>
              <a:rPr lang="en-US" sz="1600" b="1" dirty="0" smtClean="0">
                <a:latin typeface="Bahnschrift SemiLight" pitchFamily="34" charset="0"/>
              </a:rPr>
              <a:t>Nidhi</a:t>
            </a:r>
            <a:r>
              <a:rPr lang="en-US" sz="1600" dirty="0" smtClean="0">
                <a:latin typeface="Bahnschrift SemiLight" pitchFamily="34" charset="0"/>
              </a:rPr>
              <a:t> </a:t>
            </a:r>
            <a:r>
              <a:rPr lang="en-US" sz="1600" dirty="0">
                <a:latin typeface="Bahnschrift SemiLight" pitchFamily="34" charset="0"/>
              </a:rPr>
              <a:t>are actually in terms of neural network they are a</a:t>
            </a:r>
          </a:p>
          <a:p>
            <a:r>
              <a:rPr lang="en-US" sz="1600" dirty="0">
                <a:latin typeface="Bahnschrift SemiLight" pitchFamily="34" charset="0"/>
              </a:rPr>
              <a:t>hidden layer </a:t>
            </a:r>
            <a:r>
              <a:rPr lang="en-US" sz="1600" b="1" dirty="0" smtClean="0">
                <a:latin typeface="Bahnschrift SemiLight" pitchFamily="34" charset="0"/>
              </a:rPr>
              <a:t>Mike</a:t>
            </a:r>
            <a:r>
              <a:rPr lang="en-US" sz="1600" dirty="0" smtClean="0">
                <a:latin typeface="Bahnschrift SemiLight" pitchFamily="34" charset="0"/>
              </a:rPr>
              <a:t> </a:t>
            </a:r>
            <a:r>
              <a:rPr lang="en-US" sz="1600" b="1" dirty="0" smtClean="0">
                <a:latin typeface="Bahnschrift SemiLight" pitchFamily="34" charset="0"/>
              </a:rPr>
              <a:t>Mohan</a:t>
            </a:r>
            <a:r>
              <a:rPr lang="en-US" sz="1600" dirty="0" smtClean="0">
                <a:latin typeface="Bahnschrift SemiLight" pitchFamily="34" charset="0"/>
              </a:rPr>
              <a:t> </a:t>
            </a:r>
            <a:r>
              <a:rPr lang="en-US" sz="1600" dirty="0">
                <a:latin typeface="Bahnschrift SemiLight" pitchFamily="34" charset="0"/>
              </a:rPr>
              <a:t>etc they're forming the input or the first </a:t>
            </a:r>
            <a:r>
              <a:rPr lang="en-US" sz="1600" dirty="0" smtClean="0">
                <a:latin typeface="Bahnschrift SemiLight" pitchFamily="34" charset="0"/>
              </a:rPr>
              <a:t>layer and </a:t>
            </a:r>
          </a:p>
          <a:p>
            <a:r>
              <a:rPr lang="en-US" sz="1600" b="1" dirty="0" smtClean="0">
                <a:latin typeface="Bahnschrift" pitchFamily="34" charset="0"/>
              </a:rPr>
              <a:t>Sergey</a:t>
            </a:r>
            <a:r>
              <a:rPr lang="en-US" sz="1600" dirty="0" smtClean="0">
                <a:latin typeface="Bahnschrift SemiLight" pitchFamily="34" charset="0"/>
              </a:rPr>
              <a:t> </a:t>
            </a:r>
            <a:r>
              <a:rPr lang="en-US" sz="1600" dirty="0">
                <a:latin typeface="Bahnschrift SemiLight" pitchFamily="34" charset="0"/>
              </a:rPr>
              <a:t>is the output or the last layer so this is a neural network it's a trained neural network</a:t>
            </a:r>
            <a:endParaRPr lang="en-IN" sz="1600" dirty="0">
              <a:latin typeface="Bahnschrift SemiLight" pitchFamily="34" charset="0"/>
            </a:endParaRPr>
          </a:p>
        </p:txBody>
      </p:sp>
    </p:spTree>
    <p:extLst>
      <p:ext uri="{BB962C8B-B14F-4D97-AF65-F5344CB8AC3E}">
        <p14:creationId xmlns:p14="http://schemas.microsoft.com/office/powerpoint/2010/main" val="24656909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8643" y="396660"/>
            <a:ext cx="5010150" cy="34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818271" y="4532222"/>
            <a:ext cx="3960567" cy="400110"/>
          </a:xfrm>
          <a:prstGeom prst="rect">
            <a:avLst/>
          </a:prstGeom>
          <a:solidFill>
            <a:schemeClr val="tx1">
              <a:lumMod val="85000"/>
              <a:lumOff val="15000"/>
            </a:schemeClr>
          </a:solidFill>
        </p:spPr>
        <p:txBody>
          <a:bodyPr wrap="square">
            <a:spAutoFit/>
          </a:bodyPr>
          <a:lstStyle/>
          <a:p>
            <a:r>
              <a:rPr lang="en-IN" sz="2000" b="1" dirty="0">
                <a:solidFill>
                  <a:srgbClr val="00B0F0"/>
                </a:solidFill>
                <a:latin typeface="Bahnschrift" pitchFamily="34" charset="0"/>
              </a:rPr>
              <a:t>backward </a:t>
            </a:r>
            <a:r>
              <a:rPr lang="en-IN" sz="2000" b="1" dirty="0" smtClean="0">
                <a:solidFill>
                  <a:srgbClr val="00B0F0"/>
                </a:solidFill>
                <a:latin typeface="Bahnschrift" pitchFamily="34" charset="0"/>
              </a:rPr>
              <a:t>error propagation</a:t>
            </a:r>
            <a:endParaRPr lang="en-IN" sz="2000" b="1" dirty="0">
              <a:solidFill>
                <a:srgbClr val="00B0F0"/>
              </a:solidFill>
              <a:latin typeface="Bahnschrift" pitchFamily="34" charset="0"/>
            </a:endParaRPr>
          </a:p>
        </p:txBody>
      </p:sp>
    </p:spTree>
    <p:extLst>
      <p:ext uri="{BB962C8B-B14F-4D97-AF65-F5344CB8AC3E}">
        <p14:creationId xmlns:p14="http://schemas.microsoft.com/office/powerpoint/2010/main" val="850525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37454</TotalTime>
  <Words>4714</Words>
  <Application>Microsoft Office PowerPoint</Application>
  <PresentationFormat>Custom</PresentationFormat>
  <Paragraphs>704</Paragraphs>
  <Slides>57</Slides>
  <Notes>49</Notes>
  <HiddenSlides>0</HiddenSlides>
  <MMClips>0</MMClip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1573</cp:revision>
  <dcterms:created xsi:type="dcterms:W3CDTF">2024-01-26T15:11:46Z</dcterms:created>
  <dcterms:modified xsi:type="dcterms:W3CDTF">2026-01-01T18:53:48Z</dcterms:modified>
</cp:coreProperties>
</file>