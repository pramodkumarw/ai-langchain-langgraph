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85" r:id="rId3"/>
    <p:sldId id="336" r:id="rId4"/>
    <p:sldId id="337" r:id="rId5"/>
    <p:sldId id="338" r:id="rId6"/>
    <p:sldId id="339" r:id="rId7"/>
    <p:sldId id="340" r:id="rId8"/>
    <p:sldId id="335" r:id="rId9"/>
    <p:sldId id="328" r:id="rId10"/>
    <p:sldId id="291" r:id="rId11"/>
    <p:sldId id="318" r:id="rId12"/>
    <p:sldId id="319" r:id="rId13"/>
    <p:sldId id="320" r:id="rId14"/>
    <p:sldId id="32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53F305DE-E919-46C9-8C7C-4B59AF1E2526}">
          <p14:sldIdLst>
            <p14:sldId id="256"/>
            <p14:sldId id="285"/>
          </p14:sldIdLst>
        </p14:section>
        <p14:section name="Transformer Architecture" id="{07A2C24B-26EA-4AE5-BE13-33C5B646A4C3}">
          <p14:sldIdLst>
            <p14:sldId id="336"/>
            <p14:sldId id="337"/>
            <p14:sldId id="338"/>
            <p14:sldId id="339"/>
            <p14:sldId id="340"/>
            <p14:sldId id="335"/>
            <p14:sldId id="328"/>
          </p14:sldIdLst>
        </p14:section>
        <p14:section name="Component of Deep learning" id="{B169AD7C-402B-4C02-9E77-DA2761142A14}">
          <p14:sldIdLst>
            <p14:sldId id="291"/>
            <p14:sldId id="318"/>
            <p14:sldId id="319"/>
            <p14:sldId id="320"/>
            <p14:sldId id="321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99"/>
    <a:srgbClr val="FF0066"/>
    <a:srgbClr val="F2DB5B"/>
    <a:srgbClr val="D7C055"/>
    <a:srgbClr val="CC3300"/>
    <a:srgbClr val="00D05E"/>
    <a:srgbClr val="15C2FF"/>
    <a:srgbClr val="000000"/>
    <a:srgbClr val="6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17" autoAdjust="0"/>
    <p:restoredTop sz="86073" autoAdjust="0"/>
  </p:normalViewPr>
  <p:slideViewPr>
    <p:cSldViewPr snapToGrid="0">
      <p:cViewPr>
        <p:scale>
          <a:sx n="81" d="100"/>
          <a:sy n="81" d="100"/>
        </p:scale>
        <p:origin x="-216" y="-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06-11-2025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5D93965-B794-0D3F-19B2-6E5CEF590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29A6F4B-4B22-0928-2DBA-1E63C9DE5B47}"/>
              </a:ext>
            </a:extLst>
          </p:cNvPr>
          <p:cNvSpPr/>
          <p:nvPr/>
        </p:nvSpPr>
        <p:spPr>
          <a:xfrm>
            <a:off x="0" y="1"/>
            <a:ext cx="1948169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745C555-155A-8408-E6E3-22A172F35158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2462335E-6BA0-9E39-D941-3E40EF2A0890}"/>
              </a:ext>
            </a:extLst>
          </p:cNvPr>
          <p:cNvSpPr/>
          <p:nvPr/>
        </p:nvSpPr>
        <p:spPr>
          <a:xfrm>
            <a:off x="0" y="5572125"/>
            <a:ext cx="12187542" cy="1285876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352634E-F25A-906D-E090-61E107EA9685}"/>
              </a:ext>
            </a:extLst>
          </p:cNvPr>
          <p:cNvSpPr/>
          <p:nvPr/>
        </p:nvSpPr>
        <p:spPr>
          <a:xfrm>
            <a:off x="-260" y="5572124"/>
            <a:ext cx="12193758" cy="58340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78D711A-98A9-0CA9-87DC-706B4F2660DA}"/>
              </a:ext>
            </a:extLst>
          </p:cNvPr>
          <p:cNvSpPr/>
          <p:nvPr/>
        </p:nvSpPr>
        <p:spPr>
          <a:xfrm>
            <a:off x="1291568" y="-1"/>
            <a:ext cx="656603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3863E5A6-EF6F-E241-ED54-B76BF0108961}"/>
              </a:ext>
            </a:extLst>
          </p:cNvPr>
          <p:cNvSpPr txBox="1"/>
          <p:nvPr/>
        </p:nvSpPr>
        <p:spPr>
          <a:xfrm>
            <a:off x="1396344" y="5505306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15" name="Google Shape;143;p1">
            <a:extLst>
              <a:ext uri="{FF2B5EF4-FFF2-40B4-BE49-F238E27FC236}">
                <a16:creationId xmlns:a16="http://schemas.microsoft.com/office/drawing/2014/main" xmlns="" id="{E4949A97-DC03-56A5-2E5A-3DD3913AA0EF}"/>
              </a:ext>
            </a:extLst>
          </p:cNvPr>
          <p:cNvSpPr txBox="1">
            <a:spLocks noGrp="1"/>
          </p:cNvSpPr>
          <p:nvPr/>
        </p:nvSpPr>
        <p:spPr>
          <a:xfrm>
            <a:off x="2095052" y="492370"/>
            <a:ext cx="9903831" cy="1113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4400" b="1" dirty="0" smtClean="0">
                <a:solidFill>
                  <a:schemeClr val="tx1"/>
                </a:solidFill>
                <a:latin typeface="Segoe UI Black" pitchFamily="34" charset="0"/>
                <a:ea typeface="Segoe UI Black" pitchFamily="34" charset="0"/>
              </a:rPr>
              <a:t>Transfomer Model</a:t>
            </a:r>
          </a:p>
          <a:p>
            <a:endParaRPr lang="it-IT" sz="4000" b="1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D627D9A-CDBE-20A9-3FA1-63D5E507D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8E4B4487-5609-54AF-1FCA-AB3F6B737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0259" y="3137754"/>
            <a:ext cx="4287056" cy="1660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594" y="2567575"/>
            <a:ext cx="2773879" cy="229879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10837988" y="5136633"/>
            <a:ext cx="1160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Bahnschrift" pitchFamily="34" charset="0"/>
              </a:rPr>
              <a:t>July 2025</a:t>
            </a:r>
            <a:endParaRPr lang="en-US" dirty="0">
              <a:latin typeface="Bahnschrif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748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141493" y="1535723"/>
            <a:ext cx="13648" cy="532227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500663" y="1564035"/>
            <a:ext cx="2541508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cs typeface="Arial" pitchFamily="34" charset="0"/>
              </a:rPr>
              <a:t>Transformer Architecture</a:t>
            </a:r>
            <a:endParaRPr lang="en-IN" sz="1200" dirty="0">
              <a:latin typeface="Bahnschrift Light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00663" y="1998415"/>
            <a:ext cx="2182008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Component of Deep Learning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5" name="Google Shape;143;p1">
            <a:extLst>
              <a:ext uri="{FF2B5EF4-FFF2-40B4-BE49-F238E27FC236}">
                <a16:creationId xmlns="" xmlns:a16="http://schemas.microsoft.com/office/drawing/2014/main" id="{C9764481-C48B-F71F-0C2D-6C544B78BD03}"/>
              </a:ext>
            </a:extLst>
          </p:cNvPr>
          <p:cNvSpPr txBox="1">
            <a:spLocks noGrp="1"/>
          </p:cNvSpPr>
          <p:nvPr/>
        </p:nvSpPr>
        <p:spPr>
          <a:xfrm>
            <a:off x="1368872" y="243068"/>
            <a:ext cx="8954539" cy="756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4600" b="1" dirty="0" smtClean="0">
                <a:solidFill>
                  <a:schemeClr val="tx1"/>
                </a:solidFill>
                <a:latin typeface="Bahnschrift" pitchFamily="34" charset="0"/>
              </a:rPr>
              <a:t>Index</a:t>
            </a:r>
            <a:r>
              <a:rPr lang="en-US" sz="4600" b="1" dirty="0">
                <a:solidFill>
                  <a:schemeClr val="tx1"/>
                </a:solidFill>
                <a:latin typeface="Bahnschrift" pitchFamily="34" charset="0"/>
              </a:rPr>
              <a:t> </a:t>
            </a:r>
            <a:endParaRPr sz="4600" b="1" dirty="0">
              <a:solidFill>
                <a:schemeClr val="tx1"/>
              </a:solidFill>
              <a:latin typeface="Bahnschrift" pitchFamily="34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268223" y="1038851"/>
            <a:ext cx="1079482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58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114735" y="220759"/>
            <a:ext cx="3235569" cy="360567"/>
            <a:chOff x="1114735" y="220759"/>
            <a:chExt cx="3235569" cy="360567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1114735" y="581326"/>
              <a:ext cx="3235569" cy="0"/>
            </a:xfrm>
            <a:prstGeom prst="lin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/>
            <p:cNvSpPr/>
            <p:nvPr/>
          </p:nvSpPr>
          <p:spPr>
            <a:xfrm>
              <a:off x="1219200" y="220759"/>
              <a:ext cx="2549096" cy="338554"/>
            </a:xfrm>
            <a:prstGeom prst="rect">
              <a:avLst/>
            </a:prstGeom>
            <a:solidFill>
              <a:srgbClr val="0070C0"/>
            </a:solidFill>
          </p:spPr>
          <p:txBody>
            <a:bodyPr wrap="none">
              <a:spAutoFit/>
            </a:bodyPr>
            <a:lstStyle/>
            <a:p>
              <a:r>
                <a:rPr lang="en-IN" sz="1600" dirty="0">
                  <a:solidFill>
                    <a:schemeClr val="bg1"/>
                  </a:solidFill>
                  <a:latin typeface="Bahnschrift" pitchFamily="34" charset="0"/>
                </a:rPr>
                <a:t>Transformer Architecture</a:t>
              </a: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3156" y="220759"/>
            <a:ext cx="5348198" cy="4278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9135" y="4499317"/>
            <a:ext cx="2226342" cy="1976191"/>
          </a:xfrm>
          <a:prstGeom prst="rect">
            <a:avLst/>
          </a:prstGeom>
          <a:noFill/>
          <a:ln w="9525">
            <a:solidFill>
              <a:schemeClr val="bg1">
                <a:lumMod val="9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1348154" y="3997569"/>
            <a:ext cx="3505383" cy="1683435"/>
            <a:chOff x="1348154" y="3997569"/>
            <a:chExt cx="3505383" cy="1683435"/>
          </a:xfrm>
        </p:grpSpPr>
        <p:sp>
          <p:nvSpPr>
            <p:cNvPr id="3" name="Rectangle 2"/>
            <p:cNvSpPr/>
            <p:nvPr/>
          </p:nvSpPr>
          <p:spPr>
            <a:xfrm>
              <a:off x="1359877" y="4296009"/>
              <a:ext cx="3493660" cy="1384995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Bahnschrift Light" pitchFamily="34" charset="0"/>
                </a:rPr>
                <a:t>Self Attention</a:t>
              </a:r>
            </a:p>
            <a:p>
              <a:r>
                <a:rPr lang="en-US" sz="1400" dirty="0">
                  <a:latin typeface="Bahnschrift Light" pitchFamily="34" charset="0"/>
                </a:rPr>
                <a:t>Multi head Attention</a:t>
              </a:r>
            </a:p>
            <a:p>
              <a:r>
                <a:rPr lang="en-US" sz="1400" dirty="0">
                  <a:latin typeface="Bahnschrift Light" pitchFamily="34" charset="0"/>
                </a:rPr>
                <a:t>Masked Multi Head Attention</a:t>
              </a:r>
            </a:p>
            <a:p>
              <a:r>
                <a:rPr lang="en-US" sz="1400" dirty="0">
                  <a:latin typeface="Bahnschrift Light" pitchFamily="34" charset="0"/>
                </a:rPr>
                <a:t>Cross Attention</a:t>
              </a:r>
            </a:p>
            <a:p>
              <a:r>
                <a:rPr lang="en-US" sz="1400" dirty="0">
                  <a:latin typeface="Bahnschrift Light" pitchFamily="34" charset="0"/>
                </a:rPr>
                <a:t>Position Embedding</a:t>
              </a:r>
            </a:p>
            <a:p>
              <a:r>
                <a:rPr lang="en-US" sz="1400" dirty="0">
                  <a:latin typeface="Bahnschrift Light" pitchFamily="34" charset="0"/>
                </a:rPr>
                <a:t>Layered </a:t>
              </a:r>
              <a:r>
                <a:rPr lang="en-US" sz="1400" dirty="0" smtClean="0">
                  <a:latin typeface="Bahnschrift Light" pitchFamily="34" charset="0"/>
                </a:rPr>
                <a:t>Normalizations</a:t>
              </a:r>
              <a:endParaRPr lang="en-IN" sz="1400" dirty="0">
                <a:latin typeface="Bahnschrift Light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348154" y="3997569"/>
              <a:ext cx="3505383" cy="30777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IN" sz="1400" b="1" dirty="0"/>
                <a:t>key thing to </a:t>
              </a:r>
              <a:r>
                <a:rPr lang="en-IN" sz="1400" b="1" dirty="0" smtClean="0"/>
                <a:t>remember to understand Trans..</a:t>
              </a:r>
              <a:endParaRPr lang="en-IN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898987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154" y="240429"/>
            <a:ext cx="3552092" cy="3025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8987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2309447" y="127010"/>
            <a:ext cx="7772400" cy="2033619"/>
            <a:chOff x="2133600" y="1049550"/>
            <a:chExt cx="8170985" cy="2402556"/>
          </a:xfrm>
        </p:grpSpPr>
        <p:sp>
          <p:nvSpPr>
            <p:cNvPr id="3" name="Rectangle 2"/>
            <p:cNvSpPr/>
            <p:nvPr/>
          </p:nvSpPr>
          <p:spPr>
            <a:xfrm>
              <a:off x="2133600" y="2069120"/>
              <a:ext cx="1465385" cy="363416"/>
            </a:xfrm>
            <a:prstGeom prst="rect">
              <a:avLst/>
            </a:prstGeom>
            <a:solidFill>
              <a:srgbClr val="00CC99"/>
            </a:solidFill>
            <a:ln>
              <a:solidFill>
                <a:srgbClr val="00CC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solidFill>
                    <a:schemeClr val="bg2">
                      <a:lumMod val="10000"/>
                    </a:schemeClr>
                  </a:solidFill>
                  <a:latin typeface="Bahnschrift Light" pitchFamily="34" charset="0"/>
                </a:rPr>
                <a:t>Encoder</a:t>
              </a:r>
              <a:endParaRPr lang="en-IN" sz="1400" b="1" dirty="0">
                <a:solidFill>
                  <a:schemeClr val="bg2">
                    <a:lumMod val="10000"/>
                  </a:schemeClr>
                </a:solidFill>
                <a:latin typeface="Bahnschrift Light" pitchFamily="34" charset="0"/>
              </a:endParaRPr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4771292" y="1436075"/>
              <a:ext cx="2532184" cy="1992923"/>
              <a:chOff x="4771292" y="1436075"/>
              <a:chExt cx="2532184" cy="1992923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4771292" y="1436075"/>
                <a:ext cx="2532184" cy="1992923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rgbClr val="00CC9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 b="1" dirty="0">
                  <a:latin typeface="Bahnschrift Light" pitchFamily="34" charset="0"/>
                </a:endParaRP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4947138" y="1817077"/>
                <a:ext cx="2180492" cy="363416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rgbClr val="00CC9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>
                    <a:latin typeface="Bahnschrift Light" pitchFamily="34" charset="0"/>
                  </a:rPr>
                  <a:t>Feed Forward NN</a:t>
                </a:r>
                <a:endParaRPr lang="en-IN" sz="1400" dirty="0">
                  <a:latin typeface="Bahnschrift Light" pitchFamily="34" charset="0"/>
                </a:endParaRP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4947138" y="2543908"/>
                <a:ext cx="2180492" cy="363416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rgbClr val="00CC9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Bahnschrift Light" pitchFamily="34" charset="0"/>
                  </a:rPr>
                  <a:t>Self Attention</a:t>
                </a:r>
                <a:endParaRPr lang="en-I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Bahnschrift Light" pitchFamily="34" charset="0"/>
                </a:endParaRPr>
              </a:p>
            </p:txBody>
          </p:sp>
        </p:grpSp>
        <p:cxnSp>
          <p:nvCxnSpPr>
            <p:cNvPr id="12" name="Straight Arrow Connector 11"/>
            <p:cNvCxnSpPr/>
            <p:nvPr/>
          </p:nvCxnSpPr>
          <p:spPr>
            <a:xfrm>
              <a:off x="3763108" y="2250828"/>
              <a:ext cx="78544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7526216" y="2192213"/>
              <a:ext cx="78544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3897" y="1049550"/>
              <a:ext cx="1690688" cy="24025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6" name="Rectangle 15"/>
          <p:cNvSpPr/>
          <p:nvPr/>
        </p:nvSpPr>
        <p:spPr>
          <a:xfrm>
            <a:off x="1536009" y="2352581"/>
            <a:ext cx="1011701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Bahnschrift Light" pitchFamily="34" charset="0"/>
              </a:rPr>
              <a:t>Each </a:t>
            </a:r>
            <a:r>
              <a:rPr lang="en-US" sz="1400" dirty="0">
                <a:latin typeface="Bahnschrift Light" pitchFamily="34" charset="0"/>
              </a:rPr>
              <a:t>encoder block consists of two main components: a </a:t>
            </a:r>
            <a:r>
              <a:rPr lang="en-US" sz="1400" b="1" dirty="0" smtClean="0">
                <a:latin typeface="Bahnschrift Light" pitchFamily="34" charset="0"/>
              </a:rPr>
              <a:t>self-attention </a:t>
            </a:r>
            <a:r>
              <a:rPr lang="en-US" sz="1400" b="1" dirty="0">
                <a:latin typeface="Bahnschrift Light" pitchFamily="34" charset="0"/>
              </a:rPr>
              <a:t>block</a:t>
            </a:r>
            <a:r>
              <a:rPr lang="en-US" sz="1400" dirty="0">
                <a:latin typeface="Bahnschrift Light" pitchFamily="34" charset="0"/>
              </a:rPr>
              <a:t> and a </a:t>
            </a:r>
            <a:r>
              <a:rPr lang="en-US" sz="1400" b="1" dirty="0" smtClean="0">
                <a:latin typeface="Bahnschrift Light" pitchFamily="34" charset="0"/>
              </a:rPr>
              <a:t>feed-forward </a:t>
            </a:r>
            <a:r>
              <a:rPr lang="en-US" sz="1400" b="1" dirty="0">
                <a:latin typeface="Bahnschrift Light" pitchFamily="34" charset="0"/>
              </a:rPr>
              <a:t>neural network</a:t>
            </a:r>
            <a:r>
              <a:rPr lang="en-US" sz="1400" dirty="0">
                <a:latin typeface="Bahnschrift Light" pitchFamily="34" charset="0"/>
              </a:rPr>
              <a:t>.</a:t>
            </a:r>
            <a:endParaRPr lang="en-IN" sz="1400" dirty="0">
              <a:latin typeface="Bahnschrift Light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945872" y="5376390"/>
            <a:ext cx="2246128" cy="338554"/>
          </a:xfrm>
          <a:prstGeom prst="rect">
            <a:avLst/>
          </a:prstGeom>
          <a:solidFill>
            <a:srgbClr val="002060"/>
          </a:solidFill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Bahnschrift" pitchFamily="34" charset="0"/>
              </a:rPr>
              <a:t>The Cat Sat on the Mat</a:t>
            </a:r>
            <a:endParaRPr lang="en-IN" sz="1600" dirty="0">
              <a:solidFill>
                <a:schemeClr val="bg1"/>
              </a:solidFill>
              <a:latin typeface="Bahnschrif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987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2" name="Rectangle 1"/>
          <p:cNvSpPr/>
          <p:nvPr/>
        </p:nvSpPr>
        <p:spPr>
          <a:xfrm>
            <a:off x="2461845" y="1452881"/>
            <a:ext cx="7913077" cy="36933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Bahnschrift Light" pitchFamily="34" charset="0"/>
              </a:rPr>
              <a:t>https://pub.towardsai.net/transformer-architecture-part-1-d157b54315e6</a:t>
            </a:r>
          </a:p>
        </p:txBody>
      </p:sp>
    </p:spTree>
    <p:extLst>
      <p:ext uri="{BB962C8B-B14F-4D97-AF65-F5344CB8AC3E}">
        <p14:creationId xmlns:p14="http://schemas.microsoft.com/office/powerpoint/2010/main" val="1898987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1898987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1694524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618009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781" y="616194"/>
            <a:ext cx="5867913" cy="2631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1366793" y="106030"/>
            <a:ext cx="3352800" cy="391885"/>
            <a:chOff x="1366793" y="106030"/>
            <a:chExt cx="3352800" cy="391885"/>
          </a:xfrm>
        </p:grpSpPr>
        <p:sp>
          <p:nvSpPr>
            <p:cNvPr id="9" name="Rectangle 8"/>
            <p:cNvSpPr/>
            <p:nvPr/>
          </p:nvSpPr>
          <p:spPr>
            <a:xfrm>
              <a:off x="1366793" y="106030"/>
              <a:ext cx="30879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 smtClean="0">
                  <a:solidFill>
                    <a:srgbClr val="0070C0"/>
                  </a:solidFill>
                  <a:latin typeface="Bahnschrift" pitchFamily="34" charset="0"/>
                </a:rPr>
                <a:t>Component of Deep learning</a:t>
              </a:r>
              <a:endParaRPr lang="en-IN" b="1" dirty="0">
                <a:solidFill>
                  <a:srgbClr val="0070C0"/>
                </a:solidFill>
                <a:latin typeface="Bahnschrift" pitchFamily="34" charset="0"/>
              </a:endParaRPr>
            </a:p>
          </p:txBody>
        </p:sp>
        <p:cxnSp>
          <p:nvCxnSpPr>
            <p:cNvPr id="3" name="Straight Connector 2"/>
            <p:cNvCxnSpPr/>
            <p:nvPr/>
          </p:nvCxnSpPr>
          <p:spPr>
            <a:xfrm>
              <a:off x="1366793" y="497915"/>
              <a:ext cx="33528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6339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320" y="502860"/>
            <a:ext cx="5378695" cy="3008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/>
        </p:nvSpPr>
        <p:spPr>
          <a:xfrm>
            <a:off x="1366793" y="106030"/>
            <a:ext cx="35100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  <a:latin typeface="Bahnschrift" pitchFamily="34" charset="0"/>
              </a:rPr>
              <a:t>Types of Deep Learning Models</a:t>
            </a:r>
            <a:endParaRPr lang="en-IN" b="1" dirty="0">
              <a:solidFill>
                <a:srgbClr val="0070C0"/>
              </a:solidFill>
              <a:latin typeface="Bahnschrift" pitchFamily="34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3156" y="3429000"/>
            <a:ext cx="5394813" cy="297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3809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2109609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pic>
        <p:nvPicPr>
          <p:cNvPr id="3074" name="Picture 2" descr="ArtificalNeuralNetwork.PNG (940×334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834" y="461027"/>
            <a:ext cx="7417535" cy="263559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348154" y="3159551"/>
            <a:ext cx="106093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Data provides each node with information in the form of inputs. The node </a:t>
            </a:r>
            <a:r>
              <a:rPr lang="en-US" sz="1400" b="1" dirty="0">
                <a:solidFill>
                  <a:srgbClr val="0070C0"/>
                </a:solidFill>
              </a:rPr>
              <a:t>multiplies the inputs with random weights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0070C0"/>
                </a:solidFill>
              </a:rPr>
              <a:t>calculates</a:t>
            </a:r>
            <a:r>
              <a:rPr lang="en-US" sz="1400" dirty="0"/>
              <a:t> them, and adds a </a:t>
            </a:r>
            <a:r>
              <a:rPr lang="en-US" sz="1400" b="1" dirty="0">
                <a:solidFill>
                  <a:schemeClr val="accent2"/>
                </a:solidFill>
              </a:rPr>
              <a:t>bias</a:t>
            </a:r>
            <a:r>
              <a:rPr lang="en-US" sz="1400" dirty="0"/>
              <a:t>. Finally, nonlinear functions, also known as activation functions, are applied to determine which neuron to fire.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433503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635489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28032</TotalTime>
  <Words>291</Words>
  <Application>Microsoft Office PowerPoint</Application>
  <PresentationFormat>Custom</PresentationFormat>
  <Paragraphs>76</Paragraphs>
  <Slides>14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1163</cp:revision>
  <dcterms:created xsi:type="dcterms:W3CDTF">2024-01-26T15:11:46Z</dcterms:created>
  <dcterms:modified xsi:type="dcterms:W3CDTF">2025-11-05T19:32:14Z</dcterms:modified>
</cp:coreProperties>
</file>