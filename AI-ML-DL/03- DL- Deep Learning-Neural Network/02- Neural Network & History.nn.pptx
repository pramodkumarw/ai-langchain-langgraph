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85" r:id="rId2"/>
    <p:sldId id="388" r:id="rId3"/>
    <p:sldId id="277" r:id="rId4"/>
    <p:sldId id="27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pendix" id="{53F305DE-E919-46C9-8C7C-4B59AF1E2526}">
          <p14:sldIdLst>
            <p14:sldId id="285"/>
            <p14:sldId id="388"/>
          </p14:sldIdLst>
        </p14:section>
        <p14:section name="Neural Network &amp; History" id="{B027B0C1-A011-46A4-8061-CB4C72642D4E}">
          <p14:sldIdLst>
            <p14:sldId id="277"/>
            <p14:sldId id="271"/>
          </p14:sldIdLst>
        </p14:section>
      </p14:sectionLst>
    </p:ex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743"/>
    <a:srgbClr val="00D05E"/>
    <a:srgbClr val="FF0066"/>
    <a:srgbClr val="FF4B21"/>
    <a:srgbClr val="CC3300"/>
    <a:srgbClr val="00CC99"/>
    <a:srgbClr val="15C2FF"/>
    <a:srgbClr val="FFCC29"/>
    <a:srgbClr val="F5E47F"/>
    <a:srgbClr val="F2DB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9639D9-3454-46DB-98F0-5734C90B24A8}" v="162" dt="2024-02-29T03:48:59.932"/>
    <p1510:client id="{51280DD5-E729-4BD7-8A9F-98443B307215}" v="2" dt="2024-02-29T02:44:09.918"/>
    <p1510:client id="{F06999DA-40BE-4997-8D18-97380D22DED5}" v="101" dt="2024-02-29T15:35:34.9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89" autoAdjust="0"/>
    <p:restoredTop sz="98577" autoAdjust="0"/>
  </p:normalViewPr>
  <p:slideViewPr>
    <p:cSldViewPr snapToGrid="0">
      <p:cViewPr>
        <p:scale>
          <a:sx n="80" d="100"/>
          <a:sy n="80" d="100"/>
        </p:scale>
        <p:origin x="-120" y="-3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90" Type="http://schemas.microsoft.com/office/2015/10/relationships/revisionInfo" Target="revisionInfo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58C147-18C2-4D33-BF56-E30CA9229223}" type="datetimeFigureOut">
              <a:rPr lang="en-IN" smtClean="0"/>
              <a:t>01-01-2026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A3E4B8-F9DF-4F9A-BB59-93920507C31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7987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AFE4333-EDCB-768D-D694-4FA374C887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6FB8F6BA-A771-5199-B454-4137B42B82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B8C62A8-5E14-FA7C-D2D9-A91C5617A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C7221-54BD-4A63-8AE7-749436A8A0E0}" type="datetime1">
              <a:rPr lang="en-US" smtClean="0"/>
              <a:t>1/1/2026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A5CADB1-111D-22D3-EDB1-E043DC323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D733105E-4498-96A3-0C5F-A5E579283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0095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EAE6418-E00D-D82B-5A6A-A2532DB41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63E6B97-B778-7455-F70C-FD8D34E3F3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34537FB2-C318-A7C1-BABA-0AC6FA5B3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96570-B1EA-4487-BE32-F708B8E167B2}" type="datetime1">
              <a:rPr lang="en-US" smtClean="0"/>
              <a:t>1/1/2026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14FC2A1-527D-0AA9-D04D-3D2766CE0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1000CB2-5293-8DFA-B3B2-A0B592B46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6395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EC1FA87-C082-E0DD-3D37-67F1640E6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1B5F515E-EB4A-D143-3D90-D5CB688823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8B15D29-75FB-CFE9-A973-A208274B9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442CB-DE38-41A3-9AEC-FC7F477AE398}" type="datetime1">
              <a:rPr lang="en-US" smtClean="0"/>
              <a:t>1/1/2026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9168659-4604-1E12-A046-E65E9BFA0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6A55C1A-5CB6-A517-F4CC-78B642B35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473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F354BD7-8381-6AF7-2A34-97F116432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45D5CF0-745C-8F39-DDFC-095163A6D8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D6F0486A-0B81-6F67-77F7-3933C25058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D29CEC8B-FF84-E5F1-CD4B-B7DEE25F0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9B145-4D2C-4B0D-B0F3-3793104D85F9}" type="datetime1">
              <a:rPr lang="en-US" smtClean="0"/>
              <a:t>1/1/2026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083D1157-B890-E7C2-8551-9CFA55DF1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A6834098-4893-052D-13DF-57AA37269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845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195ED4B-5B6D-B5E5-67B7-D97BFC6B1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28083AD3-D8DD-C9C8-4A8D-6E90DEEDCC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F610F8FC-1E86-8328-5873-1F1FD4540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7171E56A-9B29-8C99-0F9B-DFA73577B4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31551D20-42E2-AA82-6A29-ED75844F6F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12806B38-A61F-CFF2-455E-2A0DB1CBD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CBCE3-C8C5-4329-ADE4-5F8D67D78882}" type="datetime1">
              <a:rPr lang="en-US" smtClean="0"/>
              <a:t>1/1/2026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0A1ADB39-BBED-F460-3284-9B01BBA78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BAE78CB4-F5B2-2F08-FCB4-B7EFC7D9B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2097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207DB33-3161-3CA7-5DA9-9AEFA7BE3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1B459199-60FE-8A27-4D17-58FA57F03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5BDD6-391D-4D68-9A24-8E7CE46A4DC4}" type="datetime1">
              <a:rPr lang="en-US" smtClean="0"/>
              <a:t>1/1/2026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9B5772E0-839B-C3B1-7E64-0C8677352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4F5A1759-598D-988C-8124-2E5044B17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1273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F271F3F0-F2B3-F675-7BAB-1AD2134AC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E1E7A-3F60-43E8-97A9-E03FDFF3291A}" type="datetime1">
              <a:rPr lang="en-US" smtClean="0"/>
              <a:t>1/1/2026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1A44FB0A-DFB7-0737-F37C-440DCA486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9E497C01-947E-5E24-DB3F-90342EF0A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4625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F41832-2691-E74A-0F3A-2DE9A6E44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94BD6CD-D7DC-A4E9-FD78-EA239F4F5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54C0C722-544A-95F1-1DAD-FAD83B6633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215BCDEF-8A4D-1FA5-888F-D5A3A2CEE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F2EE0-C06F-41F5-AFE0-7056E3A01EDC}" type="datetime1">
              <a:rPr lang="en-US" smtClean="0"/>
              <a:t>1/1/2026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81C4BD8F-AAAC-F32F-ABC2-37A3D3BC6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3DA79EF9-CB21-BEC5-2A25-591C945DD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276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7BACBD3-5050-C329-F415-371491884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C4B2BE8C-8AFF-7B97-17DD-E10D476C82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B6B1A6C9-352E-F0FC-857A-200063A76E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996AEC32-A02D-AF36-A64E-290A392B4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105E1-88D0-4311-A599-0C8A6973053A}" type="datetime1">
              <a:rPr lang="en-US" smtClean="0"/>
              <a:t>1/1/2026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26B0ECF5-F111-F43D-1DD0-2623EE225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A3ED8375-499D-DCA7-5D7B-91DD95B7F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0511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AE933A4-C03D-26A7-C451-392D04E6A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C339E290-0E60-50DC-3A6D-AFC921C4E8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1DDBB31-5065-A920-BCE3-A6379F318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EA562-091E-45D6-BEDF-3C68FB2023F1}" type="datetime1">
              <a:rPr lang="en-US" smtClean="0"/>
              <a:t>1/1/2026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650F398-CC52-3E67-DDF6-C862313CC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4272AE45-AD9E-08FA-1F71-75DFC9E00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8351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0AF91D67-8C5B-5055-B5D2-6BAAE7E950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04D31080-7646-1B9C-C36F-D2F6BB8747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DA404C4-6EA5-D815-E9B2-7CDBB94E9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14D94-52B8-43E9-A8F3-BD9E24437DA3}" type="datetime1">
              <a:rPr lang="en-US" smtClean="0"/>
              <a:t>1/1/2026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7EFDD0D-44E3-A86F-6F17-A722DA9F5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3E417A5-F8F0-AA31-71DF-34D658498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97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39A89A0B-DE9F-F1C6-643E-DCA32D53C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3953DDAA-3094-DBCE-F38B-123FB91FD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AF0BF9E-5E8A-1649-84DC-281A5BAAC4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BC827E-01D8-46AF-B9E0-11E08B19BA59}" type="datetime1">
              <a:rPr lang="en-US" smtClean="0"/>
              <a:t>1/1/2026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BDEDD1E-16D6-9C67-B90A-3F23927ED3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5FC0268-EDD9-BFDA-9A07-5241871BF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5367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cxnSp>
        <p:nvCxnSpPr>
          <p:cNvPr id="3" name="Straight Connector 2"/>
          <p:cNvCxnSpPr/>
          <p:nvPr/>
        </p:nvCxnSpPr>
        <p:spPr>
          <a:xfrm>
            <a:off x="6141493" y="1535723"/>
            <a:ext cx="13648" cy="532227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506796" y="4097983"/>
            <a:ext cx="2443370" cy="276999"/>
          </a:xfrm>
          <a:prstGeom prst="rect">
            <a:avLst/>
          </a:prstGeom>
          <a:solidFill>
            <a:srgbClr val="F5E47F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Bahnschrift Light" pitchFamily="34" charset="0"/>
                <a:ea typeface="Arial Unicode MS" pitchFamily="34" charset="-128"/>
                <a:cs typeface="Arial Unicode MS" pitchFamily="34" charset="-128"/>
              </a:rPr>
              <a:t>ANN,CNN,RNN</a:t>
            </a:r>
            <a:endParaRPr lang="en-IN" sz="1200" dirty="0">
              <a:latin typeface="Bahnschrift Light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508276" y="2590642"/>
            <a:ext cx="2564728" cy="27699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Bahnschrift Light" pitchFamily="34" charset="0"/>
                <a:ea typeface="Arial Unicode MS" pitchFamily="34" charset="-128"/>
                <a:cs typeface="Arial Unicode MS" pitchFamily="34" charset="-128"/>
              </a:rPr>
              <a:t>Backward error propagation</a:t>
            </a:r>
            <a:endParaRPr lang="en-IN" sz="1200" dirty="0">
              <a:latin typeface="Bahnschrift Light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523039" y="1542342"/>
            <a:ext cx="2564729" cy="2769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Bahnschrift Light" pitchFamily="34" charset="0"/>
                <a:ea typeface="Arial Unicode MS" pitchFamily="34" charset="-128"/>
                <a:cs typeface="Arial Unicode MS" pitchFamily="34" charset="-128"/>
              </a:rPr>
              <a:t>Neural Network –How it works</a:t>
            </a:r>
            <a:endParaRPr lang="en-IN" sz="1200" dirty="0">
              <a:latin typeface="Bahnschrift Light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1126638" y="1038851"/>
            <a:ext cx="10936408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506796" y="4466783"/>
            <a:ext cx="2421558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Bahnschrift Light" pitchFamily="34" charset="0"/>
                <a:ea typeface="Arial Unicode MS" pitchFamily="34" charset="-128"/>
                <a:cs typeface="Arial Unicode MS" pitchFamily="34" charset="-128"/>
              </a:rPr>
              <a:t>ANN</a:t>
            </a:r>
            <a:endParaRPr lang="en-IN" sz="1200" dirty="0">
              <a:latin typeface="Bahnschrift Light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3" name="TextBox 12">
            <a:hlinkClick r:id="" action="ppaction://noaction"/>
          </p:cNvPr>
          <p:cNvSpPr txBox="1"/>
          <p:nvPr/>
        </p:nvSpPr>
        <p:spPr>
          <a:xfrm>
            <a:off x="1506796" y="4788897"/>
            <a:ext cx="2421558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Bahnschrift Light" pitchFamily="34" charset="0"/>
                <a:ea typeface="Arial Unicode MS" pitchFamily="34" charset="-128"/>
                <a:cs typeface="Arial Unicode MS" pitchFamily="34" charset="-128"/>
                <a:hlinkClick r:id="" action="ppaction://noaction"/>
              </a:rPr>
              <a:t>RNN</a:t>
            </a:r>
            <a:endParaRPr lang="en-IN" sz="1200" dirty="0">
              <a:latin typeface="Bahnschrift Light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2467226" y="5161273"/>
            <a:ext cx="2443370" cy="837354"/>
            <a:chOff x="1871428" y="3642863"/>
            <a:chExt cx="2443370" cy="837354"/>
          </a:xfrm>
        </p:grpSpPr>
        <p:sp>
          <p:nvSpPr>
            <p:cNvPr id="14" name="TextBox 13">
              <a:hlinkClick r:id="" action="ppaction://noaction"/>
            </p:cNvPr>
            <p:cNvSpPr txBox="1"/>
            <p:nvPr/>
          </p:nvSpPr>
          <p:spPr>
            <a:xfrm>
              <a:off x="1871428" y="3642863"/>
              <a:ext cx="2443370" cy="27699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 smtClean="0">
                  <a:latin typeface="Bahnschrift Light" pitchFamily="34" charset="0"/>
                  <a:ea typeface="Arial Unicode MS" pitchFamily="34" charset="-128"/>
                  <a:cs typeface="Arial Unicode MS" pitchFamily="34" charset="-128"/>
                </a:rPr>
                <a:t>Type of RNN</a:t>
              </a:r>
              <a:endParaRPr lang="en-IN" sz="1200" dirty="0">
                <a:latin typeface="Bahnschrift Light" pitchFamily="34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19" name="TextBox 18">
              <a:hlinkClick r:id="" action="ppaction://noaction"/>
            </p:cNvPr>
            <p:cNvSpPr txBox="1"/>
            <p:nvPr/>
          </p:nvSpPr>
          <p:spPr>
            <a:xfrm>
              <a:off x="1871428" y="3919862"/>
              <a:ext cx="2443370" cy="27699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 smtClean="0">
                  <a:latin typeface="Bahnschrift Light" pitchFamily="34" charset="0"/>
                  <a:ea typeface="Arial Unicode MS" pitchFamily="34" charset="-128"/>
                  <a:cs typeface="Arial Unicode MS" pitchFamily="34" charset="-128"/>
                </a:rPr>
                <a:t>Problem with RNN</a:t>
              </a:r>
              <a:endParaRPr lang="en-IN" sz="1200" dirty="0">
                <a:latin typeface="Bahnschrift Light" pitchFamily="34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20" name="TextBox 19">
              <a:hlinkClick r:id="" action="ppaction://noaction"/>
            </p:cNvPr>
            <p:cNvSpPr txBox="1"/>
            <p:nvPr/>
          </p:nvSpPr>
          <p:spPr>
            <a:xfrm>
              <a:off x="1871428" y="4203218"/>
              <a:ext cx="2443370" cy="27699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 smtClean="0">
                  <a:latin typeface="Bahnschrift Light" pitchFamily="34" charset="0"/>
                  <a:ea typeface="Arial Unicode MS" pitchFamily="34" charset="-128"/>
                  <a:cs typeface="Arial Unicode MS" pitchFamily="34" charset="-128"/>
                  <a:hlinkClick r:id="" action="ppaction://noaction"/>
                </a:rPr>
                <a:t>LSTM</a:t>
              </a:r>
              <a:endParaRPr lang="en-IN" sz="1200" dirty="0">
                <a:latin typeface="Bahnschrift Light" pitchFamily="34" charset="0"/>
                <a:ea typeface="Arial Unicode MS" pitchFamily="34" charset="-128"/>
                <a:cs typeface="Arial Unicode MS" pitchFamily="34" charset="-128"/>
              </a:endParaRPr>
            </a:p>
          </p:txBody>
        </p:sp>
      </p:grpSp>
      <p:sp>
        <p:nvSpPr>
          <p:cNvPr id="21" name="TextBox 20">
            <a:hlinkClick r:id="" action="ppaction://noaction"/>
          </p:cNvPr>
          <p:cNvSpPr txBox="1"/>
          <p:nvPr/>
        </p:nvSpPr>
        <p:spPr>
          <a:xfrm>
            <a:off x="1506796" y="3778904"/>
            <a:ext cx="2443370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Bahnschrift Light" pitchFamily="34" charset="0"/>
                <a:ea typeface="Arial Unicode MS" pitchFamily="34" charset="-128"/>
                <a:cs typeface="Arial Unicode MS" pitchFamily="34" charset="-128"/>
              </a:rPr>
              <a:t>Time Series Data</a:t>
            </a:r>
            <a:endParaRPr lang="en-IN" sz="1200" dirty="0">
              <a:latin typeface="Bahnschrift Light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38922" y="4557681"/>
            <a:ext cx="2564728" cy="276999"/>
          </a:xfrm>
          <a:prstGeom prst="rect">
            <a:avLst/>
          </a:prstGeom>
          <a:solidFill>
            <a:srgbClr val="FFCC29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latin typeface="Bahnschrift Light" pitchFamily="34" charset="0"/>
                <a:ea typeface="Arial Unicode MS" pitchFamily="34" charset="-128"/>
                <a:cs typeface="Arial Unicode MS" pitchFamily="34" charset="-128"/>
              </a:defRPr>
            </a:lvl1pPr>
          </a:lstStyle>
          <a:p>
            <a:r>
              <a:rPr lang="en-IN" dirty="0"/>
              <a:t>Neural Network-Layman term</a:t>
            </a:r>
          </a:p>
        </p:txBody>
      </p:sp>
      <p:sp>
        <p:nvSpPr>
          <p:cNvPr id="23" name="Google Shape;143;p1">
            <a:extLst>
              <a:ext uri="{FF2B5EF4-FFF2-40B4-BE49-F238E27FC236}">
                <a16:creationId xmlns:a16="http://schemas.microsoft.com/office/drawing/2014/main" xmlns="" id="{E4949A97-DC03-56A5-2E5A-3DD3913AA0EF}"/>
              </a:ext>
            </a:extLst>
          </p:cNvPr>
          <p:cNvSpPr txBox="1">
            <a:spLocks noGrp="1"/>
          </p:cNvSpPr>
          <p:nvPr/>
        </p:nvSpPr>
        <p:spPr>
          <a:xfrm>
            <a:off x="1774208" y="193757"/>
            <a:ext cx="4951915" cy="1113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43F49"/>
              </a:buClr>
              <a:buSzPts val="5400"/>
              <a:buFont typeface="Arial"/>
              <a:buNone/>
              <a:defRPr sz="5400" b="0" i="0" u="none" strike="noStrike" cap="none">
                <a:solidFill>
                  <a:srgbClr val="343F4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it-IT" sz="4400" b="1" dirty="0" smtClean="0">
                <a:solidFill>
                  <a:schemeClr val="tx1"/>
                </a:solidFill>
                <a:latin typeface="Segoe UI Black" pitchFamily="34" charset="0"/>
                <a:ea typeface="Segoe UI Black" pitchFamily="34" charset="0"/>
              </a:rPr>
              <a:t>Neural Network</a:t>
            </a:r>
          </a:p>
          <a:p>
            <a:endParaRPr lang="it-IT" sz="4000" b="1" dirty="0">
              <a:solidFill>
                <a:schemeClr val="tx1"/>
              </a:solidFill>
            </a:endParaRPr>
          </a:p>
        </p:txBody>
      </p:sp>
      <p:pic>
        <p:nvPicPr>
          <p:cNvPr id="2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151" y="1"/>
            <a:ext cx="1903189" cy="1577228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8E4B4487-5609-54AF-1FCA-AB3F6B737A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8918" y="42717"/>
            <a:ext cx="3201582" cy="1240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Group 3"/>
          <p:cNvGrpSpPr/>
          <p:nvPr/>
        </p:nvGrpSpPr>
        <p:grpSpPr>
          <a:xfrm>
            <a:off x="1506796" y="1542342"/>
            <a:ext cx="2474730" cy="925166"/>
            <a:chOff x="1522475" y="1942475"/>
            <a:chExt cx="2474730" cy="925166"/>
          </a:xfrm>
        </p:grpSpPr>
        <p:sp>
          <p:nvSpPr>
            <p:cNvPr id="9" name="TextBox 8"/>
            <p:cNvSpPr txBox="1"/>
            <p:nvPr/>
          </p:nvSpPr>
          <p:spPr>
            <a:xfrm>
              <a:off x="1522476" y="1942475"/>
              <a:ext cx="2474729" cy="27699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Bahnschrift Light" pitchFamily="34" charset="0"/>
                  <a:ea typeface="Arial Unicode MS" pitchFamily="34" charset="-128"/>
                  <a:cs typeface="Arial Unicode MS" pitchFamily="34" charset="-128"/>
                </a:rPr>
                <a:t>Neural network &amp; History</a:t>
              </a:r>
              <a:endParaRPr lang="en-IN" sz="1200" dirty="0">
                <a:latin typeface="Bahnschrift Light" pitchFamily="34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522475" y="2262356"/>
              <a:ext cx="2474729" cy="27699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 smtClean="0">
                  <a:latin typeface="Bahnschrift Light" pitchFamily="34" charset="0"/>
                  <a:ea typeface="Arial Unicode MS" pitchFamily="34" charset="-128"/>
                  <a:cs typeface="Arial Unicode MS" pitchFamily="34" charset="-128"/>
                </a:rPr>
                <a:t>Component of Neural network</a:t>
              </a:r>
              <a:endParaRPr lang="en-IN" sz="1200" dirty="0">
                <a:latin typeface="Bahnschrift Light" pitchFamily="34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522476" y="2590642"/>
              <a:ext cx="2474729" cy="27699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 smtClean="0">
                  <a:latin typeface="Bahnschrift Light" pitchFamily="34" charset="0"/>
                  <a:ea typeface="Arial Unicode MS" pitchFamily="34" charset="-128"/>
                  <a:cs typeface="Arial Unicode MS" pitchFamily="34" charset="-128"/>
                  <a:hlinkClick r:id="" action="ppaction://noaction"/>
                </a:rPr>
                <a:t>Activation Function</a:t>
              </a:r>
              <a:endParaRPr lang="en-IN" sz="1200" dirty="0">
                <a:latin typeface="Bahnschrift Light" pitchFamily="34" charset="0"/>
                <a:ea typeface="Arial Unicode MS" pitchFamily="34" charset="-128"/>
                <a:cs typeface="Arial Unicode MS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04580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199370" y="5117964"/>
            <a:ext cx="1573829" cy="3385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IN" sz="1600" dirty="0"/>
              <a:t>feed forward NN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21701" y="2558114"/>
            <a:ext cx="2502545" cy="3385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IN" sz="1600" dirty="0"/>
              <a:t>Vanishing Gradient </a:t>
            </a:r>
            <a:r>
              <a:rPr lang="en-IN" sz="1600" dirty="0" smtClean="0"/>
              <a:t>Problem</a:t>
            </a:r>
            <a:endParaRPr lang="en-IN" sz="1600" dirty="0"/>
          </a:p>
        </p:txBody>
      </p:sp>
      <p:sp>
        <p:nvSpPr>
          <p:cNvPr id="7" name="Rectangle 6"/>
          <p:cNvSpPr/>
          <p:nvPr/>
        </p:nvSpPr>
        <p:spPr>
          <a:xfrm>
            <a:off x="7073758" y="1049600"/>
            <a:ext cx="1261884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IN" dirty="0"/>
              <a:t>Time Series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219150" y="4142067"/>
            <a:ext cx="848309" cy="338554"/>
          </a:xfrm>
          <a:prstGeom prst="rect">
            <a:avLst/>
          </a:prstGeom>
          <a:solidFill>
            <a:srgbClr val="00CC99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IN" sz="1600" dirty="0"/>
              <a:t>Sigmoid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75759" y="1913185"/>
            <a:ext cx="601447" cy="3385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IN" sz="1600" dirty="0"/>
              <a:t>TanH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24487" y="1740903"/>
            <a:ext cx="549766" cy="338554"/>
          </a:xfrm>
          <a:prstGeom prst="rect">
            <a:avLst/>
          </a:prstGeom>
          <a:solidFill>
            <a:srgbClr val="FFFF00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IN" sz="1600" dirty="0"/>
              <a:t>Relu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9614" y="1115311"/>
            <a:ext cx="1951175" cy="307777"/>
          </a:xfrm>
          <a:prstGeom prst="rect">
            <a:avLst/>
          </a:prstGeom>
          <a:solidFill>
            <a:srgbClr val="FF6743"/>
          </a:solidFill>
          <a:ln>
            <a:solidFill>
              <a:srgbClr val="FF6743"/>
            </a:solidFill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latin typeface="Arial Rounded MT Bold" pitchFamily="34" charset="0"/>
              </a:rPr>
              <a:t>Loss </a:t>
            </a:r>
            <a:r>
              <a:rPr lang="en-US" dirty="0" smtClean="0">
                <a:latin typeface="Arial Rounded MT Bold" pitchFamily="34" charset="0"/>
              </a:rPr>
              <a:t>/Cost Function </a:t>
            </a:r>
            <a:endParaRPr lang="en-IN" dirty="0">
              <a:latin typeface="Arial Rounded MT Bold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513206" y="3574871"/>
            <a:ext cx="1412118" cy="307777"/>
          </a:xfrm>
          <a:prstGeom prst="rect">
            <a:avLst/>
          </a:prstGeom>
          <a:solidFill>
            <a:srgbClr val="FF6743"/>
          </a:solidFill>
          <a:ln>
            <a:solidFill>
              <a:srgbClr val="FF6743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chemeClr val="bg1"/>
                </a:solidFill>
                <a:latin typeface="Arial Rounded MT Bold" pitchFamily="34" charset="0"/>
              </a:rPr>
              <a:t>Learning Rate</a:t>
            </a:r>
            <a:endParaRPr lang="en-IN" sz="1400" dirty="0">
              <a:solidFill>
                <a:schemeClr val="bg1"/>
              </a:solidFill>
              <a:latin typeface="Arial Rounded MT Bold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39614" y="740545"/>
            <a:ext cx="1720664" cy="307777"/>
          </a:xfrm>
          <a:prstGeom prst="rect">
            <a:avLst/>
          </a:prstGeom>
          <a:solidFill>
            <a:srgbClr val="FF6743"/>
          </a:solidFill>
          <a:ln>
            <a:solidFill>
              <a:srgbClr val="FF6743"/>
            </a:solidFill>
          </a:ln>
        </p:spPr>
        <p:txBody>
          <a:bodyPr wrap="none" rtlCol="0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  <a:latin typeface="Arial Rounded MT Bold" pitchFamily="34" charset="0"/>
              </a:rPr>
              <a:t>Gradient </a:t>
            </a:r>
            <a:r>
              <a:rPr lang="en-IN" sz="1400" dirty="0" smtClean="0">
                <a:solidFill>
                  <a:schemeClr val="bg1"/>
                </a:solidFill>
                <a:latin typeface="Arial Rounded MT Bold" pitchFamily="34" charset="0"/>
              </a:rPr>
              <a:t>Descent</a:t>
            </a:r>
            <a:endParaRPr lang="en-IN" sz="1400" dirty="0">
              <a:solidFill>
                <a:schemeClr val="bg1"/>
              </a:solidFill>
              <a:latin typeface="Arial Rounded MT Bold" pitchFamily="34" charset="0"/>
            </a:endParaRPr>
          </a:p>
        </p:txBody>
      </p:sp>
      <p:grpSp>
        <p:nvGrpSpPr>
          <p:cNvPr id="22" name="Group 21"/>
          <p:cNvGrpSpPr/>
          <p:nvPr/>
        </p:nvGrpSpPr>
        <p:grpSpPr>
          <a:xfrm>
            <a:off x="109182" y="105120"/>
            <a:ext cx="11969087" cy="6237066"/>
            <a:chOff x="240961" y="259267"/>
            <a:chExt cx="11969087" cy="6237066"/>
          </a:xfrm>
        </p:grpSpPr>
        <p:grpSp>
          <p:nvGrpSpPr>
            <p:cNvPr id="3" name="Group 2"/>
            <p:cNvGrpSpPr/>
            <p:nvPr/>
          </p:nvGrpSpPr>
          <p:grpSpPr>
            <a:xfrm>
              <a:off x="240961" y="596463"/>
              <a:ext cx="11969087" cy="5899870"/>
              <a:chOff x="240961" y="596463"/>
              <a:chExt cx="11969087" cy="5899870"/>
            </a:xfrm>
          </p:grpSpPr>
          <p:grpSp>
            <p:nvGrpSpPr>
              <p:cNvPr id="18" name="Group 17"/>
              <p:cNvGrpSpPr/>
              <p:nvPr/>
            </p:nvGrpSpPr>
            <p:grpSpPr>
              <a:xfrm>
                <a:off x="240961" y="596463"/>
                <a:ext cx="11969087" cy="5899869"/>
                <a:chOff x="-664863" y="576834"/>
                <a:chExt cx="11969087" cy="5899869"/>
              </a:xfrm>
            </p:grpSpPr>
            <p:cxnSp>
              <p:nvCxnSpPr>
                <p:cNvPr id="14" name="Straight Connector 13"/>
                <p:cNvCxnSpPr/>
                <p:nvPr/>
              </p:nvCxnSpPr>
              <p:spPr>
                <a:xfrm>
                  <a:off x="-664863" y="576834"/>
                  <a:ext cx="11969087" cy="3731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/>
                <p:cNvCxnSpPr/>
                <p:nvPr/>
              </p:nvCxnSpPr>
              <p:spPr>
                <a:xfrm>
                  <a:off x="5950567" y="594518"/>
                  <a:ext cx="0" cy="588218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7" name="Straight Connector 16"/>
              <p:cNvCxnSpPr/>
              <p:nvPr/>
            </p:nvCxnSpPr>
            <p:spPr>
              <a:xfrm>
                <a:off x="3318681" y="614148"/>
                <a:ext cx="0" cy="5882185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" name="Flowchart: Connector 18"/>
            <p:cNvSpPr/>
            <p:nvPr/>
          </p:nvSpPr>
          <p:spPr>
            <a:xfrm>
              <a:off x="371393" y="259267"/>
              <a:ext cx="324000" cy="324000"/>
            </a:xfrm>
            <a:prstGeom prst="flowChartConnector">
              <a:avLst/>
            </a:prstGeom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Arial Rounded MT Bold" pitchFamily="34" charset="0"/>
                </a:rPr>
                <a:t>1</a:t>
              </a:r>
              <a:endParaRPr lang="en-IN" sz="1600" dirty="0">
                <a:latin typeface="Arial Rounded MT Bold" pitchFamily="34" charset="0"/>
              </a:endParaRPr>
            </a:p>
          </p:txBody>
        </p:sp>
        <p:sp>
          <p:nvSpPr>
            <p:cNvPr id="20" name="Flowchart: Connector 19"/>
            <p:cNvSpPr/>
            <p:nvPr/>
          </p:nvSpPr>
          <p:spPr>
            <a:xfrm>
              <a:off x="3476409" y="259267"/>
              <a:ext cx="324000" cy="324000"/>
            </a:xfrm>
            <a:prstGeom prst="flowChartConnector">
              <a:avLst/>
            </a:prstGeom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atin typeface="Arial Rounded MT Bold" pitchFamily="34" charset="0"/>
                </a:rPr>
                <a:t>2</a:t>
              </a:r>
              <a:endParaRPr lang="en-IN" sz="1600" dirty="0">
                <a:latin typeface="Arial Rounded MT Bold" pitchFamily="34" charset="0"/>
              </a:endParaRPr>
            </a:p>
          </p:txBody>
        </p:sp>
        <p:sp>
          <p:nvSpPr>
            <p:cNvPr id="21" name="Flowchart: Connector 20"/>
            <p:cNvSpPr/>
            <p:nvPr/>
          </p:nvSpPr>
          <p:spPr>
            <a:xfrm>
              <a:off x="7037370" y="272463"/>
              <a:ext cx="324000" cy="324000"/>
            </a:xfrm>
            <a:prstGeom prst="flowChartConnector">
              <a:avLst/>
            </a:prstGeom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atin typeface="Arial Rounded MT Bold" pitchFamily="34" charset="0"/>
                </a:rPr>
                <a:t>3</a:t>
              </a:r>
              <a:endParaRPr lang="en-IN" sz="1600" dirty="0">
                <a:latin typeface="Arial Rounded MT Bold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72006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7266" y="98855"/>
            <a:ext cx="1314734" cy="108955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2138" y="1052034"/>
            <a:ext cx="2516559" cy="19593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/>
          <p:nvPr/>
        </p:nvSpPr>
        <p:spPr>
          <a:xfrm>
            <a:off x="1898308" y="728868"/>
            <a:ext cx="319702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ANN are </a:t>
            </a:r>
            <a:r>
              <a:rPr lang="en-US" sz="1400" dirty="0" smtClean="0"/>
              <a:t>foundation </a:t>
            </a:r>
            <a:r>
              <a:rPr lang="en-US" sz="1400" dirty="0"/>
              <a:t>of all neural network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2623991" y="1187239"/>
            <a:ext cx="3090141" cy="307777"/>
          </a:xfrm>
          <a:prstGeom prst="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sz="1400" dirty="0"/>
              <a:t>CNN,DNN,RNN are special type of ANNs</a:t>
            </a:r>
            <a:endParaRPr lang="en-IN" sz="1400" dirty="0"/>
          </a:p>
        </p:txBody>
      </p:sp>
      <p:grpSp>
        <p:nvGrpSpPr>
          <p:cNvPr id="20" name="Group 19"/>
          <p:cNvGrpSpPr/>
          <p:nvPr/>
        </p:nvGrpSpPr>
        <p:grpSpPr>
          <a:xfrm>
            <a:off x="4489804" y="3142944"/>
            <a:ext cx="5439795" cy="2752750"/>
            <a:chOff x="6532359" y="3142944"/>
            <a:chExt cx="5439795" cy="2752750"/>
          </a:xfrm>
        </p:grpSpPr>
        <p:sp>
          <p:nvSpPr>
            <p:cNvPr id="9" name="Rectangle 8"/>
            <p:cNvSpPr/>
            <p:nvPr/>
          </p:nvSpPr>
          <p:spPr>
            <a:xfrm>
              <a:off x="9455595" y="3142944"/>
              <a:ext cx="2502032" cy="323165"/>
            </a:xfrm>
            <a:prstGeom prst="rect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>
              <a:spAutoFit/>
            </a:bodyPr>
            <a:lstStyle/>
            <a:p>
              <a:r>
                <a:rPr lang="en-IN" sz="1500" dirty="0"/>
                <a:t>Artificial Neural Network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9461961" y="3597818"/>
              <a:ext cx="2495666" cy="323165"/>
            </a:xfrm>
            <a:prstGeom prst="rect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>
              <a:spAutoFit/>
            </a:bodyPr>
            <a:lstStyle/>
            <a:p>
              <a:r>
                <a:rPr lang="en-IN" sz="1500" dirty="0"/>
                <a:t>Deep Neural Network 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9461961" y="3956919"/>
              <a:ext cx="2502032" cy="323165"/>
            </a:xfrm>
            <a:prstGeom prst="rect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>
              <a:spAutoFit/>
            </a:bodyPr>
            <a:lstStyle/>
            <a:p>
              <a:r>
                <a:rPr lang="en-IN" sz="1500" dirty="0" smtClean="0"/>
                <a:t>Convolutional </a:t>
              </a:r>
              <a:r>
                <a:rPr lang="en-IN" sz="1500" dirty="0"/>
                <a:t>neural network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9468327" y="4309962"/>
              <a:ext cx="2502032" cy="323165"/>
            </a:xfrm>
            <a:prstGeom prst="rect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>
              <a:spAutoFit/>
            </a:bodyPr>
            <a:lstStyle/>
            <a:p>
              <a:r>
                <a:rPr lang="en-IN" sz="1500" dirty="0"/>
                <a:t>Recurrent Neural Network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9474693" y="4759979"/>
              <a:ext cx="2495666" cy="338554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 smtClean="0"/>
                <a:t>Auto encoder</a:t>
              </a:r>
              <a:endParaRPr lang="en-IN" sz="1600" dirty="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460165" y="5557140"/>
              <a:ext cx="2511989" cy="33855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 smtClean="0"/>
                <a:t>Transformers</a:t>
              </a:r>
              <a:endParaRPr lang="en-IN" sz="1600" dirty="0"/>
            </a:p>
          </p:txBody>
        </p:sp>
        <p:grpSp>
          <p:nvGrpSpPr>
            <p:cNvPr id="17" name="Group 16"/>
            <p:cNvGrpSpPr/>
            <p:nvPr/>
          </p:nvGrpSpPr>
          <p:grpSpPr>
            <a:xfrm>
              <a:off x="6532359" y="5164099"/>
              <a:ext cx="5425268" cy="338554"/>
              <a:chOff x="6532359" y="5164099"/>
              <a:chExt cx="5425268" cy="338554"/>
            </a:xfrm>
          </p:grpSpPr>
          <p:sp>
            <p:nvSpPr>
              <p:cNvPr id="19" name="TextBox 18"/>
              <p:cNvSpPr txBox="1"/>
              <p:nvPr/>
            </p:nvSpPr>
            <p:spPr>
              <a:xfrm>
                <a:off x="9474693" y="5164099"/>
                <a:ext cx="2482934" cy="33855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 smtClean="0"/>
                  <a:t>GANs</a:t>
                </a:r>
                <a:endParaRPr lang="en-IN" sz="1600" dirty="0"/>
              </a:p>
            </p:txBody>
          </p:sp>
          <p:sp>
            <p:nvSpPr>
              <p:cNvPr id="16" name="Rectangle 15"/>
              <p:cNvSpPr/>
              <p:nvPr/>
            </p:nvSpPr>
            <p:spPr>
              <a:xfrm>
                <a:off x="6532359" y="5164099"/>
                <a:ext cx="2923236" cy="33855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txBody>
              <a:bodyPr wrap="none">
                <a:spAutoFit/>
              </a:bodyPr>
              <a:lstStyle/>
              <a:p>
                <a:r>
                  <a:rPr lang="en-IN" sz="1600" dirty="0"/>
                  <a:t>Generative Adversarial Networks</a:t>
                </a:r>
              </a:p>
            </p:txBody>
          </p:sp>
        </p:grpSp>
      </p:grpSp>
      <p:grpSp>
        <p:nvGrpSpPr>
          <p:cNvPr id="22" name="Group 21"/>
          <p:cNvGrpSpPr/>
          <p:nvPr/>
        </p:nvGrpSpPr>
        <p:grpSpPr>
          <a:xfrm>
            <a:off x="1218271" y="238250"/>
            <a:ext cx="2177616" cy="296140"/>
            <a:chOff x="1218271" y="238250"/>
            <a:chExt cx="2177616" cy="296140"/>
          </a:xfrm>
        </p:grpSpPr>
        <p:sp>
          <p:nvSpPr>
            <p:cNvPr id="2" name="Snip and Round Single Corner Rectangle 1"/>
            <p:cNvSpPr/>
            <p:nvPr/>
          </p:nvSpPr>
          <p:spPr>
            <a:xfrm>
              <a:off x="1337480" y="238250"/>
              <a:ext cx="1897039" cy="296140"/>
            </a:xfrm>
            <a:prstGeom prst="snipRoundRect">
              <a:avLst/>
            </a:prstGeom>
            <a:ln w="952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sz="1400" dirty="0">
                  <a:latin typeface="Bahnschrift" pitchFamily="34" charset="0"/>
                </a:rPr>
                <a:t>Neural Network</a:t>
              </a:r>
            </a:p>
          </p:txBody>
        </p:sp>
        <p:cxnSp>
          <p:nvCxnSpPr>
            <p:cNvPr id="21" name="Straight Connector 20"/>
            <p:cNvCxnSpPr/>
            <p:nvPr/>
          </p:nvCxnSpPr>
          <p:spPr>
            <a:xfrm>
              <a:off x="1218271" y="534390"/>
              <a:ext cx="217761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59808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  <p:cxnSp>
        <p:nvCxnSpPr>
          <p:cNvPr id="51" name="Straight Connector 50"/>
          <p:cNvCxnSpPr/>
          <p:nvPr/>
        </p:nvCxnSpPr>
        <p:spPr>
          <a:xfrm>
            <a:off x="5838236" y="3318513"/>
            <a:ext cx="0" cy="5324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" name="Group 52"/>
          <p:cNvGrpSpPr/>
          <p:nvPr/>
        </p:nvGrpSpPr>
        <p:grpSpPr>
          <a:xfrm>
            <a:off x="1210851" y="1327105"/>
            <a:ext cx="10003809" cy="2199254"/>
            <a:chOff x="1337481" y="1913327"/>
            <a:chExt cx="10003809" cy="2199254"/>
          </a:xfrm>
        </p:grpSpPr>
        <p:grpSp>
          <p:nvGrpSpPr>
            <p:cNvPr id="31" name="Group 30"/>
            <p:cNvGrpSpPr/>
            <p:nvPr/>
          </p:nvGrpSpPr>
          <p:grpSpPr>
            <a:xfrm>
              <a:off x="1528549" y="1913327"/>
              <a:ext cx="9812741" cy="1676034"/>
              <a:chOff x="1528549" y="1913327"/>
              <a:chExt cx="9812741" cy="1676034"/>
            </a:xfrm>
          </p:grpSpPr>
          <p:grpSp>
            <p:nvGrpSpPr>
              <p:cNvPr id="23" name="Group 22"/>
              <p:cNvGrpSpPr/>
              <p:nvPr/>
            </p:nvGrpSpPr>
            <p:grpSpPr>
              <a:xfrm>
                <a:off x="1528549" y="2251881"/>
                <a:ext cx="9812741" cy="1337480"/>
                <a:chOff x="1528549" y="2251881"/>
                <a:chExt cx="9812741" cy="1337480"/>
              </a:xfrm>
            </p:grpSpPr>
            <p:cxnSp>
              <p:nvCxnSpPr>
                <p:cNvPr id="3" name="Straight Connector 2"/>
                <p:cNvCxnSpPr/>
                <p:nvPr/>
              </p:nvCxnSpPr>
              <p:spPr>
                <a:xfrm>
                  <a:off x="1528549" y="2251881"/>
                  <a:ext cx="9812741" cy="95534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Connector 9"/>
                <p:cNvCxnSpPr/>
                <p:nvPr/>
              </p:nvCxnSpPr>
              <p:spPr>
                <a:xfrm>
                  <a:off x="2285999" y="2251881"/>
                  <a:ext cx="0" cy="313898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Connector 11"/>
                <p:cNvCxnSpPr/>
                <p:nvPr/>
              </p:nvCxnSpPr>
              <p:spPr>
                <a:xfrm flipV="1">
                  <a:off x="3521122" y="2289411"/>
                  <a:ext cx="13648" cy="129995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Connector 13"/>
                <p:cNvCxnSpPr/>
                <p:nvPr/>
              </p:nvCxnSpPr>
              <p:spPr>
                <a:xfrm flipH="1">
                  <a:off x="5117910" y="2299648"/>
                  <a:ext cx="13648" cy="388961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/>
                <p:cNvCxnSpPr/>
                <p:nvPr/>
              </p:nvCxnSpPr>
              <p:spPr>
                <a:xfrm>
                  <a:off x="6987654" y="2279176"/>
                  <a:ext cx="13648" cy="607326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/>
                <p:cNvCxnSpPr/>
                <p:nvPr/>
              </p:nvCxnSpPr>
              <p:spPr>
                <a:xfrm>
                  <a:off x="8639033" y="2347415"/>
                  <a:ext cx="0" cy="341194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/>
                <p:cNvCxnSpPr/>
                <p:nvPr/>
              </p:nvCxnSpPr>
              <p:spPr>
                <a:xfrm>
                  <a:off x="9840036" y="2347415"/>
                  <a:ext cx="0" cy="341194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4" name="TextBox 23"/>
              <p:cNvSpPr txBox="1"/>
              <p:nvPr/>
            </p:nvSpPr>
            <p:spPr>
              <a:xfrm>
                <a:off x="1870686" y="1913327"/>
                <a:ext cx="60144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 smtClean="0">
                    <a:latin typeface="Bahnschrift" pitchFamily="34" charset="0"/>
                  </a:rPr>
                  <a:t>2014</a:t>
                </a:r>
                <a:endParaRPr lang="en-IN" sz="1600" dirty="0">
                  <a:latin typeface="Bahnschrift" pitchFamily="34" charset="0"/>
                </a:endParaRPr>
              </a:p>
            </p:txBody>
          </p:sp>
          <p:sp>
            <p:nvSpPr>
              <p:cNvPr id="26" name="TextBox 25"/>
              <p:cNvSpPr txBox="1"/>
              <p:nvPr/>
            </p:nvSpPr>
            <p:spPr>
              <a:xfrm>
                <a:off x="3247694" y="1915967"/>
                <a:ext cx="58541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 smtClean="0">
                    <a:latin typeface="Bahnschrift" pitchFamily="34" charset="0"/>
                  </a:rPr>
                  <a:t>2015</a:t>
                </a:r>
                <a:endParaRPr lang="en-IN" sz="1600" dirty="0">
                  <a:latin typeface="Bahnschrift" pitchFamily="34" charset="0"/>
                </a:endParaRPr>
              </a:p>
            </p:txBody>
          </p:sp>
          <p:sp>
            <p:nvSpPr>
              <p:cNvPr id="27" name="TextBox 26"/>
              <p:cNvSpPr txBox="1"/>
              <p:nvPr/>
            </p:nvSpPr>
            <p:spPr>
              <a:xfrm>
                <a:off x="4830834" y="1957682"/>
                <a:ext cx="57579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 smtClean="0">
                    <a:latin typeface="Bahnschrift" pitchFamily="34" charset="0"/>
                  </a:rPr>
                  <a:t>2017</a:t>
                </a:r>
                <a:endParaRPr lang="en-IN" sz="1600" dirty="0">
                  <a:latin typeface="Bahnschrift" pitchFamily="34" charset="0"/>
                </a:endParaRPr>
              </a:p>
            </p:txBody>
          </p:sp>
          <p:sp>
            <p:nvSpPr>
              <p:cNvPr id="28" name="TextBox 27"/>
              <p:cNvSpPr txBox="1"/>
              <p:nvPr/>
            </p:nvSpPr>
            <p:spPr>
              <a:xfrm>
                <a:off x="6686930" y="2008861"/>
                <a:ext cx="58862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 smtClean="0">
                    <a:latin typeface="Bahnschrift" pitchFamily="34" charset="0"/>
                  </a:rPr>
                  <a:t>2018</a:t>
                </a:r>
                <a:endParaRPr lang="en-IN" sz="1600" dirty="0">
                  <a:latin typeface="Bahnschrift" pitchFamily="34" charset="0"/>
                </a:endParaRPr>
              </a:p>
            </p:txBody>
          </p:sp>
        </p:grpSp>
        <p:sp>
          <p:nvSpPr>
            <p:cNvPr id="32" name="TextBox 31"/>
            <p:cNvSpPr txBox="1"/>
            <p:nvPr/>
          </p:nvSpPr>
          <p:spPr>
            <a:xfrm>
              <a:off x="1337481" y="2497540"/>
              <a:ext cx="202338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1"/>
              <a:r>
                <a:rPr lang="en-US" dirty="0" smtClean="0"/>
                <a:t>RNN </a:t>
              </a:r>
            </a:p>
            <a:p>
              <a:r>
                <a:rPr lang="en-US" sz="1400" dirty="0" smtClean="0">
                  <a:latin typeface="Bahnschrift" pitchFamily="34" charset="0"/>
                </a:rPr>
                <a:t>Recurrent neural Net</a:t>
              </a:r>
              <a:endParaRPr lang="en-IN" sz="1400" dirty="0">
                <a:latin typeface="Bahnschrift" pitchFamily="34" charset="0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2803660" y="3589361"/>
              <a:ext cx="111440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latin typeface="Bahnschrift" pitchFamily="34" charset="0"/>
                </a:rPr>
                <a:t>Attention </a:t>
              </a:r>
            </a:p>
            <a:p>
              <a:r>
                <a:rPr lang="en-US" sz="1400" dirty="0" smtClean="0">
                  <a:latin typeface="Bahnschrift" pitchFamily="34" charset="0"/>
                </a:rPr>
                <a:t>mechanism</a:t>
              </a:r>
              <a:endParaRPr lang="en-IN" sz="1400" dirty="0">
                <a:latin typeface="Bahnschrift" pitchFamily="34" charset="0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4526658" y="2688609"/>
              <a:ext cx="131157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>
                  <a:latin typeface="Bahnschrift" pitchFamily="34" charset="0"/>
                </a:rPr>
                <a:t>transformer</a:t>
              </a:r>
              <a:endParaRPr lang="en-IN" sz="1600" dirty="0">
                <a:latin typeface="Bahnschrift" pitchFamily="34" charset="0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619764" y="2841009"/>
              <a:ext cx="58381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>
                  <a:latin typeface="Bahnschrift" pitchFamily="34" charset="0"/>
                </a:rPr>
                <a:t>Bert</a:t>
              </a:r>
              <a:endParaRPr lang="en-IN" sz="1600" dirty="0">
                <a:latin typeface="Bahnschrift" pitchFamily="34" charset="0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8358465" y="2743761"/>
              <a:ext cx="54534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>
                  <a:latin typeface="Bahnschrift" pitchFamily="34" charset="0"/>
                </a:rPr>
                <a:t>GPT</a:t>
              </a:r>
              <a:endParaRPr lang="en-IN" sz="1600" dirty="0">
                <a:latin typeface="Bahnschrift" pitchFamily="34" charset="0"/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9550533" y="2759683"/>
              <a:ext cx="57900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>
                  <a:latin typeface="Bahnschrift" pitchFamily="34" charset="0"/>
                </a:rPr>
                <a:t>LLM</a:t>
              </a:r>
              <a:endParaRPr lang="en-IN" sz="1600" dirty="0">
                <a:latin typeface="Bahnschrift" pitchFamily="34" charset="0"/>
              </a:endParaRPr>
            </a:p>
          </p:txBody>
        </p:sp>
        <p:grpSp>
          <p:nvGrpSpPr>
            <p:cNvPr id="47" name="Group 46"/>
            <p:cNvGrpSpPr/>
            <p:nvPr/>
          </p:nvGrpSpPr>
          <p:grpSpPr>
            <a:xfrm>
              <a:off x="4476692" y="2565779"/>
              <a:ext cx="2911372" cy="752734"/>
              <a:chOff x="4555573" y="3081177"/>
              <a:chExt cx="2911372" cy="752734"/>
            </a:xfrm>
          </p:grpSpPr>
          <p:cxnSp>
            <p:nvCxnSpPr>
              <p:cNvPr id="42" name="Elbow Connector 41"/>
              <p:cNvCxnSpPr/>
              <p:nvPr/>
            </p:nvCxnSpPr>
            <p:spPr>
              <a:xfrm>
                <a:off x="4555573" y="3408736"/>
                <a:ext cx="2911372" cy="409798"/>
              </a:xfrm>
              <a:prstGeom prst="bentConnector3">
                <a:avLst>
                  <a:gd name="adj1" fmla="val -1565"/>
                </a:avLst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>
              <a:xfrm>
                <a:off x="7466945" y="3081177"/>
                <a:ext cx="0" cy="75273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2" name="TextBox 51"/>
            <p:cNvSpPr txBox="1"/>
            <p:nvPr/>
          </p:nvSpPr>
          <p:spPr>
            <a:xfrm>
              <a:off x="5182447" y="3774027"/>
              <a:ext cx="82266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>
                  <a:latin typeface="Bahnschrift" pitchFamily="34" charset="0"/>
                </a:rPr>
                <a:t>Google</a:t>
              </a:r>
              <a:endParaRPr lang="en-IN" sz="1600" dirty="0">
                <a:latin typeface="Bahnschrift" pitchFamily="34" charset="0"/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346600" y="238250"/>
            <a:ext cx="1943121" cy="405384"/>
            <a:chOff x="1251341" y="238250"/>
            <a:chExt cx="1943121" cy="405384"/>
          </a:xfrm>
          <a:solidFill>
            <a:schemeClr val="accent1"/>
          </a:solidFill>
        </p:grpSpPr>
        <p:sp>
          <p:nvSpPr>
            <p:cNvPr id="9" name="Snip and Round Single Corner Rectangle 8"/>
            <p:cNvSpPr/>
            <p:nvPr/>
          </p:nvSpPr>
          <p:spPr>
            <a:xfrm>
              <a:off x="1337480" y="238250"/>
              <a:ext cx="1114307" cy="405384"/>
            </a:xfrm>
            <a:prstGeom prst="snipRoundRect">
              <a:avLst/>
            </a:prstGeom>
            <a:grp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sz="1200" dirty="0" smtClean="0">
                  <a:latin typeface="Bahnschrift" pitchFamily="34" charset="0"/>
                </a:rPr>
                <a:t>NLP History</a:t>
              </a:r>
              <a:endParaRPr lang="en-IN" sz="1200" dirty="0">
                <a:latin typeface="Bahnschrift" pitchFamily="34" charset="0"/>
              </a:endParaRPr>
            </a:p>
          </p:txBody>
        </p:sp>
        <p:cxnSp>
          <p:nvCxnSpPr>
            <p:cNvPr id="5" name="Straight Connector 4"/>
            <p:cNvCxnSpPr/>
            <p:nvPr/>
          </p:nvCxnSpPr>
          <p:spPr>
            <a:xfrm>
              <a:off x="1251341" y="643634"/>
              <a:ext cx="1943121" cy="0"/>
            </a:xfrm>
            <a:prstGeom prst="line">
              <a:avLst/>
            </a:prstGeom>
            <a:grpFill/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01246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37449</TotalTime>
  <Words>143</Words>
  <Application>Microsoft Office PowerPoint</Application>
  <PresentationFormat>Custom</PresentationFormat>
  <Paragraphs>61</Paragraphs>
  <Slides>4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Naman Narula</dc:creator>
  <cp:lastModifiedBy>User</cp:lastModifiedBy>
  <cp:revision>1575</cp:revision>
  <dcterms:created xsi:type="dcterms:W3CDTF">2024-01-26T15:11:46Z</dcterms:created>
  <dcterms:modified xsi:type="dcterms:W3CDTF">2025-12-31T18:45:46Z</dcterms:modified>
</cp:coreProperties>
</file>