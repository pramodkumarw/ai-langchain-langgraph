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85" r:id="rId2"/>
    <p:sldId id="388" r:id="rId3"/>
    <p:sldId id="34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" id="{53F305DE-E919-46C9-8C7C-4B59AF1E2526}">
          <p14:sldIdLst>
            <p14:sldId id="285"/>
            <p14:sldId id="388"/>
          </p14:sldIdLst>
        </p14:section>
        <p14:section name="Time Series Data" id="{F5FEA94D-3C4E-4F48-A9AD-67DBF86ADA1F}">
          <p14:sldIdLst>
            <p14:sldId id="346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743"/>
    <a:srgbClr val="00D05E"/>
    <a:srgbClr val="FF0066"/>
    <a:srgbClr val="FF4B21"/>
    <a:srgbClr val="CC3300"/>
    <a:srgbClr val="00CC99"/>
    <a:srgbClr val="15C2FF"/>
    <a:srgbClr val="FFCC29"/>
    <a:srgbClr val="F5E47F"/>
    <a:srgbClr val="F2DB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639D9-3454-46DB-98F0-5734C90B24A8}" v="162" dt="2024-02-29T03:48:59.932"/>
    <p1510:client id="{51280DD5-E729-4BD7-8A9F-98443B307215}" v="2" dt="2024-02-29T02:44:09.918"/>
    <p1510:client id="{F06999DA-40BE-4997-8D18-97380D22DED5}" v="101" dt="2024-02-29T15:35:34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89" autoAdjust="0"/>
    <p:restoredTop sz="98577" autoAdjust="0"/>
  </p:normalViewPr>
  <p:slideViewPr>
    <p:cSldViewPr snapToGrid="0">
      <p:cViewPr>
        <p:scale>
          <a:sx n="80" d="100"/>
          <a:sy n="80" d="100"/>
        </p:scale>
        <p:origin x="-120" y="-3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9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8C147-18C2-4D33-BF56-E30CA9229223}" type="datetimeFigureOut">
              <a:rPr lang="en-IN" smtClean="0"/>
              <a:t>01-01-2026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3E4B8-F9DF-4F9A-BB59-93920507C3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987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FE4333-EDCB-768D-D694-4FA374C88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FB8F6BA-A771-5199-B454-4137B42B8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8C62A8-5E14-FA7C-D2D9-A91C5617A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C7221-54BD-4A63-8AE7-749436A8A0E0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A5CADB1-111D-22D3-EDB1-E043DC32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733105E-4498-96A3-0C5F-A5E57928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95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AE6418-E00D-D82B-5A6A-A2532DB41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3E6B97-B778-7455-F70C-FD8D34E3F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4537FB2-C318-A7C1-BABA-0AC6FA5B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6570-B1EA-4487-BE32-F708B8E167B2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14FC2A1-527D-0AA9-D04D-3D2766CE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1000CB2-5293-8DFA-B3B2-A0B592B4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39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C1FA87-C082-E0DD-3D37-67F1640E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B5F515E-EB4A-D143-3D90-D5CB68882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8B15D29-75FB-CFE9-A973-A208274B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42CB-DE38-41A3-9AEC-FC7F477AE398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9168659-4604-1E12-A046-E65E9BFA0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6A55C1A-5CB6-A517-F4CC-78B642B3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47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F354BD7-8381-6AF7-2A34-97F11643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45D5CF0-745C-8F39-DDFC-095163A6D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6F0486A-0B81-6F67-77F7-3933C2505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29CEC8B-FF84-E5F1-CD4B-B7DEE25F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9B145-4D2C-4B0D-B0F3-3793104D85F9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83D1157-B890-E7C2-8551-9CFA55DF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6834098-4893-052D-13DF-57AA3726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84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95ED4B-5B6D-B5E5-67B7-D97BFC6B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8083AD3-D8DD-C9C8-4A8D-6E90DEEDC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610F8FC-1E86-8328-5873-1F1FD4540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171E56A-9B29-8C99-0F9B-DFA73577B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1551D20-42E2-AA82-6A29-ED75844F6F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12806B38-A61F-CFF2-455E-2A0DB1CB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CBCE3-C8C5-4329-ADE4-5F8D67D78882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A1ADB39-BBED-F460-3284-9B01BBA7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BAE78CB4-F5B2-2F08-FCB4-B7EFC7D9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09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07DB33-3161-3CA7-5DA9-9AEFA7BE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B459199-60FE-8A27-4D17-58FA57F03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BDD6-391D-4D68-9A24-8E7CE46A4DC4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B5772E0-839B-C3B1-7E64-0C867735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F5A1759-598D-988C-8124-2E5044B1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27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271F3F0-F2B3-F675-7BAB-1AD2134A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1E7A-3F60-43E8-97A9-E03FDFF3291A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A44FB0A-DFB7-0737-F37C-440DCA48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E497C01-947E-5E24-DB3F-90342EF0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62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F41832-2691-E74A-0F3A-2DE9A6E4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94BD6CD-D7DC-A4E9-FD78-EA239F4F5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4C0C722-544A-95F1-1DAD-FAD83B663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15BCDEF-8A4D-1FA5-888F-D5A3A2C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2EE0-C06F-41F5-AFE0-7056E3A01EDC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1C4BD8F-AAAC-F32F-ABC2-37A3D3BC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DA79EF9-CB21-BEC5-2A25-591C945D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76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BACBD3-5050-C329-F415-37149188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C4B2BE8C-8AFF-7B97-17DD-E10D476C8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6B1A6C9-352E-F0FC-857A-200063A76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96AEC32-A02D-AF36-A64E-290A392B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05E1-88D0-4311-A599-0C8A6973053A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6B0ECF5-F111-F43D-1DD0-2623EE22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3ED8375-499D-DCA7-5D7B-91DD95B7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11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E933A4-C03D-26A7-C451-392D04E6A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339E290-0E60-50DC-3A6D-AFC921C4E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DDBB31-5065-A920-BCE3-A6379F318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EA562-091E-45D6-BEDF-3C68FB2023F1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650F398-CC52-3E67-DDF6-C862313C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272AE45-AD9E-08FA-1F71-75DFC9E0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35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0AF91D67-8C5B-5055-B5D2-6BAAE7E95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4D31080-7646-1B9C-C36F-D2F6BB874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DA404C4-6EA5-D815-E9B2-7CDBB94E9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4D94-52B8-43E9-A8F3-BD9E24437DA3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7EFDD0D-44E3-A86F-6F17-A722DA9F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3E417A5-F8F0-AA31-71DF-34D65849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39A89A0B-DE9F-F1C6-643E-DCA32D53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953DDAA-3094-DBCE-F38B-123FB91F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AF0BF9E-5E8A-1649-84DC-281A5BAAC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C827E-01D8-46AF-B9E0-11E08B19BA59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DEDD1E-16D6-9C67-B90A-3F23927ED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5FC0268-EDD9-BFDA-9A07-5241871BF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367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6141493" y="1535723"/>
            <a:ext cx="13648" cy="532227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506796" y="4097983"/>
            <a:ext cx="2443370" cy="276999"/>
          </a:xfrm>
          <a:prstGeom prst="rect">
            <a:avLst/>
          </a:prstGeom>
          <a:solidFill>
            <a:srgbClr val="F5E47F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rPr>
              <a:t>ANN,CNN,RNN</a:t>
            </a:r>
            <a:endParaRPr lang="en-IN" sz="1200" dirty="0">
              <a:latin typeface="Bahnschrift Ligh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08276" y="2590642"/>
            <a:ext cx="2564728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Bahnschrift Light" pitchFamily="34" charset="0"/>
                <a:ea typeface="Arial Unicode MS" pitchFamily="34" charset="-128"/>
                <a:cs typeface="Arial Unicode MS" pitchFamily="34" charset="-128"/>
              </a:rPr>
              <a:t>Backward error propagation</a:t>
            </a:r>
            <a:endParaRPr lang="en-IN" sz="1200" dirty="0">
              <a:latin typeface="Bahnschrift Ligh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23039" y="1542342"/>
            <a:ext cx="2564729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Bahnschrift Light" pitchFamily="34" charset="0"/>
                <a:ea typeface="Arial Unicode MS" pitchFamily="34" charset="-128"/>
                <a:cs typeface="Arial Unicode MS" pitchFamily="34" charset="-128"/>
              </a:rPr>
              <a:t>Neural Network –How it works</a:t>
            </a:r>
            <a:endParaRPr lang="en-IN" sz="1200" dirty="0">
              <a:latin typeface="Bahnschrift Ligh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1126638" y="1038851"/>
            <a:ext cx="1093640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506796" y="4466783"/>
            <a:ext cx="2421558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Bahnschrift Light" pitchFamily="34" charset="0"/>
                <a:ea typeface="Arial Unicode MS" pitchFamily="34" charset="-128"/>
                <a:cs typeface="Arial Unicode MS" pitchFamily="34" charset="-128"/>
              </a:rPr>
              <a:t>ANN</a:t>
            </a:r>
            <a:endParaRPr lang="en-IN" sz="1200" dirty="0">
              <a:latin typeface="Bahnschrift Ligh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3" name="TextBox 12">
            <a:hlinkClick r:id="" action="ppaction://noaction"/>
          </p:cNvPr>
          <p:cNvSpPr txBox="1"/>
          <p:nvPr/>
        </p:nvSpPr>
        <p:spPr>
          <a:xfrm>
            <a:off x="1506796" y="4788897"/>
            <a:ext cx="2421558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Bahnschrift Light" pitchFamily="34" charset="0"/>
                <a:ea typeface="Arial Unicode MS" pitchFamily="34" charset="-128"/>
                <a:cs typeface="Arial Unicode MS" pitchFamily="34" charset="-128"/>
                <a:hlinkClick r:id="" action="ppaction://noaction"/>
              </a:rPr>
              <a:t>RNN</a:t>
            </a:r>
            <a:endParaRPr lang="en-IN" sz="1200" dirty="0">
              <a:latin typeface="Bahnschrift Ligh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467226" y="5161273"/>
            <a:ext cx="2443370" cy="837354"/>
            <a:chOff x="1871428" y="3642863"/>
            <a:chExt cx="2443370" cy="837354"/>
          </a:xfrm>
        </p:grpSpPr>
        <p:sp>
          <p:nvSpPr>
            <p:cNvPr id="14" name="TextBox 13">
              <a:hlinkClick r:id="" action="ppaction://noaction"/>
            </p:cNvPr>
            <p:cNvSpPr txBox="1"/>
            <p:nvPr/>
          </p:nvSpPr>
          <p:spPr>
            <a:xfrm>
              <a:off x="1871428" y="3642863"/>
              <a:ext cx="2443370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rPr>
                <a:t>Type of RNN</a:t>
              </a:r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19" name="TextBox 18">
              <a:hlinkClick r:id="" action="ppaction://noaction"/>
            </p:cNvPr>
            <p:cNvSpPr txBox="1"/>
            <p:nvPr/>
          </p:nvSpPr>
          <p:spPr>
            <a:xfrm>
              <a:off x="1871428" y="3919862"/>
              <a:ext cx="2443370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rPr>
                <a:t>Problem with RNN</a:t>
              </a:r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0" name="TextBox 19">
              <a:hlinkClick r:id="" action="ppaction://noaction"/>
            </p:cNvPr>
            <p:cNvSpPr txBox="1"/>
            <p:nvPr/>
          </p:nvSpPr>
          <p:spPr>
            <a:xfrm>
              <a:off x="1871428" y="4203218"/>
              <a:ext cx="2443370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  <a:hlinkClick r:id="" action="ppaction://noaction"/>
                </a:rPr>
                <a:t>LSTM</a:t>
              </a:r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21" name="TextBox 20">
            <a:hlinkClick r:id="" action="ppaction://noaction"/>
          </p:cNvPr>
          <p:cNvSpPr txBox="1"/>
          <p:nvPr/>
        </p:nvSpPr>
        <p:spPr>
          <a:xfrm>
            <a:off x="1506796" y="3778904"/>
            <a:ext cx="2443370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Bahnschrift Light" pitchFamily="34" charset="0"/>
                <a:ea typeface="Arial Unicode MS" pitchFamily="34" charset="-128"/>
                <a:cs typeface="Arial Unicode MS" pitchFamily="34" charset="-128"/>
              </a:rPr>
              <a:t>Time Series Data</a:t>
            </a:r>
            <a:endParaRPr lang="en-IN" sz="1200" dirty="0">
              <a:latin typeface="Bahnschrift Ligh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38922" y="4557681"/>
            <a:ext cx="2564728" cy="276999"/>
          </a:xfrm>
          <a:prstGeom prst="rect">
            <a:avLst/>
          </a:prstGeom>
          <a:solidFill>
            <a:srgbClr val="FFCC29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latin typeface="Bahnschrift Light" pitchFamily="34" charset="0"/>
                <a:ea typeface="Arial Unicode MS" pitchFamily="34" charset="-128"/>
                <a:cs typeface="Arial Unicode MS" pitchFamily="34" charset="-128"/>
              </a:defRPr>
            </a:lvl1pPr>
          </a:lstStyle>
          <a:p>
            <a:r>
              <a:rPr lang="en-IN" dirty="0"/>
              <a:t>Neural Network-Layman term</a:t>
            </a:r>
          </a:p>
        </p:txBody>
      </p:sp>
      <p:sp>
        <p:nvSpPr>
          <p:cNvPr id="23" name="Google Shape;143;p1">
            <a:extLst>
              <a:ext uri="{FF2B5EF4-FFF2-40B4-BE49-F238E27FC236}">
                <a16:creationId xmlns="" xmlns:a16="http://schemas.microsoft.com/office/drawing/2014/main" id="{E4949A97-DC03-56A5-2E5A-3DD3913AA0EF}"/>
              </a:ext>
            </a:extLst>
          </p:cNvPr>
          <p:cNvSpPr txBox="1">
            <a:spLocks noGrp="1"/>
          </p:cNvSpPr>
          <p:nvPr/>
        </p:nvSpPr>
        <p:spPr>
          <a:xfrm>
            <a:off x="1774208" y="193757"/>
            <a:ext cx="4951915" cy="1113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sz="4400" b="1" dirty="0" smtClean="0">
                <a:solidFill>
                  <a:schemeClr val="tx1"/>
                </a:solidFill>
                <a:latin typeface="Segoe UI Black" pitchFamily="34" charset="0"/>
                <a:ea typeface="Segoe UI Black" pitchFamily="34" charset="0"/>
              </a:rPr>
              <a:t>Neural Network</a:t>
            </a:r>
          </a:p>
          <a:p>
            <a:endParaRPr lang="it-IT" sz="4000" b="1" dirty="0">
              <a:solidFill>
                <a:schemeClr val="tx1"/>
              </a:solidFill>
            </a:endParaRPr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51" y="1"/>
            <a:ext cx="1903189" cy="157722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8E4B4487-5609-54AF-1FCA-AB3F6B737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8918" y="42717"/>
            <a:ext cx="3201582" cy="1240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1506796" y="1542342"/>
            <a:ext cx="2474730" cy="925166"/>
            <a:chOff x="1522475" y="1942475"/>
            <a:chExt cx="2474730" cy="925166"/>
          </a:xfrm>
        </p:grpSpPr>
        <p:sp>
          <p:nvSpPr>
            <p:cNvPr id="9" name="TextBox 8"/>
            <p:cNvSpPr txBox="1"/>
            <p:nvPr/>
          </p:nvSpPr>
          <p:spPr>
            <a:xfrm>
              <a:off x="1522476" y="1942475"/>
              <a:ext cx="2474729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rPr>
                <a:t>Neural network &amp; History</a:t>
              </a:r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522475" y="2262356"/>
              <a:ext cx="2474729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rPr>
                <a:t>Component of Neural network</a:t>
              </a:r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522476" y="2590642"/>
              <a:ext cx="2474729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  <a:hlinkClick r:id="" action="ppaction://noaction"/>
                </a:rPr>
                <a:t>Activation Function</a:t>
              </a:r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4580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199370" y="5117964"/>
            <a:ext cx="1573829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IN" sz="1600" dirty="0"/>
              <a:t>feed forward NN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21701" y="2558114"/>
            <a:ext cx="2502545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IN" sz="1600" dirty="0"/>
              <a:t>Vanishing Gradient </a:t>
            </a:r>
            <a:r>
              <a:rPr lang="en-IN" sz="1600" dirty="0" smtClean="0"/>
              <a:t>Problem</a:t>
            </a:r>
            <a:endParaRPr lang="en-IN" sz="1600" dirty="0"/>
          </a:p>
        </p:txBody>
      </p:sp>
      <p:sp>
        <p:nvSpPr>
          <p:cNvPr id="7" name="Rectangle 6"/>
          <p:cNvSpPr/>
          <p:nvPr/>
        </p:nvSpPr>
        <p:spPr>
          <a:xfrm>
            <a:off x="7073758" y="1049600"/>
            <a:ext cx="1261884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IN" dirty="0"/>
              <a:t>Time Series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219150" y="4142067"/>
            <a:ext cx="848309" cy="338554"/>
          </a:xfrm>
          <a:prstGeom prst="rect">
            <a:avLst/>
          </a:prstGeom>
          <a:solidFill>
            <a:srgbClr val="00CC99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IN" sz="1600" dirty="0"/>
              <a:t>Sigmoid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75759" y="1913185"/>
            <a:ext cx="601447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IN" sz="1600" dirty="0"/>
              <a:t>TanH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24487" y="1740903"/>
            <a:ext cx="549766" cy="33855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IN" sz="1600" dirty="0"/>
              <a:t>Relu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614" y="1115311"/>
            <a:ext cx="1951175" cy="307777"/>
          </a:xfrm>
          <a:prstGeom prst="rect">
            <a:avLst/>
          </a:prstGeom>
          <a:solidFill>
            <a:srgbClr val="FF6743"/>
          </a:solidFill>
          <a:ln>
            <a:solidFill>
              <a:srgbClr val="FF6743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latin typeface="Arial Rounded MT Bold" pitchFamily="34" charset="0"/>
              </a:rPr>
              <a:t>Loss </a:t>
            </a:r>
            <a:r>
              <a:rPr lang="en-US" dirty="0" smtClean="0">
                <a:latin typeface="Arial Rounded MT Bold" pitchFamily="34" charset="0"/>
              </a:rPr>
              <a:t>/Cost Function </a:t>
            </a:r>
            <a:endParaRPr lang="en-IN" dirty="0">
              <a:latin typeface="Arial Rounded MT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13206" y="3574871"/>
            <a:ext cx="1412118" cy="307777"/>
          </a:xfrm>
          <a:prstGeom prst="rect">
            <a:avLst/>
          </a:prstGeom>
          <a:solidFill>
            <a:srgbClr val="FF6743"/>
          </a:solidFill>
          <a:ln>
            <a:solidFill>
              <a:srgbClr val="FF6743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  <a:latin typeface="Arial Rounded MT Bold" pitchFamily="34" charset="0"/>
              </a:rPr>
              <a:t>Learning Rate</a:t>
            </a:r>
            <a:endParaRPr lang="en-IN" sz="1400" dirty="0">
              <a:solidFill>
                <a:schemeClr val="bg1"/>
              </a:solidFill>
              <a:latin typeface="Arial Rounded MT Bold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39614" y="740545"/>
            <a:ext cx="1720664" cy="307777"/>
          </a:xfrm>
          <a:prstGeom prst="rect">
            <a:avLst/>
          </a:prstGeom>
          <a:solidFill>
            <a:srgbClr val="FF6743"/>
          </a:solidFill>
          <a:ln>
            <a:solidFill>
              <a:srgbClr val="FF6743"/>
            </a:solidFill>
          </a:ln>
        </p:spPr>
        <p:txBody>
          <a:bodyPr wrap="non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Arial Rounded MT Bold" pitchFamily="34" charset="0"/>
              </a:rPr>
              <a:t>Gradient </a:t>
            </a:r>
            <a:r>
              <a:rPr lang="en-IN" sz="1400" dirty="0" smtClean="0">
                <a:solidFill>
                  <a:schemeClr val="bg1"/>
                </a:solidFill>
                <a:latin typeface="Arial Rounded MT Bold" pitchFamily="34" charset="0"/>
              </a:rPr>
              <a:t>Descent</a:t>
            </a:r>
            <a:endParaRPr lang="en-IN" sz="1400" dirty="0">
              <a:solidFill>
                <a:schemeClr val="bg1"/>
              </a:solidFill>
              <a:latin typeface="Arial Rounded MT Bold" pitchFamily="34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109182" y="105120"/>
            <a:ext cx="11969087" cy="6237066"/>
            <a:chOff x="240961" y="259267"/>
            <a:chExt cx="11969087" cy="6237066"/>
          </a:xfrm>
        </p:grpSpPr>
        <p:grpSp>
          <p:nvGrpSpPr>
            <p:cNvPr id="3" name="Group 2"/>
            <p:cNvGrpSpPr/>
            <p:nvPr/>
          </p:nvGrpSpPr>
          <p:grpSpPr>
            <a:xfrm>
              <a:off x="240961" y="596463"/>
              <a:ext cx="11969087" cy="5899870"/>
              <a:chOff x="240961" y="596463"/>
              <a:chExt cx="11969087" cy="5899870"/>
            </a:xfrm>
          </p:grpSpPr>
          <p:grpSp>
            <p:nvGrpSpPr>
              <p:cNvPr id="18" name="Group 17"/>
              <p:cNvGrpSpPr/>
              <p:nvPr/>
            </p:nvGrpSpPr>
            <p:grpSpPr>
              <a:xfrm>
                <a:off x="240961" y="596463"/>
                <a:ext cx="11969087" cy="5899869"/>
                <a:chOff x="-664863" y="576834"/>
                <a:chExt cx="11969087" cy="5899869"/>
              </a:xfrm>
            </p:grpSpPr>
            <p:cxnSp>
              <p:nvCxnSpPr>
                <p:cNvPr id="14" name="Straight Connector 13"/>
                <p:cNvCxnSpPr/>
                <p:nvPr/>
              </p:nvCxnSpPr>
              <p:spPr>
                <a:xfrm>
                  <a:off x="-664863" y="576834"/>
                  <a:ext cx="11969087" cy="3731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/>
                <p:cNvCxnSpPr/>
                <p:nvPr/>
              </p:nvCxnSpPr>
              <p:spPr>
                <a:xfrm>
                  <a:off x="5950567" y="594518"/>
                  <a:ext cx="0" cy="588218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7" name="Straight Connector 16"/>
              <p:cNvCxnSpPr/>
              <p:nvPr/>
            </p:nvCxnSpPr>
            <p:spPr>
              <a:xfrm>
                <a:off x="3318681" y="614148"/>
                <a:ext cx="0" cy="5882185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Flowchart: Connector 18"/>
            <p:cNvSpPr/>
            <p:nvPr/>
          </p:nvSpPr>
          <p:spPr>
            <a:xfrm>
              <a:off x="371393" y="259267"/>
              <a:ext cx="324000" cy="324000"/>
            </a:xfrm>
            <a:prstGeom prst="flowChartConnector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Arial Rounded MT Bold" pitchFamily="34" charset="0"/>
                </a:rPr>
                <a:t>1</a:t>
              </a:r>
              <a:endParaRPr lang="en-IN" sz="1600" dirty="0">
                <a:latin typeface="Arial Rounded MT Bold" pitchFamily="34" charset="0"/>
              </a:endParaRPr>
            </a:p>
          </p:txBody>
        </p:sp>
        <p:sp>
          <p:nvSpPr>
            <p:cNvPr id="20" name="Flowchart: Connector 19"/>
            <p:cNvSpPr/>
            <p:nvPr/>
          </p:nvSpPr>
          <p:spPr>
            <a:xfrm>
              <a:off x="3476409" y="259267"/>
              <a:ext cx="324000" cy="324000"/>
            </a:xfrm>
            <a:prstGeom prst="flowChartConnector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Arial Rounded MT Bold" pitchFamily="34" charset="0"/>
                </a:rPr>
                <a:t>2</a:t>
              </a:r>
              <a:endParaRPr lang="en-IN" sz="1600" dirty="0">
                <a:latin typeface="Arial Rounded MT Bold" pitchFamily="34" charset="0"/>
              </a:endParaRPr>
            </a:p>
          </p:txBody>
        </p:sp>
        <p:sp>
          <p:nvSpPr>
            <p:cNvPr id="21" name="Flowchart: Connector 20"/>
            <p:cNvSpPr/>
            <p:nvPr/>
          </p:nvSpPr>
          <p:spPr>
            <a:xfrm>
              <a:off x="7037370" y="272463"/>
              <a:ext cx="324000" cy="324000"/>
            </a:xfrm>
            <a:prstGeom prst="flowChartConnector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Arial Rounded MT Bold" pitchFamily="34" charset="0"/>
                </a:rPr>
                <a:t>3</a:t>
              </a:r>
              <a:endParaRPr lang="en-IN" sz="1600" dirty="0">
                <a:latin typeface="Arial Rounded MT Bold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2006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5" name="Rectangle 4"/>
          <p:cNvSpPr/>
          <p:nvPr/>
        </p:nvSpPr>
        <p:spPr>
          <a:xfrm>
            <a:off x="981694" y="521018"/>
            <a:ext cx="1029986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If </a:t>
            </a:r>
            <a:r>
              <a:rPr lang="en-US" sz="1400" dirty="0" smtClean="0"/>
              <a:t>any data </a:t>
            </a:r>
            <a:r>
              <a:rPr lang="en-US" sz="1400" dirty="0"/>
              <a:t>is changing every </a:t>
            </a:r>
            <a:r>
              <a:rPr lang="en-US" sz="1400" dirty="0" smtClean="0"/>
              <a:t>seconds. If we recorded or collected that data over a time, These </a:t>
            </a:r>
            <a:r>
              <a:rPr lang="en-US" sz="1400" dirty="0"/>
              <a:t>data are called </a:t>
            </a:r>
            <a:r>
              <a:rPr lang="en-US" sz="1400" dirty="0" smtClean="0"/>
              <a:t> </a:t>
            </a:r>
            <a:r>
              <a:rPr lang="en-US" sz="1400" dirty="0" smtClean="0">
                <a:latin typeface="Cascadia Code SemiBold" pitchFamily="49" charset="0"/>
                <a:cs typeface="Cascadia Code SemiBold" pitchFamily="49" charset="0"/>
              </a:rPr>
              <a:t>time </a:t>
            </a:r>
            <a:r>
              <a:rPr lang="en-US" sz="1400" dirty="0">
                <a:latin typeface="Cascadia Code SemiBold" pitchFamily="49" charset="0"/>
                <a:cs typeface="Cascadia Code SemiBold" pitchFamily="49" charset="0"/>
              </a:rPr>
              <a:t>series data</a:t>
            </a:r>
            <a:endParaRPr lang="en-IN" sz="1400" dirty="0">
              <a:latin typeface="Cascadia Code SemiBold" pitchFamily="49" charset="0"/>
              <a:cs typeface="Cascadia Code SemiBold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61111" y="1415672"/>
            <a:ext cx="2652157" cy="954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400" dirty="0"/>
              <a:t>Stock price</a:t>
            </a:r>
          </a:p>
          <a:p>
            <a:r>
              <a:rPr lang="en-US" sz="1400" dirty="0"/>
              <a:t>Daily </a:t>
            </a:r>
            <a:r>
              <a:rPr lang="en-US" sz="1400" dirty="0" smtClean="0"/>
              <a:t>Temperature Reading</a:t>
            </a:r>
            <a:endParaRPr lang="en-US" sz="1400" dirty="0"/>
          </a:p>
          <a:p>
            <a:r>
              <a:rPr lang="en-US" sz="1400" dirty="0" smtClean="0"/>
              <a:t>Heart Rate</a:t>
            </a:r>
            <a:endParaRPr lang="en-US" sz="1400" dirty="0"/>
          </a:p>
          <a:p>
            <a:r>
              <a:rPr lang="en-US" sz="1400" dirty="0" smtClean="0"/>
              <a:t>IOT - Sensor reading Data</a:t>
            </a:r>
            <a:endParaRPr lang="en-IN" sz="14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439387" y="152904"/>
            <a:ext cx="2232561" cy="307777"/>
            <a:chOff x="439387" y="152904"/>
            <a:chExt cx="2232561" cy="307777"/>
          </a:xfrm>
        </p:grpSpPr>
        <p:sp>
          <p:nvSpPr>
            <p:cNvPr id="2" name="Rectangle 1"/>
            <p:cNvSpPr/>
            <p:nvPr/>
          </p:nvSpPr>
          <p:spPr>
            <a:xfrm>
              <a:off x="579709" y="152904"/>
              <a:ext cx="1568995" cy="307777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solidFill>
                    <a:schemeClr val="bg1"/>
                  </a:solidFill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rPr>
                <a:t>Time </a:t>
              </a:r>
              <a:r>
                <a:rPr lang="en-IN" sz="1400" dirty="0" smtClean="0">
                  <a:solidFill>
                    <a:schemeClr val="bg1"/>
                  </a:solidFill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rPr>
                <a:t>Series Data</a:t>
              </a:r>
              <a:endParaRPr lang="en-IN" sz="1400" dirty="0">
                <a:solidFill>
                  <a:schemeClr val="bg1"/>
                </a:solidFill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439387" y="153886"/>
              <a:ext cx="2232561" cy="1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4919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37449</TotalTime>
  <Words>120</Words>
  <Application>Microsoft Office PowerPoint</Application>
  <PresentationFormat>Custom</PresentationFormat>
  <Paragraphs>38</Paragraphs>
  <Slides>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Naman Narula</dc:creator>
  <cp:lastModifiedBy>User</cp:lastModifiedBy>
  <cp:revision>1573</cp:revision>
  <dcterms:created xsi:type="dcterms:W3CDTF">2024-01-26T15:11:46Z</dcterms:created>
  <dcterms:modified xsi:type="dcterms:W3CDTF">2025-12-31T18:41:50Z</dcterms:modified>
</cp:coreProperties>
</file>