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85" r:id="rId3"/>
    <p:sldId id="374" r:id="rId4"/>
    <p:sldId id="375" r:id="rId5"/>
    <p:sldId id="376" r:id="rId6"/>
    <p:sldId id="377" r:id="rId7"/>
    <p:sldId id="378" r:id="rId8"/>
    <p:sldId id="379" r:id="rId9"/>
    <p:sldId id="380" r:id="rId10"/>
    <p:sldId id="373" r:id="rId11"/>
    <p:sldId id="344" r:id="rId12"/>
    <p:sldId id="370" r:id="rId13"/>
    <p:sldId id="371" r:id="rId14"/>
    <p:sldId id="372" r:id="rId15"/>
    <p:sldId id="360" r:id="rId16"/>
    <p:sldId id="361" r:id="rId17"/>
    <p:sldId id="336" r:id="rId18"/>
    <p:sldId id="359" r:id="rId19"/>
    <p:sldId id="340" r:id="rId20"/>
    <p:sldId id="341" r:id="rId21"/>
    <p:sldId id="358" r:id="rId22"/>
    <p:sldId id="357" r:id="rId23"/>
    <p:sldId id="362" r:id="rId24"/>
    <p:sldId id="345" r:id="rId25"/>
    <p:sldId id="363" r:id="rId26"/>
    <p:sldId id="364" r:id="rId27"/>
    <p:sldId id="346" r:id="rId28"/>
    <p:sldId id="365" r:id="rId29"/>
    <p:sldId id="355" r:id="rId30"/>
    <p:sldId id="343" r:id="rId31"/>
    <p:sldId id="354" r:id="rId32"/>
    <p:sldId id="366" r:id="rId33"/>
    <p:sldId id="368" r:id="rId34"/>
    <p:sldId id="369" r:id="rId35"/>
    <p:sldId id="356" r:id="rId36"/>
    <p:sldId id="348" r:id="rId37"/>
    <p:sldId id="342" r:id="rId38"/>
    <p:sldId id="36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53F305DE-E919-46C9-8C7C-4B59AF1E2526}">
          <p14:sldIdLst>
            <p14:sldId id="256"/>
            <p14:sldId id="285"/>
          </p14:sldIdLst>
        </p14:section>
        <p14:section name="Tokenization" id="{0BDAD477-ABD2-4FB7-B9AE-79FE2B69FE2D}">
          <p14:sldIdLst>
            <p14:sldId id="374"/>
            <p14:sldId id="375"/>
            <p14:sldId id="376"/>
          </p14:sldIdLst>
        </p14:section>
        <p14:section name="Stop word" id="{4558BF34-B4E2-44BB-BD51-A97198ACEB33}">
          <p14:sldIdLst>
            <p14:sldId id="377"/>
          </p14:sldIdLst>
        </p14:section>
        <p14:section name="Stemming" id="{BDC74AB1-88BC-444B-B6B5-E55107711B72}">
          <p14:sldIdLst>
            <p14:sldId id="378"/>
            <p14:sldId id="379"/>
          </p14:sldIdLst>
        </p14:section>
        <p14:section name="Lemmatization" id="{C2A957FC-6701-4F15-9735-F001C1102B95}">
          <p14:sldIdLst>
            <p14:sldId id="380"/>
            <p14:sldId id="373"/>
          </p14:sldIdLst>
        </p14:section>
        <p14:section name="Terminalogies" id="{07A2C24B-26EA-4AE5-BE13-33C5B646A4C3}">
          <p14:sldIdLst>
            <p14:sldId id="344"/>
            <p14:sldId id="370"/>
            <p14:sldId id="371"/>
            <p14:sldId id="372"/>
            <p14:sldId id="360"/>
            <p14:sldId id="361"/>
            <p14:sldId id="336"/>
            <p14:sldId id="359"/>
            <p14:sldId id="340"/>
          </p14:sldIdLst>
        </p14:section>
        <p14:section name="POS and Named Entity Recognition" id="{4FFF47D9-B0F5-4732-9B0A-3986389A36FF}">
          <p14:sldIdLst>
            <p14:sldId id="341"/>
            <p14:sldId id="358"/>
          </p14:sldIdLst>
        </p14:section>
        <p14:section name="Word Embedding" id="{CF7C955C-C2BE-496D-BD33-90512C136583}">
          <p14:sldIdLst>
            <p14:sldId id="357"/>
            <p14:sldId id="362"/>
          </p14:sldIdLst>
        </p14:section>
        <p14:section name="One Hot Encoding" id="{66BBE997-6E7E-4763-939F-103F6D4CD68E}">
          <p14:sldIdLst>
            <p14:sldId id="345"/>
            <p14:sldId id="363"/>
            <p14:sldId id="364"/>
          </p14:sldIdLst>
        </p14:section>
        <p14:section name="Bag Of Word" id="{4895683D-B05F-49EF-8866-851D8E9A0F80}">
          <p14:sldIdLst>
            <p14:sldId id="346"/>
            <p14:sldId id="365"/>
          </p14:sldIdLst>
        </p14:section>
        <p14:section name="TF-IDF" id="{6B13137E-24B4-4FC3-A8C5-8C2F3BEB0B4B}">
          <p14:sldIdLst>
            <p14:sldId id="355"/>
            <p14:sldId id="343"/>
          </p14:sldIdLst>
        </p14:section>
        <p14:section name="Word2Vec" id="{C6EF93A9-EBA4-4ADA-96D4-C9A6D18729F0}">
          <p14:sldIdLst>
            <p14:sldId id="354"/>
            <p14:sldId id="366"/>
            <p14:sldId id="368"/>
            <p14:sldId id="369"/>
          </p14:sldIdLst>
        </p14:section>
        <p14:section name="Untitled Section" id="{8E584B18-098C-4FDC-A7CA-9419F12B83F2}">
          <p14:sldIdLst>
            <p14:sldId id="356"/>
            <p14:sldId id="348"/>
          </p14:sldIdLst>
        </p14:section>
        <p14:section name="Untitled Section" id="{A7C399FA-1A4B-4FB9-BD03-52884846257F}">
          <p14:sldIdLst>
            <p14:sldId id="342"/>
            <p14:sldId id="367"/>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FF0066"/>
    <a:srgbClr val="00CC99"/>
    <a:srgbClr val="F2DB5B"/>
    <a:srgbClr val="D7C055"/>
    <a:srgbClr val="00D05E"/>
    <a:srgbClr val="15C2FF"/>
    <a:srgbClr val="000000"/>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17" autoAdjust="0"/>
    <p:restoredTop sz="86073" autoAdjust="0"/>
  </p:normalViewPr>
  <p:slideViewPr>
    <p:cSldViewPr snapToGrid="0">
      <p:cViewPr>
        <p:scale>
          <a:sx n="81" d="100"/>
          <a:sy n="81" d="100"/>
        </p:scale>
        <p:origin x="-216" y="-3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63"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17-11-2025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38</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11/17/2025</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11/17/2025</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11/17/2025</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11/17/2025</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11/17/2025</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11/17/2025</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11/17/2025</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11/17/2025</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11/17/2025</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11/17/2025</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11/17/2025</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11/17/2025</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slide" Target="slide24.xml"/><Relationship Id="rId4" Type="http://schemas.openxmlformats.org/officeDocument/2006/relationships/slide" Target="slide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D93965-B794-0D3F-19B2-6E5CEF59071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929A6F4B-4B22-0928-2DBA-1E63C9DE5B4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6745C555-155A-8408-E6E3-22A172F35158}"/>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a16="http://schemas.microsoft.com/office/drawing/2014/main" xmlns="" id="{2462335E-6BA0-9E39-D941-3E40EF2A0890}"/>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xmlns="" id="{3352634E-F25A-906D-E090-61E107EA9685}"/>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F78D711A-98A9-0CA9-87DC-706B4F2660D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xmlns="" id="{3863E5A6-EF6F-E241-ED54-B76BF010896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a16="http://schemas.microsoft.com/office/drawing/2014/main" xmlns="" id="{E4949A97-DC03-56A5-2E5A-3DD3913AA0EF}"/>
              </a:ext>
            </a:extLst>
          </p:cNvPr>
          <p:cNvSpPr txBox="1">
            <a:spLocks noGrp="1"/>
          </p:cNvSpPr>
          <p:nvPr/>
        </p:nvSpPr>
        <p:spPr>
          <a:xfrm>
            <a:off x="2095052" y="410635"/>
            <a:ext cx="7846117" cy="67993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b="1" dirty="0">
                <a:solidFill>
                  <a:schemeClr val="tx1"/>
                </a:solidFill>
              </a:rPr>
              <a:t>Basic Terminologies &amp; Text </a:t>
            </a:r>
            <a:r>
              <a:rPr lang="en-US" sz="3200" b="1" dirty="0" smtClean="0">
                <a:solidFill>
                  <a:schemeClr val="tx1"/>
                </a:solidFill>
              </a:rPr>
              <a:t>Processing</a:t>
            </a:r>
            <a:endParaRPr lang="en-US" sz="3200" b="1" dirty="0">
              <a:solidFill>
                <a:schemeClr val="tx1"/>
              </a:solidFill>
            </a:endParaRPr>
          </a:p>
        </p:txBody>
      </p:sp>
      <p:sp>
        <p:nvSpPr>
          <p:cNvPr id="5" name="Footer Placeholder 4">
            <a:extLst>
              <a:ext uri="{FF2B5EF4-FFF2-40B4-BE49-F238E27FC236}">
                <a16:creationId xmlns:a16="http://schemas.microsoft.com/office/drawing/2014/main" xmlns="" id="{2D627D9A-CDBE-20A9-3FA1-63D5E507D783}"/>
              </a:ext>
            </a:extLst>
          </p:cNvPr>
          <p:cNvSpPr>
            <a:spLocks noGrp="1"/>
          </p:cNvSpPr>
          <p:nvPr>
            <p:ph type="ftr" sz="quarter" idx="11"/>
          </p:nvPr>
        </p:nvSpPr>
        <p:spPr/>
        <p:txBody>
          <a:bodyPr/>
          <a:lstStyle/>
          <a:p>
            <a:r>
              <a:rPr lang="en-US" dirty="0"/>
              <a:t>Navigating the Future of Learning​</a:t>
            </a:r>
          </a:p>
        </p:txBody>
      </p:sp>
      <p:pic>
        <p:nvPicPr>
          <p:cNvPr id="13" name="Picture 12">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0259" y="3137754"/>
            <a:ext cx="4287056" cy="166064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0594" y="2567575"/>
            <a:ext cx="2773879" cy="2298795"/>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ectangle 15"/>
          <p:cNvSpPr/>
          <p:nvPr/>
        </p:nvSpPr>
        <p:spPr>
          <a:xfrm>
            <a:off x="10837988" y="5136633"/>
            <a:ext cx="1160895" cy="369332"/>
          </a:xfrm>
          <a:prstGeom prst="rect">
            <a:avLst/>
          </a:prstGeom>
        </p:spPr>
        <p:txBody>
          <a:bodyPr wrap="none">
            <a:spAutoFit/>
          </a:bodyPr>
          <a:lstStyle/>
          <a:p>
            <a:r>
              <a:rPr lang="en-US" dirty="0" smtClean="0">
                <a:latin typeface="Bahnschrift" pitchFamily="34" charset="0"/>
              </a:rPr>
              <a:t>July 2025</a:t>
            </a:r>
            <a:endParaRPr lang="en-US" dirty="0">
              <a:latin typeface="Bahnschrift" pitchFamily="34" charset="0"/>
            </a:endParaRPr>
          </a:p>
        </p:txBody>
      </p:sp>
    </p:spTree>
    <p:extLst>
      <p:ext uri="{BB962C8B-B14F-4D97-AF65-F5344CB8AC3E}">
        <p14:creationId xmlns:p14="http://schemas.microsoft.com/office/powerpoint/2010/main" val="1156748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6141493" y="1535723"/>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537559" y="3269795"/>
            <a:ext cx="4440760"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pPr marL="171450" indent="-171450">
              <a:buFont typeface="Wingdings" pitchFamily="2" charset="2"/>
              <a:buChar char="§"/>
            </a:pPr>
            <a:r>
              <a:rPr lang="en-US" sz="1200" dirty="0">
                <a:latin typeface="Bahnschrift Light" pitchFamily="34" charset="0"/>
                <a:ea typeface="Arial Unicode MS" pitchFamily="34" charset="-128"/>
                <a:cs typeface="Arial Unicode MS" pitchFamily="34" charset="-128"/>
              </a:rPr>
              <a:t>Text Cleaning | Text Tokenization | Text Normalization</a:t>
            </a:r>
            <a:endParaRPr lang="en-IN" sz="1200" dirty="0">
              <a:latin typeface="Bahnschrift Light" pitchFamily="34" charset="0"/>
              <a:ea typeface="Arial Unicode MS" pitchFamily="34" charset="-128"/>
              <a:cs typeface="Arial Unicode MS" pitchFamily="34" charset="-128"/>
            </a:endParaRPr>
          </a:p>
        </p:txBody>
      </p:sp>
      <p:sp>
        <p:nvSpPr>
          <p:cNvPr id="10" name="TextBox 9"/>
          <p:cNvSpPr txBox="1"/>
          <p:nvPr/>
        </p:nvSpPr>
        <p:spPr>
          <a:xfrm>
            <a:off x="1537559" y="3584722"/>
            <a:ext cx="4431214"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pPr marL="171450" indent="-171450">
              <a:buFont typeface="Wingdings" pitchFamily="2" charset="2"/>
              <a:buChar char="§"/>
            </a:pPr>
            <a:r>
              <a:rPr lang="en-US" sz="1200" dirty="0">
                <a:latin typeface="Bahnschrift Light" pitchFamily="34" charset="0"/>
                <a:ea typeface="Arial Unicode MS" pitchFamily="34" charset="-128"/>
                <a:cs typeface="Arial Unicode MS" pitchFamily="34" charset="-128"/>
                <a:hlinkClick r:id="rId3" action="ppaction://hlinksldjump" tooltip="hhhhhhhhhh"/>
              </a:rPr>
              <a:t>POS Tagging and Named Entity Recognition</a:t>
            </a:r>
            <a:endParaRPr lang="en-IN" sz="1200" dirty="0">
              <a:latin typeface="Bahnschrift Light" pitchFamily="34" charset="0"/>
              <a:ea typeface="Arial Unicode MS" pitchFamily="34" charset="-128"/>
              <a:cs typeface="Arial Unicode MS" pitchFamily="34" charset="-128"/>
            </a:endParaRPr>
          </a:p>
        </p:txBody>
      </p:sp>
      <p:sp>
        <p:nvSpPr>
          <p:cNvPr id="11" name="TextBox 10"/>
          <p:cNvSpPr txBox="1"/>
          <p:nvPr/>
        </p:nvSpPr>
        <p:spPr>
          <a:xfrm>
            <a:off x="1551234" y="3916362"/>
            <a:ext cx="2587949" cy="276999"/>
          </a:xfrm>
          <a:prstGeom prst="rect">
            <a:avLst/>
          </a:prstGeom>
          <a:solidFill>
            <a:schemeClr val="accent3">
              <a:lumMod val="20000"/>
              <a:lumOff val="80000"/>
            </a:schemeClr>
          </a:solidFill>
          <a:ln>
            <a:solidFill>
              <a:schemeClr val="bg1">
                <a:lumMod val="75000"/>
              </a:schemeClr>
            </a:solidFill>
          </a:ln>
        </p:spPr>
        <p:txBody>
          <a:bodyPr wrap="square" rtlCol="0">
            <a:spAutoFit/>
          </a:bodyPr>
          <a:lstStyle/>
          <a:p>
            <a:pPr marL="171450" indent="-171450">
              <a:buFont typeface="Wingdings" pitchFamily="2" charset="2"/>
              <a:buChar char="§"/>
            </a:pPr>
            <a:r>
              <a:rPr lang="en-US" sz="1200" dirty="0">
                <a:latin typeface="Bahnschrift Light" pitchFamily="34" charset="0"/>
                <a:ea typeface="Arial Unicode MS" pitchFamily="34" charset="-128"/>
                <a:cs typeface="Arial Unicode MS" pitchFamily="34" charset="-128"/>
                <a:hlinkClick r:id="rId4" action="ppaction://hlinksldjump"/>
              </a:rPr>
              <a:t>Word Embedding</a:t>
            </a:r>
            <a:endParaRPr lang="en-IN" sz="1200" dirty="0">
              <a:latin typeface="Bahnschrift Light" pitchFamily="34" charset="0"/>
              <a:ea typeface="Arial Unicode MS" pitchFamily="34" charset="-128"/>
              <a:cs typeface="Arial Unicode MS" pitchFamily="34" charset="-128"/>
            </a:endParaRPr>
          </a:p>
        </p:txBody>
      </p:sp>
      <p:sp>
        <p:nvSpPr>
          <p:cNvPr id="12" name="TextBox 11"/>
          <p:cNvSpPr txBox="1"/>
          <p:nvPr/>
        </p:nvSpPr>
        <p:spPr>
          <a:xfrm>
            <a:off x="1842134" y="4208479"/>
            <a:ext cx="2616790" cy="276999"/>
          </a:xfrm>
          <a:prstGeom prst="rect">
            <a:avLst/>
          </a:prstGeom>
          <a:solidFill>
            <a:schemeClr val="accent4">
              <a:lumMod val="20000"/>
              <a:lumOff val="80000"/>
            </a:schemeClr>
          </a:solidFill>
          <a:ln>
            <a:solidFill>
              <a:schemeClr val="bg1">
                <a:lumMod val="75000"/>
              </a:schemeClr>
            </a:solidFill>
          </a:ln>
        </p:spPr>
        <p:txBody>
          <a:bodyPr wrap="square" rtlCol="0">
            <a:spAutoFit/>
          </a:bodyPr>
          <a:lstStyle/>
          <a:p>
            <a:pPr marL="171450" indent="-171450">
              <a:buFont typeface="Wingdings" pitchFamily="2" charset="2"/>
              <a:buChar char="§"/>
            </a:pPr>
            <a:r>
              <a:rPr lang="en-US" sz="1200" dirty="0">
                <a:latin typeface="Bahnschrift Light" pitchFamily="34" charset="0"/>
                <a:ea typeface="Arial Unicode MS" pitchFamily="34" charset="-128"/>
                <a:cs typeface="Arial Unicode MS" pitchFamily="34" charset="-128"/>
                <a:hlinkClick r:id="rId5" action="ppaction://hlinksldjump"/>
              </a:rPr>
              <a:t>One Hot Encoding</a:t>
            </a:r>
            <a:endParaRPr lang="en-IN" sz="1200" dirty="0">
              <a:latin typeface="Bahnschrift Light" pitchFamily="34" charset="0"/>
              <a:ea typeface="Arial Unicode MS" pitchFamily="34" charset="-128"/>
              <a:cs typeface="Arial Unicode MS" pitchFamily="34" charset="-128"/>
            </a:endParaRPr>
          </a:p>
        </p:txBody>
      </p:sp>
      <p:sp>
        <p:nvSpPr>
          <p:cNvPr id="13" name="TextBox 12"/>
          <p:cNvSpPr txBox="1"/>
          <p:nvPr/>
        </p:nvSpPr>
        <p:spPr>
          <a:xfrm>
            <a:off x="1842134" y="4545513"/>
            <a:ext cx="2541508" cy="276999"/>
          </a:xfrm>
          <a:prstGeom prst="rect">
            <a:avLst/>
          </a:prstGeom>
          <a:solidFill>
            <a:schemeClr val="accent6">
              <a:lumMod val="20000"/>
              <a:lumOff val="80000"/>
            </a:schemeClr>
          </a:solidFill>
          <a:ln>
            <a:solidFill>
              <a:schemeClr val="bg1">
                <a:lumMod val="75000"/>
              </a:schemeClr>
            </a:solidFill>
          </a:ln>
        </p:spPr>
        <p:txBody>
          <a:bodyPr wrap="square" rtlCol="0">
            <a:spAutoFit/>
          </a:bodyPr>
          <a:lstStyle/>
          <a:p>
            <a:pPr marL="171450" indent="-171450">
              <a:buFont typeface="Wingdings" pitchFamily="2" charset="2"/>
              <a:buChar char="§"/>
            </a:pPr>
            <a:r>
              <a:rPr lang="en-US" sz="1200" dirty="0">
                <a:latin typeface="Bahnschrift Light" pitchFamily="34" charset="0"/>
                <a:cs typeface="Arial" pitchFamily="34" charset="0"/>
              </a:rPr>
              <a:t>Bag Of Word</a:t>
            </a:r>
            <a:endParaRPr lang="en-IN" sz="1200" dirty="0">
              <a:latin typeface="Bahnschrift Light" pitchFamily="34" charset="0"/>
              <a:cs typeface="Arial" pitchFamily="34" charset="0"/>
            </a:endParaRPr>
          </a:p>
        </p:txBody>
      </p:sp>
      <p:sp>
        <p:nvSpPr>
          <p:cNvPr id="14" name="TextBox 13"/>
          <p:cNvSpPr txBox="1"/>
          <p:nvPr/>
        </p:nvSpPr>
        <p:spPr>
          <a:xfrm>
            <a:off x="1842134" y="4862249"/>
            <a:ext cx="2564729" cy="276999"/>
          </a:xfrm>
          <a:prstGeom prst="rect">
            <a:avLst/>
          </a:prstGeom>
          <a:solidFill>
            <a:schemeClr val="accent4">
              <a:lumMod val="20000"/>
              <a:lumOff val="80000"/>
            </a:schemeClr>
          </a:solidFill>
          <a:ln>
            <a:solidFill>
              <a:schemeClr val="bg1">
                <a:lumMod val="85000"/>
              </a:schemeClr>
            </a:solidFill>
          </a:ln>
        </p:spPr>
        <p:txBody>
          <a:bodyPr wrap="square" rtlCol="0">
            <a:spAutoFit/>
          </a:bodyPr>
          <a:lstStyle/>
          <a:p>
            <a:pPr marL="171450" indent="-171450">
              <a:buFont typeface="Wingdings" pitchFamily="2" charset="2"/>
              <a:buChar char="§"/>
            </a:pPr>
            <a:r>
              <a:rPr lang="en-IN" sz="1200" dirty="0">
                <a:latin typeface="Bahnschrift Light" pitchFamily="34" charset="0"/>
                <a:ea typeface="Arial Unicode MS" pitchFamily="34" charset="-128"/>
                <a:cs typeface="Arial Unicode MS" pitchFamily="34" charset="-128"/>
              </a:rPr>
              <a:t>TF-IDF</a:t>
            </a:r>
          </a:p>
        </p:txBody>
      </p:sp>
      <p:sp>
        <p:nvSpPr>
          <p:cNvPr id="16" name="TextBox 15"/>
          <p:cNvSpPr txBox="1"/>
          <p:nvPr/>
        </p:nvSpPr>
        <p:spPr>
          <a:xfrm>
            <a:off x="1537559" y="5547652"/>
            <a:ext cx="2564728" cy="276999"/>
          </a:xfrm>
          <a:prstGeom prst="rect">
            <a:avLst/>
          </a:prstGeom>
          <a:solidFill>
            <a:schemeClr val="accent2">
              <a:lumMod val="40000"/>
              <a:lumOff val="6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sp>
        <p:nvSpPr>
          <p:cNvPr id="17" name="TextBox 16"/>
          <p:cNvSpPr txBox="1"/>
          <p:nvPr/>
        </p:nvSpPr>
        <p:spPr>
          <a:xfrm>
            <a:off x="1858178" y="5230087"/>
            <a:ext cx="2564729" cy="276999"/>
          </a:xfrm>
          <a:prstGeom prst="rect">
            <a:avLst/>
          </a:prstGeom>
          <a:solidFill>
            <a:schemeClr val="accent4">
              <a:lumMod val="40000"/>
              <a:lumOff val="60000"/>
            </a:schemeClr>
          </a:solidFill>
          <a:ln>
            <a:solidFill>
              <a:schemeClr val="bg1">
                <a:lumMod val="85000"/>
              </a:schemeClr>
            </a:solidFill>
          </a:ln>
        </p:spPr>
        <p:txBody>
          <a:bodyPr wrap="square" rtlCol="0">
            <a:spAutoFit/>
          </a:bodyPr>
          <a:lstStyle/>
          <a:p>
            <a:pPr marL="171450" indent="-171450">
              <a:buFont typeface="Wingdings" pitchFamily="2" charset="2"/>
              <a:buChar char="§"/>
            </a:pPr>
            <a:r>
              <a:rPr lang="en-US" sz="1200" dirty="0">
                <a:latin typeface="Bahnschrift Light" pitchFamily="34" charset="0"/>
                <a:ea typeface="Arial Unicode MS" pitchFamily="34" charset="-128"/>
                <a:cs typeface="Arial Unicode MS" pitchFamily="34" charset="-128"/>
              </a:rPr>
              <a:t>Word2Vec</a:t>
            </a:r>
            <a:endParaRPr lang="en-IN" sz="1200" dirty="0">
              <a:latin typeface="Bahnschrift Light" pitchFamily="34" charset="0"/>
              <a:ea typeface="Arial Unicode MS" pitchFamily="34" charset="-128"/>
              <a:cs typeface="Arial Unicode MS" pitchFamily="34" charset="-128"/>
            </a:endParaRPr>
          </a:p>
        </p:txBody>
      </p:sp>
      <p:sp>
        <p:nvSpPr>
          <p:cNvPr id="15" name="Google Shape;143;p1">
            <a:extLst>
              <a:ext uri="{FF2B5EF4-FFF2-40B4-BE49-F238E27FC236}">
                <a16:creationId xmlns="" xmlns:a16="http://schemas.microsoft.com/office/drawing/2014/main" id="{C9764481-C48B-F71F-0C2D-6C544B78BD03}"/>
              </a:ext>
            </a:extLst>
          </p:cNvPr>
          <p:cNvSpPr txBox="1">
            <a:spLocks noGrp="1"/>
          </p:cNvSpPr>
          <p:nvPr/>
        </p:nvSpPr>
        <p:spPr>
          <a:xfrm>
            <a:off x="1368872" y="243068"/>
            <a:ext cx="8954539" cy="756844"/>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600" b="1" dirty="0" smtClean="0">
                <a:solidFill>
                  <a:schemeClr val="tx1"/>
                </a:solidFill>
                <a:latin typeface="Bahnschrift" pitchFamily="34" charset="0"/>
              </a:rPr>
              <a:t>Index</a:t>
            </a:r>
            <a:r>
              <a:rPr lang="en-US" sz="4600" b="1" dirty="0">
                <a:solidFill>
                  <a:schemeClr val="tx1"/>
                </a:solidFill>
                <a:latin typeface="Bahnschrift" pitchFamily="34" charset="0"/>
              </a:rPr>
              <a:t> </a:t>
            </a:r>
            <a:endParaRPr sz="4600" b="1" dirty="0">
              <a:solidFill>
                <a:schemeClr val="tx1"/>
              </a:solidFill>
              <a:latin typeface="Bahnschrift" pitchFamily="34" charset="0"/>
            </a:endParaRPr>
          </a:p>
        </p:txBody>
      </p:sp>
      <p:cxnSp>
        <p:nvCxnSpPr>
          <p:cNvPr id="18" name="Straight Connector 17"/>
          <p:cNvCxnSpPr/>
          <p:nvPr/>
        </p:nvCxnSpPr>
        <p:spPr>
          <a:xfrm>
            <a:off x="1268223" y="1038851"/>
            <a:ext cx="1079482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5807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399309" y="381271"/>
            <a:ext cx="10280073" cy="369332"/>
            <a:chOff x="1399309" y="211994"/>
            <a:chExt cx="10280073" cy="369332"/>
          </a:xfrm>
          <a:solidFill>
            <a:srgbClr val="0070C0"/>
          </a:solidFill>
        </p:grpSpPr>
        <p:sp>
          <p:nvSpPr>
            <p:cNvPr id="2" name="Rectangle 1"/>
            <p:cNvSpPr/>
            <p:nvPr/>
          </p:nvSpPr>
          <p:spPr>
            <a:xfrm>
              <a:off x="1511717" y="211994"/>
              <a:ext cx="1475084" cy="369332"/>
            </a:xfrm>
            <a:prstGeom prst="rect">
              <a:avLst/>
            </a:prstGeom>
            <a:grpFill/>
            <a:ln>
              <a:solidFill>
                <a:srgbClr val="0070C0"/>
              </a:solidFill>
            </a:ln>
          </p:spPr>
          <p:txBody>
            <a:bodyPr wrap="none">
              <a:spAutoFit/>
            </a:bodyPr>
            <a:lstStyle/>
            <a:p>
              <a:r>
                <a:rPr lang="en-IN" dirty="0">
                  <a:solidFill>
                    <a:schemeClr val="bg1"/>
                  </a:solidFill>
                  <a:latin typeface="Bahnschrift" pitchFamily="34" charset="0"/>
                </a:rPr>
                <a:t>Tokenization</a:t>
              </a:r>
            </a:p>
          </p:txBody>
        </p:sp>
        <p:cxnSp>
          <p:nvCxnSpPr>
            <p:cNvPr id="5" name="Straight Connector 4"/>
            <p:cNvCxnSpPr/>
            <p:nvPr/>
          </p:nvCxnSpPr>
          <p:spPr>
            <a:xfrm>
              <a:off x="1399309" y="211994"/>
              <a:ext cx="10280073" cy="0"/>
            </a:xfrm>
            <a:prstGeom prst="line">
              <a:avLst/>
            </a:prstGeom>
            <a:grpFill/>
            <a:ln>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2092036" y="1013799"/>
            <a:ext cx="9448799" cy="338554"/>
          </a:xfrm>
          <a:prstGeom prst="rect">
            <a:avLst/>
          </a:prstGeom>
        </p:spPr>
        <p:txBody>
          <a:bodyPr wrap="square">
            <a:spAutoFit/>
          </a:bodyPr>
          <a:lstStyle/>
          <a:p>
            <a:r>
              <a:rPr lang="en-US" sz="1600" dirty="0" smtClean="0">
                <a:solidFill>
                  <a:schemeClr val="accent5">
                    <a:lumMod val="50000"/>
                  </a:schemeClr>
                </a:solidFill>
                <a:latin typeface="Bahnschrift" pitchFamily="34" charset="0"/>
              </a:rPr>
              <a:t>Tokenization</a:t>
            </a:r>
            <a:r>
              <a:rPr lang="en-US" sz="1600" dirty="0" smtClean="0">
                <a:solidFill>
                  <a:schemeClr val="accent5">
                    <a:lumMod val="50000"/>
                  </a:schemeClr>
                </a:solidFill>
                <a:latin typeface="Bahnschrift Light" pitchFamily="34" charset="0"/>
              </a:rPr>
              <a:t> is a process </a:t>
            </a:r>
            <a:r>
              <a:rPr lang="en-US" sz="1600" dirty="0">
                <a:solidFill>
                  <a:schemeClr val="accent5">
                    <a:lumMod val="50000"/>
                  </a:schemeClr>
                </a:solidFill>
                <a:latin typeface="Bahnschrift Light" pitchFamily="34" charset="0"/>
              </a:rPr>
              <a:t>of braking down text into manageable unit called tokens</a:t>
            </a:r>
            <a:endParaRPr lang="en-IN" sz="1600" dirty="0">
              <a:solidFill>
                <a:schemeClr val="accent5">
                  <a:lumMod val="50000"/>
                </a:schemeClr>
              </a:solidFill>
              <a:latin typeface="Bahnschrift Light" pitchFamily="34" charset="0"/>
            </a:endParaRPr>
          </a:p>
        </p:txBody>
      </p:sp>
      <p:sp>
        <p:nvSpPr>
          <p:cNvPr id="11" name="Rectangle 10"/>
          <p:cNvSpPr/>
          <p:nvPr/>
        </p:nvSpPr>
        <p:spPr>
          <a:xfrm>
            <a:off x="2092036" y="1465653"/>
            <a:ext cx="9818050" cy="584775"/>
          </a:xfrm>
          <a:prstGeom prst="rect">
            <a:avLst/>
          </a:prstGeom>
        </p:spPr>
        <p:txBody>
          <a:bodyPr wrap="square">
            <a:spAutoFit/>
          </a:bodyPr>
          <a:lstStyle/>
          <a:p>
            <a:r>
              <a:rPr lang="en-US" sz="1600" dirty="0"/>
              <a:t>Tokenization divides text into smaller units such words ,subwords or character .which are basic element for processing by an llm</a:t>
            </a:r>
            <a:endParaRPr lang="en-IN" sz="1600" dirty="0"/>
          </a:p>
        </p:txBody>
      </p:sp>
      <p:grpSp>
        <p:nvGrpSpPr>
          <p:cNvPr id="14" name="Group 13"/>
          <p:cNvGrpSpPr/>
          <p:nvPr/>
        </p:nvGrpSpPr>
        <p:grpSpPr>
          <a:xfrm>
            <a:off x="2507673" y="2576856"/>
            <a:ext cx="9240981" cy="953591"/>
            <a:chOff x="2507673" y="2576856"/>
            <a:chExt cx="9240981" cy="953591"/>
          </a:xfrm>
        </p:grpSpPr>
        <p:sp>
          <p:nvSpPr>
            <p:cNvPr id="12" name="Rectangle 11"/>
            <p:cNvSpPr/>
            <p:nvPr/>
          </p:nvSpPr>
          <p:spPr>
            <a:xfrm>
              <a:off x="2507673" y="2576856"/>
              <a:ext cx="9240981" cy="338554"/>
            </a:xfrm>
            <a:prstGeom prst="rect">
              <a:avLst/>
            </a:prstGeom>
            <a:noFill/>
            <a:ln>
              <a:noFill/>
            </a:ln>
          </p:spPr>
          <p:txBody>
            <a:bodyPr wrap="square">
              <a:spAutoFit/>
            </a:bodyPr>
            <a:lstStyle/>
            <a:p>
              <a:r>
                <a:rPr lang="en-US" sz="1600" dirty="0"/>
                <a:t>when llm receive the prompt form he user ,the llm </a:t>
              </a:r>
              <a:r>
                <a:rPr lang="en-US" sz="1600" dirty="0" smtClean="0"/>
                <a:t>tokenizes </a:t>
              </a:r>
              <a:r>
                <a:rPr lang="en-US" sz="1600" dirty="0"/>
                <a:t>convert text </a:t>
              </a:r>
              <a:r>
                <a:rPr lang="en-US" sz="1600" dirty="0" smtClean="0"/>
                <a:t>into </a:t>
              </a:r>
              <a:r>
                <a:rPr lang="en-US" sz="1600" dirty="0"/>
                <a:t>user prompt into tokens.</a:t>
              </a:r>
              <a:endParaRPr lang="en-IN" sz="1600" dirty="0"/>
            </a:p>
          </p:txBody>
        </p:sp>
        <p:sp>
          <p:nvSpPr>
            <p:cNvPr id="13" name="Rectangle 12"/>
            <p:cNvSpPr/>
            <p:nvPr/>
          </p:nvSpPr>
          <p:spPr>
            <a:xfrm>
              <a:off x="2507673" y="2945672"/>
              <a:ext cx="8548254" cy="584775"/>
            </a:xfrm>
            <a:prstGeom prst="rect">
              <a:avLst/>
            </a:prstGeom>
          </p:spPr>
          <p:txBody>
            <a:bodyPr wrap="square">
              <a:spAutoFit/>
            </a:bodyPr>
            <a:lstStyle/>
            <a:p>
              <a:r>
                <a:rPr lang="en-US" sz="1600" dirty="0"/>
                <a:t>The LLM then processes these input tokens and generates a response in the form of output token. The LLM </a:t>
              </a:r>
              <a:r>
                <a:rPr lang="en-US" sz="1600" dirty="0" smtClean="0"/>
                <a:t>tokenizes </a:t>
              </a:r>
              <a:r>
                <a:rPr lang="en-US" sz="1600" dirty="0"/>
                <a:t>then converts the output tokens back into text that the user can understand. </a:t>
              </a:r>
              <a:endParaRPr lang="en-IN" sz="1600" dirty="0"/>
            </a:p>
          </p:txBody>
        </p:sp>
      </p:grpSp>
      <p:sp>
        <p:nvSpPr>
          <p:cNvPr id="15" name="Rectangle 14"/>
          <p:cNvSpPr/>
          <p:nvPr/>
        </p:nvSpPr>
        <p:spPr>
          <a:xfrm>
            <a:off x="2596727" y="4144879"/>
            <a:ext cx="3922869" cy="338554"/>
          </a:xfrm>
          <a:prstGeom prst="rect">
            <a:avLst/>
          </a:prstGeom>
        </p:spPr>
        <p:txBody>
          <a:bodyPr wrap="none">
            <a:spAutoFit/>
          </a:bodyPr>
          <a:lstStyle/>
          <a:p>
            <a:r>
              <a:rPr lang="en-US" sz="1600" dirty="0">
                <a:latin typeface="Bahnschrift Light" pitchFamily="34" charset="0"/>
              </a:rPr>
              <a:t>tokens are typically represent numbers. </a:t>
            </a:r>
            <a:endParaRPr lang="en-IN" sz="1600" dirty="0">
              <a:latin typeface="Bahnschrift Light" pitchFamily="34" charset="0"/>
            </a:endParaRPr>
          </a:p>
        </p:txBody>
      </p:sp>
    </p:spTree>
    <p:extLst>
      <p:ext uri="{BB962C8B-B14F-4D97-AF65-F5344CB8AC3E}">
        <p14:creationId xmlns:p14="http://schemas.microsoft.com/office/powerpoint/2010/main" val="40425993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629332" y="211994"/>
            <a:ext cx="2683748" cy="400110"/>
          </a:xfrm>
          <a:prstGeom prst="rect">
            <a:avLst/>
          </a:prstGeom>
        </p:spPr>
        <p:txBody>
          <a:bodyPr wrap="none">
            <a:spAutoFit/>
          </a:bodyPr>
          <a:lstStyle/>
          <a:p>
            <a:r>
              <a:rPr lang="en-IN" sz="2000" dirty="0">
                <a:latin typeface="Bahnschrift" pitchFamily="34" charset="0"/>
              </a:rPr>
              <a:t>Tokenization Example</a:t>
            </a:r>
          </a:p>
        </p:txBody>
      </p:sp>
      <p:sp>
        <p:nvSpPr>
          <p:cNvPr id="3" name="Rectangle 2"/>
          <p:cNvSpPr/>
          <p:nvPr/>
        </p:nvSpPr>
        <p:spPr>
          <a:xfrm>
            <a:off x="2656487" y="780682"/>
            <a:ext cx="2547492" cy="338554"/>
          </a:xfrm>
          <a:prstGeom prst="rect">
            <a:avLst/>
          </a:prstGeom>
        </p:spPr>
        <p:txBody>
          <a:bodyPr wrap="none">
            <a:spAutoFit/>
          </a:bodyPr>
          <a:lstStyle/>
          <a:p>
            <a:r>
              <a:rPr lang="en-IN" sz="1600" dirty="0">
                <a:solidFill>
                  <a:srgbClr val="00B050"/>
                </a:solidFill>
                <a:latin typeface="Bahnschrift Light" pitchFamily="34" charset="0"/>
              </a:rPr>
              <a:t>Text conversion to tokens</a:t>
            </a:r>
          </a:p>
        </p:txBody>
      </p:sp>
      <p:sp>
        <p:nvSpPr>
          <p:cNvPr id="5" name="Rectangle 4"/>
          <p:cNvSpPr/>
          <p:nvPr/>
        </p:nvSpPr>
        <p:spPr>
          <a:xfrm>
            <a:off x="2721302" y="1387963"/>
            <a:ext cx="6270298" cy="1200329"/>
          </a:xfrm>
          <a:prstGeom prst="rect">
            <a:avLst/>
          </a:prstGeom>
          <a:ln>
            <a:solidFill>
              <a:schemeClr val="bg1">
                <a:lumMod val="85000"/>
              </a:schemeClr>
            </a:solidFill>
          </a:ln>
        </p:spPr>
        <p:txBody>
          <a:bodyPr wrap="square">
            <a:spAutoFit/>
          </a:bodyPr>
          <a:lstStyle/>
          <a:p>
            <a:r>
              <a:rPr lang="en-US" dirty="0">
                <a:solidFill>
                  <a:srgbClr val="00B050"/>
                </a:solidFill>
              </a:rPr>
              <a:t>San</a:t>
            </a:r>
            <a:r>
              <a:rPr lang="en-US" dirty="0"/>
              <a:t> </a:t>
            </a:r>
            <a:r>
              <a:rPr lang="en-US" dirty="0">
                <a:solidFill>
                  <a:schemeClr val="accent6">
                    <a:lumMod val="50000"/>
                  </a:schemeClr>
                </a:solidFill>
              </a:rPr>
              <a:t>Mateo</a:t>
            </a:r>
            <a:r>
              <a:rPr lang="en-US" dirty="0"/>
              <a:t> </a:t>
            </a:r>
            <a:r>
              <a:rPr lang="en-US" dirty="0">
                <a:solidFill>
                  <a:srgbClr val="CC3300"/>
                </a:solidFill>
              </a:rPr>
              <a:t>Point</a:t>
            </a:r>
            <a:r>
              <a:rPr lang="en-US" dirty="0"/>
              <a:t> to the Mexican border out 60 nm. A small </a:t>
            </a:r>
            <a:r>
              <a:rPr lang="en-US" dirty="0">
                <a:solidFill>
                  <a:srgbClr val="00B050"/>
                </a:solidFill>
              </a:rPr>
              <a:t>chance</a:t>
            </a:r>
            <a:r>
              <a:rPr lang="en-US" dirty="0"/>
              <a:t> </a:t>
            </a:r>
            <a:r>
              <a:rPr lang="en-US" dirty="0">
                <a:solidFill>
                  <a:srgbClr val="15C2FF"/>
                </a:solidFill>
              </a:rPr>
              <a:t>of</a:t>
            </a:r>
            <a:r>
              <a:rPr lang="en-US" dirty="0"/>
              <a:t> </a:t>
            </a:r>
            <a:r>
              <a:rPr lang="en-US" dirty="0">
                <a:solidFill>
                  <a:srgbClr val="92D050"/>
                </a:solidFill>
              </a:rPr>
              <a:t>thunderstorms</a:t>
            </a:r>
            <a:r>
              <a:rPr lang="en-US" dirty="0"/>
              <a:t> will continue through early this evening with scattered showers expected.</a:t>
            </a:r>
          </a:p>
          <a:p>
            <a:r>
              <a:rPr lang="en-US" dirty="0"/>
              <a:t>word can be converted into one or more tokens in</a:t>
            </a:r>
            <a:endParaRPr lang="en-IN" dirty="0"/>
          </a:p>
        </p:txBody>
      </p:sp>
      <p:sp>
        <p:nvSpPr>
          <p:cNvPr id="9" name="Rectangle 8"/>
          <p:cNvSpPr/>
          <p:nvPr/>
        </p:nvSpPr>
        <p:spPr>
          <a:xfrm>
            <a:off x="2008907" y="3067097"/>
            <a:ext cx="9993930" cy="1200329"/>
          </a:xfrm>
          <a:prstGeom prst="rect">
            <a:avLst/>
          </a:prstGeom>
        </p:spPr>
        <p:txBody>
          <a:bodyPr wrap="square">
            <a:spAutoFit/>
          </a:bodyPr>
          <a:lstStyle/>
          <a:p>
            <a:r>
              <a:rPr lang="en-US" dirty="0">
                <a:latin typeface="Cambria Math" pitchFamily="18" charset="0"/>
                <a:ea typeface="Cambria Math" pitchFamily="18" charset="0"/>
                <a:cs typeface="Arial" pitchFamily="34" charset="0"/>
              </a:rPr>
              <a:t>Let's walk through a simple example using sub word tokenization strategy, a word can be converted into one or more tokens. In a typical sub word tokenizes in English, 100 words might be broken down to approximately 100 and 30 tokens. Different languages will differ in their ratio of words to token</a:t>
            </a:r>
            <a:r>
              <a:rPr lang="en-US" sz="1600" dirty="0">
                <a:latin typeface="Arial" pitchFamily="34" charset="0"/>
                <a:cs typeface="Arial" pitchFamily="34" charset="0"/>
              </a:rPr>
              <a:t>. </a:t>
            </a:r>
            <a:endParaRPr lang="en-IN" sz="1600" dirty="0">
              <a:latin typeface="Arial" pitchFamily="34" charset="0"/>
              <a:cs typeface="Arial" pitchFamily="34" charset="0"/>
            </a:endParaRPr>
          </a:p>
        </p:txBody>
      </p:sp>
      <p:sp>
        <p:nvSpPr>
          <p:cNvPr id="10" name="Rectangle 9"/>
          <p:cNvSpPr/>
          <p:nvPr/>
        </p:nvSpPr>
        <p:spPr>
          <a:xfrm>
            <a:off x="2391044" y="4267426"/>
            <a:ext cx="9611793" cy="923330"/>
          </a:xfrm>
          <a:prstGeom prst="rect">
            <a:avLst/>
          </a:prstGeom>
        </p:spPr>
        <p:txBody>
          <a:bodyPr wrap="square">
            <a:spAutoFit/>
          </a:bodyPr>
          <a:lstStyle/>
          <a:p>
            <a:r>
              <a:rPr lang="en-US" dirty="0">
                <a:latin typeface="Cambria Math" pitchFamily="18" charset="0"/>
                <a:ea typeface="Cambria Math" pitchFamily="18" charset="0"/>
                <a:cs typeface="Arial" pitchFamily="34" charset="0"/>
              </a:rPr>
              <a:t>Once the LLM tokenizer derives the tokens and then uses them to construct a vector. In this example, you can think of a vector as an array of integers. The LLM processes this vector to generate a response</a:t>
            </a:r>
            <a:r>
              <a:rPr lang="en-US" sz="1600" dirty="0">
                <a:latin typeface="Arial" pitchFamily="34" charset="0"/>
                <a:cs typeface="Arial" pitchFamily="34" charset="0"/>
              </a:rPr>
              <a:t>.</a:t>
            </a:r>
            <a:endParaRPr lang="en-IN" sz="1600" dirty="0">
              <a:latin typeface="Arial" pitchFamily="34" charset="0"/>
              <a:cs typeface="Arial" pitchFamily="34" charset="0"/>
            </a:endParaRPr>
          </a:p>
        </p:txBody>
      </p:sp>
      <p:sp>
        <p:nvSpPr>
          <p:cNvPr id="11" name="Rectangle 10"/>
          <p:cNvSpPr/>
          <p:nvPr/>
        </p:nvSpPr>
        <p:spPr>
          <a:xfrm>
            <a:off x="2473318" y="5548784"/>
            <a:ext cx="6861752" cy="369332"/>
          </a:xfrm>
          <a:prstGeom prst="rect">
            <a:avLst/>
          </a:prstGeom>
          <a:solidFill>
            <a:schemeClr val="accent1">
              <a:lumMod val="20000"/>
              <a:lumOff val="80000"/>
            </a:schemeClr>
          </a:solidFill>
        </p:spPr>
        <p:txBody>
          <a:bodyPr wrap="square">
            <a:spAutoFit/>
          </a:bodyPr>
          <a:lstStyle/>
          <a:p>
            <a:r>
              <a:rPr lang="en-IN" dirty="0" smtClean="0"/>
              <a:t>[ 24661, 44670, 5162, 315, 37943, 364, 22349, 99045, 33456, 789022 ]</a:t>
            </a:r>
            <a:endParaRPr lang="en-IN" dirty="0"/>
          </a:p>
        </p:txBody>
      </p:sp>
    </p:spTree>
    <p:extLst>
      <p:ext uri="{BB962C8B-B14F-4D97-AF65-F5344CB8AC3E}">
        <p14:creationId xmlns:p14="http://schemas.microsoft.com/office/powerpoint/2010/main" val="4432714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874293" y="1038664"/>
            <a:ext cx="11323092" cy="338554"/>
          </a:xfrm>
          <a:prstGeom prst="rect">
            <a:avLst/>
          </a:prstGeom>
        </p:spPr>
        <p:txBody>
          <a:bodyPr wrap="square">
            <a:spAutoFit/>
          </a:bodyPr>
          <a:lstStyle/>
          <a:p>
            <a:r>
              <a:rPr lang="en-US" sz="1600" dirty="0"/>
              <a:t> For these cloud-based llm, </a:t>
            </a:r>
            <a:r>
              <a:rPr lang="en-US" sz="1600" dirty="0">
                <a:solidFill>
                  <a:srgbClr val="002060"/>
                </a:solidFill>
              </a:rPr>
              <a:t>price iss based on the input tokens consume as well as the LLM output tokens produced</a:t>
            </a:r>
            <a:r>
              <a:rPr lang="en-US" sz="1600" dirty="0"/>
              <a:t>. </a:t>
            </a:r>
            <a:endParaRPr lang="en-IN" sz="1600" dirty="0"/>
          </a:p>
        </p:txBody>
      </p:sp>
      <p:sp>
        <p:nvSpPr>
          <p:cNvPr id="3" name="Rectangle 2"/>
          <p:cNvSpPr/>
          <p:nvPr/>
        </p:nvSpPr>
        <p:spPr>
          <a:xfrm>
            <a:off x="1410267" y="658464"/>
            <a:ext cx="9767249" cy="338554"/>
          </a:xfrm>
          <a:prstGeom prst="rect">
            <a:avLst/>
          </a:prstGeom>
        </p:spPr>
        <p:txBody>
          <a:bodyPr wrap="square">
            <a:spAutoFit/>
          </a:bodyPr>
          <a:lstStyle/>
          <a:p>
            <a:r>
              <a:rPr lang="en-US" sz="1600" dirty="0"/>
              <a:t> For cloud-based llms where you have a pay for use pricing model, </a:t>
            </a:r>
            <a:r>
              <a:rPr lang="en-US" sz="1600" i="1" dirty="0">
                <a:solidFill>
                  <a:srgbClr val="0070C0"/>
                </a:solidFill>
              </a:rPr>
              <a:t>tokens have added importance</a:t>
            </a:r>
            <a:endParaRPr lang="en-IN" sz="1600" i="1" dirty="0">
              <a:solidFill>
                <a:srgbClr val="0070C0"/>
              </a:solidFill>
            </a:endParaRPr>
          </a:p>
        </p:txBody>
      </p:sp>
    </p:spTree>
    <p:extLst>
      <p:ext uri="{BB962C8B-B14F-4D97-AF65-F5344CB8AC3E}">
        <p14:creationId xmlns:p14="http://schemas.microsoft.com/office/powerpoint/2010/main" val="6723119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399309" y="381271"/>
            <a:ext cx="10280073" cy="369332"/>
            <a:chOff x="1399309" y="211994"/>
            <a:chExt cx="10280073" cy="369332"/>
          </a:xfrm>
          <a:solidFill>
            <a:srgbClr val="0070C0"/>
          </a:solidFill>
        </p:grpSpPr>
        <p:sp>
          <p:nvSpPr>
            <p:cNvPr id="10" name="Rectangle 9"/>
            <p:cNvSpPr/>
            <p:nvPr/>
          </p:nvSpPr>
          <p:spPr>
            <a:xfrm>
              <a:off x="1511717" y="211994"/>
              <a:ext cx="1241045" cy="369332"/>
            </a:xfrm>
            <a:prstGeom prst="rect">
              <a:avLst/>
            </a:prstGeom>
            <a:grpFill/>
            <a:ln>
              <a:solidFill>
                <a:srgbClr val="0070C0"/>
              </a:solidFill>
            </a:ln>
          </p:spPr>
          <p:txBody>
            <a:bodyPr wrap="none">
              <a:spAutoFit/>
            </a:bodyPr>
            <a:lstStyle/>
            <a:p>
              <a:r>
                <a:rPr lang="en-IN" dirty="0" smtClean="0">
                  <a:solidFill>
                    <a:schemeClr val="bg1"/>
                  </a:solidFill>
                  <a:latin typeface="Bahnschrift" pitchFamily="34" charset="0"/>
                </a:rPr>
                <a:t>Stop word</a:t>
              </a:r>
              <a:endParaRPr lang="en-IN" dirty="0">
                <a:solidFill>
                  <a:schemeClr val="bg1"/>
                </a:solidFill>
                <a:latin typeface="Bahnschrift" pitchFamily="34" charset="0"/>
              </a:endParaRPr>
            </a:p>
          </p:txBody>
        </p:sp>
        <p:cxnSp>
          <p:nvCxnSpPr>
            <p:cNvPr id="11" name="Straight Connector 10"/>
            <p:cNvCxnSpPr/>
            <p:nvPr/>
          </p:nvCxnSpPr>
          <p:spPr>
            <a:xfrm>
              <a:off x="1399309" y="211994"/>
              <a:ext cx="10280073" cy="0"/>
            </a:xfrm>
            <a:prstGeom prst="line">
              <a:avLst/>
            </a:prstGeom>
            <a:grpFill/>
            <a:ln>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51893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60310" y="211994"/>
            <a:ext cx="2497541" cy="400110"/>
            <a:chOff x="1460310" y="211994"/>
            <a:chExt cx="2497541" cy="400110"/>
          </a:xfrm>
        </p:grpSpPr>
        <p:sp>
          <p:nvSpPr>
            <p:cNvPr id="2" name="Rectangle 1"/>
            <p:cNvSpPr/>
            <p:nvPr/>
          </p:nvSpPr>
          <p:spPr>
            <a:xfrm>
              <a:off x="1604909" y="211994"/>
              <a:ext cx="1417376" cy="400110"/>
            </a:xfrm>
            <a:prstGeom prst="rect">
              <a:avLst/>
            </a:prstGeom>
            <a:solidFill>
              <a:schemeClr val="accent6">
                <a:lumMod val="20000"/>
                <a:lumOff val="80000"/>
              </a:schemeClr>
            </a:solidFill>
            <a:ln>
              <a:solidFill>
                <a:schemeClr val="bg1">
                  <a:lumMod val="85000"/>
                </a:schemeClr>
              </a:solidFill>
            </a:ln>
          </p:spPr>
          <p:txBody>
            <a:bodyPr wrap="none">
              <a:spAutoFit/>
            </a:bodyPr>
            <a:lstStyle/>
            <a:p>
              <a:r>
                <a:rPr lang="en-IN" sz="2000" b="1" dirty="0">
                  <a:latin typeface="Bahnschrift" pitchFamily="34" charset="0"/>
                </a:rPr>
                <a:t>Stemming </a:t>
              </a:r>
            </a:p>
          </p:txBody>
        </p:sp>
        <p:cxnSp>
          <p:nvCxnSpPr>
            <p:cNvPr id="5" name="Straight Connector 4"/>
            <p:cNvCxnSpPr/>
            <p:nvPr/>
          </p:nvCxnSpPr>
          <p:spPr>
            <a:xfrm>
              <a:off x="1460310" y="612104"/>
              <a:ext cx="2497541"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6332561" y="5336274"/>
            <a:ext cx="5076966" cy="338554"/>
          </a:xfrm>
          <a:prstGeom prst="rect">
            <a:avLst/>
          </a:prstGeom>
          <a:solidFill>
            <a:schemeClr val="accent6">
              <a:lumMod val="40000"/>
              <a:lumOff val="60000"/>
            </a:schemeClr>
          </a:solidFill>
          <a:ln>
            <a:solidFill>
              <a:schemeClr val="bg1">
                <a:lumMod val="85000"/>
              </a:schemeClr>
            </a:solidFill>
          </a:ln>
        </p:spPr>
        <p:txBody>
          <a:bodyPr wrap="square" rtlCol="0">
            <a:spAutoFit/>
          </a:bodyPr>
          <a:lstStyle/>
          <a:p>
            <a:r>
              <a:rPr lang="en-US" sz="1600" dirty="0" smtClean="0"/>
              <a:t>Sabji analogy – spinach( </a:t>
            </a:r>
            <a:r>
              <a:rPr lang="en-US" sz="1600" dirty="0" err="1" smtClean="0"/>
              <a:t>palak</a:t>
            </a:r>
            <a:r>
              <a:rPr lang="en-US" sz="1600" dirty="0" smtClean="0"/>
              <a:t> ), fenugreek( </a:t>
            </a:r>
            <a:r>
              <a:rPr lang="en-US" sz="1600" dirty="0" err="1" smtClean="0"/>
              <a:t>methi</a:t>
            </a:r>
            <a:r>
              <a:rPr lang="en-US" sz="1600" dirty="0" smtClean="0"/>
              <a:t> )  </a:t>
            </a:r>
            <a:endParaRPr lang="en-IN" sz="1600" dirty="0"/>
          </a:p>
        </p:txBody>
      </p:sp>
      <p:sp>
        <p:nvSpPr>
          <p:cNvPr id="11" name="Rectangle 10"/>
          <p:cNvSpPr/>
          <p:nvPr/>
        </p:nvSpPr>
        <p:spPr>
          <a:xfrm>
            <a:off x="2018868" y="721646"/>
            <a:ext cx="9390659" cy="584775"/>
          </a:xfrm>
          <a:prstGeom prst="rect">
            <a:avLst/>
          </a:prstGeom>
        </p:spPr>
        <p:txBody>
          <a:bodyPr wrap="square">
            <a:spAutoFit/>
          </a:bodyPr>
          <a:lstStyle/>
          <a:p>
            <a:r>
              <a:rPr lang="en-US" sz="1600" dirty="0"/>
              <a:t>Stemming in Natural Language Processing (NLP) is the process of reducing words to their root or base form, often by removing suffixes. </a:t>
            </a:r>
            <a:endParaRPr lang="en-IN" sz="1600" dirty="0"/>
          </a:p>
        </p:txBody>
      </p:sp>
      <p:graphicFrame>
        <p:nvGraphicFramePr>
          <p:cNvPr id="12" name="Table 11"/>
          <p:cNvGraphicFramePr>
            <a:graphicFrameLocks noGrp="1"/>
          </p:cNvGraphicFramePr>
          <p:nvPr>
            <p:extLst>
              <p:ext uri="{D42A27DB-BD31-4B8C-83A1-F6EECF244321}">
                <p14:modId xmlns:p14="http://schemas.microsoft.com/office/powerpoint/2010/main" val="4211406225"/>
              </p:ext>
            </p:extLst>
          </p:nvPr>
        </p:nvGraphicFramePr>
        <p:xfrm>
          <a:off x="3357350" y="2090607"/>
          <a:ext cx="3356847" cy="1676400"/>
        </p:xfrm>
        <a:graphic>
          <a:graphicData uri="http://schemas.openxmlformats.org/drawingml/2006/table">
            <a:tbl>
              <a:tblPr>
                <a:tableStyleId>{93296810-A885-4BE3-A3E7-6D5BEEA58F35}</a:tableStyleId>
              </a:tblPr>
              <a:tblGrid>
                <a:gridCol w="1447121"/>
                <a:gridCol w="1909726"/>
              </a:tblGrid>
              <a:tr h="0">
                <a:tc>
                  <a:txBody>
                    <a:bodyPr/>
                    <a:lstStyle/>
                    <a:p>
                      <a:r>
                        <a:rPr lang="en-IN" sz="1600" dirty="0"/>
                        <a:t>Original Word </a:t>
                      </a:r>
                    </a:p>
                  </a:txBody>
                  <a:tcPr anchor="ctr">
                    <a:solidFill>
                      <a:schemeClr val="accent5">
                        <a:lumMod val="20000"/>
                        <a:lumOff val="80000"/>
                      </a:schemeClr>
                    </a:solidFill>
                  </a:tcPr>
                </a:tc>
                <a:tc>
                  <a:txBody>
                    <a:bodyPr/>
                    <a:lstStyle/>
                    <a:p>
                      <a:r>
                        <a:rPr lang="en-IN" sz="1600" dirty="0"/>
                        <a:t>Stemmed Word </a:t>
                      </a:r>
                    </a:p>
                  </a:txBody>
                  <a:tcPr anchor="ctr">
                    <a:solidFill>
                      <a:schemeClr val="accent5">
                        <a:lumMod val="20000"/>
                        <a:lumOff val="80000"/>
                      </a:schemeClr>
                    </a:solidFill>
                  </a:tcPr>
                </a:tc>
              </a:tr>
              <a:tr h="0">
                <a:tc>
                  <a:txBody>
                    <a:bodyPr/>
                    <a:lstStyle/>
                    <a:p>
                      <a:r>
                        <a:rPr lang="en-IN" sz="1600"/>
                        <a:t>running </a:t>
                      </a:r>
                    </a:p>
                  </a:txBody>
                  <a:tcPr anchor="ctr"/>
                </a:tc>
                <a:tc>
                  <a:txBody>
                    <a:bodyPr/>
                    <a:lstStyle/>
                    <a:p>
                      <a:r>
                        <a:rPr lang="en-IN" sz="1600" dirty="0"/>
                        <a:t>run </a:t>
                      </a:r>
                    </a:p>
                  </a:txBody>
                  <a:tcPr anchor="ctr"/>
                </a:tc>
              </a:tr>
              <a:tr h="0">
                <a:tc>
                  <a:txBody>
                    <a:bodyPr/>
                    <a:lstStyle/>
                    <a:p>
                      <a:r>
                        <a:rPr lang="en-IN" sz="1600" dirty="0"/>
                        <a:t>better </a:t>
                      </a:r>
                    </a:p>
                  </a:txBody>
                  <a:tcPr anchor="ctr"/>
                </a:tc>
                <a:tc>
                  <a:txBody>
                    <a:bodyPr/>
                    <a:lstStyle/>
                    <a:p>
                      <a:r>
                        <a:rPr lang="en-IN" sz="1600"/>
                        <a:t>bet </a:t>
                      </a:r>
                    </a:p>
                  </a:txBody>
                  <a:tcPr anchor="ctr"/>
                </a:tc>
              </a:tr>
              <a:tr h="0">
                <a:tc>
                  <a:txBody>
                    <a:bodyPr/>
                    <a:lstStyle/>
                    <a:p>
                      <a:r>
                        <a:rPr lang="en-IN" sz="1600"/>
                        <a:t>cats </a:t>
                      </a:r>
                    </a:p>
                  </a:txBody>
                  <a:tcPr anchor="ctr"/>
                </a:tc>
                <a:tc>
                  <a:txBody>
                    <a:bodyPr/>
                    <a:lstStyle/>
                    <a:p>
                      <a:r>
                        <a:rPr lang="en-IN" sz="1600"/>
                        <a:t>cat </a:t>
                      </a:r>
                    </a:p>
                  </a:txBody>
                  <a:tcPr anchor="ctr"/>
                </a:tc>
              </a:tr>
              <a:tr h="0">
                <a:tc>
                  <a:txBody>
                    <a:bodyPr/>
                    <a:lstStyle/>
                    <a:p>
                      <a:r>
                        <a:rPr lang="en-IN" sz="1600"/>
                        <a:t>studies </a:t>
                      </a:r>
                    </a:p>
                  </a:txBody>
                  <a:tcPr anchor="ctr"/>
                </a:tc>
                <a:tc>
                  <a:txBody>
                    <a:bodyPr/>
                    <a:lstStyle/>
                    <a:p>
                      <a:r>
                        <a:rPr lang="en-IN" sz="1600" dirty="0"/>
                        <a:t>studi</a:t>
                      </a:r>
                    </a:p>
                  </a:txBody>
                  <a:tcPr anchor="ctr"/>
                </a:tc>
              </a:tr>
            </a:tbl>
          </a:graphicData>
        </a:graphic>
      </p:graphicFrame>
      <p:sp>
        <p:nvSpPr>
          <p:cNvPr id="13" name="Rectangle 12"/>
          <p:cNvSpPr/>
          <p:nvPr/>
        </p:nvSpPr>
        <p:spPr>
          <a:xfrm>
            <a:off x="2543033" y="1454455"/>
            <a:ext cx="9289576" cy="338554"/>
          </a:xfrm>
          <a:prstGeom prst="rect">
            <a:avLst/>
          </a:prstGeom>
        </p:spPr>
        <p:txBody>
          <a:bodyPr wrap="square">
            <a:spAutoFit/>
          </a:bodyPr>
          <a:lstStyle/>
          <a:p>
            <a:r>
              <a:rPr lang="en-US" sz="1600" i="1" dirty="0"/>
              <a:t>it helps us </a:t>
            </a:r>
            <a:r>
              <a:rPr lang="en-US" sz="1600" i="1" dirty="0" smtClean="0"/>
              <a:t>to </a:t>
            </a:r>
            <a:r>
              <a:rPr lang="en-US" sz="1600" i="1" dirty="0"/>
              <a:t>simplify text for analysis by </a:t>
            </a:r>
            <a:r>
              <a:rPr lang="en-US" sz="1600" i="1" dirty="0" smtClean="0"/>
              <a:t>grouping </a:t>
            </a:r>
            <a:r>
              <a:rPr lang="en-US" sz="1600" i="1" dirty="0"/>
              <a:t>similar word together </a:t>
            </a:r>
            <a:endParaRPr lang="en-IN" sz="1600" i="1" dirty="0"/>
          </a:p>
        </p:txBody>
      </p:sp>
      <p:pic>
        <p:nvPicPr>
          <p:cNvPr id="1025" name="Picture 1" descr="C:\Users\User\Desktop\Capt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6663" y="1982266"/>
            <a:ext cx="2403497" cy="1804543"/>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7193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3" name="Group 2"/>
          <p:cNvGrpSpPr/>
          <p:nvPr/>
        </p:nvGrpSpPr>
        <p:grpSpPr>
          <a:xfrm>
            <a:off x="1942460" y="302928"/>
            <a:ext cx="2772925" cy="895350"/>
            <a:chOff x="1942460" y="302928"/>
            <a:chExt cx="2772925" cy="89535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460" y="302928"/>
              <a:ext cx="1019175"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961635" y="458215"/>
              <a:ext cx="1753750" cy="646331"/>
            </a:xfrm>
            <a:prstGeom prst="rect">
              <a:avLst/>
            </a:prstGeom>
            <a:noFill/>
          </p:spPr>
          <p:txBody>
            <a:bodyPr wrap="none" rtlCol="0">
              <a:spAutoFit/>
            </a:bodyPr>
            <a:lstStyle/>
            <a:p>
              <a:r>
                <a:rPr lang="en-US" dirty="0" smtClean="0"/>
                <a:t>Over stemming</a:t>
              </a:r>
            </a:p>
            <a:p>
              <a:r>
                <a:rPr lang="en-US" dirty="0" smtClean="0"/>
                <a:t>Under stemming</a:t>
              </a:r>
              <a:endParaRPr lang="en-IN" dirty="0"/>
            </a:p>
          </p:txBody>
        </p:sp>
      </p:grpSp>
    </p:spTree>
    <p:extLst>
      <p:ext uri="{BB962C8B-B14F-4D97-AF65-F5344CB8AC3E}">
        <p14:creationId xmlns:p14="http://schemas.microsoft.com/office/powerpoint/2010/main" val="19920774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460310" y="211994"/>
            <a:ext cx="2497541" cy="400110"/>
            <a:chOff x="1460310" y="211994"/>
            <a:chExt cx="2497541" cy="400110"/>
          </a:xfrm>
        </p:grpSpPr>
        <p:sp>
          <p:nvSpPr>
            <p:cNvPr id="2" name="Rectangle 1"/>
            <p:cNvSpPr/>
            <p:nvPr/>
          </p:nvSpPr>
          <p:spPr>
            <a:xfrm>
              <a:off x="1604909" y="211994"/>
              <a:ext cx="1885453" cy="400110"/>
            </a:xfrm>
            <a:prstGeom prst="rect">
              <a:avLst/>
            </a:prstGeom>
            <a:solidFill>
              <a:schemeClr val="accent6">
                <a:lumMod val="20000"/>
                <a:lumOff val="80000"/>
              </a:schemeClr>
            </a:solidFill>
            <a:ln>
              <a:solidFill>
                <a:schemeClr val="bg1">
                  <a:lumMod val="85000"/>
                </a:schemeClr>
              </a:solidFill>
            </a:ln>
          </p:spPr>
          <p:txBody>
            <a:bodyPr wrap="none">
              <a:spAutoFit/>
            </a:bodyPr>
            <a:lstStyle/>
            <a:p>
              <a:r>
                <a:rPr lang="en-IN" sz="2000" b="1" dirty="0">
                  <a:latin typeface="Bahnschrift" pitchFamily="34" charset="0"/>
                </a:rPr>
                <a:t>Lemmatization</a:t>
              </a:r>
            </a:p>
          </p:txBody>
        </p:sp>
        <p:cxnSp>
          <p:nvCxnSpPr>
            <p:cNvPr id="5" name="Straight Connector 4"/>
            <p:cNvCxnSpPr/>
            <p:nvPr/>
          </p:nvCxnSpPr>
          <p:spPr>
            <a:xfrm>
              <a:off x="1460310" y="612104"/>
              <a:ext cx="2497541"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6332561" y="5336274"/>
            <a:ext cx="5076966" cy="338554"/>
          </a:xfrm>
          <a:prstGeom prst="rect">
            <a:avLst/>
          </a:prstGeom>
          <a:solidFill>
            <a:schemeClr val="accent6">
              <a:lumMod val="40000"/>
              <a:lumOff val="60000"/>
            </a:schemeClr>
          </a:solidFill>
          <a:ln>
            <a:solidFill>
              <a:schemeClr val="bg1">
                <a:lumMod val="85000"/>
              </a:schemeClr>
            </a:solidFill>
          </a:ln>
        </p:spPr>
        <p:txBody>
          <a:bodyPr wrap="square" rtlCol="0">
            <a:spAutoFit/>
          </a:bodyPr>
          <a:lstStyle/>
          <a:p>
            <a:r>
              <a:rPr lang="en-US" sz="1600" dirty="0" smtClean="0"/>
              <a:t>Sabji analogy – spinach( </a:t>
            </a:r>
            <a:r>
              <a:rPr lang="en-US" sz="1600" dirty="0" err="1" smtClean="0"/>
              <a:t>palak</a:t>
            </a:r>
            <a:r>
              <a:rPr lang="en-US" sz="1600" dirty="0" smtClean="0"/>
              <a:t> ), fenugreek( </a:t>
            </a:r>
            <a:r>
              <a:rPr lang="en-US" sz="1600" dirty="0" err="1" smtClean="0"/>
              <a:t>methi</a:t>
            </a:r>
            <a:r>
              <a:rPr lang="en-US" sz="1600" dirty="0" smtClean="0"/>
              <a:t> )  </a:t>
            </a:r>
            <a:endParaRPr lang="en-IN" sz="1600" dirty="0"/>
          </a:p>
        </p:txBody>
      </p:sp>
      <p:sp>
        <p:nvSpPr>
          <p:cNvPr id="11" name="Rectangle 10"/>
          <p:cNvSpPr/>
          <p:nvPr/>
        </p:nvSpPr>
        <p:spPr>
          <a:xfrm>
            <a:off x="2018868" y="721646"/>
            <a:ext cx="9390659" cy="584775"/>
          </a:xfrm>
          <a:prstGeom prst="rect">
            <a:avLst/>
          </a:prstGeom>
        </p:spPr>
        <p:txBody>
          <a:bodyPr wrap="square">
            <a:spAutoFit/>
          </a:bodyPr>
          <a:lstStyle/>
          <a:p>
            <a:r>
              <a:rPr lang="en-US" sz="1600" dirty="0"/>
              <a:t>Stemming in Natural Language Processing (NLP) is the process of reducing words to their root or base form, often by removing suffixes. </a:t>
            </a:r>
            <a:endParaRPr lang="en-IN" sz="1600" dirty="0"/>
          </a:p>
        </p:txBody>
      </p:sp>
      <p:graphicFrame>
        <p:nvGraphicFramePr>
          <p:cNvPr id="12" name="Table 11"/>
          <p:cNvGraphicFramePr>
            <a:graphicFrameLocks noGrp="1"/>
          </p:cNvGraphicFramePr>
          <p:nvPr>
            <p:extLst>
              <p:ext uri="{D42A27DB-BD31-4B8C-83A1-F6EECF244321}">
                <p14:modId xmlns:p14="http://schemas.microsoft.com/office/powerpoint/2010/main" val="1669892828"/>
              </p:ext>
            </p:extLst>
          </p:nvPr>
        </p:nvGraphicFramePr>
        <p:xfrm>
          <a:off x="3357350" y="2090607"/>
          <a:ext cx="3356847" cy="1676400"/>
        </p:xfrm>
        <a:graphic>
          <a:graphicData uri="http://schemas.openxmlformats.org/drawingml/2006/table">
            <a:tbl>
              <a:tblPr>
                <a:tableStyleId>{93296810-A885-4BE3-A3E7-6D5BEEA58F35}</a:tableStyleId>
              </a:tblPr>
              <a:tblGrid>
                <a:gridCol w="1447121"/>
                <a:gridCol w="1909726"/>
              </a:tblGrid>
              <a:tr h="0">
                <a:tc>
                  <a:txBody>
                    <a:bodyPr/>
                    <a:lstStyle/>
                    <a:p>
                      <a:r>
                        <a:rPr lang="en-IN" sz="1600" dirty="0"/>
                        <a:t>Original Word </a:t>
                      </a:r>
                    </a:p>
                  </a:txBody>
                  <a:tcPr anchor="ctr">
                    <a:solidFill>
                      <a:schemeClr val="accent5">
                        <a:lumMod val="20000"/>
                        <a:lumOff val="80000"/>
                      </a:schemeClr>
                    </a:solidFill>
                  </a:tcPr>
                </a:tc>
                <a:tc>
                  <a:txBody>
                    <a:bodyPr/>
                    <a:lstStyle/>
                    <a:p>
                      <a:r>
                        <a:rPr lang="en-IN" sz="1600" dirty="0"/>
                        <a:t>Stemmed Word </a:t>
                      </a:r>
                    </a:p>
                  </a:txBody>
                  <a:tcPr anchor="ctr">
                    <a:solidFill>
                      <a:schemeClr val="accent5">
                        <a:lumMod val="20000"/>
                        <a:lumOff val="80000"/>
                      </a:schemeClr>
                    </a:solidFill>
                  </a:tcPr>
                </a:tc>
              </a:tr>
              <a:tr h="0">
                <a:tc>
                  <a:txBody>
                    <a:bodyPr/>
                    <a:lstStyle/>
                    <a:p>
                      <a:r>
                        <a:rPr lang="en-IN" sz="1600"/>
                        <a:t>running </a:t>
                      </a:r>
                    </a:p>
                  </a:txBody>
                  <a:tcPr anchor="ctr"/>
                </a:tc>
                <a:tc>
                  <a:txBody>
                    <a:bodyPr/>
                    <a:lstStyle/>
                    <a:p>
                      <a:r>
                        <a:rPr lang="en-IN" sz="1600" dirty="0"/>
                        <a:t>run </a:t>
                      </a:r>
                    </a:p>
                  </a:txBody>
                  <a:tcPr anchor="ctr"/>
                </a:tc>
              </a:tr>
              <a:tr h="0">
                <a:tc>
                  <a:txBody>
                    <a:bodyPr/>
                    <a:lstStyle/>
                    <a:p>
                      <a:r>
                        <a:rPr lang="en-IN" sz="1600" dirty="0"/>
                        <a:t>better </a:t>
                      </a:r>
                    </a:p>
                  </a:txBody>
                  <a:tcPr anchor="ctr"/>
                </a:tc>
                <a:tc>
                  <a:txBody>
                    <a:bodyPr/>
                    <a:lstStyle/>
                    <a:p>
                      <a:r>
                        <a:rPr lang="en-IN" sz="1600"/>
                        <a:t>bet </a:t>
                      </a:r>
                    </a:p>
                  </a:txBody>
                  <a:tcPr anchor="ctr"/>
                </a:tc>
              </a:tr>
              <a:tr h="0">
                <a:tc>
                  <a:txBody>
                    <a:bodyPr/>
                    <a:lstStyle/>
                    <a:p>
                      <a:r>
                        <a:rPr lang="en-IN" sz="1600"/>
                        <a:t>cats </a:t>
                      </a:r>
                    </a:p>
                  </a:txBody>
                  <a:tcPr anchor="ctr"/>
                </a:tc>
                <a:tc>
                  <a:txBody>
                    <a:bodyPr/>
                    <a:lstStyle/>
                    <a:p>
                      <a:r>
                        <a:rPr lang="en-IN" sz="1600"/>
                        <a:t>cat </a:t>
                      </a:r>
                    </a:p>
                  </a:txBody>
                  <a:tcPr anchor="ctr"/>
                </a:tc>
              </a:tr>
              <a:tr h="0">
                <a:tc>
                  <a:txBody>
                    <a:bodyPr/>
                    <a:lstStyle/>
                    <a:p>
                      <a:r>
                        <a:rPr lang="en-IN" sz="1600"/>
                        <a:t>studies </a:t>
                      </a:r>
                    </a:p>
                  </a:txBody>
                  <a:tcPr anchor="ctr"/>
                </a:tc>
                <a:tc>
                  <a:txBody>
                    <a:bodyPr/>
                    <a:lstStyle/>
                    <a:p>
                      <a:r>
                        <a:rPr lang="en-IN" sz="1600" dirty="0"/>
                        <a:t>studi</a:t>
                      </a:r>
                    </a:p>
                  </a:txBody>
                  <a:tcPr anchor="ctr"/>
                </a:tc>
              </a:tr>
            </a:tbl>
          </a:graphicData>
        </a:graphic>
      </p:graphicFrame>
      <p:sp>
        <p:nvSpPr>
          <p:cNvPr id="13" name="Rectangle 12"/>
          <p:cNvSpPr/>
          <p:nvPr/>
        </p:nvSpPr>
        <p:spPr>
          <a:xfrm>
            <a:off x="2543033" y="1454455"/>
            <a:ext cx="9289576" cy="338554"/>
          </a:xfrm>
          <a:prstGeom prst="rect">
            <a:avLst/>
          </a:prstGeom>
        </p:spPr>
        <p:txBody>
          <a:bodyPr wrap="square">
            <a:spAutoFit/>
          </a:bodyPr>
          <a:lstStyle/>
          <a:p>
            <a:r>
              <a:rPr lang="en-US" sz="1600" i="1" dirty="0"/>
              <a:t>it helps us </a:t>
            </a:r>
            <a:r>
              <a:rPr lang="en-US" sz="1600" i="1" dirty="0" smtClean="0"/>
              <a:t>to </a:t>
            </a:r>
            <a:r>
              <a:rPr lang="en-US" sz="1600" i="1" dirty="0"/>
              <a:t>simplify text for analysis by </a:t>
            </a:r>
            <a:r>
              <a:rPr lang="en-US" sz="1600" i="1" dirty="0" smtClean="0"/>
              <a:t>grouping </a:t>
            </a:r>
            <a:r>
              <a:rPr lang="en-US" sz="1600" i="1" dirty="0"/>
              <a:t>similar word together </a:t>
            </a:r>
            <a:endParaRPr lang="en-IN" sz="1600" i="1" dirty="0"/>
          </a:p>
        </p:txBody>
      </p:sp>
      <p:pic>
        <p:nvPicPr>
          <p:cNvPr id="1025" name="Picture 1" descr="C:\Users\User\Desktop\Capt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6663" y="1982266"/>
            <a:ext cx="2403497" cy="1804543"/>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8064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7000780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8720926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399309" y="381271"/>
            <a:ext cx="10280073" cy="369332"/>
            <a:chOff x="1399309" y="211994"/>
            <a:chExt cx="10280073" cy="369332"/>
          </a:xfrm>
          <a:solidFill>
            <a:srgbClr val="0070C0"/>
          </a:solidFill>
        </p:grpSpPr>
        <p:sp>
          <p:nvSpPr>
            <p:cNvPr id="2" name="Rectangle 1"/>
            <p:cNvSpPr/>
            <p:nvPr/>
          </p:nvSpPr>
          <p:spPr>
            <a:xfrm>
              <a:off x="1511717" y="211994"/>
              <a:ext cx="1475084" cy="369332"/>
            </a:xfrm>
            <a:prstGeom prst="rect">
              <a:avLst/>
            </a:prstGeom>
            <a:grpFill/>
            <a:ln>
              <a:solidFill>
                <a:srgbClr val="0070C0"/>
              </a:solidFill>
            </a:ln>
          </p:spPr>
          <p:txBody>
            <a:bodyPr wrap="none">
              <a:spAutoFit/>
            </a:bodyPr>
            <a:lstStyle/>
            <a:p>
              <a:r>
                <a:rPr lang="en-IN" dirty="0">
                  <a:solidFill>
                    <a:schemeClr val="bg1"/>
                  </a:solidFill>
                  <a:latin typeface="Bahnschrift" pitchFamily="34" charset="0"/>
                </a:rPr>
                <a:t>Tokenization</a:t>
              </a:r>
            </a:p>
          </p:txBody>
        </p:sp>
        <p:cxnSp>
          <p:nvCxnSpPr>
            <p:cNvPr id="5" name="Straight Connector 4"/>
            <p:cNvCxnSpPr/>
            <p:nvPr/>
          </p:nvCxnSpPr>
          <p:spPr>
            <a:xfrm>
              <a:off x="1399309" y="211994"/>
              <a:ext cx="10280073" cy="0"/>
            </a:xfrm>
            <a:prstGeom prst="line">
              <a:avLst/>
            </a:prstGeom>
            <a:grpFill/>
            <a:ln>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2092036" y="1013799"/>
            <a:ext cx="9448799" cy="338554"/>
          </a:xfrm>
          <a:prstGeom prst="rect">
            <a:avLst/>
          </a:prstGeom>
        </p:spPr>
        <p:txBody>
          <a:bodyPr wrap="square">
            <a:spAutoFit/>
          </a:bodyPr>
          <a:lstStyle/>
          <a:p>
            <a:r>
              <a:rPr lang="en-US" sz="1600" dirty="0" smtClean="0">
                <a:solidFill>
                  <a:schemeClr val="accent5">
                    <a:lumMod val="50000"/>
                  </a:schemeClr>
                </a:solidFill>
                <a:latin typeface="Bahnschrift" pitchFamily="34" charset="0"/>
              </a:rPr>
              <a:t>Tokenization</a:t>
            </a:r>
            <a:r>
              <a:rPr lang="en-US" sz="1600" dirty="0" smtClean="0">
                <a:solidFill>
                  <a:schemeClr val="accent5">
                    <a:lumMod val="50000"/>
                  </a:schemeClr>
                </a:solidFill>
                <a:latin typeface="Bahnschrift Light" pitchFamily="34" charset="0"/>
              </a:rPr>
              <a:t> is a process </a:t>
            </a:r>
            <a:r>
              <a:rPr lang="en-US" sz="1600" dirty="0">
                <a:solidFill>
                  <a:schemeClr val="accent5">
                    <a:lumMod val="50000"/>
                  </a:schemeClr>
                </a:solidFill>
                <a:latin typeface="Bahnschrift Light" pitchFamily="34" charset="0"/>
              </a:rPr>
              <a:t>of braking down text into manageable unit called tokens</a:t>
            </a:r>
            <a:endParaRPr lang="en-IN" sz="1600" dirty="0">
              <a:solidFill>
                <a:schemeClr val="accent5">
                  <a:lumMod val="50000"/>
                </a:schemeClr>
              </a:solidFill>
              <a:latin typeface="Bahnschrift Light" pitchFamily="34" charset="0"/>
            </a:endParaRPr>
          </a:p>
        </p:txBody>
      </p:sp>
      <p:sp>
        <p:nvSpPr>
          <p:cNvPr id="11" name="Rectangle 10"/>
          <p:cNvSpPr/>
          <p:nvPr/>
        </p:nvSpPr>
        <p:spPr>
          <a:xfrm>
            <a:off x="2092036" y="1465653"/>
            <a:ext cx="9818050" cy="584775"/>
          </a:xfrm>
          <a:prstGeom prst="rect">
            <a:avLst/>
          </a:prstGeom>
        </p:spPr>
        <p:txBody>
          <a:bodyPr wrap="square">
            <a:spAutoFit/>
          </a:bodyPr>
          <a:lstStyle/>
          <a:p>
            <a:r>
              <a:rPr lang="en-US" sz="1600" dirty="0"/>
              <a:t>Tokenization divides text into smaller units such words ,subwords or character .which are basic element for processing by an llm</a:t>
            </a:r>
            <a:endParaRPr lang="en-IN" sz="1600" dirty="0"/>
          </a:p>
        </p:txBody>
      </p:sp>
      <p:grpSp>
        <p:nvGrpSpPr>
          <p:cNvPr id="14" name="Group 13"/>
          <p:cNvGrpSpPr/>
          <p:nvPr/>
        </p:nvGrpSpPr>
        <p:grpSpPr>
          <a:xfrm>
            <a:off x="2507673" y="2576856"/>
            <a:ext cx="9240981" cy="953591"/>
            <a:chOff x="2507673" y="2576856"/>
            <a:chExt cx="9240981" cy="953591"/>
          </a:xfrm>
        </p:grpSpPr>
        <p:sp>
          <p:nvSpPr>
            <p:cNvPr id="12" name="Rectangle 11"/>
            <p:cNvSpPr/>
            <p:nvPr/>
          </p:nvSpPr>
          <p:spPr>
            <a:xfrm>
              <a:off x="2507673" y="2576856"/>
              <a:ext cx="9240981" cy="338554"/>
            </a:xfrm>
            <a:prstGeom prst="rect">
              <a:avLst/>
            </a:prstGeom>
            <a:noFill/>
            <a:ln>
              <a:noFill/>
            </a:ln>
          </p:spPr>
          <p:txBody>
            <a:bodyPr wrap="square">
              <a:spAutoFit/>
            </a:bodyPr>
            <a:lstStyle/>
            <a:p>
              <a:r>
                <a:rPr lang="en-US" sz="1600" dirty="0"/>
                <a:t>when llm receive the prompt form he user ,the llm </a:t>
              </a:r>
              <a:r>
                <a:rPr lang="en-US" sz="1600" dirty="0" smtClean="0"/>
                <a:t>tokenizes </a:t>
              </a:r>
              <a:r>
                <a:rPr lang="en-US" sz="1600" dirty="0"/>
                <a:t>convert text </a:t>
              </a:r>
              <a:r>
                <a:rPr lang="en-US" sz="1600" dirty="0" smtClean="0"/>
                <a:t>into </a:t>
              </a:r>
              <a:r>
                <a:rPr lang="en-US" sz="1600" dirty="0"/>
                <a:t>user prompt into tokens.</a:t>
              </a:r>
              <a:endParaRPr lang="en-IN" sz="1600" dirty="0"/>
            </a:p>
          </p:txBody>
        </p:sp>
        <p:sp>
          <p:nvSpPr>
            <p:cNvPr id="13" name="Rectangle 12"/>
            <p:cNvSpPr/>
            <p:nvPr/>
          </p:nvSpPr>
          <p:spPr>
            <a:xfrm>
              <a:off x="2507673" y="2945672"/>
              <a:ext cx="8548254" cy="584775"/>
            </a:xfrm>
            <a:prstGeom prst="rect">
              <a:avLst/>
            </a:prstGeom>
          </p:spPr>
          <p:txBody>
            <a:bodyPr wrap="square">
              <a:spAutoFit/>
            </a:bodyPr>
            <a:lstStyle/>
            <a:p>
              <a:r>
                <a:rPr lang="en-US" sz="1600" dirty="0"/>
                <a:t>The LLM then processes these input tokens and generates a response in the form of output token. The LLM </a:t>
              </a:r>
              <a:r>
                <a:rPr lang="en-US" sz="1600" dirty="0" smtClean="0"/>
                <a:t>tokenizes </a:t>
              </a:r>
              <a:r>
                <a:rPr lang="en-US" sz="1600" dirty="0"/>
                <a:t>then converts the output tokens back into text that the user can understand. </a:t>
              </a:r>
              <a:endParaRPr lang="en-IN" sz="1600" dirty="0"/>
            </a:p>
          </p:txBody>
        </p:sp>
      </p:grpSp>
      <p:sp>
        <p:nvSpPr>
          <p:cNvPr id="15" name="Rectangle 14"/>
          <p:cNvSpPr/>
          <p:nvPr/>
        </p:nvSpPr>
        <p:spPr>
          <a:xfrm>
            <a:off x="2596727" y="4144879"/>
            <a:ext cx="3922869" cy="338554"/>
          </a:xfrm>
          <a:prstGeom prst="rect">
            <a:avLst/>
          </a:prstGeom>
        </p:spPr>
        <p:txBody>
          <a:bodyPr wrap="none">
            <a:spAutoFit/>
          </a:bodyPr>
          <a:lstStyle/>
          <a:p>
            <a:r>
              <a:rPr lang="en-US" sz="1600" dirty="0">
                <a:latin typeface="Bahnschrift Light" pitchFamily="34" charset="0"/>
              </a:rPr>
              <a:t>tokens are typically represent numbers. </a:t>
            </a:r>
            <a:endParaRPr lang="en-IN" sz="1600" dirty="0">
              <a:latin typeface="Bahnschrift Light" pitchFamily="34" charset="0"/>
            </a:endParaRPr>
          </a:p>
        </p:txBody>
      </p:sp>
    </p:spTree>
    <p:extLst>
      <p:ext uri="{BB962C8B-B14F-4D97-AF65-F5344CB8AC3E}">
        <p14:creationId xmlns:p14="http://schemas.microsoft.com/office/powerpoint/2010/main" val="21638199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629332" y="211994"/>
            <a:ext cx="2683748" cy="400110"/>
          </a:xfrm>
          <a:prstGeom prst="rect">
            <a:avLst/>
          </a:prstGeom>
        </p:spPr>
        <p:txBody>
          <a:bodyPr wrap="none">
            <a:spAutoFit/>
          </a:bodyPr>
          <a:lstStyle/>
          <a:p>
            <a:r>
              <a:rPr lang="en-IN" sz="2000" dirty="0">
                <a:latin typeface="Bahnschrift" pitchFamily="34" charset="0"/>
              </a:rPr>
              <a:t>Tokenization Example</a:t>
            </a:r>
          </a:p>
        </p:txBody>
      </p:sp>
      <p:sp>
        <p:nvSpPr>
          <p:cNvPr id="3" name="Rectangle 2"/>
          <p:cNvSpPr/>
          <p:nvPr/>
        </p:nvSpPr>
        <p:spPr>
          <a:xfrm>
            <a:off x="2656487" y="780682"/>
            <a:ext cx="2547492" cy="338554"/>
          </a:xfrm>
          <a:prstGeom prst="rect">
            <a:avLst/>
          </a:prstGeom>
        </p:spPr>
        <p:txBody>
          <a:bodyPr wrap="none">
            <a:spAutoFit/>
          </a:bodyPr>
          <a:lstStyle/>
          <a:p>
            <a:r>
              <a:rPr lang="en-IN" sz="1600" dirty="0">
                <a:solidFill>
                  <a:srgbClr val="00B050"/>
                </a:solidFill>
                <a:latin typeface="Bahnschrift Light" pitchFamily="34" charset="0"/>
              </a:rPr>
              <a:t>Text conversion to tokens</a:t>
            </a:r>
          </a:p>
        </p:txBody>
      </p:sp>
      <p:sp>
        <p:nvSpPr>
          <p:cNvPr id="5" name="Rectangle 4"/>
          <p:cNvSpPr/>
          <p:nvPr/>
        </p:nvSpPr>
        <p:spPr>
          <a:xfrm>
            <a:off x="2721302" y="1387963"/>
            <a:ext cx="6270298" cy="1200329"/>
          </a:xfrm>
          <a:prstGeom prst="rect">
            <a:avLst/>
          </a:prstGeom>
          <a:ln>
            <a:solidFill>
              <a:schemeClr val="bg1">
                <a:lumMod val="85000"/>
              </a:schemeClr>
            </a:solidFill>
          </a:ln>
        </p:spPr>
        <p:txBody>
          <a:bodyPr wrap="square">
            <a:spAutoFit/>
          </a:bodyPr>
          <a:lstStyle/>
          <a:p>
            <a:r>
              <a:rPr lang="en-US" dirty="0">
                <a:solidFill>
                  <a:srgbClr val="00B050"/>
                </a:solidFill>
              </a:rPr>
              <a:t>San</a:t>
            </a:r>
            <a:r>
              <a:rPr lang="en-US" dirty="0"/>
              <a:t> </a:t>
            </a:r>
            <a:r>
              <a:rPr lang="en-US" dirty="0">
                <a:solidFill>
                  <a:schemeClr val="accent6">
                    <a:lumMod val="50000"/>
                  </a:schemeClr>
                </a:solidFill>
              </a:rPr>
              <a:t>Mateo</a:t>
            </a:r>
            <a:r>
              <a:rPr lang="en-US" dirty="0"/>
              <a:t> </a:t>
            </a:r>
            <a:r>
              <a:rPr lang="en-US" dirty="0">
                <a:solidFill>
                  <a:srgbClr val="CC3300"/>
                </a:solidFill>
              </a:rPr>
              <a:t>Point</a:t>
            </a:r>
            <a:r>
              <a:rPr lang="en-US" dirty="0"/>
              <a:t> to the Mexican border out 60 nm. A small </a:t>
            </a:r>
            <a:r>
              <a:rPr lang="en-US" dirty="0">
                <a:solidFill>
                  <a:srgbClr val="00B050"/>
                </a:solidFill>
              </a:rPr>
              <a:t>chance</a:t>
            </a:r>
            <a:r>
              <a:rPr lang="en-US" dirty="0"/>
              <a:t> </a:t>
            </a:r>
            <a:r>
              <a:rPr lang="en-US" dirty="0">
                <a:solidFill>
                  <a:srgbClr val="15C2FF"/>
                </a:solidFill>
              </a:rPr>
              <a:t>of</a:t>
            </a:r>
            <a:r>
              <a:rPr lang="en-US" dirty="0"/>
              <a:t> </a:t>
            </a:r>
            <a:r>
              <a:rPr lang="en-US" dirty="0">
                <a:solidFill>
                  <a:srgbClr val="92D050"/>
                </a:solidFill>
              </a:rPr>
              <a:t>thunderstorms</a:t>
            </a:r>
            <a:r>
              <a:rPr lang="en-US" dirty="0"/>
              <a:t> will continue through early this evening with scattered showers expected.</a:t>
            </a:r>
          </a:p>
          <a:p>
            <a:r>
              <a:rPr lang="en-US" dirty="0"/>
              <a:t>word can be converted into one or more tokens in</a:t>
            </a:r>
            <a:endParaRPr lang="en-IN" dirty="0"/>
          </a:p>
        </p:txBody>
      </p:sp>
      <p:sp>
        <p:nvSpPr>
          <p:cNvPr id="9" name="Rectangle 8"/>
          <p:cNvSpPr/>
          <p:nvPr/>
        </p:nvSpPr>
        <p:spPr>
          <a:xfrm>
            <a:off x="2008907" y="3067097"/>
            <a:ext cx="9993930" cy="1200329"/>
          </a:xfrm>
          <a:prstGeom prst="rect">
            <a:avLst/>
          </a:prstGeom>
        </p:spPr>
        <p:txBody>
          <a:bodyPr wrap="square">
            <a:spAutoFit/>
          </a:bodyPr>
          <a:lstStyle/>
          <a:p>
            <a:r>
              <a:rPr lang="en-US" dirty="0">
                <a:latin typeface="Cambria Math" pitchFamily="18" charset="0"/>
                <a:ea typeface="Cambria Math" pitchFamily="18" charset="0"/>
                <a:cs typeface="Arial" pitchFamily="34" charset="0"/>
              </a:rPr>
              <a:t>Let's walk through a simple example using sub word tokenization strategy, a word can be converted into one or more tokens. In a typical sub word tokenizes in English, 100 words might be broken down to approximately 100 and 30 tokens. Different languages will differ in their ratio of words to token</a:t>
            </a:r>
            <a:r>
              <a:rPr lang="en-US" sz="1600" dirty="0">
                <a:latin typeface="Arial" pitchFamily="34" charset="0"/>
                <a:cs typeface="Arial" pitchFamily="34" charset="0"/>
              </a:rPr>
              <a:t>. </a:t>
            </a:r>
            <a:endParaRPr lang="en-IN" sz="1600" dirty="0">
              <a:latin typeface="Arial" pitchFamily="34" charset="0"/>
              <a:cs typeface="Arial" pitchFamily="34" charset="0"/>
            </a:endParaRPr>
          </a:p>
        </p:txBody>
      </p:sp>
      <p:sp>
        <p:nvSpPr>
          <p:cNvPr id="10" name="Rectangle 9"/>
          <p:cNvSpPr/>
          <p:nvPr/>
        </p:nvSpPr>
        <p:spPr>
          <a:xfrm>
            <a:off x="2391044" y="4267426"/>
            <a:ext cx="9611793" cy="923330"/>
          </a:xfrm>
          <a:prstGeom prst="rect">
            <a:avLst/>
          </a:prstGeom>
        </p:spPr>
        <p:txBody>
          <a:bodyPr wrap="square">
            <a:spAutoFit/>
          </a:bodyPr>
          <a:lstStyle/>
          <a:p>
            <a:r>
              <a:rPr lang="en-US" dirty="0">
                <a:latin typeface="Cambria Math" pitchFamily="18" charset="0"/>
                <a:ea typeface="Cambria Math" pitchFamily="18" charset="0"/>
                <a:cs typeface="Arial" pitchFamily="34" charset="0"/>
              </a:rPr>
              <a:t>Once the LLM tokenizer derives the tokens and then uses them to construct a vector. In this example, you can think of a vector as an array of integers. The LLM processes this vector to generate a response</a:t>
            </a:r>
            <a:r>
              <a:rPr lang="en-US" sz="1600" dirty="0">
                <a:latin typeface="Arial" pitchFamily="34" charset="0"/>
                <a:cs typeface="Arial" pitchFamily="34" charset="0"/>
              </a:rPr>
              <a:t>.</a:t>
            </a:r>
            <a:endParaRPr lang="en-IN" sz="1600" dirty="0">
              <a:latin typeface="Arial" pitchFamily="34" charset="0"/>
              <a:cs typeface="Arial" pitchFamily="34" charset="0"/>
            </a:endParaRPr>
          </a:p>
        </p:txBody>
      </p:sp>
      <p:sp>
        <p:nvSpPr>
          <p:cNvPr id="11" name="Rectangle 10"/>
          <p:cNvSpPr/>
          <p:nvPr/>
        </p:nvSpPr>
        <p:spPr>
          <a:xfrm>
            <a:off x="2473318" y="5548784"/>
            <a:ext cx="6861752" cy="369332"/>
          </a:xfrm>
          <a:prstGeom prst="rect">
            <a:avLst/>
          </a:prstGeom>
          <a:solidFill>
            <a:schemeClr val="accent1">
              <a:lumMod val="20000"/>
              <a:lumOff val="80000"/>
            </a:schemeClr>
          </a:solidFill>
        </p:spPr>
        <p:txBody>
          <a:bodyPr wrap="square">
            <a:spAutoFit/>
          </a:bodyPr>
          <a:lstStyle/>
          <a:p>
            <a:r>
              <a:rPr lang="en-IN" dirty="0" smtClean="0"/>
              <a:t>[ 24661, 44670, 5162, 315, 37943, 364, 22349, 99045, 33456, 789022 ]</a:t>
            </a:r>
            <a:endParaRPr lang="en-IN" dirty="0"/>
          </a:p>
        </p:txBody>
      </p:sp>
    </p:spTree>
    <p:extLst>
      <p:ext uri="{BB962C8B-B14F-4D97-AF65-F5344CB8AC3E}">
        <p14:creationId xmlns:p14="http://schemas.microsoft.com/office/powerpoint/2010/main" val="3273550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874293" y="1038664"/>
            <a:ext cx="11323092" cy="338554"/>
          </a:xfrm>
          <a:prstGeom prst="rect">
            <a:avLst/>
          </a:prstGeom>
        </p:spPr>
        <p:txBody>
          <a:bodyPr wrap="square">
            <a:spAutoFit/>
          </a:bodyPr>
          <a:lstStyle/>
          <a:p>
            <a:r>
              <a:rPr lang="en-US" sz="1600" dirty="0"/>
              <a:t> For these cloud-based llm, </a:t>
            </a:r>
            <a:r>
              <a:rPr lang="en-US" sz="1600" dirty="0">
                <a:solidFill>
                  <a:srgbClr val="002060"/>
                </a:solidFill>
              </a:rPr>
              <a:t>price iss based on the input tokens consume as well as the LLM output tokens produced</a:t>
            </a:r>
            <a:r>
              <a:rPr lang="en-US" sz="1600" dirty="0"/>
              <a:t>. </a:t>
            </a:r>
            <a:endParaRPr lang="en-IN" sz="1600" dirty="0"/>
          </a:p>
        </p:txBody>
      </p:sp>
      <p:sp>
        <p:nvSpPr>
          <p:cNvPr id="3" name="Rectangle 2"/>
          <p:cNvSpPr/>
          <p:nvPr/>
        </p:nvSpPr>
        <p:spPr>
          <a:xfrm>
            <a:off x="1410267" y="658464"/>
            <a:ext cx="9767249" cy="338554"/>
          </a:xfrm>
          <a:prstGeom prst="rect">
            <a:avLst/>
          </a:prstGeom>
        </p:spPr>
        <p:txBody>
          <a:bodyPr wrap="square">
            <a:spAutoFit/>
          </a:bodyPr>
          <a:lstStyle/>
          <a:p>
            <a:r>
              <a:rPr lang="en-US" sz="1600" dirty="0"/>
              <a:t> For cloud-based llms where you have a pay for use pricing model, </a:t>
            </a:r>
            <a:r>
              <a:rPr lang="en-US" sz="1600" i="1" dirty="0">
                <a:solidFill>
                  <a:srgbClr val="0070C0"/>
                </a:solidFill>
              </a:rPr>
              <a:t>tokens have added importance</a:t>
            </a:r>
            <a:endParaRPr lang="en-IN" sz="1600" i="1" dirty="0">
              <a:solidFill>
                <a:srgbClr val="0070C0"/>
              </a:solidFill>
            </a:endParaRPr>
          </a:p>
        </p:txBody>
      </p:sp>
    </p:spTree>
    <p:extLst>
      <p:ext uri="{BB962C8B-B14F-4D97-AF65-F5344CB8AC3E}">
        <p14:creationId xmlns:p14="http://schemas.microsoft.com/office/powerpoint/2010/main" val="37769429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11" name="Group 10"/>
          <p:cNvGrpSpPr/>
          <p:nvPr/>
        </p:nvGrpSpPr>
        <p:grpSpPr>
          <a:xfrm>
            <a:off x="1395046" y="211994"/>
            <a:ext cx="2559427" cy="338554"/>
            <a:chOff x="1395046" y="211994"/>
            <a:chExt cx="2559427" cy="338554"/>
          </a:xfrm>
          <a:solidFill>
            <a:schemeClr val="accent1"/>
          </a:solidFill>
        </p:grpSpPr>
        <p:sp>
          <p:nvSpPr>
            <p:cNvPr id="2" name="Rectangle 1"/>
            <p:cNvSpPr/>
            <p:nvPr/>
          </p:nvSpPr>
          <p:spPr>
            <a:xfrm>
              <a:off x="1552854" y="211994"/>
              <a:ext cx="2159566" cy="338554"/>
            </a:xfrm>
            <a:prstGeom prst="rect">
              <a:avLst/>
            </a:prstGeom>
            <a:grpFill/>
          </p:spPr>
          <p:txBody>
            <a:bodyPr wrap="none">
              <a:spAutoFit/>
            </a:bodyPr>
            <a:lstStyle/>
            <a:p>
              <a:r>
                <a:rPr lang="en-IN" sz="1600" dirty="0">
                  <a:solidFill>
                    <a:schemeClr val="bg1"/>
                  </a:solidFill>
                  <a:latin typeface="Bahnschrift SemiBold" pitchFamily="34" charset="0"/>
                </a:rPr>
                <a:t>Key NLP Terminology</a:t>
              </a:r>
            </a:p>
          </p:txBody>
        </p:sp>
        <p:cxnSp>
          <p:nvCxnSpPr>
            <p:cNvPr id="5" name="Straight Connector 4"/>
            <p:cNvCxnSpPr/>
            <p:nvPr/>
          </p:nvCxnSpPr>
          <p:spPr>
            <a:xfrm>
              <a:off x="1395046" y="550548"/>
              <a:ext cx="2559427" cy="0"/>
            </a:xfrm>
            <a:prstGeom prst="line">
              <a:avLst/>
            </a:prstGeom>
            <a:grpFill/>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2102622" y="970057"/>
            <a:ext cx="1003993" cy="338554"/>
          </a:xfrm>
          <a:prstGeom prst="rect">
            <a:avLst/>
          </a:prstGeom>
          <a:solidFill>
            <a:schemeClr val="accent3">
              <a:lumMod val="20000"/>
              <a:lumOff val="80000"/>
            </a:schemeClr>
          </a:solidFill>
          <a:ln>
            <a:solidFill>
              <a:schemeClr val="bg1">
                <a:lumMod val="85000"/>
              </a:schemeClr>
            </a:solidFill>
          </a:ln>
        </p:spPr>
        <p:txBody>
          <a:bodyPr wrap="square">
            <a:spAutoFit/>
          </a:bodyPr>
          <a:lstStyle/>
          <a:p>
            <a:r>
              <a:rPr lang="en-IN" sz="1600" dirty="0" smtClean="0">
                <a:latin typeface="Bahnschrift" pitchFamily="34" charset="0"/>
              </a:rPr>
              <a:t>Corpus</a:t>
            </a:r>
            <a:endParaRPr lang="en-IN" dirty="0">
              <a:latin typeface="Bahnschrift SemiBold Condensed" pitchFamily="34" charset="0"/>
            </a:endParaRPr>
          </a:p>
        </p:txBody>
      </p:sp>
      <p:sp>
        <p:nvSpPr>
          <p:cNvPr id="13" name="Rectangle 12"/>
          <p:cNvSpPr/>
          <p:nvPr/>
        </p:nvSpPr>
        <p:spPr>
          <a:xfrm>
            <a:off x="3348608" y="970057"/>
            <a:ext cx="8843392" cy="523220"/>
          </a:xfrm>
          <a:prstGeom prst="rect">
            <a:avLst/>
          </a:prstGeom>
        </p:spPr>
        <p:txBody>
          <a:bodyPr wrap="square">
            <a:spAutoFit/>
          </a:bodyPr>
          <a:lstStyle/>
          <a:p>
            <a:r>
              <a:rPr lang="en-US" sz="1400" dirty="0">
                <a:latin typeface="Cambria Math" pitchFamily="18" charset="0"/>
                <a:ea typeface="Cambria Math" pitchFamily="18" charset="0"/>
              </a:rPr>
              <a:t>A large collection of text documents used for training NLP models. It's essentially the dataset containing all the text that will be analyzed.</a:t>
            </a:r>
            <a:endParaRPr lang="en-IN" sz="1400" dirty="0">
              <a:latin typeface="Cambria Math" pitchFamily="18" charset="0"/>
              <a:ea typeface="Cambria Math" pitchFamily="18" charset="0"/>
            </a:endParaRPr>
          </a:p>
        </p:txBody>
      </p:sp>
      <p:sp>
        <p:nvSpPr>
          <p:cNvPr id="14" name="Rectangle 13"/>
          <p:cNvSpPr/>
          <p:nvPr/>
        </p:nvSpPr>
        <p:spPr>
          <a:xfrm>
            <a:off x="1985526" y="2751965"/>
            <a:ext cx="1218602" cy="338554"/>
          </a:xfrm>
          <a:prstGeom prst="rect">
            <a:avLst/>
          </a:prstGeom>
          <a:solidFill>
            <a:schemeClr val="accent3">
              <a:lumMod val="20000"/>
              <a:lumOff val="80000"/>
            </a:schemeClr>
          </a:solidFill>
          <a:ln>
            <a:solidFill>
              <a:schemeClr val="bg1">
                <a:lumMod val="85000"/>
              </a:schemeClr>
            </a:solidFill>
          </a:ln>
        </p:spPr>
        <p:txBody>
          <a:bodyPr wrap="square">
            <a:spAutoFit/>
          </a:bodyPr>
          <a:lstStyle/>
          <a:p>
            <a:r>
              <a:rPr lang="en-IN" sz="1600" dirty="0">
                <a:latin typeface="Bahnschrift" pitchFamily="34" charset="0"/>
              </a:rPr>
              <a:t>Document </a:t>
            </a:r>
          </a:p>
        </p:txBody>
      </p:sp>
      <p:sp>
        <p:nvSpPr>
          <p:cNvPr id="15" name="Rectangle 14"/>
          <p:cNvSpPr/>
          <p:nvPr/>
        </p:nvSpPr>
        <p:spPr>
          <a:xfrm>
            <a:off x="3399691" y="2765085"/>
            <a:ext cx="8581293" cy="523220"/>
          </a:xfrm>
          <a:prstGeom prst="rect">
            <a:avLst/>
          </a:prstGeom>
        </p:spPr>
        <p:txBody>
          <a:bodyPr wrap="square">
            <a:spAutoFit/>
          </a:bodyPr>
          <a:lstStyle/>
          <a:p>
            <a:r>
              <a:rPr lang="en-US" sz="1400" dirty="0">
                <a:latin typeface="Cambria Math" pitchFamily="18" charset="0"/>
                <a:ea typeface="Cambria Math" pitchFamily="18" charset="0"/>
              </a:rPr>
              <a:t>A single piece of text within a corpus. It can be an article, a paragraph, or even a sentence, depending on how the data is structured.</a:t>
            </a:r>
            <a:endParaRPr lang="en-IN" sz="1400" dirty="0">
              <a:latin typeface="Cambria Math" pitchFamily="18" charset="0"/>
              <a:ea typeface="Cambria Math" pitchFamily="18" charset="0"/>
            </a:endParaRPr>
          </a:p>
        </p:txBody>
      </p:sp>
      <p:sp>
        <p:nvSpPr>
          <p:cNvPr id="16" name="Rectangle 15"/>
          <p:cNvSpPr/>
          <p:nvPr/>
        </p:nvSpPr>
        <p:spPr>
          <a:xfrm>
            <a:off x="1973033" y="3622431"/>
            <a:ext cx="1231095" cy="338554"/>
          </a:xfrm>
          <a:prstGeom prst="rect">
            <a:avLst/>
          </a:prstGeom>
          <a:solidFill>
            <a:schemeClr val="accent3">
              <a:lumMod val="20000"/>
              <a:lumOff val="80000"/>
            </a:schemeClr>
          </a:solidFill>
          <a:ln>
            <a:solidFill>
              <a:schemeClr val="bg1">
                <a:lumMod val="85000"/>
              </a:schemeClr>
            </a:solidFill>
          </a:ln>
        </p:spPr>
        <p:txBody>
          <a:bodyPr wrap="square">
            <a:spAutoFit/>
          </a:bodyPr>
          <a:lstStyle/>
          <a:p>
            <a:r>
              <a:rPr lang="en-IN" sz="1600" dirty="0">
                <a:latin typeface="Bahnschrift" pitchFamily="34" charset="0"/>
              </a:rPr>
              <a:t>Vocabulary </a:t>
            </a:r>
          </a:p>
        </p:txBody>
      </p:sp>
      <p:sp>
        <p:nvSpPr>
          <p:cNvPr id="17" name="Rectangle 16"/>
          <p:cNvSpPr/>
          <p:nvPr/>
        </p:nvSpPr>
        <p:spPr>
          <a:xfrm>
            <a:off x="3493476" y="3668597"/>
            <a:ext cx="8487507" cy="307777"/>
          </a:xfrm>
          <a:prstGeom prst="rect">
            <a:avLst/>
          </a:prstGeom>
        </p:spPr>
        <p:txBody>
          <a:bodyPr wrap="square">
            <a:spAutoFit/>
          </a:bodyPr>
          <a:lstStyle/>
          <a:p>
            <a:r>
              <a:rPr lang="en-US" sz="1400" dirty="0">
                <a:latin typeface="Cambria Math" pitchFamily="18" charset="0"/>
                <a:ea typeface="Cambria Math" pitchFamily="18" charset="0"/>
              </a:rPr>
              <a:t>The set of all unique words present in the corpus. It's the dictionary terms that the model will learn from.</a:t>
            </a:r>
            <a:endParaRPr lang="en-IN" sz="1400" dirty="0">
              <a:latin typeface="Cambria Math" pitchFamily="18" charset="0"/>
              <a:ea typeface="Cambria Math" pitchFamily="18" charset="0"/>
            </a:endParaRPr>
          </a:p>
        </p:txBody>
      </p:sp>
      <p:sp>
        <p:nvSpPr>
          <p:cNvPr id="18" name="Rectangle 17"/>
          <p:cNvSpPr/>
          <p:nvPr/>
        </p:nvSpPr>
        <p:spPr>
          <a:xfrm>
            <a:off x="1985526" y="4338191"/>
            <a:ext cx="1218602" cy="338554"/>
          </a:xfrm>
          <a:prstGeom prst="rect">
            <a:avLst/>
          </a:prstGeom>
          <a:solidFill>
            <a:schemeClr val="accent3">
              <a:lumMod val="20000"/>
              <a:lumOff val="80000"/>
            </a:schemeClr>
          </a:solidFill>
          <a:ln>
            <a:solidFill>
              <a:schemeClr val="bg1">
                <a:lumMod val="85000"/>
              </a:schemeClr>
            </a:solidFill>
          </a:ln>
        </p:spPr>
        <p:txBody>
          <a:bodyPr wrap="square">
            <a:spAutoFit/>
          </a:bodyPr>
          <a:lstStyle/>
          <a:p>
            <a:r>
              <a:rPr lang="en-IN" sz="1600" dirty="0">
                <a:latin typeface="Bahnschrift" pitchFamily="34" charset="0"/>
              </a:rPr>
              <a:t>Token</a:t>
            </a:r>
          </a:p>
        </p:txBody>
      </p:sp>
    </p:spTree>
    <p:extLst>
      <p:ext uri="{BB962C8B-B14F-4D97-AF65-F5344CB8AC3E}">
        <p14:creationId xmlns:p14="http://schemas.microsoft.com/office/powerpoint/2010/main" val="13954689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11347894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3" name="Rectangle 2"/>
          <p:cNvSpPr/>
          <p:nvPr/>
        </p:nvSpPr>
        <p:spPr>
          <a:xfrm>
            <a:off x="2500271" y="1128989"/>
            <a:ext cx="7827760" cy="738664"/>
          </a:xfrm>
          <a:prstGeom prst="rect">
            <a:avLst/>
          </a:prstGeom>
        </p:spPr>
        <p:txBody>
          <a:bodyPr>
            <a:spAutoFit/>
          </a:bodyPr>
          <a:lstStyle/>
          <a:p>
            <a:r>
              <a:rPr lang="en-US" sz="1400" i="1" dirty="0">
                <a:latin typeface="Gadugi" pitchFamily="34" charset="0"/>
                <a:ea typeface="Gadugi" pitchFamily="34" charset="0"/>
              </a:rPr>
              <a:t>Stop Words Removal </a:t>
            </a:r>
            <a:r>
              <a:rPr lang="en-US" sz="1400" i="1" dirty="0" smtClean="0">
                <a:latin typeface="Gadugi" pitchFamily="34" charset="0"/>
                <a:ea typeface="Gadugi" pitchFamily="34" charset="0"/>
              </a:rPr>
              <a:t> </a:t>
            </a:r>
            <a:r>
              <a:rPr lang="en-US" sz="1400" dirty="0" smtClean="0">
                <a:latin typeface="Gadugi" pitchFamily="34" charset="0"/>
                <a:ea typeface="Gadugi" pitchFamily="34" charset="0"/>
              </a:rPr>
              <a:t>:      </a:t>
            </a:r>
            <a:r>
              <a:rPr lang="en-US" sz="1400" dirty="0">
                <a:latin typeface="Gadugi" pitchFamily="34" charset="0"/>
                <a:ea typeface="Gadugi" pitchFamily="34" charset="0"/>
              </a:rPr>
              <a:t>Eliminating common words that add little value to text </a:t>
            </a:r>
          </a:p>
          <a:p>
            <a:r>
              <a:rPr lang="en-US" sz="1400" i="1" dirty="0">
                <a:latin typeface="Gadugi" pitchFamily="34" charset="0"/>
                <a:ea typeface="Gadugi" pitchFamily="34" charset="0"/>
              </a:rPr>
              <a:t>Punctuation Removal </a:t>
            </a:r>
            <a:r>
              <a:rPr lang="en-US" sz="1400" i="1" dirty="0" smtClean="0">
                <a:latin typeface="Gadugi" pitchFamily="34" charset="0"/>
                <a:ea typeface="Gadugi" pitchFamily="34" charset="0"/>
              </a:rPr>
              <a:t> </a:t>
            </a:r>
            <a:r>
              <a:rPr lang="en-US" sz="1400" dirty="0" smtClean="0">
                <a:latin typeface="Gadugi" pitchFamily="34" charset="0"/>
                <a:ea typeface="Gadugi" pitchFamily="34" charset="0"/>
              </a:rPr>
              <a:t>:      </a:t>
            </a:r>
            <a:r>
              <a:rPr lang="en-US" sz="1400" dirty="0">
                <a:latin typeface="Gadugi" pitchFamily="34" charset="0"/>
                <a:ea typeface="Gadugi" pitchFamily="34" charset="0"/>
              </a:rPr>
              <a:t>Removing unnecessary punctuation marks from the text</a:t>
            </a:r>
          </a:p>
          <a:p>
            <a:r>
              <a:rPr lang="en-US" sz="1400" i="1" dirty="0">
                <a:latin typeface="Gadugi" pitchFamily="34" charset="0"/>
                <a:ea typeface="Gadugi" pitchFamily="34" charset="0"/>
              </a:rPr>
              <a:t>Whitespace Removal </a:t>
            </a:r>
            <a:r>
              <a:rPr lang="en-US" sz="1400" i="1" dirty="0" smtClean="0">
                <a:latin typeface="Gadugi" pitchFamily="34" charset="0"/>
                <a:ea typeface="Gadugi" pitchFamily="34" charset="0"/>
              </a:rPr>
              <a:t>  </a:t>
            </a:r>
            <a:r>
              <a:rPr lang="en-US" sz="1400" dirty="0" smtClean="0">
                <a:latin typeface="Gadugi" pitchFamily="34" charset="0"/>
                <a:ea typeface="Gadugi" pitchFamily="34" charset="0"/>
              </a:rPr>
              <a:t>:      </a:t>
            </a:r>
            <a:r>
              <a:rPr lang="en-US" sz="1400" dirty="0">
                <a:latin typeface="Gadugi" pitchFamily="34" charset="0"/>
                <a:ea typeface="Gadugi" pitchFamily="34" charset="0"/>
              </a:rPr>
              <a:t>Removing extra spaces and tabs within the text</a:t>
            </a:r>
            <a:endParaRPr lang="en-IN" sz="1400" dirty="0">
              <a:latin typeface="Gadugi" pitchFamily="34" charset="0"/>
              <a:ea typeface="Gadugi" pitchFamily="34" charset="0"/>
            </a:endParaRPr>
          </a:p>
        </p:txBody>
      </p:sp>
      <p:sp>
        <p:nvSpPr>
          <p:cNvPr id="10" name="Rectangle 9"/>
          <p:cNvSpPr/>
          <p:nvPr/>
        </p:nvSpPr>
        <p:spPr>
          <a:xfrm>
            <a:off x="2500271" y="3128501"/>
            <a:ext cx="6096000" cy="523220"/>
          </a:xfrm>
          <a:prstGeom prst="rect">
            <a:avLst/>
          </a:prstGeom>
        </p:spPr>
        <p:txBody>
          <a:bodyPr>
            <a:spAutoFit/>
          </a:bodyPr>
          <a:lstStyle/>
          <a:p>
            <a:r>
              <a:rPr lang="en-US" sz="1400" i="1" dirty="0">
                <a:latin typeface="Gadugi" pitchFamily="34" charset="0"/>
                <a:ea typeface="Gadugi" pitchFamily="34" charset="0"/>
              </a:rPr>
              <a:t>Word </a:t>
            </a:r>
            <a:r>
              <a:rPr lang="en-US" sz="1400" i="1" dirty="0" smtClean="0">
                <a:latin typeface="Gadugi" pitchFamily="34" charset="0"/>
                <a:ea typeface="Gadugi" pitchFamily="34" charset="0"/>
              </a:rPr>
              <a:t>Tokenization </a:t>
            </a:r>
            <a:r>
              <a:rPr lang="en-US" sz="1400" dirty="0" smtClean="0">
                <a:latin typeface="Gadugi" pitchFamily="34" charset="0"/>
                <a:ea typeface="Gadugi" pitchFamily="34" charset="0"/>
              </a:rPr>
              <a:t>:           Splitting </a:t>
            </a:r>
            <a:r>
              <a:rPr lang="en-US" sz="1400" dirty="0">
                <a:latin typeface="Gadugi" pitchFamily="34" charset="0"/>
                <a:ea typeface="Gadugi" pitchFamily="34" charset="0"/>
              </a:rPr>
              <a:t>text into individual words.</a:t>
            </a:r>
          </a:p>
          <a:p>
            <a:r>
              <a:rPr lang="en-US" sz="1400" i="1" dirty="0">
                <a:latin typeface="Gadugi" pitchFamily="34" charset="0"/>
                <a:ea typeface="Gadugi" pitchFamily="34" charset="0"/>
              </a:rPr>
              <a:t>Sentence </a:t>
            </a:r>
            <a:r>
              <a:rPr lang="en-US" sz="1400" i="1" dirty="0" smtClean="0">
                <a:latin typeface="Gadugi" pitchFamily="34" charset="0"/>
                <a:ea typeface="Gadugi" pitchFamily="34" charset="0"/>
              </a:rPr>
              <a:t>Tokenization </a:t>
            </a:r>
            <a:r>
              <a:rPr lang="en-US" sz="1400" dirty="0" smtClean="0">
                <a:latin typeface="Gadugi" pitchFamily="34" charset="0"/>
                <a:ea typeface="Gadugi" pitchFamily="34" charset="0"/>
              </a:rPr>
              <a:t>:     Splitting </a:t>
            </a:r>
            <a:r>
              <a:rPr lang="en-US" sz="1400" dirty="0">
                <a:latin typeface="Gadugi" pitchFamily="34" charset="0"/>
                <a:ea typeface="Gadugi" pitchFamily="34" charset="0"/>
              </a:rPr>
              <a:t>text into sentences.</a:t>
            </a:r>
            <a:endParaRPr lang="en-IN" sz="1400" dirty="0">
              <a:latin typeface="Gadugi" pitchFamily="34" charset="0"/>
              <a:ea typeface="Gadugi" pitchFamily="34" charset="0"/>
            </a:endParaRPr>
          </a:p>
        </p:txBody>
      </p:sp>
      <p:sp>
        <p:nvSpPr>
          <p:cNvPr id="14" name="Rectangle 13"/>
          <p:cNvSpPr/>
          <p:nvPr/>
        </p:nvSpPr>
        <p:spPr>
          <a:xfrm>
            <a:off x="2719752" y="4767498"/>
            <a:ext cx="8417171" cy="954107"/>
          </a:xfrm>
          <a:prstGeom prst="rect">
            <a:avLst/>
          </a:prstGeom>
        </p:spPr>
        <p:txBody>
          <a:bodyPr>
            <a:spAutoFit/>
          </a:bodyPr>
          <a:lstStyle/>
          <a:p>
            <a:r>
              <a:rPr lang="en-US" sz="1400" b="1" i="1" dirty="0" smtClean="0">
                <a:latin typeface="Gadugi" pitchFamily="34" charset="0"/>
                <a:ea typeface="Gadugi" pitchFamily="34" charset="0"/>
              </a:rPr>
              <a:t>Lowercasing</a:t>
            </a:r>
            <a:r>
              <a:rPr lang="en-US" sz="1400" i="1" dirty="0" smtClean="0">
                <a:latin typeface="Gadugi" pitchFamily="34" charset="0"/>
                <a:ea typeface="Gadugi" pitchFamily="34" charset="0"/>
              </a:rPr>
              <a:t> :              </a:t>
            </a:r>
            <a:r>
              <a:rPr lang="en-US" sz="1400" dirty="0" smtClean="0">
                <a:latin typeface="Gadugi" pitchFamily="34" charset="0"/>
                <a:ea typeface="Gadugi" pitchFamily="34" charset="0"/>
              </a:rPr>
              <a:t>Converting </a:t>
            </a:r>
            <a:r>
              <a:rPr lang="en-US" sz="1400" dirty="0">
                <a:latin typeface="Gadugi" pitchFamily="34" charset="0"/>
                <a:ea typeface="Gadugi" pitchFamily="34" charset="0"/>
              </a:rPr>
              <a:t>all characters in the text to lowercase.</a:t>
            </a:r>
          </a:p>
          <a:p>
            <a:r>
              <a:rPr lang="en-US" sz="1400" b="1" i="1" dirty="0" smtClean="0">
                <a:latin typeface="Gadugi" pitchFamily="34" charset="0"/>
                <a:ea typeface="Gadugi" pitchFamily="34" charset="0"/>
              </a:rPr>
              <a:t>Stemming</a:t>
            </a:r>
            <a:r>
              <a:rPr lang="en-US" sz="1400" i="1" dirty="0" smtClean="0">
                <a:latin typeface="Gadugi" pitchFamily="34" charset="0"/>
                <a:ea typeface="Gadugi" pitchFamily="34" charset="0"/>
              </a:rPr>
              <a:t> :                 </a:t>
            </a:r>
            <a:r>
              <a:rPr lang="en-US" sz="1400" dirty="0" smtClean="0">
                <a:latin typeface="Gadugi" pitchFamily="34" charset="0"/>
                <a:ea typeface="Gadugi" pitchFamily="34" charset="0"/>
              </a:rPr>
              <a:t>Reducing </a:t>
            </a:r>
            <a:r>
              <a:rPr lang="en-US" sz="1400" dirty="0">
                <a:latin typeface="Gadugi" pitchFamily="34" charset="0"/>
                <a:ea typeface="Gadugi" pitchFamily="34" charset="0"/>
              </a:rPr>
              <a:t>words to their base or root form.</a:t>
            </a:r>
          </a:p>
          <a:p>
            <a:r>
              <a:rPr lang="en-US" sz="1400" b="1" i="1" dirty="0" smtClean="0">
                <a:latin typeface="Gadugi" pitchFamily="34" charset="0"/>
                <a:ea typeface="Gadugi" pitchFamily="34" charset="0"/>
              </a:rPr>
              <a:t>Lemmatization</a:t>
            </a:r>
            <a:r>
              <a:rPr lang="en-US" sz="1400" i="1" dirty="0" smtClean="0">
                <a:latin typeface="Gadugi" pitchFamily="34" charset="0"/>
                <a:ea typeface="Gadugi" pitchFamily="34" charset="0"/>
              </a:rPr>
              <a:t> :          </a:t>
            </a:r>
            <a:r>
              <a:rPr lang="en-US" sz="1400" dirty="0" smtClean="0">
                <a:latin typeface="Gadugi" pitchFamily="34" charset="0"/>
                <a:ea typeface="Gadugi" pitchFamily="34" charset="0"/>
              </a:rPr>
              <a:t>Converting </a:t>
            </a:r>
            <a:r>
              <a:rPr lang="en-US" sz="1400" dirty="0">
                <a:latin typeface="Gadugi" pitchFamily="34" charset="0"/>
                <a:ea typeface="Gadugi" pitchFamily="34" charset="0"/>
              </a:rPr>
              <a:t>words to their dictionary form (lemma)</a:t>
            </a:r>
          </a:p>
          <a:p>
            <a:r>
              <a:rPr lang="en-US" sz="1400" i="1" dirty="0">
                <a:latin typeface="Gadugi" pitchFamily="34" charset="0"/>
                <a:ea typeface="Gadugi" pitchFamily="34" charset="0"/>
              </a:rPr>
              <a:t>Text </a:t>
            </a:r>
            <a:r>
              <a:rPr lang="en-US" sz="1400" i="1" dirty="0" smtClean="0">
                <a:latin typeface="Gadugi" pitchFamily="34" charset="0"/>
                <a:ea typeface="Gadugi" pitchFamily="34" charset="0"/>
              </a:rPr>
              <a:t>Segmentation :    </a:t>
            </a:r>
            <a:r>
              <a:rPr lang="en-US" sz="1400" dirty="0" smtClean="0">
                <a:latin typeface="Gadugi" pitchFamily="34" charset="0"/>
                <a:ea typeface="Gadugi" pitchFamily="34" charset="0"/>
              </a:rPr>
              <a:t>Breaking </a:t>
            </a:r>
            <a:r>
              <a:rPr lang="en-US" sz="1400" dirty="0">
                <a:latin typeface="Gadugi" pitchFamily="34" charset="0"/>
                <a:ea typeface="Gadugi" pitchFamily="34" charset="0"/>
              </a:rPr>
              <a:t>down a text into meaningful chunks</a:t>
            </a:r>
            <a:endParaRPr lang="en-IN" sz="1400" dirty="0">
              <a:latin typeface="Gadugi" pitchFamily="34" charset="0"/>
              <a:ea typeface="Gadugi" pitchFamily="34" charset="0"/>
            </a:endParaRPr>
          </a:p>
        </p:txBody>
      </p:sp>
      <p:grpSp>
        <p:nvGrpSpPr>
          <p:cNvPr id="18" name="Group 17"/>
          <p:cNvGrpSpPr/>
          <p:nvPr/>
        </p:nvGrpSpPr>
        <p:grpSpPr>
          <a:xfrm>
            <a:off x="1452820" y="602921"/>
            <a:ext cx="1541702" cy="338554"/>
            <a:chOff x="1452820" y="602921"/>
            <a:chExt cx="1541702" cy="338554"/>
          </a:xfrm>
        </p:grpSpPr>
        <p:sp>
          <p:nvSpPr>
            <p:cNvPr id="2" name="Rectangle 1"/>
            <p:cNvSpPr/>
            <p:nvPr/>
          </p:nvSpPr>
          <p:spPr>
            <a:xfrm>
              <a:off x="1729432" y="602921"/>
              <a:ext cx="1265090" cy="307777"/>
            </a:xfrm>
            <a:prstGeom prst="rect">
              <a:avLst/>
            </a:prstGeom>
            <a:solidFill>
              <a:schemeClr val="accent5">
                <a:lumMod val="20000"/>
                <a:lumOff val="80000"/>
              </a:schemeClr>
            </a:solidFill>
            <a:ln>
              <a:solidFill>
                <a:schemeClr val="bg1">
                  <a:lumMod val="85000"/>
                </a:schemeClr>
              </a:solidFill>
            </a:ln>
          </p:spPr>
          <p:txBody>
            <a:bodyPr wrap="none">
              <a:spAutoFit/>
            </a:bodyPr>
            <a:lstStyle/>
            <a:p>
              <a:r>
                <a:rPr lang="en-IN" sz="1400" dirty="0">
                  <a:latin typeface="Bahnschrift" pitchFamily="34" charset="0"/>
                </a:rPr>
                <a:t>Text Cleaning</a:t>
              </a:r>
            </a:p>
          </p:txBody>
        </p:sp>
        <p:sp>
          <p:nvSpPr>
            <p:cNvPr id="5" name="TextBox 4"/>
            <p:cNvSpPr txBox="1"/>
            <p:nvPr/>
          </p:nvSpPr>
          <p:spPr>
            <a:xfrm>
              <a:off x="1452820" y="602921"/>
              <a:ext cx="253596" cy="338554"/>
            </a:xfrm>
            <a:prstGeom prst="rect">
              <a:avLst/>
            </a:prstGeom>
            <a:solidFill>
              <a:schemeClr val="accent2"/>
            </a:solidFill>
          </p:spPr>
          <p:txBody>
            <a:bodyPr wrap="none" rtlCol="0">
              <a:spAutoFit/>
            </a:bodyPr>
            <a:lstStyle/>
            <a:p>
              <a:r>
                <a:rPr lang="en-US" sz="1600" dirty="0" smtClean="0">
                  <a:latin typeface="Bahnschrift" pitchFamily="34" charset="0"/>
                  <a:ea typeface="Arial Unicode MS" pitchFamily="34" charset="-128"/>
                  <a:cs typeface="Arial Unicode MS" pitchFamily="34" charset="-128"/>
                </a:rPr>
                <a:t>1</a:t>
              </a:r>
              <a:endParaRPr lang="en-IN" sz="1600" dirty="0">
                <a:latin typeface="Bahnschrift" pitchFamily="34" charset="0"/>
                <a:ea typeface="Arial Unicode MS" pitchFamily="34" charset="-128"/>
                <a:cs typeface="Arial Unicode MS" pitchFamily="34" charset="-128"/>
              </a:endParaRPr>
            </a:p>
          </p:txBody>
        </p:sp>
      </p:grpSp>
      <p:grpSp>
        <p:nvGrpSpPr>
          <p:cNvPr id="17" name="Group 16"/>
          <p:cNvGrpSpPr/>
          <p:nvPr/>
        </p:nvGrpSpPr>
        <p:grpSpPr>
          <a:xfrm>
            <a:off x="1414578" y="2517504"/>
            <a:ext cx="1924224" cy="307777"/>
            <a:chOff x="1414578" y="2517504"/>
            <a:chExt cx="1924224" cy="307777"/>
          </a:xfrm>
        </p:grpSpPr>
        <p:sp>
          <p:nvSpPr>
            <p:cNvPr id="9" name="Rectangle 8"/>
            <p:cNvSpPr/>
            <p:nvPr/>
          </p:nvSpPr>
          <p:spPr>
            <a:xfrm>
              <a:off x="1714639" y="2517504"/>
              <a:ext cx="1624163" cy="307777"/>
            </a:xfrm>
            <a:prstGeom prst="rect">
              <a:avLst/>
            </a:prstGeom>
            <a:solidFill>
              <a:schemeClr val="accent2">
                <a:lumMod val="20000"/>
                <a:lumOff val="80000"/>
              </a:schemeClr>
            </a:solidFill>
            <a:ln>
              <a:solidFill>
                <a:schemeClr val="bg1">
                  <a:lumMod val="85000"/>
                </a:schemeClr>
              </a:solidFill>
            </a:ln>
          </p:spPr>
          <p:txBody>
            <a:bodyPr wrap="none">
              <a:spAutoFit/>
            </a:bodyPr>
            <a:lstStyle/>
            <a:p>
              <a:r>
                <a:rPr lang="en-IN" sz="1400" dirty="0">
                  <a:latin typeface="Bahnschrift" pitchFamily="34" charset="0"/>
                </a:rPr>
                <a:t> Text Tokenization</a:t>
              </a:r>
            </a:p>
          </p:txBody>
        </p:sp>
        <p:sp>
          <p:nvSpPr>
            <p:cNvPr id="15" name="TextBox 14"/>
            <p:cNvSpPr txBox="1"/>
            <p:nvPr/>
          </p:nvSpPr>
          <p:spPr>
            <a:xfrm>
              <a:off x="1414578" y="2517504"/>
              <a:ext cx="277640" cy="307777"/>
            </a:xfrm>
            <a:prstGeom prst="rect">
              <a:avLst/>
            </a:prstGeom>
            <a:solidFill>
              <a:schemeClr val="accent2"/>
            </a:solidFill>
          </p:spPr>
          <p:txBody>
            <a:bodyPr wrap="none" rtlCol="0">
              <a:spAutoFit/>
            </a:bodyPr>
            <a:lstStyle/>
            <a:p>
              <a:r>
                <a:rPr lang="en-US" sz="1400" dirty="0" smtClean="0">
                  <a:latin typeface="Bahnschrift" pitchFamily="34" charset="0"/>
                  <a:ea typeface="Arial Unicode MS" pitchFamily="34" charset="-128"/>
                  <a:cs typeface="Arial Unicode MS" pitchFamily="34" charset="-128"/>
                </a:rPr>
                <a:t>2</a:t>
              </a:r>
              <a:endParaRPr lang="en-IN" sz="1400" dirty="0">
                <a:latin typeface="Bahnschrift" pitchFamily="34" charset="0"/>
                <a:ea typeface="Arial Unicode MS" pitchFamily="34" charset="-128"/>
                <a:cs typeface="Arial Unicode MS" pitchFamily="34" charset="-128"/>
              </a:endParaRPr>
            </a:p>
          </p:txBody>
        </p:sp>
      </p:grpSp>
      <p:grpSp>
        <p:nvGrpSpPr>
          <p:cNvPr id="12" name="Group 11"/>
          <p:cNvGrpSpPr/>
          <p:nvPr/>
        </p:nvGrpSpPr>
        <p:grpSpPr>
          <a:xfrm>
            <a:off x="1412974" y="4242283"/>
            <a:ext cx="1994549" cy="321006"/>
            <a:chOff x="1371051" y="4207096"/>
            <a:chExt cx="1994549" cy="321006"/>
          </a:xfrm>
        </p:grpSpPr>
        <p:sp>
          <p:nvSpPr>
            <p:cNvPr id="13" name="Rectangle 12"/>
            <p:cNvSpPr/>
            <p:nvPr/>
          </p:nvSpPr>
          <p:spPr>
            <a:xfrm>
              <a:off x="1664493" y="4207096"/>
              <a:ext cx="1701107" cy="307777"/>
            </a:xfrm>
            <a:prstGeom prst="rect">
              <a:avLst/>
            </a:prstGeom>
            <a:solidFill>
              <a:schemeClr val="accent3">
                <a:lumMod val="20000"/>
                <a:lumOff val="80000"/>
              </a:schemeClr>
            </a:solidFill>
            <a:ln>
              <a:solidFill>
                <a:schemeClr val="bg1">
                  <a:lumMod val="85000"/>
                </a:schemeClr>
              </a:solidFill>
            </a:ln>
          </p:spPr>
          <p:txBody>
            <a:bodyPr wrap="none">
              <a:spAutoFit/>
            </a:bodyPr>
            <a:lstStyle/>
            <a:p>
              <a:r>
                <a:rPr lang="en-IN" sz="1400" dirty="0">
                  <a:latin typeface="Bahnschrift" pitchFamily="34" charset="0"/>
                </a:rPr>
                <a:t>Text Normalization</a:t>
              </a:r>
            </a:p>
          </p:txBody>
        </p:sp>
        <p:sp>
          <p:nvSpPr>
            <p:cNvPr id="16" name="TextBox 15"/>
            <p:cNvSpPr txBox="1"/>
            <p:nvPr/>
          </p:nvSpPr>
          <p:spPr>
            <a:xfrm>
              <a:off x="1371051" y="4220325"/>
              <a:ext cx="279244" cy="307777"/>
            </a:xfrm>
            <a:prstGeom prst="rect">
              <a:avLst/>
            </a:prstGeom>
            <a:solidFill>
              <a:schemeClr val="accent2"/>
            </a:solidFill>
          </p:spPr>
          <p:txBody>
            <a:bodyPr wrap="none" rtlCol="0">
              <a:spAutoFit/>
            </a:bodyPr>
            <a:lstStyle/>
            <a:p>
              <a:r>
                <a:rPr lang="en-US" sz="1400" dirty="0" smtClean="0">
                  <a:latin typeface="Bahnschrift" pitchFamily="34" charset="0"/>
                  <a:ea typeface="Arial Unicode MS" pitchFamily="34" charset="-128"/>
                  <a:cs typeface="Arial Unicode MS" pitchFamily="34" charset="-128"/>
                </a:rPr>
                <a:t>3</a:t>
              </a:r>
              <a:endParaRPr lang="en-IN" sz="1400" dirty="0">
                <a:latin typeface="Bahnschrift" pitchFamily="34" charset="0"/>
                <a:ea typeface="Arial Unicode MS" pitchFamily="34" charset="-128"/>
                <a:cs typeface="Arial Unicode MS" pitchFamily="34" charset="-128"/>
              </a:endParaRPr>
            </a:p>
          </p:txBody>
        </p:sp>
      </p:grpSp>
    </p:spTree>
    <p:extLst>
      <p:ext uri="{BB962C8B-B14F-4D97-AF65-F5344CB8AC3E}">
        <p14:creationId xmlns:p14="http://schemas.microsoft.com/office/powerpoint/2010/main" val="18989871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32336824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21" name="Group 20"/>
          <p:cNvGrpSpPr/>
          <p:nvPr/>
        </p:nvGrpSpPr>
        <p:grpSpPr>
          <a:xfrm>
            <a:off x="2489092" y="2260358"/>
            <a:ext cx="7510692" cy="2450123"/>
            <a:chOff x="1633308" y="2016369"/>
            <a:chExt cx="7510692" cy="2450123"/>
          </a:xfrm>
        </p:grpSpPr>
        <p:grpSp>
          <p:nvGrpSpPr>
            <p:cNvPr id="18" name="Group 17"/>
            <p:cNvGrpSpPr/>
            <p:nvPr/>
          </p:nvGrpSpPr>
          <p:grpSpPr>
            <a:xfrm>
              <a:off x="1633308" y="2433247"/>
              <a:ext cx="3287053" cy="1372011"/>
              <a:chOff x="3048000" y="1808257"/>
              <a:chExt cx="3287053" cy="1372011"/>
            </a:xfrm>
          </p:grpSpPr>
          <p:sp>
            <p:nvSpPr>
              <p:cNvPr id="2" name="TextBox 1"/>
              <p:cNvSpPr txBox="1"/>
              <p:nvPr/>
            </p:nvSpPr>
            <p:spPr>
              <a:xfrm>
                <a:off x="3048000" y="2321169"/>
                <a:ext cx="567784" cy="338554"/>
              </a:xfrm>
              <a:prstGeom prst="rect">
                <a:avLst/>
              </a:prstGeom>
              <a:noFill/>
            </p:spPr>
            <p:txBody>
              <a:bodyPr wrap="none" rtlCol="0">
                <a:spAutoFit/>
              </a:bodyPr>
              <a:lstStyle/>
              <a:p>
                <a:r>
                  <a:rPr lang="en-US" sz="1600" dirty="0" smtClean="0">
                    <a:latin typeface="Cambria Math" pitchFamily="18" charset="0"/>
                    <a:ea typeface="Cambria Math" pitchFamily="18" charset="0"/>
                  </a:rPr>
                  <a:t>Text</a:t>
                </a:r>
                <a:endParaRPr lang="en-IN" sz="1600" dirty="0">
                  <a:latin typeface="Cambria Math" pitchFamily="18" charset="0"/>
                  <a:ea typeface="Cambria Math" pitchFamily="18" charset="0"/>
                </a:endParaRPr>
              </a:p>
            </p:txBody>
          </p:sp>
          <p:grpSp>
            <p:nvGrpSpPr>
              <p:cNvPr id="9" name="Group 8"/>
              <p:cNvGrpSpPr/>
              <p:nvPr/>
            </p:nvGrpSpPr>
            <p:grpSpPr>
              <a:xfrm>
                <a:off x="3552092" y="1808257"/>
                <a:ext cx="1256742" cy="653589"/>
                <a:chOff x="3552092" y="1808257"/>
                <a:chExt cx="1256742" cy="653589"/>
              </a:xfrm>
            </p:grpSpPr>
            <p:sp>
              <p:nvSpPr>
                <p:cNvPr id="3" name="Freeform 2"/>
                <p:cNvSpPr/>
                <p:nvPr/>
              </p:nvSpPr>
              <p:spPr>
                <a:xfrm>
                  <a:off x="3552092" y="2121877"/>
                  <a:ext cx="703385" cy="339969"/>
                </a:xfrm>
                <a:custGeom>
                  <a:avLst/>
                  <a:gdLst>
                    <a:gd name="connsiteX0" fmla="*/ 0 w 703385"/>
                    <a:gd name="connsiteY0" fmla="*/ 339969 h 339969"/>
                    <a:gd name="connsiteX1" fmla="*/ 211016 w 703385"/>
                    <a:gd name="connsiteY1" fmla="*/ 304800 h 339969"/>
                    <a:gd name="connsiteX2" fmla="*/ 246185 w 703385"/>
                    <a:gd name="connsiteY2" fmla="*/ 281354 h 339969"/>
                    <a:gd name="connsiteX3" fmla="*/ 339970 w 703385"/>
                    <a:gd name="connsiteY3" fmla="*/ 257908 h 339969"/>
                    <a:gd name="connsiteX4" fmla="*/ 422031 w 703385"/>
                    <a:gd name="connsiteY4" fmla="*/ 211015 h 339969"/>
                    <a:gd name="connsiteX5" fmla="*/ 468923 w 703385"/>
                    <a:gd name="connsiteY5" fmla="*/ 152400 h 339969"/>
                    <a:gd name="connsiteX6" fmla="*/ 527539 w 703385"/>
                    <a:gd name="connsiteY6" fmla="*/ 128954 h 339969"/>
                    <a:gd name="connsiteX7" fmla="*/ 562708 w 703385"/>
                    <a:gd name="connsiteY7" fmla="*/ 117231 h 339969"/>
                    <a:gd name="connsiteX8" fmla="*/ 644770 w 703385"/>
                    <a:gd name="connsiteY8" fmla="*/ 46892 h 339969"/>
                    <a:gd name="connsiteX9" fmla="*/ 703385 w 703385"/>
                    <a:gd name="connsiteY9" fmla="*/ 0 h 33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3385" h="339969">
                      <a:moveTo>
                        <a:pt x="0" y="339969"/>
                      </a:moveTo>
                      <a:cubicBezTo>
                        <a:pt x="180073" y="314244"/>
                        <a:pt x="110510" y="329926"/>
                        <a:pt x="211016" y="304800"/>
                      </a:cubicBezTo>
                      <a:cubicBezTo>
                        <a:pt x="222739" y="296985"/>
                        <a:pt x="233583" y="287655"/>
                        <a:pt x="246185" y="281354"/>
                      </a:cubicBezTo>
                      <a:cubicBezTo>
                        <a:pt x="270217" y="269338"/>
                        <a:pt x="317675" y="262367"/>
                        <a:pt x="339970" y="257908"/>
                      </a:cubicBezTo>
                      <a:cubicBezTo>
                        <a:pt x="351506" y="252140"/>
                        <a:pt x="410985" y="224822"/>
                        <a:pt x="422031" y="211015"/>
                      </a:cubicBezTo>
                      <a:cubicBezTo>
                        <a:pt x="467100" y="154679"/>
                        <a:pt x="390532" y="191595"/>
                        <a:pt x="468923" y="152400"/>
                      </a:cubicBezTo>
                      <a:cubicBezTo>
                        <a:pt x="487745" y="142989"/>
                        <a:pt x="507835" y="136343"/>
                        <a:pt x="527539" y="128954"/>
                      </a:cubicBezTo>
                      <a:cubicBezTo>
                        <a:pt x="539109" y="124615"/>
                        <a:pt x="551655" y="122757"/>
                        <a:pt x="562708" y="117231"/>
                      </a:cubicBezTo>
                      <a:cubicBezTo>
                        <a:pt x="616800" y="90185"/>
                        <a:pt x="587083" y="90157"/>
                        <a:pt x="644770" y="46892"/>
                      </a:cubicBezTo>
                      <a:cubicBezTo>
                        <a:pt x="696083" y="8407"/>
                        <a:pt x="677846" y="25539"/>
                        <a:pt x="703385"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5" name="TextBox 4"/>
                <p:cNvSpPr txBox="1"/>
                <p:nvPr/>
              </p:nvSpPr>
              <p:spPr>
                <a:xfrm>
                  <a:off x="4255477" y="1808257"/>
                  <a:ext cx="553357" cy="338554"/>
                </a:xfrm>
                <a:prstGeom prst="rect">
                  <a:avLst/>
                </a:prstGeom>
                <a:noFill/>
              </p:spPr>
              <p:txBody>
                <a:bodyPr wrap="none" rtlCol="0">
                  <a:spAutoFit/>
                </a:bodyPr>
                <a:lstStyle/>
                <a:p>
                  <a:r>
                    <a:rPr lang="en-US" sz="1600" dirty="0" smtClean="0">
                      <a:latin typeface="Cambria Math" pitchFamily="18" charset="0"/>
                      <a:ea typeface="Cambria Math" pitchFamily="18" charset="0"/>
                    </a:rPr>
                    <a:t>part</a:t>
                  </a:r>
                  <a:endParaRPr lang="en-IN" dirty="0">
                    <a:latin typeface="Cambria Math" pitchFamily="18" charset="0"/>
                    <a:ea typeface="Cambria Math" pitchFamily="18" charset="0"/>
                  </a:endParaRPr>
                </a:p>
              </p:txBody>
            </p:sp>
          </p:grpSp>
          <p:grpSp>
            <p:nvGrpSpPr>
              <p:cNvPr id="12" name="Group 11"/>
              <p:cNvGrpSpPr/>
              <p:nvPr/>
            </p:nvGrpSpPr>
            <p:grpSpPr>
              <a:xfrm>
                <a:off x="3493478" y="2433247"/>
                <a:ext cx="2841575" cy="338554"/>
                <a:chOff x="3493478" y="2433247"/>
                <a:chExt cx="2841575" cy="338554"/>
              </a:xfrm>
            </p:grpSpPr>
            <p:sp>
              <p:nvSpPr>
                <p:cNvPr id="10" name="Freeform 9"/>
                <p:cNvSpPr/>
                <p:nvPr/>
              </p:nvSpPr>
              <p:spPr>
                <a:xfrm>
                  <a:off x="3493478" y="2602524"/>
                  <a:ext cx="1049098" cy="86790"/>
                </a:xfrm>
                <a:custGeom>
                  <a:avLst/>
                  <a:gdLst>
                    <a:gd name="connsiteX0" fmla="*/ 0 w 1383323"/>
                    <a:gd name="connsiteY0" fmla="*/ 0 h 173581"/>
                    <a:gd name="connsiteX1" fmla="*/ 105508 w 1383323"/>
                    <a:gd name="connsiteY1" fmla="*/ 11723 h 173581"/>
                    <a:gd name="connsiteX2" fmla="*/ 164123 w 1383323"/>
                    <a:gd name="connsiteY2" fmla="*/ 23446 h 173581"/>
                    <a:gd name="connsiteX3" fmla="*/ 269631 w 1383323"/>
                    <a:gd name="connsiteY3" fmla="*/ 35169 h 173581"/>
                    <a:gd name="connsiteX4" fmla="*/ 1383323 w 1383323"/>
                    <a:gd name="connsiteY4" fmla="*/ 70339 h 173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3323" h="173581">
                      <a:moveTo>
                        <a:pt x="0" y="0"/>
                      </a:moveTo>
                      <a:cubicBezTo>
                        <a:pt x="35169" y="3908"/>
                        <a:pt x="70478" y="6719"/>
                        <a:pt x="105508" y="11723"/>
                      </a:cubicBezTo>
                      <a:cubicBezTo>
                        <a:pt x="125233" y="14541"/>
                        <a:pt x="144398" y="20628"/>
                        <a:pt x="164123" y="23446"/>
                      </a:cubicBezTo>
                      <a:cubicBezTo>
                        <a:pt x="199153" y="28450"/>
                        <a:pt x="234462" y="31261"/>
                        <a:pt x="269631" y="35169"/>
                      </a:cubicBezTo>
                      <a:cubicBezTo>
                        <a:pt x="559007" y="324553"/>
                        <a:pt x="288221" y="70339"/>
                        <a:pt x="1383323" y="7033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1" name="TextBox 10"/>
                <p:cNvSpPr txBox="1"/>
                <p:nvPr/>
              </p:nvSpPr>
              <p:spPr>
                <a:xfrm>
                  <a:off x="4542575" y="2433247"/>
                  <a:ext cx="1792478" cy="338554"/>
                </a:xfrm>
                <a:prstGeom prst="rect">
                  <a:avLst/>
                </a:prstGeom>
                <a:noFill/>
              </p:spPr>
              <p:txBody>
                <a:bodyPr wrap="none" rtlCol="0">
                  <a:spAutoFit/>
                </a:bodyPr>
                <a:lstStyle/>
                <a:p>
                  <a:r>
                    <a:rPr lang="en-US" sz="1600" dirty="0" smtClean="0">
                      <a:latin typeface="Cambria Math" pitchFamily="18" charset="0"/>
                      <a:ea typeface="Cambria Math" pitchFamily="18" charset="0"/>
                    </a:rPr>
                    <a:t>Segment -&gt; chunk</a:t>
                  </a:r>
                  <a:endParaRPr lang="en-IN" sz="1600" dirty="0">
                    <a:latin typeface="Cambria Math" pitchFamily="18" charset="0"/>
                    <a:ea typeface="Cambria Math" pitchFamily="18" charset="0"/>
                  </a:endParaRPr>
                </a:p>
              </p:txBody>
            </p:sp>
          </p:grpSp>
          <p:grpSp>
            <p:nvGrpSpPr>
              <p:cNvPr id="17" name="Group 16"/>
              <p:cNvGrpSpPr/>
              <p:nvPr/>
            </p:nvGrpSpPr>
            <p:grpSpPr>
              <a:xfrm>
                <a:off x="3540369" y="2661138"/>
                <a:ext cx="2463995" cy="519130"/>
                <a:chOff x="3540369" y="2661138"/>
                <a:chExt cx="2463995" cy="519130"/>
              </a:xfrm>
            </p:grpSpPr>
            <p:sp>
              <p:nvSpPr>
                <p:cNvPr id="15" name="TextBox 14"/>
                <p:cNvSpPr txBox="1"/>
                <p:nvPr/>
              </p:nvSpPr>
              <p:spPr>
                <a:xfrm>
                  <a:off x="4480421" y="2841714"/>
                  <a:ext cx="1523943" cy="338554"/>
                </a:xfrm>
                <a:prstGeom prst="rect">
                  <a:avLst/>
                </a:prstGeom>
                <a:noFill/>
              </p:spPr>
              <p:txBody>
                <a:bodyPr wrap="none" rtlCol="0">
                  <a:spAutoFit/>
                </a:bodyPr>
                <a:lstStyle/>
                <a:p>
                  <a:r>
                    <a:rPr lang="en-US" sz="1600" dirty="0" smtClean="0">
                      <a:latin typeface="Cambria Math" pitchFamily="18" charset="0"/>
                      <a:ea typeface="Cambria Math" pitchFamily="18" charset="0"/>
                    </a:rPr>
                    <a:t>Word, sentence</a:t>
                  </a:r>
                  <a:endParaRPr lang="en-IN" sz="1600" dirty="0">
                    <a:latin typeface="Cambria Math" pitchFamily="18" charset="0"/>
                    <a:ea typeface="Cambria Math" pitchFamily="18" charset="0"/>
                  </a:endParaRPr>
                </a:p>
              </p:txBody>
            </p:sp>
            <p:sp>
              <p:nvSpPr>
                <p:cNvPr id="16" name="Freeform 15"/>
                <p:cNvSpPr/>
                <p:nvPr/>
              </p:nvSpPr>
              <p:spPr>
                <a:xfrm>
                  <a:off x="3540369" y="2661138"/>
                  <a:ext cx="961293" cy="398585"/>
                </a:xfrm>
                <a:custGeom>
                  <a:avLst/>
                  <a:gdLst>
                    <a:gd name="connsiteX0" fmla="*/ 0 w 961293"/>
                    <a:gd name="connsiteY0" fmla="*/ 0 h 398585"/>
                    <a:gd name="connsiteX1" fmla="*/ 58616 w 961293"/>
                    <a:gd name="connsiteY1" fmla="*/ 35170 h 398585"/>
                    <a:gd name="connsiteX2" fmla="*/ 93785 w 961293"/>
                    <a:gd name="connsiteY2" fmla="*/ 58616 h 398585"/>
                    <a:gd name="connsiteX3" fmla="*/ 164123 w 961293"/>
                    <a:gd name="connsiteY3" fmla="*/ 82062 h 398585"/>
                    <a:gd name="connsiteX4" fmla="*/ 211016 w 961293"/>
                    <a:gd name="connsiteY4" fmla="*/ 105508 h 398585"/>
                    <a:gd name="connsiteX5" fmla="*/ 293077 w 961293"/>
                    <a:gd name="connsiteY5" fmla="*/ 128954 h 398585"/>
                    <a:gd name="connsiteX6" fmla="*/ 433754 w 961293"/>
                    <a:gd name="connsiteY6" fmla="*/ 199293 h 398585"/>
                    <a:gd name="connsiteX7" fmla="*/ 480646 w 961293"/>
                    <a:gd name="connsiteY7" fmla="*/ 222739 h 398585"/>
                    <a:gd name="connsiteX8" fmla="*/ 515816 w 961293"/>
                    <a:gd name="connsiteY8" fmla="*/ 246185 h 398585"/>
                    <a:gd name="connsiteX9" fmla="*/ 597877 w 961293"/>
                    <a:gd name="connsiteY9" fmla="*/ 269631 h 398585"/>
                    <a:gd name="connsiteX10" fmla="*/ 691662 w 961293"/>
                    <a:gd name="connsiteY10" fmla="*/ 316524 h 398585"/>
                    <a:gd name="connsiteX11" fmla="*/ 738554 w 961293"/>
                    <a:gd name="connsiteY11" fmla="*/ 328247 h 398585"/>
                    <a:gd name="connsiteX12" fmla="*/ 808893 w 961293"/>
                    <a:gd name="connsiteY12" fmla="*/ 351693 h 398585"/>
                    <a:gd name="connsiteX13" fmla="*/ 844062 w 961293"/>
                    <a:gd name="connsiteY13" fmla="*/ 363416 h 398585"/>
                    <a:gd name="connsiteX14" fmla="*/ 902677 w 961293"/>
                    <a:gd name="connsiteY14" fmla="*/ 375139 h 398585"/>
                    <a:gd name="connsiteX15" fmla="*/ 961293 w 961293"/>
                    <a:gd name="connsiteY15" fmla="*/ 398585 h 39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1293" h="398585">
                      <a:moveTo>
                        <a:pt x="0" y="0"/>
                      </a:moveTo>
                      <a:cubicBezTo>
                        <a:pt x="19539" y="11723"/>
                        <a:pt x="39294" y="23093"/>
                        <a:pt x="58616" y="35170"/>
                      </a:cubicBezTo>
                      <a:cubicBezTo>
                        <a:pt x="70564" y="42637"/>
                        <a:pt x="80910" y="52894"/>
                        <a:pt x="93785" y="58616"/>
                      </a:cubicBezTo>
                      <a:cubicBezTo>
                        <a:pt x="116369" y="68653"/>
                        <a:pt x="142018" y="71010"/>
                        <a:pt x="164123" y="82062"/>
                      </a:cubicBezTo>
                      <a:cubicBezTo>
                        <a:pt x="179754" y="89877"/>
                        <a:pt x="194953" y="98624"/>
                        <a:pt x="211016" y="105508"/>
                      </a:cubicBezTo>
                      <a:cubicBezTo>
                        <a:pt x="234562" y="115599"/>
                        <a:pt x="269281" y="123005"/>
                        <a:pt x="293077" y="128954"/>
                      </a:cubicBezTo>
                      <a:cubicBezTo>
                        <a:pt x="494656" y="263341"/>
                        <a:pt x="239615" y="102223"/>
                        <a:pt x="433754" y="199293"/>
                      </a:cubicBezTo>
                      <a:cubicBezTo>
                        <a:pt x="449385" y="207108"/>
                        <a:pt x="465473" y="214069"/>
                        <a:pt x="480646" y="222739"/>
                      </a:cubicBezTo>
                      <a:cubicBezTo>
                        <a:pt x="492879" y="229729"/>
                        <a:pt x="502866" y="240635"/>
                        <a:pt x="515816" y="246185"/>
                      </a:cubicBezTo>
                      <a:cubicBezTo>
                        <a:pt x="568397" y="268719"/>
                        <a:pt x="552254" y="246820"/>
                        <a:pt x="597877" y="269631"/>
                      </a:cubicBezTo>
                      <a:cubicBezTo>
                        <a:pt x="684033" y="312709"/>
                        <a:pt x="569962" y="275957"/>
                        <a:pt x="691662" y="316524"/>
                      </a:cubicBezTo>
                      <a:cubicBezTo>
                        <a:pt x="706947" y="321619"/>
                        <a:pt x="723122" y="323617"/>
                        <a:pt x="738554" y="328247"/>
                      </a:cubicBezTo>
                      <a:cubicBezTo>
                        <a:pt x="762226" y="335349"/>
                        <a:pt x="785447" y="343878"/>
                        <a:pt x="808893" y="351693"/>
                      </a:cubicBezTo>
                      <a:cubicBezTo>
                        <a:pt x="820616" y="355601"/>
                        <a:pt x="831945" y="360993"/>
                        <a:pt x="844062" y="363416"/>
                      </a:cubicBezTo>
                      <a:cubicBezTo>
                        <a:pt x="863600" y="367324"/>
                        <a:pt x="883347" y="370306"/>
                        <a:pt x="902677" y="375139"/>
                      </a:cubicBezTo>
                      <a:cubicBezTo>
                        <a:pt x="931648" y="382382"/>
                        <a:pt x="937038" y="386458"/>
                        <a:pt x="961293" y="398585"/>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sp>
          <p:nvSpPr>
            <p:cNvPr id="19" name="Rectangle 18"/>
            <p:cNvSpPr/>
            <p:nvPr/>
          </p:nvSpPr>
          <p:spPr>
            <a:xfrm>
              <a:off x="5076092" y="2967335"/>
              <a:ext cx="4067908" cy="738664"/>
            </a:xfrm>
            <a:prstGeom prst="rect">
              <a:avLst/>
            </a:prstGeom>
          </p:spPr>
          <p:txBody>
            <a:bodyPr wrap="square">
              <a:spAutoFit/>
            </a:bodyPr>
            <a:lstStyle/>
            <a:p>
              <a:r>
                <a:rPr lang="en-US" sz="1400" dirty="0">
                  <a:latin typeface="Cambria Math" pitchFamily="18" charset="0"/>
                  <a:ea typeface="Cambria Math" pitchFamily="18" charset="0"/>
                </a:rPr>
                <a:t>the process of dividing a continuous body of text into smaller, meaningful units called segments, such as words, sentences, paragraphs, or topics</a:t>
              </a:r>
              <a:endParaRPr lang="en-IN" sz="1400" dirty="0">
                <a:latin typeface="Cambria Math" pitchFamily="18" charset="0"/>
                <a:ea typeface="Cambria Math" pitchFamily="18" charset="0"/>
              </a:endParaRPr>
            </a:p>
          </p:txBody>
        </p:sp>
        <p:sp>
          <p:nvSpPr>
            <p:cNvPr id="20" name="Freeform 19"/>
            <p:cNvSpPr/>
            <p:nvPr/>
          </p:nvSpPr>
          <p:spPr>
            <a:xfrm>
              <a:off x="4196862" y="2016369"/>
              <a:ext cx="783040" cy="2450123"/>
            </a:xfrm>
            <a:custGeom>
              <a:avLst/>
              <a:gdLst>
                <a:gd name="connsiteX0" fmla="*/ 0 w 783040"/>
                <a:gd name="connsiteY0" fmla="*/ 0 h 2450123"/>
                <a:gd name="connsiteX1" fmla="*/ 58615 w 783040"/>
                <a:gd name="connsiteY1" fmla="*/ 11723 h 2450123"/>
                <a:gd name="connsiteX2" fmla="*/ 93784 w 783040"/>
                <a:gd name="connsiteY2" fmla="*/ 35169 h 2450123"/>
                <a:gd name="connsiteX3" fmla="*/ 128953 w 783040"/>
                <a:gd name="connsiteY3" fmla="*/ 46893 h 2450123"/>
                <a:gd name="connsiteX4" fmla="*/ 187569 w 783040"/>
                <a:gd name="connsiteY4" fmla="*/ 93785 h 2450123"/>
                <a:gd name="connsiteX5" fmla="*/ 222738 w 783040"/>
                <a:gd name="connsiteY5" fmla="*/ 128954 h 2450123"/>
                <a:gd name="connsiteX6" fmla="*/ 257907 w 783040"/>
                <a:gd name="connsiteY6" fmla="*/ 152400 h 2450123"/>
                <a:gd name="connsiteX7" fmla="*/ 304800 w 783040"/>
                <a:gd name="connsiteY7" fmla="*/ 187569 h 2450123"/>
                <a:gd name="connsiteX8" fmla="*/ 351692 w 783040"/>
                <a:gd name="connsiteY8" fmla="*/ 246185 h 2450123"/>
                <a:gd name="connsiteX9" fmla="*/ 386861 w 783040"/>
                <a:gd name="connsiteY9" fmla="*/ 281354 h 2450123"/>
                <a:gd name="connsiteX10" fmla="*/ 445476 w 783040"/>
                <a:gd name="connsiteY10" fmla="*/ 351693 h 2450123"/>
                <a:gd name="connsiteX11" fmla="*/ 492369 w 783040"/>
                <a:gd name="connsiteY11" fmla="*/ 410308 h 2450123"/>
                <a:gd name="connsiteX12" fmla="*/ 504092 w 783040"/>
                <a:gd name="connsiteY12" fmla="*/ 457200 h 2450123"/>
                <a:gd name="connsiteX13" fmla="*/ 527538 w 783040"/>
                <a:gd name="connsiteY13" fmla="*/ 492369 h 2450123"/>
                <a:gd name="connsiteX14" fmla="*/ 550984 w 783040"/>
                <a:gd name="connsiteY14" fmla="*/ 562708 h 2450123"/>
                <a:gd name="connsiteX15" fmla="*/ 597876 w 783040"/>
                <a:gd name="connsiteY15" fmla="*/ 633046 h 2450123"/>
                <a:gd name="connsiteX16" fmla="*/ 621323 w 783040"/>
                <a:gd name="connsiteY16" fmla="*/ 738554 h 2450123"/>
                <a:gd name="connsiteX17" fmla="*/ 679938 w 783040"/>
                <a:gd name="connsiteY17" fmla="*/ 855785 h 2450123"/>
                <a:gd name="connsiteX18" fmla="*/ 691661 w 783040"/>
                <a:gd name="connsiteY18" fmla="*/ 961293 h 2450123"/>
                <a:gd name="connsiteX19" fmla="*/ 703384 w 783040"/>
                <a:gd name="connsiteY19" fmla="*/ 1078523 h 2450123"/>
                <a:gd name="connsiteX20" fmla="*/ 726830 w 783040"/>
                <a:gd name="connsiteY20" fmla="*/ 1148862 h 2450123"/>
                <a:gd name="connsiteX21" fmla="*/ 762000 w 783040"/>
                <a:gd name="connsiteY21" fmla="*/ 1242646 h 2450123"/>
                <a:gd name="connsiteX22" fmla="*/ 762000 w 783040"/>
                <a:gd name="connsiteY22" fmla="*/ 1723293 h 2450123"/>
                <a:gd name="connsiteX23" fmla="*/ 738553 w 783040"/>
                <a:gd name="connsiteY23" fmla="*/ 1863969 h 2450123"/>
                <a:gd name="connsiteX24" fmla="*/ 703384 w 783040"/>
                <a:gd name="connsiteY24" fmla="*/ 1969477 h 2450123"/>
                <a:gd name="connsiteX25" fmla="*/ 679938 w 783040"/>
                <a:gd name="connsiteY25" fmla="*/ 2039816 h 2450123"/>
                <a:gd name="connsiteX26" fmla="*/ 668215 w 783040"/>
                <a:gd name="connsiteY26" fmla="*/ 2086708 h 2450123"/>
                <a:gd name="connsiteX27" fmla="*/ 621323 w 783040"/>
                <a:gd name="connsiteY27" fmla="*/ 2168769 h 2450123"/>
                <a:gd name="connsiteX28" fmla="*/ 597876 w 783040"/>
                <a:gd name="connsiteY28" fmla="*/ 2192216 h 2450123"/>
                <a:gd name="connsiteX29" fmla="*/ 574430 w 783040"/>
                <a:gd name="connsiteY29" fmla="*/ 2227385 h 2450123"/>
                <a:gd name="connsiteX30" fmla="*/ 492369 w 783040"/>
                <a:gd name="connsiteY30" fmla="*/ 2297723 h 2450123"/>
                <a:gd name="connsiteX31" fmla="*/ 468923 w 783040"/>
                <a:gd name="connsiteY31" fmla="*/ 2332893 h 2450123"/>
                <a:gd name="connsiteX32" fmla="*/ 433753 w 783040"/>
                <a:gd name="connsiteY32" fmla="*/ 2344616 h 2450123"/>
                <a:gd name="connsiteX33" fmla="*/ 363415 w 783040"/>
                <a:gd name="connsiteY33" fmla="*/ 2391508 h 2450123"/>
                <a:gd name="connsiteX34" fmla="*/ 304800 w 783040"/>
                <a:gd name="connsiteY34" fmla="*/ 2450123 h 245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83040" h="2450123">
                  <a:moveTo>
                    <a:pt x="0" y="0"/>
                  </a:moveTo>
                  <a:cubicBezTo>
                    <a:pt x="19538" y="3908"/>
                    <a:pt x="39958" y="4727"/>
                    <a:pt x="58615" y="11723"/>
                  </a:cubicBezTo>
                  <a:cubicBezTo>
                    <a:pt x="71807" y="16670"/>
                    <a:pt x="81182" y="28868"/>
                    <a:pt x="93784" y="35169"/>
                  </a:cubicBezTo>
                  <a:cubicBezTo>
                    <a:pt x="104837" y="40695"/>
                    <a:pt x="117230" y="42985"/>
                    <a:pt x="128953" y="46893"/>
                  </a:cubicBezTo>
                  <a:cubicBezTo>
                    <a:pt x="197176" y="115113"/>
                    <a:pt x="98827" y="19833"/>
                    <a:pt x="187569" y="93785"/>
                  </a:cubicBezTo>
                  <a:cubicBezTo>
                    <a:pt x="200305" y="104399"/>
                    <a:pt x="210002" y="118340"/>
                    <a:pt x="222738" y="128954"/>
                  </a:cubicBezTo>
                  <a:cubicBezTo>
                    <a:pt x="233562" y="137974"/>
                    <a:pt x="246442" y="144211"/>
                    <a:pt x="257907" y="152400"/>
                  </a:cubicBezTo>
                  <a:cubicBezTo>
                    <a:pt x="273806" y="163756"/>
                    <a:pt x="289790" y="175061"/>
                    <a:pt x="304800" y="187569"/>
                  </a:cubicBezTo>
                  <a:cubicBezTo>
                    <a:pt x="342003" y="218572"/>
                    <a:pt x="317278" y="204888"/>
                    <a:pt x="351692" y="246185"/>
                  </a:cubicBezTo>
                  <a:cubicBezTo>
                    <a:pt x="362306" y="258921"/>
                    <a:pt x="376072" y="268766"/>
                    <a:pt x="386861" y="281354"/>
                  </a:cubicBezTo>
                  <a:cubicBezTo>
                    <a:pt x="470473" y="378901"/>
                    <a:pt x="384562" y="290776"/>
                    <a:pt x="445476" y="351693"/>
                  </a:cubicBezTo>
                  <a:cubicBezTo>
                    <a:pt x="483806" y="466673"/>
                    <a:pt x="421663" y="304250"/>
                    <a:pt x="492369" y="410308"/>
                  </a:cubicBezTo>
                  <a:cubicBezTo>
                    <a:pt x="501306" y="423714"/>
                    <a:pt x="497745" y="442391"/>
                    <a:pt x="504092" y="457200"/>
                  </a:cubicBezTo>
                  <a:cubicBezTo>
                    <a:pt x="509642" y="470150"/>
                    <a:pt x="519723" y="480646"/>
                    <a:pt x="527538" y="492369"/>
                  </a:cubicBezTo>
                  <a:cubicBezTo>
                    <a:pt x="535353" y="515815"/>
                    <a:pt x="537275" y="542144"/>
                    <a:pt x="550984" y="562708"/>
                  </a:cubicBezTo>
                  <a:lnTo>
                    <a:pt x="597876" y="633046"/>
                  </a:lnTo>
                  <a:cubicBezTo>
                    <a:pt x="602378" y="660059"/>
                    <a:pt x="606894" y="709696"/>
                    <a:pt x="621323" y="738554"/>
                  </a:cubicBezTo>
                  <a:cubicBezTo>
                    <a:pt x="697980" y="891868"/>
                    <a:pt x="619712" y="705218"/>
                    <a:pt x="679938" y="855785"/>
                  </a:cubicBezTo>
                  <a:cubicBezTo>
                    <a:pt x="683846" y="890954"/>
                    <a:pt x="687957" y="926102"/>
                    <a:pt x="691661" y="961293"/>
                  </a:cubicBezTo>
                  <a:cubicBezTo>
                    <a:pt x="695772" y="1000349"/>
                    <a:pt x="696147" y="1039924"/>
                    <a:pt x="703384" y="1078523"/>
                  </a:cubicBezTo>
                  <a:cubicBezTo>
                    <a:pt x="707939" y="1102814"/>
                    <a:pt x="721983" y="1124627"/>
                    <a:pt x="726830" y="1148862"/>
                  </a:cubicBezTo>
                  <a:cubicBezTo>
                    <a:pt x="741316" y="1221293"/>
                    <a:pt x="727500" y="1190898"/>
                    <a:pt x="762000" y="1242646"/>
                  </a:cubicBezTo>
                  <a:cubicBezTo>
                    <a:pt x="794294" y="1436413"/>
                    <a:pt x="785469" y="1355626"/>
                    <a:pt x="762000" y="1723293"/>
                  </a:cubicBezTo>
                  <a:cubicBezTo>
                    <a:pt x="758972" y="1770735"/>
                    <a:pt x="753586" y="1818870"/>
                    <a:pt x="738553" y="1863969"/>
                  </a:cubicBezTo>
                  <a:lnTo>
                    <a:pt x="703384" y="1969477"/>
                  </a:lnTo>
                  <a:lnTo>
                    <a:pt x="679938" y="2039816"/>
                  </a:lnTo>
                  <a:cubicBezTo>
                    <a:pt x="676030" y="2055447"/>
                    <a:pt x="673872" y="2071622"/>
                    <a:pt x="668215" y="2086708"/>
                  </a:cubicBezTo>
                  <a:cubicBezTo>
                    <a:pt x="659720" y="2109360"/>
                    <a:pt x="637328" y="2148762"/>
                    <a:pt x="621323" y="2168769"/>
                  </a:cubicBezTo>
                  <a:cubicBezTo>
                    <a:pt x="614418" y="2177400"/>
                    <a:pt x="604781" y="2183585"/>
                    <a:pt x="597876" y="2192216"/>
                  </a:cubicBezTo>
                  <a:cubicBezTo>
                    <a:pt x="589074" y="2203218"/>
                    <a:pt x="583450" y="2216561"/>
                    <a:pt x="574430" y="2227385"/>
                  </a:cubicBezTo>
                  <a:cubicBezTo>
                    <a:pt x="547216" y="2260041"/>
                    <a:pt x="526867" y="2271850"/>
                    <a:pt x="492369" y="2297723"/>
                  </a:cubicBezTo>
                  <a:cubicBezTo>
                    <a:pt x="484554" y="2309446"/>
                    <a:pt x="479925" y="2324091"/>
                    <a:pt x="468923" y="2332893"/>
                  </a:cubicBezTo>
                  <a:cubicBezTo>
                    <a:pt x="459273" y="2340613"/>
                    <a:pt x="444555" y="2338615"/>
                    <a:pt x="433753" y="2344616"/>
                  </a:cubicBezTo>
                  <a:cubicBezTo>
                    <a:pt x="409120" y="2358301"/>
                    <a:pt x="383340" y="2371583"/>
                    <a:pt x="363415" y="2391508"/>
                  </a:cubicBezTo>
                  <a:lnTo>
                    <a:pt x="304800" y="2450123"/>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spTree>
    <p:extLst>
      <p:ext uri="{BB962C8B-B14F-4D97-AF65-F5344CB8AC3E}">
        <p14:creationId xmlns:p14="http://schemas.microsoft.com/office/powerpoint/2010/main" val="18989871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9" name="TextBox 8"/>
          <p:cNvSpPr txBox="1"/>
          <p:nvPr/>
        </p:nvSpPr>
        <p:spPr>
          <a:xfrm>
            <a:off x="1362163" y="258160"/>
            <a:ext cx="3268452" cy="276999"/>
          </a:xfrm>
          <a:prstGeom prst="rect">
            <a:avLst/>
          </a:prstGeom>
          <a:solidFill>
            <a:schemeClr val="accent1"/>
          </a:solidFill>
          <a:ln>
            <a:solidFill>
              <a:schemeClr val="bg1"/>
            </a:solidFill>
          </a:ln>
        </p:spPr>
        <p:txBody>
          <a:bodyPr wrap="square" rtlCol="0">
            <a:spAutoFit/>
          </a:bodyPr>
          <a:lstStyle/>
          <a:p>
            <a:r>
              <a:rPr lang="en-US" sz="1200" dirty="0">
                <a:solidFill>
                  <a:schemeClr val="bg1"/>
                </a:solidFill>
                <a:latin typeface="Bahnschrift SemiLight" pitchFamily="34" charset="0"/>
                <a:ea typeface="Arial Unicode MS" pitchFamily="34" charset="-128"/>
                <a:cs typeface="Arial Unicode MS" pitchFamily="34" charset="-128"/>
              </a:rPr>
              <a:t>POS </a:t>
            </a:r>
            <a:r>
              <a:rPr lang="en-US" sz="1200" dirty="0" smtClean="0">
                <a:solidFill>
                  <a:schemeClr val="bg1"/>
                </a:solidFill>
                <a:latin typeface="Bahnschrift SemiLight" pitchFamily="34" charset="0"/>
                <a:ea typeface="Arial Unicode MS" pitchFamily="34" charset="-128"/>
                <a:cs typeface="Arial Unicode MS" pitchFamily="34" charset="-128"/>
              </a:rPr>
              <a:t>Tagging and </a:t>
            </a:r>
            <a:r>
              <a:rPr lang="en-US" sz="1200" dirty="0">
                <a:solidFill>
                  <a:schemeClr val="bg1"/>
                </a:solidFill>
                <a:latin typeface="Bahnschrift SemiLight" pitchFamily="34" charset="0"/>
                <a:ea typeface="Arial Unicode MS" pitchFamily="34" charset="-128"/>
                <a:cs typeface="Arial Unicode MS" pitchFamily="34" charset="-128"/>
              </a:rPr>
              <a:t>Named Entity Recognition</a:t>
            </a:r>
            <a:endParaRPr lang="en-IN" sz="1200" dirty="0">
              <a:solidFill>
                <a:schemeClr val="bg1"/>
              </a:solidFill>
              <a:latin typeface="Bahnschrift SemiLight" pitchFamily="34" charset="0"/>
              <a:ea typeface="Arial Unicode MS" pitchFamily="34" charset="-128"/>
              <a:cs typeface="Arial Unicode MS" pitchFamily="34" charset="-128"/>
            </a:endParaRPr>
          </a:p>
        </p:txBody>
      </p:sp>
      <p:cxnSp>
        <p:nvCxnSpPr>
          <p:cNvPr id="3" name="Straight Connector 2"/>
          <p:cNvCxnSpPr/>
          <p:nvPr/>
        </p:nvCxnSpPr>
        <p:spPr>
          <a:xfrm>
            <a:off x="1277815" y="535159"/>
            <a:ext cx="35052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362162" y="750603"/>
            <a:ext cx="10829837" cy="553998"/>
          </a:xfrm>
          <a:prstGeom prst="rect">
            <a:avLst/>
          </a:prstGeom>
        </p:spPr>
        <p:txBody>
          <a:bodyPr wrap="square">
            <a:spAutoFit/>
          </a:bodyPr>
          <a:lstStyle/>
          <a:p>
            <a:r>
              <a:rPr lang="en-US" sz="1500" b="1" dirty="0">
                <a:solidFill>
                  <a:srgbClr val="FF0000"/>
                </a:solidFill>
                <a:latin typeface="Bahnschrift SemiLight" pitchFamily="34" charset="0"/>
              </a:rPr>
              <a:t>Named Entity Recognition </a:t>
            </a:r>
            <a:r>
              <a:rPr lang="en-US" sz="1500" dirty="0">
                <a:latin typeface="Bahnschrift Light" pitchFamily="34" charset="0"/>
              </a:rPr>
              <a:t>(NER) </a:t>
            </a:r>
            <a:r>
              <a:rPr lang="en-US" sz="1500" dirty="0" smtClean="0">
                <a:latin typeface="Bahnschrift Light" pitchFamily="34" charset="0"/>
              </a:rPr>
              <a:t> </a:t>
            </a:r>
            <a:r>
              <a:rPr lang="en-US" sz="1500" dirty="0">
                <a:latin typeface="Bahnschrift Light" pitchFamily="34" charset="0"/>
              </a:rPr>
              <a:t>NLP </a:t>
            </a:r>
            <a:r>
              <a:rPr lang="en-US" sz="1500" dirty="0" smtClean="0">
                <a:latin typeface="Bahnschrift Light" pitchFamily="34" charset="0"/>
              </a:rPr>
              <a:t> component .the main purpose of it to recognize the entity that is nothing but a Important information </a:t>
            </a:r>
            <a:r>
              <a:rPr lang="en-US" sz="1500" dirty="0">
                <a:latin typeface="Bahnschrift Light" pitchFamily="34" charset="0"/>
              </a:rPr>
              <a:t> </a:t>
            </a:r>
            <a:endParaRPr lang="en-IN" sz="1500" dirty="0">
              <a:latin typeface="Bahnschrift Light" pitchFamily="34" charset="0"/>
            </a:endParaRPr>
          </a:p>
        </p:txBody>
      </p:sp>
      <p:sp>
        <p:nvSpPr>
          <p:cNvPr id="5" name="Rectangle 4"/>
          <p:cNvSpPr/>
          <p:nvPr/>
        </p:nvSpPr>
        <p:spPr>
          <a:xfrm>
            <a:off x="2426675" y="1563470"/>
            <a:ext cx="7748955" cy="1246495"/>
          </a:xfrm>
          <a:prstGeom prst="rect">
            <a:avLst/>
          </a:prstGeom>
          <a:ln>
            <a:solidFill>
              <a:schemeClr val="bg1">
                <a:lumMod val="95000"/>
              </a:schemeClr>
            </a:solidFill>
          </a:ln>
        </p:spPr>
        <p:txBody>
          <a:bodyPr wrap="square">
            <a:spAutoFit/>
          </a:bodyPr>
          <a:lstStyle/>
          <a:p>
            <a:r>
              <a:rPr lang="en-US" sz="1500" dirty="0">
                <a:latin typeface="Bahnschrift Light" pitchFamily="34" charset="0"/>
              </a:rPr>
              <a:t>These entities can be </a:t>
            </a:r>
            <a:endParaRPr lang="en-US" sz="1500" dirty="0" smtClean="0">
              <a:latin typeface="Bahnschrift Light" pitchFamily="34" charset="0"/>
            </a:endParaRPr>
          </a:p>
          <a:p>
            <a:r>
              <a:rPr lang="en-US" sz="1500" dirty="0" smtClean="0">
                <a:latin typeface="Bahnschrift Light" pitchFamily="34" charset="0"/>
              </a:rPr>
              <a:t>names </a:t>
            </a:r>
            <a:r>
              <a:rPr lang="en-US" sz="1500" dirty="0">
                <a:latin typeface="Bahnschrift Light" pitchFamily="34" charset="0"/>
              </a:rPr>
              <a:t>of people, </a:t>
            </a:r>
            <a:endParaRPr lang="en-US" sz="1500" dirty="0" smtClean="0">
              <a:latin typeface="Bahnschrift Light" pitchFamily="34" charset="0"/>
            </a:endParaRPr>
          </a:p>
          <a:p>
            <a:r>
              <a:rPr lang="en-US" sz="1500" dirty="0" smtClean="0">
                <a:latin typeface="Bahnschrift Light" pitchFamily="34" charset="0"/>
              </a:rPr>
              <a:t>places</a:t>
            </a:r>
            <a:r>
              <a:rPr lang="en-US" sz="1500" dirty="0">
                <a:latin typeface="Bahnschrift Light" pitchFamily="34" charset="0"/>
              </a:rPr>
              <a:t>, </a:t>
            </a:r>
            <a:endParaRPr lang="en-US" sz="1500" dirty="0" smtClean="0">
              <a:latin typeface="Bahnschrift Light" pitchFamily="34" charset="0"/>
            </a:endParaRPr>
          </a:p>
          <a:p>
            <a:r>
              <a:rPr lang="en-US" sz="1500" dirty="0" smtClean="0">
                <a:latin typeface="Bahnschrift Light" pitchFamily="34" charset="0"/>
              </a:rPr>
              <a:t>organizations</a:t>
            </a:r>
            <a:r>
              <a:rPr lang="en-US" sz="1500" dirty="0">
                <a:latin typeface="Bahnschrift Light" pitchFamily="34" charset="0"/>
              </a:rPr>
              <a:t>, </a:t>
            </a:r>
            <a:endParaRPr lang="en-US" sz="1500" dirty="0" smtClean="0">
              <a:latin typeface="Bahnschrift Light" pitchFamily="34" charset="0"/>
            </a:endParaRPr>
          </a:p>
          <a:p>
            <a:r>
              <a:rPr lang="en-US" sz="1500" dirty="0" smtClean="0">
                <a:latin typeface="Bahnschrift Light" pitchFamily="34" charset="0"/>
              </a:rPr>
              <a:t>Dates </a:t>
            </a:r>
            <a:r>
              <a:rPr lang="en-US" sz="1500" dirty="0">
                <a:latin typeface="Bahnschrift Light" pitchFamily="34" charset="0"/>
              </a:rPr>
              <a:t> </a:t>
            </a:r>
            <a:endParaRPr lang="en-IN" sz="1500" dirty="0">
              <a:latin typeface="Bahnschrift Light" pitchFamily="34" charset="0"/>
            </a:endParaRPr>
          </a:p>
        </p:txBody>
      </p:sp>
      <p:grpSp>
        <p:nvGrpSpPr>
          <p:cNvPr id="15" name="Group 14"/>
          <p:cNvGrpSpPr/>
          <p:nvPr/>
        </p:nvGrpSpPr>
        <p:grpSpPr>
          <a:xfrm>
            <a:off x="9028238" y="4248126"/>
            <a:ext cx="2654261" cy="1200365"/>
            <a:chOff x="8963762" y="3275111"/>
            <a:chExt cx="2654261" cy="1200365"/>
          </a:xfrm>
        </p:grpSpPr>
        <p:grpSp>
          <p:nvGrpSpPr>
            <p:cNvPr id="12" name="Group 11"/>
            <p:cNvGrpSpPr/>
            <p:nvPr/>
          </p:nvGrpSpPr>
          <p:grpSpPr>
            <a:xfrm>
              <a:off x="8963762" y="3275111"/>
              <a:ext cx="1164815" cy="369332"/>
              <a:chOff x="8963762" y="3275111"/>
              <a:chExt cx="1164815" cy="369332"/>
            </a:xfrm>
          </p:grpSpPr>
          <p:sp>
            <p:nvSpPr>
              <p:cNvPr id="10" name="Rectangle 9"/>
              <p:cNvSpPr/>
              <p:nvPr/>
            </p:nvSpPr>
            <p:spPr>
              <a:xfrm>
                <a:off x="9092716" y="3275111"/>
                <a:ext cx="1035861" cy="369332"/>
              </a:xfrm>
              <a:prstGeom prst="rect">
                <a:avLst/>
              </a:prstGeom>
            </p:spPr>
            <p:txBody>
              <a:bodyPr wrap="none">
                <a:spAutoFit/>
              </a:bodyPr>
              <a:lstStyle/>
              <a:p>
                <a:r>
                  <a:rPr lang="en-IN" dirty="0">
                    <a:latin typeface="Bahnschrift" pitchFamily="34" charset="0"/>
                  </a:rPr>
                  <a:t>Working</a:t>
                </a:r>
              </a:p>
            </p:txBody>
          </p:sp>
          <p:sp>
            <p:nvSpPr>
              <p:cNvPr id="11" name="Multiply 10"/>
              <p:cNvSpPr/>
              <p:nvPr/>
            </p:nvSpPr>
            <p:spPr>
              <a:xfrm>
                <a:off x="8963762" y="3309563"/>
                <a:ext cx="128954" cy="208093"/>
              </a:xfrm>
              <a:prstGeom prst="mathMultiply">
                <a:avLst/>
              </a:prstGeom>
              <a:solidFill>
                <a:schemeClr val="tx1"/>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grpSp>
        <p:sp>
          <p:nvSpPr>
            <p:cNvPr id="14" name="Rectangle 13"/>
            <p:cNvSpPr/>
            <p:nvPr/>
          </p:nvSpPr>
          <p:spPr>
            <a:xfrm>
              <a:off x="9092716" y="3644479"/>
              <a:ext cx="2525307" cy="830997"/>
            </a:xfrm>
            <a:prstGeom prst="rect">
              <a:avLst/>
            </a:prstGeom>
          </p:spPr>
          <p:txBody>
            <a:bodyPr wrap="none">
              <a:spAutoFit/>
            </a:bodyPr>
            <a:lstStyle/>
            <a:p>
              <a:r>
                <a:rPr lang="en-IN" sz="1200" dirty="0">
                  <a:latin typeface="Cambria Math" pitchFamily="18" charset="0"/>
                  <a:ea typeface="Cambria Math" pitchFamily="18" charset="0"/>
                </a:rPr>
                <a:t>Text </a:t>
              </a:r>
              <a:r>
                <a:rPr lang="en-IN" sz="1200" dirty="0" smtClean="0">
                  <a:latin typeface="Cambria Math" pitchFamily="18" charset="0"/>
                  <a:ea typeface="Cambria Math" pitchFamily="18" charset="0"/>
                </a:rPr>
                <a:t>Pre-processing</a:t>
              </a:r>
            </a:p>
            <a:p>
              <a:r>
                <a:rPr lang="en-IN" sz="1200" dirty="0">
                  <a:latin typeface="Cambria Math" pitchFamily="18" charset="0"/>
                  <a:ea typeface="Cambria Math" pitchFamily="18" charset="0"/>
                </a:rPr>
                <a:t>Entity </a:t>
              </a:r>
              <a:r>
                <a:rPr lang="en-IN" sz="1200" dirty="0" smtClean="0">
                  <a:latin typeface="Cambria Math" pitchFamily="18" charset="0"/>
                  <a:ea typeface="Cambria Math" pitchFamily="18" charset="0"/>
                </a:rPr>
                <a:t>Identification</a:t>
              </a:r>
              <a:endParaRPr lang="en-IN" sz="1200" dirty="0">
                <a:latin typeface="Cambria Math" pitchFamily="18" charset="0"/>
                <a:ea typeface="Cambria Math" pitchFamily="18" charset="0"/>
              </a:endParaRPr>
            </a:p>
            <a:p>
              <a:r>
                <a:rPr lang="en-IN" sz="1200" dirty="0">
                  <a:latin typeface="Cambria Math" pitchFamily="18" charset="0"/>
                  <a:ea typeface="Cambria Math" pitchFamily="18" charset="0"/>
                </a:rPr>
                <a:t>Entity Classification/Categorization</a:t>
              </a:r>
            </a:p>
            <a:p>
              <a:r>
                <a:rPr lang="en-IN" sz="1200" dirty="0">
                  <a:latin typeface="Cambria Math" pitchFamily="18" charset="0"/>
                  <a:ea typeface="Cambria Math" pitchFamily="18" charset="0"/>
                </a:rPr>
                <a:t>Contextual Analysis</a:t>
              </a:r>
            </a:p>
          </p:txBody>
        </p:sp>
      </p:grpSp>
      <p:sp>
        <p:nvSpPr>
          <p:cNvPr id="16" name="Rectangle 15"/>
          <p:cNvSpPr/>
          <p:nvPr/>
        </p:nvSpPr>
        <p:spPr>
          <a:xfrm>
            <a:off x="2996389" y="4682085"/>
            <a:ext cx="2028092" cy="923330"/>
          </a:xfrm>
          <a:prstGeom prst="rect">
            <a:avLst/>
          </a:prstGeom>
        </p:spPr>
        <p:txBody>
          <a:bodyPr wrap="square">
            <a:spAutoFit/>
          </a:bodyPr>
          <a:lstStyle/>
          <a:p>
            <a:r>
              <a:rPr lang="en-US" dirty="0">
                <a:latin typeface="Bahnschrift" pitchFamily="34" charset="0"/>
              </a:rPr>
              <a:t>Approaches</a:t>
            </a:r>
          </a:p>
          <a:p>
            <a:r>
              <a:rPr lang="en-US" sz="1200" dirty="0" smtClean="0">
                <a:latin typeface="Cambria Math" pitchFamily="18" charset="0"/>
                <a:ea typeface="Cambria Math" pitchFamily="18" charset="0"/>
              </a:rPr>
              <a:t>Simple </a:t>
            </a:r>
            <a:r>
              <a:rPr lang="en-US" sz="1200" dirty="0">
                <a:latin typeface="Cambria Math" pitchFamily="18" charset="0"/>
                <a:ea typeface="Cambria Math" pitchFamily="18" charset="0"/>
              </a:rPr>
              <a:t>look up</a:t>
            </a:r>
          </a:p>
          <a:p>
            <a:r>
              <a:rPr lang="en-US" sz="1200" dirty="0">
                <a:latin typeface="Cambria Math" pitchFamily="18" charset="0"/>
                <a:ea typeface="Cambria Math" pitchFamily="18" charset="0"/>
              </a:rPr>
              <a:t>Rule Based</a:t>
            </a:r>
          </a:p>
          <a:p>
            <a:r>
              <a:rPr lang="en-US" sz="1200" dirty="0">
                <a:latin typeface="Cambria Math" pitchFamily="18" charset="0"/>
                <a:ea typeface="Cambria Math" pitchFamily="18" charset="0"/>
              </a:rPr>
              <a:t>machine learning </a:t>
            </a:r>
            <a:endParaRPr lang="en-IN" sz="1200" dirty="0">
              <a:latin typeface="Cambria Math" pitchFamily="18" charset="0"/>
              <a:ea typeface="Cambria Math" pitchFamily="18" charset="0"/>
            </a:endParaRPr>
          </a:p>
        </p:txBody>
      </p:sp>
      <p:sp>
        <p:nvSpPr>
          <p:cNvPr id="17" name="Rectangle 16"/>
          <p:cNvSpPr/>
          <p:nvPr/>
        </p:nvSpPr>
        <p:spPr>
          <a:xfrm>
            <a:off x="3030415" y="3772691"/>
            <a:ext cx="5591531" cy="338554"/>
          </a:xfrm>
          <a:prstGeom prst="rect">
            <a:avLst/>
          </a:prstGeom>
        </p:spPr>
        <p:txBody>
          <a:bodyPr wrap="none">
            <a:spAutoFit/>
          </a:bodyPr>
          <a:lstStyle/>
          <a:p>
            <a:r>
              <a:rPr lang="en-US" sz="1600" dirty="0" smtClean="0">
                <a:solidFill>
                  <a:schemeClr val="accent6">
                    <a:lumMod val="50000"/>
                  </a:schemeClr>
                </a:solidFill>
                <a:latin typeface="Cambria Math" pitchFamily="18" charset="0"/>
                <a:ea typeface="Cambria Math" pitchFamily="18" charset="0"/>
              </a:rPr>
              <a:t>“Sridhar </a:t>
            </a:r>
            <a:r>
              <a:rPr lang="en-US" sz="1600" dirty="0">
                <a:solidFill>
                  <a:schemeClr val="accent6">
                    <a:lumMod val="50000"/>
                  </a:schemeClr>
                </a:solidFill>
                <a:latin typeface="Cambria Math" pitchFamily="18" charset="0"/>
                <a:ea typeface="Cambria Math" pitchFamily="18" charset="0"/>
              </a:rPr>
              <a:t>want to buy Apple phone in India on January 5 </a:t>
            </a:r>
            <a:r>
              <a:rPr lang="en-US" sz="1600" dirty="0" smtClean="0">
                <a:solidFill>
                  <a:schemeClr val="accent6">
                    <a:lumMod val="50000"/>
                  </a:schemeClr>
                </a:solidFill>
                <a:latin typeface="Cambria Math" pitchFamily="18" charset="0"/>
                <a:ea typeface="Cambria Math" pitchFamily="18" charset="0"/>
              </a:rPr>
              <a:t>2025”</a:t>
            </a:r>
            <a:endParaRPr lang="en-IN" sz="1600" dirty="0">
              <a:solidFill>
                <a:schemeClr val="accent6">
                  <a:lumMod val="50000"/>
                </a:schemeClr>
              </a:solidFill>
              <a:latin typeface="Cambria Math" pitchFamily="18" charset="0"/>
              <a:ea typeface="Cambria Math" pitchFamily="18" charset="0"/>
            </a:endParaRPr>
          </a:p>
        </p:txBody>
      </p:sp>
    </p:spTree>
    <p:extLst>
      <p:ext uri="{BB962C8B-B14F-4D97-AF65-F5344CB8AC3E}">
        <p14:creationId xmlns:p14="http://schemas.microsoft.com/office/powerpoint/2010/main" val="14578342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30645088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316523"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218413" y="-1"/>
            <a:ext cx="38259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168732" y="-7223"/>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9" name="TextBox 8"/>
          <p:cNvSpPr txBox="1"/>
          <p:nvPr/>
        </p:nvSpPr>
        <p:spPr>
          <a:xfrm>
            <a:off x="1362163" y="258161"/>
            <a:ext cx="1592052" cy="307777"/>
          </a:xfrm>
          <a:prstGeom prst="rect">
            <a:avLst/>
          </a:prstGeom>
          <a:solidFill>
            <a:schemeClr val="accent1"/>
          </a:solidFill>
          <a:ln>
            <a:solidFill>
              <a:schemeClr val="bg1"/>
            </a:solidFill>
          </a:ln>
        </p:spPr>
        <p:txBody>
          <a:bodyPr wrap="square" rtlCol="0">
            <a:spAutoFit/>
          </a:bodyPr>
          <a:lstStyle/>
          <a:p>
            <a:r>
              <a:rPr lang="en-US" sz="1400" b="1" dirty="0" smtClean="0">
                <a:solidFill>
                  <a:schemeClr val="bg1"/>
                </a:solidFill>
                <a:latin typeface="Bahnschrift Light" pitchFamily="34" charset="0"/>
                <a:ea typeface="Arial Unicode MS" pitchFamily="34" charset="-128"/>
                <a:cs typeface="Arial Unicode MS" pitchFamily="34" charset="-128"/>
              </a:rPr>
              <a:t>Word Embedding</a:t>
            </a:r>
            <a:endParaRPr lang="en-IN" sz="1400" b="1" dirty="0">
              <a:solidFill>
                <a:schemeClr val="bg1"/>
              </a:solidFill>
              <a:latin typeface="Bahnschrift Light" pitchFamily="34" charset="0"/>
              <a:ea typeface="Arial Unicode MS" pitchFamily="34" charset="-128"/>
              <a:cs typeface="Arial Unicode MS" pitchFamily="34" charset="-128"/>
            </a:endParaRPr>
          </a:p>
        </p:txBody>
      </p:sp>
      <p:cxnSp>
        <p:nvCxnSpPr>
          <p:cNvPr id="3" name="Straight Connector 2"/>
          <p:cNvCxnSpPr/>
          <p:nvPr/>
        </p:nvCxnSpPr>
        <p:spPr>
          <a:xfrm>
            <a:off x="1277815" y="535159"/>
            <a:ext cx="1676400" cy="12049"/>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154365" y="239431"/>
            <a:ext cx="8135816" cy="307777"/>
          </a:xfrm>
          <a:prstGeom prst="rect">
            <a:avLst/>
          </a:prstGeom>
        </p:spPr>
        <p:txBody>
          <a:bodyPr wrap="square">
            <a:spAutoFit/>
          </a:bodyPr>
          <a:lstStyle/>
          <a:p>
            <a:r>
              <a:rPr lang="en-US" sz="1400" dirty="0" smtClean="0">
                <a:latin typeface="Bahnschrift Light" pitchFamily="34" charset="0"/>
              </a:rPr>
              <a:t>converting </a:t>
            </a:r>
            <a:r>
              <a:rPr lang="en-US" sz="1400" dirty="0">
                <a:latin typeface="Bahnschrift Light" pitchFamily="34" charset="0"/>
              </a:rPr>
              <a:t>our text into a numerical format, and for that, there are different methods</a:t>
            </a:r>
            <a:endParaRPr lang="en-IN" sz="1400" dirty="0">
              <a:latin typeface="Bahnschrift Light" pitchFamily="34" charset="0"/>
            </a:endParaRPr>
          </a:p>
        </p:txBody>
      </p:sp>
      <p:pic>
        <p:nvPicPr>
          <p:cNvPr id="1029" name="Picture 5" descr="https://media.licdn.com/dms/image/v2/D4D12AQEAQzV4BioHZw/article-cover_image-shrink_600_2000/article-cover_image-shrink_600_2000/0/1686656422075?e=1761782400&amp;v=beta&amp;t=Cy9Pzm90mnR-ztenIpc0QgvK3iFRNKzy_4N_9nzB9F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91" y="700663"/>
            <a:ext cx="11569009" cy="48912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3669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TextBox 1"/>
          <p:cNvSpPr txBox="1"/>
          <p:nvPr/>
        </p:nvSpPr>
        <p:spPr>
          <a:xfrm>
            <a:off x="4044462" y="867508"/>
            <a:ext cx="1814920" cy="369332"/>
          </a:xfrm>
          <a:prstGeom prst="rect">
            <a:avLst/>
          </a:prstGeom>
          <a:noFill/>
        </p:spPr>
        <p:txBody>
          <a:bodyPr wrap="none" rtlCol="0">
            <a:spAutoFit/>
          </a:bodyPr>
          <a:lstStyle/>
          <a:p>
            <a:r>
              <a:rPr lang="en-US" dirty="0" smtClean="0"/>
              <a:t>Word embedding</a:t>
            </a:r>
            <a:endParaRPr lang="en-IN" dirty="0"/>
          </a:p>
        </p:txBody>
      </p:sp>
      <p:cxnSp>
        <p:nvCxnSpPr>
          <p:cNvPr id="5" name="Straight Arrow Connector 4"/>
          <p:cNvCxnSpPr>
            <a:stCxn id="2" idx="3"/>
          </p:cNvCxnSpPr>
          <p:nvPr/>
        </p:nvCxnSpPr>
        <p:spPr>
          <a:xfrm>
            <a:off x="5859382" y="1052174"/>
            <a:ext cx="5531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2497015" y="2145323"/>
            <a:ext cx="5240578" cy="389113"/>
            <a:chOff x="2497015" y="2145323"/>
            <a:chExt cx="5240578" cy="389113"/>
          </a:xfrm>
        </p:grpSpPr>
        <p:sp>
          <p:nvSpPr>
            <p:cNvPr id="9" name="TextBox 8"/>
            <p:cNvSpPr txBox="1"/>
            <p:nvPr/>
          </p:nvSpPr>
          <p:spPr>
            <a:xfrm>
              <a:off x="2497015" y="2145323"/>
              <a:ext cx="579005" cy="338554"/>
            </a:xfrm>
            <a:prstGeom prst="rect">
              <a:avLst/>
            </a:prstGeom>
            <a:noFill/>
          </p:spPr>
          <p:txBody>
            <a:bodyPr wrap="none" rtlCol="0">
              <a:spAutoFit/>
            </a:bodyPr>
            <a:lstStyle>
              <a:defPPr>
                <a:defRPr lang="en-US"/>
              </a:defPPr>
              <a:lvl1pPr>
                <a:defRPr sz="1600">
                  <a:latin typeface="Cambria Math" pitchFamily="18" charset="0"/>
                  <a:ea typeface="Cambria Math" pitchFamily="18" charset="0"/>
                </a:defRPr>
              </a:lvl1pPr>
            </a:lstStyle>
            <a:p>
              <a:r>
                <a:rPr lang="en-US" dirty="0"/>
                <a:t>OHE</a:t>
              </a:r>
              <a:endParaRPr lang="en-IN" dirty="0"/>
            </a:p>
          </p:txBody>
        </p:sp>
        <p:cxnSp>
          <p:nvCxnSpPr>
            <p:cNvPr id="11" name="Straight Arrow Connector 10"/>
            <p:cNvCxnSpPr/>
            <p:nvPr/>
          </p:nvCxnSpPr>
          <p:spPr>
            <a:xfrm>
              <a:off x="3090447" y="2329989"/>
              <a:ext cx="5905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747746" y="2180492"/>
              <a:ext cx="632481" cy="338554"/>
            </a:xfrm>
            <a:prstGeom prst="rect">
              <a:avLst/>
            </a:prstGeom>
            <a:noFill/>
          </p:spPr>
          <p:txBody>
            <a:bodyPr wrap="none" rtlCol="0">
              <a:spAutoFit/>
            </a:bodyPr>
            <a:lstStyle>
              <a:defPPr>
                <a:defRPr lang="en-US"/>
              </a:defPPr>
              <a:lvl1pPr>
                <a:defRPr sz="1600">
                  <a:latin typeface="Cambria Math" pitchFamily="18" charset="0"/>
                  <a:ea typeface="Cambria Math" pitchFamily="18" charset="0"/>
                </a:defRPr>
              </a:lvl1pPr>
            </a:lstStyle>
            <a:p>
              <a:r>
                <a:rPr lang="en-US" dirty="0"/>
                <a:t>BOW</a:t>
              </a:r>
              <a:endParaRPr lang="en-IN" dirty="0"/>
            </a:p>
          </p:txBody>
        </p:sp>
        <p:cxnSp>
          <p:nvCxnSpPr>
            <p:cNvPr id="13" name="Straight Arrow Connector 12"/>
            <p:cNvCxnSpPr/>
            <p:nvPr/>
          </p:nvCxnSpPr>
          <p:spPr>
            <a:xfrm>
              <a:off x="4361323" y="2338809"/>
              <a:ext cx="5905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037284" y="2180492"/>
              <a:ext cx="800219" cy="338554"/>
            </a:xfrm>
            <a:prstGeom prst="rect">
              <a:avLst/>
            </a:prstGeom>
            <a:noFill/>
          </p:spPr>
          <p:txBody>
            <a:bodyPr wrap="none" rtlCol="0">
              <a:spAutoFit/>
            </a:bodyPr>
            <a:lstStyle>
              <a:defPPr>
                <a:defRPr lang="en-US"/>
              </a:defPPr>
              <a:lvl1pPr>
                <a:defRPr sz="1600">
                  <a:latin typeface="Cambria Math" pitchFamily="18" charset="0"/>
                  <a:ea typeface="Cambria Math" pitchFamily="18" charset="0"/>
                </a:defRPr>
              </a:lvl1pPr>
            </a:lstStyle>
            <a:p>
              <a:r>
                <a:rPr lang="en-US" dirty="0"/>
                <a:t>TF-IDF</a:t>
              </a:r>
              <a:endParaRPr lang="en-IN" dirty="0"/>
            </a:p>
          </p:txBody>
        </p:sp>
        <p:sp>
          <p:nvSpPr>
            <p:cNvPr id="17" name="TextBox 16"/>
            <p:cNvSpPr txBox="1"/>
            <p:nvPr/>
          </p:nvSpPr>
          <p:spPr>
            <a:xfrm>
              <a:off x="6658708" y="2195882"/>
              <a:ext cx="1078885" cy="338554"/>
            </a:xfrm>
            <a:prstGeom prst="rect">
              <a:avLst/>
            </a:prstGeom>
            <a:noFill/>
          </p:spPr>
          <p:txBody>
            <a:bodyPr wrap="none" rtlCol="0">
              <a:spAutoFit/>
            </a:bodyPr>
            <a:lstStyle/>
            <a:p>
              <a:r>
                <a:rPr lang="en-US" sz="1600" dirty="0" smtClean="0">
                  <a:latin typeface="Cambria Math" pitchFamily="18" charset="0"/>
                  <a:ea typeface="Cambria Math" pitchFamily="18" charset="0"/>
                </a:rPr>
                <a:t>Word2Vec</a:t>
              </a:r>
              <a:endParaRPr lang="en-IN" sz="1600" dirty="0">
                <a:latin typeface="Cambria Math" pitchFamily="18" charset="0"/>
                <a:ea typeface="Cambria Math" pitchFamily="18" charset="0"/>
              </a:endParaRPr>
            </a:p>
          </p:txBody>
        </p:sp>
        <p:cxnSp>
          <p:nvCxnSpPr>
            <p:cNvPr id="20" name="Straight Arrow Connector 19"/>
            <p:cNvCxnSpPr/>
            <p:nvPr/>
          </p:nvCxnSpPr>
          <p:spPr>
            <a:xfrm flipV="1">
              <a:off x="5859382" y="2365158"/>
              <a:ext cx="799326"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3483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9" name="TextBox 8"/>
          <p:cNvSpPr txBox="1"/>
          <p:nvPr/>
        </p:nvSpPr>
        <p:spPr>
          <a:xfrm>
            <a:off x="1362163" y="258161"/>
            <a:ext cx="1592052" cy="276999"/>
          </a:xfrm>
          <a:prstGeom prst="rect">
            <a:avLst/>
          </a:prstGeom>
          <a:solidFill>
            <a:schemeClr val="accent1"/>
          </a:solidFill>
          <a:ln>
            <a:solidFill>
              <a:schemeClr val="bg1"/>
            </a:solidFill>
          </a:ln>
        </p:spPr>
        <p:txBody>
          <a:bodyPr wrap="square" rtlCol="0">
            <a:spAutoFit/>
          </a:bodyPr>
          <a:lstStyle/>
          <a:p>
            <a:r>
              <a:rPr lang="en-US" sz="1200" dirty="0" smtClean="0">
                <a:solidFill>
                  <a:schemeClr val="bg1"/>
                </a:solidFill>
                <a:latin typeface="Bahnschrift Light" pitchFamily="34" charset="0"/>
                <a:ea typeface="Arial Unicode MS" pitchFamily="34" charset="-128"/>
                <a:cs typeface="Arial Unicode MS" pitchFamily="34" charset="-128"/>
              </a:rPr>
              <a:t>One hot encoding</a:t>
            </a:r>
            <a:endParaRPr lang="en-IN" sz="1200" dirty="0">
              <a:solidFill>
                <a:schemeClr val="bg1"/>
              </a:solidFill>
              <a:latin typeface="Bahnschrift Light" pitchFamily="34" charset="0"/>
              <a:ea typeface="Arial Unicode MS" pitchFamily="34" charset="-128"/>
              <a:cs typeface="Arial Unicode MS" pitchFamily="34" charset="-128"/>
            </a:endParaRPr>
          </a:p>
        </p:txBody>
      </p:sp>
      <p:cxnSp>
        <p:nvCxnSpPr>
          <p:cNvPr id="3" name="Straight Connector 2"/>
          <p:cNvCxnSpPr/>
          <p:nvPr/>
        </p:nvCxnSpPr>
        <p:spPr>
          <a:xfrm>
            <a:off x="1277815" y="535159"/>
            <a:ext cx="2883877"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4596217" y="2395879"/>
            <a:ext cx="3322177" cy="307777"/>
            <a:chOff x="4783015" y="750603"/>
            <a:chExt cx="3533193" cy="307777"/>
          </a:xfrm>
        </p:grpSpPr>
        <p:cxnSp>
          <p:nvCxnSpPr>
            <p:cNvPr id="5" name="Straight Arrow Connector 4"/>
            <p:cNvCxnSpPr/>
            <p:nvPr/>
          </p:nvCxnSpPr>
          <p:spPr>
            <a:xfrm>
              <a:off x="4783015" y="904491"/>
              <a:ext cx="160606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389077" y="750603"/>
              <a:ext cx="1927131" cy="307777"/>
            </a:xfrm>
            <a:prstGeom prst="rect">
              <a:avLst/>
            </a:prstGeom>
            <a:noFill/>
          </p:spPr>
          <p:txBody>
            <a:bodyPr wrap="none" rtlCol="0">
              <a:spAutoFit/>
            </a:bodyPr>
            <a:lstStyle/>
            <a:p>
              <a:r>
                <a:rPr lang="en-US" sz="1400" dirty="0" smtClean="0">
                  <a:latin typeface="Cambria Math" pitchFamily="18" charset="0"/>
                  <a:ea typeface="Cambria Math" pitchFamily="18" charset="0"/>
                </a:rPr>
                <a:t>Binary based encoding</a:t>
              </a:r>
              <a:endParaRPr lang="en-IN" sz="1400" dirty="0">
                <a:latin typeface="Cambria Math" pitchFamily="18" charset="0"/>
                <a:ea typeface="Cambria Math" pitchFamily="18" charset="0"/>
              </a:endParaRPr>
            </a:p>
          </p:txBody>
        </p:sp>
      </p:grpSp>
      <p:sp>
        <p:nvSpPr>
          <p:cNvPr id="2" name="Rectangle 1"/>
          <p:cNvSpPr/>
          <p:nvPr/>
        </p:nvSpPr>
        <p:spPr>
          <a:xfrm>
            <a:off x="1277815" y="750603"/>
            <a:ext cx="10714891" cy="1323439"/>
          </a:xfrm>
          <a:prstGeom prst="rect">
            <a:avLst/>
          </a:prstGeom>
        </p:spPr>
        <p:txBody>
          <a:bodyPr wrap="square">
            <a:spAutoFit/>
          </a:bodyPr>
          <a:lstStyle/>
          <a:p>
            <a:r>
              <a:rPr lang="en-US" sz="1600" dirty="0">
                <a:solidFill>
                  <a:srgbClr val="7030A0"/>
                </a:solidFill>
                <a:latin typeface="Bahnschrift" pitchFamily="34" charset="0"/>
                <a:ea typeface="Cambria Math" pitchFamily="18" charset="0"/>
              </a:rPr>
              <a:t>One Hot Encoding</a:t>
            </a:r>
            <a:r>
              <a:rPr lang="en-US" sz="1600" dirty="0">
                <a:latin typeface="Cambria Math" pitchFamily="18" charset="0"/>
                <a:ea typeface="Cambria Math" pitchFamily="18" charset="0"/>
              </a:rPr>
              <a:t> is a technique for </a:t>
            </a:r>
            <a:r>
              <a:rPr lang="en-US" sz="1600" i="1" dirty="0">
                <a:latin typeface="Cambria Math" pitchFamily="18" charset="0"/>
                <a:ea typeface="Cambria Math" pitchFamily="18" charset="0"/>
              </a:rPr>
              <a:t>converting categorical data, </a:t>
            </a:r>
            <a:r>
              <a:rPr lang="en-US" sz="1600" i="1" dirty="0" smtClean="0">
                <a:latin typeface="Cambria Math" pitchFamily="18" charset="0"/>
                <a:ea typeface="Cambria Math" pitchFamily="18" charset="0"/>
              </a:rPr>
              <a:t>like </a:t>
            </a:r>
            <a:r>
              <a:rPr lang="en-US" sz="1600" i="1" dirty="0">
                <a:latin typeface="Cambria Math" pitchFamily="18" charset="0"/>
                <a:ea typeface="Cambria Math" pitchFamily="18" charset="0"/>
              </a:rPr>
              <a:t>colors (red, green, blue), into numerical </a:t>
            </a:r>
            <a:r>
              <a:rPr lang="en-US" sz="1600" i="1" dirty="0" smtClean="0">
                <a:latin typeface="Cambria Math" pitchFamily="18" charset="0"/>
                <a:ea typeface="Cambria Math" pitchFamily="18" charset="0"/>
              </a:rPr>
              <a:t>data</a:t>
            </a:r>
            <a:endParaRPr lang="en-US" sz="1600" b="1" i="1" dirty="0" smtClean="0">
              <a:latin typeface="Cambria Math" pitchFamily="18" charset="0"/>
              <a:ea typeface="Cambria Math" pitchFamily="18" charset="0"/>
            </a:endParaRPr>
          </a:p>
          <a:p>
            <a:r>
              <a:rPr lang="en-US" sz="1600" dirty="0" smtClean="0">
                <a:latin typeface="Cambria Math" pitchFamily="18" charset="0"/>
                <a:ea typeface="Cambria Math" pitchFamily="18" charset="0"/>
              </a:rPr>
              <a:t>It </a:t>
            </a:r>
            <a:r>
              <a:rPr lang="en-US" sz="1600" dirty="0">
                <a:latin typeface="Cambria Math" pitchFamily="18" charset="0"/>
                <a:ea typeface="Cambria Math" pitchFamily="18" charset="0"/>
              </a:rPr>
              <a:t>creates new columns for each category where </a:t>
            </a:r>
            <a:r>
              <a:rPr lang="en-US" sz="1600" b="1" dirty="0">
                <a:latin typeface="Cambria Math" pitchFamily="18" charset="0"/>
                <a:ea typeface="Cambria Math" pitchFamily="18" charset="0"/>
              </a:rPr>
              <a:t>1</a:t>
            </a:r>
            <a:r>
              <a:rPr lang="en-US" sz="1600" dirty="0">
                <a:latin typeface="Cambria Math" pitchFamily="18" charset="0"/>
                <a:ea typeface="Cambria Math" pitchFamily="18" charset="0"/>
              </a:rPr>
              <a:t> means the category is present and </a:t>
            </a:r>
            <a:r>
              <a:rPr lang="en-US" sz="1600" b="1" dirty="0">
                <a:latin typeface="Cambria Math" pitchFamily="18" charset="0"/>
                <a:ea typeface="Cambria Math" pitchFamily="18" charset="0"/>
              </a:rPr>
              <a:t>0</a:t>
            </a:r>
            <a:r>
              <a:rPr lang="en-US" sz="1600" dirty="0">
                <a:latin typeface="Cambria Math" pitchFamily="18" charset="0"/>
                <a:ea typeface="Cambria Math" pitchFamily="18" charset="0"/>
              </a:rPr>
              <a:t> means it is not. </a:t>
            </a:r>
            <a:endParaRPr lang="en-US" sz="1600" dirty="0" smtClean="0">
              <a:latin typeface="Cambria Math" pitchFamily="18" charset="0"/>
              <a:ea typeface="Cambria Math" pitchFamily="18" charset="0"/>
            </a:endParaRPr>
          </a:p>
          <a:p>
            <a:endParaRPr lang="en-US" sz="1600" dirty="0"/>
          </a:p>
          <a:p>
            <a:r>
              <a:rPr lang="en-US" sz="1600" dirty="0"/>
              <a:t>This allows machine learning algorithms to process the information in categorical data without misinterpreting any order between the categories.</a:t>
            </a:r>
            <a:endParaRPr lang="en-IN" sz="1600" dirty="0"/>
          </a:p>
        </p:txBody>
      </p:sp>
      <p:sp>
        <p:nvSpPr>
          <p:cNvPr id="13" name="Rectangle 12"/>
          <p:cNvSpPr/>
          <p:nvPr/>
        </p:nvSpPr>
        <p:spPr>
          <a:xfrm>
            <a:off x="1899139" y="3264927"/>
            <a:ext cx="9702286" cy="738664"/>
          </a:xfrm>
          <a:prstGeom prst="rect">
            <a:avLst/>
          </a:prstGeom>
          <a:solidFill>
            <a:schemeClr val="accent3">
              <a:lumMod val="20000"/>
              <a:lumOff val="80000"/>
            </a:schemeClr>
          </a:solidFill>
          <a:ln>
            <a:solidFill>
              <a:schemeClr val="accent6">
                <a:lumMod val="60000"/>
                <a:lumOff val="40000"/>
              </a:schemeClr>
            </a:solidFill>
          </a:ln>
        </p:spPr>
        <p:txBody>
          <a:bodyPr wrap="square">
            <a:spAutoFit/>
          </a:bodyPr>
          <a:lstStyle/>
          <a:p>
            <a:pPr lvl="0" fontAlgn="base">
              <a:spcBef>
                <a:spcPct val="0"/>
              </a:spcBef>
              <a:spcAft>
                <a:spcPct val="0"/>
              </a:spcAft>
            </a:pPr>
            <a:r>
              <a:rPr lang="en-US" sz="1400" dirty="0">
                <a:latin typeface="Cambria Math" pitchFamily="18" charset="0"/>
                <a:ea typeface="Cambria Math" pitchFamily="18" charset="0"/>
                <a:cs typeface="Arial" pitchFamily="34" charset="0"/>
              </a:rPr>
              <a:t>For example, if we have a feature with three categories (A, B, and C), each category can be represented as a   binary vector of length three, with the vector for category A being [1, 0, 0], the vector for category B being [0, 1, 0], and the vector for category C being [0, 0, 1]. </a:t>
            </a:r>
          </a:p>
        </p:txBody>
      </p:sp>
    </p:spTree>
    <p:extLst>
      <p:ext uri="{BB962C8B-B14F-4D97-AF65-F5344CB8AC3E}">
        <p14:creationId xmlns:p14="http://schemas.microsoft.com/office/powerpoint/2010/main" val="29182832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11" name="Group 10"/>
          <p:cNvGrpSpPr/>
          <p:nvPr/>
        </p:nvGrpSpPr>
        <p:grpSpPr>
          <a:xfrm>
            <a:off x="1805354" y="396660"/>
            <a:ext cx="7854461" cy="4154984"/>
            <a:chOff x="1805354" y="396660"/>
            <a:chExt cx="7854461" cy="4154984"/>
          </a:xfrm>
        </p:grpSpPr>
        <p:sp>
          <p:nvSpPr>
            <p:cNvPr id="10" name="Rectangle 9"/>
            <p:cNvSpPr/>
            <p:nvPr/>
          </p:nvSpPr>
          <p:spPr>
            <a:xfrm>
              <a:off x="2590799" y="396660"/>
              <a:ext cx="6189785" cy="4154984"/>
            </a:xfrm>
            <a:prstGeom prst="rect">
              <a:avLst/>
            </a:prstGeom>
          </p:spPr>
          <p:txBody>
            <a:bodyPr wrap="square">
              <a:spAutoFit/>
            </a:bodyPr>
            <a:lstStyle/>
            <a:p>
              <a:endParaRPr lang="en-US" sz="1600" dirty="0">
                <a:latin typeface="Cambria Math" pitchFamily="18" charset="0"/>
                <a:ea typeface="Cambria Math" pitchFamily="18" charset="0"/>
              </a:endParaRPr>
            </a:p>
            <a:p>
              <a:r>
                <a:rPr lang="en-US" sz="1600" dirty="0" smtClean="0">
                  <a:solidFill>
                    <a:srgbClr val="FF0066"/>
                  </a:solidFill>
                  <a:latin typeface="Cambria Math" pitchFamily="18" charset="0"/>
                  <a:ea typeface="Cambria Math" pitchFamily="18" charset="0"/>
                </a:rPr>
                <a:t>“I </a:t>
              </a:r>
              <a:r>
                <a:rPr lang="en-US" sz="1600" dirty="0">
                  <a:solidFill>
                    <a:srgbClr val="FF0066"/>
                  </a:solidFill>
                  <a:latin typeface="Cambria Math" pitchFamily="18" charset="0"/>
                  <a:ea typeface="Cambria Math" pitchFamily="18" charset="0"/>
                </a:rPr>
                <a:t>love machine </a:t>
              </a:r>
              <a:r>
                <a:rPr lang="en-US" sz="1600" dirty="0" smtClean="0">
                  <a:solidFill>
                    <a:srgbClr val="FF0066"/>
                  </a:solidFill>
                  <a:latin typeface="Cambria Math" pitchFamily="18" charset="0"/>
                  <a:ea typeface="Cambria Math" pitchFamily="18" charset="0"/>
                </a:rPr>
                <a:t>learning”</a:t>
              </a:r>
              <a:endParaRPr lang="en-US" sz="1600" dirty="0">
                <a:solidFill>
                  <a:srgbClr val="FF0066"/>
                </a:solidFill>
                <a:latin typeface="Cambria Math" pitchFamily="18" charset="0"/>
                <a:ea typeface="Cambria Math" pitchFamily="18" charset="0"/>
              </a:endParaRPr>
            </a:p>
            <a:p>
              <a:endParaRPr lang="en-US" sz="1600" dirty="0">
                <a:latin typeface="Cambria Math" pitchFamily="18" charset="0"/>
                <a:ea typeface="Cambria Math" pitchFamily="18" charset="0"/>
              </a:endParaRPr>
            </a:p>
            <a:p>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[1,0,0,0] - i </a:t>
              </a:r>
            </a:p>
            <a:p>
              <a:r>
                <a:rPr lang="en-US" sz="1600" dirty="0">
                  <a:latin typeface="Cambria Math" pitchFamily="18" charset="0"/>
                  <a:ea typeface="Cambria Math" pitchFamily="18" charset="0"/>
                </a:rPr>
                <a:t>[0,1,0,0] - love</a:t>
              </a:r>
            </a:p>
            <a:p>
              <a:r>
                <a:rPr lang="en-US" sz="1600" dirty="0">
                  <a:latin typeface="Cambria Math" pitchFamily="18" charset="0"/>
                  <a:ea typeface="Cambria Math" pitchFamily="18" charset="0"/>
                </a:rPr>
                <a:t>[0,0,1,0] - Machine</a:t>
              </a:r>
            </a:p>
            <a:p>
              <a:r>
                <a:rPr lang="en-US" sz="1600" dirty="0">
                  <a:latin typeface="Cambria Math" pitchFamily="18" charset="0"/>
                  <a:ea typeface="Cambria Math" pitchFamily="18" charset="0"/>
                </a:rPr>
                <a:t>[0,0,0,1] - Learning</a:t>
              </a:r>
            </a:p>
            <a:p>
              <a:endParaRPr lang="en-US" sz="1600" dirty="0">
                <a:latin typeface="Cambria Math" pitchFamily="18" charset="0"/>
                <a:ea typeface="Cambria Math" pitchFamily="18" charset="0"/>
              </a:endParaRPr>
            </a:p>
            <a:p>
              <a:endParaRPr lang="en-US" sz="1600" dirty="0">
                <a:latin typeface="Cambria Math" pitchFamily="18" charset="0"/>
                <a:ea typeface="Cambria Math" pitchFamily="18" charset="0"/>
              </a:endParaRPr>
            </a:p>
            <a:p>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ex.   - Red Blue Black</a:t>
              </a:r>
            </a:p>
            <a:p>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R  - </a:t>
              </a:r>
              <a:r>
                <a:rPr lang="en-US" sz="1600" dirty="0" smtClean="0">
                  <a:latin typeface="Cambria Math" pitchFamily="18" charset="0"/>
                  <a:ea typeface="Cambria Math" pitchFamily="18" charset="0"/>
                </a:rPr>
                <a:t>  </a:t>
              </a:r>
              <a:r>
                <a:rPr lang="en-US" sz="1600" dirty="0">
                  <a:latin typeface="Cambria Math" pitchFamily="18" charset="0"/>
                  <a:ea typeface="Cambria Math" pitchFamily="18" charset="0"/>
                </a:rPr>
                <a:t>[1,0,0]</a:t>
              </a:r>
            </a:p>
            <a:p>
              <a:r>
                <a:rPr lang="en-US" sz="1600" dirty="0">
                  <a:latin typeface="Cambria Math" pitchFamily="18" charset="0"/>
                  <a:ea typeface="Cambria Math" pitchFamily="18" charset="0"/>
                </a:rPr>
                <a:t>BL -  [0,1,0]</a:t>
              </a:r>
            </a:p>
            <a:p>
              <a:r>
                <a:rPr lang="en-US" sz="1600" dirty="0">
                  <a:latin typeface="Cambria Math" pitchFamily="18" charset="0"/>
                  <a:ea typeface="Cambria Math" pitchFamily="18" charset="0"/>
                </a:rPr>
                <a:t>BK -  [0,0,1]</a:t>
              </a:r>
              <a:endParaRPr lang="en-IN" sz="1600" dirty="0">
                <a:latin typeface="Cambria Math" pitchFamily="18" charset="0"/>
                <a:ea typeface="Cambria Math" pitchFamily="18" charset="0"/>
              </a:endParaRPr>
            </a:p>
          </p:txBody>
        </p:sp>
        <p:cxnSp>
          <p:nvCxnSpPr>
            <p:cNvPr id="5" name="Straight Connector 4"/>
            <p:cNvCxnSpPr/>
            <p:nvPr/>
          </p:nvCxnSpPr>
          <p:spPr>
            <a:xfrm flipV="1">
              <a:off x="1805354" y="2684585"/>
              <a:ext cx="7854461" cy="5861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84792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3" name="TextBox 2"/>
          <p:cNvSpPr txBox="1"/>
          <p:nvPr/>
        </p:nvSpPr>
        <p:spPr>
          <a:xfrm>
            <a:off x="2918839" y="419344"/>
            <a:ext cx="632674" cy="338554"/>
          </a:xfrm>
          <a:prstGeom prst="rect">
            <a:avLst/>
          </a:prstGeom>
          <a:noFill/>
        </p:spPr>
        <p:txBody>
          <a:bodyPr wrap="none" rtlCol="0">
            <a:spAutoFit/>
          </a:bodyPr>
          <a:lstStyle/>
          <a:p>
            <a:r>
              <a:rPr lang="en-US" sz="1600" dirty="0" smtClean="0">
                <a:latin typeface="Bahnschrift" pitchFamily="34" charset="0"/>
                <a:ea typeface="Cambria Math" pitchFamily="18" charset="0"/>
              </a:rPr>
              <a:t>Why </a:t>
            </a:r>
            <a:endParaRPr lang="en-IN" sz="1600" dirty="0">
              <a:latin typeface="Bahnschrift" pitchFamily="34" charset="0"/>
              <a:ea typeface="Cambria Math" pitchFamily="18" charset="0"/>
            </a:endParaRPr>
          </a:p>
        </p:txBody>
      </p:sp>
      <p:sp>
        <p:nvSpPr>
          <p:cNvPr id="13" name="TextBox 12"/>
          <p:cNvSpPr txBox="1"/>
          <p:nvPr/>
        </p:nvSpPr>
        <p:spPr>
          <a:xfrm>
            <a:off x="1331641" y="1975338"/>
            <a:ext cx="1420582" cy="338554"/>
          </a:xfrm>
          <a:prstGeom prst="rect">
            <a:avLst/>
          </a:prstGeom>
          <a:solidFill>
            <a:schemeClr val="accent6">
              <a:lumMod val="40000"/>
              <a:lumOff val="60000"/>
            </a:schemeClr>
          </a:solidFill>
          <a:ln>
            <a:solidFill>
              <a:schemeClr val="bg1">
                <a:lumMod val="85000"/>
              </a:schemeClr>
            </a:solidFill>
          </a:ln>
        </p:spPr>
        <p:txBody>
          <a:bodyPr wrap="none" rtlCol="0">
            <a:spAutoFit/>
          </a:bodyPr>
          <a:lstStyle/>
          <a:p>
            <a:r>
              <a:rPr lang="en-US" sz="1600" dirty="0" smtClean="0">
                <a:latin typeface="Bahnschrift" pitchFamily="34" charset="0"/>
                <a:ea typeface="Cambria Math" pitchFamily="18" charset="0"/>
              </a:rPr>
              <a:t>Disadvantage</a:t>
            </a:r>
            <a:endParaRPr lang="en-IN" sz="1600" dirty="0">
              <a:latin typeface="Bahnschrift" pitchFamily="34" charset="0"/>
              <a:ea typeface="Cambria Math" pitchFamily="18" charset="0"/>
            </a:endParaRPr>
          </a:p>
        </p:txBody>
      </p:sp>
      <p:sp>
        <p:nvSpPr>
          <p:cNvPr id="15" name="Rectangle 14"/>
          <p:cNvSpPr/>
          <p:nvPr/>
        </p:nvSpPr>
        <p:spPr>
          <a:xfrm>
            <a:off x="3789137" y="2614101"/>
            <a:ext cx="7889632" cy="523220"/>
          </a:xfrm>
          <a:prstGeom prst="rect">
            <a:avLst/>
          </a:prstGeom>
        </p:spPr>
        <p:txBody>
          <a:bodyPr wrap="square">
            <a:spAutoFit/>
          </a:bodyPr>
          <a:lstStyle/>
          <a:p>
            <a:r>
              <a:rPr lang="en-US" sz="1400" dirty="0">
                <a:latin typeface="Cambria Math" pitchFamily="18" charset="0"/>
                <a:ea typeface="Cambria Math" pitchFamily="18" charset="0"/>
              </a:rPr>
              <a:t>High dimensionality describes datasets with a </a:t>
            </a:r>
            <a:r>
              <a:rPr lang="en-US" sz="1400" dirty="0">
                <a:solidFill>
                  <a:srgbClr val="0070C0"/>
                </a:solidFill>
                <a:latin typeface="Cambria Math" pitchFamily="18" charset="0"/>
                <a:ea typeface="Cambria Math" pitchFamily="18" charset="0"/>
              </a:rPr>
              <a:t>large number of features or variables</a:t>
            </a:r>
            <a:r>
              <a:rPr lang="en-US" sz="1400" dirty="0">
                <a:latin typeface="Cambria Math" pitchFamily="18" charset="0"/>
                <a:ea typeface="Cambria Math" pitchFamily="18" charset="0"/>
              </a:rPr>
              <a:t>, often exceeding the number of observations, leading to </a:t>
            </a:r>
            <a:r>
              <a:rPr lang="en-US" sz="1400" dirty="0">
                <a:solidFill>
                  <a:srgbClr val="7030A0"/>
                </a:solidFill>
                <a:latin typeface="Cambria Math" pitchFamily="18" charset="0"/>
                <a:ea typeface="Cambria Math" pitchFamily="18" charset="0"/>
              </a:rPr>
              <a:t>complexity and computational challenges</a:t>
            </a:r>
            <a:endParaRPr lang="en-IN" sz="1400" dirty="0">
              <a:solidFill>
                <a:srgbClr val="7030A0"/>
              </a:solidFill>
              <a:latin typeface="Cambria Math" pitchFamily="18" charset="0"/>
              <a:ea typeface="Cambria Math" pitchFamily="18" charset="0"/>
            </a:endParaRPr>
          </a:p>
        </p:txBody>
      </p:sp>
      <p:grpSp>
        <p:nvGrpSpPr>
          <p:cNvPr id="19" name="Group 18"/>
          <p:cNvGrpSpPr/>
          <p:nvPr/>
        </p:nvGrpSpPr>
        <p:grpSpPr>
          <a:xfrm>
            <a:off x="4105392" y="1029783"/>
            <a:ext cx="3157787" cy="316708"/>
            <a:chOff x="4551728" y="2131753"/>
            <a:chExt cx="3157787" cy="316708"/>
          </a:xfrm>
        </p:grpSpPr>
        <p:sp>
          <p:nvSpPr>
            <p:cNvPr id="10" name="TextBox 9"/>
            <p:cNvSpPr txBox="1"/>
            <p:nvPr/>
          </p:nvSpPr>
          <p:spPr>
            <a:xfrm>
              <a:off x="4551728" y="2131753"/>
              <a:ext cx="512641" cy="307777"/>
            </a:xfrm>
            <a:prstGeom prst="rect">
              <a:avLst/>
            </a:prstGeom>
            <a:noFill/>
            <a:ln>
              <a:solidFill>
                <a:schemeClr val="bg1">
                  <a:lumMod val="95000"/>
                </a:schemeClr>
              </a:solidFill>
            </a:ln>
          </p:spPr>
          <p:txBody>
            <a:bodyPr wrap="none" rtlCol="0">
              <a:spAutoFit/>
            </a:bodyPr>
            <a:lstStyle/>
            <a:p>
              <a:r>
                <a:rPr lang="en-US" sz="1400" dirty="0" smtClean="0">
                  <a:latin typeface="Arial" pitchFamily="34" charset="0"/>
                  <a:cs typeface="Arial" pitchFamily="34" charset="0"/>
                </a:rPr>
                <a:t>Text</a:t>
              </a:r>
              <a:endParaRPr lang="en-IN" sz="1400" dirty="0">
                <a:latin typeface="Arial" pitchFamily="34" charset="0"/>
                <a:cs typeface="Arial" pitchFamily="34" charset="0"/>
              </a:endParaRPr>
            </a:p>
          </p:txBody>
        </p:sp>
        <p:sp>
          <p:nvSpPr>
            <p:cNvPr id="11" name="TextBox 10"/>
            <p:cNvSpPr txBox="1"/>
            <p:nvPr/>
          </p:nvSpPr>
          <p:spPr>
            <a:xfrm>
              <a:off x="6858000" y="2140684"/>
              <a:ext cx="851515" cy="307777"/>
            </a:xfrm>
            <a:prstGeom prst="rect">
              <a:avLst/>
            </a:prstGeom>
            <a:noFill/>
            <a:ln>
              <a:solidFill>
                <a:schemeClr val="bg1">
                  <a:lumMod val="95000"/>
                </a:schemeClr>
              </a:solidFill>
            </a:ln>
          </p:spPr>
          <p:txBody>
            <a:bodyPr wrap="none" rtlCol="0">
              <a:spAutoFit/>
            </a:bodyPr>
            <a:lstStyle/>
            <a:p>
              <a:r>
                <a:rPr lang="en-US" sz="1400" dirty="0" smtClean="0">
                  <a:latin typeface="Arial" pitchFamily="34" charset="0"/>
                  <a:cs typeface="Arial" pitchFamily="34" charset="0"/>
                </a:rPr>
                <a:t>Numeric</a:t>
              </a:r>
              <a:endParaRPr lang="en-IN" sz="1400" dirty="0">
                <a:latin typeface="Arial" pitchFamily="34" charset="0"/>
                <a:cs typeface="Arial" pitchFamily="34" charset="0"/>
              </a:endParaRPr>
            </a:p>
          </p:txBody>
        </p:sp>
        <p:grpSp>
          <p:nvGrpSpPr>
            <p:cNvPr id="17" name="Group 16"/>
            <p:cNvGrpSpPr/>
            <p:nvPr/>
          </p:nvGrpSpPr>
          <p:grpSpPr>
            <a:xfrm>
              <a:off x="5159013" y="2131753"/>
              <a:ext cx="1594338" cy="276999"/>
              <a:chOff x="5159013" y="2131753"/>
              <a:chExt cx="1594338" cy="276999"/>
            </a:xfrm>
          </p:grpSpPr>
          <p:cxnSp>
            <p:nvCxnSpPr>
              <p:cNvPr id="9" name="Straight Arrow Connector 8"/>
              <p:cNvCxnSpPr/>
              <p:nvPr/>
            </p:nvCxnSpPr>
            <p:spPr>
              <a:xfrm>
                <a:off x="5159013" y="2380005"/>
                <a:ext cx="159433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521295" y="2131753"/>
                <a:ext cx="681982" cy="276999"/>
              </a:xfrm>
              <a:prstGeom prst="rect">
                <a:avLst/>
              </a:prstGeom>
              <a:noFill/>
            </p:spPr>
            <p:txBody>
              <a:bodyPr wrap="none" rtlCol="0">
                <a:spAutoFit/>
              </a:bodyPr>
              <a:lstStyle/>
              <a:p>
                <a:r>
                  <a:rPr lang="en-US" sz="1200" dirty="0" smtClean="0">
                    <a:latin typeface="Arial" pitchFamily="34" charset="0"/>
                    <a:ea typeface="Cambria Math" pitchFamily="18" charset="0"/>
                    <a:cs typeface="Arial" pitchFamily="34" charset="0"/>
                  </a:rPr>
                  <a:t>convert</a:t>
                </a:r>
                <a:endParaRPr lang="en-IN" sz="1200" dirty="0">
                  <a:latin typeface="Arial" pitchFamily="34" charset="0"/>
                  <a:ea typeface="Cambria Math" pitchFamily="18" charset="0"/>
                  <a:cs typeface="Arial" pitchFamily="34" charset="0"/>
                </a:endParaRPr>
              </a:p>
            </p:txBody>
          </p:sp>
        </p:grpSp>
      </p:grpSp>
      <p:sp>
        <p:nvSpPr>
          <p:cNvPr id="5" name="Rectangle 2"/>
          <p:cNvSpPr>
            <a:spLocks noChangeArrowheads="1"/>
          </p:cNvSpPr>
          <p:nvPr/>
        </p:nvSpPr>
        <p:spPr bwMode="auto">
          <a:xfrm rot="10800000" flipV="1">
            <a:off x="1619723" y="4620789"/>
            <a:ext cx="2079415" cy="338554"/>
          </a:xfrm>
          <a:prstGeom prst="rect">
            <a:avLst/>
          </a:prstGeom>
          <a:solidFill>
            <a:schemeClr val="accent2">
              <a:lumMod val="20000"/>
              <a:lumOff val="80000"/>
            </a:schemeClr>
          </a:solidFill>
          <a:ln>
            <a:solidFill>
              <a:schemeClr val="bg1">
                <a:lumMod val="85000"/>
              </a:schemeClr>
            </a:solidFill>
          </a:ln>
        </p:spPr>
        <p:txBody>
          <a:bodyPr wrap="none" rtlCol="0">
            <a:spAutoFit/>
          </a:bodyPr>
          <a:lstStyle/>
          <a:p>
            <a:r>
              <a:rPr lang="en-US" sz="1600" dirty="0">
                <a:latin typeface="Cambria Math" pitchFamily="18" charset="0"/>
                <a:ea typeface="Cambria Math" pitchFamily="18" charset="0"/>
              </a:rPr>
              <a:t>No </a:t>
            </a:r>
            <a:r>
              <a:rPr lang="en-US" sz="1600" dirty="0" smtClean="0">
                <a:latin typeface="Cambria Math" pitchFamily="18" charset="0"/>
                <a:ea typeface="Cambria Math" pitchFamily="18" charset="0"/>
              </a:rPr>
              <a:t>Semantic </a:t>
            </a:r>
            <a:r>
              <a:rPr lang="en-US" sz="1600" dirty="0">
                <a:latin typeface="Cambria Math" pitchFamily="18" charset="0"/>
                <a:ea typeface="Cambria Math" pitchFamily="18" charset="0"/>
              </a:rPr>
              <a:t>Meaning</a:t>
            </a:r>
          </a:p>
        </p:txBody>
      </p:sp>
      <p:cxnSp>
        <p:nvCxnSpPr>
          <p:cNvPr id="24" name="Straight Connector 23"/>
          <p:cNvCxnSpPr/>
          <p:nvPr/>
        </p:nvCxnSpPr>
        <p:spPr>
          <a:xfrm>
            <a:off x="1195663" y="1817077"/>
            <a:ext cx="1092486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619722" y="5227554"/>
            <a:ext cx="1027920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6" name="Group 35"/>
          <p:cNvGrpSpPr/>
          <p:nvPr/>
        </p:nvGrpSpPr>
        <p:grpSpPr>
          <a:xfrm>
            <a:off x="1619722" y="5227554"/>
            <a:ext cx="10396432" cy="1169551"/>
            <a:chOff x="1619722" y="5227554"/>
            <a:chExt cx="10396432" cy="1169551"/>
          </a:xfrm>
        </p:grpSpPr>
        <p:grpSp>
          <p:nvGrpSpPr>
            <p:cNvPr id="31" name="Group 30"/>
            <p:cNvGrpSpPr/>
            <p:nvPr/>
          </p:nvGrpSpPr>
          <p:grpSpPr>
            <a:xfrm>
              <a:off x="1619722" y="5227554"/>
              <a:ext cx="10396432" cy="1169551"/>
              <a:chOff x="1619722" y="5227554"/>
              <a:chExt cx="10396432" cy="1169551"/>
            </a:xfrm>
          </p:grpSpPr>
          <p:sp>
            <p:nvSpPr>
              <p:cNvPr id="18" name="Rectangle 17"/>
              <p:cNvSpPr/>
              <p:nvPr/>
            </p:nvSpPr>
            <p:spPr>
              <a:xfrm>
                <a:off x="1619722" y="5227554"/>
                <a:ext cx="1546193" cy="307777"/>
              </a:xfrm>
              <a:prstGeom prst="rect">
                <a:avLst/>
              </a:prstGeom>
              <a:solidFill>
                <a:schemeClr val="accent2">
                  <a:lumMod val="20000"/>
                  <a:lumOff val="80000"/>
                </a:schemeClr>
              </a:solidFill>
              <a:ln w="3175">
                <a:solidFill>
                  <a:schemeClr val="bg1">
                    <a:lumMod val="85000"/>
                  </a:schemeClr>
                </a:solidFill>
              </a:ln>
            </p:spPr>
            <p:txBody>
              <a:bodyPr wrap="none" rtlCol="0">
                <a:spAutoFit/>
              </a:bodyPr>
              <a:lstStyle/>
              <a:p>
                <a:r>
                  <a:rPr lang="en-IN" sz="1400" dirty="0">
                    <a:latin typeface="Cambria Math" pitchFamily="18" charset="0"/>
                    <a:ea typeface="Cambria Math" pitchFamily="18" charset="0"/>
                  </a:rPr>
                  <a:t>Out of Vocabulary</a:t>
                </a:r>
              </a:p>
            </p:txBody>
          </p:sp>
          <p:sp>
            <p:nvSpPr>
              <p:cNvPr id="12" name="Rectangle 11"/>
              <p:cNvSpPr/>
              <p:nvPr/>
            </p:nvSpPr>
            <p:spPr>
              <a:xfrm>
                <a:off x="3235176" y="5227554"/>
                <a:ext cx="8780978" cy="1169551"/>
              </a:xfrm>
              <a:prstGeom prst="rect">
                <a:avLst/>
              </a:prstGeom>
            </p:spPr>
            <p:txBody>
              <a:bodyPr wrap="square">
                <a:spAutoFit/>
              </a:bodyPr>
              <a:lstStyle/>
              <a:p>
                <a:r>
                  <a:rPr lang="en-US" sz="1400" dirty="0">
                    <a:latin typeface="Cambria Math" pitchFamily="18" charset="0"/>
                    <a:ea typeface="Cambria Math" pitchFamily="18" charset="0"/>
                  </a:rPr>
                  <a:t>In Natural Language Processing (NLP), Out-of-Vocabulary (OOV) words refer to any words a machine learning model has not encountered during its training phase. These words are not part of the model’s predefined vocabulary, which poses a significant challenge when processing text or speech that includes them. Since these models rely heavily on their learned vocabulary to make sense of input, encountering an OOV word can lead to errors or inaccuracies.</a:t>
                </a:r>
                <a:endParaRPr lang="en-IN" sz="1400" dirty="0">
                  <a:latin typeface="Cambria Math" pitchFamily="18" charset="0"/>
                  <a:ea typeface="Cambria Math" pitchFamily="18" charset="0"/>
                </a:endParaRPr>
              </a:p>
            </p:txBody>
          </p:sp>
        </p:grpSp>
        <p:cxnSp>
          <p:nvCxnSpPr>
            <p:cNvPr id="34" name="Straight Connector 33"/>
            <p:cNvCxnSpPr/>
            <p:nvPr/>
          </p:nvCxnSpPr>
          <p:spPr>
            <a:xfrm>
              <a:off x="3165915" y="5227554"/>
              <a:ext cx="0" cy="116955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1675437" y="3428998"/>
            <a:ext cx="10004016" cy="1039167"/>
            <a:chOff x="1675437" y="3428998"/>
            <a:chExt cx="10004016" cy="1039167"/>
          </a:xfrm>
        </p:grpSpPr>
        <p:sp>
          <p:nvSpPr>
            <p:cNvPr id="21" name="Rectangle 20"/>
            <p:cNvSpPr/>
            <p:nvPr/>
          </p:nvSpPr>
          <p:spPr>
            <a:xfrm>
              <a:off x="1675437" y="3429000"/>
              <a:ext cx="906017" cy="338554"/>
            </a:xfrm>
            <a:prstGeom prst="rect">
              <a:avLst/>
            </a:prstGeom>
            <a:solidFill>
              <a:schemeClr val="accent2">
                <a:lumMod val="20000"/>
                <a:lumOff val="80000"/>
              </a:schemeClr>
            </a:solidFill>
            <a:ln>
              <a:solidFill>
                <a:schemeClr val="bg1">
                  <a:lumMod val="85000"/>
                </a:schemeClr>
              </a:solidFill>
            </a:ln>
          </p:spPr>
          <p:txBody>
            <a:bodyPr wrap="none" rtlCol="0">
              <a:spAutoFit/>
            </a:bodyPr>
            <a:lstStyle/>
            <a:p>
              <a:r>
                <a:rPr lang="en-IN" sz="1600" dirty="0">
                  <a:latin typeface="Cambria Math" pitchFamily="18" charset="0"/>
                  <a:ea typeface="Cambria Math" pitchFamily="18" charset="0"/>
                </a:rPr>
                <a:t>Sparsity</a:t>
              </a:r>
            </a:p>
          </p:txBody>
        </p:sp>
        <p:grpSp>
          <p:nvGrpSpPr>
            <p:cNvPr id="22" name="Group 21"/>
            <p:cNvGrpSpPr/>
            <p:nvPr/>
          </p:nvGrpSpPr>
          <p:grpSpPr>
            <a:xfrm>
              <a:off x="2694002" y="3429000"/>
              <a:ext cx="8732888" cy="1039165"/>
              <a:chOff x="2694002" y="3429000"/>
              <a:chExt cx="8732888" cy="1039165"/>
            </a:xfrm>
          </p:grpSpPr>
          <p:sp>
            <p:nvSpPr>
              <p:cNvPr id="2" name="Rectangle 1"/>
              <p:cNvSpPr>
                <a:spLocks noChangeArrowheads="1"/>
              </p:cNvSpPr>
              <p:nvPr/>
            </p:nvSpPr>
            <p:spPr bwMode="auto">
              <a:xfrm rot="10800000" flipV="1">
                <a:off x="2694002" y="3429000"/>
                <a:ext cx="87328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sz="1400" dirty="0">
                    <a:latin typeface="Cambria Math" pitchFamily="18" charset="0"/>
                    <a:ea typeface="Cambria Math" pitchFamily="18" charset="0"/>
                  </a:rPr>
                  <a:t>In database and data analysis ,this refers to a dataset where a large percentage of entries are empty or zero such as in a sparse matrix</a:t>
                </a:r>
              </a:p>
            </p:txBody>
          </p:sp>
          <p:sp>
            <p:nvSpPr>
              <p:cNvPr id="20" name="Rectangle 19"/>
              <p:cNvSpPr/>
              <p:nvPr/>
            </p:nvSpPr>
            <p:spPr>
              <a:xfrm>
                <a:off x="2764083" y="3944945"/>
                <a:ext cx="8499230" cy="523220"/>
              </a:xfrm>
              <a:prstGeom prst="rect">
                <a:avLst/>
              </a:prstGeom>
            </p:spPr>
            <p:txBody>
              <a:bodyPr wrap="square">
                <a:spAutoFit/>
              </a:bodyPr>
              <a:lstStyle/>
              <a:p>
                <a:r>
                  <a:rPr lang="en-US" sz="1400" dirty="0">
                    <a:latin typeface="Cambria Math" pitchFamily="18" charset="0"/>
                    <a:ea typeface="Cambria Math" pitchFamily="18" charset="0"/>
                  </a:rPr>
                  <a:t>Sparsity refers to a Matrix of numbers that includes many zeroes or values that will not significantly impact a calculation</a:t>
                </a:r>
                <a:endParaRPr lang="en-IN" sz="1400" dirty="0">
                  <a:latin typeface="Cambria Math" pitchFamily="18" charset="0"/>
                  <a:ea typeface="Cambria Math" pitchFamily="18" charset="0"/>
                </a:endParaRPr>
              </a:p>
            </p:txBody>
          </p:sp>
        </p:grpSp>
        <p:cxnSp>
          <p:nvCxnSpPr>
            <p:cNvPr id="38" name="Straight Connector 37"/>
            <p:cNvCxnSpPr/>
            <p:nvPr/>
          </p:nvCxnSpPr>
          <p:spPr>
            <a:xfrm>
              <a:off x="1676121" y="3428998"/>
              <a:ext cx="10003332" cy="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581454" y="3428999"/>
              <a:ext cx="0" cy="9144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1619722" y="2595229"/>
            <a:ext cx="10223486" cy="532656"/>
            <a:chOff x="1619722" y="2595229"/>
            <a:chExt cx="10223486" cy="532656"/>
          </a:xfrm>
        </p:grpSpPr>
        <p:sp>
          <p:nvSpPr>
            <p:cNvPr id="14" name="TextBox 13"/>
            <p:cNvSpPr txBox="1"/>
            <p:nvPr/>
          </p:nvSpPr>
          <p:spPr>
            <a:xfrm>
              <a:off x="1675437" y="2604665"/>
              <a:ext cx="1977016" cy="338554"/>
            </a:xfrm>
            <a:prstGeom prst="rect">
              <a:avLst/>
            </a:prstGeom>
            <a:solidFill>
              <a:schemeClr val="accent2">
                <a:lumMod val="20000"/>
                <a:lumOff val="80000"/>
              </a:schemeClr>
            </a:solidFill>
            <a:ln>
              <a:solidFill>
                <a:schemeClr val="bg1">
                  <a:lumMod val="85000"/>
                </a:schemeClr>
              </a:solidFill>
            </a:ln>
          </p:spPr>
          <p:txBody>
            <a:bodyPr wrap="none" rtlCol="0">
              <a:spAutoFit/>
            </a:bodyPr>
            <a:lstStyle/>
            <a:p>
              <a:r>
                <a:rPr lang="en-US" sz="1600" dirty="0">
                  <a:latin typeface="Cambria Math" pitchFamily="18" charset="0"/>
                  <a:ea typeface="Cambria Math" pitchFamily="18" charset="0"/>
                </a:rPr>
                <a:t>High Dimensionality</a:t>
              </a:r>
              <a:endParaRPr lang="en-IN" sz="1600" dirty="0">
                <a:latin typeface="Cambria Math" pitchFamily="18" charset="0"/>
                <a:ea typeface="Cambria Math" pitchFamily="18" charset="0"/>
              </a:endParaRPr>
            </a:p>
          </p:txBody>
        </p:sp>
        <p:cxnSp>
          <p:nvCxnSpPr>
            <p:cNvPr id="48" name="Straight Connector 47"/>
            <p:cNvCxnSpPr/>
            <p:nvPr/>
          </p:nvCxnSpPr>
          <p:spPr>
            <a:xfrm flipV="1">
              <a:off x="1619722" y="2595229"/>
              <a:ext cx="10223486" cy="943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652453" y="2604665"/>
              <a:ext cx="0" cy="5232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992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9" name="TextBox 8"/>
          <p:cNvSpPr txBox="1"/>
          <p:nvPr/>
        </p:nvSpPr>
        <p:spPr>
          <a:xfrm>
            <a:off x="1362163" y="258160"/>
            <a:ext cx="1170022" cy="276999"/>
          </a:xfrm>
          <a:prstGeom prst="rect">
            <a:avLst/>
          </a:prstGeom>
          <a:solidFill>
            <a:schemeClr val="accent1"/>
          </a:solidFill>
          <a:ln>
            <a:solidFill>
              <a:schemeClr val="bg1"/>
            </a:solidFill>
          </a:ln>
        </p:spPr>
        <p:txBody>
          <a:bodyPr wrap="square" rtlCol="0">
            <a:spAutoFit/>
          </a:bodyPr>
          <a:lstStyle/>
          <a:p>
            <a:r>
              <a:rPr lang="en-US" sz="1200" dirty="0" smtClean="0">
                <a:solidFill>
                  <a:schemeClr val="bg1"/>
                </a:solidFill>
                <a:latin typeface="Bahnschrift Light" pitchFamily="34" charset="0"/>
                <a:ea typeface="Arial Unicode MS" pitchFamily="34" charset="-128"/>
                <a:cs typeface="Arial Unicode MS" pitchFamily="34" charset="-128"/>
              </a:rPr>
              <a:t>Bag Of Word</a:t>
            </a:r>
            <a:endParaRPr lang="en-IN" sz="1200" dirty="0">
              <a:solidFill>
                <a:schemeClr val="bg1"/>
              </a:solidFill>
              <a:latin typeface="Bahnschrift Light" pitchFamily="34" charset="0"/>
              <a:ea typeface="Arial Unicode MS" pitchFamily="34" charset="-128"/>
              <a:cs typeface="Arial Unicode MS" pitchFamily="34" charset="-128"/>
            </a:endParaRPr>
          </a:p>
        </p:txBody>
      </p:sp>
      <p:cxnSp>
        <p:nvCxnSpPr>
          <p:cNvPr id="3" name="Straight Connector 2"/>
          <p:cNvCxnSpPr/>
          <p:nvPr/>
        </p:nvCxnSpPr>
        <p:spPr>
          <a:xfrm>
            <a:off x="1277815" y="535159"/>
            <a:ext cx="288387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393049" y="631372"/>
            <a:ext cx="2768643" cy="307777"/>
          </a:xfrm>
          <a:prstGeom prst="rect">
            <a:avLst/>
          </a:prstGeom>
        </p:spPr>
        <p:txBody>
          <a:bodyPr wrap="none">
            <a:spAutoFit/>
          </a:bodyPr>
          <a:lstStyle/>
          <a:p>
            <a:r>
              <a:rPr lang="en-US" sz="1400" dirty="0">
                <a:latin typeface="Arial" pitchFamily="34" charset="0"/>
                <a:cs typeface="Arial" pitchFamily="34" charset="0"/>
              </a:rPr>
              <a:t>Bag of Words Model explanation</a:t>
            </a:r>
            <a:endParaRPr lang="en-IN" sz="1400" dirty="0">
              <a:latin typeface="Arial" pitchFamily="34" charset="0"/>
              <a:cs typeface="Arial" pitchFamily="34" charset="0"/>
            </a:endParaRPr>
          </a:p>
        </p:txBody>
      </p:sp>
      <p:grpSp>
        <p:nvGrpSpPr>
          <p:cNvPr id="21" name="Group 20"/>
          <p:cNvGrpSpPr/>
          <p:nvPr/>
        </p:nvGrpSpPr>
        <p:grpSpPr>
          <a:xfrm>
            <a:off x="1309667" y="1193829"/>
            <a:ext cx="4618441" cy="5017478"/>
            <a:chOff x="1747188" y="1395046"/>
            <a:chExt cx="4618441" cy="5017478"/>
          </a:xfrm>
        </p:grpSpPr>
        <p:sp>
          <p:nvSpPr>
            <p:cNvPr id="5" name="Rounded Rectangle 4"/>
            <p:cNvSpPr/>
            <p:nvPr/>
          </p:nvSpPr>
          <p:spPr>
            <a:xfrm>
              <a:off x="1798718" y="1395046"/>
              <a:ext cx="3101528" cy="973016"/>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Bahnschrift" pitchFamily="34" charset="0"/>
                </a:rPr>
                <a:t>Corpus</a:t>
              </a:r>
            </a:p>
            <a:p>
              <a:pPr algn="ctr"/>
              <a:endParaRPr lang="en-US" sz="1200" dirty="0">
                <a:solidFill>
                  <a:schemeClr val="tx1"/>
                </a:solidFill>
                <a:latin typeface="Bahnschrift" pitchFamily="34" charset="0"/>
              </a:endParaRPr>
            </a:p>
            <a:p>
              <a:pPr algn="ctr"/>
              <a:r>
                <a:rPr lang="en-US" sz="1100" dirty="0" smtClean="0">
                  <a:solidFill>
                    <a:schemeClr val="tx1"/>
                  </a:solidFill>
                  <a:latin typeface="Arial" pitchFamily="34" charset="0"/>
                  <a:cs typeface="Arial" pitchFamily="34" charset="0"/>
                </a:rPr>
                <a:t>A </a:t>
              </a:r>
              <a:r>
                <a:rPr lang="en-US" sz="1100" dirty="0">
                  <a:solidFill>
                    <a:schemeClr val="tx1"/>
                  </a:solidFill>
                  <a:latin typeface="Arial" pitchFamily="34" charset="0"/>
                  <a:cs typeface="Arial" pitchFamily="34" charset="0"/>
                </a:rPr>
                <a:t>collection of text </a:t>
              </a:r>
              <a:r>
                <a:rPr lang="en-US" sz="1100" dirty="0" smtClean="0">
                  <a:solidFill>
                    <a:schemeClr val="tx1"/>
                  </a:solidFill>
                  <a:latin typeface="Arial" pitchFamily="34" charset="0"/>
                  <a:cs typeface="Arial" pitchFamily="34" charset="0"/>
                </a:rPr>
                <a:t>documents</a:t>
              </a:r>
              <a:endParaRPr lang="en-IN" sz="1100" dirty="0">
                <a:solidFill>
                  <a:schemeClr val="tx1"/>
                </a:solidFill>
                <a:latin typeface="Arial" pitchFamily="34" charset="0"/>
                <a:cs typeface="Arial" pitchFamily="34" charset="0"/>
              </a:endParaRPr>
            </a:p>
          </p:txBody>
        </p:sp>
        <p:sp>
          <p:nvSpPr>
            <p:cNvPr id="10" name="Rounded Rectangle 9"/>
            <p:cNvSpPr/>
            <p:nvPr/>
          </p:nvSpPr>
          <p:spPr>
            <a:xfrm>
              <a:off x="1798718" y="2790092"/>
              <a:ext cx="3101527" cy="973016"/>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itchFamily="34" charset="0"/>
                </a:rPr>
                <a:t>Tokenize</a:t>
              </a:r>
              <a:endParaRPr lang="en-US" sz="1600" dirty="0" smtClean="0">
                <a:solidFill>
                  <a:schemeClr val="tx1"/>
                </a:solidFill>
                <a:latin typeface="Bahnschrift" pitchFamily="34" charset="0"/>
              </a:endParaRPr>
            </a:p>
            <a:p>
              <a:pPr algn="ctr"/>
              <a:endParaRPr lang="en-US" sz="1200" dirty="0">
                <a:solidFill>
                  <a:schemeClr val="tx1"/>
                </a:solidFill>
                <a:latin typeface="Bahnschrift" pitchFamily="34" charset="0"/>
              </a:endParaRPr>
            </a:p>
            <a:p>
              <a:pPr algn="ctr"/>
              <a:r>
                <a:rPr lang="en-US" sz="1100" dirty="0">
                  <a:solidFill>
                    <a:schemeClr val="tx1"/>
                  </a:solidFill>
                  <a:latin typeface="Arial" pitchFamily="34" charset="0"/>
                  <a:cs typeface="Arial" pitchFamily="34" charset="0"/>
                </a:rPr>
                <a:t>Divide the text into smaller units called</a:t>
              </a:r>
            </a:p>
            <a:p>
              <a:pPr algn="ctr"/>
              <a:r>
                <a:rPr lang="en-US" sz="1100" dirty="0">
                  <a:solidFill>
                    <a:schemeClr val="tx1"/>
                  </a:solidFill>
                  <a:latin typeface="Arial" pitchFamily="34" charset="0"/>
                  <a:cs typeface="Arial" pitchFamily="34" charset="0"/>
                </a:rPr>
                <a:t>tokens, usually words or phrases</a:t>
              </a:r>
              <a:endParaRPr lang="en-IN" sz="1100" dirty="0">
                <a:solidFill>
                  <a:schemeClr val="tx1"/>
                </a:solidFill>
                <a:latin typeface="Arial" pitchFamily="34" charset="0"/>
                <a:cs typeface="Arial" pitchFamily="34" charset="0"/>
              </a:endParaRPr>
            </a:p>
          </p:txBody>
        </p:sp>
        <p:sp>
          <p:nvSpPr>
            <p:cNvPr id="11" name="Rounded Rectangle 10"/>
            <p:cNvSpPr/>
            <p:nvPr/>
          </p:nvSpPr>
          <p:spPr>
            <a:xfrm>
              <a:off x="1798719" y="4091353"/>
              <a:ext cx="3429773" cy="973016"/>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itchFamily="34" charset="0"/>
                </a:rPr>
                <a:t>Count word frequencies</a:t>
              </a:r>
              <a:endParaRPr lang="en-US" sz="1600" dirty="0" smtClean="0">
                <a:solidFill>
                  <a:schemeClr val="tx1"/>
                </a:solidFill>
                <a:latin typeface="Bahnschrift" pitchFamily="34" charset="0"/>
              </a:endParaRPr>
            </a:p>
            <a:p>
              <a:pPr algn="ctr"/>
              <a:endParaRPr lang="en-US" sz="1200" dirty="0">
                <a:solidFill>
                  <a:schemeClr val="tx1"/>
                </a:solidFill>
                <a:latin typeface="Bahnschrift" pitchFamily="34" charset="0"/>
              </a:endParaRPr>
            </a:p>
            <a:p>
              <a:pPr algn="ctr"/>
              <a:r>
                <a:rPr lang="en-US" sz="1100" dirty="0">
                  <a:solidFill>
                    <a:schemeClr val="tx1"/>
                  </a:solidFill>
                  <a:latin typeface="Arial" pitchFamily="34" charset="0"/>
                  <a:cs typeface="Arial" pitchFamily="34" charset="0"/>
                </a:rPr>
                <a:t>Create a vocabulary of unique words and count the number of times each word appears in each document</a:t>
              </a:r>
              <a:endParaRPr lang="en-IN" sz="1100" dirty="0">
                <a:solidFill>
                  <a:schemeClr val="tx1"/>
                </a:solidFill>
                <a:latin typeface="Arial" pitchFamily="34" charset="0"/>
                <a:cs typeface="Arial" pitchFamily="34" charset="0"/>
              </a:endParaRPr>
            </a:p>
          </p:txBody>
        </p:sp>
        <p:cxnSp>
          <p:nvCxnSpPr>
            <p:cNvPr id="13" name="Straight Arrow Connector 12"/>
            <p:cNvCxnSpPr/>
            <p:nvPr/>
          </p:nvCxnSpPr>
          <p:spPr>
            <a:xfrm>
              <a:off x="3159595" y="2473569"/>
              <a:ext cx="0" cy="316523"/>
            </a:xfrm>
            <a:prstGeom prst="straightConnector1">
              <a:avLst/>
            </a:prstGeom>
            <a:ln>
              <a:solidFill>
                <a:srgbClr val="CC33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159595" y="3763108"/>
              <a:ext cx="0" cy="269630"/>
            </a:xfrm>
            <a:prstGeom prst="straightConnector1">
              <a:avLst/>
            </a:prstGeom>
            <a:ln>
              <a:solidFill>
                <a:srgbClr val="CC3300"/>
              </a:solidFill>
              <a:tailEnd type="arrow"/>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1747188" y="5439508"/>
              <a:ext cx="4618441" cy="973016"/>
            </a:xfrm>
            <a:prstGeom prst="round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itchFamily="34" charset="0"/>
                </a:rPr>
                <a:t>Encode the data</a:t>
              </a:r>
            </a:p>
            <a:p>
              <a:pPr algn="ctr"/>
              <a:endParaRPr lang="en-US" sz="1200" dirty="0" smtClean="0">
                <a:solidFill>
                  <a:schemeClr val="tx1"/>
                </a:solidFill>
                <a:latin typeface="Bahnschrift" pitchFamily="34" charset="0"/>
              </a:endParaRPr>
            </a:p>
            <a:p>
              <a:pPr algn="ctr"/>
              <a:r>
                <a:rPr lang="en-US" sz="1100" dirty="0" smtClean="0">
                  <a:solidFill>
                    <a:schemeClr val="tx1"/>
                  </a:solidFill>
                  <a:latin typeface="Arial" pitchFamily="34" charset="0"/>
                  <a:cs typeface="Arial" pitchFamily="34" charset="0"/>
                </a:rPr>
                <a:t>Encoding the text data as numerical values by creating a vector for each document, with each element of the vector representing the frequency count of a particular word in the document</a:t>
              </a:r>
              <a:endParaRPr lang="en-IN" sz="1100" dirty="0">
                <a:solidFill>
                  <a:schemeClr val="tx1"/>
                </a:solidFill>
                <a:latin typeface="Arial" pitchFamily="34" charset="0"/>
                <a:cs typeface="Arial" pitchFamily="34" charset="0"/>
              </a:endParaRPr>
            </a:p>
          </p:txBody>
        </p:sp>
        <p:cxnSp>
          <p:nvCxnSpPr>
            <p:cNvPr id="20" name="Straight Arrow Connector 19"/>
            <p:cNvCxnSpPr/>
            <p:nvPr/>
          </p:nvCxnSpPr>
          <p:spPr>
            <a:xfrm>
              <a:off x="3159595" y="5169878"/>
              <a:ext cx="0" cy="269630"/>
            </a:xfrm>
            <a:prstGeom prst="straightConnector1">
              <a:avLst/>
            </a:prstGeom>
            <a:ln>
              <a:solidFill>
                <a:srgbClr val="CC3300"/>
              </a:solidFill>
              <a:tailEnd type="arrow"/>
            </a:ln>
          </p:spPr>
          <p:style>
            <a:lnRef idx="1">
              <a:schemeClr val="accent1"/>
            </a:lnRef>
            <a:fillRef idx="0">
              <a:schemeClr val="accent1"/>
            </a:fillRef>
            <a:effectRef idx="0">
              <a:schemeClr val="accent1"/>
            </a:effectRef>
            <a:fontRef idx="minor">
              <a:schemeClr val="tx1"/>
            </a:fontRef>
          </p:style>
        </p:cxnSp>
      </p:grpSp>
      <p:cxnSp>
        <p:nvCxnSpPr>
          <p:cNvPr id="26" name="Straight Connector 25"/>
          <p:cNvCxnSpPr/>
          <p:nvPr/>
        </p:nvCxnSpPr>
        <p:spPr>
          <a:xfrm>
            <a:off x="6049108" y="258160"/>
            <a:ext cx="0" cy="6248022"/>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39" name="Table 38"/>
          <p:cNvGraphicFramePr>
            <a:graphicFrameLocks noGrp="1"/>
          </p:cNvGraphicFramePr>
          <p:nvPr>
            <p:extLst>
              <p:ext uri="{D42A27DB-BD31-4B8C-83A1-F6EECF244321}">
                <p14:modId xmlns:p14="http://schemas.microsoft.com/office/powerpoint/2010/main" val="1776468059"/>
              </p:ext>
            </p:extLst>
          </p:nvPr>
        </p:nvGraphicFramePr>
        <p:xfrm>
          <a:off x="6400799" y="5271537"/>
          <a:ext cx="5340632" cy="1280160"/>
        </p:xfrm>
        <a:graphic>
          <a:graphicData uri="http://schemas.openxmlformats.org/drawingml/2006/table">
            <a:tbl>
              <a:tblPr firstRow="1" bandRow="1">
                <a:tableStyleId>{0505E3EF-67EA-436B-97B2-0124C06EBD24}</a:tableStyleId>
              </a:tblPr>
              <a:tblGrid>
                <a:gridCol w="698293"/>
                <a:gridCol w="574431"/>
                <a:gridCol w="609600"/>
                <a:gridCol w="644769"/>
                <a:gridCol w="375138"/>
                <a:gridCol w="691662"/>
                <a:gridCol w="550984"/>
                <a:gridCol w="1195755"/>
              </a:tblGrid>
              <a:tr h="428969">
                <a:tc>
                  <a:txBody>
                    <a:bodyPr/>
                    <a:lstStyle/>
                    <a:p>
                      <a:r>
                        <a:rPr lang="en-US" sz="1200" dirty="0" smtClean="0"/>
                        <a:t>Encode</a:t>
                      </a:r>
                      <a:endParaRPr lang="en-IN" sz="1200" dirty="0"/>
                    </a:p>
                  </a:txBody>
                  <a:tcPr/>
                </a:tc>
                <a:tc>
                  <a:txBody>
                    <a:bodyPr/>
                    <a:lstStyle/>
                    <a:p>
                      <a:r>
                        <a:rPr lang="en-US" sz="1200" dirty="0" smtClean="0"/>
                        <a:t>Child</a:t>
                      </a:r>
                      <a:endParaRPr lang="en-IN" sz="1200" dirty="0"/>
                    </a:p>
                  </a:txBody>
                  <a:tcPr/>
                </a:tc>
                <a:tc>
                  <a:txBody>
                    <a:bodyPr/>
                    <a:lstStyle/>
                    <a:p>
                      <a:r>
                        <a:rPr lang="en-US" sz="1200" dirty="0" smtClean="0"/>
                        <a:t>dog</a:t>
                      </a:r>
                      <a:endParaRPr lang="en-IN" sz="1200" dirty="0"/>
                    </a:p>
                  </a:txBody>
                  <a:tcPr/>
                </a:tc>
                <a:tc>
                  <a:txBody>
                    <a:bodyPr/>
                    <a:lstStyle/>
                    <a:p>
                      <a:r>
                        <a:rPr lang="en-US" sz="1200" dirty="0" smtClean="0"/>
                        <a:t>happy</a:t>
                      </a:r>
                      <a:endParaRPr lang="en-IN" sz="1200" dirty="0"/>
                    </a:p>
                  </a:txBody>
                  <a:tcPr/>
                </a:tc>
                <a:tc>
                  <a:txBody>
                    <a:bodyPr/>
                    <a:lstStyle/>
                    <a:p>
                      <a:r>
                        <a:rPr lang="en-US" sz="1200" dirty="0" smtClean="0"/>
                        <a:t>is</a:t>
                      </a:r>
                      <a:endParaRPr lang="en-IN" sz="1200" dirty="0"/>
                    </a:p>
                  </a:txBody>
                  <a:tcPr/>
                </a:tc>
                <a:tc>
                  <a:txBody>
                    <a:bodyPr/>
                    <a:lstStyle/>
                    <a:p>
                      <a:r>
                        <a:rPr lang="en-US" sz="1200" dirty="0" smtClean="0"/>
                        <a:t>makes</a:t>
                      </a:r>
                      <a:endParaRPr lang="en-IN" sz="1200" dirty="0"/>
                    </a:p>
                  </a:txBody>
                  <a:tcPr/>
                </a:tc>
                <a:tc>
                  <a:txBody>
                    <a:bodyPr/>
                    <a:lstStyle/>
                    <a:p>
                      <a:r>
                        <a:rPr lang="en-US" sz="1200" dirty="0" smtClean="0"/>
                        <a:t>the</a:t>
                      </a:r>
                      <a:endParaRPr lang="en-IN" sz="1200" dirty="0"/>
                    </a:p>
                  </a:txBody>
                  <a:tcPr/>
                </a:tc>
                <a:tc>
                  <a:txBody>
                    <a:bodyPr/>
                    <a:lstStyle/>
                    <a:p>
                      <a:r>
                        <a:rPr lang="en-US" sz="1200" dirty="0" smtClean="0"/>
                        <a:t>Bow</a:t>
                      </a:r>
                      <a:r>
                        <a:rPr lang="en-US" sz="1200" baseline="0" dirty="0" smtClean="0"/>
                        <a:t> vector </a:t>
                      </a:r>
                    </a:p>
                    <a:p>
                      <a:r>
                        <a:rPr lang="en-US" sz="1200" baseline="0" dirty="0" smtClean="0"/>
                        <a:t>representation</a:t>
                      </a:r>
                      <a:endParaRPr lang="en-IN" sz="1200" dirty="0"/>
                    </a:p>
                  </a:txBody>
                  <a:tcPr/>
                </a:tc>
              </a:tr>
              <a:tr h="249874">
                <a:tc>
                  <a:txBody>
                    <a:bodyPr/>
                    <a:lstStyle/>
                    <a:p>
                      <a:r>
                        <a:rPr lang="en-US" sz="1200" kern="1200" dirty="0" smtClean="0">
                          <a:solidFill>
                            <a:schemeClr val="tx1"/>
                          </a:solidFill>
                          <a:latin typeface="Bahnschrift" pitchFamily="34" charset="0"/>
                          <a:ea typeface="+mn-ea"/>
                          <a:cs typeface="Arial" pitchFamily="34" charset="0"/>
                        </a:rPr>
                        <a:t>D1</a:t>
                      </a:r>
                      <a:endParaRPr lang="en-IN" sz="1200" kern="1200" dirty="0">
                        <a:solidFill>
                          <a:schemeClr val="tx1"/>
                        </a:solidFill>
                        <a:latin typeface="Bahnschrift" pitchFamily="34" charset="0"/>
                        <a:ea typeface="+mn-ea"/>
                        <a:cs typeface="Arial" pitchFamily="34" charset="0"/>
                      </a:endParaRPr>
                    </a:p>
                  </a:txBody>
                  <a:tcPr/>
                </a:tc>
                <a:tc>
                  <a:txBody>
                    <a:bodyPr/>
                    <a:lstStyle/>
                    <a:p>
                      <a:r>
                        <a:rPr lang="en-US" sz="1200" dirty="0" smtClean="0"/>
                        <a:t>0</a:t>
                      </a:r>
                      <a:endParaRPr lang="en-IN" sz="1200" dirty="0"/>
                    </a:p>
                  </a:txBody>
                  <a:tcPr/>
                </a:tc>
                <a:tc>
                  <a:txBody>
                    <a:bodyPr/>
                    <a:lstStyle/>
                    <a:p>
                      <a:r>
                        <a:rPr lang="en-US" sz="1200" dirty="0" smtClean="0"/>
                        <a:t>1</a:t>
                      </a:r>
                      <a:endParaRPr lang="en-IN" sz="1200" dirty="0"/>
                    </a:p>
                  </a:txBody>
                  <a:tcPr/>
                </a:tc>
                <a:tc>
                  <a:txBody>
                    <a:bodyPr/>
                    <a:lstStyle/>
                    <a:p>
                      <a:r>
                        <a:rPr lang="en-US" sz="1200" dirty="0" smtClean="0"/>
                        <a:t>1</a:t>
                      </a:r>
                      <a:endParaRPr lang="en-IN" sz="1200" dirty="0"/>
                    </a:p>
                  </a:txBody>
                  <a:tcPr/>
                </a:tc>
                <a:tc>
                  <a:txBody>
                    <a:bodyPr/>
                    <a:lstStyle/>
                    <a:p>
                      <a:r>
                        <a:rPr lang="en-US" sz="1200" dirty="0" smtClean="0"/>
                        <a:t>1</a:t>
                      </a:r>
                      <a:endParaRPr lang="en-IN" sz="1200" dirty="0"/>
                    </a:p>
                  </a:txBody>
                  <a:tcPr/>
                </a:tc>
                <a:tc>
                  <a:txBody>
                    <a:bodyPr/>
                    <a:lstStyle/>
                    <a:p>
                      <a:r>
                        <a:rPr lang="en-US" sz="1200" dirty="0" smtClean="0"/>
                        <a:t>0</a:t>
                      </a:r>
                      <a:endParaRPr lang="en-IN" sz="1200" dirty="0"/>
                    </a:p>
                  </a:txBody>
                  <a:tcPr/>
                </a:tc>
                <a:tc>
                  <a:txBody>
                    <a:bodyPr/>
                    <a:lstStyle/>
                    <a:p>
                      <a:r>
                        <a:rPr lang="en-US" sz="1200" dirty="0" smtClean="0"/>
                        <a:t>1</a:t>
                      </a:r>
                      <a:endParaRPr lang="en-IN" sz="1200" dirty="0"/>
                    </a:p>
                  </a:txBody>
                  <a:tcPr/>
                </a:tc>
                <a:tc>
                  <a:txBody>
                    <a:bodyPr/>
                    <a:lstStyle/>
                    <a:p>
                      <a:r>
                        <a:rPr lang="en-US" sz="1200" dirty="0" smtClean="0"/>
                        <a:t>[0,1,1,1,0,1]</a:t>
                      </a:r>
                      <a:endParaRPr lang="en-IN" sz="1200" dirty="0"/>
                    </a:p>
                  </a:txBody>
                  <a:tcPr/>
                </a:tc>
              </a:tr>
              <a:tr h="249874">
                <a:tc>
                  <a:txBody>
                    <a:bodyPr/>
                    <a:lstStyle/>
                    <a:p>
                      <a:pPr marL="0" algn="l" defTabSz="914400" rtl="0" eaLnBrk="1" latinLnBrk="0" hangingPunct="1"/>
                      <a:r>
                        <a:rPr lang="en-US" sz="1200" kern="1200" dirty="0" smtClean="0">
                          <a:solidFill>
                            <a:schemeClr val="tx1"/>
                          </a:solidFill>
                          <a:latin typeface="Bahnschrift" pitchFamily="34" charset="0"/>
                          <a:ea typeface="+mn-ea"/>
                          <a:cs typeface="Arial" pitchFamily="34" charset="0"/>
                        </a:rPr>
                        <a:t>D2</a:t>
                      </a:r>
                      <a:endParaRPr lang="en-IN" sz="1200" kern="1200" dirty="0">
                        <a:solidFill>
                          <a:schemeClr val="tx1"/>
                        </a:solidFill>
                        <a:latin typeface="Bahnschrift" pitchFamily="34" charset="0"/>
                        <a:ea typeface="+mn-ea"/>
                        <a:cs typeface="Arial" pitchFamily="34" charset="0"/>
                      </a:endParaRPr>
                    </a:p>
                  </a:txBody>
                  <a:tcPr/>
                </a:tc>
                <a:tc>
                  <a:txBody>
                    <a:bodyPr/>
                    <a:lstStyle/>
                    <a:p>
                      <a:r>
                        <a:rPr lang="en-US" sz="1200" dirty="0" smtClean="0"/>
                        <a:t>1</a:t>
                      </a:r>
                      <a:endParaRPr lang="en-IN" sz="1200" dirty="0"/>
                    </a:p>
                  </a:txBody>
                  <a:tcPr/>
                </a:tc>
                <a:tc>
                  <a:txBody>
                    <a:bodyPr/>
                    <a:lstStyle/>
                    <a:p>
                      <a:r>
                        <a:rPr lang="en-US" sz="1200" dirty="0" smtClean="0"/>
                        <a:t>1</a:t>
                      </a:r>
                      <a:endParaRPr lang="en-IN" sz="1200" dirty="0"/>
                    </a:p>
                  </a:txBody>
                  <a:tcPr/>
                </a:tc>
                <a:tc>
                  <a:txBody>
                    <a:bodyPr/>
                    <a:lstStyle/>
                    <a:p>
                      <a:r>
                        <a:rPr lang="en-US" sz="1200" dirty="0" smtClean="0"/>
                        <a:t>1</a:t>
                      </a:r>
                      <a:endParaRPr lang="en-IN" sz="1200" dirty="0"/>
                    </a:p>
                  </a:txBody>
                  <a:tcPr/>
                </a:tc>
                <a:tc>
                  <a:txBody>
                    <a:bodyPr/>
                    <a:lstStyle/>
                    <a:p>
                      <a:r>
                        <a:rPr lang="en-US" sz="1200" dirty="0" smtClean="0"/>
                        <a:t>0</a:t>
                      </a:r>
                      <a:endParaRPr lang="en-IN" sz="1200" dirty="0"/>
                    </a:p>
                  </a:txBody>
                  <a:tcPr/>
                </a:tc>
                <a:tc>
                  <a:txBody>
                    <a:bodyPr/>
                    <a:lstStyle/>
                    <a:p>
                      <a:r>
                        <a:rPr lang="en-US" sz="1200" dirty="0" smtClean="0"/>
                        <a:t>1</a:t>
                      </a:r>
                      <a:endParaRPr lang="en-IN" sz="1200" dirty="0"/>
                    </a:p>
                  </a:txBody>
                  <a:tcPr/>
                </a:tc>
                <a:tc>
                  <a:txBody>
                    <a:bodyPr/>
                    <a:lstStyle/>
                    <a:p>
                      <a:r>
                        <a:rPr lang="en-US" sz="1200" dirty="0" smtClean="0"/>
                        <a:t>2</a:t>
                      </a:r>
                      <a:endParaRPr lang="en-IN"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[1,1,1,0,1,2]</a:t>
                      </a:r>
                      <a:endParaRPr lang="en-IN" sz="1200" dirty="0" smtClean="0"/>
                    </a:p>
                  </a:txBody>
                  <a:tcPr/>
                </a:tc>
              </a:tr>
              <a:tr h="249874">
                <a:tc>
                  <a:txBody>
                    <a:bodyPr/>
                    <a:lstStyle/>
                    <a:p>
                      <a:pPr marL="0" algn="l" defTabSz="914400" rtl="0" eaLnBrk="1" latinLnBrk="0" hangingPunct="1"/>
                      <a:r>
                        <a:rPr lang="en-US" sz="1200" kern="1200" dirty="0" smtClean="0">
                          <a:solidFill>
                            <a:schemeClr val="tx1"/>
                          </a:solidFill>
                          <a:latin typeface="Bahnschrift" pitchFamily="34" charset="0"/>
                          <a:ea typeface="+mn-ea"/>
                          <a:cs typeface="Arial" pitchFamily="34" charset="0"/>
                        </a:rPr>
                        <a:t>D3</a:t>
                      </a:r>
                      <a:endParaRPr lang="en-IN" sz="1200" kern="1200" dirty="0">
                        <a:solidFill>
                          <a:schemeClr val="tx1"/>
                        </a:solidFill>
                        <a:latin typeface="Bahnschrift" pitchFamily="34" charset="0"/>
                        <a:ea typeface="+mn-ea"/>
                        <a:cs typeface="Arial" pitchFamily="34" charset="0"/>
                      </a:endParaRPr>
                    </a:p>
                  </a:txBody>
                  <a:tcPr/>
                </a:tc>
                <a:tc>
                  <a:txBody>
                    <a:bodyPr/>
                    <a:lstStyle/>
                    <a:p>
                      <a:r>
                        <a:rPr lang="en-US" sz="1200" dirty="0" smtClean="0"/>
                        <a:t>1</a:t>
                      </a:r>
                      <a:endParaRPr lang="en-IN" sz="1200" dirty="0"/>
                    </a:p>
                  </a:txBody>
                  <a:tcPr/>
                </a:tc>
                <a:tc>
                  <a:txBody>
                    <a:bodyPr/>
                    <a:lstStyle/>
                    <a:p>
                      <a:r>
                        <a:rPr lang="en-US" sz="1200" dirty="0" smtClean="0"/>
                        <a:t>1</a:t>
                      </a:r>
                      <a:endParaRPr lang="en-IN" sz="1200" dirty="0"/>
                    </a:p>
                  </a:txBody>
                  <a:tcPr/>
                </a:tc>
                <a:tc>
                  <a:txBody>
                    <a:bodyPr/>
                    <a:lstStyle/>
                    <a:p>
                      <a:r>
                        <a:rPr lang="en-US" sz="1200" dirty="0" smtClean="0"/>
                        <a:t>1</a:t>
                      </a:r>
                      <a:endParaRPr lang="en-IN" sz="1200" dirty="0"/>
                    </a:p>
                  </a:txBody>
                  <a:tcPr/>
                </a:tc>
                <a:tc>
                  <a:txBody>
                    <a:bodyPr/>
                    <a:lstStyle/>
                    <a:p>
                      <a:r>
                        <a:rPr lang="en-US" sz="1200" dirty="0" smtClean="0"/>
                        <a:t>0</a:t>
                      </a:r>
                      <a:endParaRPr lang="en-IN" sz="1200" dirty="0"/>
                    </a:p>
                  </a:txBody>
                  <a:tcPr/>
                </a:tc>
                <a:tc>
                  <a:txBody>
                    <a:bodyPr/>
                    <a:lstStyle/>
                    <a:p>
                      <a:r>
                        <a:rPr lang="en-US" sz="1200" dirty="0" smtClean="0"/>
                        <a:t>1</a:t>
                      </a:r>
                      <a:endParaRPr lang="en-IN" sz="1200" dirty="0"/>
                    </a:p>
                  </a:txBody>
                  <a:tcPr/>
                </a:tc>
                <a:tc>
                  <a:txBody>
                    <a:bodyPr/>
                    <a:lstStyle/>
                    <a:p>
                      <a:r>
                        <a:rPr lang="en-US" sz="1200" dirty="0" smtClean="0"/>
                        <a:t>2</a:t>
                      </a:r>
                      <a:endParaRPr lang="en-IN"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[1,1,1,0,1,2]</a:t>
                      </a:r>
                      <a:endParaRPr lang="en-IN" sz="1200" dirty="0" smtClean="0"/>
                    </a:p>
                  </a:txBody>
                  <a:tcPr/>
                </a:tc>
              </a:tr>
            </a:tbl>
          </a:graphicData>
        </a:graphic>
      </p:graphicFrame>
      <p:grpSp>
        <p:nvGrpSpPr>
          <p:cNvPr id="46" name="Group 45"/>
          <p:cNvGrpSpPr/>
          <p:nvPr/>
        </p:nvGrpSpPr>
        <p:grpSpPr>
          <a:xfrm>
            <a:off x="6400799" y="283384"/>
            <a:ext cx="4419600" cy="4892335"/>
            <a:chOff x="6482861" y="351818"/>
            <a:chExt cx="4419600" cy="4892335"/>
          </a:xfrm>
        </p:grpSpPr>
        <p:grpSp>
          <p:nvGrpSpPr>
            <p:cNvPr id="40" name="Group 39"/>
            <p:cNvGrpSpPr/>
            <p:nvPr/>
          </p:nvGrpSpPr>
          <p:grpSpPr>
            <a:xfrm>
              <a:off x="6482861" y="351818"/>
              <a:ext cx="4419600" cy="4485999"/>
              <a:chOff x="7080738" y="420106"/>
              <a:chExt cx="4419600" cy="4485999"/>
            </a:xfrm>
          </p:grpSpPr>
          <p:sp>
            <p:nvSpPr>
              <p:cNvPr id="30" name="Rounded Rectangle 29"/>
              <p:cNvSpPr/>
              <p:nvPr/>
            </p:nvSpPr>
            <p:spPr>
              <a:xfrm>
                <a:off x="7080738" y="420106"/>
                <a:ext cx="4419600" cy="914400"/>
              </a:xfrm>
              <a:prstGeom prst="roundRect">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smtClean="0">
                  <a:latin typeface="Arial" pitchFamily="34" charset="0"/>
                  <a:cs typeface="Arial" pitchFamily="34" charset="0"/>
                </a:endParaRPr>
              </a:p>
              <a:p>
                <a:pPr algn="ctr"/>
                <a:r>
                  <a:rPr lang="en-US" sz="1600" dirty="0">
                    <a:solidFill>
                      <a:schemeClr val="tx1"/>
                    </a:solidFill>
                    <a:latin typeface="Bahnschrift" pitchFamily="34" charset="0"/>
                  </a:rPr>
                  <a:t>Corpus</a:t>
                </a:r>
                <a:endParaRPr lang="en-US" sz="1200" dirty="0">
                  <a:solidFill>
                    <a:schemeClr val="tx1"/>
                  </a:solidFill>
                  <a:latin typeface="Bahnschrift" pitchFamily="34" charset="0"/>
                </a:endParaRPr>
              </a:p>
              <a:p>
                <a:endParaRPr lang="en-US" sz="1200" dirty="0">
                  <a:latin typeface="Arial" pitchFamily="34" charset="0"/>
                  <a:cs typeface="Arial" pitchFamily="34" charset="0"/>
                </a:endParaRPr>
              </a:p>
              <a:p>
                <a:r>
                  <a:rPr lang="en-US" sz="1200" dirty="0" smtClean="0">
                    <a:solidFill>
                      <a:schemeClr val="tx1"/>
                    </a:solidFill>
                    <a:latin typeface="Arial" pitchFamily="34" charset="0"/>
                    <a:cs typeface="Arial" pitchFamily="34" charset="0"/>
                  </a:rPr>
                  <a:t>The </a:t>
                </a:r>
                <a:r>
                  <a:rPr lang="en-US" sz="1200" dirty="0">
                    <a:solidFill>
                      <a:schemeClr val="tx1"/>
                    </a:solidFill>
                    <a:latin typeface="Arial" pitchFamily="34" charset="0"/>
                    <a:cs typeface="Arial" pitchFamily="34" charset="0"/>
                  </a:rPr>
                  <a:t>dog is happy. The child makes the dog happy. The dog makes the child </a:t>
                </a:r>
                <a:r>
                  <a:rPr lang="en-US" sz="1200" dirty="0" smtClean="0">
                    <a:solidFill>
                      <a:schemeClr val="tx1"/>
                    </a:solidFill>
                    <a:latin typeface="Arial" pitchFamily="34" charset="0"/>
                    <a:cs typeface="Arial" pitchFamily="34" charset="0"/>
                  </a:rPr>
                  <a:t>happy</a:t>
                </a:r>
              </a:p>
              <a:p>
                <a:endParaRPr lang="en-IN" sz="1200" dirty="0">
                  <a:latin typeface="Arial" pitchFamily="34" charset="0"/>
                  <a:cs typeface="Arial" pitchFamily="34" charset="0"/>
                </a:endParaRPr>
              </a:p>
            </p:txBody>
          </p:sp>
          <p:sp>
            <p:nvSpPr>
              <p:cNvPr id="31" name="Rounded Rectangle 30"/>
              <p:cNvSpPr/>
              <p:nvPr/>
            </p:nvSpPr>
            <p:spPr>
              <a:xfrm>
                <a:off x="7080738" y="1723291"/>
                <a:ext cx="4419600" cy="1119556"/>
              </a:xfrm>
              <a:prstGeom prst="roundRect">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smtClean="0">
                  <a:latin typeface="Arial" pitchFamily="34" charset="0"/>
                  <a:cs typeface="Arial" pitchFamily="34" charset="0"/>
                </a:endParaRPr>
              </a:p>
              <a:p>
                <a:pPr algn="ctr"/>
                <a:r>
                  <a:rPr lang="en-US" sz="1600" dirty="0" smtClean="0">
                    <a:solidFill>
                      <a:schemeClr val="tx1"/>
                    </a:solidFill>
                    <a:latin typeface="Bahnschrift" pitchFamily="34" charset="0"/>
                  </a:rPr>
                  <a:t>Tokenize</a:t>
                </a:r>
              </a:p>
              <a:p>
                <a:pPr algn="ctr"/>
                <a:endParaRPr lang="en-US" sz="1200" dirty="0">
                  <a:solidFill>
                    <a:schemeClr val="tx1"/>
                  </a:solidFill>
                  <a:latin typeface="Bahnschrift" pitchFamily="34" charset="0"/>
                </a:endParaRPr>
              </a:p>
              <a:p>
                <a:r>
                  <a:rPr lang="en-US" sz="1200" dirty="0">
                    <a:solidFill>
                      <a:schemeClr val="tx1"/>
                    </a:solidFill>
                    <a:latin typeface="Bahnschrift" pitchFamily="34" charset="0"/>
                    <a:cs typeface="Arial" pitchFamily="34" charset="0"/>
                  </a:rPr>
                  <a:t>D1</a:t>
                </a:r>
                <a:r>
                  <a:rPr lang="en-US" sz="1200" dirty="0" smtClean="0">
                    <a:solidFill>
                      <a:schemeClr val="tx1"/>
                    </a:solidFill>
                    <a:latin typeface="Bahnschrift" pitchFamily="34" charset="0"/>
                    <a:cs typeface="Arial" pitchFamily="34" charset="0"/>
                  </a:rPr>
                  <a:t>:   </a:t>
                </a:r>
                <a:r>
                  <a:rPr lang="en-US" sz="1200" dirty="0">
                    <a:solidFill>
                      <a:schemeClr val="tx1"/>
                    </a:solidFill>
                    <a:latin typeface="Arial" pitchFamily="34" charset="0"/>
                    <a:cs typeface="Arial" pitchFamily="34" charset="0"/>
                  </a:rPr>
                  <a:t>[The</a:t>
                </a:r>
                <a:r>
                  <a:rPr lang="en-US" sz="1200" dirty="0" smtClean="0">
                    <a:solidFill>
                      <a:schemeClr val="tx1"/>
                    </a:solidFill>
                    <a:latin typeface="Arial" pitchFamily="34" charset="0"/>
                    <a:cs typeface="Arial" pitchFamily="34" charset="0"/>
                  </a:rPr>
                  <a:t>] </a:t>
                </a:r>
                <a:r>
                  <a:rPr lang="en-US" sz="1200" dirty="0">
                    <a:solidFill>
                      <a:schemeClr val="tx1"/>
                    </a:solidFill>
                    <a:latin typeface="Arial" pitchFamily="34" charset="0"/>
                    <a:cs typeface="Arial" pitchFamily="34" charset="0"/>
                  </a:rPr>
                  <a:t>[dog] [is] [happy]</a:t>
                </a:r>
              </a:p>
              <a:p>
                <a:r>
                  <a:rPr lang="en-US" sz="1200" dirty="0">
                    <a:solidFill>
                      <a:schemeClr val="tx1"/>
                    </a:solidFill>
                    <a:latin typeface="Bahnschrift" pitchFamily="34" charset="0"/>
                    <a:cs typeface="Arial" pitchFamily="34" charset="0"/>
                  </a:rPr>
                  <a:t>D2: </a:t>
                </a:r>
                <a:r>
                  <a:rPr lang="en-US" sz="1200" dirty="0" smtClean="0">
                    <a:solidFill>
                      <a:schemeClr val="tx1"/>
                    </a:solidFill>
                    <a:latin typeface="Bahnschrift" pitchFamily="34" charset="0"/>
                    <a:cs typeface="Arial" pitchFamily="34" charset="0"/>
                  </a:rPr>
                  <a:t> </a:t>
                </a:r>
                <a:r>
                  <a:rPr lang="en-US" sz="1200" dirty="0" smtClean="0">
                    <a:solidFill>
                      <a:schemeClr val="tx1"/>
                    </a:solidFill>
                    <a:latin typeface="Arial" pitchFamily="34" charset="0"/>
                    <a:cs typeface="Arial" pitchFamily="34" charset="0"/>
                  </a:rPr>
                  <a:t>[</a:t>
                </a:r>
                <a:r>
                  <a:rPr lang="en-US" sz="1200" dirty="0">
                    <a:solidFill>
                      <a:schemeClr val="tx1"/>
                    </a:solidFill>
                    <a:latin typeface="Arial" pitchFamily="34" charset="0"/>
                    <a:cs typeface="Arial" pitchFamily="34" charset="0"/>
                  </a:rPr>
                  <a:t>The] [child] [makes] [the] [dog] [happy] </a:t>
                </a:r>
                <a:endParaRPr lang="en-US" sz="1200" dirty="0" smtClean="0">
                  <a:solidFill>
                    <a:schemeClr val="tx1"/>
                  </a:solidFill>
                  <a:latin typeface="Arial" pitchFamily="34" charset="0"/>
                  <a:cs typeface="Arial" pitchFamily="34" charset="0"/>
                </a:endParaRPr>
              </a:p>
              <a:p>
                <a:r>
                  <a:rPr lang="en-US" sz="1200" dirty="0">
                    <a:solidFill>
                      <a:schemeClr val="tx1"/>
                    </a:solidFill>
                    <a:latin typeface="Bahnschrift" pitchFamily="34" charset="0"/>
                    <a:cs typeface="Arial" pitchFamily="34" charset="0"/>
                  </a:rPr>
                  <a:t>D3: </a:t>
                </a:r>
                <a:r>
                  <a:rPr lang="en-US" sz="1200" dirty="0" smtClean="0">
                    <a:solidFill>
                      <a:schemeClr val="tx1"/>
                    </a:solidFill>
                    <a:latin typeface="Bahnschrift" pitchFamily="34" charset="0"/>
                    <a:cs typeface="Arial" pitchFamily="34" charset="0"/>
                  </a:rPr>
                  <a:t> </a:t>
                </a:r>
                <a:r>
                  <a:rPr lang="en-US" sz="1200" dirty="0" smtClean="0">
                    <a:solidFill>
                      <a:schemeClr val="tx1"/>
                    </a:solidFill>
                    <a:latin typeface="Arial" pitchFamily="34" charset="0"/>
                    <a:cs typeface="Arial" pitchFamily="34" charset="0"/>
                  </a:rPr>
                  <a:t>[</a:t>
                </a:r>
                <a:r>
                  <a:rPr lang="en-US" sz="1200" dirty="0">
                    <a:solidFill>
                      <a:schemeClr val="tx1"/>
                    </a:solidFill>
                    <a:latin typeface="Arial" pitchFamily="34" charset="0"/>
                    <a:cs typeface="Arial" pitchFamily="34" charset="0"/>
                  </a:rPr>
                  <a:t>The dog] [makes] [the] [child] [happy</a:t>
                </a:r>
                <a:r>
                  <a:rPr lang="en-US" sz="1200" dirty="0" smtClean="0">
                    <a:solidFill>
                      <a:schemeClr val="tx1"/>
                    </a:solidFill>
                    <a:latin typeface="Arial" pitchFamily="34" charset="0"/>
                    <a:cs typeface="Arial" pitchFamily="34" charset="0"/>
                  </a:rPr>
                  <a:t>]</a:t>
                </a:r>
              </a:p>
              <a:p>
                <a:endParaRPr lang="en-IN" sz="1200" dirty="0">
                  <a:latin typeface="Arial" pitchFamily="34" charset="0"/>
                  <a:cs typeface="Arial" pitchFamily="34" charset="0"/>
                </a:endParaRPr>
              </a:p>
            </p:txBody>
          </p:sp>
          <p:sp>
            <p:nvSpPr>
              <p:cNvPr id="32" name="Rounded Rectangle 31"/>
              <p:cNvSpPr/>
              <p:nvPr/>
            </p:nvSpPr>
            <p:spPr>
              <a:xfrm>
                <a:off x="7080738" y="3102510"/>
                <a:ext cx="4419600" cy="1803595"/>
              </a:xfrm>
              <a:prstGeom prst="roundRect">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Bahnschrift" pitchFamily="34" charset="0"/>
                  </a:rPr>
                  <a:t>Documents </a:t>
                </a:r>
                <a:r>
                  <a:rPr lang="en-US" sz="1600" dirty="0">
                    <a:solidFill>
                      <a:schemeClr val="tx1"/>
                    </a:solidFill>
                    <a:latin typeface="Bahnschrift" pitchFamily="34" charset="0"/>
                  </a:rPr>
                  <a:t>Counting word frequencies</a:t>
                </a:r>
                <a:endParaRPr lang="en-US" sz="1200" dirty="0">
                  <a:solidFill>
                    <a:schemeClr val="tx1"/>
                  </a:solidFill>
                  <a:latin typeface="Bahnschrift" pitchFamily="34" charset="0"/>
                </a:endParaRPr>
              </a:p>
              <a:p>
                <a:endParaRPr lang="en-US" sz="1200" dirty="0">
                  <a:latin typeface="Arial" pitchFamily="34" charset="0"/>
                  <a:cs typeface="Arial" pitchFamily="34" charset="0"/>
                </a:endParaRPr>
              </a:p>
              <a:p>
                <a:endParaRPr lang="en-US" sz="1200" dirty="0">
                  <a:latin typeface="Arial" pitchFamily="34" charset="0"/>
                  <a:cs typeface="Arial" pitchFamily="34" charset="0"/>
                </a:endParaRPr>
              </a:p>
              <a:p>
                <a:endParaRPr lang="en-US" sz="1200" dirty="0">
                  <a:latin typeface="Arial" pitchFamily="34" charset="0"/>
                  <a:cs typeface="Arial" pitchFamily="34" charset="0"/>
                </a:endParaRPr>
              </a:p>
              <a:p>
                <a:r>
                  <a:rPr lang="en-US" sz="1200" dirty="0">
                    <a:solidFill>
                      <a:schemeClr val="tx1"/>
                    </a:solidFill>
                    <a:latin typeface="Bahnschrift" pitchFamily="34" charset="0"/>
                    <a:cs typeface="Arial" pitchFamily="34" charset="0"/>
                  </a:rPr>
                  <a:t>D1 :  </a:t>
                </a:r>
                <a:r>
                  <a:rPr lang="en-US" sz="1200" dirty="0" smtClean="0">
                    <a:solidFill>
                      <a:schemeClr val="tx1"/>
                    </a:solidFill>
                    <a:latin typeface="Bahnschrift" pitchFamily="34" charset="0"/>
                    <a:cs typeface="Arial" pitchFamily="34" charset="0"/>
                  </a:rPr>
                  <a:t> </a:t>
                </a:r>
                <a:r>
                  <a:rPr lang="en-US" sz="1200" dirty="0" smtClean="0">
                    <a:solidFill>
                      <a:schemeClr val="tx1"/>
                    </a:solidFill>
                    <a:latin typeface="Arial" pitchFamily="34" charset="0"/>
                    <a:cs typeface="Arial" pitchFamily="34" charset="0"/>
                  </a:rPr>
                  <a:t>the</a:t>
                </a:r>
                <a:r>
                  <a:rPr lang="en-US" sz="1200" dirty="0">
                    <a:solidFill>
                      <a:schemeClr val="tx1"/>
                    </a:solidFill>
                    <a:latin typeface="Arial" pitchFamily="34" charset="0"/>
                    <a:cs typeface="Arial" pitchFamily="34" charset="0"/>
                  </a:rPr>
                  <a:t>: 1, dog: 1, is: 1, happy: 1</a:t>
                </a:r>
              </a:p>
              <a:p>
                <a:r>
                  <a:rPr lang="en-US" sz="1200" dirty="0">
                    <a:solidFill>
                      <a:schemeClr val="tx1"/>
                    </a:solidFill>
                    <a:latin typeface="Bahnschrift" pitchFamily="34" charset="0"/>
                    <a:cs typeface="Arial" pitchFamily="34" charset="0"/>
                  </a:rPr>
                  <a:t>D2 :  </a:t>
                </a:r>
                <a:r>
                  <a:rPr lang="en-US" sz="1200" dirty="0" smtClean="0">
                    <a:solidFill>
                      <a:schemeClr val="tx1"/>
                    </a:solidFill>
                    <a:latin typeface="Arial" pitchFamily="34" charset="0"/>
                    <a:cs typeface="Arial" pitchFamily="34" charset="0"/>
                  </a:rPr>
                  <a:t>the</a:t>
                </a:r>
                <a:r>
                  <a:rPr lang="en-US" sz="1200" dirty="0">
                    <a:solidFill>
                      <a:schemeClr val="tx1"/>
                    </a:solidFill>
                    <a:latin typeface="Arial" pitchFamily="34" charset="0"/>
                    <a:cs typeface="Arial" pitchFamily="34" charset="0"/>
                  </a:rPr>
                  <a:t>: 2, dog: 1, makes: 1, child: 1, happy: 1</a:t>
                </a:r>
              </a:p>
              <a:p>
                <a:r>
                  <a:rPr lang="en-US" sz="1200" dirty="0">
                    <a:solidFill>
                      <a:schemeClr val="tx1"/>
                    </a:solidFill>
                    <a:latin typeface="Bahnschrift" pitchFamily="34" charset="0"/>
                    <a:cs typeface="Arial" pitchFamily="34" charset="0"/>
                  </a:rPr>
                  <a:t>D3 :  </a:t>
                </a:r>
                <a:r>
                  <a:rPr lang="en-US" sz="1200" dirty="0" smtClean="0">
                    <a:solidFill>
                      <a:schemeClr val="tx1"/>
                    </a:solidFill>
                    <a:latin typeface="Arial" pitchFamily="34" charset="0"/>
                    <a:cs typeface="Arial" pitchFamily="34" charset="0"/>
                  </a:rPr>
                  <a:t>the</a:t>
                </a:r>
                <a:r>
                  <a:rPr lang="en-US" sz="1200" dirty="0">
                    <a:solidFill>
                      <a:schemeClr val="tx1"/>
                    </a:solidFill>
                    <a:latin typeface="Arial" pitchFamily="34" charset="0"/>
                    <a:cs typeface="Arial" pitchFamily="34" charset="0"/>
                  </a:rPr>
                  <a:t>: 2, child: 1, makes: 1, dog: 1, </a:t>
                </a:r>
                <a:r>
                  <a:rPr lang="en-US" sz="1200" dirty="0" smtClean="0">
                    <a:solidFill>
                      <a:schemeClr val="tx1"/>
                    </a:solidFill>
                    <a:latin typeface="Arial" pitchFamily="34" charset="0"/>
                    <a:cs typeface="Arial" pitchFamily="34" charset="0"/>
                  </a:rPr>
                  <a:t>happy:  1</a:t>
                </a:r>
                <a:endParaRPr lang="en-IN" sz="1200" dirty="0">
                  <a:latin typeface="Arial" pitchFamily="34" charset="0"/>
                  <a:cs typeface="Arial" pitchFamily="34" charset="0"/>
                </a:endParaRPr>
              </a:p>
            </p:txBody>
          </p:sp>
          <p:cxnSp>
            <p:nvCxnSpPr>
              <p:cNvPr id="34" name="Straight Arrow Connector 33"/>
              <p:cNvCxnSpPr/>
              <p:nvPr/>
            </p:nvCxnSpPr>
            <p:spPr>
              <a:xfrm>
                <a:off x="8968153" y="1334506"/>
                <a:ext cx="0" cy="388785"/>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968153" y="2842847"/>
                <a:ext cx="0" cy="259663"/>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42" name="Straight Arrow Connector 41"/>
            <p:cNvCxnSpPr/>
            <p:nvPr/>
          </p:nvCxnSpPr>
          <p:spPr>
            <a:xfrm>
              <a:off x="8370276" y="4837817"/>
              <a:ext cx="0" cy="406336"/>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110464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242646" y="396660"/>
            <a:ext cx="10773508" cy="769441"/>
          </a:xfrm>
          <a:prstGeom prst="rect">
            <a:avLst/>
          </a:prstGeom>
        </p:spPr>
        <p:txBody>
          <a:bodyPr wrap="square">
            <a:spAutoFit/>
          </a:bodyPr>
          <a:lstStyle/>
          <a:p>
            <a:r>
              <a:rPr lang="en-US" sz="1600" dirty="0" smtClean="0">
                <a:latin typeface="Bahnschrift SemiBold" pitchFamily="34" charset="0"/>
                <a:ea typeface="Cambria Math" pitchFamily="18" charset="0"/>
              </a:rPr>
              <a:t>Bow</a:t>
            </a:r>
            <a:r>
              <a:rPr lang="en-US" sz="1400" dirty="0" smtClean="0">
                <a:latin typeface="Cambria Math" pitchFamily="18" charset="0"/>
                <a:ea typeface="Cambria Math" pitchFamily="18" charset="0"/>
              </a:rPr>
              <a:t>  </a:t>
            </a:r>
            <a:r>
              <a:rPr lang="en-US" sz="1400" dirty="0">
                <a:latin typeface="Cambria Math" pitchFamily="18" charset="0"/>
                <a:ea typeface="Cambria Math" pitchFamily="18" charset="0"/>
              </a:rPr>
              <a:t>turns text like sentence, paragraph or document into a </a:t>
            </a:r>
            <a:r>
              <a:rPr lang="en-US" sz="1400" dirty="0">
                <a:solidFill>
                  <a:srgbClr val="0070C0"/>
                </a:solidFill>
                <a:latin typeface="Cambria Math" pitchFamily="18" charset="0"/>
                <a:ea typeface="Cambria Math" pitchFamily="18" charset="0"/>
              </a:rPr>
              <a:t>collection of words </a:t>
            </a:r>
            <a:r>
              <a:rPr lang="en-US" sz="1400" dirty="0">
                <a:latin typeface="Cambria Math" pitchFamily="18" charset="0"/>
                <a:ea typeface="Cambria Math" pitchFamily="18" charset="0"/>
              </a:rPr>
              <a:t>and counts how </a:t>
            </a:r>
            <a:r>
              <a:rPr lang="en-US" sz="1400" dirty="0" smtClean="0">
                <a:latin typeface="Cambria Math" pitchFamily="18" charset="0"/>
                <a:ea typeface="Cambria Math" pitchFamily="18" charset="0"/>
              </a:rPr>
              <a:t>frequently each </a:t>
            </a:r>
            <a:r>
              <a:rPr lang="en-US" sz="1400" dirty="0">
                <a:latin typeface="Cambria Math" pitchFamily="18" charset="0"/>
                <a:ea typeface="Cambria Math" pitchFamily="18" charset="0"/>
              </a:rPr>
              <a:t>word appears but ignoring the order of the words. It does not consider the order of the words or their grammar but focuses on counting how </a:t>
            </a:r>
            <a:r>
              <a:rPr lang="en-US" sz="1400" dirty="0" smtClean="0">
                <a:latin typeface="Cambria Math" pitchFamily="18" charset="0"/>
                <a:ea typeface="Cambria Math" pitchFamily="18" charset="0"/>
              </a:rPr>
              <a:t>frequently each </a:t>
            </a:r>
            <a:r>
              <a:rPr lang="en-US" sz="1400" dirty="0">
                <a:latin typeface="Cambria Math" pitchFamily="18" charset="0"/>
                <a:ea typeface="Cambria Math" pitchFamily="18" charset="0"/>
              </a:rPr>
              <a:t>word appears in the text</a:t>
            </a:r>
            <a:endParaRPr lang="en-IN" sz="1400" dirty="0">
              <a:latin typeface="Cambria Math" pitchFamily="18" charset="0"/>
              <a:ea typeface="Cambria Math" pitchFamily="18" charset="0"/>
            </a:endParaRPr>
          </a:p>
        </p:txBody>
      </p:sp>
      <p:sp>
        <p:nvSpPr>
          <p:cNvPr id="5" name="Rectangle 4"/>
          <p:cNvSpPr/>
          <p:nvPr/>
        </p:nvSpPr>
        <p:spPr>
          <a:xfrm>
            <a:off x="1324708" y="2458614"/>
            <a:ext cx="10691446" cy="1077218"/>
          </a:xfrm>
          <a:prstGeom prst="rect">
            <a:avLst/>
          </a:prstGeom>
        </p:spPr>
        <p:txBody>
          <a:bodyPr wrap="square">
            <a:spAutoFit/>
          </a:bodyPr>
          <a:lstStyle/>
          <a:p>
            <a:pPr fontAlgn="base"/>
            <a:r>
              <a:rPr lang="en-US" dirty="0">
                <a:latin typeface="Bahnschrift SemiBold" pitchFamily="34" charset="0"/>
              </a:rPr>
              <a:t>Vocabulary</a:t>
            </a:r>
            <a:r>
              <a:rPr lang="en-US" b="1" dirty="0"/>
              <a:t>:</a:t>
            </a:r>
            <a:r>
              <a:rPr lang="en-US" dirty="0"/>
              <a:t> </a:t>
            </a:r>
            <a:r>
              <a:rPr lang="en-US" sz="1400" dirty="0">
                <a:latin typeface="Cambria Math" pitchFamily="18" charset="0"/>
                <a:ea typeface="Cambria Math" pitchFamily="18" charset="0"/>
              </a:rPr>
              <a:t>It is a list of all unique words from the entire dataset. Each word in the vocabulary corresponds to a feature in the </a:t>
            </a:r>
            <a:r>
              <a:rPr lang="en-US" sz="1400" dirty="0" smtClean="0">
                <a:latin typeface="Cambria Math" pitchFamily="18" charset="0"/>
                <a:ea typeface="Cambria Math" pitchFamily="18" charset="0"/>
              </a:rPr>
              <a:t>model</a:t>
            </a:r>
          </a:p>
          <a:p>
            <a:pPr fontAlgn="base"/>
            <a:endParaRPr lang="en-US" sz="1400" dirty="0">
              <a:latin typeface="Cambria Math" pitchFamily="18" charset="0"/>
              <a:ea typeface="Cambria Math" pitchFamily="18" charset="0"/>
            </a:endParaRPr>
          </a:p>
          <a:p>
            <a:pPr fontAlgn="base"/>
            <a:r>
              <a:rPr lang="en-US" dirty="0">
                <a:latin typeface="Bahnschrift SemiBold" pitchFamily="34" charset="0"/>
              </a:rPr>
              <a:t>Document Representation</a:t>
            </a:r>
            <a:r>
              <a:rPr lang="en-US" b="1" dirty="0"/>
              <a:t>:</a:t>
            </a:r>
            <a:r>
              <a:rPr lang="en-US" dirty="0"/>
              <a:t> </a:t>
            </a:r>
            <a:r>
              <a:rPr lang="en-US" sz="1400" dirty="0">
                <a:latin typeface="Cambria Math" pitchFamily="18" charset="0"/>
                <a:ea typeface="Cambria Math" pitchFamily="18" charset="0"/>
              </a:rPr>
              <a:t>Each document is represented as a vector where each element shows the frequency of the words from the vocabulary in that document. The frequency of each word is used as a feature for the model.</a:t>
            </a:r>
          </a:p>
        </p:txBody>
      </p:sp>
      <p:grpSp>
        <p:nvGrpSpPr>
          <p:cNvPr id="11" name="Group 10"/>
          <p:cNvGrpSpPr/>
          <p:nvPr/>
        </p:nvGrpSpPr>
        <p:grpSpPr>
          <a:xfrm>
            <a:off x="1242646" y="1837565"/>
            <a:ext cx="5078243" cy="369332"/>
            <a:chOff x="1463234" y="1837565"/>
            <a:chExt cx="5078243" cy="369332"/>
          </a:xfrm>
        </p:grpSpPr>
        <p:sp>
          <p:nvSpPr>
            <p:cNvPr id="3" name="Rectangle 2"/>
            <p:cNvSpPr/>
            <p:nvPr/>
          </p:nvSpPr>
          <p:spPr>
            <a:xfrm>
              <a:off x="1463234" y="1837565"/>
              <a:ext cx="2714205" cy="369332"/>
            </a:xfrm>
            <a:prstGeom prst="rect">
              <a:avLst/>
            </a:prstGeom>
          </p:spPr>
          <p:txBody>
            <a:bodyPr wrap="none">
              <a:spAutoFit/>
            </a:bodyPr>
            <a:lstStyle/>
            <a:p>
              <a:pPr fontAlgn="base"/>
              <a:r>
                <a:rPr lang="en-IN" dirty="0">
                  <a:latin typeface="Bahnschrift SemiBold" pitchFamily="34" charset="0"/>
                </a:rPr>
                <a:t>Key Components of BoW</a:t>
              </a:r>
            </a:p>
          </p:txBody>
        </p:sp>
        <p:cxnSp>
          <p:nvCxnSpPr>
            <p:cNvPr id="10" name="Straight Connector 9"/>
            <p:cNvCxnSpPr/>
            <p:nvPr/>
          </p:nvCxnSpPr>
          <p:spPr>
            <a:xfrm>
              <a:off x="1463234" y="2206897"/>
              <a:ext cx="507824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32379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623846"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349123" y="-1"/>
            <a:ext cx="495868"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402700" y="90661"/>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31" name="Group 30"/>
          <p:cNvGrpSpPr/>
          <p:nvPr/>
        </p:nvGrpSpPr>
        <p:grpSpPr>
          <a:xfrm>
            <a:off x="1277814" y="276263"/>
            <a:ext cx="1201615" cy="276999"/>
            <a:chOff x="1277814" y="276263"/>
            <a:chExt cx="1201615" cy="276999"/>
          </a:xfrm>
        </p:grpSpPr>
        <p:sp>
          <p:nvSpPr>
            <p:cNvPr id="9" name="TextBox 8"/>
            <p:cNvSpPr txBox="1"/>
            <p:nvPr/>
          </p:nvSpPr>
          <p:spPr>
            <a:xfrm>
              <a:off x="1362162" y="276263"/>
              <a:ext cx="759714" cy="276999"/>
            </a:xfrm>
            <a:prstGeom prst="rect">
              <a:avLst/>
            </a:prstGeom>
            <a:solidFill>
              <a:schemeClr val="accent1"/>
            </a:solidFill>
            <a:ln>
              <a:solidFill>
                <a:schemeClr val="bg1"/>
              </a:solidFill>
            </a:ln>
          </p:spPr>
          <p:txBody>
            <a:bodyPr wrap="square" rtlCol="0">
              <a:spAutoFit/>
            </a:bodyPr>
            <a:lstStyle/>
            <a:p>
              <a:r>
                <a:rPr lang="en-US" sz="1200" dirty="0" smtClean="0">
                  <a:solidFill>
                    <a:schemeClr val="bg1"/>
                  </a:solidFill>
                  <a:latin typeface="Bahnschrift Light" pitchFamily="34" charset="0"/>
                  <a:ea typeface="Arial Unicode MS" pitchFamily="34" charset="-128"/>
                  <a:cs typeface="Arial Unicode MS" pitchFamily="34" charset="-128"/>
                </a:rPr>
                <a:t>TF-IDF</a:t>
              </a:r>
              <a:endParaRPr lang="en-IN" sz="1200" dirty="0">
                <a:solidFill>
                  <a:schemeClr val="bg1"/>
                </a:solidFill>
                <a:latin typeface="Bahnschrift Light" pitchFamily="34" charset="0"/>
                <a:ea typeface="Arial Unicode MS" pitchFamily="34" charset="-128"/>
                <a:cs typeface="Arial Unicode MS" pitchFamily="34" charset="-128"/>
              </a:endParaRPr>
            </a:p>
          </p:txBody>
        </p:sp>
        <p:cxnSp>
          <p:nvCxnSpPr>
            <p:cNvPr id="3" name="Straight Connector 2"/>
            <p:cNvCxnSpPr/>
            <p:nvPr/>
          </p:nvCxnSpPr>
          <p:spPr>
            <a:xfrm>
              <a:off x="1277814" y="553261"/>
              <a:ext cx="1201615"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a:off x="1851804" y="1087288"/>
            <a:ext cx="5969006" cy="338554"/>
          </a:xfrm>
          <a:prstGeom prst="rect">
            <a:avLst/>
          </a:prstGeom>
        </p:spPr>
        <p:txBody>
          <a:bodyPr wrap="none">
            <a:spAutoFit/>
          </a:bodyPr>
          <a:lstStyle/>
          <a:p>
            <a:r>
              <a:rPr lang="en-US" sz="1600" dirty="0"/>
              <a:t>evaluate how important a word.</a:t>
            </a:r>
            <a:r>
              <a:rPr lang="en-IN" sz="1600" dirty="0"/>
              <a:t> TF-IDF combines two components:</a:t>
            </a:r>
            <a:endParaRPr lang="en-IN" sz="1600" dirty="0">
              <a:latin typeface="Arial Unicode MS" pitchFamily="34" charset="-128"/>
              <a:ea typeface="Arial Unicode MS" pitchFamily="34" charset="-128"/>
              <a:cs typeface="Arial Unicode MS" pitchFamily="34" charset="-128"/>
            </a:endParaRPr>
          </a:p>
        </p:txBody>
      </p:sp>
      <p:sp>
        <p:nvSpPr>
          <p:cNvPr id="24" name="Rectangle 23"/>
          <p:cNvSpPr/>
          <p:nvPr/>
        </p:nvSpPr>
        <p:spPr>
          <a:xfrm>
            <a:off x="1277814" y="1680500"/>
            <a:ext cx="10785232" cy="769441"/>
          </a:xfrm>
          <a:prstGeom prst="rect">
            <a:avLst/>
          </a:prstGeom>
        </p:spPr>
        <p:txBody>
          <a:bodyPr wrap="square">
            <a:spAutoFit/>
          </a:bodyPr>
          <a:lstStyle/>
          <a:p>
            <a:r>
              <a:rPr lang="en-US" sz="1600" dirty="0">
                <a:latin typeface="Bahnschrift SemiBold" pitchFamily="34" charset="0"/>
              </a:rPr>
              <a:t>Term Frequency (TF):</a:t>
            </a:r>
            <a:r>
              <a:rPr lang="en-US" sz="1600" dirty="0"/>
              <a:t> </a:t>
            </a:r>
            <a:endParaRPr lang="en-US" sz="1600" dirty="0" smtClean="0"/>
          </a:p>
          <a:p>
            <a:r>
              <a:rPr lang="en-US" sz="1400" dirty="0"/>
              <a:t>TF measures </a:t>
            </a:r>
            <a:r>
              <a:rPr lang="en-US" sz="1400" dirty="0">
                <a:solidFill>
                  <a:srgbClr val="00B050"/>
                </a:solidFill>
              </a:rPr>
              <a:t>the </a:t>
            </a:r>
            <a:r>
              <a:rPr lang="en-US" sz="1400" i="1" dirty="0">
                <a:solidFill>
                  <a:srgbClr val="00B050"/>
                </a:solidFill>
              </a:rPr>
              <a:t>frequency of a </a:t>
            </a:r>
            <a:r>
              <a:rPr lang="en-US" sz="1400" i="1" dirty="0" smtClean="0">
                <a:solidFill>
                  <a:srgbClr val="00B050"/>
                </a:solidFill>
              </a:rPr>
              <a:t>term(word) </a:t>
            </a:r>
            <a:r>
              <a:rPr lang="en-US" sz="1400" i="1" dirty="0">
                <a:solidFill>
                  <a:srgbClr val="00B050"/>
                </a:solidFill>
              </a:rPr>
              <a:t>within a document</a:t>
            </a:r>
            <a:r>
              <a:rPr lang="en-US" sz="1400" dirty="0"/>
              <a:t>. It is calculated as the ratio of the number of times a term occurs in a document to the total number of terms in that document. The goal is to emphasize words that are frequent within a document</a:t>
            </a:r>
            <a:r>
              <a:rPr lang="en-US" sz="1400" dirty="0" smtClean="0"/>
              <a:t>.</a:t>
            </a:r>
            <a:endParaRPr lang="en-IN" sz="1400" dirty="0">
              <a:latin typeface="Arial" pitchFamily="34" charset="0"/>
              <a:cs typeface="Arial"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2871" y="2652346"/>
            <a:ext cx="5114020" cy="781050"/>
          </a:xfrm>
          <a:prstGeom prst="rect">
            <a:avLst/>
          </a:prstGeom>
          <a:noFill/>
          <a:ln w="9525">
            <a:solidFill>
              <a:schemeClr val="bg2">
                <a:lumMod val="9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24" name="Group 1023"/>
          <p:cNvGrpSpPr/>
          <p:nvPr/>
        </p:nvGrpSpPr>
        <p:grpSpPr>
          <a:xfrm>
            <a:off x="3572168" y="265592"/>
            <a:ext cx="4138857" cy="321178"/>
            <a:chOff x="3572168" y="265592"/>
            <a:chExt cx="4138857" cy="321178"/>
          </a:xfrm>
        </p:grpSpPr>
        <p:sp>
          <p:nvSpPr>
            <p:cNvPr id="12" name="TextBox 11"/>
            <p:cNvSpPr txBox="1"/>
            <p:nvPr/>
          </p:nvSpPr>
          <p:spPr>
            <a:xfrm>
              <a:off x="3572168" y="265592"/>
              <a:ext cx="1416734" cy="307777"/>
            </a:xfrm>
            <a:prstGeom prst="rect">
              <a:avLst/>
            </a:prstGeom>
            <a:noFill/>
            <a:ln>
              <a:solidFill>
                <a:schemeClr val="accent6">
                  <a:lumMod val="20000"/>
                  <a:lumOff val="80000"/>
                </a:schemeClr>
              </a:solidFill>
            </a:ln>
          </p:spPr>
          <p:txBody>
            <a:bodyPr wrap="none" rtlCol="0">
              <a:spAutoFit/>
            </a:bodyPr>
            <a:lstStyle/>
            <a:p>
              <a:r>
                <a:rPr lang="en-US" sz="1400" dirty="0" smtClean="0">
                  <a:latin typeface="Arial" pitchFamily="34" charset="0"/>
                  <a:cs typeface="Arial" pitchFamily="34" charset="0"/>
                </a:rPr>
                <a:t>Term frequency</a:t>
              </a:r>
              <a:endParaRPr lang="en-IN" sz="1400" dirty="0">
                <a:latin typeface="Arial" pitchFamily="34" charset="0"/>
                <a:cs typeface="Arial" pitchFamily="34" charset="0"/>
              </a:endParaRPr>
            </a:p>
          </p:txBody>
        </p:sp>
        <p:grpSp>
          <p:nvGrpSpPr>
            <p:cNvPr id="20" name="Group 19"/>
            <p:cNvGrpSpPr/>
            <p:nvPr/>
          </p:nvGrpSpPr>
          <p:grpSpPr>
            <a:xfrm>
              <a:off x="5179563" y="278993"/>
              <a:ext cx="2531462" cy="307777"/>
              <a:chOff x="3079996" y="143396"/>
              <a:chExt cx="2531462" cy="307777"/>
            </a:xfrm>
          </p:grpSpPr>
          <p:sp>
            <p:nvSpPr>
              <p:cNvPr id="14" name="TextBox 13"/>
              <p:cNvSpPr txBox="1"/>
              <p:nvPr/>
            </p:nvSpPr>
            <p:spPr>
              <a:xfrm>
                <a:off x="3079996" y="143396"/>
                <a:ext cx="2531462" cy="307777"/>
              </a:xfrm>
              <a:prstGeom prst="rect">
                <a:avLst/>
              </a:prstGeom>
              <a:noFill/>
              <a:ln>
                <a:solidFill>
                  <a:schemeClr val="accent2">
                    <a:lumMod val="20000"/>
                    <a:lumOff val="80000"/>
                  </a:schemeClr>
                </a:solidFill>
              </a:ln>
            </p:spPr>
            <p:txBody>
              <a:bodyPr wrap="none" rtlCol="0">
                <a:spAutoFit/>
              </a:bodyPr>
              <a:lstStyle/>
              <a:p>
                <a:r>
                  <a:rPr lang="en-US" sz="1400" dirty="0" smtClean="0">
                    <a:latin typeface="Arial" pitchFamily="34" charset="0"/>
                    <a:cs typeface="Arial" pitchFamily="34" charset="0"/>
                  </a:rPr>
                  <a:t>Inverse Document Frequency</a:t>
                </a:r>
                <a:endParaRPr lang="en-IN" sz="1400" dirty="0">
                  <a:latin typeface="Arial" pitchFamily="34" charset="0"/>
                  <a:cs typeface="Arial" pitchFamily="34" charset="0"/>
                </a:endParaRPr>
              </a:p>
            </p:txBody>
          </p:sp>
          <p:cxnSp>
            <p:nvCxnSpPr>
              <p:cNvPr id="18" name="Straight Connector 17"/>
              <p:cNvCxnSpPr/>
              <p:nvPr/>
            </p:nvCxnSpPr>
            <p:spPr>
              <a:xfrm>
                <a:off x="3079996" y="143396"/>
                <a:ext cx="0" cy="307777"/>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29" name="Straight Connector 28"/>
            <p:cNvCxnSpPr/>
            <p:nvPr/>
          </p:nvCxnSpPr>
          <p:spPr>
            <a:xfrm>
              <a:off x="4988901" y="444604"/>
              <a:ext cx="190661"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025" name="Rectangle 1024"/>
          <p:cNvSpPr/>
          <p:nvPr/>
        </p:nvSpPr>
        <p:spPr>
          <a:xfrm>
            <a:off x="1362162" y="4029165"/>
            <a:ext cx="10571930" cy="769441"/>
          </a:xfrm>
          <a:prstGeom prst="rect">
            <a:avLst/>
          </a:prstGeom>
        </p:spPr>
        <p:txBody>
          <a:bodyPr wrap="square">
            <a:spAutoFit/>
          </a:bodyPr>
          <a:lstStyle/>
          <a:p>
            <a:r>
              <a:rPr lang="en-US" sz="1600" dirty="0">
                <a:latin typeface="Bahnschrift SemiBold" pitchFamily="34" charset="0"/>
              </a:rPr>
              <a:t>Inverse Document Frequency (IDF</a:t>
            </a:r>
            <a:r>
              <a:rPr lang="en-US" sz="1600" dirty="0" smtClean="0">
                <a:latin typeface="Bahnschrift SemiBold" pitchFamily="34" charset="0"/>
              </a:rPr>
              <a:t>):</a:t>
            </a:r>
            <a:endParaRPr lang="en-US" dirty="0" smtClean="0"/>
          </a:p>
          <a:p>
            <a:r>
              <a:rPr lang="en-US" sz="1400" dirty="0" smtClean="0"/>
              <a:t>Reduces </a:t>
            </a:r>
            <a:r>
              <a:rPr lang="en-US" sz="1400" dirty="0"/>
              <a:t>the weight of common words across multiple documents while increasing the weight of rare words. If a term appears in fewer documents, it is more likely to be meaningful and specific.</a:t>
            </a:r>
            <a:endParaRPr lang="en-IN" sz="1400"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2871" y="5069501"/>
            <a:ext cx="5114020" cy="890644"/>
          </a:xfrm>
          <a:prstGeom prst="rect">
            <a:avLst/>
          </a:prstGeom>
          <a:noFill/>
          <a:ln w="9525">
            <a:solidFill>
              <a:schemeClr val="bg2">
                <a:lumMod val="9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91892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7246" y="186308"/>
            <a:ext cx="2749062" cy="1292714"/>
          </a:xfrm>
          <a:prstGeom prst="rect">
            <a:avLst/>
          </a:prstGeom>
          <a:noFill/>
          <a:ln w="9525">
            <a:solidFill>
              <a:schemeClr val="bg1">
                <a:lumMod val="9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0605" y="1678966"/>
            <a:ext cx="5210175" cy="1647825"/>
          </a:xfrm>
          <a:prstGeom prst="rect">
            <a:avLst/>
          </a:prstGeom>
          <a:noFill/>
          <a:ln w="9525">
            <a:solidFill>
              <a:schemeClr val="bg1">
                <a:lumMod val="9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0605" y="3751385"/>
            <a:ext cx="5619750" cy="1676400"/>
          </a:xfrm>
          <a:prstGeom prst="rect">
            <a:avLst/>
          </a:prstGeom>
          <a:noFill/>
          <a:ln w="9525">
            <a:solidFill>
              <a:schemeClr val="bg1">
                <a:lumMod val="9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58592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9" name="TextBox 8"/>
          <p:cNvSpPr txBox="1"/>
          <p:nvPr/>
        </p:nvSpPr>
        <p:spPr>
          <a:xfrm>
            <a:off x="1362163" y="258160"/>
            <a:ext cx="1017622" cy="276999"/>
          </a:xfrm>
          <a:prstGeom prst="rect">
            <a:avLst/>
          </a:prstGeom>
          <a:solidFill>
            <a:schemeClr val="accent1"/>
          </a:solidFill>
          <a:ln>
            <a:solidFill>
              <a:schemeClr val="bg1"/>
            </a:solidFill>
          </a:ln>
        </p:spPr>
        <p:txBody>
          <a:bodyPr wrap="square" rtlCol="0">
            <a:spAutoFit/>
          </a:bodyPr>
          <a:lstStyle/>
          <a:p>
            <a:r>
              <a:rPr lang="en-IN" sz="1200" dirty="0">
                <a:solidFill>
                  <a:schemeClr val="bg1"/>
                </a:solidFill>
                <a:latin typeface="Lucida Sans" pitchFamily="34" charset="0"/>
                <a:ea typeface="Arial Unicode MS" pitchFamily="34" charset="-128"/>
                <a:cs typeface="Arial Unicode MS" pitchFamily="34" charset="-128"/>
              </a:rPr>
              <a:t>Word2Vec</a:t>
            </a:r>
            <a:r>
              <a:rPr lang="en-IN" sz="1200" b="1" dirty="0">
                <a:latin typeface="Lucida Sans" pitchFamily="34" charset="0"/>
                <a:ea typeface="Arial Unicode MS" pitchFamily="34" charset="-128"/>
                <a:cs typeface="Arial Unicode MS" pitchFamily="34" charset="-128"/>
              </a:rPr>
              <a:t> </a:t>
            </a:r>
          </a:p>
        </p:txBody>
      </p:sp>
      <p:cxnSp>
        <p:nvCxnSpPr>
          <p:cNvPr id="3" name="Straight Connector 2"/>
          <p:cNvCxnSpPr/>
          <p:nvPr/>
        </p:nvCxnSpPr>
        <p:spPr>
          <a:xfrm>
            <a:off x="1277815" y="535159"/>
            <a:ext cx="1441938"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C:\Users\User\Desktop\Capture-removebg-previe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092" y="1321777"/>
            <a:ext cx="5648363" cy="21042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570892" y="645095"/>
            <a:ext cx="10515599" cy="523220"/>
          </a:xfrm>
          <a:prstGeom prst="rect">
            <a:avLst/>
          </a:prstGeom>
        </p:spPr>
        <p:txBody>
          <a:bodyPr wrap="square">
            <a:spAutoFit/>
          </a:bodyPr>
          <a:lstStyle/>
          <a:p>
            <a:r>
              <a:rPr lang="en-US" sz="1400" dirty="0">
                <a:latin typeface="Cambria Math" pitchFamily="18" charset="0"/>
                <a:ea typeface="Cambria Math" pitchFamily="18" charset="0"/>
              </a:rPr>
              <a:t>The purpose of Word2Vec is to change words from text format into numerical vector format so that computers can understand and work with language data meaningfully.</a:t>
            </a:r>
            <a:endParaRPr lang="en-IN" sz="1400" dirty="0">
              <a:latin typeface="Cambria Math" pitchFamily="18" charset="0"/>
              <a:ea typeface="Cambria Math" pitchFamily="18" charset="0"/>
            </a:endParaRPr>
          </a:p>
        </p:txBody>
      </p:sp>
      <p:grpSp>
        <p:nvGrpSpPr>
          <p:cNvPr id="19" name="Group 18"/>
          <p:cNvGrpSpPr/>
          <p:nvPr/>
        </p:nvGrpSpPr>
        <p:grpSpPr>
          <a:xfrm>
            <a:off x="2328340" y="3484606"/>
            <a:ext cx="4671882" cy="1260988"/>
            <a:chOff x="1746739" y="3335182"/>
            <a:chExt cx="4671882" cy="1260988"/>
          </a:xfrm>
        </p:grpSpPr>
        <p:cxnSp>
          <p:nvCxnSpPr>
            <p:cNvPr id="12" name="Straight Arrow Connector 11"/>
            <p:cNvCxnSpPr/>
            <p:nvPr/>
          </p:nvCxnSpPr>
          <p:spPr>
            <a:xfrm flipV="1">
              <a:off x="2786051" y="3631159"/>
              <a:ext cx="247779" cy="1"/>
            </a:xfrm>
            <a:prstGeom prst="straightConnector1">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1746739" y="3335182"/>
              <a:ext cx="4671882" cy="914400"/>
              <a:chOff x="2193807" y="3305898"/>
              <a:chExt cx="4224813" cy="914400"/>
            </a:xfrm>
          </p:grpSpPr>
          <p:sp>
            <p:nvSpPr>
              <p:cNvPr id="5" name="TextBox 4"/>
              <p:cNvSpPr txBox="1"/>
              <p:nvPr/>
            </p:nvSpPr>
            <p:spPr>
              <a:xfrm>
                <a:off x="2193807" y="3455321"/>
                <a:ext cx="1051891" cy="307777"/>
              </a:xfrm>
              <a:prstGeom prst="rect">
                <a:avLst/>
              </a:prstGeom>
              <a:noFill/>
            </p:spPr>
            <p:txBody>
              <a:bodyPr wrap="none" rtlCol="0">
                <a:spAutoFit/>
              </a:bodyPr>
              <a:lstStyle/>
              <a:p>
                <a:r>
                  <a:rPr lang="en-US" sz="1400" dirty="0" smtClean="0">
                    <a:latin typeface="Lucida Sans" pitchFamily="34" charset="0"/>
                  </a:rPr>
                  <a:t>* Struggle</a:t>
                </a:r>
                <a:endParaRPr lang="en-IN" sz="1400" dirty="0">
                  <a:latin typeface="Lucida Sans" pitchFamily="34" charset="0"/>
                </a:endParaRPr>
              </a:p>
            </p:txBody>
          </p:sp>
          <p:sp>
            <p:nvSpPr>
              <p:cNvPr id="10" name="Left Brace 9"/>
              <p:cNvSpPr/>
              <p:nvPr/>
            </p:nvSpPr>
            <p:spPr>
              <a:xfrm>
                <a:off x="3493477" y="3335182"/>
                <a:ext cx="304800" cy="548054"/>
              </a:xfrm>
              <a:prstGeom prst="lef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p:cNvSpPr txBox="1"/>
              <p:nvPr/>
            </p:nvSpPr>
            <p:spPr>
              <a:xfrm>
                <a:off x="3710350" y="3455322"/>
                <a:ext cx="2447051" cy="307777"/>
              </a:xfrm>
              <a:prstGeom prst="rect">
                <a:avLst/>
              </a:prstGeom>
              <a:noFill/>
            </p:spPr>
            <p:txBody>
              <a:bodyPr wrap="none" rtlCol="0">
                <a:spAutoFit/>
              </a:bodyPr>
              <a:lstStyle/>
              <a:p>
                <a:r>
                  <a:rPr lang="en-US" sz="1400" dirty="0" smtClean="0"/>
                  <a:t>One Hot </a:t>
                </a:r>
                <a:r>
                  <a:rPr lang="en-US" sz="1400" dirty="0"/>
                  <a:t>Encoding </a:t>
                </a:r>
                <a:r>
                  <a:rPr lang="en-US" sz="1400" dirty="0" smtClean="0"/>
                  <a:t>| BOW </a:t>
                </a:r>
                <a:r>
                  <a:rPr lang="en-US" sz="1400" dirty="0"/>
                  <a:t>| </a:t>
                </a:r>
                <a:r>
                  <a:rPr lang="en-US" sz="1400" dirty="0" smtClean="0"/>
                  <a:t>TF-IDF </a:t>
                </a:r>
                <a:endParaRPr lang="en-IN" sz="1400" dirty="0"/>
              </a:p>
            </p:txBody>
          </p:sp>
          <p:sp>
            <p:nvSpPr>
              <p:cNvPr id="14" name="Right Brace 13"/>
              <p:cNvSpPr/>
              <p:nvPr/>
            </p:nvSpPr>
            <p:spPr>
              <a:xfrm>
                <a:off x="6263172" y="3305898"/>
                <a:ext cx="155448" cy="914400"/>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6" name="TextBox 15"/>
            <p:cNvSpPr txBox="1"/>
            <p:nvPr/>
          </p:nvSpPr>
          <p:spPr>
            <a:xfrm>
              <a:off x="3798277" y="4072950"/>
              <a:ext cx="2095830" cy="523220"/>
            </a:xfrm>
            <a:prstGeom prst="rect">
              <a:avLst/>
            </a:prstGeom>
            <a:noFill/>
          </p:spPr>
          <p:txBody>
            <a:bodyPr wrap="none" rtlCol="0">
              <a:spAutoFit/>
            </a:bodyPr>
            <a:lstStyle/>
            <a:p>
              <a:pPr marL="342900" indent="-342900">
                <a:buFont typeface="+mj-lt"/>
                <a:buAutoNum type="arabicParenR"/>
              </a:pPr>
              <a:r>
                <a:rPr lang="en-US" sz="1400" dirty="0" smtClean="0">
                  <a:latin typeface="Cambria Math" pitchFamily="18" charset="0"/>
                  <a:ea typeface="Cambria Math" pitchFamily="18" charset="0"/>
                  <a:cs typeface="Arial" pitchFamily="34" charset="0"/>
                </a:rPr>
                <a:t>Semantic Meaning</a:t>
              </a:r>
            </a:p>
            <a:p>
              <a:pPr marL="342900" indent="-342900">
                <a:buFont typeface="+mj-lt"/>
                <a:buAutoNum type="arabicParenR"/>
              </a:pPr>
              <a:r>
                <a:rPr lang="en-US" sz="1400" dirty="0" smtClean="0">
                  <a:latin typeface="Cambria Math" pitchFamily="18" charset="0"/>
                  <a:ea typeface="Cambria Math" pitchFamily="18" charset="0"/>
                  <a:cs typeface="Arial" pitchFamily="34" charset="0"/>
                </a:rPr>
                <a:t>High Dimensionality</a:t>
              </a:r>
              <a:endParaRPr lang="en-IN" sz="1400" dirty="0">
                <a:latin typeface="Cambria Math" pitchFamily="18" charset="0"/>
                <a:ea typeface="Cambria Math" pitchFamily="18" charset="0"/>
                <a:cs typeface="Arial" pitchFamily="34" charset="0"/>
              </a:endParaRPr>
            </a:p>
          </p:txBody>
        </p:sp>
      </p:grpSp>
    </p:spTree>
    <p:extLst>
      <p:ext uri="{BB962C8B-B14F-4D97-AF65-F5344CB8AC3E}">
        <p14:creationId xmlns:p14="http://schemas.microsoft.com/office/powerpoint/2010/main" val="23324064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445" y="199618"/>
            <a:ext cx="7259512" cy="41496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6338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8966" y="197609"/>
            <a:ext cx="5436942" cy="1824677"/>
          </a:xfrm>
          <a:prstGeom prst="rect">
            <a:avLst/>
          </a:prstGeom>
          <a:noFill/>
          <a:ln>
            <a:noFill/>
          </a:ln>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587718" y="1683732"/>
            <a:ext cx="2654894" cy="338554"/>
          </a:xfrm>
          <a:prstGeom prst="rect">
            <a:avLst/>
          </a:prstGeom>
          <a:solidFill>
            <a:schemeClr val="accent2">
              <a:lumMod val="60000"/>
              <a:lumOff val="40000"/>
            </a:schemeClr>
          </a:solidFill>
          <a:ln>
            <a:solidFill>
              <a:schemeClr val="accent2">
                <a:lumMod val="75000"/>
              </a:schemeClr>
            </a:solidFill>
          </a:ln>
          <a:effectLst>
            <a:outerShdw blurRad="50800" dist="38100" dir="2700000" algn="tl" rotWithShape="0">
              <a:prstClr val="black">
                <a:alpha val="40000"/>
              </a:prstClr>
            </a:outerShdw>
          </a:effectLst>
        </p:spPr>
        <p:txBody>
          <a:bodyPr wrap="none" rtlCol="0">
            <a:spAutoFit/>
          </a:bodyPr>
          <a:lstStyle/>
          <a:p>
            <a:r>
              <a:rPr lang="en-US" sz="1600" dirty="0" smtClean="0">
                <a:latin typeface="Bahnschrift Light" pitchFamily="34" charset="0"/>
              </a:rPr>
              <a:t>Surrounding word=Context</a:t>
            </a:r>
            <a:endParaRPr lang="en-IN" sz="1600" dirty="0">
              <a:latin typeface="Bahnschrift Light" pitchFamily="34" charset="0"/>
            </a:endParaRPr>
          </a:p>
        </p:txBody>
      </p:sp>
    </p:spTree>
    <p:extLst>
      <p:ext uri="{BB962C8B-B14F-4D97-AF65-F5344CB8AC3E}">
        <p14:creationId xmlns:p14="http://schemas.microsoft.com/office/powerpoint/2010/main" val="34741722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33382287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2" name="Group 1"/>
          <p:cNvGrpSpPr/>
          <p:nvPr/>
        </p:nvGrpSpPr>
        <p:grpSpPr>
          <a:xfrm>
            <a:off x="1277815" y="258160"/>
            <a:ext cx="2883877" cy="276999"/>
            <a:chOff x="1277815" y="258160"/>
            <a:chExt cx="2883877" cy="276999"/>
          </a:xfrm>
        </p:grpSpPr>
        <p:sp>
          <p:nvSpPr>
            <p:cNvPr id="9" name="TextBox 8"/>
            <p:cNvSpPr txBox="1"/>
            <p:nvPr/>
          </p:nvSpPr>
          <p:spPr>
            <a:xfrm>
              <a:off x="1362163" y="258160"/>
              <a:ext cx="2600238" cy="276999"/>
            </a:xfrm>
            <a:prstGeom prst="rect">
              <a:avLst/>
            </a:prstGeom>
            <a:solidFill>
              <a:schemeClr val="accent1"/>
            </a:solidFill>
            <a:ln>
              <a:solidFill>
                <a:schemeClr val="bg1"/>
              </a:solidFill>
            </a:ln>
          </p:spPr>
          <p:txBody>
            <a:bodyPr wrap="square" rtlCol="0">
              <a:spAutoFit/>
            </a:bodyPr>
            <a:lstStyle/>
            <a:p>
              <a:r>
                <a:rPr lang="en-US" sz="1200" dirty="0" smtClean="0">
                  <a:solidFill>
                    <a:schemeClr val="bg1"/>
                  </a:solidFill>
                  <a:latin typeface="Bahnschrift Light" pitchFamily="34" charset="0"/>
                  <a:ea typeface="Arial Unicode MS" pitchFamily="34" charset="-128"/>
                  <a:cs typeface="Arial Unicode MS" pitchFamily="34" charset="-128"/>
                </a:rPr>
                <a:t>Clone….</a:t>
              </a:r>
              <a:endParaRPr lang="en-IN" sz="1200" dirty="0">
                <a:solidFill>
                  <a:schemeClr val="bg1"/>
                </a:solidFill>
                <a:latin typeface="Bahnschrift Light" pitchFamily="34" charset="0"/>
                <a:ea typeface="Arial Unicode MS" pitchFamily="34" charset="-128"/>
                <a:cs typeface="Arial Unicode MS" pitchFamily="34" charset="-128"/>
              </a:endParaRPr>
            </a:p>
          </p:txBody>
        </p:sp>
        <p:cxnSp>
          <p:nvCxnSpPr>
            <p:cNvPr id="3" name="Straight Connector 2"/>
            <p:cNvCxnSpPr/>
            <p:nvPr/>
          </p:nvCxnSpPr>
          <p:spPr>
            <a:xfrm>
              <a:off x="1277815" y="535159"/>
              <a:ext cx="2883877"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51961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37232486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1277815" y="258160"/>
            <a:ext cx="2883877" cy="276999"/>
            <a:chOff x="1277815" y="258160"/>
            <a:chExt cx="2883877" cy="276999"/>
          </a:xfrm>
        </p:grpSpPr>
        <p:sp>
          <p:nvSpPr>
            <p:cNvPr id="10" name="TextBox 9"/>
            <p:cNvSpPr txBox="1"/>
            <p:nvPr/>
          </p:nvSpPr>
          <p:spPr>
            <a:xfrm>
              <a:off x="1362163" y="258160"/>
              <a:ext cx="2600238" cy="276999"/>
            </a:xfrm>
            <a:prstGeom prst="rect">
              <a:avLst/>
            </a:prstGeom>
            <a:solidFill>
              <a:schemeClr val="accent1"/>
            </a:solidFill>
            <a:ln>
              <a:solidFill>
                <a:schemeClr val="bg1"/>
              </a:solidFill>
            </a:ln>
          </p:spPr>
          <p:txBody>
            <a:bodyPr wrap="square" rtlCol="0">
              <a:spAutoFit/>
            </a:bodyPr>
            <a:lstStyle/>
            <a:p>
              <a:r>
                <a:rPr lang="en-US" sz="1200" dirty="0" smtClean="0">
                  <a:solidFill>
                    <a:schemeClr val="bg1"/>
                  </a:solidFill>
                  <a:latin typeface="Bahnschrift Light" pitchFamily="34" charset="0"/>
                  <a:ea typeface="Arial Unicode MS" pitchFamily="34" charset="-128"/>
                  <a:cs typeface="Arial Unicode MS" pitchFamily="34" charset="-128"/>
                </a:rPr>
                <a:t>Clone…………</a:t>
              </a:r>
              <a:endParaRPr lang="en-IN" sz="1200" dirty="0">
                <a:solidFill>
                  <a:schemeClr val="bg1"/>
                </a:solidFill>
                <a:latin typeface="Bahnschrift Light" pitchFamily="34" charset="0"/>
                <a:ea typeface="Arial Unicode MS" pitchFamily="34" charset="-128"/>
                <a:cs typeface="Arial Unicode MS" pitchFamily="34" charset="-128"/>
              </a:endParaRPr>
            </a:p>
          </p:txBody>
        </p:sp>
        <p:cxnSp>
          <p:nvCxnSpPr>
            <p:cNvPr id="11" name="Straight Connector 10"/>
            <p:cNvCxnSpPr/>
            <p:nvPr/>
          </p:nvCxnSpPr>
          <p:spPr>
            <a:xfrm>
              <a:off x="1277815" y="535159"/>
              <a:ext cx="2883877"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1018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a16="http://schemas.microsoft.com/office/drawing/2014/main" xmlns=""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21427222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29627</TotalTime>
  <Words>2262</Words>
  <Application>Microsoft Office PowerPoint</Application>
  <PresentationFormat>Custom</PresentationFormat>
  <Paragraphs>394</Paragraphs>
  <Slides>38</Slides>
  <Notes>37</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1282</cp:revision>
  <dcterms:created xsi:type="dcterms:W3CDTF">2024-01-26T15:11:46Z</dcterms:created>
  <dcterms:modified xsi:type="dcterms:W3CDTF">2025-11-17T18:17:13Z</dcterms:modified>
</cp:coreProperties>
</file>