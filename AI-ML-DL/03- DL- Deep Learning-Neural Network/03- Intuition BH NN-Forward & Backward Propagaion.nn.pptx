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85" r:id="rId2"/>
    <p:sldId id="388" r:id="rId3"/>
    <p:sldId id="391" r:id="rId4"/>
    <p:sldId id="392" r:id="rId5"/>
    <p:sldId id="393" r:id="rId6"/>
    <p:sldId id="39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endix" id="{53F305DE-E919-46C9-8C7C-4B59AF1E2526}">
          <p14:sldIdLst>
            <p14:sldId id="285"/>
            <p14:sldId id="388"/>
          </p14:sldIdLst>
        </p14:section>
        <p14:section name="Intuition B/H NN-FP,BP" id="{1D690C0E-FEF8-4726-8DC7-7F4745B998B1}">
          <p14:sldIdLst>
            <p14:sldId id="391"/>
            <p14:sldId id="392"/>
            <p14:sldId id="393"/>
            <p14:sldId id="394"/>
          </p14:sldIdLst>
        </p14:section>
      </p14:sectionLst>
    </p:ex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743"/>
    <a:srgbClr val="00D05E"/>
    <a:srgbClr val="FF0066"/>
    <a:srgbClr val="FF4B21"/>
    <a:srgbClr val="CC3300"/>
    <a:srgbClr val="00CC99"/>
    <a:srgbClr val="15C2FF"/>
    <a:srgbClr val="FFCC29"/>
    <a:srgbClr val="F5E47F"/>
    <a:srgbClr val="F2DB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9639D9-3454-46DB-98F0-5734C90B24A8}" v="162" dt="2024-02-29T03:48:59.932"/>
    <p1510:client id="{51280DD5-E729-4BD7-8A9F-98443B307215}" v="2" dt="2024-02-29T02:44:09.918"/>
    <p1510:client id="{F06999DA-40BE-4997-8D18-97380D22DED5}" v="101" dt="2024-02-29T15:35:34.9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89" autoAdjust="0"/>
    <p:restoredTop sz="98577" autoAdjust="0"/>
  </p:normalViewPr>
  <p:slideViewPr>
    <p:cSldViewPr snapToGrid="0">
      <p:cViewPr>
        <p:scale>
          <a:sx n="80" d="100"/>
          <a:sy n="80" d="100"/>
        </p:scale>
        <p:origin x="-120" y="-3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microsoft.com/office/2015/10/relationships/revisionInfo" Target="revisionInfo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8C147-18C2-4D33-BF56-E30CA9229223}" type="datetimeFigureOut">
              <a:rPr lang="en-IN" smtClean="0"/>
              <a:t>01-01-2026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A3E4B8-F9DF-4F9A-BB59-93920507C31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7987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AFE4333-EDCB-768D-D694-4FA374C88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6FB8F6BA-A771-5199-B454-4137B42B82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B8C62A8-5E14-FA7C-D2D9-A91C5617A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C7221-54BD-4A63-8AE7-749436A8A0E0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A5CADB1-111D-22D3-EDB1-E043DC323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733105E-4498-96A3-0C5F-A5E579283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095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EAE6418-E00D-D82B-5A6A-A2532DB41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63E6B97-B778-7455-F70C-FD8D34E3F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4537FB2-C318-A7C1-BABA-0AC6FA5B3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6570-B1EA-4487-BE32-F708B8E167B2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14FC2A1-527D-0AA9-D04D-3D2766CE0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1000CB2-5293-8DFA-B3B2-A0B592B46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395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EC1FA87-C082-E0DD-3D37-67F1640E6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B5F515E-EB4A-D143-3D90-D5CB68882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8B15D29-75FB-CFE9-A973-A208274B9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442CB-DE38-41A3-9AEC-FC7F477AE398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9168659-4604-1E12-A046-E65E9BFA0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6A55C1A-5CB6-A517-F4CC-78B642B3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473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F354BD7-8381-6AF7-2A34-97F116432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45D5CF0-745C-8F39-DDFC-095163A6D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6F0486A-0B81-6F67-77F7-3933C2505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29CEC8B-FF84-E5F1-CD4B-B7DEE25F0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9B145-4D2C-4B0D-B0F3-3793104D85F9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83D1157-B890-E7C2-8551-9CFA55DF1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6834098-4893-052D-13DF-57AA37269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845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195ED4B-5B6D-B5E5-67B7-D97BFC6B1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8083AD3-D8DD-C9C8-4A8D-6E90DEEDC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F610F8FC-1E86-8328-5873-1F1FD4540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7171E56A-9B29-8C99-0F9B-DFA73577B4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31551D20-42E2-AA82-6A29-ED75844F6F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12806B38-A61F-CFF2-455E-2A0DB1CBD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CBCE3-C8C5-4329-ADE4-5F8D67D78882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0A1ADB39-BBED-F460-3284-9B01BBA78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BAE78CB4-F5B2-2F08-FCB4-B7EFC7D9B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097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207DB33-3161-3CA7-5DA9-9AEFA7BE3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1B459199-60FE-8A27-4D17-58FA57F03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BDD6-391D-4D68-9A24-8E7CE46A4DC4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9B5772E0-839B-C3B1-7E64-0C8677352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F5A1759-598D-988C-8124-2E5044B17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273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F271F3F0-F2B3-F675-7BAB-1AD2134AC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E1E7A-3F60-43E8-97A9-E03FDFF3291A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1A44FB0A-DFB7-0737-F37C-440DCA486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E497C01-947E-5E24-DB3F-90342EF0A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625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F41832-2691-E74A-0F3A-2DE9A6E44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94BD6CD-D7DC-A4E9-FD78-EA239F4F5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54C0C722-544A-95F1-1DAD-FAD83B663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15BCDEF-8A4D-1FA5-888F-D5A3A2CE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F2EE0-C06F-41F5-AFE0-7056E3A01EDC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81C4BD8F-AAAC-F32F-ABC2-37A3D3BC6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DA79EF9-CB21-BEC5-2A25-591C945D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276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BACBD3-5050-C329-F415-371491884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C4B2BE8C-8AFF-7B97-17DD-E10D476C82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B6B1A6C9-352E-F0FC-857A-200063A76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96AEC32-A02D-AF36-A64E-290A392B4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105E1-88D0-4311-A599-0C8A6973053A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26B0ECF5-F111-F43D-1DD0-2623EE225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3ED8375-499D-DCA7-5D7B-91DD95B7F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511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AE933A4-C03D-26A7-C451-392D04E6A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C339E290-0E60-50DC-3A6D-AFC921C4E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1DDBB31-5065-A920-BCE3-A6379F318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EA562-091E-45D6-BEDF-3C68FB2023F1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650F398-CC52-3E67-DDF6-C862313CC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272AE45-AD9E-08FA-1F71-75DFC9E00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351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0AF91D67-8C5B-5055-B5D2-6BAAE7E950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04D31080-7646-1B9C-C36F-D2F6BB874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DA404C4-6EA5-D815-E9B2-7CDBB94E9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14D94-52B8-43E9-A8F3-BD9E24437DA3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7EFDD0D-44E3-A86F-6F17-A722DA9F5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3E417A5-F8F0-AA31-71DF-34D658498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7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39A89A0B-DE9F-F1C6-643E-DCA32D53C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953DDAA-3094-DBCE-F38B-123FB91FD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AF0BF9E-5E8A-1649-84DC-281A5BAAC4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BC827E-01D8-46AF-B9E0-11E08B19BA59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BDEDD1E-16D6-9C67-B90A-3F23927ED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5FC0268-EDD9-BFDA-9A07-5241871BF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367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6141493" y="1535723"/>
            <a:ext cx="13648" cy="532227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506796" y="4097983"/>
            <a:ext cx="2443370" cy="276999"/>
          </a:xfrm>
          <a:prstGeom prst="rect">
            <a:avLst/>
          </a:prstGeom>
          <a:solidFill>
            <a:srgbClr val="F5E47F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Bahnschrift Light" pitchFamily="34" charset="0"/>
                <a:ea typeface="Arial Unicode MS" pitchFamily="34" charset="-128"/>
                <a:cs typeface="Arial Unicode MS" pitchFamily="34" charset="-128"/>
              </a:rPr>
              <a:t>ANN,CNN,RNN</a:t>
            </a:r>
            <a:endParaRPr lang="en-IN" sz="1200" dirty="0">
              <a:latin typeface="Bahnschrift Light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08276" y="2590642"/>
            <a:ext cx="2564728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Bahnschrift Light" pitchFamily="34" charset="0"/>
                <a:ea typeface="Arial Unicode MS" pitchFamily="34" charset="-128"/>
                <a:cs typeface="Arial Unicode MS" pitchFamily="34" charset="-128"/>
              </a:rPr>
              <a:t>Backward error propagation</a:t>
            </a:r>
            <a:endParaRPr lang="en-IN" sz="1200" dirty="0">
              <a:latin typeface="Bahnschrift Light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23039" y="1542342"/>
            <a:ext cx="2564729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Bahnschrift Light" pitchFamily="34" charset="0"/>
                <a:ea typeface="Arial Unicode MS" pitchFamily="34" charset="-128"/>
                <a:cs typeface="Arial Unicode MS" pitchFamily="34" charset="-128"/>
              </a:rPr>
              <a:t>Neural Network –How it works</a:t>
            </a:r>
            <a:endParaRPr lang="en-IN" sz="1200" dirty="0">
              <a:latin typeface="Bahnschrift Light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1126638" y="1038851"/>
            <a:ext cx="10936408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506796" y="4466783"/>
            <a:ext cx="2421558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Bahnschrift Light" pitchFamily="34" charset="0"/>
                <a:ea typeface="Arial Unicode MS" pitchFamily="34" charset="-128"/>
                <a:cs typeface="Arial Unicode MS" pitchFamily="34" charset="-128"/>
              </a:rPr>
              <a:t>ANN</a:t>
            </a:r>
            <a:endParaRPr lang="en-IN" sz="1200" dirty="0">
              <a:latin typeface="Bahnschrift Light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3" name="TextBox 12">
            <a:hlinkClick r:id="" action="ppaction://noaction"/>
          </p:cNvPr>
          <p:cNvSpPr txBox="1"/>
          <p:nvPr/>
        </p:nvSpPr>
        <p:spPr>
          <a:xfrm>
            <a:off x="1506796" y="4788897"/>
            <a:ext cx="2421558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Bahnschrift Light" pitchFamily="34" charset="0"/>
                <a:ea typeface="Arial Unicode MS" pitchFamily="34" charset="-128"/>
                <a:cs typeface="Arial Unicode MS" pitchFamily="34" charset="-128"/>
                <a:hlinkClick r:id="" action="ppaction://noaction"/>
              </a:rPr>
              <a:t>RNN</a:t>
            </a:r>
            <a:endParaRPr lang="en-IN" sz="1200" dirty="0">
              <a:latin typeface="Bahnschrift Light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2467226" y="5161273"/>
            <a:ext cx="2443370" cy="837354"/>
            <a:chOff x="1871428" y="3642863"/>
            <a:chExt cx="2443370" cy="837354"/>
          </a:xfrm>
        </p:grpSpPr>
        <p:sp>
          <p:nvSpPr>
            <p:cNvPr id="14" name="TextBox 13">
              <a:hlinkClick r:id="" action="ppaction://noaction"/>
            </p:cNvPr>
            <p:cNvSpPr txBox="1"/>
            <p:nvPr/>
          </p:nvSpPr>
          <p:spPr>
            <a:xfrm>
              <a:off x="1871428" y="3642863"/>
              <a:ext cx="2443370" cy="27699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latin typeface="Bahnschrift Light" pitchFamily="34" charset="0"/>
                  <a:ea typeface="Arial Unicode MS" pitchFamily="34" charset="-128"/>
                  <a:cs typeface="Arial Unicode MS" pitchFamily="34" charset="-128"/>
                </a:rPr>
                <a:t>Type of RNN</a:t>
              </a:r>
              <a:endParaRPr lang="en-IN" sz="1200" dirty="0">
                <a:latin typeface="Bahnschrift Light" pitchFamily="34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19" name="TextBox 18">
              <a:hlinkClick r:id="" action="ppaction://noaction"/>
            </p:cNvPr>
            <p:cNvSpPr txBox="1"/>
            <p:nvPr/>
          </p:nvSpPr>
          <p:spPr>
            <a:xfrm>
              <a:off x="1871428" y="3919862"/>
              <a:ext cx="2443370" cy="27699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latin typeface="Bahnschrift Light" pitchFamily="34" charset="0"/>
                  <a:ea typeface="Arial Unicode MS" pitchFamily="34" charset="-128"/>
                  <a:cs typeface="Arial Unicode MS" pitchFamily="34" charset="-128"/>
                </a:rPr>
                <a:t>Problem with RNN</a:t>
              </a:r>
              <a:endParaRPr lang="en-IN" sz="1200" dirty="0">
                <a:latin typeface="Bahnschrift Light" pitchFamily="34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20" name="TextBox 19">
              <a:hlinkClick r:id="" action="ppaction://noaction"/>
            </p:cNvPr>
            <p:cNvSpPr txBox="1"/>
            <p:nvPr/>
          </p:nvSpPr>
          <p:spPr>
            <a:xfrm>
              <a:off x="1871428" y="4203218"/>
              <a:ext cx="2443370" cy="27699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latin typeface="Bahnschrift Light" pitchFamily="34" charset="0"/>
                  <a:ea typeface="Arial Unicode MS" pitchFamily="34" charset="-128"/>
                  <a:cs typeface="Arial Unicode MS" pitchFamily="34" charset="-128"/>
                  <a:hlinkClick r:id="" action="ppaction://noaction"/>
                </a:rPr>
                <a:t>LSTM</a:t>
              </a:r>
              <a:endParaRPr lang="en-IN" sz="1200" dirty="0">
                <a:latin typeface="Bahnschrift Light" pitchFamily="34" charset="0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sp>
        <p:nvSpPr>
          <p:cNvPr id="21" name="TextBox 20">
            <a:hlinkClick r:id="" action="ppaction://noaction"/>
          </p:cNvPr>
          <p:cNvSpPr txBox="1"/>
          <p:nvPr/>
        </p:nvSpPr>
        <p:spPr>
          <a:xfrm>
            <a:off x="1506796" y="3778904"/>
            <a:ext cx="2443370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Bahnschrift Light" pitchFamily="34" charset="0"/>
                <a:ea typeface="Arial Unicode MS" pitchFamily="34" charset="-128"/>
                <a:cs typeface="Arial Unicode MS" pitchFamily="34" charset="-128"/>
              </a:rPr>
              <a:t>Time Series Data</a:t>
            </a:r>
            <a:endParaRPr lang="en-IN" sz="1200" dirty="0">
              <a:latin typeface="Bahnschrift Light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38922" y="4557681"/>
            <a:ext cx="2564728" cy="276999"/>
          </a:xfrm>
          <a:prstGeom prst="rect">
            <a:avLst/>
          </a:prstGeom>
          <a:solidFill>
            <a:srgbClr val="FFCC29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latin typeface="Bahnschrift Light" pitchFamily="34" charset="0"/>
                <a:ea typeface="Arial Unicode MS" pitchFamily="34" charset="-128"/>
                <a:cs typeface="Arial Unicode MS" pitchFamily="34" charset="-128"/>
              </a:defRPr>
            </a:lvl1pPr>
          </a:lstStyle>
          <a:p>
            <a:r>
              <a:rPr lang="en-IN" dirty="0"/>
              <a:t>Neural Network-Layman term</a:t>
            </a:r>
          </a:p>
        </p:txBody>
      </p:sp>
      <p:sp>
        <p:nvSpPr>
          <p:cNvPr id="23" name="Google Shape;143;p1">
            <a:extLst>
              <a:ext uri="{FF2B5EF4-FFF2-40B4-BE49-F238E27FC236}">
                <a16:creationId xmlns:a16="http://schemas.microsoft.com/office/drawing/2014/main" xmlns="" id="{E4949A97-DC03-56A5-2E5A-3DD3913AA0EF}"/>
              </a:ext>
            </a:extLst>
          </p:cNvPr>
          <p:cNvSpPr txBox="1">
            <a:spLocks noGrp="1"/>
          </p:cNvSpPr>
          <p:nvPr/>
        </p:nvSpPr>
        <p:spPr>
          <a:xfrm>
            <a:off x="1774208" y="193757"/>
            <a:ext cx="4951915" cy="1113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343F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 sz="4400" b="1" dirty="0" smtClean="0">
                <a:solidFill>
                  <a:schemeClr val="tx1"/>
                </a:solidFill>
                <a:latin typeface="Segoe UI Black" pitchFamily="34" charset="0"/>
                <a:ea typeface="Segoe UI Black" pitchFamily="34" charset="0"/>
              </a:rPr>
              <a:t>Neural Network</a:t>
            </a:r>
          </a:p>
          <a:p>
            <a:endParaRPr lang="it-IT" sz="4000" b="1" dirty="0">
              <a:solidFill>
                <a:schemeClr val="tx1"/>
              </a:solidFill>
            </a:endParaRPr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151" y="1"/>
            <a:ext cx="1903189" cy="1577228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8E4B4487-5609-54AF-1FCA-AB3F6B737A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8918" y="42717"/>
            <a:ext cx="3201582" cy="1240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/>
          <p:cNvGrpSpPr/>
          <p:nvPr/>
        </p:nvGrpSpPr>
        <p:grpSpPr>
          <a:xfrm>
            <a:off x="1506796" y="1542342"/>
            <a:ext cx="2474730" cy="925166"/>
            <a:chOff x="1522475" y="1942475"/>
            <a:chExt cx="2474730" cy="925166"/>
          </a:xfrm>
        </p:grpSpPr>
        <p:sp>
          <p:nvSpPr>
            <p:cNvPr id="9" name="TextBox 8"/>
            <p:cNvSpPr txBox="1"/>
            <p:nvPr/>
          </p:nvSpPr>
          <p:spPr>
            <a:xfrm>
              <a:off x="1522476" y="1942475"/>
              <a:ext cx="2474729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Bahnschrift Light" pitchFamily="34" charset="0"/>
                  <a:ea typeface="Arial Unicode MS" pitchFamily="34" charset="-128"/>
                  <a:cs typeface="Arial Unicode MS" pitchFamily="34" charset="-128"/>
                </a:rPr>
                <a:t>Neural network &amp; History</a:t>
              </a:r>
              <a:endParaRPr lang="en-IN" sz="1200" dirty="0">
                <a:latin typeface="Bahnschrift Light" pitchFamily="34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522475" y="2262356"/>
              <a:ext cx="2474729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latin typeface="Bahnschrift Light" pitchFamily="34" charset="0"/>
                  <a:ea typeface="Arial Unicode MS" pitchFamily="34" charset="-128"/>
                  <a:cs typeface="Arial Unicode MS" pitchFamily="34" charset="-128"/>
                </a:rPr>
                <a:t>Component of Neural network</a:t>
              </a:r>
              <a:endParaRPr lang="en-IN" sz="1200" dirty="0">
                <a:latin typeface="Bahnschrift Light" pitchFamily="34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522476" y="2590642"/>
              <a:ext cx="2474729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latin typeface="Bahnschrift Light" pitchFamily="34" charset="0"/>
                  <a:ea typeface="Arial Unicode MS" pitchFamily="34" charset="-128"/>
                  <a:cs typeface="Arial Unicode MS" pitchFamily="34" charset="-128"/>
                  <a:hlinkClick r:id="" action="ppaction://noaction"/>
                </a:rPr>
                <a:t>Activation Function</a:t>
              </a:r>
              <a:endParaRPr lang="en-IN" sz="1200" dirty="0">
                <a:latin typeface="Bahnschrift Light" pitchFamily="34" charset="0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4580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199370" y="5117964"/>
            <a:ext cx="1573829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IN" sz="1600" dirty="0"/>
              <a:t>feed forward NN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21701" y="2558114"/>
            <a:ext cx="2502545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IN" sz="1600" dirty="0"/>
              <a:t>Vanishing Gradient </a:t>
            </a:r>
            <a:r>
              <a:rPr lang="en-IN" sz="1600" dirty="0" smtClean="0"/>
              <a:t>Problem</a:t>
            </a:r>
            <a:endParaRPr lang="en-IN" sz="1600" dirty="0"/>
          </a:p>
        </p:txBody>
      </p:sp>
      <p:sp>
        <p:nvSpPr>
          <p:cNvPr id="7" name="Rectangle 6"/>
          <p:cNvSpPr/>
          <p:nvPr/>
        </p:nvSpPr>
        <p:spPr>
          <a:xfrm>
            <a:off x="7073758" y="1049600"/>
            <a:ext cx="1261884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IN" dirty="0"/>
              <a:t>Time Series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219150" y="4142067"/>
            <a:ext cx="848309" cy="338554"/>
          </a:xfrm>
          <a:prstGeom prst="rect">
            <a:avLst/>
          </a:prstGeom>
          <a:solidFill>
            <a:srgbClr val="00CC99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IN" sz="1600" dirty="0"/>
              <a:t>Sigmoid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75759" y="1913185"/>
            <a:ext cx="601447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IN" sz="1600" dirty="0"/>
              <a:t>TanH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24487" y="1740903"/>
            <a:ext cx="549766" cy="33855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IN" sz="1600" dirty="0"/>
              <a:t>Relu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614" y="1115311"/>
            <a:ext cx="1951175" cy="307777"/>
          </a:xfrm>
          <a:prstGeom prst="rect">
            <a:avLst/>
          </a:prstGeom>
          <a:solidFill>
            <a:srgbClr val="FF6743"/>
          </a:solidFill>
          <a:ln>
            <a:solidFill>
              <a:srgbClr val="FF6743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latin typeface="Arial Rounded MT Bold" pitchFamily="34" charset="0"/>
              </a:rPr>
              <a:t>Loss </a:t>
            </a:r>
            <a:r>
              <a:rPr lang="en-US" dirty="0" smtClean="0">
                <a:latin typeface="Arial Rounded MT Bold" pitchFamily="34" charset="0"/>
              </a:rPr>
              <a:t>/Cost Function </a:t>
            </a:r>
            <a:endParaRPr lang="en-IN" dirty="0">
              <a:latin typeface="Arial Rounded MT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513206" y="3574871"/>
            <a:ext cx="1412118" cy="307777"/>
          </a:xfrm>
          <a:prstGeom prst="rect">
            <a:avLst/>
          </a:prstGeom>
          <a:solidFill>
            <a:srgbClr val="FF6743"/>
          </a:solidFill>
          <a:ln>
            <a:solidFill>
              <a:srgbClr val="FF6743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  <a:latin typeface="Arial Rounded MT Bold" pitchFamily="34" charset="0"/>
              </a:rPr>
              <a:t>Learning Rate</a:t>
            </a:r>
            <a:endParaRPr lang="en-IN" sz="1400" dirty="0">
              <a:solidFill>
                <a:schemeClr val="bg1"/>
              </a:solidFill>
              <a:latin typeface="Arial Rounded MT Bold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39614" y="740545"/>
            <a:ext cx="1720664" cy="307777"/>
          </a:xfrm>
          <a:prstGeom prst="rect">
            <a:avLst/>
          </a:prstGeom>
          <a:solidFill>
            <a:srgbClr val="FF6743"/>
          </a:solidFill>
          <a:ln>
            <a:solidFill>
              <a:srgbClr val="FF6743"/>
            </a:solidFill>
          </a:ln>
        </p:spPr>
        <p:txBody>
          <a:bodyPr wrap="non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Arial Rounded MT Bold" pitchFamily="34" charset="0"/>
              </a:rPr>
              <a:t>Gradient </a:t>
            </a:r>
            <a:r>
              <a:rPr lang="en-IN" sz="1400" dirty="0" smtClean="0">
                <a:solidFill>
                  <a:schemeClr val="bg1"/>
                </a:solidFill>
                <a:latin typeface="Arial Rounded MT Bold" pitchFamily="34" charset="0"/>
              </a:rPr>
              <a:t>Descent</a:t>
            </a:r>
            <a:endParaRPr lang="en-IN" sz="1400" dirty="0">
              <a:solidFill>
                <a:schemeClr val="bg1"/>
              </a:solidFill>
              <a:latin typeface="Arial Rounded MT Bold" pitchFamily="34" charset="0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109182" y="105120"/>
            <a:ext cx="11969087" cy="6237066"/>
            <a:chOff x="240961" y="259267"/>
            <a:chExt cx="11969087" cy="6237066"/>
          </a:xfrm>
        </p:grpSpPr>
        <p:grpSp>
          <p:nvGrpSpPr>
            <p:cNvPr id="3" name="Group 2"/>
            <p:cNvGrpSpPr/>
            <p:nvPr/>
          </p:nvGrpSpPr>
          <p:grpSpPr>
            <a:xfrm>
              <a:off x="240961" y="596463"/>
              <a:ext cx="11969087" cy="5899870"/>
              <a:chOff x="240961" y="596463"/>
              <a:chExt cx="11969087" cy="5899870"/>
            </a:xfrm>
          </p:grpSpPr>
          <p:grpSp>
            <p:nvGrpSpPr>
              <p:cNvPr id="18" name="Group 17"/>
              <p:cNvGrpSpPr/>
              <p:nvPr/>
            </p:nvGrpSpPr>
            <p:grpSpPr>
              <a:xfrm>
                <a:off x="240961" y="596463"/>
                <a:ext cx="11969087" cy="5899869"/>
                <a:chOff x="-664863" y="576834"/>
                <a:chExt cx="11969087" cy="5899869"/>
              </a:xfrm>
            </p:grpSpPr>
            <p:cxnSp>
              <p:nvCxnSpPr>
                <p:cNvPr id="14" name="Straight Connector 13"/>
                <p:cNvCxnSpPr/>
                <p:nvPr/>
              </p:nvCxnSpPr>
              <p:spPr>
                <a:xfrm>
                  <a:off x="-664863" y="576834"/>
                  <a:ext cx="11969087" cy="3731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/>
                <p:cNvCxnSpPr/>
                <p:nvPr/>
              </p:nvCxnSpPr>
              <p:spPr>
                <a:xfrm>
                  <a:off x="5950567" y="594518"/>
                  <a:ext cx="0" cy="588218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7" name="Straight Connector 16"/>
              <p:cNvCxnSpPr/>
              <p:nvPr/>
            </p:nvCxnSpPr>
            <p:spPr>
              <a:xfrm>
                <a:off x="3318681" y="614148"/>
                <a:ext cx="0" cy="5882185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Flowchart: Connector 18"/>
            <p:cNvSpPr/>
            <p:nvPr/>
          </p:nvSpPr>
          <p:spPr>
            <a:xfrm>
              <a:off x="371393" y="259267"/>
              <a:ext cx="324000" cy="324000"/>
            </a:xfrm>
            <a:prstGeom prst="flowChartConnector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Arial Rounded MT Bold" pitchFamily="34" charset="0"/>
                </a:rPr>
                <a:t>1</a:t>
              </a:r>
              <a:endParaRPr lang="en-IN" sz="1600" dirty="0">
                <a:latin typeface="Arial Rounded MT Bold" pitchFamily="34" charset="0"/>
              </a:endParaRPr>
            </a:p>
          </p:txBody>
        </p:sp>
        <p:sp>
          <p:nvSpPr>
            <p:cNvPr id="20" name="Flowchart: Connector 19"/>
            <p:cNvSpPr/>
            <p:nvPr/>
          </p:nvSpPr>
          <p:spPr>
            <a:xfrm>
              <a:off x="3476409" y="259267"/>
              <a:ext cx="324000" cy="324000"/>
            </a:xfrm>
            <a:prstGeom prst="flowChartConnector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Arial Rounded MT Bold" pitchFamily="34" charset="0"/>
                </a:rPr>
                <a:t>2</a:t>
              </a:r>
              <a:endParaRPr lang="en-IN" sz="1600" dirty="0">
                <a:latin typeface="Arial Rounded MT Bold" pitchFamily="34" charset="0"/>
              </a:endParaRPr>
            </a:p>
          </p:txBody>
        </p:sp>
        <p:sp>
          <p:nvSpPr>
            <p:cNvPr id="21" name="Flowchart: Connector 20"/>
            <p:cNvSpPr/>
            <p:nvPr/>
          </p:nvSpPr>
          <p:spPr>
            <a:xfrm>
              <a:off x="7037370" y="272463"/>
              <a:ext cx="324000" cy="324000"/>
            </a:xfrm>
            <a:prstGeom prst="flowChartConnector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Arial Rounded MT Bold" pitchFamily="34" charset="0"/>
                </a:rPr>
                <a:t>3</a:t>
              </a:r>
              <a:endParaRPr lang="en-IN" sz="1600" dirty="0">
                <a:latin typeface="Arial Rounded MT Bold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72006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2918920" y="173822"/>
            <a:ext cx="1948782" cy="1194714"/>
            <a:chOff x="3854857" y="369548"/>
            <a:chExt cx="1948782" cy="1194714"/>
          </a:xfrm>
        </p:grpSpPr>
        <p:grpSp>
          <p:nvGrpSpPr>
            <p:cNvPr id="23" name="Group 22"/>
            <p:cNvGrpSpPr/>
            <p:nvPr/>
          </p:nvGrpSpPr>
          <p:grpSpPr>
            <a:xfrm>
              <a:off x="4759250" y="677325"/>
              <a:ext cx="276038" cy="886937"/>
              <a:chOff x="4560893" y="664548"/>
              <a:chExt cx="850362" cy="1183475"/>
            </a:xfrm>
          </p:grpSpPr>
          <p:sp>
            <p:nvSpPr>
              <p:cNvPr id="11" name="TextBox 10"/>
              <p:cNvSpPr txBox="1"/>
              <p:nvPr/>
            </p:nvSpPr>
            <p:spPr>
              <a:xfrm>
                <a:off x="4560893" y="1437344"/>
                <a:ext cx="850362" cy="4106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2</a:t>
                </a:r>
                <a:endParaRPr lang="en-IN" sz="1400" dirty="0"/>
              </a:p>
            </p:txBody>
          </p:sp>
          <p:cxnSp>
            <p:nvCxnSpPr>
              <p:cNvPr id="13" name="Straight Connector 12"/>
              <p:cNvCxnSpPr>
                <a:stCxn id="3" idx="2"/>
              </p:cNvCxnSpPr>
              <p:nvPr/>
            </p:nvCxnSpPr>
            <p:spPr>
              <a:xfrm flipH="1">
                <a:off x="4560893" y="664548"/>
                <a:ext cx="152998" cy="9791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oup 28"/>
            <p:cNvGrpSpPr/>
            <p:nvPr/>
          </p:nvGrpSpPr>
          <p:grpSpPr>
            <a:xfrm>
              <a:off x="3854857" y="369548"/>
              <a:ext cx="1948782" cy="1071801"/>
              <a:chOff x="3834798" y="750603"/>
              <a:chExt cx="1948782" cy="1071801"/>
            </a:xfrm>
          </p:grpSpPr>
          <p:sp>
            <p:nvSpPr>
              <p:cNvPr id="3" name="TextBox 2"/>
              <p:cNvSpPr txBox="1"/>
              <p:nvPr/>
            </p:nvSpPr>
            <p:spPr>
              <a:xfrm>
                <a:off x="4466492" y="750603"/>
                <a:ext cx="6447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Puzzle</a:t>
                </a:r>
                <a:endParaRPr lang="en-IN" dirty="0"/>
              </a:p>
            </p:txBody>
          </p:sp>
          <p:grpSp>
            <p:nvGrpSpPr>
              <p:cNvPr id="22" name="Group 21"/>
              <p:cNvGrpSpPr/>
              <p:nvPr/>
            </p:nvGrpSpPr>
            <p:grpSpPr>
              <a:xfrm>
                <a:off x="3834798" y="1058380"/>
                <a:ext cx="954058" cy="764024"/>
                <a:chOff x="3834798" y="1058380"/>
                <a:chExt cx="954058" cy="764024"/>
              </a:xfrm>
            </p:grpSpPr>
            <p:cxnSp>
              <p:nvCxnSpPr>
                <p:cNvPr id="9" name="Straight Connector 8"/>
                <p:cNvCxnSpPr>
                  <a:stCxn id="3" idx="2"/>
                </p:cNvCxnSpPr>
                <p:nvPr/>
              </p:nvCxnSpPr>
              <p:spPr>
                <a:xfrm flipH="1">
                  <a:off x="4110836" y="1058380"/>
                  <a:ext cx="678020" cy="57994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" name="TextBox 9"/>
                <p:cNvSpPr txBox="1"/>
                <p:nvPr/>
              </p:nvSpPr>
              <p:spPr>
                <a:xfrm>
                  <a:off x="3834798" y="1514627"/>
                  <a:ext cx="2760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 smtClean="0"/>
                    <a:t>1</a:t>
                  </a:r>
                  <a:endParaRPr lang="en-IN" dirty="0"/>
                </a:p>
              </p:txBody>
            </p:sp>
          </p:grpSp>
          <p:grpSp>
            <p:nvGrpSpPr>
              <p:cNvPr id="24" name="Group 23"/>
              <p:cNvGrpSpPr/>
              <p:nvPr/>
            </p:nvGrpSpPr>
            <p:grpSpPr>
              <a:xfrm>
                <a:off x="4788856" y="1058380"/>
                <a:ext cx="994724" cy="674695"/>
                <a:chOff x="4788856" y="1058380"/>
                <a:chExt cx="994724" cy="674695"/>
              </a:xfrm>
            </p:grpSpPr>
            <p:sp>
              <p:nvSpPr>
                <p:cNvPr id="12" name="TextBox 11"/>
                <p:cNvSpPr txBox="1"/>
                <p:nvPr/>
              </p:nvSpPr>
              <p:spPr>
                <a:xfrm>
                  <a:off x="5507542" y="1425298"/>
                  <a:ext cx="2760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 smtClean="0"/>
                    <a:t>3</a:t>
                  </a:r>
                  <a:endParaRPr lang="en-IN" sz="1400" dirty="0"/>
                </a:p>
              </p:txBody>
            </p:sp>
            <p:cxnSp>
              <p:nvCxnSpPr>
                <p:cNvPr id="16" name="Straight Connector 15"/>
                <p:cNvCxnSpPr>
                  <a:endCxn id="3" idx="2"/>
                </p:cNvCxnSpPr>
                <p:nvPr/>
              </p:nvCxnSpPr>
              <p:spPr>
                <a:xfrm flipH="1" flipV="1">
                  <a:off x="4788856" y="1058380"/>
                  <a:ext cx="663853" cy="45624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30" name="Rectangle 29"/>
          <p:cNvSpPr/>
          <p:nvPr/>
        </p:nvSpPr>
        <p:spPr>
          <a:xfrm>
            <a:off x="431022" y="317584"/>
            <a:ext cx="190161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600" dirty="0"/>
              <a:t>let's solve the puzzle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4574" y="1749360"/>
            <a:ext cx="94854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/>
              <a:t>puzzle have 3 pieces or component. let us say answer of this is 300.</a:t>
            </a:r>
            <a:r>
              <a:rPr lang="en-US" sz="1400" dirty="0"/>
              <a:t> when we solve this from different component answer is 280</a:t>
            </a:r>
            <a:endParaRPr lang="en-IN" sz="1400" dirty="0"/>
          </a:p>
          <a:p>
            <a:endParaRPr lang="en-IN" sz="1400" dirty="0"/>
          </a:p>
        </p:txBody>
      </p:sp>
      <p:sp>
        <p:nvSpPr>
          <p:cNvPr id="34" name="Rectangle 33"/>
          <p:cNvSpPr/>
          <p:nvPr/>
        </p:nvSpPr>
        <p:spPr>
          <a:xfrm>
            <a:off x="5752494" y="502250"/>
            <a:ext cx="458780" cy="3077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txBody>
          <a:bodyPr wrap="none">
            <a:spAutoFit/>
          </a:bodyPr>
          <a:lstStyle/>
          <a:p>
            <a:r>
              <a:rPr lang="en-US" sz="1400" dirty="0"/>
              <a:t>300</a:t>
            </a:r>
            <a:endParaRPr lang="en-IN" sz="1400" dirty="0"/>
          </a:p>
        </p:txBody>
      </p:sp>
      <p:grpSp>
        <p:nvGrpSpPr>
          <p:cNvPr id="36" name="Group 35"/>
          <p:cNvGrpSpPr/>
          <p:nvPr/>
        </p:nvGrpSpPr>
        <p:grpSpPr>
          <a:xfrm>
            <a:off x="2183715" y="2167072"/>
            <a:ext cx="1664430" cy="1195858"/>
            <a:chOff x="3974380" y="369548"/>
            <a:chExt cx="1664430" cy="1195858"/>
          </a:xfrm>
        </p:grpSpPr>
        <p:grpSp>
          <p:nvGrpSpPr>
            <p:cNvPr id="37" name="Group 36"/>
            <p:cNvGrpSpPr/>
            <p:nvPr/>
          </p:nvGrpSpPr>
          <p:grpSpPr>
            <a:xfrm>
              <a:off x="4670896" y="677325"/>
              <a:ext cx="276038" cy="888081"/>
              <a:chOff x="4288710" y="664548"/>
              <a:chExt cx="850362" cy="1185002"/>
            </a:xfrm>
          </p:grpSpPr>
          <p:sp>
            <p:nvSpPr>
              <p:cNvPr id="46" name="TextBox 45"/>
              <p:cNvSpPr txBox="1"/>
              <p:nvPr/>
            </p:nvSpPr>
            <p:spPr>
              <a:xfrm>
                <a:off x="4288710" y="1438871"/>
                <a:ext cx="850362" cy="4106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2</a:t>
                </a:r>
                <a:endParaRPr lang="en-IN" sz="1400" dirty="0"/>
              </a:p>
            </p:txBody>
          </p:sp>
          <p:cxnSp>
            <p:nvCxnSpPr>
              <p:cNvPr id="47" name="Straight Connector 46"/>
              <p:cNvCxnSpPr>
                <a:stCxn id="39" idx="2"/>
              </p:cNvCxnSpPr>
              <p:nvPr/>
            </p:nvCxnSpPr>
            <p:spPr>
              <a:xfrm flipH="1">
                <a:off x="4560893" y="664548"/>
                <a:ext cx="152998" cy="7038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Group 37"/>
            <p:cNvGrpSpPr/>
            <p:nvPr/>
          </p:nvGrpSpPr>
          <p:grpSpPr>
            <a:xfrm>
              <a:off x="3974380" y="369548"/>
              <a:ext cx="1664430" cy="995131"/>
              <a:chOff x="3954321" y="750603"/>
              <a:chExt cx="1664430" cy="995131"/>
            </a:xfrm>
          </p:grpSpPr>
          <p:sp>
            <p:nvSpPr>
              <p:cNvPr id="39" name="TextBox 38"/>
              <p:cNvSpPr txBox="1"/>
              <p:nvPr/>
            </p:nvSpPr>
            <p:spPr>
              <a:xfrm>
                <a:off x="4466492" y="750603"/>
                <a:ext cx="6447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Puzzle</a:t>
                </a:r>
                <a:endParaRPr lang="en-IN" dirty="0"/>
              </a:p>
            </p:txBody>
          </p:sp>
          <p:grpSp>
            <p:nvGrpSpPr>
              <p:cNvPr id="40" name="Group 39"/>
              <p:cNvGrpSpPr/>
              <p:nvPr/>
            </p:nvGrpSpPr>
            <p:grpSpPr>
              <a:xfrm>
                <a:off x="3954321" y="1058380"/>
                <a:ext cx="834535" cy="604548"/>
                <a:chOff x="3954321" y="1058380"/>
                <a:chExt cx="834535" cy="604548"/>
              </a:xfrm>
            </p:grpSpPr>
            <p:cxnSp>
              <p:nvCxnSpPr>
                <p:cNvPr id="44" name="Straight Connector 43"/>
                <p:cNvCxnSpPr>
                  <a:stCxn id="39" idx="2"/>
                </p:cNvCxnSpPr>
                <p:nvPr/>
              </p:nvCxnSpPr>
              <p:spPr>
                <a:xfrm flipH="1">
                  <a:off x="4263936" y="1058380"/>
                  <a:ext cx="524920" cy="37278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5" name="TextBox 44"/>
                <p:cNvSpPr txBox="1"/>
                <p:nvPr/>
              </p:nvSpPr>
              <p:spPr>
                <a:xfrm>
                  <a:off x="3954321" y="1355151"/>
                  <a:ext cx="2760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 smtClean="0"/>
                    <a:t>1</a:t>
                  </a:r>
                  <a:endParaRPr lang="en-IN" dirty="0"/>
                </a:p>
              </p:txBody>
            </p:sp>
          </p:grpSp>
          <p:grpSp>
            <p:nvGrpSpPr>
              <p:cNvPr id="41" name="Group 40"/>
              <p:cNvGrpSpPr/>
              <p:nvPr/>
            </p:nvGrpSpPr>
            <p:grpSpPr>
              <a:xfrm>
                <a:off x="4788856" y="1058380"/>
                <a:ext cx="829895" cy="687354"/>
                <a:chOff x="4788856" y="1058380"/>
                <a:chExt cx="829895" cy="687354"/>
              </a:xfrm>
            </p:grpSpPr>
            <p:sp>
              <p:nvSpPr>
                <p:cNvPr id="42" name="TextBox 41"/>
                <p:cNvSpPr txBox="1"/>
                <p:nvPr/>
              </p:nvSpPr>
              <p:spPr>
                <a:xfrm>
                  <a:off x="5342713" y="1437957"/>
                  <a:ext cx="2760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 smtClean="0"/>
                    <a:t>3</a:t>
                  </a:r>
                  <a:endParaRPr lang="en-IN" sz="1400" dirty="0"/>
                </a:p>
              </p:txBody>
            </p:sp>
            <p:cxnSp>
              <p:nvCxnSpPr>
                <p:cNvPr id="43" name="Straight Connector 42"/>
                <p:cNvCxnSpPr>
                  <a:endCxn id="39" idx="2"/>
                </p:cNvCxnSpPr>
                <p:nvPr/>
              </p:nvCxnSpPr>
              <p:spPr>
                <a:xfrm flipH="1" flipV="1">
                  <a:off x="4788856" y="1058380"/>
                  <a:ext cx="515718" cy="450659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51" name="Group 50"/>
          <p:cNvGrpSpPr/>
          <p:nvPr/>
        </p:nvGrpSpPr>
        <p:grpSpPr>
          <a:xfrm>
            <a:off x="4099351" y="2847629"/>
            <a:ext cx="1316906" cy="308134"/>
            <a:chOff x="4410044" y="3870038"/>
            <a:chExt cx="1316906" cy="308134"/>
          </a:xfrm>
        </p:grpSpPr>
        <p:sp>
          <p:nvSpPr>
            <p:cNvPr id="48" name="Rectangle 47"/>
            <p:cNvSpPr/>
            <p:nvPr/>
          </p:nvSpPr>
          <p:spPr>
            <a:xfrm>
              <a:off x="4410044" y="3870038"/>
              <a:ext cx="458780" cy="30777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92D050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sz="1400" dirty="0" smtClean="0"/>
                <a:t>280</a:t>
              </a:r>
              <a:endParaRPr lang="en-IN" sz="1400" dirty="0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4897556" y="3870395"/>
              <a:ext cx="829394" cy="307777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sz="1400" dirty="0" smtClean="0"/>
                <a:t>20 -Error</a:t>
              </a:r>
              <a:endParaRPr lang="en-IN" sz="1400" dirty="0"/>
            </a:p>
          </p:txBody>
        </p:sp>
      </p:grpSp>
      <p:sp>
        <p:nvSpPr>
          <p:cNvPr id="50" name="Rectangle 49"/>
          <p:cNvSpPr/>
          <p:nvPr/>
        </p:nvSpPr>
        <p:spPr>
          <a:xfrm>
            <a:off x="377199" y="3399039"/>
            <a:ext cx="1057807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20 </a:t>
            </a:r>
            <a:r>
              <a:rPr lang="en-US" sz="1400" dirty="0">
                <a:solidFill>
                  <a:srgbClr val="FF0000"/>
                </a:solidFill>
                <a:latin typeface="Algerian" pitchFamily="82" charset="0"/>
              </a:rPr>
              <a:t>error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is not coming for individual component but it is </a:t>
            </a:r>
            <a:r>
              <a:rPr lang="en-US" sz="1400" dirty="0" smtClean="0"/>
              <a:t>coming </a:t>
            </a:r>
            <a:r>
              <a:rPr lang="en-US" sz="1400" dirty="0"/>
              <a:t>from </a:t>
            </a:r>
            <a:r>
              <a:rPr lang="en-US" sz="1400" dirty="0" smtClean="0"/>
              <a:t>collectively </a:t>
            </a:r>
            <a:r>
              <a:rPr lang="en-US" sz="1400" dirty="0"/>
              <a:t>from all </a:t>
            </a:r>
            <a:r>
              <a:rPr lang="en-US" sz="1400" dirty="0" smtClean="0"/>
              <a:t>component(piece)</a:t>
            </a:r>
            <a:endParaRPr lang="en-IN" sz="1400" dirty="0"/>
          </a:p>
        </p:txBody>
      </p:sp>
      <p:cxnSp>
        <p:nvCxnSpPr>
          <p:cNvPr id="53" name="Straight Connector 52"/>
          <p:cNvCxnSpPr/>
          <p:nvPr/>
        </p:nvCxnSpPr>
        <p:spPr>
          <a:xfrm>
            <a:off x="295402" y="2167072"/>
            <a:ext cx="1091418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236787" y="3843472"/>
            <a:ext cx="1161524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roup 61"/>
          <p:cNvGrpSpPr/>
          <p:nvPr/>
        </p:nvGrpSpPr>
        <p:grpSpPr>
          <a:xfrm>
            <a:off x="371210" y="4125987"/>
            <a:ext cx="1948782" cy="1290249"/>
            <a:chOff x="3854857" y="369548"/>
            <a:chExt cx="1948782" cy="1290249"/>
          </a:xfrm>
        </p:grpSpPr>
        <p:grpSp>
          <p:nvGrpSpPr>
            <p:cNvPr id="63" name="Group 62"/>
            <p:cNvGrpSpPr/>
            <p:nvPr/>
          </p:nvGrpSpPr>
          <p:grpSpPr>
            <a:xfrm>
              <a:off x="4621231" y="677325"/>
              <a:ext cx="276038" cy="982472"/>
              <a:chOff x="4135712" y="664548"/>
              <a:chExt cx="850362" cy="1310951"/>
            </a:xfrm>
          </p:grpSpPr>
          <p:sp>
            <p:nvSpPr>
              <p:cNvPr id="72" name="TextBox 71"/>
              <p:cNvSpPr txBox="1"/>
              <p:nvPr/>
            </p:nvSpPr>
            <p:spPr>
              <a:xfrm>
                <a:off x="4135712" y="1564820"/>
                <a:ext cx="850362" cy="4106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2</a:t>
                </a:r>
                <a:endParaRPr lang="en-IN" sz="1400" dirty="0"/>
              </a:p>
            </p:txBody>
          </p:sp>
          <p:cxnSp>
            <p:nvCxnSpPr>
              <p:cNvPr id="73" name="Straight Connector 72"/>
              <p:cNvCxnSpPr>
                <a:stCxn id="65" idx="2"/>
              </p:cNvCxnSpPr>
              <p:nvPr/>
            </p:nvCxnSpPr>
            <p:spPr>
              <a:xfrm flipH="1">
                <a:off x="4560893" y="664548"/>
                <a:ext cx="152998" cy="9791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Group 63"/>
            <p:cNvGrpSpPr/>
            <p:nvPr/>
          </p:nvGrpSpPr>
          <p:grpSpPr>
            <a:xfrm>
              <a:off x="3854857" y="369548"/>
              <a:ext cx="1948782" cy="1071801"/>
              <a:chOff x="3834798" y="750603"/>
              <a:chExt cx="1948782" cy="1071801"/>
            </a:xfrm>
          </p:grpSpPr>
          <p:sp>
            <p:nvSpPr>
              <p:cNvPr id="65" name="TextBox 64"/>
              <p:cNvSpPr txBox="1"/>
              <p:nvPr/>
            </p:nvSpPr>
            <p:spPr>
              <a:xfrm>
                <a:off x="4466492" y="750603"/>
                <a:ext cx="6447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Puzzle</a:t>
                </a:r>
                <a:endParaRPr lang="en-IN" dirty="0"/>
              </a:p>
            </p:txBody>
          </p:sp>
          <p:grpSp>
            <p:nvGrpSpPr>
              <p:cNvPr id="66" name="Group 65"/>
              <p:cNvGrpSpPr/>
              <p:nvPr/>
            </p:nvGrpSpPr>
            <p:grpSpPr>
              <a:xfrm>
                <a:off x="3834798" y="1058380"/>
                <a:ext cx="954058" cy="764024"/>
                <a:chOff x="3834798" y="1058380"/>
                <a:chExt cx="954058" cy="764024"/>
              </a:xfrm>
            </p:grpSpPr>
            <p:cxnSp>
              <p:nvCxnSpPr>
                <p:cNvPr id="70" name="Straight Connector 69"/>
                <p:cNvCxnSpPr>
                  <a:stCxn id="65" idx="2"/>
                </p:cNvCxnSpPr>
                <p:nvPr/>
              </p:nvCxnSpPr>
              <p:spPr>
                <a:xfrm flipH="1">
                  <a:off x="4110836" y="1058380"/>
                  <a:ext cx="678020" cy="57994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1" name="TextBox 70"/>
                <p:cNvSpPr txBox="1"/>
                <p:nvPr/>
              </p:nvSpPr>
              <p:spPr>
                <a:xfrm>
                  <a:off x="3834798" y="1514627"/>
                  <a:ext cx="2760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 smtClean="0"/>
                    <a:t>1</a:t>
                  </a:r>
                  <a:endParaRPr lang="en-IN" dirty="0"/>
                </a:p>
              </p:txBody>
            </p:sp>
          </p:grpSp>
          <p:grpSp>
            <p:nvGrpSpPr>
              <p:cNvPr id="67" name="Group 66"/>
              <p:cNvGrpSpPr/>
              <p:nvPr/>
            </p:nvGrpSpPr>
            <p:grpSpPr>
              <a:xfrm>
                <a:off x="4788856" y="1058380"/>
                <a:ext cx="994724" cy="674695"/>
                <a:chOff x="4788856" y="1058380"/>
                <a:chExt cx="994724" cy="674695"/>
              </a:xfrm>
            </p:grpSpPr>
            <p:sp>
              <p:nvSpPr>
                <p:cNvPr id="68" name="TextBox 67"/>
                <p:cNvSpPr txBox="1"/>
                <p:nvPr/>
              </p:nvSpPr>
              <p:spPr>
                <a:xfrm>
                  <a:off x="5507542" y="1425298"/>
                  <a:ext cx="2760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 smtClean="0"/>
                    <a:t>3</a:t>
                  </a:r>
                  <a:endParaRPr lang="en-IN" sz="1400" dirty="0"/>
                </a:p>
              </p:txBody>
            </p:sp>
            <p:cxnSp>
              <p:nvCxnSpPr>
                <p:cNvPr id="69" name="Straight Connector 68"/>
                <p:cNvCxnSpPr>
                  <a:stCxn id="68" idx="1"/>
                  <a:endCxn id="65" idx="2"/>
                </p:cNvCxnSpPr>
                <p:nvPr/>
              </p:nvCxnSpPr>
              <p:spPr>
                <a:xfrm flipH="1" flipV="1">
                  <a:off x="4788856" y="1058380"/>
                  <a:ext cx="718686" cy="52080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74" name="Group 73"/>
          <p:cNvGrpSpPr/>
          <p:nvPr/>
        </p:nvGrpSpPr>
        <p:grpSpPr>
          <a:xfrm>
            <a:off x="479131" y="5706210"/>
            <a:ext cx="1316906" cy="308134"/>
            <a:chOff x="4410044" y="3870038"/>
            <a:chExt cx="1316906" cy="308134"/>
          </a:xfrm>
        </p:grpSpPr>
        <p:sp>
          <p:nvSpPr>
            <p:cNvPr id="75" name="Rectangle 74"/>
            <p:cNvSpPr/>
            <p:nvPr/>
          </p:nvSpPr>
          <p:spPr>
            <a:xfrm>
              <a:off x="4410044" y="3870038"/>
              <a:ext cx="458780" cy="30777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92D050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sz="1400" dirty="0" smtClean="0"/>
                <a:t>280</a:t>
              </a:r>
              <a:endParaRPr lang="en-IN" sz="1400" dirty="0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4897556" y="3870395"/>
              <a:ext cx="829394" cy="307777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sz="1400" dirty="0" smtClean="0"/>
                <a:t>20 -Error</a:t>
              </a:r>
              <a:endParaRPr lang="en-IN" sz="1400" dirty="0"/>
            </a:p>
          </p:txBody>
        </p:sp>
      </p:grpSp>
      <p:sp>
        <p:nvSpPr>
          <p:cNvPr id="77" name="TextBox 76"/>
          <p:cNvSpPr txBox="1"/>
          <p:nvPr/>
        </p:nvSpPr>
        <p:spPr>
          <a:xfrm>
            <a:off x="538268" y="4433764"/>
            <a:ext cx="367408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 dirty="0" smtClean="0"/>
              <a:t>10</a:t>
            </a:r>
            <a:endParaRPr lang="en-IN" sz="1400" dirty="0"/>
          </a:p>
        </p:txBody>
      </p:sp>
      <p:sp>
        <p:nvSpPr>
          <p:cNvPr id="81" name="TextBox 80"/>
          <p:cNvSpPr txBox="1"/>
          <p:nvPr/>
        </p:nvSpPr>
        <p:spPr>
          <a:xfrm>
            <a:off x="1325268" y="4713530"/>
            <a:ext cx="276038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 dirty="0" smtClean="0"/>
              <a:t>6</a:t>
            </a:r>
            <a:endParaRPr lang="en-IN" sz="1400" dirty="0"/>
          </a:p>
        </p:txBody>
      </p:sp>
      <p:sp>
        <p:nvSpPr>
          <p:cNvPr id="82" name="TextBox 81"/>
          <p:cNvSpPr txBox="1"/>
          <p:nvPr/>
        </p:nvSpPr>
        <p:spPr>
          <a:xfrm>
            <a:off x="1748788" y="4467472"/>
            <a:ext cx="276038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 dirty="0" smtClean="0"/>
              <a:t>4</a:t>
            </a:r>
            <a:endParaRPr lang="en-IN" sz="1400" dirty="0"/>
          </a:p>
        </p:txBody>
      </p:sp>
      <p:sp>
        <p:nvSpPr>
          <p:cNvPr id="84" name="TextBox 83"/>
          <p:cNvSpPr txBox="1"/>
          <p:nvPr/>
        </p:nvSpPr>
        <p:spPr>
          <a:xfrm>
            <a:off x="2454682" y="4650485"/>
            <a:ext cx="21585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There is possibility 10 error coming from piece-1,</a:t>
            </a:r>
          </a:p>
          <a:p>
            <a:r>
              <a:rPr lang="en-US" sz="1400" dirty="0" smtClean="0"/>
              <a:t>6 from piece-2 and 4 from piece-3 </a:t>
            </a:r>
            <a:endParaRPr lang="en-IN" sz="1400" dirty="0"/>
          </a:p>
        </p:txBody>
      </p:sp>
      <p:sp>
        <p:nvSpPr>
          <p:cNvPr id="116" name="TextBox 115"/>
          <p:cNvSpPr txBox="1"/>
          <p:nvPr/>
        </p:nvSpPr>
        <p:spPr>
          <a:xfrm>
            <a:off x="7492636" y="4390165"/>
            <a:ext cx="215857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There is also possibility 1, 2 component generating less error but  3 is most like 18</a:t>
            </a:r>
            <a:endParaRPr lang="en-IN" sz="1400" dirty="0"/>
          </a:p>
        </p:txBody>
      </p:sp>
      <p:grpSp>
        <p:nvGrpSpPr>
          <p:cNvPr id="134" name="Group 133"/>
          <p:cNvGrpSpPr/>
          <p:nvPr/>
        </p:nvGrpSpPr>
        <p:grpSpPr>
          <a:xfrm>
            <a:off x="5072128" y="4309445"/>
            <a:ext cx="1948782" cy="1290249"/>
            <a:chOff x="5777990" y="4201442"/>
            <a:chExt cx="1948782" cy="1290249"/>
          </a:xfrm>
        </p:grpSpPr>
        <p:grpSp>
          <p:nvGrpSpPr>
            <p:cNvPr id="117" name="Group 116"/>
            <p:cNvGrpSpPr/>
            <p:nvPr/>
          </p:nvGrpSpPr>
          <p:grpSpPr>
            <a:xfrm>
              <a:off x="5777990" y="4201442"/>
              <a:ext cx="1948782" cy="1290249"/>
              <a:chOff x="3854857" y="369548"/>
              <a:chExt cx="1948782" cy="1290249"/>
            </a:xfrm>
          </p:grpSpPr>
          <p:grpSp>
            <p:nvGrpSpPr>
              <p:cNvPr id="118" name="Group 117"/>
              <p:cNvGrpSpPr/>
              <p:nvPr/>
            </p:nvGrpSpPr>
            <p:grpSpPr>
              <a:xfrm>
                <a:off x="4621231" y="677325"/>
                <a:ext cx="276038" cy="982472"/>
                <a:chOff x="4135712" y="664548"/>
                <a:chExt cx="850362" cy="1310951"/>
              </a:xfrm>
            </p:grpSpPr>
            <p:sp>
              <p:nvSpPr>
                <p:cNvPr id="127" name="TextBox 126"/>
                <p:cNvSpPr txBox="1"/>
                <p:nvPr/>
              </p:nvSpPr>
              <p:spPr>
                <a:xfrm>
                  <a:off x="4135712" y="1564820"/>
                  <a:ext cx="850362" cy="41067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 smtClean="0"/>
                    <a:t>2</a:t>
                  </a:r>
                  <a:endParaRPr lang="en-IN" sz="1400" dirty="0"/>
                </a:p>
              </p:txBody>
            </p:sp>
            <p:cxnSp>
              <p:nvCxnSpPr>
                <p:cNvPr id="128" name="Straight Connector 127"/>
                <p:cNvCxnSpPr>
                  <a:stCxn id="120" idx="2"/>
                </p:cNvCxnSpPr>
                <p:nvPr/>
              </p:nvCxnSpPr>
              <p:spPr>
                <a:xfrm flipH="1">
                  <a:off x="4560893" y="664548"/>
                  <a:ext cx="152998" cy="97918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9" name="Group 118"/>
              <p:cNvGrpSpPr/>
              <p:nvPr/>
            </p:nvGrpSpPr>
            <p:grpSpPr>
              <a:xfrm>
                <a:off x="3854857" y="369548"/>
                <a:ext cx="1948782" cy="1071801"/>
                <a:chOff x="3834798" y="750603"/>
                <a:chExt cx="1948782" cy="1071801"/>
              </a:xfrm>
            </p:grpSpPr>
            <p:sp>
              <p:nvSpPr>
                <p:cNvPr id="120" name="TextBox 119"/>
                <p:cNvSpPr txBox="1"/>
                <p:nvPr/>
              </p:nvSpPr>
              <p:spPr>
                <a:xfrm>
                  <a:off x="4466492" y="750603"/>
                  <a:ext cx="64472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 smtClean="0"/>
                    <a:t>Puzzle</a:t>
                  </a:r>
                  <a:endParaRPr lang="en-IN" dirty="0"/>
                </a:p>
              </p:txBody>
            </p:sp>
            <p:grpSp>
              <p:nvGrpSpPr>
                <p:cNvPr id="121" name="Group 120"/>
                <p:cNvGrpSpPr/>
                <p:nvPr/>
              </p:nvGrpSpPr>
              <p:grpSpPr>
                <a:xfrm>
                  <a:off x="3834798" y="1058380"/>
                  <a:ext cx="954058" cy="764024"/>
                  <a:chOff x="3834798" y="1058380"/>
                  <a:chExt cx="954058" cy="764024"/>
                </a:xfrm>
              </p:grpSpPr>
              <p:cxnSp>
                <p:nvCxnSpPr>
                  <p:cNvPr id="125" name="Straight Connector 124"/>
                  <p:cNvCxnSpPr>
                    <a:stCxn id="120" idx="2"/>
                  </p:cNvCxnSpPr>
                  <p:nvPr/>
                </p:nvCxnSpPr>
                <p:spPr>
                  <a:xfrm flipH="1">
                    <a:off x="4110836" y="1058380"/>
                    <a:ext cx="678020" cy="579948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6" name="TextBox 125"/>
                  <p:cNvSpPr txBox="1"/>
                  <p:nvPr/>
                </p:nvSpPr>
                <p:spPr>
                  <a:xfrm>
                    <a:off x="3834798" y="1514627"/>
                    <a:ext cx="276038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 smtClean="0"/>
                      <a:t>1</a:t>
                    </a:r>
                    <a:endParaRPr lang="en-IN" dirty="0"/>
                  </a:p>
                </p:txBody>
              </p:sp>
            </p:grpSp>
            <p:grpSp>
              <p:nvGrpSpPr>
                <p:cNvPr id="122" name="Group 121"/>
                <p:cNvGrpSpPr/>
                <p:nvPr/>
              </p:nvGrpSpPr>
              <p:grpSpPr>
                <a:xfrm>
                  <a:off x="4788856" y="1058380"/>
                  <a:ext cx="994724" cy="674695"/>
                  <a:chOff x="4788856" y="1058380"/>
                  <a:chExt cx="994724" cy="674695"/>
                </a:xfrm>
              </p:grpSpPr>
              <p:sp>
                <p:nvSpPr>
                  <p:cNvPr id="123" name="TextBox 122"/>
                  <p:cNvSpPr txBox="1"/>
                  <p:nvPr/>
                </p:nvSpPr>
                <p:spPr>
                  <a:xfrm>
                    <a:off x="5507542" y="1425298"/>
                    <a:ext cx="276038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 smtClean="0"/>
                      <a:t>3</a:t>
                    </a:r>
                    <a:endParaRPr lang="en-IN" sz="1400" dirty="0"/>
                  </a:p>
                </p:txBody>
              </p:sp>
              <p:cxnSp>
                <p:nvCxnSpPr>
                  <p:cNvPr id="124" name="Straight Connector 123"/>
                  <p:cNvCxnSpPr>
                    <a:stCxn id="123" idx="1"/>
                    <a:endCxn id="120" idx="2"/>
                  </p:cNvCxnSpPr>
                  <p:nvPr/>
                </p:nvCxnSpPr>
                <p:spPr>
                  <a:xfrm flipH="1" flipV="1">
                    <a:off x="4788856" y="1058380"/>
                    <a:ext cx="718686" cy="520807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sp>
          <p:nvSpPr>
            <p:cNvPr id="129" name="TextBox 128"/>
            <p:cNvSpPr txBox="1"/>
            <p:nvPr/>
          </p:nvSpPr>
          <p:spPr>
            <a:xfrm>
              <a:off x="5945048" y="4509219"/>
              <a:ext cx="276038" cy="30777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2</a:t>
              </a:r>
              <a:endParaRPr lang="en-IN" sz="1400" dirty="0"/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6732048" y="4788985"/>
              <a:ext cx="276038" cy="30777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0</a:t>
              </a:r>
              <a:endParaRPr lang="en-IN" sz="1400" dirty="0"/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7155568" y="4542927"/>
              <a:ext cx="367408" cy="30777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18</a:t>
              </a:r>
              <a:endParaRPr lang="en-IN" sz="1400" dirty="0"/>
            </a:p>
          </p:txBody>
        </p:sp>
      </p:grpSp>
      <p:cxnSp>
        <p:nvCxnSpPr>
          <p:cNvPr id="133" name="Straight Connector 132"/>
          <p:cNvCxnSpPr/>
          <p:nvPr/>
        </p:nvCxnSpPr>
        <p:spPr>
          <a:xfrm>
            <a:off x="4863508" y="4100071"/>
            <a:ext cx="0" cy="201677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144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sp>
        <p:nvSpPr>
          <p:cNvPr id="2" name="Rectangle 1"/>
          <p:cNvSpPr/>
          <p:nvPr/>
        </p:nvSpPr>
        <p:spPr>
          <a:xfrm>
            <a:off x="140676" y="376535"/>
            <a:ext cx="12051323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When we solve different pieces of a puzzle and combine them to reach a final result, this process, in the world of neural networks, is called </a:t>
            </a:r>
            <a:r>
              <a:rPr lang="en-US" sz="1400" dirty="0" smtClean="0"/>
              <a:t> </a:t>
            </a:r>
            <a:r>
              <a:rPr lang="en-US" dirty="0" smtClean="0">
                <a:solidFill>
                  <a:srgbClr val="FF5050"/>
                </a:solidFill>
                <a:latin typeface="Bahnschrift SemiLight" pitchFamily="34" charset="0"/>
              </a:rPr>
              <a:t>Forward propagation(</a:t>
            </a:r>
            <a:r>
              <a:rPr lang="en-US" sz="2000" dirty="0" smtClean="0">
                <a:solidFill>
                  <a:srgbClr val="FF5050"/>
                </a:solidFill>
                <a:latin typeface="Bahnschrift SemiLight" pitchFamily="34" charset="0"/>
              </a:rPr>
              <a:t>FP</a:t>
            </a:r>
            <a:r>
              <a:rPr lang="en-US" dirty="0" smtClean="0">
                <a:solidFill>
                  <a:srgbClr val="FF5050"/>
                </a:solidFill>
                <a:latin typeface="Bahnschrift SemiLight" pitchFamily="34" charset="0"/>
              </a:rPr>
              <a:t>)</a:t>
            </a:r>
            <a:endParaRPr lang="en-IN" dirty="0">
              <a:solidFill>
                <a:srgbClr val="FF5050"/>
              </a:solidFill>
              <a:latin typeface="Bahnschrift SemiLight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40676" y="1202231"/>
            <a:ext cx="1080867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/>
              <a:t>At the moment​ when we see an​y error ​,we go back and try to see which part of the puzzle is giving error and try to optimize the ​c​components . This process is called </a:t>
            </a:r>
            <a:r>
              <a:rPr lang="en-US" dirty="0" smtClean="0">
                <a:solidFill>
                  <a:srgbClr val="00B050"/>
                </a:solidFill>
                <a:latin typeface="Bahnschrift SemiLight" pitchFamily="34" charset="0"/>
              </a:rPr>
              <a:t>Backward propagation(BP)</a:t>
            </a:r>
            <a:endParaRPr lang="en-IN" dirty="0">
              <a:solidFill>
                <a:srgbClr val="00B050"/>
              </a:solidFill>
              <a:latin typeface="Bahnschrift SemiLight" pitchFamily="34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433754" y="2543908"/>
            <a:ext cx="11406554" cy="35169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/>
          <p:cNvGrpSpPr/>
          <p:nvPr/>
        </p:nvGrpSpPr>
        <p:grpSpPr>
          <a:xfrm>
            <a:off x="2673197" y="2722437"/>
            <a:ext cx="5128327" cy="1053882"/>
            <a:chOff x="2673197" y="2722437"/>
            <a:chExt cx="5128327" cy="1053882"/>
          </a:xfrm>
        </p:grpSpPr>
        <p:sp>
          <p:nvSpPr>
            <p:cNvPr id="5" name="Rectangle 4"/>
            <p:cNvSpPr/>
            <p:nvPr/>
          </p:nvSpPr>
          <p:spPr>
            <a:xfrm>
              <a:off x="2673197" y="2722437"/>
              <a:ext cx="512832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>
                  <a:latin typeface="Bahnschrift SemiBold" pitchFamily="34" charset="0"/>
                </a:rPr>
                <a:t>What </a:t>
              </a:r>
              <a:r>
                <a:rPr lang="en-US" dirty="0">
                  <a:latin typeface="Bahnschrift SemiBold" pitchFamily="34" charset="0"/>
                </a:rPr>
                <a:t>is </a:t>
              </a:r>
              <a:r>
                <a:rPr lang="en-US" dirty="0" smtClean="0">
                  <a:latin typeface="Bahnschrift SemiBold" pitchFamily="34" charset="0"/>
                </a:rPr>
                <a:t>the purpose of artificial Neural Network</a:t>
              </a:r>
              <a:endParaRPr lang="en-IN" dirty="0">
                <a:latin typeface="Bahnschrift SemiBold" pitchFamily="34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382012" y="3437765"/>
              <a:ext cx="313778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mimic </a:t>
              </a:r>
              <a:r>
                <a:rPr lang="en-US" sz="1600" dirty="0"/>
                <a:t>the </a:t>
              </a:r>
              <a:r>
                <a:rPr lang="en-US" sz="1600" dirty="0" smtClean="0"/>
                <a:t>behavior </a:t>
              </a:r>
              <a:r>
                <a:rPr lang="en-US" sz="1600" dirty="0"/>
                <a:t>of Human brain</a:t>
              </a:r>
              <a:endParaRPr lang="en-IN" sz="1600" dirty="0"/>
            </a:p>
          </p:txBody>
        </p:sp>
        <p:cxnSp>
          <p:nvCxnSpPr>
            <p:cNvPr id="13" name="Straight Arrow Connector 12"/>
            <p:cNvCxnSpPr>
              <a:endCxn id="11" idx="1"/>
            </p:cNvCxnSpPr>
            <p:nvPr/>
          </p:nvCxnSpPr>
          <p:spPr>
            <a:xfrm>
              <a:off x="3153508" y="3091769"/>
              <a:ext cx="228504" cy="515273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Rectangle 15"/>
          <p:cNvSpPr/>
          <p:nvPr/>
        </p:nvSpPr>
        <p:spPr>
          <a:xfrm>
            <a:off x="2988122" y="4569042"/>
            <a:ext cx="3430298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sz="1400" dirty="0" smtClean="0"/>
              <a:t>Neurons are  basic </a:t>
            </a:r>
            <a:r>
              <a:rPr lang="en-US" sz="1400" dirty="0"/>
              <a:t>building block of Human. 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88898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7363" y="241191"/>
            <a:ext cx="3130119" cy="317483"/>
            <a:chOff x="1492971" y="258160"/>
            <a:chExt cx="3130119" cy="317483"/>
          </a:xfrm>
        </p:grpSpPr>
        <p:sp>
          <p:nvSpPr>
            <p:cNvPr id="5" name="Rectangle 4"/>
            <p:cNvSpPr/>
            <p:nvPr/>
          </p:nvSpPr>
          <p:spPr>
            <a:xfrm>
              <a:off x="1492971" y="258160"/>
              <a:ext cx="3130119" cy="30777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  <a:latin typeface="Bahnschrift Light" pitchFamily="34" charset="0"/>
                  <a:ea typeface="Arial Unicode MS" pitchFamily="34" charset="-128"/>
                  <a:cs typeface="Arial Unicode MS" pitchFamily="34" charset="-128"/>
                </a:rPr>
                <a:t>Perceptron – Layman term</a:t>
              </a:r>
              <a:endParaRPr lang="en-IN" sz="1400" dirty="0">
                <a:solidFill>
                  <a:schemeClr val="bg1"/>
                </a:solidFill>
                <a:latin typeface="Bahnschrift Light" pitchFamily="34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cxnSp>
          <p:nvCxnSpPr>
            <p:cNvPr id="6" name="Straight Connector 5"/>
            <p:cNvCxnSpPr/>
            <p:nvPr/>
          </p:nvCxnSpPr>
          <p:spPr>
            <a:xfrm>
              <a:off x="1492971" y="575643"/>
              <a:ext cx="3130119" cy="0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8067458" y="395079"/>
            <a:ext cx="1146879" cy="1078598"/>
            <a:chOff x="8342534" y="776625"/>
            <a:chExt cx="1146879" cy="1078598"/>
          </a:xfrm>
        </p:grpSpPr>
        <p:sp>
          <p:nvSpPr>
            <p:cNvPr id="7" name="Rectangle 6"/>
            <p:cNvSpPr/>
            <p:nvPr/>
          </p:nvSpPr>
          <p:spPr>
            <a:xfrm>
              <a:off x="8342534" y="776625"/>
              <a:ext cx="102726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sz="1400" dirty="0"/>
                <a:t>Perception</a:t>
              </a:r>
              <a:r>
                <a:rPr lang="en-IN" dirty="0"/>
                <a:t> </a:t>
              </a:r>
            </a:p>
          </p:txBody>
        </p:sp>
        <p:cxnSp>
          <p:nvCxnSpPr>
            <p:cNvPr id="9" name="Straight Arrow Connector 8"/>
            <p:cNvCxnSpPr>
              <a:endCxn id="10" idx="0"/>
            </p:cNvCxnSpPr>
            <p:nvPr/>
          </p:nvCxnSpPr>
          <p:spPr>
            <a:xfrm>
              <a:off x="8906715" y="1115180"/>
              <a:ext cx="307623" cy="432266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8939262" y="1547446"/>
              <a:ext cx="5501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1950</a:t>
              </a:r>
              <a:endParaRPr lang="en-IN" sz="1400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988460" y="2022157"/>
            <a:ext cx="5203540" cy="1497522"/>
            <a:chOff x="3621766" y="1658742"/>
            <a:chExt cx="5203540" cy="1497522"/>
          </a:xfrm>
        </p:grpSpPr>
        <p:sp>
          <p:nvSpPr>
            <p:cNvPr id="14" name="Rectangle 13"/>
            <p:cNvSpPr/>
            <p:nvPr/>
          </p:nvSpPr>
          <p:spPr>
            <a:xfrm>
              <a:off x="3621766" y="1658742"/>
              <a:ext cx="4675254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solidFill>
                    <a:schemeClr val="accent2"/>
                  </a:solidFill>
                </a:rPr>
                <a:t>Perception</a:t>
              </a:r>
              <a:r>
                <a:rPr lang="en-US" sz="1600" dirty="0"/>
                <a:t> </a:t>
              </a:r>
              <a:r>
                <a:rPr lang="en-US" sz="1400" dirty="0"/>
                <a:t>as a concept was theoretically conceived in 1950</a:t>
              </a:r>
              <a:endParaRPr lang="en-IN" sz="1400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621766" y="1986713"/>
              <a:ext cx="5203540" cy="1169551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sz="1400" dirty="0" smtClean="0"/>
                <a:t>The </a:t>
              </a:r>
              <a:r>
                <a:rPr lang="en-US" sz="1400" dirty="0"/>
                <a:t>purpose of it </a:t>
              </a:r>
              <a:r>
                <a:rPr lang="en-US" sz="1400" dirty="0" smtClean="0"/>
                <a:t>to</a:t>
              </a:r>
            </a:p>
            <a:p>
              <a:endParaRPr lang="en-US" sz="1400" dirty="0"/>
            </a:p>
            <a:p>
              <a:r>
                <a:rPr lang="en-US" sz="1400" dirty="0"/>
                <a:t>- </a:t>
              </a:r>
              <a:r>
                <a:rPr lang="en-US" sz="1400" dirty="0" smtClean="0"/>
                <a:t>To </a:t>
              </a:r>
              <a:r>
                <a:rPr lang="en-US" sz="1400" dirty="0"/>
                <a:t>create a machine? </a:t>
              </a:r>
            </a:p>
            <a:p>
              <a:r>
                <a:rPr lang="en-US" sz="1400" dirty="0"/>
                <a:t>- </a:t>
              </a:r>
              <a:r>
                <a:rPr lang="en-US" sz="1400" dirty="0" smtClean="0"/>
                <a:t>To </a:t>
              </a:r>
              <a:r>
                <a:rPr lang="en-US" sz="1400" dirty="0"/>
                <a:t>create a System? </a:t>
              </a:r>
            </a:p>
            <a:p>
              <a:r>
                <a:rPr lang="en-US" sz="1400" dirty="0"/>
                <a:t>- </a:t>
              </a:r>
              <a:r>
                <a:rPr lang="en-US" sz="1400" dirty="0" smtClean="0"/>
                <a:t>To </a:t>
              </a:r>
              <a:r>
                <a:rPr lang="en-US" sz="1400" dirty="0"/>
                <a:t>create a gate which can take multiple input and give one output?</a:t>
              </a:r>
              <a:endParaRPr lang="en-IN" sz="1400" dirty="0"/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1137138" y="1262888"/>
            <a:ext cx="3598984" cy="2195646"/>
            <a:chOff x="1184031" y="1473677"/>
            <a:chExt cx="3598984" cy="2195646"/>
          </a:xfrm>
        </p:grpSpPr>
        <p:grpSp>
          <p:nvGrpSpPr>
            <p:cNvPr id="43" name="Group 42"/>
            <p:cNvGrpSpPr/>
            <p:nvPr/>
          </p:nvGrpSpPr>
          <p:grpSpPr>
            <a:xfrm>
              <a:off x="1503965" y="1780046"/>
              <a:ext cx="2797041" cy="1424150"/>
              <a:chOff x="1503965" y="1780046"/>
              <a:chExt cx="2797041" cy="1424150"/>
            </a:xfrm>
          </p:grpSpPr>
          <p:sp>
            <p:nvSpPr>
              <p:cNvPr id="30" name="Oval 29"/>
              <p:cNvSpPr/>
              <p:nvPr/>
            </p:nvSpPr>
            <p:spPr>
              <a:xfrm>
                <a:off x="2813538" y="2191434"/>
                <a:ext cx="246185" cy="270412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cxnSp>
            <p:nvCxnSpPr>
              <p:cNvPr id="32" name="Straight Connector 31"/>
              <p:cNvCxnSpPr/>
              <p:nvPr/>
            </p:nvCxnSpPr>
            <p:spPr>
              <a:xfrm flipH="1" flipV="1">
                <a:off x="1858549" y="1980101"/>
                <a:ext cx="973015" cy="31574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>
              <a:xfrm flipH="1">
                <a:off x="1822496" y="2326640"/>
                <a:ext cx="1009068" cy="230811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>
              <a:xfrm flipH="1">
                <a:off x="1822496" y="2346440"/>
                <a:ext cx="1009068" cy="703868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Box 36"/>
              <p:cNvSpPr txBox="1"/>
              <p:nvPr/>
            </p:nvSpPr>
            <p:spPr>
              <a:xfrm>
                <a:off x="1510361" y="2896419"/>
                <a:ext cx="35458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x3</a:t>
                </a:r>
                <a:endParaRPr lang="en-IN" sz="1400" dirty="0"/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1670036" y="1780046"/>
                <a:ext cx="35458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x1</a:t>
                </a:r>
                <a:endParaRPr lang="en-IN" sz="1400" dirty="0"/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1503965" y="2388195"/>
                <a:ext cx="35458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x2</a:t>
                </a:r>
                <a:endParaRPr lang="en-IN" sz="1400" dirty="0"/>
              </a:p>
            </p:txBody>
          </p:sp>
          <p:cxnSp>
            <p:nvCxnSpPr>
              <p:cNvPr id="41" name="Straight Connector 40"/>
              <p:cNvCxnSpPr>
                <a:stCxn id="30" idx="6"/>
              </p:cNvCxnSpPr>
              <p:nvPr/>
            </p:nvCxnSpPr>
            <p:spPr>
              <a:xfrm>
                <a:off x="3059723" y="2326640"/>
                <a:ext cx="1019908" cy="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TextBox 41"/>
              <p:cNvSpPr txBox="1"/>
              <p:nvPr/>
            </p:nvSpPr>
            <p:spPr>
              <a:xfrm>
                <a:off x="3858256" y="2030212"/>
                <a:ext cx="44275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o/p</a:t>
                </a:r>
                <a:endParaRPr lang="en-IN" sz="1400" dirty="0"/>
              </a:p>
            </p:txBody>
          </p:sp>
        </p:grpSp>
        <p:sp>
          <p:nvSpPr>
            <p:cNvPr id="44" name="TextBox 43"/>
            <p:cNvSpPr txBox="1"/>
            <p:nvPr/>
          </p:nvSpPr>
          <p:spPr>
            <a:xfrm>
              <a:off x="1887856" y="3239365"/>
              <a:ext cx="163698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latin typeface="Arial" pitchFamily="34" charset="0"/>
                  <a:cs typeface="Arial" pitchFamily="34" charset="0"/>
                </a:rPr>
                <a:t>Simple perceptron</a:t>
              </a:r>
              <a:endParaRPr lang="en-IN" sz="14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1184031" y="1473677"/>
              <a:ext cx="3598984" cy="2195646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1527409" y="4200251"/>
            <a:ext cx="2790629" cy="1424150"/>
            <a:chOff x="1503965" y="1780046"/>
            <a:chExt cx="2790629" cy="1424150"/>
          </a:xfrm>
        </p:grpSpPr>
        <p:sp>
          <p:nvSpPr>
            <p:cNvPr id="51" name="Oval 50"/>
            <p:cNvSpPr/>
            <p:nvPr/>
          </p:nvSpPr>
          <p:spPr>
            <a:xfrm>
              <a:off x="2813538" y="2191434"/>
              <a:ext cx="246185" cy="270412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cxnSp>
          <p:nvCxnSpPr>
            <p:cNvPr id="52" name="Straight Connector 51"/>
            <p:cNvCxnSpPr/>
            <p:nvPr/>
          </p:nvCxnSpPr>
          <p:spPr>
            <a:xfrm flipH="1" flipV="1">
              <a:off x="1858549" y="1980101"/>
              <a:ext cx="973015" cy="315742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>
              <a:off x="1822496" y="2326640"/>
              <a:ext cx="1009068" cy="230811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flipH="1">
              <a:off x="1822496" y="2346440"/>
              <a:ext cx="1009068" cy="703868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/>
            <p:cNvSpPr txBox="1"/>
            <p:nvPr/>
          </p:nvSpPr>
          <p:spPr>
            <a:xfrm>
              <a:off x="1510361" y="2896419"/>
              <a:ext cx="3545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x3</a:t>
              </a:r>
              <a:endParaRPr lang="en-IN" sz="1400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670036" y="1780046"/>
              <a:ext cx="3545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x1</a:t>
              </a:r>
              <a:endParaRPr lang="en-IN" sz="1400" dirty="0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503965" y="2388195"/>
              <a:ext cx="3545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x2</a:t>
              </a:r>
              <a:endParaRPr lang="en-IN" sz="1400" dirty="0"/>
            </a:p>
          </p:txBody>
        </p:sp>
        <p:cxnSp>
          <p:nvCxnSpPr>
            <p:cNvPr id="58" name="Straight Connector 57"/>
            <p:cNvCxnSpPr>
              <a:stCxn id="51" idx="6"/>
            </p:cNvCxnSpPr>
            <p:nvPr/>
          </p:nvCxnSpPr>
          <p:spPr>
            <a:xfrm>
              <a:off x="3059723" y="2326640"/>
              <a:ext cx="1019908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/>
            <p:cNvSpPr txBox="1"/>
            <p:nvPr/>
          </p:nvSpPr>
          <p:spPr>
            <a:xfrm>
              <a:off x="3858256" y="2030212"/>
              <a:ext cx="4363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1/0</a:t>
              </a:r>
              <a:endParaRPr lang="en-IN" sz="1400" dirty="0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191287" y="5190075"/>
            <a:ext cx="1978116" cy="625055"/>
            <a:chOff x="3191287" y="5190075"/>
            <a:chExt cx="1978116" cy="625055"/>
          </a:xfrm>
        </p:grpSpPr>
        <p:sp>
          <p:nvSpPr>
            <p:cNvPr id="60" name="TextBox 59"/>
            <p:cNvSpPr txBox="1"/>
            <p:nvPr/>
          </p:nvSpPr>
          <p:spPr>
            <a:xfrm>
              <a:off x="3191287" y="5190075"/>
              <a:ext cx="174278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>
                  <a:latin typeface="Bahnschrift SemiLight" pitchFamily="34" charset="0"/>
                  <a:cs typeface="Arial" pitchFamily="34" charset="0"/>
                </a:rPr>
                <a:t>x1+x2+x3 &gt; threshold  </a:t>
              </a:r>
              <a:endParaRPr lang="en-IN" sz="1200" dirty="0">
                <a:latin typeface="Bahnschrift SemiLight" pitchFamily="34" charset="0"/>
                <a:cs typeface="Arial" pitchFamily="34" charset="0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4836059" y="5221996"/>
              <a:ext cx="3085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1</a:t>
              </a:r>
              <a:endParaRPr lang="en-IN" sz="1400" dirty="0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3204626" y="5513240"/>
              <a:ext cx="165622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Bahnschrift SemiLight" pitchFamily="34" charset="0"/>
                  <a:cs typeface="Arial" pitchFamily="34" charset="0"/>
                </a:rPr>
                <a:t>x1+x2+x3&gt;threshold </a:t>
              </a:r>
              <a:r>
                <a:rPr lang="en-US" sz="1200" dirty="0" smtClean="0">
                  <a:latin typeface="Arial" pitchFamily="34" charset="0"/>
                  <a:cs typeface="Arial" pitchFamily="34" charset="0"/>
                </a:rPr>
                <a:t> </a:t>
              </a:r>
              <a:endParaRPr lang="en-IN" sz="14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4860849" y="5507353"/>
              <a:ext cx="3085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0</a:t>
              </a:r>
              <a:endParaRPr lang="en-IN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369701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8152" y="412646"/>
            <a:ext cx="66615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Let’s take a real life example ,the job of it to </a:t>
            </a:r>
            <a:r>
              <a:rPr lang="en-US" sz="1400" dirty="0" smtClean="0">
                <a:solidFill>
                  <a:srgbClr val="FF5050"/>
                </a:solidFill>
                <a:latin typeface="Arial Rounded MT Bold" pitchFamily="34" charset="0"/>
                <a:cs typeface="Cascadia Mono SemiBold" pitchFamily="49" charset="0"/>
              </a:rPr>
              <a:t>predict someone have diabetes </a:t>
            </a:r>
            <a:r>
              <a:rPr lang="en-US" sz="1400" dirty="0" smtClean="0"/>
              <a:t>or not </a:t>
            </a:r>
            <a:endParaRPr lang="en-IN" sz="1400" dirty="0">
              <a:solidFill>
                <a:schemeClr val="accent2"/>
              </a:solidFill>
              <a:latin typeface="Bahnschrift SemiBold" pitchFamily="34" charset="0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377138" y="1083623"/>
            <a:ext cx="2790629" cy="1424150"/>
            <a:chOff x="1539664" y="1163974"/>
            <a:chExt cx="2790629" cy="1424150"/>
          </a:xfrm>
        </p:grpSpPr>
        <p:grpSp>
          <p:nvGrpSpPr>
            <p:cNvPr id="5" name="Group 4"/>
            <p:cNvGrpSpPr/>
            <p:nvPr/>
          </p:nvGrpSpPr>
          <p:grpSpPr>
            <a:xfrm>
              <a:off x="1539664" y="1163974"/>
              <a:ext cx="2790629" cy="1424150"/>
              <a:chOff x="1503965" y="1780046"/>
              <a:chExt cx="2790629" cy="1424150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2813538" y="2191434"/>
                <a:ext cx="246185" cy="270412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cxnSp>
            <p:nvCxnSpPr>
              <p:cNvPr id="7" name="Straight Connector 6"/>
              <p:cNvCxnSpPr/>
              <p:nvPr/>
            </p:nvCxnSpPr>
            <p:spPr>
              <a:xfrm flipH="1" flipV="1">
                <a:off x="1858549" y="1980101"/>
                <a:ext cx="973015" cy="31574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/>
              <p:nvPr/>
            </p:nvCxnSpPr>
            <p:spPr>
              <a:xfrm flipH="1">
                <a:off x="1822496" y="2326640"/>
                <a:ext cx="1009068" cy="230811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flipH="1">
                <a:off x="1822496" y="2346440"/>
                <a:ext cx="1009068" cy="703868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9"/>
              <p:cNvSpPr txBox="1"/>
              <p:nvPr/>
            </p:nvSpPr>
            <p:spPr>
              <a:xfrm>
                <a:off x="1510361" y="2896419"/>
                <a:ext cx="35458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x3</a:t>
                </a:r>
                <a:endParaRPr lang="en-IN" sz="1400" dirty="0"/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1670036" y="1780046"/>
                <a:ext cx="35458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x1</a:t>
                </a:r>
                <a:endParaRPr lang="en-IN" sz="1400" dirty="0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1503965" y="2388195"/>
                <a:ext cx="35458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x2</a:t>
                </a:r>
                <a:endParaRPr lang="en-IN" sz="1400" dirty="0"/>
              </a:p>
            </p:txBody>
          </p:sp>
          <p:cxnSp>
            <p:nvCxnSpPr>
              <p:cNvPr id="13" name="Straight Connector 12"/>
              <p:cNvCxnSpPr>
                <a:stCxn id="6" idx="6"/>
              </p:cNvCxnSpPr>
              <p:nvPr/>
            </p:nvCxnSpPr>
            <p:spPr>
              <a:xfrm>
                <a:off x="3059723" y="2326640"/>
                <a:ext cx="1019908" cy="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/>
              <p:cNvSpPr txBox="1"/>
              <p:nvPr/>
            </p:nvSpPr>
            <p:spPr>
              <a:xfrm>
                <a:off x="3858256" y="2030212"/>
                <a:ext cx="4363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1/0</a:t>
                </a:r>
                <a:endParaRPr lang="en-IN" sz="1400" dirty="0"/>
              </a:p>
            </p:txBody>
          </p:sp>
        </p:grpSp>
        <p:sp>
          <p:nvSpPr>
            <p:cNvPr id="2" name="TextBox 1"/>
            <p:cNvSpPr txBox="1"/>
            <p:nvPr/>
          </p:nvSpPr>
          <p:spPr>
            <a:xfrm>
              <a:off x="2158514" y="1206701"/>
              <a:ext cx="44448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age</a:t>
              </a:r>
              <a:endParaRPr lang="en-IN" sz="1400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894248" y="1537997"/>
              <a:ext cx="6671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Height</a:t>
              </a:r>
              <a:endParaRPr lang="en-IN" sz="1400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224801" y="2126459"/>
              <a:ext cx="6815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weight</a:t>
              </a:r>
              <a:endParaRPr lang="en-IN" sz="1400" dirty="0"/>
            </a:p>
          </p:txBody>
        </p:sp>
      </p:grpSp>
      <p:sp>
        <p:nvSpPr>
          <p:cNvPr id="17" name="Rectangle 16"/>
          <p:cNvSpPr/>
          <p:nvPr/>
        </p:nvSpPr>
        <p:spPr>
          <a:xfrm>
            <a:off x="3376406" y="1153779"/>
            <a:ext cx="851079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Let us </a:t>
            </a:r>
            <a:r>
              <a:rPr lang="en-US" sz="1400" dirty="0" smtClean="0"/>
              <a:t>​​established</a:t>
            </a:r>
            <a:r>
              <a:rPr lang="en-US" sz="1400" dirty="0"/>
              <a:t> a formula that predicts whether a person has diabetes or not, but the problem of binary perception </a:t>
            </a:r>
            <a:r>
              <a:rPr lang="en-US" sz="1400" dirty="0" smtClean="0"/>
              <a:t>is ,it does </a:t>
            </a:r>
            <a:r>
              <a:rPr lang="en-US" sz="1400" dirty="0"/>
              <a:t>not provide more flexibility to </a:t>
            </a:r>
            <a:r>
              <a:rPr lang="en-US" sz="1400" dirty="0" smtClean="0"/>
              <a:t>give more </a:t>
            </a:r>
            <a:r>
              <a:rPr lang="en-US" sz="1400" dirty="0"/>
              <a:t>input. </a:t>
            </a:r>
            <a:endParaRPr lang="en-US" sz="1400" dirty="0" smtClean="0"/>
          </a:p>
          <a:p>
            <a:r>
              <a:rPr lang="en-US" sz="1400" dirty="0" smtClean="0"/>
              <a:t>Because It is not mandatory we can calculate person have diabetes or not based upon age,height,weight</a:t>
            </a:r>
            <a:endParaRPr lang="en-IN" sz="1400" dirty="0"/>
          </a:p>
        </p:txBody>
      </p:sp>
      <p:sp>
        <p:nvSpPr>
          <p:cNvPr id="19" name="Rectangle 18"/>
          <p:cNvSpPr/>
          <p:nvPr/>
        </p:nvSpPr>
        <p:spPr>
          <a:xfrm>
            <a:off x="82062" y="3014228"/>
            <a:ext cx="11805137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/>
              <a:t>Real-world problems are more complex. Based on these perceptions, the concept of neurons are developed. </a:t>
            </a:r>
            <a:r>
              <a:rPr lang="en-US" sz="1500" dirty="0" smtClean="0"/>
              <a:t>Neurons are  </a:t>
            </a:r>
            <a:r>
              <a:rPr lang="en-US" sz="1500" dirty="0"/>
              <a:t>nothing but a sophisticated perception.</a:t>
            </a:r>
            <a:r>
              <a:rPr lang="en-US" sz="1600" dirty="0"/>
              <a:t> </a:t>
            </a:r>
            <a:endParaRPr lang="en-IN" sz="1600" dirty="0"/>
          </a:p>
        </p:txBody>
      </p:sp>
      <p:cxnSp>
        <p:nvCxnSpPr>
          <p:cNvPr id="21" name="Straight Connector 20"/>
          <p:cNvCxnSpPr/>
          <p:nvPr/>
        </p:nvCxnSpPr>
        <p:spPr>
          <a:xfrm>
            <a:off x="268152" y="2848708"/>
            <a:ext cx="1161904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/>
          <p:cNvGrpSpPr/>
          <p:nvPr/>
        </p:nvGrpSpPr>
        <p:grpSpPr>
          <a:xfrm>
            <a:off x="995988" y="3744762"/>
            <a:ext cx="2539022" cy="1424150"/>
            <a:chOff x="1539664" y="1163974"/>
            <a:chExt cx="2539022" cy="1424150"/>
          </a:xfrm>
        </p:grpSpPr>
        <p:grpSp>
          <p:nvGrpSpPr>
            <p:cNvPr id="26" name="Group 25"/>
            <p:cNvGrpSpPr/>
            <p:nvPr/>
          </p:nvGrpSpPr>
          <p:grpSpPr>
            <a:xfrm>
              <a:off x="1539664" y="1163974"/>
              <a:ext cx="2539022" cy="1424150"/>
              <a:chOff x="1503965" y="1780046"/>
              <a:chExt cx="2539022" cy="1424150"/>
            </a:xfrm>
          </p:grpSpPr>
          <p:sp>
            <p:nvSpPr>
              <p:cNvPr id="30" name="Oval 29"/>
              <p:cNvSpPr/>
              <p:nvPr/>
            </p:nvSpPr>
            <p:spPr>
              <a:xfrm>
                <a:off x="2813537" y="2087823"/>
                <a:ext cx="507977" cy="46962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 smtClean="0">
                    <a:solidFill>
                      <a:schemeClr val="bg1"/>
                    </a:solidFill>
                  </a:rPr>
                  <a:t>P1</a:t>
                </a:r>
                <a:endParaRPr lang="en-IN" sz="1050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31" name="Straight Connector 30"/>
              <p:cNvCxnSpPr/>
              <p:nvPr/>
            </p:nvCxnSpPr>
            <p:spPr>
              <a:xfrm flipH="1" flipV="1">
                <a:off x="1858549" y="1980101"/>
                <a:ext cx="973015" cy="31574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 flipH="1">
                <a:off x="1822496" y="2326640"/>
                <a:ext cx="1009068" cy="230811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>
              <a:xfrm flipH="1">
                <a:off x="1822496" y="2346440"/>
                <a:ext cx="1009068" cy="703868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TextBox 33"/>
              <p:cNvSpPr txBox="1"/>
              <p:nvPr/>
            </p:nvSpPr>
            <p:spPr>
              <a:xfrm>
                <a:off x="1510361" y="2896419"/>
                <a:ext cx="35458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x3</a:t>
                </a:r>
                <a:endParaRPr lang="en-IN" sz="1400" dirty="0"/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1670036" y="1780046"/>
                <a:ext cx="35458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x1</a:t>
                </a:r>
                <a:endParaRPr lang="en-IN" sz="1400" dirty="0"/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1503965" y="2388195"/>
                <a:ext cx="35458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x2</a:t>
                </a:r>
                <a:endParaRPr lang="en-IN" sz="1400" dirty="0"/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3858256" y="2030212"/>
                <a:ext cx="1847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IN" sz="1400" dirty="0"/>
              </a:p>
            </p:txBody>
          </p:sp>
        </p:grpSp>
        <p:sp>
          <p:nvSpPr>
            <p:cNvPr id="27" name="TextBox 26"/>
            <p:cNvSpPr txBox="1"/>
            <p:nvPr/>
          </p:nvSpPr>
          <p:spPr>
            <a:xfrm>
              <a:off x="2217252" y="1260251"/>
              <a:ext cx="4042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w1</a:t>
              </a:r>
              <a:endParaRPr lang="en-IN" sz="1400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961026" y="1610496"/>
              <a:ext cx="4042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w2</a:t>
              </a:r>
              <a:endParaRPr lang="en-IN" sz="1400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178616" y="2109306"/>
              <a:ext cx="4042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w3</a:t>
              </a:r>
              <a:endParaRPr lang="en-IN" sz="1400" dirty="0"/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2564999" y="4554328"/>
            <a:ext cx="45719" cy="1229168"/>
            <a:chOff x="2632237" y="4522168"/>
            <a:chExt cx="362600" cy="1206061"/>
          </a:xfrm>
        </p:grpSpPr>
        <p:cxnSp>
          <p:nvCxnSpPr>
            <p:cNvPr id="44" name="Straight Arrow Connector 43"/>
            <p:cNvCxnSpPr>
              <a:stCxn id="45" idx="0"/>
            </p:cNvCxnSpPr>
            <p:nvPr/>
          </p:nvCxnSpPr>
          <p:spPr>
            <a:xfrm flipH="1" flipV="1">
              <a:off x="2731429" y="4522168"/>
              <a:ext cx="82108" cy="929062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/>
            <p:cNvSpPr txBox="1"/>
            <p:nvPr/>
          </p:nvSpPr>
          <p:spPr>
            <a:xfrm>
              <a:off x="2632237" y="5451230"/>
              <a:ext cx="3626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N1</a:t>
              </a:r>
              <a:endParaRPr lang="en-IN" dirty="0"/>
            </a:p>
          </p:txBody>
        </p:sp>
      </p:grpSp>
      <p:cxnSp>
        <p:nvCxnSpPr>
          <p:cNvPr id="47" name="Straight Arrow Connector 46"/>
          <p:cNvCxnSpPr/>
          <p:nvPr/>
        </p:nvCxnSpPr>
        <p:spPr>
          <a:xfrm>
            <a:off x="2949598" y="4260559"/>
            <a:ext cx="104208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Group 54"/>
          <p:cNvGrpSpPr/>
          <p:nvPr/>
        </p:nvGrpSpPr>
        <p:grpSpPr>
          <a:xfrm>
            <a:off x="3851437" y="4352911"/>
            <a:ext cx="362600" cy="1395712"/>
            <a:chOff x="3851437" y="4214136"/>
            <a:chExt cx="362600" cy="1395712"/>
          </a:xfrm>
        </p:grpSpPr>
        <p:cxnSp>
          <p:nvCxnSpPr>
            <p:cNvPr id="49" name="Straight Arrow Connector 48"/>
            <p:cNvCxnSpPr/>
            <p:nvPr/>
          </p:nvCxnSpPr>
          <p:spPr>
            <a:xfrm flipV="1">
              <a:off x="3991683" y="4214136"/>
              <a:ext cx="0" cy="109437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/>
            <p:cNvSpPr txBox="1"/>
            <p:nvPr/>
          </p:nvSpPr>
          <p:spPr>
            <a:xfrm>
              <a:off x="3851437" y="5332849"/>
              <a:ext cx="3626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N1</a:t>
              </a:r>
              <a:endParaRPr lang="en-IN" dirty="0"/>
            </a:p>
          </p:txBody>
        </p:sp>
      </p:grpSp>
      <p:sp>
        <p:nvSpPr>
          <p:cNvPr id="57" name="Rectangle 56"/>
          <p:cNvSpPr/>
          <p:nvPr/>
        </p:nvSpPr>
        <p:spPr>
          <a:xfrm>
            <a:off x="738117" y="5929680"/>
            <a:ext cx="1114908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Multiple </a:t>
            </a:r>
            <a:r>
              <a:rPr lang="en-US" sz="1400" dirty="0" smtClean="0"/>
              <a:t>neurons </a:t>
            </a:r>
            <a:r>
              <a:rPr lang="en-US" sz="1400" dirty="0"/>
              <a:t>come together to perform a particular </a:t>
            </a:r>
            <a:r>
              <a:rPr lang="en-US" sz="1400" dirty="0" smtClean="0"/>
              <a:t>job, that </a:t>
            </a:r>
            <a:r>
              <a:rPr lang="en-US" sz="1400" dirty="0"/>
              <a:t>process or structure is called neural network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734569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37449</TotalTime>
  <Words>429</Words>
  <Application>Microsoft Office PowerPoint</Application>
  <PresentationFormat>Custom</PresentationFormat>
  <Paragraphs>122</Paragraphs>
  <Slides>6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Naman Narula</dc:creator>
  <cp:lastModifiedBy>User</cp:lastModifiedBy>
  <cp:revision>1575</cp:revision>
  <dcterms:created xsi:type="dcterms:W3CDTF">2024-01-26T15:11:46Z</dcterms:created>
  <dcterms:modified xsi:type="dcterms:W3CDTF">2025-12-31T18:43:47Z</dcterms:modified>
</cp:coreProperties>
</file>