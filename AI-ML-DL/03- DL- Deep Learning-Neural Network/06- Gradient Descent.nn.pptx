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85" r:id="rId2"/>
    <p:sldId id="396" r:id="rId3"/>
    <p:sldId id="397" r:id="rId4"/>
    <p:sldId id="425" r:id="rId5"/>
    <p:sldId id="413" r:id="rId6"/>
    <p:sldId id="411" r:id="rId7"/>
    <p:sldId id="427" r:id="rId8"/>
    <p:sldId id="429" r:id="rId9"/>
    <p:sldId id="430" r:id="rId10"/>
    <p:sldId id="432" r:id="rId11"/>
    <p:sldId id="433" r:id="rId12"/>
    <p:sldId id="434" r:id="rId13"/>
    <p:sldId id="435" r:id="rId14"/>
    <p:sldId id="437" r:id="rId15"/>
    <p:sldId id="438" r:id="rId16"/>
    <p:sldId id="439" r:id="rId17"/>
    <p:sldId id="42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pendix" id="{53F305DE-E919-46C9-8C7C-4B59AF1E2526}">
          <p14:sldIdLst>
            <p14:sldId id="285"/>
          </p14:sldIdLst>
        </p14:section>
        <p14:section name="Gradient Descent" id="{CB9E9647-72BB-47A5-AB68-997B40BAF4C2}">
          <p14:sldIdLst>
            <p14:sldId id="396"/>
            <p14:sldId id="397"/>
            <p14:sldId id="425"/>
            <p14:sldId id="413"/>
            <p14:sldId id="411"/>
            <p14:sldId id="427"/>
            <p14:sldId id="429"/>
            <p14:sldId id="430"/>
            <p14:sldId id="432"/>
            <p14:sldId id="433"/>
            <p14:sldId id="434"/>
            <p14:sldId id="435"/>
            <p14:sldId id="437"/>
            <p14:sldId id="438"/>
            <p14:sldId id="439"/>
          </p14:sldIdLst>
        </p14:section>
        <p14:section name="Types of Gradient Descent" id="{DA508F90-7A71-4678-9868-C1124C524511}">
          <p14:sldIdLst>
            <p14:sldId id="426"/>
          </p14:sldIdLst>
        </p14:section>
      </p14:sectionLst>
    </p:ex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743"/>
    <a:srgbClr val="CC3300"/>
    <a:srgbClr val="FF4B21"/>
    <a:srgbClr val="FF0066"/>
    <a:srgbClr val="00D05E"/>
    <a:srgbClr val="00CC99"/>
    <a:srgbClr val="15C2FF"/>
    <a:srgbClr val="FFCC29"/>
    <a:srgbClr val="F5E47F"/>
    <a:srgbClr val="F2DB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9639D9-3454-46DB-98F0-5734C90B24A8}" v="162" dt="2024-02-29T03:48:59.932"/>
    <p1510:client id="{51280DD5-E729-4BD7-8A9F-98443B307215}" v="2" dt="2024-02-29T02:44:09.918"/>
    <p1510:client id="{F06999DA-40BE-4997-8D18-97380D22DED5}" v="101" dt="2024-02-29T15:35:34.9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89" autoAdjust="0"/>
    <p:restoredTop sz="98577" autoAdjust="0"/>
  </p:normalViewPr>
  <p:slideViewPr>
    <p:cSldViewPr snapToGrid="0">
      <p:cViewPr>
        <p:scale>
          <a:sx n="70" d="100"/>
          <a:sy n="70" d="100"/>
        </p:scale>
        <p:origin x="-522" y="-1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90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8C147-18C2-4D33-BF56-E30CA9229223}" type="datetimeFigureOut">
              <a:rPr lang="en-IN" smtClean="0"/>
              <a:t>07-01-2026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A3E4B8-F9DF-4F9A-BB59-93920507C31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7987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AFE4333-EDCB-768D-D694-4FA374C887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6FB8F6BA-A771-5199-B454-4137B42B82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B8C62A8-5E14-FA7C-D2D9-A91C5617A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C7221-54BD-4A63-8AE7-749436A8A0E0}" type="datetime1">
              <a:rPr lang="en-US" smtClean="0"/>
              <a:t>1/7/2026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A5CADB1-111D-22D3-EDB1-E043DC323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733105E-4498-96A3-0C5F-A5E579283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095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EAE6418-E00D-D82B-5A6A-A2532DB41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63E6B97-B778-7455-F70C-FD8D34E3F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4537FB2-C318-A7C1-BABA-0AC6FA5B3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96570-B1EA-4487-BE32-F708B8E167B2}" type="datetime1">
              <a:rPr lang="en-US" smtClean="0"/>
              <a:t>1/7/2026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14FC2A1-527D-0AA9-D04D-3D2766CE0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1000CB2-5293-8DFA-B3B2-A0B592B46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395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EC1FA87-C082-E0DD-3D37-67F1640E6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1B5F515E-EB4A-D143-3D90-D5CB68882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8B15D29-75FB-CFE9-A973-A208274B9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442CB-DE38-41A3-9AEC-FC7F477AE398}" type="datetime1">
              <a:rPr lang="en-US" smtClean="0"/>
              <a:t>1/7/2026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9168659-4604-1E12-A046-E65E9BFA0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6A55C1A-5CB6-A517-F4CC-78B642B35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473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F354BD7-8381-6AF7-2A34-97F116432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45D5CF0-745C-8F39-DDFC-095163A6D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D6F0486A-0B81-6F67-77F7-3933C2505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D29CEC8B-FF84-E5F1-CD4B-B7DEE25F0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9B145-4D2C-4B0D-B0F3-3793104D85F9}" type="datetime1">
              <a:rPr lang="en-US" smtClean="0"/>
              <a:t>1/7/2026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83D1157-B890-E7C2-8551-9CFA55DF1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6834098-4893-052D-13DF-57AA37269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845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195ED4B-5B6D-B5E5-67B7-D97BFC6B1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8083AD3-D8DD-C9C8-4A8D-6E90DEEDC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F610F8FC-1E86-8328-5873-1F1FD4540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7171E56A-9B29-8C99-0F9B-DFA73577B4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31551D20-42E2-AA82-6A29-ED75844F6F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12806B38-A61F-CFF2-455E-2A0DB1CBD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CBCE3-C8C5-4329-ADE4-5F8D67D78882}" type="datetime1">
              <a:rPr lang="en-US" smtClean="0"/>
              <a:t>1/7/2026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0A1ADB39-BBED-F460-3284-9B01BBA78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BAE78CB4-F5B2-2F08-FCB4-B7EFC7D9B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097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207DB33-3161-3CA7-5DA9-9AEFA7BE3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1B459199-60FE-8A27-4D17-58FA57F03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5BDD6-391D-4D68-9A24-8E7CE46A4DC4}" type="datetime1">
              <a:rPr lang="en-US" smtClean="0"/>
              <a:t>1/7/2026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9B5772E0-839B-C3B1-7E64-0C8677352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4F5A1759-598D-988C-8124-2E5044B17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273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F271F3F0-F2B3-F675-7BAB-1AD2134AC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E1E7A-3F60-43E8-97A9-E03FDFF3291A}" type="datetime1">
              <a:rPr lang="en-US" smtClean="0"/>
              <a:t>1/7/2026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1A44FB0A-DFB7-0737-F37C-440DCA486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E497C01-947E-5E24-DB3F-90342EF0A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625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F41832-2691-E74A-0F3A-2DE9A6E44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94BD6CD-D7DC-A4E9-FD78-EA239F4F5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54C0C722-544A-95F1-1DAD-FAD83B6633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215BCDEF-8A4D-1FA5-888F-D5A3A2CEE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F2EE0-C06F-41F5-AFE0-7056E3A01EDC}" type="datetime1">
              <a:rPr lang="en-US" smtClean="0"/>
              <a:t>1/7/2026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81C4BD8F-AAAC-F32F-ABC2-37A3D3BC6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3DA79EF9-CB21-BEC5-2A25-591C945D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276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7BACBD3-5050-C329-F415-371491884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C4B2BE8C-8AFF-7B97-17DD-E10D476C82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B6B1A6C9-352E-F0FC-857A-200063A76E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996AEC32-A02D-AF36-A64E-290A392B4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105E1-88D0-4311-A599-0C8A6973053A}" type="datetime1">
              <a:rPr lang="en-US" smtClean="0"/>
              <a:t>1/7/2026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26B0ECF5-F111-F43D-1DD0-2623EE225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3ED8375-499D-DCA7-5D7B-91DD95B7F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511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AE933A4-C03D-26A7-C451-392D04E6A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C339E290-0E60-50DC-3A6D-AFC921C4E8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1DDBB31-5065-A920-BCE3-A6379F318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EA562-091E-45D6-BEDF-3C68FB2023F1}" type="datetime1">
              <a:rPr lang="en-US" smtClean="0"/>
              <a:t>1/7/2026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650F398-CC52-3E67-DDF6-C862313CC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272AE45-AD9E-08FA-1F71-75DFC9E00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351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0AF91D67-8C5B-5055-B5D2-6BAAE7E950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04D31080-7646-1B9C-C36F-D2F6BB874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DA404C4-6EA5-D815-E9B2-7CDBB94E9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14D94-52B8-43E9-A8F3-BD9E24437DA3}" type="datetime1">
              <a:rPr lang="en-US" smtClean="0"/>
              <a:t>1/7/2026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7EFDD0D-44E3-A86F-6F17-A722DA9F5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3E417A5-F8F0-AA31-71DF-34D658498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7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39A89A0B-DE9F-F1C6-643E-DCA32D53C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3953DDAA-3094-DBCE-F38B-123FB91FD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AF0BF9E-5E8A-1649-84DC-281A5BAAC4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BC827E-01D8-46AF-B9E0-11E08B19BA59}" type="datetime1">
              <a:rPr lang="en-US" smtClean="0"/>
              <a:t>1/7/2026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BDEDD1E-16D6-9C67-B90A-3F23927ED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5FC0268-EDD9-BFDA-9A07-5241871BF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367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6127845" y="1400663"/>
            <a:ext cx="13648" cy="532227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126638" y="1038851"/>
            <a:ext cx="10936408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/>
          <p:cNvGrpSpPr/>
          <p:nvPr/>
        </p:nvGrpSpPr>
        <p:grpSpPr>
          <a:xfrm>
            <a:off x="1852829" y="1262164"/>
            <a:ext cx="2443370" cy="837354"/>
            <a:chOff x="1871428" y="3642863"/>
            <a:chExt cx="2443370" cy="837354"/>
          </a:xfrm>
        </p:grpSpPr>
        <p:sp>
          <p:nvSpPr>
            <p:cNvPr id="14" name="TextBox 13">
              <a:hlinkClick r:id="" action="ppaction://noaction"/>
            </p:cNvPr>
            <p:cNvSpPr txBox="1"/>
            <p:nvPr/>
          </p:nvSpPr>
          <p:spPr>
            <a:xfrm>
              <a:off x="1871428" y="3642863"/>
              <a:ext cx="2443370" cy="27699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latin typeface="Bahnschrift Light" pitchFamily="34" charset="0"/>
                  <a:ea typeface="Arial Unicode MS" pitchFamily="34" charset="-128"/>
                  <a:cs typeface="Arial Unicode MS" pitchFamily="34" charset="-128"/>
                </a:rPr>
                <a:t>Gradient Descent</a:t>
              </a:r>
              <a:endParaRPr lang="en-IN" sz="1200" dirty="0">
                <a:latin typeface="Bahnschrift Light" pitchFamily="34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19" name="TextBox 18">
              <a:hlinkClick r:id="" action="ppaction://noaction"/>
            </p:cNvPr>
            <p:cNvSpPr txBox="1"/>
            <p:nvPr/>
          </p:nvSpPr>
          <p:spPr>
            <a:xfrm>
              <a:off x="1871428" y="3919862"/>
              <a:ext cx="2443370" cy="27699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latin typeface="Bahnschrift Light" pitchFamily="34" charset="0"/>
                  <a:ea typeface="Arial Unicode MS" pitchFamily="34" charset="-128"/>
                  <a:cs typeface="Arial Unicode MS" pitchFamily="34" charset="-128"/>
                </a:rPr>
                <a:t>Problem with RNN</a:t>
              </a:r>
              <a:endParaRPr lang="en-IN" sz="1200" dirty="0">
                <a:latin typeface="Bahnschrift Light" pitchFamily="34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20" name="TextBox 19">
              <a:hlinkClick r:id="" action="ppaction://noaction"/>
            </p:cNvPr>
            <p:cNvSpPr txBox="1"/>
            <p:nvPr/>
          </p:nvSpPr>
          <p:spPr>
            <a:xfrm>
              <a:off x="1871428" y="4203218"/>
              <a:ext cx="2443370" cy="27699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latin typeface="Bahnschrift Light" pitchFamily="34" charset="0"/>
                  <a:ea typeface="Arial Unicode MS" pitchFamily="34" charset="-128"/>
                  <a:cs typeface="Arial Unicode MS" pitchFamily="34" charset="-128"/>
                  <a:hlinkClick r:id="" action="ppaction://noaction"/>
                </a:rPr>
                <a:t>LSTM</a:t>
              </a:r>
              <a:endParaRPr lang="en-IN" sz="1200" dirty="0">
                <a:latin typeface="Bahnschrift Light" pitchFamily="34" charset="0"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sp>
        <p:nvSpPr>
          <p:cNvPr id="23" name="Google Shape;143;p1">
            <a:extLst>
              <a:ext uri="{FF2B5EF4-FFF2-40B4-BE49-F238E27FC236}">
                <a16:creationId xmlns:a16="http://schemas.microsoft.com/office/drawing/2014/main" xmlns="" id="{E4949A97-DC03-56A5-2E5A-3DD3913AA0EF}"/>
              </a:ext>
            </a:extLst>
          </p:cNvPr>
          <p:cNvSpPr txBox="1">
            <a:spLocks noGrp="1"/>
          </p:cNvSpPr>
          <p:nvPr/>
        </p:nvSpPr>
        <p:spPr>
          <a:xfrm>
            <a:off x="1852829" y="144072"/>
            <a:ext cx="5775913" cy="644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343F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it-IT" sz="4000" b="1" dirty="0" smtClean="0">
                <a:solidFill>
                  <a:schemeClr val="tx1"/>
                </a:solidFill>
                <a:latin typeface="Segoe UI Black" pitchFamily="34" charset="0"/>
                <a:ea typeface="Segoe UI Black" pitchFamily="34" charset="0"/>
              </a:rPr>
              <a:t>Gradient Descent</a:t>
            </a:r>
          </a:p>
        </p:txBody>
      </p:sp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151" y="1"/>
            <a:ext cx="1903189" cy="1577228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8E4B4487-5609-54AF-1FCA-AB3F6B737A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8918" y="42717"/>
            <a:ext cx="3201582" cy="1240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6229000" y="674834"/>
            <a:ext cx="139974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1200" b="1" dirty="0">
                <a:latin typeface="Segoe UI Black" pitchFamily="34" charset="0"/>
                <a:ea typeface="Segoe UI Black" pitchFamily="34" charset="0"/>
              </a:rPr>
              <a:t>Neural Network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1838" y="1811828"/>
            <a:ext cx="1585690" cy="276999"/>
          </a:xfrm>
          <a:prstGeom prst="rect">
            <a:avLst/>
          </a:prstGeom>
          <a:solidFill>
            <a:srgbClr val="FF6743"/>
          </a:solidFill>
          <a:ln>
            <a:solidFill>
              <a:srgbClr val="FF6743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sz="12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Loss </a:t>
            </a:r>
            <a:r>
              <a:rPr lang="en-US" sz="1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/Cost Function </a:t>
            </a:r>
            <a:endParaRPr lang="en-IN" sz="1200" dirty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616861" y="1581504"/>
            <a:ext cx="1378904" cy="276999"/>
          </a:xfrm>
          <a:prstGeom prst="rect">
            <a:avLst/>
          </a:prstGeom>
          <a:solidFill>
            <a:srgbClr val="FF6743"/>
          </a:solidFill>
          <a:ln>
            <a:solidFill>
              <a:srgbClr val="FF6743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Gradient </a:t>
            </a:r>
            <a:r>
              <a:rPr lang="en-IN" sz="1200" dirty="0" smtClean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Descent</a:t>
            </a:r>
            <a:endParaRPr lang="en-IN" sz="1200" dirty="0">
              <a:solidFill>
                <a:schemeClr val="bg1"/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538918" y="4165517"/>
            <a:ext cx="1396023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en-IN" sz="1400" dirty="0"/>
              <a:t>feed forward NN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19150" y="4142067"/>
            <a:ext cx="766557" cy="307777"/>
          </a:xfrm>
          <a:prstGeom prst="rect">
            <a:avLst/>
          </a:prstGeom>
          <a:solidFill>
            <a:srgbClr val="00CC99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en-IN" sz="1400" dirty="0"/>
              <a:t>Sigmoid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75035" y="2860206"/>
            <a:ext cx="552139" cy="3077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en-IN" sz="1400" dirty="0"/>
              <a:t>TanH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152" y="2690929"/>
            <a:ext cx="498855" cy="27699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en-IN" sz="12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Relu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41469" y="2395426"/>
            <a:ext cx="1308371" cy="307777"/>
          </a:xfrm>
          <a:prstGeom prst="rect">
            <a:avLst/>
          </a:prstGeom>
          <a:solidFill>
            <a:srgbClr val="FF6743"/>
          </a:solidFill>
          <a:ln>
            <a:solidFill>
              <a:srgbClr val="FF674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Learning Rate</a:t>
            </a:r>
            <a:endParaRPr lang="en-IN" sz="1400" dirty="0">
              <a:solidFill>
                <a:schemeClr val="bg1"/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04580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27363" y="241191"/>
            <a:ext cx="1933925" cy="351513"/>
            <a:chOff x="1492971" y="258160"/>
            <a:chExt cx="1933925" cy="351513"/>
          </a:xfrm>
          <a:solidFill>
            <a:schemeClr val="accent5">
              <a:lumMod val="75000"/>
            </a:schemeClr>
          </a:solidFill>
        </p:grpSpPr>
        <p:sp>
          <p:nvSpPr>
            <p:cNvPr id="5" name="Rectangle 4"/>
            <p:cNvSpPr/>
            <p:nvPr/>
          </p:nvSpPr>
          <p:spPr>
            <a:xfrm>
              <a:off x="1492971" y="258160"/>
              <a:ext cx="1869675" cy="323165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500" dirty="0">
                  <a:solidFill>
                    <a:schemeClr val="bg1"/>
                  </a:solidFill>
                  <a:latin typeface="+mj-lt"/>
                  <a:cs typeface="Arial" pitchFamily="34" charset="0"/>
                </a:rPr>
                <a:t>Gradient Descent</a:t>
              </a:r>
              <a:endParaRPr lang="en-IN" sz="1500" dirty="0">
                <a:solidFill>
                  <a:schemeClr val="bg1"/>
                </a:solidFill>
                <a:latin typeface="+mj-lt"/>
                <a:cs typeface="Arial" pitchFamily="34" charset="0"/>
              </a:endParaRPr>
            </a:p>
          </p:txBody>
        </p:sp>
        <p:cxnSp>
          <p:nvCxnSpPr>
            <p:cNvPr id="6" name="Straight Connector 5"/>
            <p:cNvCxnSpPr/>
            <p:nvPr/>
          </p:nvCxnSpPr>
          <p:spPr>
            <a:xfrm>
              <a:off x="1492971" y="609673"/>
              <a:ext cx="1933925" cy="0"/>
            </a:xfrm>
            <a:prstGeom prst="line">
              <a:avLst/>
            </a:prstGeom>
            <a:grpFill/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angle 8"/>
          <p:cNvSpPr/>
          <p:nvPr/>
        </p:nvSpPr>
        <p:spPr>
          <a:xfrm>
            <a:off x="2112831" y="241190"/>
            <a:ext cx="145302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ea typeface="Arial Unicode MS" pitchFamily="34" charset="-128"/>
                <a:cs typeface="Arial Unicode MS" pitchFamily="34" charset="-128"/>
              </a:rPr>
              <a:t>It is an algorithm 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1116" y="643277"/>
            <a:ext cx="1121030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ea typeface="Arial Unicode MS" pitchFamily="34" charset="-128"/>
                <a:cs typeface="Arial Unicode MS" pitchFamily="34" charset="-128"/>
              </a:rPr>
              <a:t>Let try to understand it with an Example. suppose you are my friend and going to attend an mathematics test </a:t>
            </a:r>
            <a:endParaRPr lang="en-IN" sz="1600" dirty="0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1110" y="1102620"/>
            <a:ext cx="357402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ea typeface="Arial Unicode MS" pitchFamily="34" charset="-128"/>
                <a:cs typeface="Arial Unicode MS" pitchFamily="34" charset="-128"/>
              </a:rPr>
              <a:t>in Mathematics | Test Max Marks=50 </a:t>
            </a:r>
            <a:endParaRPr lang="en-IN" sz="1400" dirty="0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05459" y="1617879"/>
            <a:ext cx="706511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ea typeface="Arial Unicode MS" pitchFamily="34" charset="-128"/>
                <a:cs typeface="Arial Unicode MS" pitchFamily="34" charset="-128"/>
              </a:rPr>
              <a:t>After exam done, you come to me and ask me how much mark I get I said - 40 </a:t>
            </a:r>
            <a:endParaRPr lang="en-IN" sz="1400" dirty="0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51116" y="1959321"/>
            <a:ext cx="292503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ea typeface="Arial Unicode MS" pitchFamily="34" charset="-128"/>
                <a:cs typeface="Arial Unicode MS" pitchFamily="34" charset="-128"/>
              </a:rPr>
              <a:t>Then you say no man 40 is too much. </a:t>
            </a:r>
            <a:endParaRPr lang="en-IN" sz="1400" dirty="0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51551" y="2295024"/>
            <a:ext cx="889915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ea typeface="Arial Unicode MS" pitchFamily="34" charset="-128"/>
                <a:cs typeface="Arial Unicode MS" pitchFamily="34" charset="-128"/>
              </a:rPr>
              <a:t>Then again I guess and said 30,</a:t>
            </a:r>
          </a:p>
          <a:p>
            <a:r>
              <a:rPr lang="en-US" sz="1400" dirty="0">
                <a:ea typeface="Arial Unicode MS" pitchFamily="34" charset="-128"/>
                <a:cs typeface="Arial Unicode MS" pitchFamily="34" charset="-128"/>
              </a:rPr>
              <a:t>Then you say no man 30 is too less.</a:t>
            </a:r>
          </a:p>
          <a:p>
            <a:r>
              <a:rPr lang="en-US" sz="1400" dirty="0">
                <a:ea typeface="Arial Unicode MS" pitchFamily="34" charset="-128"/>
                <a:cs typeface="Arial Unicode MS" pitchFamily="34" charset="-128"/>
              </a:rPr>
              <a:t>Then i say 34, then you said "you are very close to answer"</a:t>
            </a:r>
            <a:endParaRPr lang="en-IN" sz="1400" dirty="0">
              <a:ea typeface="Arial Unicode MS" pitchFamily="34" charset="-128"/>
              <a:cs typeface="Arial Unicode MS" pitchFamily="34" charset="-128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419918" y="3536134"/>
            <a:ext cx="11441504" cy="1119658"/>
            <a:chOff x="368490" y="3807302"/>
            <a:chExt cx="11441504" cy="1119658"/>
          </a:xfrm>
        </p:grpSpPr>
        <p:cxnSp>
          <p:nvCxnSpPr>
            <p:cNvPr id="16" name="Straight Connector 15"/>
            <p:cNvCxnSpPr/>
            <p:nvPr/>
          </p:nvCxnSpPr>
          <p:spPr>
            <a:xfrm>
              <a:off x="368490" y="3807302"/>
              <a:ext cx="11441504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" name="Group 18"/>
            <p:cNvGrpSpPr/>
            <p:nvPr/>
          </p:nvGrpSpPr>
          <p:grpSpPr>
            <a:xfrm>
              <a:off x="650255" y="3807302"/>
              <a:ext cx="684803" cy="1119658"/>
              <a:chOff x="8623873" y="1116662"/>
              <a:chExt cx="684803" cy="1119658"/>
            </a:xfrm>
          </p:grpSpPr>
          <p:sp>
            <p:nvSpPr>
              <p:cNvPr id="17" name="TextBox 16"/>
              <p:cNvSpPr txBox="1"/>
              <p:nvPr/>
            </p:nvSpPr>
            <p:spPr>
              <a:xfrm>
                <a:off x="8752113" y="1405323"/>
                <a:ext cx="393056" cy="830997"/>
              </a:xfrm>
              <a:prstGeom prst="rect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dirty="0" smtClean="0"/>
                  <a:t>40</a:t>
                </a:r>
              </a:p>
              <a:p>
                <a:r>
                  <a:rPr lang="en-US" sz="1600" dirty="0" smtClean="0"/>
                  <a:t>30</a:t>
                </a:r>
              </a:p>
              <a:p>
                <a:r>
                  <a:rPr lang="en-US" sz="1600" dirty="0" smtClean="0"/>
                  <a:t>34</a:t>
                </a:r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8623873" y="1116662"/>
                <a:ext cx="684803" cy="338554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dirty="0" smtClean="0"/>
                  <a:t>Guess</a:t>
                </a:r>
                <a:endParaRPr lang="en-IN" sz="1600" dirty="0"/>
              </a:p>
            </p:txBody>
          </p:sp>
        </p:grpSp>
      </p:grpSp>
      <p:sp>
        <p:nvSpPr>
          <p:cNvPr id="21" name="Rectangle 20"/>
          <p:cNvSpPr/>
          <p:nvPr/>
        </p:nvSpPr>
        <p:spPr>
          <a:xfrm>
            <a:off x="1565880" y="3655518"/>
            <a:ext cx="432111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dirty="0" smtClean="0"/>
              <a:t>This is exact how gradient descent work internally</a:t>
            </a:r>
            <a:endParaRPr lang="en-IN" sz="1600" dirty="0"/>
          </a:p>
        </p:txBody>
      </p:sp>
      <p:sp>
        <p:nvSpPr>
          <p:cNvPr id="22" name="Rectangle 21"/>
          <p:cNvSpPr/>
          <p:nvPr/>
        </p:nvSpPr>
        <p:spPr>
          <a:xfrm>
            <a:off x="1646214" y="4071016"/>
            <a:ext cx="1017677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So in </a:t>
            </a:r>
            <a:r>
              <a:rPr lang="en-US" sz="1600" dirty="0" smtClean="0"/>
              <a:t>Gradient Descent</a:t>
            </a:r>
            <a:r>
              <a:rPr lang="en-US" sz="1600" i="1" dirty="0" smtClean="0">
                <a:solidFill>
                  <a:srgbClr val="0070C0"/>
                </a:solidFill>
              </a:rPr>
              <a:t> </a:t>
            </a:r>
            <a:r>
              <a:rPr lang="en-US" sz="1600" i="1" dirty="0">
                <a:solidFill>
                  <a:srgbClr val="0070C0"/>
                </a:solidFill>
              </a:rPr>
              <a:t>we </a:t>
            </a:r>
            <a:r>
              <a:rPr lang="en-US" sz="1600" i="1" dirty="0" smtClean="0">
                <a:solidFill>
                  <a:srgbClr val="0070C0"/>
                </a:solidFill>
              </a:rPr>
              <a:t>start </a:t>
            </a:r>
            <a:r>
              <a:rPr lang="en-US" sz="1600" i="1" dirty="0">
                <a:solidFill>
                  <a:srgbClr val="0070C0"/>
                </a:solidFill>
              </a:rPr>
              <a:t>with a random </a:t>
            </a:r>
            <a:r>
              <a:rPr lang="en-US" sz="1600" i="1" dirty="0" smtClean="0">
                <a:solidFill>
                  <a:srgbClr val="0070C0"/>
                </a:solidFill>
              </a:rPr>
              <a:t>guess</a:t>
            </a:r>
            <a:r>
              <a:rPr lang="en-US" sz="1600" dirty="0" smtClean="0"/>
              <a:t>, then </a:t>
            </a:r>
            <a:r>
              <a:rPr lang="en-US" sz="1600" dirty="0"/>
              <a:t>we slowly move to the right answer or the </a:t>
            </a:r>
            <a:r>
              <a:rPr lang="en-US" sz="1600" dirty="0" smtClean="0"/>
              <a:t>best </a:t>
            </a:r>
            <a:r>
              <a:rPr lang="en-US" sz="1600" dirty="0"/>
              <a:t>answer </a:t>
            </a:r>
            <a:endParaRPr lang="en-IN" sz="1600" dirty="0"/>
          </a:p>
        </p:txBody>
      </p:sp>
      <p:sp>
        <p:nvSpPr>
          <p:cNvPr id="23" name="Rectangle 22"/>
          <p:cNvSpPr/>
          <p:nvPr/>
        </p:nvSpPr>
        <p:spPr>
          <a:xfrm>
            <a:off x="2954673" y="4431647"/>
            <a:ext cx="124295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/>
              <a:t>40 ↓ -10</a:t>
            </a:r>
          </a:p>
          <a:p>
            <a:r>
              <a:rPr lang="en-IN" sz="1600" dirty="0"/>
              <a:t>30 ↓ +5</a:t>
            </a:r>
          </a:p>
          <a:p>
            <a:r>
              <a:rPr lang="en-IN" sz="1600" dirty="0"/>
              <a:t>35 ↓ 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547158" y="5431809"/>
            <a:ext cx="11418219" cy="2729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/>
          <p:cNvGrpSpPr/>
          <p:nvPr/>
        </p:nvGrpSpPr>
        <p:grpSpPr>
          <a:xfrm>
            <a:off x="1841890" y="5660408"/>
            <a:ext cx="7503594" cy="329019"/>
            <a:chOff x="1222979" y="5624232"/>
            <a:chExt cx="7503594" cy="329019"/>
          </a:xfrm>
        </p:grpSpPr>
        <p:sp>
          <p:nvSpPr>
            <p:cNvPr id="8" name="Rectangle 7"/>
            <p:cNvSpPr/>
            <p:nvPr/>
          </p:nvSpPr>
          <p:spPr>
            <a:xfrm>
              <a:off x="3677497" y="5630086"/>
              <a:ext cx="5049076" cy="323165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500" dirty="0" smtClean="0"/>
                <a:t>Minimize the </a:t>
              </a:r>
              <a:r>
                <a:rPr lang="en-US" sz="1500" b="1" dirty="0"/>
                <a:t>cost </a:t>
              </a:r>
              <a:r>
                <a:rPr lang="en-US" sz="1500" b="1" dirty="0" smtClean="0"/>
                <a:t>function</a:t>
              </a:r>
              <a:r>
                <a:rPr lang="en-US" sz="1500" dirty="0" smtClean="0"/>
                <a:t>, </a:t>
              </a:r>
              <a:r>
                <a:rPr lang="en-US" sz="1500" dirty="0"/>
                <a:t>which measures prediction error.</a:t>
              </a:r>
              <a:endParaRPr lang="en-IN" sz="1500" dirty="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222979" y="5624232"/>
              <a:ext cx="2454518" cy="323165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>
              <a:spAutoFit/>
            </a:bodyPr>
            <a:lstStyle/>
            <a:p>
              <a:r>
                <a:rPr lang="en-US" sz="1500" dirty="0">
                  <a:latin typeface="Arial Unicode MS" pitchFamily="34" charset="-128"/>
                  <a:ea typeface="Arial Unicode MS" pitchFamily="34" charset="-128"/>
                  <a:cs typeface="Arial Unicode MS" pitchFamily="34" charset="-128"/>
                </a:rPr>
                <a:t>Gradient Descent Purpose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48567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3557" y="184505"/>
            <a:ext cx="1083425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So the Common </a:t>
            </a:r>
            <a:r>
              <a:rPr lang="en-US" sz="1600" dirty="0" smtClean="0"/>
              <a:t>formula </a:t>
            </a:r>
            <a:r>
              <a:rPr lang="en-US" sz="1600" dirty="0"/>
              <a:t>for </a:t>
            </a:r>
            <a:r>
              <a:rPr lang="en-US" sz="1600" dirty="0" smtClean="0"/>
              <a:t>Parameter </a:t>
            </a:r>
            <a:r>
              <a:rPr lang="en-US" sz="1600" dirty="0"/>
              <a:t>optimization in gradient descent look like as below</a:t>
            </a:r>
            <a:endParaRPr lang="en-IN" sz="1600" dirty="0"/>
          </a:p>
        </p:txBody>
      </p:sp>
      <p:grpSp>
        <p:nvGrpSpPr>
          <p:cNvPr id="8" name="Group 7"/>
          <p:cNvGrpSpPr/>
          <p:nvPr/>
        </p:nvGrpSpPr>
        <p:grpSpPr>
          <a:xfrm>
            <a:off x="2408410" y="881218"/>
            <a:ext cx="7448266" cy="507831"/>
            <a:chOff x="2394053" y="572931"/>
            <a:chExt cx="7448266" cy="507831"/>
          </a:xfrm>
        </p:grpSpPr>
        <p:sp>
          <p:nvSpPr>
            <p:cNvPr id="3" name="Rectangle 2"/>
            <p:cNvSpPr/>
            <p:nvPr/>
          </p:nvSpPr>
          <p:spPr>
            <a:xfrm>
              <a:off x="2394053" y="572931"/>
              <a:ext cx="295927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/>
                <a:t>New Value = </a:t>
              </a:r>
              <a:r>
                <a:rPr lang="en-US" sz="1600" dirty="0" smtClean="0"/>
                <a:t>Old Value </a:t>
              </a:r>
              <a:r>
                <a:rPr lang="en-US" sz="1600" dirty="0"/>
                <a:t>- </a:t>
              </a:r>
              <a:r>
                <a:rPr lang="en-US" sz="1600" dirty="0" smtClean="0"/>
                <a:t>Step </a:t>
              </a:r>
              <a:r>
                <a:rPr lang="en-US" sz="1600" dirty="0"/>
                <a:t>Size</a:t>
              </a:r>
              <a:endParaRPr lang="en-IN" sz="1600" dirty="0"/>
            </a:p>
          </p:txBody>
        </p:sp>
        <p:cxnSp>
          <p:nvCxnSpPr>
            <p:cNvPr id="6" name="Straight Arrow Connector 5"/>
            <p:cNvCxnSpPr/>
            <p:nvPr/>
          </p:nvCxnSpPr>
          <p:spPr>
            <a:xfrm>
              <a:off x="5353325" y="752833"/>
              <a:ext cx="1218099" cy="203338"/>
            </a:xfrm>
            <a:prstGeom prst="straightConnector1">
              <a:avLst/>
            </a:prstGeom>
            <a:ln w="57150">
              <a:solidFill>
                <a:srgbClr val="00206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6571424" y="742208"/>
              <a:ext cx="327089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How much you want to move or shift</a:t>
              </a:r>
              <a:endParaRPr lang="en-IN" sz="1600" dirty="0"/>
            </a:p>
          </p:txBody>
        </p:sp>
      </p:grpSp>
      <p:sp>
        <p:nvSpPr>
          <p:cNvPr id="9" name="Rectangle 8"/>
          <p:cNvSpPr/>
          <p:nvPr/>
        </p:nvSpPr>
        <p:spPr>
          <a:xfrm>
            <a:off x="746122" y="2184348"/>
            <a:ext cx="924311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/>
              <a:t>This stepsize </a:t>
            </a:r>
            <a:r>
              <a:rPr lang="en-US" sz="1600" dirty="0"/>
              <a:t>in world of gradient descent in term of mathematical formula is known as "Learning Rate*Slope" </a:t>
            </a:r>
            <a:endParaRPr lang="en-IN" sz="1600" dirty="0"/>
          </a:p>
        </p:txBody>
      </p:sp>
      <p:sp>
        <p:nvSpPr>
          <p:cNvPr id="10" name="Rectangle 9"/>
          <p:cNvSpPr/>
          <p:nvPr/>
        </p:nvSpPr>
        <p:spPr>
          <a:xfrm>
            <a:off x="3725581" y="2758678"/>
            <a:ext cx="1753493" cy="323165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wrap="none">
            <a:spAutoFit/>
          </a:bodyPr>
          <a:lstStyle/>
          <a:p>
            <a:r>
              <a:rPr lang="en-IN" sz="1500" dirty="0">
                <a:solidFill>
                  <a:schemeClr val="bg1"/>
                </a:solidFill>
                <a:latin typeface="+mj-lt"/>
                <a:cs typeface="Arial" pitchFamily="34" charset="0"/>
              </a:rPr>
              <a:t>Learning Rate*Slope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44186" y="1622075"/>
            <a:ext cx="1070362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New value is updated version of old value adjusted against something </a:t>
            </a:r>
            <a:r>
              <a:rPr lang="en-US" sz="1600" dirty="0" smtClean="0"/>
              <a:t> </a:t>
            </a:r>
            <a:r>
              <a:rPr lang="en-US" sz="1600" dirty="0" smtClean="0">
                <a:solidFill>
                  <a:srgbClr val="FF4B21"/>
                </a:solidFill>
                <a:latin typeface="Bahnschrift SemiLight" pitchFamily="34" charset="0"/>
              </a:rPr>
              <a:t>this </a:t>
            </a:r>
            <a:r>
              <a:rPr lang="en-US" sz="1600" dirty="0">
                <a:solidFill>
                  <a:srgbClr val="FF4B21"/>
                </a:solidFill>
                <a:latin typeface="Bahnschrift SemiLight" pitchFamily="34" charset="0"/>
              </a:rPr>
              <a:t>is called </a:t>
            </a:r>
            <a:r>
              <a:rPr lang="en-US" sz="1600" dirty="0" smtClean="0">
                <a:solidFill>
                  <a:srgbClr val="FF4B21"/>
                </a:solidFill>
                <a:latin typeface="Bahnschrift SemiLight" pitchFamily="34" charset="0"/>
              </a:rPr>
              <a:t>Stepsize</a:t>
            </a:r>
            <a:endParaRPr lang="en-IN" sz="1600" dirty="0">
              <a:solidFill>
                <a:srgbClr val="FF4B21"/>
              </a:solidFill>
              <a:latin typeface="Bahnschrift Semi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9557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6877" y="1000451"/>
            <a:ext cx="11958454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dirty="0"/>
              <a:t>Suppose I guessed a number, say 52. ​​Then I asked you to guess which number I had chosen between 0 and 100. Suppose you said 30. That's quite far off.</a:t>
            </a:r>
          </a:p>
          <a:p>
            <a:r>
              <a:rPr lang="en-US" sz="1500" dirty="0"/>
              <a:t>There’s a difference between them, then you said 40, still quite a difference but less than before. Then you said, suppose 45, so the difference got even smaller. Then you said 50, and the difference got smaller again. I said, yeah, now you’re guessing totally right, that number is really close to what I was thinking. </a:t>
            </a:r>
            <a:endParaRPr lang="en-US" sz="1500" dirty="0" smtClean="0"/>
          </a:p>
          <a:p>
            <a:endParaRPr lang="en-US" sz="1500" dirty="0"/>
          </a:p>
          <a:p>
            <a:r>
              <a:rPr lang="en-US" sz="1500" dirty="0" smtClean="0"/>
              <a:t>So </a:t>
            </a:r>
            <a:r>
              <a:rPr lang="en-US" sz="1500" dirty="0"/>
              <a:t>here, the error keeps getting smaller. That’s exactly what gradient descent does — it works to reduce the error between your actual value, which was 52, and your guessed value, meaning the predicted value</a:t>
            </a:r>
            <a:r>
              <a:rPr lang="en-US" sz="1500" dirty="0" smtClean="0"/>
              <a:t>.</a:t>
            </a:r>
          </a:p>
          <a:p>
            <a:endParaRPr lang="en-US" sz="1500" dirty="0"/>
          </a:p>
          <a:p>
            <a:r>
              <a:rPr lang="en-US" sz="1500" dirty="0" smtClean="0"/>
              <a:t> </a:t>
            </a:r>
            <a:r>
              <a:rPr lang="en-US" sz="1500" dirty="0"/>
              <a:t>Gradient descent helps to minimize the error between the actual and predicted values.</a:t>
            </a:r>
            <a:endParaRPr lang="en-IN" sz="1500" dirty="0"/>
          </a:p>
        </p:txBody>
      </p:sp>
      <p:grpSp>
        <p:nvGrpSpPr>
          <p:cNvPr id="6" name="Group 5"/>
          <p:cNvGrpSpPr/>
          <p:nvPr/>
        </p:nvGrpSpPr>
        <p:grpSpPr>
          <a:xfrm>
            <a:off x="106877" y="477330"/>
            <a:ext cx="2006929" cy="323165"/>
            <a:chOff x="95003" y="646607"/>
            <a:chExt cx="2006929" cy="323165"/>
          </a:xfrm>
        </p:grpSpPr>
        <p:sp>
          <p:nvSpPr>
            <p:cNvPr id="3" name="TextBox 2"/>
            <p:cNvSpPr txBox="1"/>
            <p:nvPr/>
          </p:nvSpPr>
          <p:spPr>
            <a:xfrm>
              <a:off x="201880" y="646607"/>
              <a:ext cx="990399" cy="323165"/>
            </a:xfrm>
            <a:prstGeom prst="rect">
              <a:avLst/>
            </a:prstGeom>
            <a:solidFill>
              <a:schemeClr val="accent1"/>
            </a:solidFill>
          </p:spPr>
          <p:txBody>
            <a:bodyPr wrap="none" rtlCol="0">
              <a:spAutoFit/>
            </a:bodyPr>
            <a:lstStyle/>
            <a:p>
              <a:r>
                <a:rPr lang="en-US" sz="1500" dirty="0" smtClean="0">
                  <a:solidFill>
                    <a:schemeClr val="bg1"/>
                  </a:solidFill>
                  <a:latin typeface="+mj-lt"/>
                  <a:cs typeface="Arial" pitchFamily="34" charset="0"/>
                </a:rPr>
                <a:t>Example-1</a:t>
              </a:r>
              <a:endParaRPr lang="en-IN" sz="1500" dirty="0">
                <a:solidFill>
                  <a:schemeClr val="bg1"/>
                </a:solidFill>
                <a:latin typeface="+mj-lt"/>
                <a:cs typeface="Arial" pitchFamily="34" charset="0"/>
              </a:endParaRPr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95003" y="954384"/>
              <a:ext cx="200692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953" y="3319648"/>
            <a:ext cx="3714750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2232" y="4290456"/>
            <a:ext cx="2981325" cy="981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485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03761" y="1055685"/>
            <a:ext cx="11554691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dirty="0"/>
              <a:t>Imagine you have to climb down a mountain at night. It’s dark, and you only have a torch that lights up just a small area around your feet. You move slowly, step by step, carefully checking the ground to avoid stones or pits. In this way, you eventually reach the bottom safely</a:t>
            </a:r>
            <a:r>
              <a:rPr lang="en-US" sz="1500" dirty="0" smtClean="0"/>
              <a:t>.</a:t>
            </a:r>
          </a:p>
          <a:p>
            <a:endParaRPr lang="en-US" sz="1500" dirty="0"/>
          </a:p>
          <a:p>
            <a:r>
              <a:rPr lang="en-US" sz="1500" dirty="0"/>
              <a:t>In machine learning, the gradient descent algorithm works in a similar manner. It takes small, gradual steps to minimize the loss function, guiding the model toward the best possible solution</a:t>
            </a:r>
            <a:endParaRPr lang="en-US" sz="1500" dirty="0">
              <a:effectLst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1721" y="2397183"/>
            <a:ext cx="2481013" cy="41461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1092" y="2397183"/>
            <a:ext cx="2810772" cy="41461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6" name="Group 5"/>
          <p:cNvGrpSpPr/>
          <p:nvPr/>
        </p:nvGrpSpPr>
        <p:grpSpPr>
          <a:xfrm>
            <a:off x="0" y="485024"/>
            <a:ext cx="1852551" cy="323165"/>
            <a:chOff x="0" y="485024"/>
            <a:chExt cx="1852551" cy="323165"/>
          </a:xfrm>
        </p:grpSpPr>
        <p:sp>
          <p:nvSpPr>
            <p:cNvPr id="2" name="TextBox 1"/>
            <p:cNvSpPr txBox="1"/>
            <p:nvPr/>
          </p:nvSpPr>
          <p:spPr>
            <a:xfrm>
              <a:off x="201880" y="485024"/>
              <a:ext cx="990399" cy="323165"/>
            </a:xfrm>
            <a:prstGeom prst="rect">
              <a:avLst/>
            </a:prstGeom>
            <a:solidFill>
              <a:schemeClr val="accent1"/>
            </a:solidFill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/>
                  </a:solidFill>
                  <a:latin typeface="+mj-lt"/>
                  <a:cs typeface="Arial" pitchFamily="34" charset="0"/>
                </a:rPr>
                <a:t>Example-2</a:t>
              </a:r>
              <a:endParaRPr lang="en-IN" sz="1500" dirty="0">
                <a:solidFill>
                  <a:schemeClr val="bg1"/>
                </a:solidFill>
                <a:latin typeface="+mj-lt"/>
                <a:cs typeface="Arial" pitchFamily="34" charset="0"/>
              </a:endParaRPr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0" y="808189"/>
              <a:ext cx="185255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79223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3074036" y="43826"/>
            <a:ext cx="2575065" cy="338554"/>
            <a:chOff x="2197300" y="380010"/>
            <a:chExt cx="2575065" cy="338554"/>
          </a:xfrm>
        </p:grpSpPr>
        <p:sp>
          <p:nvSpPr>
            <p:cNvPr id="2" name="TextBox 1"/>
            <p:cNvSpPr txBox="1"/>
            <p:nvPr/>
          </p:nvSpPr>
          <p:spPr>
            <a:xfrm>
              <a:off x="2197300" y="380010"/>
              <a:ext cx="8915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latin typeface="Arial" pitchFamily="34" charset="0"/>
                  <a:cs typeface="Arial" pitchFamily="34" charset="0"/>
                </a:rPr>
                <a:t>Descent </a:t>
              </a:r>
              <a:endParaRPr lang="en-IN" sz="14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" name="Rectangle 2"/>
            <p:cNvSpPr/>
            <p:nvPr/>
          </p:nvSpPr>
          <p:spPr>
            <a:xfrm>
              <a:off x="3191483" y="382380"/>
              <a:ext cx="158088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hi-IN" sz="1400" dirty="0" smtClean="0"/>
                <a:t>नीचे</a:t>
              </a:r>
              <a:r>
                <a:rPr lang="en-US" sz="1400" dirty="0" smtClean="0"/>
                <a:t> </a:t>
              </a:r>
              <a:r>
                <a:rPr lang="hi-IN" sz="1400" dirty="0" smtClean="0"/>
                <a:t>(खाई </a:t>
              </a:r>
              <a:r>
                <a:rPr lang="hi-IN" sz="1400" dirty="0"/>
                <a:t>की तरफ</a:t>
              </a:r>
              <a:r>
                <a:rPr lang="hi-IN" sz="1400" dirty="0" smtClean="0"/>
                <a:t>)</a:t>
              </a:r>
              <a:endParaRPr lang="en-IN" sz="1400" dirty="0"/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3121538" y="380010"/>
              <a:ext cx="0" cy="338554"/>
            </a:xfrm>
            <a:prstGeom prst="line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/>
        </p:nvGrpSpPr>
        <p:grpSpPr>
          <a:xfrm>
            <a:off x="2971171" y="483543"/>
            <a:ext cx="2809218" cy="342109"/>
            <a:chOff x="3070326" y="478211"/>
            <a:chExt cx="2809218" cy="342109"/>
          </a:xfrm>
        </p:grpSpPr>
        <p:grpSp>
          <p:nvGrpSpPr>
            <p:cNvPr id="10" name="Group 9"/>
            <p:cNvGrpSpPr/>
            <p:nvPr/>
          </p:nvGrpSpPr>
          <p:grpSpPr>
            <a:xfrm>
              <a:off x="3070326" y="479396"/>
              <a:ext cx="2809218" cy="340924"/>
              <a:chOff x="2112226" y="380010"/>
              <a:chExt cx="2809218" cy="340924"/>
            </a:xfrm>
          </p:grpSpPr>
          <p:sp>
            <p:nvSpPr>
              <p:cNvPr id="11" name="TextBox 10"/>
              <p:cNvSpPr txBox="1"/>
              <p:nvPr/>
            </p:nvSpPr>
            <p:spPr>
              <a:xfrm>
                <a:off x="2112226" y="380010"/>
                <a:ext cx="92685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 smtClean="0">
                    <a:latin typeface="Arial" pitchFamily="34" charset="0"/>
                    <a:cs typeface="Arial" pitchFamily="34" charset="0"/>
                  </a:rPr>
                  <a:t>Iteration</a:t>
                </a:r>
                <a:endParaRPr lang="en-IN" sz="1600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3191483" y="382380"/>
                <a:ext cx="1729961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dirty="0">
                    <a:latin typeface="Arial" pitchFamily="34" charset="0"/>
                    <a:cs typeface="Arial" pitchFamily="34" charset="0"/>
                  </a:rPr>
                  <a:t>[ Iteration /Error ]</a:t>
                </a:r>
                <a:endParaRPr lang="en-IN" sz="1600" dirty="0"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14" name="TextBox 13"/>
            <p:cNvSpPr txBox="1"/>
            <p:nvPr/>
          </p:nvSpPr>
          <p:spPr>
            <a:xfrm>
              <a:off x="3855661" y="478211"/>
              <a:ext cx="42511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itchFamily="34" charset="0"/>
                  <a:cs typeface="Arial" pitchFamily="34" charset="0"/>
                </a:rPr>
                <a:t>==</a:t>
              </a:r>
              <a:endParaRPr lang="en-IN" sz="1600" dirty="0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6" name="Rectangle 15"/>
          <p:cNvSpPr/>
          <p:nvPr/>
        </p:nvSpPr>
        <p:spPr>
          <a:xfrm>
            <a:off x="492384" y="1078860"/>
            <a:ext cx="4646528" cy="323165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500" b="1" dirty="0" smtClean="0">
                <a:solidFill>
                  <a:schemeClr val="accent1"/>
                </a:solidFill>
              </a:rPr>
              <a:t>#</a:t>
            </a:r>
            <a:r>
              <a:rPr lang="en-US" sz="1500" b="1" dirty="0" smtClean="0">
                <a:solidFill>
                  <a:srgbClr val="FF6743"/>
                </a:solidFill>
              </a:rPr>
              <a:t> </a:t>
            </a:r>
            <a:r>
              <a:rPr lang="en-US" sz="1500" dirty="0" smtClean="0"/>
              <a:t>This </a:t>
            </a:r>
            <a:r>
              <a:rPr lang="en-US" sz="1500" dirty="0"/>
              <a:t>GD algorithm is also called delta function</a:t>
            </a:r>
            <a:endParaRPr lang="en-IN" sz="1500" dirty="0"/>
          </a:p>
        </p:txBody>
      </p:sp>
      <p:sp>
        <p:nvSpPr>
          <p:cNvPr id="17" name="Rectangle 16"/>
          <p:cNvSpPr/>
          <p:nvPr/>
        </p:nvSpPr>
        <p:spPr>
          <a:xfrm>
            <a:off x="492384" y="1430878"/>
            <a:ext cx="4646528" cy="323165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sz="1500" b="1" dirty="0">
                <a:solidFill>
                  <a:schemeClr val="accent1"/>
                </a:solidFill>
              </a:rPr>
              <a:t>#</a:t>
            </a:r>
            <a:r>
              <a:rPr lang="en-US" sz="1500" dirty="0"/>
              <a:t> GD is most used algorithm for training Neural Networks</a:t>
            </a:r>
            <a:endParaRPr lang="en-IN" sz="1500" dirty="0"/>
          </a:p>
        </p:txBody>
      </p:sp>
      <p:sp>
        <p:nvSpPr>
          <p:cNvPr id="19" name="Rectangle 18"/>
          <p:cNvSpPr/>
          <p:nvPr/>
        </p:nvSpPr>
        <p:spPr>
          <a:xfrm>
            <a:off x="3898028" y="3447412"/>
            <a:ext cx="3556295" cy="73866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sz="1400" dirty="0"/>
              <a:t>N​ew </a:t>
            </a:r>
            <a:r>
              <a:rPr lang="en-US" sz="1400" dirty="0" smtClean="0"/>
              <a:t>Value </a:t>
            </a:r>
            <a:r>
              <a:rPr lang="en-US" sz="1400" dirty="0"/>
              <a:t>= </a:t>
            </a:r>
            <a:r>
              <a:rPr lang="en-US" sz="1400" dirty="0" smtClean="0"/>
              <a:t>Old Value </a:t>
            </a:r>
            <a:r>
              <a:rPr lang="en-US" sz="1400" dirty="0"/>
              <a:t>- Slope x Learning Rate </a:t>
            </a:r>
            <a:endParaRPr lang="en-US" sz="1400" dirty="0" smtClean="0"/>
          </a:p>
          <a:p>
            <a:endParaRPr lang="en-US" sz="1400" dirty="0"/>
          </a:p>
          <a:p>
            <a:r>
              <a:rPr lang="en-US" sz="1400" dirty="0"/>
              <a:t> </a:t>
            </a:r>
            <a:r>
              <a:rPr lang="en-US" sz="1400" dirty="0" smtClean="0"/>
              <a:t>                  = </a:t>
            </a:r>
            <a:r>
              <a:rPr lang="en-US" sz="1400" dirty="0"/>
              <a:t>2 - 2(x) x .1 2</a:t>
            </a:r>
            <a:endParaRPr lang="en-IN" sz="14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8028" y="2580161"/>
            <a:ext cx="2486025" cy="723900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9" name="Group 8"/>
          <p:cNvGrpSpPr/>
          <p:nvPr/>
        </p:nvGrpSpPr>
        <p:grpSpPr>
          <a:xfrm>
            <a:off x="492383" y="1904402"/>
            <a:ext cx="8710993" cy="307777"/>
            <a:chOff x="492383" y="1904402"/>
            <a:chExt cx="8710993" cy="307777"/>
          </a:xfrm>
        </p:grpSpPr>
        <p:sp>
          <p:nvSpPr>
            <p:cNvPr id="18" name="Rectangle 17"/>
            <p:cNvSpPr/>
            <p:nvPr/>
          </p:nvSpPr>
          <p:spPr>
            <a:xfrm>
              <a:off x="492383" y="1904402"/>
              <a:ext cx="8710993" cy="30777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9525">
              <a:solidFill>
                <a:srgbClr val="00D05E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400" dirty="0" smtClean="0"/>
                <a:t> </a:t>
              </a:r>
              <a:r>
                <a:rPr lang="en-US" sz="1400" dirty="0"/>
                <a:t>T</a:t>
              </a:r>
              <a:r>
                <a:rPr lang="en-US" sz="1400" dirty="0" smtClean="0"/>
                <a:t>his also an optimization </a:t>
              </a:r>
              <a:r>
                <a:rPr lang="en-US" sz="1400" dirty="0"/>
                <a:t>algo. that is used to </a:t>
              </a:r>
              <a:r>
                <a:rPr lang="en-US" sz="1400" dirty="0" smtClean="0"/>
                <a:t>that </a:t>
              </a:r>
              <a:r>
                <a:rPr lang="en-US" sz="1400" dirty="0"/>
                <a:t>minimize </a:t>
              </a:r>
              <a:r>
                <a:rPr lang="en-US" sz="1400" dirty="0" smtClean="0"/>
                <a:t>to cost/loss function by changing parameters</a:t>
              </a:r>
              <a:endParaRPr lang="en-IN" sz="1400" dirty="0"/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492384" y="1904402"/>
              <a:ext cx="0" cy="307777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44149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Navigating the Future of Learning​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619984" y="335563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3200" dirty="0">
                <a:solidFill>
                  <a:srgbClr val="00B0F0"/>
                </a:solidFill>
                <a:latin typeface="Bahnschrift" pitchFamily="34" charset="0"/>
                <a:ea typeface="Arial Unicode MS" pitchFamily="34" charset="-128"/>
                <a:cs typeface="Arial Unicode MS" pitchFamily="34" charset="-128"/>
              </a:rPr>
              <a:t>Gradient </a:t>
            </a:r>
            <a:r>
              <a:rPr lang="en-IN" sz="3200" dirty="0" smtClean="0">
                <a:solidFill>
                  <a:srgbClr val="00B0F0"/>
                </a:solidFill>
                <a:latin typeface="Bahnschrift" pitchFamily="34" charset="0"/>
                <a:ea typeface="Arial Unicode MS" pitchFamily="34" charset="-128"/>
                <a:cs typeface="Arial Unicode MS" pitchFamily="34" charset="-128"/>
              </a:rPr>
              <a:t>Descent</a:t>
            </a:r>
            <a:endParaRPr lang="en-IN" sz="3200" dirty="0">
              <a:solidFill>
                <a:srgbClr val="00B0F0"/>
              </a:solidFill>
              <a:latin typeface="Bahnschrift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1322181" y="1435528"/>
            <a:ext cx="10869819" cy="926683"/>
            <a:chOff x="1654751" y="1748939"/>
            <a:chExt cx="10869819" cy="926683"/>
          </a:xfrm>
        </p:grpSpPr>
        <p:grpSp>
          <p:nvGrpSpPr>
            <p:cNvPr id="11" name="Group 10"/>
            <p:cNvGrpSpPr/>
            <p:nvPr/>
          </p:nvGrpSpPr>
          <p:grpSpPr>
            <a:xfrm>
              <a:off x="1654751" y="1748939"/>
              <a:ext cx="10869819" cy="369333"/>
              <a:chOff x="1654751" y="1748939"/>
              <a:chExt cx="10869819" cy="369333"/>
            </a:xfrm>
          </p:grpSpPr>
          <p:sp>
            <p:nvSpPr>
              <p:cNvPr id="6" name="Rectangle 5"/>
              <p:cNvSpPr/>
              <p:nvPr/>
            </p:nvSpPr>
            <p:spPr>
              <a:xfrm>
                <a:off x="1654751" y="1748940"/>
                <a:ext cx="3770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N" dirty="0"/>
                  <a:t>▶</a:t>
                </a:r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2031777" y="1748939"/>
                <a:ext cx="10492793" cy="3231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500" dirty="0"/>
                  <a:t>Gradient descent is an iterative optimization algorithm to find the minimum of a function. Here that function is our Loss Function.</a:t>
                </a:r>
                <a:endParaRPr lang="en-IN" sz="1500" dirty="0"/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1654751" y="2152402"/>
              <a:ext cx="10410579" cy="523220"/>
              <a:chOff x="1654751" y="2152402"/>
              <a:chExt cx="10410579" cy="523220"/>
            </a:xfrm>
          </p:grpSpPr>
          <p:sp>
            <p:nvSpPr>
              <p:cNvPr id="8" name="Rectangle 7"/>
              <p:cNvSpPr/>
              <p:nvPr/>
            </p:nvSpPr>
            <p:spPr>
              <a:xfrm>
                <a:off x="2031778" y="2152402"/>
                <a:ext cx="1003355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400" dirty="0"/>
                  <a:t>The main aim of gradient descent is to find the best parameters of a model which gives the highest accuracy on training as well as testing datasets and less error</a:t>
                </a:r>
                <a:endParaRPr lang="en-IN" sz="1400" dirty="0"/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1654751" y="2229346"/>
                <a:ext cx="3770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N" dirty="0"/>
                  <a:t>▶</a:t>
                </a:r>
              </a:p>
            </p:txBody>
          </p:sp>
        </p:grpSp>
      </p:grpSp>
      <p:sp>
        <p:nvSpPr>
          <p:cNvPr id="31" name="Rectangle 30"/>
          <p:cNvSpPr/>
          <p:nvPr/>
        </p:nvSpPr>
        <p:spPr>
          <a:xfrm>
            <a:off x="1535673" y="3064864"/>
            <a:ext cx="532607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/>
              <a:t>Minimizing the cost function, loss function or error function:</a:t>
            </a:r>
            <a:endParaRPr lang="en-IN" sz="1600" b="1" dirty="0"/>
          </a:p>
        </p:txBody>
      </p:sp>
      <p:sp>
        <p:nvSpPr>
          <p:cNvPr id="32" name="Rectangle 31"/>
          <p:cNvSpPr/>
          <p:nvPr/>
        </p:nvSpPr>
        <p:spPr>
          <a:xfrm>
            <a:off x="2064756" y="3709559"/>
            <a:ext cx="970609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sz="1600" dirty="0"/>
              <a:t>The objective is to learn the values of parameters (aka feature weights) that minimize the cost function.</a:t>
            </a:r>
            <a:endParaRPr lang="en-IN" sz="1600" dirty="0"/>
          </a:p>
        </p:txBody>
      </p:sp>
      <p:sp>
        <p:nvSpPr>
          <p:cNvPr id="33" name="Rectangle 32"/>
          <p:cNvSpPr/>
          <p:nvPr/>
        </p:nvSpPr>
        <p:spPr>
          <a:xfrm>
            <a:off x="2064755" y="4066364"/>
            <a:ext cx="983672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sz="1600" dirty="0"/>
              <a:t>Most widely used optimization technique to minimize the loss is called the Gradient Descent.</a:t>
            </a:r>
            <a:endParaRPr lang="en-IN" sz="1600" dirty="0"/>
          </a:p>
        </p:txBody>
      </p:sp>
      <p:grpSp>
        <p:nvGrpSpPr>
          <p:cNvPr id="34" name="Group 33"/>
          <p:cNvGrpSpPr/>
          <p:nvPr/>
        </p:nvGrpSpPr>
        <p:grpSpPr>
          <a:xfrm>
            <a:off x="3537354" y="4884890"/>
            <a:ext cx="4583875" cy="845882"/>
            <a:chOff x="3582446" y="2238610"/>
            <a:chExt cx="4583875" cy="845882"/>
          </a:xfrm>
        </p:grpSpPr>
        <p:grpSp>
          <p:nvGrpSpPr>
            <p:cNvPr id="35" name="Group 34"/>
            <p:cNvGrpSpPr/>
            <p:nvPr/>
          </p:nvGrpSpPr>
          <p:grpSpPr>
            <a:xfrm>
              <a:off x="3670082" y="2245502"/>
              <a:ext cx="1602561" cy="343295"/>
              <a:chOff x="3670083" y="2245503"/>
              <a:chExt cx="1394934" cy="338554"/>
            </a:xfrm>
          </p:grpSpPr>
          <p:sp>
            <p:nvSpPr>
              <p:cNvPr id="46" name="Rectangle 45"/>
              <p:cNvSpPr/>
              <p:nvPr/>
            </p:nvSpPr>
            <p:spPr>
              <a:xfrm>
                <a:off x="3670083" y="2245503"/>
                <a:ext cx="1394934" cy="33855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r>
                  <a:rPr lang="en-IN" sz="1600" dirty="0">
                    <a:latin typeface="Bahnschrift" pitchFamily="34" charset="0"/>
                  </a:rPr>
                  <a:t>Cost function</a:t>
                </a:r>
              </a:p>
            </p:txBody>
          </p:sp>
          <p:cxnSp>
            <p:nvCxnSpPr>
              <p:cNvPr id="47" name="Straight Arrow Connector 46"/>
              <p:cNvCxnSpPr/>
              <p:nvPr/>
            </p:nvCxnSpPr>
            <p:spPr>
              <a:xfrm flipV="1">
                <a:off x="4875817" y="2271295"/>
                <a:ext cx="0" cy="276285"/>
              </a:xfrm>
              <a:prstGeom prst="straightConnector1">
                <a:avLst/>
              </a:prstGeom>
              <a:ln w="28575">
                <a:solidFill>
                  <a:srgbClr val="FF0066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" name="Group 35"/>
            <p:cNvGrpSpPr/>
            <p:nvPr/>
          </p:nvGrpSpPr>
          <p:grpSpPr>
            <a:xfrm>
              <a:off x="5846618" y="2238610"/>
              <a:ext cx="1884218" cy="350188"/>
              <a:chOff x="5846618" y="2238610"/>
              <a:chExt cx="1884218" cy="350188"/>
            </a:xfrm>
          </p:grpSpPr>
          <p:sp>
            <p:nvSpPr>
              <p:cNvPr id="44" name="Rectangle 43"/>
              <p:cNvSpPr/>
              <p:nvPr/>
            </p:nvSpPr>
            <p:spPr>
              <a:xfrm>
                <a:off x="5846618" y="2250244"/>
                <a:ext cx="1884218" cy="338554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IN" sz="1600" dirty="0">
                    <a:latin typeface="Bahnschrift" pitchFamily="34" charset="0"/>
                  </a:rPr>
                  <a:t>Model accuracy</a:t>
                </a:r>
              </a:p>
            </p:txBody>
          </p:sp>
          <p:cxnSp>
            <p:nvCxnSpPr>
              <p:cNvPr id="45" name="Straight Arrow Connector 44"/>
              <p:cNvCxnSpPr/>
              <p:nvPr/>
            </p:nvCxnSpPr>
            <p:spPr>
              <a:xfrm>
                <a:off x="7606202" y="2238610"/>
                <a:ext cx="0" cy="287921"/>
              </a:xfrm>
              <a:prstGeom prst="straightConnector1">
                <a:avLst/>
              </a:prstGeom>
              <a:ln w="28575">
                <a:solidFill>
                  <a:srgbClr val="FF0066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7" name="Group 36"/>
            <p:cNvGrpSpPr/>
            <p:nvPr/>
          </p:nvGrpSpPr>
          <p:grpSpPr>
            <a:xfrm>
              <a:off x="3670081" y="2741197"/>
              <a:ext cx="1602561" cy="343295"/>
              <a:chOff x="3670083" y="2245503"/>
              <a:chExt cx="1394934" cy="338554"/>
            </a:xfrm>
            <a:solidFill>
              <a:schemeClr val="accent2">
                <a:lumMod val="40000"/>
                <a:lumOff val="60000"/>
              </a:schemeClr>
            </a:solidFill>
          </p:grpSpPr>
          <p:sp>
            <p:nvSpPr>
              <p:cNvPr id="42" name="Rectangle 41"/>
              <p:cNvSpPr/>
              <p:nvPr/>
            </p:nvSpPr>
            <p:spPr>
              <a:xfrm>
                <a:off x="3670083" y="2245503"/>
                <a:ext cx="1394934" cy="338554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r>
                  <a:rPr lang="en-IN" sz="1600" dirty="0">
                    <a:latin typeface="Bahnschrift" pitchFamily="34" charset="0"/>
                  </a:rPr>
                  <a:t>Cost function</a:t>
                </a:r>
              </a:p>
            </p:txBody>
          </p:sp>
          <p:cxnSp>
            <p:nvCxnSpPr>
              <p:cNvPr id="43" name="Straight Arrow Connector 42"/>
              <p:cNvCxnSpPr/>
              <p:nvPr/>
            </p:nvCxnSpPr>
            <p:spPr>
              <a:xfrm flipH="1">
                <a:off x="4875817" y="2271295"/>
                <a:ext cx="0" cy="276285"/>
              </a:xfrm>
              <a:prstGeom prst="straightConnector1">
                <a:avLst/>
              </a:prstGeom>
              <a:grpFill/>
              <a:ln w="28575">
                <a:solidFill>
                  <a:srgbClr val="FF0066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" name="Group 37"/>
            <p:cNvGrpSpPr/>
            <p:nvPr/>
          </p:nvGrpSpPr>
          <p:grpSpPr>
            <a:xfrm>
              <a:off x="5874384" y="2734304"/>
              <a:ext cx="1884218" cy="350188"/>
              <a:chOff x="5846618" y="2238610"/>
              <a:chExt cx="1884218" cy="350188"/>
            </a:xfrm>
            <a:solidFill>
              <a:schemeClr val="accent4">
                <a:lumMod val="60000"/>
                <a:lumOff val="40000"/>
              </a:schemeClr>
            </a:solidFill>
          </p:grpSpPr>
          <p:sp>
            <p:nvSpPr>
              <p:cNvPr id="40" name="Rectangle 39"/>
              <p:cNvSpPr/>
              <p:nvPr/>
            </p:nvSpPr>
            <p:spPr>
              <a:xfrm>
                <a:off x="5846618" y="2250244"/>
                <a:ext cx="1884218" cy="338554"/>
              </a:xfrm>
              <a:prstGeom prst="rect">
                <a:avLst/>
              </a:prstGeom>
              <a:grpFill/>
              <a:ln>
                <a:solidFill>
                  <a:schemeClr val="bg1">
                    <a:lumMod val="9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IN" sz="1600" dirty="0">
                    <a:latin typeface="Bahnschrift" pitchFamily="34" charset="0"/>
                  </a:rPr>
                  <a:t>Model accuracy</a:t>
                </a:r>
              </a:p>
            </p:txBody>
          </p:sp>
          <p:cxnSp>
            <p:nvCxnSpPr>
              <p:cNvPr id="41" name="Straight Arrow Connector 40"/>
              <p:cNvCxnSpPr/>
              <p:nvPr/>
            </p:nvCxnSpPr>
            <p:spPr>
              <a:xfrm flipV="1">
                <a:off x="7606202" y="2238610"/>
                <a:ext cx="0" cy="287921"/>
              </a:xfrm>
              <a:prstGeom prst="straightConnector1">
                <a:avLst/>
              </a:prstGeom>
              <a:grpFill/>
              <a:ln w="28575">
                <a:solidFill>
                  <a:srgbClr val="FF0066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9" name="Straight Connector 38"/>
            <p:cNvCxnSpPr/>
            <p:nvPr/>
          </p:nvCxnSpPr>
          <p:spPr>
            <a:xfrm>
              <a:off x="3582446" y="2603653"/>
              <a:ext cx="4583875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45587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Navigating the Future of Learning​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670274" y="370506"/>
            <a:ext cx="273292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600" b="1" dirty="0"/>
              <a:t>Intuition for Gradient Descent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929100" y="944526"/>
            <a:ext cx="7773040" cy="307777"/>
            <a:chOff x="1929100" y="944526"/>
            <a:chExt cx="7773040" cy="307777"/>
          </a:xfrm>
        </p:grpSpPr>
        <p:sp>
          <p:nvSpPr>
            <p:cNvPr id="3" name="Rectangle 2"/>
            <p:cNvSpPr/>
            <p:nvPr/>
          </p:nvSpPr>
          <p:spPr>
            <a:xfrm>
              <a:off x="2204852" y="944526"/>
              <a:ext cx="7497288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400" dirty="0"/>
                <a:t>Think of a large bowl. This bowl is a plot of the cost function (E).</a:t>
              </a:r>
              <a:endParaRPr lang="en-IN" sz="1400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929100" y="944526"/>
              <a:ext cx="31290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IN" sz="1200" dirty="0"/>
                <a:t>▶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716915" y="1513980"/>
            <a:ext cx="3408280" cy="2036742"/>
            <a:chOff x="3716915" y="1513980"/>
            <a:chExt cx="3095625" cy="1876425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16915" y="1513980"/>
              <a:ext cx="3095625" cy="187642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Rectangle 6"/>
            <p:cNvSpPr/>
            <p:nvPr/>
          </p:nvSpPr>
          <p:spPr>
            <a:xfrm>
              <a:off x="5759046" y="3051851"/>
              <a:ext cx="1053494" cy="338554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>
              <a:spAutoFit/>
            </a:bodyPr>
            <a:lstStyle/>
            <a:p>
              <a:r>
                <a:rPr lang="en-IN" sz="1600" dirty="0">
                  <a:solidFill>
                    <a:schemeClr val="bg1"/>
                  </a:solidFill>
                </a:rPr>
                <a:t>Y = </a:t>
              </a:r>
              <a:r>
                <a:rPr lang="en-IN" sz="1600" dirty="0" smtClean="0">
                  <a:solidFill>
                    <a:schemeClr val="bg1"/>
                  </a:solidFill>
                </a:rPr>
                <a:t>mX + C</a:t>
              </a:r>
              <a:endParaRPr lang="en-IN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9" name="Rectangle 8"/>
          <p:cNvSpPr/>
          <p:nvPr/>
        </p:nvSpPr>
        <p:spPr>
          <a:xfrm>
            <a:off x="884029" y="3794494"/>
            <a:ext cx="11216927" cy="2169825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1500" dirty="0"/>
              <a:t>A random position on the surface of the bowl is the cost of the current values of the coefficients (cost</a:t>
            </a:r>
            <a:r>
              <a:rPr lang="en-US" sz="1500" dirty="0" smtClean="0"/>
              <a:t>).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15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1500" dirty="0"/>
              <a:t>The bottom of the bowl is the cost of the best set of coefficients, the minimum of the function</a:t>
            </a:r>
            <a:r>
              <a:rPr lang="en-US" sz="1500" dirty="0" smtClean="0"/>
              <a:t>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15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1500" dirty="0"/>
              <a:t>The goal is to continue to try different values for the coefficients, evaluate their cost and select new coefficients that have a slightly better (lower) cost</a:t>
            </a:r>
            <a:r>
              <a:rPr lang="en-US" sz="1500" dirty="0" smtClean="0"/>
              <a:t>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15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1500" dirty="0"/>
              <a:t>Repeating this process enough times will lead to the bottom of the bowl and u will know the values of the coefficients that result in the minimum cost</a:t>
            </a:r>
          </a:p>
        </p:txBody>
      </p:sp>
    </p:spTree>
    <p:extLst>
      <p:ext uri="{BB962C8B-B14F-4D97-AF65-F5344CB8AC3E}">
        <p14:creationId xmlns:p14="http://schemas.microsoft.com/office/powerpoint/2010/main" val="2897984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Navigating the Future of Learning​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533" y="437291"/>
            <a:ext cx="5467350" cy="3286125"/>
          </a:xfrm>
          <a:prstGeom prst="rect">
            <a:avLst/>
          </a:prstGeom>
          <a:noFill/>
          <a:ln w="9525">
            <a:solidFill>
              <a:schemeClr val="bg1">
                <a:lumMod val="9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97984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Navigating the Future of Learning​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1076696" y="291383"/>
            <a:ext cx="60960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/>
              <a:t>We </a:t>
            </a:r>
            <a:r>
              <a:rPr lang="en-US" sz="1600" dirty="0" smtClean="0"/>
              <a:t>change </a:t>
            </a:r>
            <a:r>
              <a:rPr lang="en-US" sz="1600" dirty="0"/>
              <a:t>m and c parameter until the cost becomes 0 near to 0</a:t>
            </a:r>
            <a:endParaRPr lang="en-IN" sz="16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248" y="848302"/>
            <a:ext cx="4380448" cy="3282506"/>
          </a:xfrm>
          <a:prstGeom prst="rect">
            <a:avLst/>
          </a:prstGeom>
          <a:noFill/>
          <a:ln w="9525">
            <a:solidFill>
              <a:schemeClr val="bg1">
                <a:lumMod val="9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979848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Navigating the Future of Learning​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404309" y="845518"/>
            <a:ext cx="31085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solidFill>
                  <a:srgbClr val="0070C0"/>
                </a:solidFill>
                <a:latin typeface="Bahnschrift" pitchFamily="34" charset="0"/>
              </a:rPr>
              <a:t>Gradient Descent Procedure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512852" y="3992480"/>
            <a:ext cx="182107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600" dirty="0"/>
              <a:t>cost = E(coefficient)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3512852" y="4577813"/>
            <a:ext cx="2682796" cy="884468"/>
            <a:chOff x="3512852" y="4577813"/>
            <a:chExt cx="2682796" cy="884468"/>
          </a:xfrm>
        </p:grpSpPr>
        <p:pic>
          <p:nvPicPr>
            <p:cNvPr id="5123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12852" y="4577813"/>
              <a:ext cx="2295525" cy="552450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TextBox 6"/>
            <p:cNvSpPr txBox="1"/>
            <p:nvPr/>
          </p:nvSpPr>
          <p:spPr>
            <a:xfrm>
              <a:off x="4721334" y="5154504"/>
              <a:ext cx="14743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/>
                <a:t>Where m and c=0</a:t>
              </a:r>
              <a:endParaRPr lang="en-IN" sz="1400" dirty="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1231212" y="1708550"/>
            <a:ext cx="9955343" cy="861774"/>
            <a:chOff x="1231212" y="1708550"/>
            <a:chExt cx="9955343" cy="861774"/>
          </a:xfrm>
        </p:grpSpPr>
        <p:sp>
          <p:nvSpPr>
            <p:cNvPr id="3" name="Rectangle 2"/>
            <p:cNvSpPr/>
            <p:nvPr/>
          </p:nvSpPr>
          <p:spPr>
            <a:xfrm>
              <a:off x="1646710" y="1708550"/>
              <a:ext cx="9539845" cy="8617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dirty="0"/>
                <a:t>The procedure starts off with initial values for the coefficient or coefficients for the function. These could be 0.0 or a small random value</a:t>
              </a:r>
              <a:r>
                <a:rPr lang="en-US" sz="1600" dirty="0" smtClean="0"/>
                <a:t>.</a:t>
              </a:r>
            </a:p>
            <a:p>
              <a:pPr lvl="4"/>
              <a:r>
                <a:rPr lang="en-US" sz="1600" dirty="0" smtClean="0"/>
                <a:t> </a:t>
              </a:r>
              <a:r>
                <a:rPr lang="en-US" sz="1600" dirty="0"/>
                <a:t>coefficient(</a:t>
              </a:r>
              <a:r>
                <a:rPr lang="en-US" sz="1600" dirty="0" err="1"/>
                <a:t>m.c</a:t>
              </a:r>
              <a:r>
                <a:rPr lang="en-US" sz="1600" dirty="0"/>
                <a:t>) = 0.0</a:t>
              </a:r>
              <a:endParaRPr lang="en-IN" sz="1600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231212" y="1708550"/>
              <a:ext cx="41549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IN" dirty="0"/>
                <a:t>➠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1268885" y="3382871"/>
            <a:ext cx="10499561" cy="384683"/>
            <a:chOff x="1268885" y="3382871"/>
            <a:chExt cx="10499561" cy="384683"/>
          </a:xfrm>
        </p:grpSpPr>
        <p:sp>
          <p:nvSpPr>
            <p:cNvPr id="5" name="Rectangle 4"/>
            <p:cNvSpPr/>
            <p:nvPr/>
          </p:nvSpPr>
          <p:spPr>
            <a:xfrm>
              <a:off x="1741713" y="3429000"/>
              <a:ext cx="10026733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dirty="0"/>
                <a:t>The cost of the coefficients is evaluated by plugging them into the function and calculating the cost.</a:t>
              </a:r>
              <a:endParaRPr lang="en-IN" sz="1600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268885" y="3382871"/>
              <a:ext cx="41549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IN" dirty="0"/>
                <a:t>➠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44099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1588" y="1202781"/>
            <a:ext cx="3097828" cy="470351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1588" y="3190875"/>
            <a:ext cx="4885684" cy="653166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823415" y="4729918"/>
            <a:ext cx="956253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This process is repeated until the cost of the coefficients (cost) is 0.0 or close enough to zero to be good enough.</a:t>
            </a:r>
            <a:endParaRPr lang="en-IN" sz="1600" dirty="0"/>
          </a:p>
        </p:txBody>
      </p:sp>
      <p:grpSp>
        <p:nvGrpSpPr>
          <p:cNvPr id="7" name="Group 6"/>
          <p:cNvGrpSpPr/>
          <p:nvPr/>
        </p:nvGrpSpPr>
        <p:grpSpPr>
          <a:xfrm>
            <a:off x="154632" y="222474"/>
            <a:ext cx="11746215" cy="877165"/>
            <a:chOff x="154632" y="222474"/>
            <a:chExt cx="11746215" cy="877165"/>
          </a:xfrm>
        </p:grpSpPr>
        <p:sp>
          <p:nvSpPr>
            <p:cNvPr id="2" name="Rectangle 1"/>
            <p:cNvSpPr/>
            <p:nvPr/>
          </p:nvSpPr>
          <p:spPr>
            <a:xfrm>
              <a:off x="577752" y="268642"/>
              <a:ext cx="11323095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dirty="0"/>
                <a:t>The derivative of the cost is calculated. The </a:t>
              </a:r>
              <a:r>
                <a:rPr lang="en-US" sz="1600" b="1" dirty="0"/>
                <a:t>derivative is a concept from calculus and refers to the slope of the function at a given point</a:t>
              </a:r>
              <a:r>
                <a:rPr lang="en-US" sz="1600" dirty="0"/>
                <a:t>. We need to know the slope so that we know the direction (sign) to move the coefficient values in order to get a lower cost on the next iteration.</a:t>
              </a:r>
              <a:endParaRPr lang="en-IN" sz="1600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54632" y="222474"/>
              <a:ext cx="492443" cy="461665"/>
            </a:xfrm>
            <a:prstGeom prst="rect">
              <a:avLst/>
            </a:prstGeom>
            <a:solidFill>
              <a:srgbClr val="FF6743"/>
            </a:solidFill>
          </p:spPr>
          <p:txBody>
            <a:bodyPr wrap="none">
              <a:spAutoFit/>
            </a:bodyPr>
            <a:lstStyle/>
            <a:p>
              <a:r>
                <a:rPr lang="en-IN" sz="2400" dirty="0"/>
                <a:t>➠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154633" y="2259586"/>
            <a:ext cx="11855395" cy="605685"/>
            <a:chOff x="154633" y="2259586"/>
            <a:chExt cx="11855395" cy="605685"/>
          </a:xfrm>
        </p:grpSpPr>
        <p:sp>
          <p:nvSpPr>
            <p:cNvPr id="3" name="Rectangle 2"/>
            <p:cNvSpPr/>
            <p:nvPr/>
          </p:nvSpPr>
          <p:spPr>
            <a:xfrm>
              <a:off x="577753" y="2280496"/>
              <a:ext cx="11432275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dirty="0"/>
                <a:t>Now that we know from the derivative which </a:t>
              </a:r>
              <a:r>
                <a:rPr lang="en-US" sz="1600" b="1" i="1" dirty="0"/>
                <a:t>direction is downhill</a:t>
              </a:r>
              <a:r>
                <a:rPr lang="en-US" sz="1600" dirty="0"/>
                <a:t>, we can now update the coefficient values. A learning rate parameter (alpha) must be specified that controls how much </a:t>
              </a:r>
              <a:r>
                <a:rPr lang="en-US" sz="1600" b="1" dirty="0"/>
                <a:t>the coefficients can change on each update</a:t>
              </a:r>
              <a:r>
                <a:rPr lang="en-US" sz="1600" dirty="0"/>
                <a:t>.</a:t>
              </a:r>
              <a:endParaRPr lang="en-IN" sz="1600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54633" y="2259586"/>
              <a:ext cx="492443" cy="461665"/>
            </a:xfrm>
            <a:prstGeom prst="rect">
              <a:avLst/>
            </a:prstGeom>
            <a:solidFill>
              <a:srgbClr val="FF6743"/>
            </a:solidFill>
          </p:spPr>
          <p:txBody>
            <a:bodyPr wrap="none">
              <a:spAutoFit/>
            </a:bodyPr>
            <a:lstStyle/>
            <a:p>
              <a:r>
                <a:rPr lang="en-IN" sz="2400" dirty="0"/>
                <a:t>➠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021400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1071481" y="1160561"/>
            <a:ext cx="3637148" cy="3119566"/>
            <a:chOff x="1308204" y="1160561"/>
            <a:chExt cx="3400425" cy="2710734"/>
          </a:xfrm>
        </p:grpSpPr>
        <p:pic>
          <p:nvPicPr>
            <p:cNvPr id="409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8204" y="1632920"/>
              <a:ext cx="3400425" cy="223837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" name="TextBox 1"/>
            <p:cNvSpPr txBox="1"/>
            <p:nvPr/>
          </p:nvSpPr>
          <p:spPr>
            <a:xfrm>
              <a:off x="1460665" y="1160561"/>
              <a:ext cx="2135521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latin typeface="Arial Unicode MS" pitchFamily="34" charset="-128"/>
                  <a:ea typeface="Arial Unicode MS" pitchFamily="34" charset="-128"/>
                  <a:cs typeface="Arial Unicode MS" pitchFamily="34" charset="-128"/>
                </a:rPr>
                <a:t>Very small learning Rate</a:t>
              </a:r>
              <a:endParaRPr lang="en-IN" sz="14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cxnSp>
        <p:nvCxnSpPr>
          <p:cNvPr id="6" name="Straight Connector 5"/>
          <p:cNvCxnSpPr/>
          <p:nvPr/>
        </p:nvCxnSpPr>
        <p:spPr>
          <a:xfrm flipH="1">
            <a:off x="5082639" y="581891"/>
            <a:ext cx="23751" cy="5771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/>
          <p:cNvGrpSpPr/>
          <p:nvPr/>
        </p:nvGrpSpPr>
        <p:grpSpPr>
          <a:xfrm>
            <a:off x="5780129" y="1794102"/>
            <a:ext cx="4964087" cy="2486025"/>
            <a:chOff x="5780129" y="1794102"/>
            <a:chExt cx="4964087" cy="2486025"/>
          </a:xfrm>
        </p:grpSpPr>
        <p:pic>
          <p:nvPicPr>
            <p:cNvPr id="4099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80129" y="1794102"/>
              <a:ext cx="3648075" cy="248602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TextBox 6"/>
            <p:cNvSpPr txBox="1"/>
            <p:nvPr/>
          </p:nvSpPr>
          <p:spPr>
            <a:xfrm>
              <a:off x="9524010" y="3515097"/>
              <a:ext cx="1220206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latin typeface="Arial Unicode MS" pitchFamily="34" charset="-128"/>
                  <a:ea typeface="Arial Unicode MS" pitchFamily="34" charset="-128"/>
                  <a:cs typeface="Arial Unicode MS" pitchFamily="34" charset="-128"/>
                </a:rPr>
                <a:t>Bounce back</a:t>
              </a:r>
              <a:endParaRPr lang="en-IN" sz="14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304554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5050" y="448563"/>
            <a:ext cx="1136403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as cost function </a:t>
            </a:r>
            <a:r>
              <a:rPr lang="en-US" sz="1600" dirty="0" smtClean="0"/>
              <a:t>decrease, the </a:t>
            </a:r>
            <a:r>
              <a:rPr lang="en-US" sz="1600" dirty="0"/>
              <a:t>line of best fit </a:t>
            </a:r>
            <a:r>
              <a:rPr lang="en-US" sz="1600" dirty="0" smtClean="0"/>
              <a:t>appears. Because </a:t>
            </a:r>
            <a:r>
              <a:rPr lang="en-US" sz="1600" dirty="0"/>
              <a:t>we are moving down the hill by </a:t>
            </a:r>
            <a:r>
              <a:rPr lang="en-US" sz="1600" dirty="0" smtClean="0"/>
              <a:t>changing </a:t>
            </a:r>
            <a:r>
              <a:rPr lang="en-US" sz="1600" dirty="0"/>
              <a:t>the values of m and c  parameters </a:t>
            </a:r>
            <a:r>
              <a:rPr lang="en-US" sz="1600" dirty="0" smtClean="0"/>
              <a:t>using </a:t>
            </a:r>
            <a:r>
              <a:rPr lang="en-US" sz="1600" dirty="0"/>
              <a:t>gradient descent</a:t>
            </a:r>
            <a:endParaRPr lang="en-IN" sz="1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3908" y="1263484"/>
            <a:ext cx="9290003" cy="4072791"/>
          </a:xfrm>
          <a:prstGeom prst="rect">
            <a:avLst/>
          </a:prstGeom>
          <a:noFill/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440994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Navigating the Future of Learning​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1137473" y="596137"/>
            <a:ext cx="11833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latin typeface="Bahnschrift" pitchFamily="34" charset="0"/>
              </a:rPr>
              <a:t>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14198" y="596137"/>
            <a:ext cx="7232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❯❯❯❯</a:t>
            </a:r>
          </a:p>
        </p:txBody>
      </p:sp>
      <p:sp>
        <p:nvSpPr>
          <p:cNvPr id="5" name="Rectangle 4"/>
          <p:cNvSpPr/>
          <p:nvPr/>
        </p:nvSpPr>
        <p:spPr>
          <a:xfrm>
            <a:off x="1420731" y="1309688"/>
            <a:ext cx="1062084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CC33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Linear regression is about finding  the line of best fit for a dataset. This line can then be used to make predictions</a:t>
            </a:r>
            <a:endParaRPr lang="en-IN" sz="1600" dirty="0">
              <a:solidFill>
                <a:srgbClr val="CC3300"/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548827" y="1816272"/>
            <a:ext cx="503855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Gradient descent is a tool to arrive t the line of best fit</a:t>
            </a:r>
            <a:endParaRPr lang="en-IN" sz="1600" dirty="0">
              <a:solidFill>
                <a:srgbClr val="00B050"/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320810" y="2504198"/>
            <a:ext cx="934075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In Gradient </a:t>
            </a:r>
            <a:r>
              <a:rPr lang="en-US" sz="15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descent, you </a:t>
            </a:r>
            <a:r>
              <a:rPr lang="en-US" sz="15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start with a random </a:t>
            </a:r>
            <a:r>
              <a:rPr lang="en-US" sz="15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line, then </a:t>
            </a:r>
            <a:r>
              <a:rPr lang="en-US" sz="15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you </a:t>
            </a:r>
            <a:r>
              <a:rPr lang="en-US" sz="15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change </a:t>
            </a:r>
            <a:r>
              <a:rPr lang="en-US" sz="15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the parameter of </a:t>
            </a:r>
            <a:r>
              <a:rPr lang="en-US" sz="15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the </a:t>
            </a:r>
            <a:r>
              <a:rPr lang="en-US" sz="15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line(i.e. slope and y-intercept) little by little to arrive at the line of best fit</a:t>
            </a:r>
            <a:endParaRPr lang="en-IN" sz="1500" dirty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021400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Navigating the Future of Learning​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957942" y="1178305"/>
            <a:ext cx="1053737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Linear Regression’s job is to find the </a:t>
            </a:r>
            <a:r>
              <a:rPr lang="en-US" sz="1600" b="1" dirty="0"/>
              <a:t>line of best fit</a:t>
            </a:r>
            <a:r>
              <a:rPr lang="en-US" sz="1600" dirty="0"/>
              <a:t>. Once that line is drawn, the </a:t>
            </a:r>
            <a:r>
              <a:rPr lang="en-US" sz="1600" b="1" dirty="0"/>
              <a:t>cost function</a:t>
            </a:r>
            <a:r>
              <a:rPr lang="en-US" sz="1600" dirty="0"/>
              <a:t> measures how much error is present</a:t>
            </a:r>
            <a:r>
              <a:rPr lang="en-US" sz="1600" dirty="0" smtClean="0"/>
              <a:t>.</a:t>
            </a:r>
          </a:p>
          <a:p>
            <a:endParaRPr lang="en-US" sz="1600" dirty="0"/>
          </a:p>
          <a:p>
            <a:r>
              <a:rPr lang="en-US" sz="1600" dirty="0"/>
              <a:t>The role of </a:t>
            </a:r>
            <a:r>
              <a:rPr lang="en-US" sz="1600" b="1" dirty="0"/>
              <a:t>Gradient Descent</a:t>
            </a:r>
            <a:r>
              <a:rPr lang="en-US" sz="1600" dirty="0"/>
              <a:t> is to act as a tool to arrive at the best‑fit line. Since the initial line from linear regression may still have some error, Gradient Descent says: </a:t>
            </a:r>
            <a:r>
              <a:rPr lang="en-US" sz="1600" i="1" dirty="0"/>
              <a:t>“I will adjust the line step by step so that the error becomes as small as possible.”</a:t>
            </a:r>
            <a:endParaRPr lang="en-US" sz="1600" dirty="0">
              <a:effectLst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0043" y="3429000"/>
            <a:ext cx="957151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✅ In short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r>
              <a:rPr lang="en-US" b="1" dirty="0"/>
              <a:t>Linear Regression</a:t>
            </a:r>
            <a:r>
              <a:rPr lang="en-US" dirty="0"/>
              <a:t> → finds the best‑fit line.</a:t>
            </a:r>
          </a:p>
          <a:p>
            <a:r>
              <a:rPr lang="en-US" b="1" dirty="0"/>
              <a:t>Cost Function</a:t>
            </a:r>
            <a:r>
              <a:rPr lang="en-US" dirty="0"/>
              <a:t> → measures the error.</a:t>
            </a:r>
          </a:p>
          <a:p>
            <a:r>
              <a:rPr lang="en-US" b="1" dirty="0"/>
              <a:t>Gradient Descent</a:t>
            </a:r>
            <a:r>
              <a:rPr lang="en-US" dirty="0"/>
              <a:t> → minimizes that error to refine the best‑fit line.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304554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Navigating the Future of Learning​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005444" y="889154"/>
            <a:ext cx="6096000" cy="86177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>
            <a:spAutoFit/>
          </a:bodyPr>
          <a:lstStyle/>
          <a:p>
            <a:r>
              <a:rPr lang="fr-FR" sz="1600" dirty="0">
                <a:latin typeface="+mj-lt"/>
              </a:rPr>
              <a:t>Batch Gradient Descent</a:t>
            </a:r>
          </a:p>
          <a:p>
            <a:r>
              <a:rPr lang="fr-FR" sz="1600" dirty="0">
                <a:latin typeface="+mj-lt"/>
              </a:rPr>
              <a:t>Stochastic Gradient Descent</a:t>
            </a:r>
          </a:p>
          <a:p>
            <a:r>
              <a:rPr lang="fr-FR" sz="1600" dirty="0">
                <a:latin typeface="+mj-lt"/>
              </a:rPr>
              <a:t>Minibatch Gradient Descent</a:t>
            </a:r>
            <a:endParaRPr lang="en-IN" sz="1600" dirty="0">
              <a:latin typeface="+mj-lt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5008" y="294191"/>
            <a:ext cx="4524498" cy="338554"/>
            <a:chOff x="285008" y="294191"/>
            <a:chExt cx="4524498" cy="338554"/>
          </a:xfrm>
        </p:grpSpPr>
        <p:sp>
          <p:nvSpPr>
            <p:cNvPr id="6" name="TextBox 5"/>
            <p:cNvSpPr txBox="1"/>
            <p:nvPr/>
          </p:nvSpPr>
          <p:spPr>
            <a:xfrm>
              <a:off x="439387" y="294191"/>
              <a:ext cx="2368212" cy="338554"/>
            </a:xfrm>
            <a:prstGeom prst="rect">
              <a:avLst/>
            </a:prstGeom>
            <a:solidFill>
              <a:srgbClr val="00B050"/>
            </a:solidFill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solidFill>
                    <a:schemeClr val="bg1"/>
                  </a:solidFill>
                  <a:ea typeface="Arial Unicode MS" pitchFamily="34" charset="-128"/>
                  <a:cs typeface="Arial Unicode MS" pitchFamily="34" charset="-128"/>
                </a:rPr>
                <a:t>Types of Gradient Descent</a:t>
              </a:r>
              <a:endParaRPr lang="en-IN" sz="1600" dirty="0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endParaRPr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285008" y="617356"/>
              <a:ext cx="4524498" cy="1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529739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37718</TotalTime>
  <Words>1326</Words>
  <Application>Microsoft Office PowerPoint</Application>
  <PresentationFormat>Custom</PresentationFormat>
  <Paragraphs>132</Paragraphs>
  <Slides>17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Naman Narula</dc:creator>
  <cp:lastModifiedBy>User</cp:lastModifiedBy>
  <cp:revision>1604</cp:revision>
  <dcterms:created xsi:type="dcterms:W3CDTF">2024-01-26T15:11:46Z</dcterms:created>
  <dcterms:modified xsi:type="dcterms:W3CDTF">2026-01-06T20:22:01Z</dcterms:modified>
</cp:coreProperties>
</file>